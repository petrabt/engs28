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10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20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30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141"/>
              </a:buClr>
              <a:buSzPts val="2400"/>
              <a:buNone/>
              <a:defRPr sz="2400">
                <a:solidFill>
                  <a:srgbClr val="42414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">
  <p:cSld name="Thayer Logo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1" y="4294640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pic>
        <p:nvPicPr>
          <p:cNvPr descr="A close up of a sign&#10;&#10;Description automatically generated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496560"/>
            <a:ext cx="7315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ark Option">
  <p:cSld name="Title Slide - Dark Option">
    <p:bg>
      <p:bgPr>
        <a:solidFill>
          <a:srgbClr val="00693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 - Dark Option">
  <p:cSld name="Thayer Logo - Dark Option">
    <p:bg>
      <p:bgPr>
        <a:solidFill>
          <a:srgbClr val="00693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" y="4737643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0" y="6290336"/>
            <a:ext cx="12192000" cy="567664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659536"/>
            <a:ext cx="7315200" cy="223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State Machines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ENGS 28 · Day 4 — In-Class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Announcements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800"/>
            </a:pPr>
            <a:r>
              <a:rPr sz="1800"/>
              <a:t>Labs: start early — greater chance of 1-on-1 TA time on Tue/Wed/Thu.</a:t>
            </a:r>
          </a:p>
          <a:p>
            <a:pPr>
              <a:defRPr sz="1800"/>
            </a:pPr>
            <a:r>
              <a:rPr sz="1800"/>
              <a:t>Signatures: try your best to get an in-person signature (video submissions as backup).</a:t>
            </a:r>
          </a:p>
          <a:p>
            <a:pPr>
              <a:defRPr sz="1800"/>
            </a:pPr>
            <a:r>
              <a:rPr sz="1800"/>
              <a:t>Quiz 1: available from noon Sunday to noon Tuesday. Going forward, quizzes open Mondays.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sz="2000"/>
              <a:t>Code review — your toggleLED.c</a:t>
            </a:r>
          </a:p>
          <a:p>
            <a:pPr>
              <a:defRPr sz="2000"/>
            </a:pPr>
            <a:r>
              <a:rPr sz="2000"/>
              <a:t>The state machine design pattern</a:t>
            </a:r>
          </a:p>
          <a:p>
            <a:pPr>
              <a:defRPr sz="2000"/>
            </a:pPr>
            <a:r>
              <a:rPr sz="2000"/>
              <a:t>Designing and implementing your own state machines</a:t>
            </a:r>
          </a:p>
          <a:p>
            <a:pPr>
              <a:defRPr sz="2000"/>
            </a:pPr>
            <a:r>
              <a:rPr sz="2000"/>
              <a:t>Lab 2 design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· Code Review — toggleLED.c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toggleLED Code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200"/>
              </a:spcAft>
              <a:buNone/>
              <a:defRPr sz="1600"/>
            </a:pPr>
            <a:r>
              <a:rPr sz="1600"/>
              <a:t>Set up your Nucleo with your toggleLED.c (with the 0.1 µF debounce capacitor across the switch) and share it with your group.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Read each partner's code. Can you follow its logic and explain it line by line? There are at least two valid structures using a </a:t>
            </a:r>
            <a:r>
              <a:rPr sz="1600">
                <a:latin typeface="Courier New"/>
              </a:rPr>
              <a:t>buttonAlreadyPressed</a:t>
            </a:r>
            <a:r>
              <a:rPr sz="1600"/>
              <a:t> flag — one checks the flag in the outer if, the other checks buttonPushed first. Are both correct? Is one clearer?</a:t>
            </a:r>
          </a:p>
          <a:p>
            <a:pPr>
              <a:buAutoNum type="arabicPeriod"/>
              <a:defRPr sz="1600"/>
            </a:pPr>
            <a:r>
              <a:rPr sz="1600"/>
              <a:t>Identify the parts of your code that correspond to FSM concepts: where is the </a:t>
            </a:r>
            <a:r>
              <a:rPr i="1" sz="1600"/>
              <a:t>state</a:t>
            </a:r>
            <a:r>
              <a:rPr sz="1600"/>
              <a:t> stored? What are the </a:t>
            </a:r>
            <a:r>
              <a:rPr i="1" sz="1600"/>
              <a:t>events</a:t>
            </a:r>
            <a:r>
              <a:rPr sz="1600"/>
              <a:t>? What </a:t>
            </a:r>
            <a:r>
              <a:rPr i="1" sz="1600"/>
              <a:t>action</a:t>
            </a:r>
            <a:r>
              <a:rPr sz="1600"/>
              <a:t> happens on which transition?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— toggleLED.c (structure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61772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439826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#include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B5391F"/>
                </a:solidFill>
                <a:latin typeface="Courier New"/>
              </a:rPr>
              <a:t>"ES28.h"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PA5 / D13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4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PB4 / D5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main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unsigned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,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B5391F"/>
                </a:solidFill>
                <a:latin typeface="Courier New"/>
              </a:rPr>
              <a:t>&lt;&lt;10);  GPIOA-&gt;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PA5 output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8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9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            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PB4 input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B5391F"/>
                </a:solidFill>
                <a:latin typeface="Courier New"/>
              </a:rPr>
              <a:t>&lt;&lt;8);   GPIOB-&gt;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9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PB4 pull-up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IDR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!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^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else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!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— toggleLED.c (structure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61772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439826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#include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B5391F"/>
                </a:solidFill>
                <a:latin typeface="Courier New"/>
              </a:rPr>
              <a:t>"ES28.h"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5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PA5 / D13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4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PB4 / D5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main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unsigned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,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GPIOBEN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B5391F"/>
                </a:solidFill>
                <a:latin typeface="Courier New"/>
              </a:rPr>
              <a:t>&lt;&lt;10);  GPIOA-&gt;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PA5 output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8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9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            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PB4 input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|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B5391F"/>
                </a:solidFill>
                <a:latin typeface="Courier New"/>
              </a:rPr>
              <a:t>&lt;&lt;8);   GPIOB-&gt;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PUPDR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~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00" i="0">
                <a:solidFill>
                  <a:srgbClr val="A85A00"/>
                </a:solidFill>
                <a:latin typeface="Courier New"/>
              </a:rPr>
              <a:t>9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1">
                <a:solidFill>
                  <a:srgbClr val="3C7654"/>
                </a:solidFill>
                <a:latin typeface="Courier New"/>
              </a:rPr>
              <a:t>// PB4 pull-up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IDR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buttonPushed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(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)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200" i="0">
                <a:solidFill>
                  <a:srgbClr val="1A1A1A"/>
                </a:solidFill>
                <a:latin typeface="Courier New"/>
              </a:rPr>
              <a:t>-</a:t>
            </a:r>
            <a:r>
              <a:rPr sz="12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^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LED_PIN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1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543A8"/>
                </a:solidFill>
                <a:latin typeface="Courier New"/>
              </a:rPr>
              <a:t>else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buttonAlreadyPressed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=</a:t>
            </a:r>
            <a:r>
              <a:rPr sz="1200" i="0">
                <a:solidFill>
                  <a:srgbClr val="1A1A1A"/>
                </a:solidFill>
                <a:latin typeface="Courier New"/>
              </a:rPr>
              <a:t> </a:t>
            </a:r>
            <a:r>
              <a:rPr sz="1200" i="0">
                <a:solidFill>
                  <a:srgbClr val="A85A00"/>
                </a:solidFill>
                <a:latin typeface="Courier New"/>
              </a:rPr>
              <a:t>0</a:t>
            </a:r>
            <a:r>
              <a:rPr sz="12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· The State Machine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toggle code IS a state machine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29768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The </a:t>
            </a:r>
            <a:r>
              <a:rPr sz="1600">
                <a:latin typeface="Courier New"/>
              </a:rPr>
              <a:t>buttonAlreadyPressed</a:t>
            </a:r>
            <a:r>
              <a:rPr b="1" sz="1600"/>
              <a:t> variable is the state.</a:t>
            </a:r>
          </a:p>
          <a:p>
            <a:pPr>
              <a:defRPr sz="1600"/>
            </a:pPr>
            <a:r>
              <a:rPr sz="1600"/>
              <a:t>Two states: Unpressed / Pressed.</a:t>
            </a:r>
          </a:p>
          <a:p>
            <a:pPr>
              <a:defRPr sz="1600"/>
            </a:pPr>
            <a:r>
              <a:rPr sz="1600"/>
              <a:t>The LED toggles exactly once — on the Unpressed → Pressed transition.</a:t>
            </a:r>
          </a:p>
          <a:p>
            <a:pPr>
              <a:defRPr sz="1600"/>
            </a:pPr>
            <a:r>
              <a:rPr sz="1600"/>
              <a:t>The snippet on each arrow is the C expression that triggers it.</a:t>
            </a:r>
          </a:p>
        </p:txBody>
      </p:sp>
      <p:pic>
        <p:nvPicPr>
          <p:cNvPr id="4" name="Picture 3" descr="ann-d4-stat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149" y="1600200"/>
            <a:ext cx="5735781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5852159"/>
            <a:ext cx="603504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Button-toggle FSM: two states, with the triggering C expression on each transition.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logic as idiomatic C (enum + switch)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02336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380390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543A8"/>
                </a:solidFill>
                <a:latin typeface="Courier New"/>
              </a:rPr>
              <a:t>typedef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enum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{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UNPRESSED</a:t>
            </a:r>
            <a:r>
              <a:rPr sz="1300" i="0">
                <a:solidFill>
                  <a:srgbClr val="1A1A1A"/>
                </a:solidFill>
                <a:latin typeface="Courier New"/>
              </a:rPr>
              <a:t>,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PRESSED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}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state_t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state_t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state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UNPRESSED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btn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!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IDR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A85A00"/>
                </a:solidFill>
                <a:latin typeface="Courier New"/>
              </a:rPr>
              <a:t>4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1 if pressed (active-low)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switch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1A1A1A"/>
                </a:solidFill>
                <a:latin typeface="Courier New"/>
              </a:rPr>
              <a:t>state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case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UNPRESSED</a:t>
            </a:r>
            <a:r>
              <a:rPr sz="1300" i="0">
                <a:solidFill>
                  <a:srgbClr val="1A1A1A"/>
                </a:solidFill>
                <a:latin typeface="Courier New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1A1A1A"/>
                </a:solidFill>
                <a:latin typeface="Courier New"/>
              </a:rPr>
              <a:t>btn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      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^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A85A00"/>
                </a:solidFill>
                <a:latin typeface="Courier New"/>
              </a:rPr>
              <a:t>5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toggle LED on press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      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state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PRESSED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break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case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PRESSED</a:t>
            </a:r>
            <a:r>
              <a:rPr sz="1300" i="0">
                <a:solidFill>
                  <a:srgbClr val="1A1A1A"/>
                </a:solidFill>
                <a:latin typeface="Courier New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1A1A1A"/>
                </a:solidFill>
                <a:latin typeface="Courier New"/>
              </a:rPr>
              <a:t>!</a:t>
            </a:r>
            <a:r>
              <a:rPr sz="1300" i="0">
                <a:solidFill>
                  <a:srgbClr val="1A1A1A"/>
                </a:solidFill>
                <a:latin typeface="Courier New"/>
              </a:rPr>
              <a:t>btn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state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UNPRESSED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wait for release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break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write it this way?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700"/>
            </a:pPr>
            <a:r>
              <a:rPr sz="1700"/>
              <a:t>There is no blocking while loop inside — the FSM does a little work each pass and returns.</a:t>
            </a:r>
          </a:p>
          <a:p>
            <a:pPr>
              <a:defRPr sz="1700"/>
            </a:pPr>
            <a:r>
              <a:rPr b="1" sz="1700"/>
              <a:t>So it embeds inside a larger main loop</a:t>
            </a:r>
            <a:r>
              <a:rPr sz="1700"/>
              <a:t> that also blinks LEDs, reads a UART, or does other work.</a:t>
            </a:r>
          </a:p>
          <a:p>
            <a:pPr>
              <a:defRPr sz="1700"/>
            </a:pPr>
            <a:r>
              <a:rPr sz="1700"/>
              <a:t>The state variable preserves context across iterations.</a:t>
            </a:r>
          </a:p>
          <a:p>
            <a:pPr>
              <a:defRPr sz="1700"/>
            </a:pPr>
            <a:r>
              <a:rPr sz="1700"/>
              <a:t>A </a:t>
            </a:r>
            <a:r>
              <a:rPr b="1" sz="1700"/>
              <a:t>finite state machine</a:t>
            </a:r>
            <a:r>
              <a:rPr sz="1700"/>
              <a:t> = states, events that cause transitions, and actions taken on each transition. It scales cleanly as you add states or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 · Designing State Machines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Drawing a State 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200"/>
              </a:spcAft>
              <a:buNone/>
              <a:defRPr sz="1600"/>
            </a:pPr>
            <a:r>
              <a:rPr sz="1600"/>
              <a:t>Before writing any code, draw the diagram on paper or your whiteboard. Label each state (box), each transition arrow with its triggering event, and each action taken on the transition.</a:t>
            </a:r>
          </a:p>
          <a:p>
            <a:pPr>
              <a:spcAft>
                <a:spcPts val="1200"/>
              </a:spcAft>
              <a:buAutoNum type="arabicPeriod"/>
              <a:defRPr sz="1600"/>
            </a:pPr>
            <a:r>
              <a:rPr sz="1600"/>
              <a:t>Draw the diagram for a 3-state LED cycling FSM: each press advances to the next LED pattern (A → B → C → A → …). You choose the patterns. How many states? What are the events? What action on each transition?</a:t>
            </a:r>
          </a:p>
          <a:p>
            <a:pPr>
              <a:buAutoNum type="arabicPeriod"/>
              <a:defRPr sz="1600"/>
            </a:pPr>
            <a:r>
              <a:rPr sz="1600"/>
              <a:t>Draw the diagram for the Lab 2 pause/resume counter: it blinks normally until a press pauses it; a second press resumes. How is this different from the 3-state cycling FSM?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 · Implementing a State Machine in 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Implementing Your FSM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200"/>
              </a:spcAft>
              <a:buNone/>
              <a:defRPr sz="1600"/>
            </a:pPr>
            <a:r>
              <a:rPr sz="1600"/>
              <a:t>Start from your </a:t>
            </a:r>
            <a:r>
              <a:rPr sz="1600">
                <a:latin typeface="Courier New"/>
              </a:rPr>
              <a:t>toggleLED.c</a:t>
            </a:r>
            <a:r>
              <a:rPr sz="1600"/>
              <a:t> or </a:t>
            </a:r>
            <a:r>
              <a:rPr sz="1600">
                <a:latin typeface="Courier New"/>
              </a:rPr>
              <a:t>blinkyCNT.c</a:t>
            </a:r>
            <a:r>
              <a:rPr sz="1600"/>
              <a:t> project. Replace blocking logic or bare flags with a proper enum + switch FSM.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Implement the pause/resume counter FSM: the counter blinks the LEDs in binary and a press pauses or resumes counting. Test it — does a single physical press always produce exactly one state change?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If you finish early: implement the 3-state LED cycling FSM, or add a second button that resets the counter to zero from either state. How does the diagram change?</a:t>
            </a:r>
          </a:p>
          <a:p>
            <a:pPr>
              <a:buAutoNum type="arabicPeriod"/>
              <a:defRPr sz="1600"/>
            </a:pPr>
            <a:r>
              <a:rPr sz="1600"/>
              <a:t>Verify on the oscilloscope that LED transitions are clean (no multiple toggles per press), with and without the debounce capacitor.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buNone/>
              <a:defRPr sz="1800"/>
            </a:pPr>
            <a:r>
              <a:rPr sz="1800"/>
              <a:t>Two design challenges — read the full spec in the lab handout.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Lab 2 Design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400"/>
              </a:spcAft>
              <a:buAutoNum type="arabicPeriod"/>
              <a:defRPr sz="1600"/>
            </a:pPr>
            <a:r>
              <a:rPr b="1" sz="1600"/>
              <a:t>Challenge 1 — Pause/resume counter:</a:t>
            </a:r>
            <a:r>
              <a:rPr sz="1600"/>
              <a:t> if your FSM from Part 3 already implements this, review the lab spec and make sure your solution meets all requirements (correct state behavior, debouncing, clean scope traces).</a:t>
            </a:r>
          </a:p>
          <a:p>
            <a:pPr>
              <a:buAutoNum type="arabicPeriod"/>
              <a:defRPr sz="1600"/>
            </a:pPr>
            <a:r>
              <a:rPr b="1" sz="1600"/>
              <a:t>Challenge 2 — Reaction-time game:</a:t>
            </a:r>
            <a:r>
              <a:rPr sz="1600"/>
              <a:t> draw the state diagram before writing code. How many states does the game have? What are the events (button presses, timer expiry)? What actions does each transition trigger?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