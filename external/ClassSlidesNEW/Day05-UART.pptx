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INSTRUCTOR DEMO — run the finished counter yourself first (CoolTerm at 9600, press reset), let them watch, then switch to 4800 and 115200 and ask what they see. Don't answer — let them hypothesize.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20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15 min.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timing: ≈ 10 min + finish at home.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Hidden from the student export. Instructor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0" i="0"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141"/>
              </a:buClr>
              <a:buSzPts val="2400"/>
              <a:buNone/>
              <a:defRPr sz="2400">
                <a:solidFill>
                  <a:srgbClr val="42414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9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">
  <p:cSld name="Thayer Logo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1"/>
          <p:cNvSpPr txBox="1"/>
          <p:nvPr/>
        </p:nvSpPr>
        <p:spPr>
          <a:xfrm>
            <a:off x="1" y="4294640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pic>
        <p:nvPicPr>
          <p:cNvPr descr="A close up of a sign&#10;&#10;Description automatically generated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496560"/>
            <a:ext cx="7315200" cy="213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Dark Option">
  <p:cSld name="Title Slide - Dark Option">
    <p:bg>
      <p:bgPr>
        <a:solidFill>
          <a:srgbClr val="00693E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83" name="Google Shape;83;p12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2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" name="Google Shape;86;p12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yer Logo - Dark Option">
  <p:cSld name="Thayer Logo - Dark Option">
    <p:bg>
      <p:bgPr>
        <a:solidFill>
          <a:srgbClr val="00693E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1" y="4737643"/>
            <a:ext cx="12191999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engineering.dartmouth.edu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0" y="6290336"/>
            <a:ext cx="12192000" cy="567664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438400" y="1659536"/>
            <a:ext cx="7315200" cy="2233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6356350"/>
            <a:ext cx="12192000" cy="50165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9813072" y="6428834"/>
            <a:ext cx="87129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68773" y="6428834"/>
            <a:ext cx="556618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10855712" y="6428834"/>
            <a:ext cx="49808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31428" y="6486249"/>
            <a:ext cx="3059226" cy="27941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Talking to Your Computer over UART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ENGS 28 · Day 5 — In-Class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Before we start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800"/>
            </a:pPr>
            <a:r>
              <a:rPr sz="1800"/>
              <a:t>Lab 1 feedback is posted — read the comments. From now on, poor style and inefficient/redundant code will cost more points.</a:t>
            </a:r>
          </a:p>
          <a:p>
            <a:pPr>
              <a:defRPr sz="1800"/>
            </a:pPr>
            <a:r>
              <a:rPr sz="1800"/>
              <a:t>HiTA reminder: if the AI judges your understanding is thin, it may grade the conversation lower. Engage with it.</a:t>
            </a:r>
          </a:p>
          <a:p>
            <a:pPr>
              <a:defRPr sz="1800"/>
            </a:pPr>
            <a:r>
              <a:rPr sz="1800"/>
              <a:t>Print statements are your most-used debugging tool for the rest of the course — today you set them up.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 · Does printf 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live counter, printed to your laptop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85216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You'll set up a project that prints a live counter over UART.</a:t>
            </a:r>
          </a:p>
          <a:p>
            <a:pPr>
              <a:defRPr sz="1600"/>
            </a:pPr>
            <a:r>
              <a:rPr sz="1600"/>
              <a:t>Same workflow you'll use as a debugging tool all term.</a:t>
            </a:r>
          </a:p>
          <a:p>
            <a:pPr>
              <a:defRPr sz="1600"/>
            </a:pPr>
            <a:r>
              <a:rPr sz="1600">
                <a:latin typeface="Courier New"/>
              </a:rPr>
              <a:t>uart.c / uart.h</a:t>
            </a:r>
            <a:r>
              <a:rPr sz="1600"/>
              <a:t> live in </a:t>
            </a:r>
            <a:r>
              <a:rPr sz="1600">
                <a:latin typeface="Courier New"/>
              </a:rPr>
              <a:t>Library/mylib/</a:t>
            </a:r>
            <a:r>
              <a:rPr sz="1600"/>
              <a:t>; </a:t>
            </a:r>
            <a:r>
              <a:rPr sz="1600">
                <a:latin typeface="Courier New"/>
              </a:rPr>
              <a:t>counter.c</a:t>
            </a:r>
            <a:r>
              <a:rPr sz="1600"/>
              <a:t> in </a:t>
            </a:r>
            <a:r>
              <a:rPr sz="1600">
                <a:latin typeface="Courier New"/>
              </a:rPr>
              <a:t>Src/</a:t>
            </a:r>
            <a:r>
              <a:rPr sz="1600"/>
              <a:t>. All three from Canvas.</a:t>
            </a:r>
          </a:p>
        </p:txBody>
      </p:sp>
      <p:pic>
        <p:nvPicPr>
          <p:cNvPr id="4" name="Picture 3" descr="slide08_80ad6c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296" y="1600200"/>
            <a:ext cx="3692606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0" y="5852159"/>
            <a:ext cx="41148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Finished Counter project in STM32CubeIDE.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Set Up and Run the Counter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700"/>
              </a:spcAft>
              <a:buAutoNum type="arabicPeriod"/>
              <a:defRPr sz="1500"/>
            </a:pPr>
            <a:r>
              <a:rPr sz="1500"/>
              <a:t>Download </a:t>
            </a:r>
            <a:r>
              <a:rPr sz="1500">
                <a:latin typeface="Courier New"/>
              </a:rPr>
              <a:t>counter.c</a:t>
            </a:r>
            <a:r>
              <a:rPr sz="1500"/>
              <a:t>, </a:t>
            </a:r>
            <a:r>
              <a:rPr sz="1500">
                <a:latin typeface="Courier New"/>
              </a:rPr>
              <a:t>uart.c</a:t>
            </a:r>
            <a:r>
              <a:rPr sz="1500"/>
              <a:t>, </a:t>
            </a:r>
            <a:r>
              <a:rPr sz="1500">
                <a:latin typeface="Courier New"/>
              </a:rPr>
              <a:t>uart.h</a:t>
            </a:r>
            <a:r>
              <a:rPr sz="1500"/>
              <a:t> from Canvas.</a:t>
            </a:r>
          </a:p>
          <a:p>
            <a:pPr>
              <a:spcAft>
                <a:spcPts val="700"/>
              </a:spcAft>
              <a:buAutoNum type="arabicPeriod"/>
              <a:defRPr sz="1500"/>
            </a:pPr>
            <a:r>
              <a:rPr sz="1500"/>
              <a:t>Copy </a:t>
            </a:r>
            <a:r>
              <a:rPr sz="1500">
                <a:latin typeface="Courier New"/>
              </a:rPr>
              <a:t>TemplateProject</a:t>
            </a:r>
            <a:r>
              <a:rPr sz="1500"/>
              <a:t> and rename the copy </a:t>
            </a:r>
            <a:r>
              <a:rPr sz="1500">
                <a:latin typeface="Courier New"/>
              </a:rPr>
              <a:t>Counter</a:t>
            </a:r>
            <a:r>
              <a:rPr sz="1500"/>
              <a:t>.</a:t>
            </a:r>
          </a:p>
          <a:p>
            <a:pPr>
              <a:spcAft>
                <a:spcPts val="700"/>
              </a:spcAft>
              <a:buAutoNum type="arabicPeriod"/>
              <a:defRPr sz="1500"/>
            </a:pPr>
            <a:r>
              <a:rPr sz="1500"/>
              <a:t>Put </a:t>
            </a:r>
            <a:r>
              <a:rPr sz="1500">
                <a:latin typeface="Courier New"/>
              </a:rPr>
              <a:t>uart.c/.h</a:t>
            </a:r>
            <a:r>
              <a:rPr sz="1500"/>
              <a:t> in </a:t>
            </a:r>
            <a:r>
              <a:rPr sz="1500">
                <a:latin typeface="Courier New"/>
              </a:rPr>
              <a:t>mylib</a:t>
            </a:r>
            <a:r>
              <a:rPr sz="1500"/>
              <a:t>, and </a:t>
            </a:r>
            <a:r>
              <a:rPr sz="1500">
                <a:latin typeface="Courier New"/>
              </a:rPr>
              <a:t>counter.c</a:t>
            </a:r>
            <a:r>
              <a:rPr sz="1500"/>
              <a:t> in </a:t>
            </a:r>
            <a:r>
              <a:rPr sz="1500">
                <a:latin typeface="Courier New"/>
              </a:rPr>
              <a:t>Counter/Src/</a:t>
            </a:r>
            <a:r>
              <a:rPr sz="1500"/>
              <a:t>. Build and flash.</a:t>
            </a:r>
          </a:p>
          <a:p>
            <a:pPr>
              <a:spcAft>
                <a:spcPts val="700"/>
              </a:spcAft>
              <a:buAutoNum type="arabicPeriod"/>
              <a:defRPr sz="1500"/>
            </a:pPr>
            <a:r>
              <a:rPr sz="1500"/>
              <a:t>Open CoolTerm → Options, configure it as on the next slide, then Save the config as ENGS28.CoolTermSettings.</a:t>
            </a:r>
          </a:p>
          <a:p>
            <a:pPr>
              <a:spcAft>
                <a:spcPts val="700"/>
              </a:spcAft>
              <a:buAutoNum type="arabicPeriod"/>
              <a:defRPr sz="1500"/>
            </a:pPr>
            <a:r>
              <a:rPr sz="1500"/>
              <a:t>Click Connect, press the black reset button — you should see the counter incrementing.</a:t>
            </a:r>
          </a:p>
          <a:p>
            <a:pPr>
              <a:buAutoNum type="arabicPeriod"/>
              <a:defRPr sz="1500"/>
            </a:pPr>
            <a:r>
              <a:rPr sz="1500"/>
              <a:t>Then change Baudrate to 4800, reconnect, reset — observe. Try 115200. Write one sentence explaining each garbled result in terms of bit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CoolTerm settings</a:t>
            </a:r>
          </a:p>
        </p:txBody>
      </p:sp>
      <p:pic>
        <p:nvPicPr>
          <p:cNvPr id="3" name="Picture 2" descr="slide11_4fcf6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710" y="1737360"/>
            <a:ext cx="4143699" cy="3657600"/>
          </a:xfrm>
          <a:prstGeom prst="rect">
            <a:avLst/>
          </a:prstGeom>
        </p:spPr>
      </p:pic>
      <p:pic>
        <p:nvPicPr>
          <p:cNvPr id="4" name="Picture 3" descr="slide11_5bdba5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550" y="1737360"/>
            <a:ext cx="4143699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4270" y="5440680"/>
            <a:ext cx="432657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Serial Port: pick the USB-modem / USB-serial port; 9600 · 8 · None · 1, no flow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52110" y="5440680"/>
            <a:ext cx="4326579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Data Handling: check Format TAB separated text and Convert Non-printable Characters.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you should see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120640" cy="4297680"/>
          </a:xfrm>
        </p:spPr>
        <p:txBody>
          <a:bodyPr wrap="square"/>
          <a:lstStyle/>
          <a:p>
            <a:pPr>
              <a:defRPr sz="1600"/>
            </a:pPr>
            <a:r>
              <a:rPr sz="1600"/>
              <a:t>Each line prints once per 500 ms.</a:t>
            </a:r>
          </a:p>
          <a:p>
            <a:pPr>
              <a:defRPr sz="1600"/>
            </a:pPr>
            <a:r>
              <a:rPr sz="1600"/>
              <a:t>Press the Nucleo reset button and the count restarts from zero.</a:t>
            </a:r>
          </a:p>
          <a:p>
            <a:pPr>
              <a:defRPr sz="1600"/>
            </a:pPr>
            <a:r>
              <a:rPr b="1" sz="1600"/>
              <a:t>4800 baud is half the correct rate</a:t>
            </a:r>
            <a:r>
              <a:rPr sz="1600"/>
              <a:t> — the receiver samples each bit for twice as long, so every byte is corrupted. Baud mismatch = garbage.</a:t>
            </a:r>
          </a:p>
        </p:txBody>
      </p:sp>
      <p:pic>
        <p:nvPicPr>
          <p:cNvPr id="4" name="Picture 3" descr="slide12_2937808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1888" y="1600200"/>
            <a:ext cx="5004143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5669280"/>
            <a:ext cx="521208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CoolTerm showing counter output at 9600 baud.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printf in your code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219456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197510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B5391F"/>
                </a:solidFill>
                <a:latin typeface="Courier New"/>
              </a:rPr>
              <a:t>"count = %d\r\n"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signed decimal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B5391F"/>
                </a:solidFill>
                <a:latin typeface="Courier New"/>
              </a:rPr>
              <a:t>"MODER = 0x%08lx\r\n"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32-bit reg: %lx (long)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B5391F"/>
                </a:solidFill>
                <a:latin typeface="Courier New"/>
              </a:rPr>
              <a:t>"adc_val = 0x%04x\r\n"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adc_val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16-bit: %x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B5391F"/>
                </a:solidFill>
                <a:latin typeface="Courier New"/>
              </a:rPr>
              <a:t>"%d\t%x\r\n"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tab-separated columns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B5391F"/>
                </a:solidFill>
                <a:latin typeface="Courier New"/>
              </a:rPr>
              <a:t>"key = %c\r\n"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ch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            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single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31920"/>
            <a:ext cx="10515600" cy="21945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700"/>
              </a:spcAft>
            </a:pPr>
            <a:r>
              <a:rPr b="1" sz="1500">
                <a:solidFill>
                  <a:srgbClr val="00693E"/>
                </a:solidFill>
                <a:latin typeface="Arial"/>
              </a:rPr>
              <a:t>Setup: </a:t>
            </a:r>
            <a:r>
              <a:rPr sz="1500">
                <a:solidFill>
                  <a:srgbClr val="1A1A1A"/>
                </a:solidFill>
                <a:latin typeface="Arial"/>
              </a:rPr>
              <a:t>add  #include &lt;stdio.h&gt;  and  #include "uart.h"  at the top of your file, and call  uart2_init()  once before any printf.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00693E"/>
                </a:solidFill>
                <a:latin typeface="Arial"/>
              </a:rPr>
              <a:t>End each line with \r\n </a:t>
            </a:r>
            <a:r>
              <a:rPr sz="1500">
                <a:solidFill>
                  <a:srgbClr val="1A1A1A"/>
                </a:solidFill>
                <a:latin typeface="Arial"/>
              </a:rPr>
              <a:t>(not just \n) so the cursor returns to the left edge.</a:t>
            </a:r>
          </a:p>
          <a:p>
            <a:pPr>
              <a:spcAft>
                <a:spcPts val="700"/>
              </a:spcAft>
            </a:pPr>
            <a:r>
              <a:rPr b="1" sz="1500">
                <a:solidFill>
                  <a:srgbClr val="00693E"/>
                </a:solidFill>
                <a:latin typeface="Arial"/>
              </a:rPr>
              <a:t>No %f: </a:t>
            </a:r>
            <a:r>
              <a:rPr sz="1500">
                <a:solidFill>
                  <a:srgbClr val="1A1A1A"/>
                </a:solidFill>
                <a:latin typeface="Arial"/>
              </a:rPr>
              <a:t>the course printf can't format floats. Convert first — int mV = (int)(v*1000); printf("%d mV", mV).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 · How Does the UART Driver Work?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Jigsaw: annotate the driver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600"/>
            </a:pPr>
            <a:r>
              <a:rPr sz="1600"/>
              <a:t>Below is </a:t>
            </a:r>
            <a:r>
              <a:rPr sz="1600">
                <a:latin typeface="Courier New"/>
              </a:rPr>
              <a:t>uart.c</a:t>
            </a:r>
            <a:r>
              <a:rPr sz="1600"/>
              <a:t> with all comments stripped. Annotate your assigned section — explain what each line does and </a:t>
            </a:r>
            <a:r>
              <a:rPr i="1" sz="1600"/>
              <a:t>why</a:t>
            </a:r>
            <a:r>
              <a:rPr sz="1600"/>
              <a:t> it's necessary.</a:t>
            </a:r>
          </a:p>
          <a:p>
            <a:pPr>
              <a:defRPr sz="1600"/>
            </a:pPr>
            <a:r>
              <a:rPr b="1" sz="1600"/>
              <a:t>Groups A &amp; B: </a:t>
            </a:r>
            <a:r>
              <a:rPr sz="1600"/>
              <a:t>uart2_init (GPIO/AF, then clock/BRR/CR1). Groups C &amp; D: uart2_write and uart2_read.</a:t>
            </a:r>
          </a:p>
          <a:p>
            <a:pPr>
              <a:defRPr sz="1600"/>
            </a:pPr>
            <a:r>
              <a:rPr b="1" sz="1600"/>
              <a:t>After 8 minutes, pair up across the split and teach each other. Goal: your partner could explain any line without your help.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uart.c — comments stripped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617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9826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APB_CLK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12000000U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7B1FA2"/>
                </a:solidFill>
                <a:latin typeface="Courier New"/>
              </a:rPr>
              <a:t>#define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BAUD_RATE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</a:t>
            </a:r>
            <a:r>
              <a:rPr sz="1150" i="0">
                <a:solidFill>
                  <a:srgbClr val="A85A00"/>
                </a:solidFill>
                <a:latin typeface="Courier New"/>
              </a:rPr>
              <a:t>9600U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uart2_init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-- Group A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RCC_IOPENR_GPIOAEN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~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3U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4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3U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6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2U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4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2U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6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AFR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[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</a:t>
            </a:r>
            <a:r>
              <a:rPr sz="1150" i="0">
                <a:solidFill>
                  <a:srgbClr val="1A1A1A"/>
                </a:solidFill>
                <a:latin typeface="Courier New"/>
              </a:rPr>
              <a:t>]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~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8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AFR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[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</a:t>
            </a:r>
            <a:r>
              <a:rPr sz="1150" i="0">
                <a:solidFill>
                  <a:srgbClr val="1A1A1A"/>
                </a:solidFill>
                <a:latin typeface="Courier New"/>
              </a:rPr>
              <a:t>]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8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-- Group B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APBENR1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RCC_APBENR1_USART2EN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BRR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APB_CLK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/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BAUD_RATE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CR1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USART_CR1_TE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USART_CR1_RE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USART_CR1_UE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1">
                <a:solidFill>
                  <a:srgbClr val="3C7654"/>
                </a:solidFill>
                <a:latin typeface="Courier New"/>
              </a:rPr>
              <a:t>// -- Group C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uart2_write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ch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!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ISR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USART_ISR_TXE_TXFNF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TDR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ch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0xFF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1">
                <a:solidFill>
                  <a:srgbClr val="3C7654"/>
                </a:solidFill>
                <a:latin typeface="Courier New"/>
              </a:rPr>
              <a:t>// -- Group D --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uart2_read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!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ISR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USART_ISR_RXNE_RXFNE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543A8"/>
                </a:solidFill>
                <a:latin typeface="Courier New"/>
              </a:rPr>
              <a:t>return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RDR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0xFF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reference (annotated) — instructor key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617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9826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uart2_init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IOPENR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RCC_IOPENR_GPIOAEN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clock to GPIOA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~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3U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4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3U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6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clear PA2/PA3 mode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MODER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2U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4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2U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6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10 = alternate function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AFR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[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</a:t>
            </a:r>
            <a:r>
              <a:rPr sz="1150" i="0">
                <a:solidFill>
                  <a:srgbClr val="1A1A1A"/>
                </a:solidFill>
                <a:latin typeface="Courier New"/>
              </a:rPr>
              <a:t>]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~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8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clear AF nibbles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GPIOA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AFR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[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</a:t>
            </a:r>
            <a:r>
              <a:rPr sz="1150" i="0">
                <a:solidFill>
                  <a:srgbClr val="1A1A1A"/>
                </a:solidFill>
                <a:latin typeface="Courier New"/>
              </a:rPr>
              <a:t>]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8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1U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&lt;</a:t>
            </a:r>
            <a:r>
              <a:rPr sz="1150" i="0">
                <a:solidFill>
                  <a:srgbClr val="A85A00"/>
                </a:solidFill>
                <a:latin typeface="Courier New"/>
              </a:rPr>
              <a:t>12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AF1 = USART2 TX/RX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APBENR1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RCC_APBENR1_USART2EN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clock to USART2 (APB bus)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BRR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APB_CLK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/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BAUD_RATE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12e6/9600 = 1250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CR1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USART_CR1_TE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USART_CR1_RE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|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USART_CR1_UE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TX,RX,enable last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uart2_write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ch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!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ISR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USART_ISR_TXE_TXFNF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wait: TX register empty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TDR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=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ch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0xFF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       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send one byte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uart2_read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!</a:t>
            </a:r>
            <a:r>
              <a:rPr sz="1150" i="0">
                <a:solidFill>
                  <a:srgbClr val="1A1A1A"/>
                </a:solidFill>
                <a:latin typeface="Courier New"/>
              </a:rPr>
              <a:t>(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ISR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USART_ISR_RXNE_RXFNE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)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{</a:t>
            </a: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wait: byte received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150" i="0">
                <a:solidFill>
                  <a:srgbClr val="1543A8"/>
                </a:solidFill>
                <a:latin typeface="Courier New"/>
              </a:rPr>
              <a:t>return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150" i="0">
                <a:solidFill>
                  <a:srgbClr val="1A1A1A"/>
                </a:solidFill>
                <a:latin typeface="Courier New"/>
              </a:rPr>
              <a:t>-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RDR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</a:t>
            </a:r>
            <a:r>
              <a:rPr sz="1150" i="0">
                <a:solidFill>
                  <a:srgbClr val="A85A00"/>
                </a:solidFill>
                <a:latin typeface="Courier New"/>
              </a:rPr>
              <a:t>0xFF</a:t>
            </a:r>
            <a:r>
              <a:rPr sz="1150" i="0">
                <a:solidFill>
                  <a:srgbClr val="1A1A1A"/>
                </a:solidFill>
                <a:latin typeface="Courier New"/>
              </a:rPr>
              <a:t>;</a:t>
            </a:r>
            <a:r>
              <a:rPr sz="1150" i="0">
                <a:solidFill>
                  <a:srgbClr val="1A1A1A"/>
                </a:solidFill>
                <a:latin typeface="Courier New"/>
              </a:rPr>
              <a:t>                        </a:t>
            </a:r>
            <a:r>
              <a:rPr sz="1150" i="1">
                <a:solidFill>
                  <a:srgbClr val="3C7654"/>
                </a:solidFill>
                <a:latin typeface="Courier New"/>
              </a:rPr>
              <a:t>// read it (clears RXNE)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 the Hood: How the UART 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buNone/>
              <a:defRPr sz="1800"/>
            </a:pPr>
            <a:r>
              <a:rPr sz="1800"/>
              <a:t>What the driver code you just read is actually doing.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your board reaches your laptop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480560" cy="4297680"/>
          </a:xfrm>
        </p:spPr>
        <p:txBody>
          <a:bodyPr wrap="square"/>
          <a:lstStyle/>
          <a:p>
            <a:pPr>
              <a:defRPr sz="1500"/>
            </a:pPr>
            <a:r>
              <a:rPr sz="1500"/>
              <a:t>The ST-Link section (top of the board) is a second STM32 that is both the programmer </a:t>
            </a:r>
            <a:r>
              <a:rPr i="1" sz="1500"/>
              <a:t>and</a:t>
            </a:r>
            <a:r>
              <a:rPr sz="1500"/>
              <a:t> a USB-to-serial bridge.</a:t>
            </a:r>
          </a:p>
          <a:p>
            <a:pPr>
              <a:defRPr sz="1500"/>
            </a:pPr>
            <a:r>
              <a:rPr b="1" sz="1500"/>
              <a:t>USART2 TX = PA2, RX = PA3</a:t>
            </a:r>
            <a:r>
              <a:rPr sz="1500"/>
              <a:t> on your STM32C0 connect internally (solder bridges) to the ST-Link — no external wiring.</a:t>
            </a:r>
          </a:p>
          <a:p>
            <a:pPr>
              <a:defRPr sz="1500"/>
            </a:pPr>
            <a:r>
              <a:rPr sz="1500"/>
              <a:t>The ST-Link appears on your laptop as a USB serial device.</a:t>
            </a:r>
          </a:p>
          <a:p>
            <a:pPr>
              <a:defRPr sz="1500"/>
            </a:pPr>
            <a:r>
              <a:rPr b="1" sz="1500"/>
              <a:t>So: </a:t>
            </a:r>
            <a:r>
              <a:rPr sz="1500"/>
              <a:t>printf → PA2 → ST-Link → USB → CoolTerm.</a:t>
            </a:r>
          </a:p>
        </p:txBody>
      </p:sp>
      <p:pic>
        <p:nvPicPr>
          <p:cNvPr id="4" name="Picture 3" descr="d5_co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620764"/>
            <a:ext cx="5852160" cy="43479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77840" y="5989320"/>
            <a:ext cx="585216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PA2 (TX) and PA3 (RX) connect internally to the ST-Link, which is the USB serial device.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Routing pins to the UART: alternate function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937760" cy="4297680"/>
          </a:xfrm>
        </p:spPr>
        <p:txBody>
          <a:bodyPr wrap="square"/>
          <a:lstStyle/>
          <a:p>
            <a:pPr>
              <a:defRPr sz="1500"/>
            </a:pPr>
            <a:r>
              <a:rPr sz="1500"/>
              <a:t>One physical pin can serve many peripherals. Two fields decide which:</a:t>
            </a:r>
          </a:p>
          <a:p>
            <a:pPr>
              <a:defRPr sz="1500"/>
            </a:pPr>
            <a:r>
              <a:rPr b="1" sz="1500">
                <a:latin typeface="Courier New"/>
              </a:rPr>
              <a:t>GPIOA-&gt;MODER = 10</a:t>
            </a:r>
            <a:r>
              <a:rPr sz="1500"/>
              <a:t> puts PA2/PA3 in Alternate Function mode.</a:t>
            </a:r>
          </a:p>
          <a:p>
            <a:pPr>
              <a:defRPr sz="1500"/>
            </a:pPr>
            <a:r>
              <a:rPr b="1" sz="1500">
                <a:latin typeface="Courier New"/>
              </a:rPr>
              <a:t>GPIOA-&gt;AFR[0]</a:t>
            </a:r>
            <a:r>
              <a:rPr sz="1500"/>
              <a:t> picks which function — 4 bits per pin. AF1 = USART2 for PA2/PA3.</a:t>
            </a:r>
          </a:p>
          <a:p>
            <a:pPr>
              <a:defRPr sz="1500"/>
            </a:pPr>
            <a:r>
              <a:rPr i="1" sz="1500"/>
              <a:t>That is exactly the Group A code in the driver.</a:t>
            </a:r>
          </a:p>
        </p:txBody>
      </p:sp>
      <p:pic>
        <p:nvPicPr>
          <p:cNvPr id="4" name="Picture 3" descr="d5_afr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801514"/>
            <a:ext cx="5486400" cy="35292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5376525"/>
            <a:ext cx="548640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AFRL — 4 bits per pin: PA2 = bits [11:8], PA3 = bits [15:12]; write 0001 (AF1) into each.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the speed: the baud-rate register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5212080" cy="4297680"/>
          </a:xfrm>
        </p:spPr>
        <p:txBody>
          <a:bodyPr wrap="square"/>
          <a:lstStyle/>
          <a:p>
            <a:pPr>
              <a:defRPr sz="1500"/>
            </a:pPr>
            <a:r>
              <a:rPr sz="1500"/>
              <a:t>No shared clock wire, so both ends must agree on the bit rate in advance.</a:t>
            </a:r>
          </a:p>
          <a:p>
            <a:pPr>
              <a:defRPr sz="1500"/>
            </a:pPr>
            <a:r>
              <a:rPr b="1" sz="1500"/>
              <a:t>USART_BRR holds USARTDIV</a:t>
            </a:r>
            <a:r>
              <a:rPr sz="1500"/>
              <a:t>, a plain divisor of the APB clock.</a:t>
            </a:r>
          </a:p>
          <a:p>
            <a:pPr>
              <a:defRPr sz="1500"/>
            </a:pPr>
            <a:r>
              <a:rPr b="1" sz="1500">
                <a:solidFill>
                  <a:srgbClr val="00693E"/>
                </a:solidFill>
              </a:rPr>
              <a:t>BRR = f_APB / baud = 12,000,000 / 9600 = 1250.</a:t>
            </a:r>
          </a:p>
          <a:p>
            <a:pPr>
              <a:defRPr sz="1500"/>
            </a:pPr>
            <a:r>
              <a:rPr sz="1500"/>
              <a:t>Load the wrong divisor and every bit is mistimed → garbage. That's what the 4800 experiment showed.</a:t>
            </a:r>
          </a:p>
        </p:txBody>
      </p:sp>
      <p:pic>
        <p:nvPicPr>
          <p:cNvPr id="4" name="Picture 3" descr="d5_b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28188"/>
            <a:ext cx="5212080" cy="23043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4078251"/>
            <a:ext cx="521208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USART_BRR bits [15:0] = USARTDIV. 9600 baud at 12 MHz → 1250 (0x04E2).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receiver recovers timing: oversampling ×16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828800"/>
            <a:ext cx="10515600" cy="15544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spcAft>
                <a:spcPts val="600"/>
              </a:spcAft>
              <a:defRPr sz="1500"/>
            </a:pPr>
            <a:r>
              <a:rPr b="1" sz="1500">
                <a:solidFill>
                  <a:srgbClr val="1A1A1A"/>
                </a:solidFill>
                <a:latin typeface="Arial"/>
              </a:rPr>
              <a:t>Each byte is framed: </a:t>
            </a:r>
            <a:r>
              <a:rPr sz="1500">
                <a:solidFill>
                  <a:srgbClr val="1A1A1A"/>
                </a:solidFill>
                <a:latin typeface="Arial"/>
              </a:rPr>
              <a:t>the line idles HIGH, a START bit (LOW) begins it, 8 data bits follow LSB-first, and a STOP bit (HIGH) ends it (8N1).</a:t>
            </a:r>
          </a:p>
          <a:p>
            <a:pPr>
              <a:spcAft>
                <a:spcPts val="600"/>
              </a:spcAft>
              <a:defRPr sz="1500"/>
            </a:pPr>
            <a:r>
              <a:rPr b="1" sz="1500">
                <a:solidFill>
                  <a:srgbClr val="1A1A1A"/>
                </a:solidFill>
                <a:latin typeface="Arial"/>
              </a:rPr>
              <a:t>The receiver runs its sample clock at 16× the baud rate. </a:t>
            </a:r>
            <a:r>
              <a:rPr sz="1500">
                <a:solidFill>
                  <a:srgbClr val="1A1A1A"/>
                </a:solidFill>
                <a:latin typeface="Arial"/>
              </a:rPr>
              <a:t>It catches the START falling edge, counts 8 ticks to the bit center, then samples every 16 ticks — always mid-bit, where the signal is stable.</a:t>
            </a:r>
          </a:p>
          <a:p>
            <a:pPr>
              <a:spcAft>
                <a:spcPts val="600"/>
              </a:spcAft>
              <a:defRPr sz="1500"/>
            </a:pPr>
            <a:r>
              <a:rPr b="1" sz="1500">
                <a:solidFill>
                  <a:srgbClr val="1A1A1A"/>
                </a:solidFill>
                <a:latin typeface="Arial"/>
              </a:rPr>
              <a:t>That is how it counts several identical bits correctly with no clock wire.</a:t>
            </a:r>
          </a:p>
        </p:txBody>
      </p:sp>
      <p:pic>
        <p:nvPicPr>
          <p:cNvPr id="4" name="Picture 3" descr="d5_over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429000"/>
            <a:ext cx="10881360" cy="2138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12779"/>
            <a:ext cx="1088136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Dense ticks = the 16× sample clock. Black arrow = start-bit center; red arrows = each bit sampled at its center.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 format for free: CR1 = 8N1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828800"/>
            <a:ext cx="4754880" cy="4297680"/>
          </a:xfrm>
        </p:spPr>
        <p:txBody>
          <a:bodyPr wrap="square"/>
          <a:lstStyle/>
          <a:p>
            <a:pPr>
              <a:defRPr sz="1500"/>
            </a:pPr>
            <a:r>
              <a:rPr b="1" sz="1500"/>
              <a:t>The reset value of CR1/CR2 (0x00000000) already gives 8 data bits, no parity, 1 stop bit, and oversampling ×16</a:t>
            </a:r>
            <a:r>
              <a:rPr sz="1500"/>
              <a:t> — exactly 8N1.</a:t>
            </a:r>
          </a:p>
          <a:p>
            <a:pPr>
              <a:defRPr sz="1500"/>
            </a:pPr>
            <a:r>
              <a:rPr sz="1500"/>
              <a:t>So we set only three bits: </a:t>
            </a:r>
            <a:r>
              <a:rPr sz="1500">
                <a:latin typeface="Courier New"/>
              </a:rPr>
              <a:t>TE</a:t>
            </a:r>
            <a:r>
              <a:rPr sz="1500"/>
              <a:t> (transmit), </a:t>
            </a:r>
            <a:r>
              <a:rPr sz="1500">
                <a:latin typeface="Courier New"/>
              </a:rPr>
              <a:t>RE</a:t>
            </a:r>
            <a:r>
              <a:rPr sz="1500"/>
              <a:t> (receive), and </a:t>
            </a:r>
            <a:r>
              <a:rPr sz="1500">
                <a:latin typeface="Courier New"/>
              </a:rPr>
              <a:t>UE</a:t>
            </a:r>
            <a:r>
              <a:rPr sz="1500"/>
              <a:t> (enable).</a:t>
            </a:r>
          </a:p>
          <a:p>
            <a:pPr>
              <a:defRPr sz="1500"/>
            </a:pPr>
            <a:r>
              <a:rPr b="1" sz="1500"/>
              <a:t>UE must be set last</a:t>
            </a:r>
            <a:r>
              <a:rPr sz="1500"/>
              <a:t>, after BRR. That is the Group B code.</a:t>
            </a:r>
          </a:p>
        </p:txBody>
      </p:sp>
      <p:pic>
        <p:nvPicPr>
          <p:cNvPr id="4" name="Picture 3" descr="d5_c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0139"/>
            <a:ext cx="5577840" cy="39663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52160" y="5732220"/>
            <a:ext cx="5577840" cy="640080"/>
          </a:xfrm>
          <a:prstGeom prst="rect">
            <a:avLst/>
          </a:prstGeom>
          <a:noFill/>
        </p:spPr>
        <p:txBody>
          <a:bodyPr wrap="square" lIns="0" rIns="0" tIns="25400" bIns="0">
            <a:spAutoFit/>
          </a:bodyPr>
          <a:lstStyle/>
          <a:p>
            <a:pPr algn="ctr"/>
            <a:r>
              <a:rPr sz="1100" i="1">
                <a:solidFill>
                  <a:srgbClr val="555F59"/>
                </a:solidFill>
                <a:latin typeface="Arial"/>
              </a:rPr>
              <a:t>USART_CR1/CR2: reset already selects 8N1 + oversampling ×16; set TE, RE, UE (UE last).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 · Start the Keyboard Counter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Listen without freezing the counter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/>
          <a:lstStyle/>
          <a:p>
            <a:pPr>
              <a:defRPr sz="1500"/>
            </a:pPr>
            <a:r>
              <a:rPr b="1" sz="1500"/>
              <a:t>Your counter only sends data — now make it listen too.</a:t>
            </a:r>
            <a:r>
              <a:rPr sz="1500"/>
              <a:t> Pressing a key should change the count.</a:t>
            </a:r>
          </a:p>
          <a:p>
            <a:pPr>
              <a:defRPr sz="1500"/>
            </a:pPr>
            <a:r>
              <a:rPr sz="1500"/>
              <a:t>But calling </a:t>
            </a:r>
            <a:r>
              <a:rPr sz="1500">
                <a:latin typeface="Courier New"/>
              </a:rPr>
              <a:t>uart2_read()</a:t>
            </a:r>
            <a:r>
              <a:rPr sz="1500"/>
              <a:t> at the top of the loop would block forever waiting for a key, freezing the counter.</a:t>
            </a:r>
          </a:p>
          <a:p>
            <a:pPr>
              <a:defRPr sz="1500"/>
            </a:pPr>
            <a:r>
              <a:rPr b="1" sz="1500"/>
              <a:t>The fix: poll the RXNE flag.</a:t>
            </a:r>
            <a:r>
              <a:rPr sz="1500"/>
              <a:t> If a byte is waiting, read it and act; if not, skip straight to the print and delay. (You just studied the driver — you can complete the read line yourself.)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3657600"/>
            <a:ext cx="10515600" cy="2148840"/>
          </a:xfrm>
          <a:prstGeom prst="roundRect">
            <a:avLst>
              <a:gd name="adj" fmla="val 4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767328"/>
            <a:ext cx="10058400" cy="196596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>
              <a:lnSpc>
                <a:spcPct val="100000"/>
              </a:lnSpc>
            </a:pPr>
            <a:r>
              <a:rPr sz="130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1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if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300" i="0">
                <a:solidFill>
                  <a:srgbClr val="1A1A1A"/>
                </a:solidFill>
                <a:latin typeface="Courier New"/>
              </a:rPr>
              <a:t>-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ISR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USART_ISR_RXNE_RXFNE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00" i="0">
                <a:solidFill>
                  <a:srgbClr val="1543A8"/>
                </a:solidFill>
                <a:latin typeface="Courier New"/>
              </a:rPr>
              <a:t>char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=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/</a:t>
            </a:r>
            <a:r>
              <a:rPr sz="1300" i="0">
                <a:solidFill>
                  <a:srgbClr val="1A1A1A"/>
                </a:solidFill>
                <a:latin typeface="Courier New"/>
              </a:rPr>
              <a:t>*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read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from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the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right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register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*</a:t>
            </a:r>
            <a:r>
              <a:rPr sz="1300" i="0">
                <a:solidFill>
                  <a:srgbClr val="1A1A1A"/>
                </a:solidFill>
                <a:latin typeface="Courier New"/>
              </a:rPr>
              <a:t>/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complete this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300" i="1">
                <a:solidFill>
                  <a:srgbClr val="3C7654"/>
                </a:solidFill>
                <a:latin typeface="Courier New"/>
              </a:rPr>
              <a:t>// handle key here ...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B5391F"/>
                </a:solidFill>
                <a:latin typeface="Courier New"/>
              </a:rPr>
              <a:t>"count = %d\r\n"</a:t>
            </a:r>
            <a:r>
              <a:rPr sz="1300" i="0">
                <a:solidFill>
                  <a:srgbClr val="1A1A1A"/>
                </a:solidFill>
                <a:latin typeface="Courier New"/>
              </a:rPr>
              <a:t>,</a:t>
            </a:r>
            <a:r>
              <a:rPr sz="1300" i="0">
                <a:solidFill>
                  <a:srgbClr val="1A1A1A"/>
                </a:solidFill>
                <a:latin typeface="Courier New"/>
              </a:rPr>
              <a:t>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30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300" i="0">
                <a:solidFill>
                  <a:srgbClr val="1A1A1A"/>
                </a:solidFill>
                <a:latin typeface="Courier New"/>
              </a:rPr>
              <a:t>(</a:t>
            </a:r>
            <a:r>
              <a:rPr sz="130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300" i="0">
                <a:solidFill>
                  <a:srgbClr val="1A1A1A"/>
                </a:solidFill>
                <a:latin typeface="Courier New"/>
              </a:rPr>
              <a:t>)</a:t>
            </a:r>
            <a:r>
              <a:rPr sz="130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</a:pPr>
            <a:r>
              <a:rPr sz="130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Activity: Keyboard-Controlled Counter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1737360"/>
            <a:ext cx="10515600" cy="4617720"/>
          </a:xfrm>
        </p:spPr>
        <p:txBody>
          <a:bodyPr wrap="square"/>
          <a:lstStyle/>
          <a:p>
            <a:pPr>
              <a:spcAft>
                <a:spcPts val="800"/>
              </a:spcAft>
              <a:buAutoNum type="arabicPeriod"/>
              <a:defRPr sz="1500"/>
            </a:pPr>
            <a:r>
              <a:rPr sz="1500"/>
              <a:t>Modify </a:t>
            </a:r>
            <a:r>
              <a:rPr sz="1500">
                <a:latin typeface="Courier New"/>
              </a:rPr>
              <a:t>counter.c</a:t>
            </a:r>
            <a:r>
              <a:rPr sz="1500"/>
              <a:t> so it no longer auto-increments — it only changes on a control key. Any other key (or none) leaves the count unchanged and reprints the same value every 500 ms.</a:t>
            </a:r>
          </a:p>
          <a:p>
            <a:pPr>
              <a:spcAft>
                <a:spcPts val="800"/>
              </a:spcAft>
              <a:buAutoNum type="arabicPeriod"/>
              <a:defRPr sz="1500"/>
            </a:pPr>
            <a:r>
              <a:rPr sz="1500">
                <a:latin typeface="Courier New"/>
              </a:rPr>
              <a:t>u/U</a:t>
            </a:r>
            <a:r>
              <a:rPr sz="1500"/>
              <a:t> increments · </a:t>
            </a:r>
            <a:r>
              <a:rPr sz="1500">
                <a:latin typeface="Courier New"/>
              </a:rPr>
              <a:t>d/D</a:t>
            </a:r>
            <a:r>
              <a:rPr sz="1500"/>
              <a:t> decrements · </a:t>
            </a:r>
            <a:r>
              <a:rPr sz="1500">
                <a:latin typeface="Courier New"/>
              </a:rPr>
              <a:t>r/R</a:t>
            </a:r>
            <a:r>
              <a:rPr sz="1500"/>
              <a:t> resets to zero.</a:t>
            </a:r>
          </a:p>
          <a:p>
            <a:pPr>
              <a:spcAft>
                <a:spcPts val="800"/>
              </a:spcAft>
              <a:buAutoNum type="arabicPeriod"/>
              <a:defRPr sz="1500"/>
            </a:pPr>
            <a:r>
              <a:rPr sz="1500"/>
              <a:t>Use the RXNE flag for a non-blocking receive. Do </a:t>
            </a:r>
            <a:r>
              <a:rPr i="1" sz="1500"/>
              <a:t>not</a:t>
            </a:r>
            <a:r>
              <a:rPr sz="1500"/>
              <a:t> call </a:t>
            </a:r>
            <a:r>
              <a:rPr sz="1500">
                <a:latin typeface="Courier New"/>
              </a:rPr>
              <a:t>uart2_read()</a:t>
            </a:r>
            <a:r>
              <a:rPr sz="1500"/>
              <a:t> — it blocks and freezes the counter. Test in CoolTerm.</a:t>
            </a:r>
          </a:p>
          <a:p>
            <a:pPr>
              <a:buAutoNum type="arabicPeriod"/>
              <a:defRPr sz="1500"/>
            </a:pPr>
            <a:r>
              <a:rPr b="1" sz="1500"/>
              <a:t>Optional challenge: </a:t>
            </a:r>
            <a:r>
              <a:rPr sz="1500"/>
              <a:t>make u/d set a direction so the counter auto-counts every 500 ms; r resets and pauses until a new direction key. This is the lab deliverable — finish at home.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— keyboard counter (reference)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41248" y="1737360"/>
            <a:ext cx="10515600" cy="4617720"/>
          </a:xfrm>
          <a:prstGeom prst="roundRect">
            <a:avLst>
              <a:gd name="adj" fmla="val 3000"/>
            </a:avLst>
          </a:prstGeom>
          <a:solidFill>
            <a:srgbClr val="F4F6F5"/>
          </a:solidFill>
          <a:ln w="9525">
            <a:solidFill>
              <a:srgbClr val="DD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847088"/>
            <a:ext cx="10149840" cy="4398264"/>
          </a:xfrm>
          <a:prstGeom prst="rect">
            <a:avLst/>
          </a:prstGeom>
          <a:noFill/>
        </p:spPr>
        <p:txBody>
          <a:bodyPr wrap="square" lIns="76200" rIns="50800" tIns="50800" bIns="2540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&lt;stdio.h&gt;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"ES28.h"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7B1FA2"/>
                </a:solidFill>
                <a:latin typeface="Courier New"/>
              </a:rPr>
              <a:t>#include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"uart.h"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main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1543A8"/>
                </a:solidFill>
                <a:latin typeface="Courier New"/>
              </a:rPr>
              <a:t>void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int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0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uart2_init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B5391F"/>
                </a:solidFill>
                <a:latin typeface="Courier New"/>
              </a:rPr>
              <a:t>"Keyboard-controlled counter\r\n"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while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1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ISR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USART_ISR_RXNE_RXFNE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{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char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USART2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&gt;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RDR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&amp;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0xFF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 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'u'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'U'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+</a:t>
            </a:r>
            <a:r>
              <a:rPr sz="1250" i="0">
                <a:solidFill>
                  <a:srgbClr val="1A1A1A"/>
                </a:solidFill>
                <a:latin typeface="Courier New"/>
              </a:rPr>
              <a:t>+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else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'd'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'D'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-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   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else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543A8"/>
                </a:solidFill>
                <a:latin typeface="Courier New"/>
              </a:rPr>
              <a:t>if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'r'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|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key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B5391F"/>
                </a:solidFill>
                <a:latin typeface="Courier New"/>
              </a:rPr>
              <a:t>'R'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=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A85A00"/>
                </a:solidFill>
                <a:latin typeface="Courier New"/>
              </a:rPr>
              <a:t>0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printf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B5391F"/>
                </a:solidFill>
                <a:latin typeface="Courier New"/>
              </a:rPr>
              <a:t>"count = %d\r\n"</a:t>
            </a:r>
            <a:r>
              <a:rPr sz="1250" i="0">
                <a:solidFill>
                  <a:srgbClr val="1A1A1A"/>
                </a:solidFill>
                <a:latin typeface="Courier New"/>
              </a:rPr>
              <a:t>,</a:t>
            </a:r>
            <a:r>
              <a:rPr sz="1250" i="0">
                <a:solidFill>
                  <a:srgbClr val="1A1A1A"/>
                </a:solidFill>
                <a:latin typeface="Courier New"/>
              </a:rPr>
              <a:t>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count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delay_ms</a:t>
            </a:r>
            <a:r>
              <a:rPr sz="1250" i="0">
                <a:solidFill>
                  <a:srgbClr val="1A1A1A"/>
                </a:solidFill>
                <a:latin typeface="Courier New"/>
              </a:rPr>
              <a:t>(</a:t>
            </a:r>
            <a:r>
              <a:rPr sz="1250" i="0">
                <a:solidFill>
                  <a:srgbClr val="A85A00"/>
                </a:solidFill>
                <a:latin typeface="Courier New"/>
              </a:rPr>
              <a:t>500</a:t>
            </a:r>
            <a:r>
              <a:rPr sz="1250" i="0">
                <a:solidFill>
                  <a:srgbClr val="1A1A1A"/>
                </a:solidFill>
                <a:latin typeface="Courier New"/>
              </a:rPr>
              <a:t>)</a:t>
            </a:r>
            <a:r>
              <a:rPr sz="1250" i="0">
                <a:solidFill>
                  <a:srgbClr val="1A1A1A"/>
                </a:solidFill>
                <a:latin typeface="Courier New"/>
              </a:rPr>
              <a:t>;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    </a:t>
            </a:r>
            <a:r>
              <a:rPr sz="1250" i="0">
                <a:solidFill>
                  <a:srgbClr val="1A1A1A"/>
                </a:solidFill>
                <a:latin typeface="Courier New"/>
              </a:rPr>
              <a:t>}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i="0">
                <a:solidFill>
                  <a:srgbClr val="1A1A1A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