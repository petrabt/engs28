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REVEAL after the Exploring activity — confirm what students discovered about each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— bridges the internal port-bit diagram to the external wiring (switch to ground). Show if it helps; skip if it's one thing too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/ REVEAL — show after the activity if useful, or skip if the class is on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/ REVEAL — show after the activity if useful, or skip if the class is on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/ REVEAL — show after the activity if useful, or skip if the class is on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141"/>
              </a:buClr>
              <a:buSzPts val="2400"/>
              <a:buNone/>
              <a:defRPr sz="2400">
                <a:solidFill>
                  <a:srgbClr val="42414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">
  <p:cSld name="Thayer Log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" y="4294640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pic>
        <p:nvPicPr>
          <p:cNvPr descr="A close up of a sign&#10;&#10;Description automatically generated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496560"/>
            <a:ext cx="7315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 Option">
  <p:cSld name="Title Slide - Dark Option">
    <p:bg>
      <p:bgPr>
        <a:solidFill>
          <a:srgbClr val="00693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 - Dark Option">
  <p:cSld name="Thayer Logo - Dark Option">
    <p:bg>
      <p:bgPr>
        <a:solidFill>
          <a:srgbClr val="00693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" y="4737643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290336"/>
            <a:ext cx="12192000" cy="56766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659536"/>
            <a:ext cx="7315200" cy="2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Inputs &amp; the Oscilloscope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ENGS 28 · Day 3 — In-Class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Reminder: Late Lab Assignment Policy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Each student has an account of 2 late days, used at your discretion for lab assignments. To use one, say so in a submission comment.</a:t>
            </a:r>
          </a:p>
          <a:p>
            <a:pPr>
              <a:defRPr sz="1800"/>
            </a:pPr>
            <a:r>
              <a:rPr sz="1800"/>
              <a:t>Submit within 24 hours of the original deadline using a late day → no penalty.</a:t>
            </a:r>
          </a:p>
          <a:p>
            <a:pPr>
              <a:defRPr sz="1800"/>
            </a:pPr>
            <a:r>
              <a:rPr sz="1800"/>
              <a:t>Otherwise: late labs accepted up to two days late (due date adjusted for used late days) at a 10% penalty per day.</a:t>
            </a:r>
          </a:p>
          <a:p>
            <a:pPr>
              <a:defRPr sz="1800"/>
            </a:pPr>
            <a:r>
              <a:rPr sz="1800"/>
              <a:t>After two days beyond the deadline, lab assignments are not accepted for credit.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Reminder: Labs and the Honor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You work alone on the labs unless we specifically say otherwise.</a:t>
            </a:r>
          </a:p>
          <a:p>
            <a:pPr>
              <a:defRPr sz="1800"/>
            </a:pPr>
            <a:r>
              <a:rPr sz="1800"/>
              <a:t>Interaction while learning is encouraged — but exchange ideas, not code. The work you turn in must be your own.</a:t>
            </a:r>
          </a:p>
          <a:p>
            <a:pPr>
              <a:defRPr sz="1800"/>
            </a:pPr>
            <a:r>
              <a:rPr sz="1800"/>
              <a:t>Copying any portion of another person's code (or a design posted online / written in another course) violates the Honor Principle.</a:t>
            </a:r>
          </a:p>
          <a:p>
            <a:pPr>
              <a:defRPr sz="1800"/>
            </a:pPr>
            <a:r>
              <a:rPr sz="1800"/>
              <a:t>Always cite your lab and study partners by name, as you would any other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Reminder: AI Use in ENGS 28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You may use the HiTA tool (in Canvas) for help. Do not use other GenAI tools unless explicitly invited.</a:t>
            </a:r>
          </a:p>
          <a:p>
            <a:pPr>
              <a:defRPr sz="1800"/>
            </a:pPr>
            <a:r>
              <a:rPr sz="1800"/>
              <a:t>Give notice that you used an AI tool, and how, in your code comments and lab report.</a:t>
            </a:r>
          </a:p>
          <a:p>
            <a:pPr>
              <a:defRPr sz="1800"/>
            </a:pPr>
            <a:r>
              <a:rPr sz="1800"/>
              <a:t>If you base work on generated code, rigorously test and adapt it to the assignment and your understanding.</a:t>
            </a:r>
          </a:p>
          <a:p>
            <a:pPr>
              <a:defRPr sz="1800"/>
            </a:pPr>
            <a:r>
              <a:rPr sz="1800"/>
              <a:t>You must understand any code you submit and be able to explain it. All comments must be in your own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sz="2000"/>
              <a:t>Code review — blinkyCNT.c from Lab 1</a:t>
            </a:r>
          </a:p>
          <a:p>
            <a:pPr>
              <a:defRPr sz="2000"/>
            </a:pPr>
            <a:r>
              <a:rPr sz="2000"/>
              <a:t>Making measurements with the Analog Discovery 2 oscilloscope</a:t>
            </a:r>
          </a:p>
          <a:p>
            <a:pPr>
              <a:defRPr sz="2000"/>
            </a:pPr>
            <a:r>
              <a:rPr sz="2000"/>
              <a:t>Wiring and reading a pushbutton switch</a:t>
            </a:r>
          </a:p>
          <a:p>
            <a:pPr>
              <a:defRPr sz="2000"/>
            </a:pPr>
            <a:r>
              <a:rPr sz="2000"/>
              <a:t>Button exercises — a head start on Lab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· Code Review — blinkyCNT.c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Recall: Lab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669280" cy="4206240"/>
          </a:xfrm>
        </p:spPr>
        <p:txBody>
          <a:bodyPr wrap="square"/>
          <a:lstStyle/>
          <a:p>
            <a:pPr>
              <a:defRPr sz="1800"/>
            </a:pPr>
            <a:r>
              <a:rPr sz="1800"/>
              <a:t>Wire up three LEDs.</a:t>
            </a:r>
          </a:p>
          <a:p>
            <a:pPr>
              <a:defRPr sz="1800"/>
            </a:pPr>
            <a:r>
              <a:rPr sz="1800"/>
              <a:t>blinkySIM.c — blink all three LEDs simultaneously.</a:t>
            </a:r>
          </a:p>
          <a:p>
            <a:pPr>
              <a:defRPr sz="1800"/>
            </a:pPr>
            <a:r>
              <a:rPr sz="1800"/>
              <a:t>blinkySEQ.c — blink the LEDs sequentially (a running light).</a:t>
            </a:r>
          </a:p>
          <a:p>
            <a:pPr>
              <a:defRPr sz="1800"/>
            </a:pPr>
            <a:r>
              <a:rPr sz="1800"/>
              <a:t>blinkyCNT.c — display a 3-bit binary count on the LEDs.</a:t>
            </a:r>
          </a:p>
        </p:txBody>
      </p:sp>
      <p:pic>
        <p:nvPicPr>
          <p:cNvPr id="4" name="Picture 3" descr="slide09_ca307c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24" y="1645920"/>
            <a:ext cx="269715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blinkyCNT Code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Share your blinkyCNT.c from Lab 1 within your table group. Read each other's solutions and be ready to explain how you displayed a 3-bit binary count on three LEDs.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Read your partners' code. Can you follow the logic? For each solution, identify how bits are placed into the correct LED positions in </a:t>
            </a:r>
            <a:r>
              <a:rPr sz="1600">
                <a:latin typeface="Courier New"/>
              </a:rPr>
              <a:t>GPIOA-&gt;ODR</a:t>
            </a:r>
            <a:r>
              <a:rPr sz="1600"/>
              <a:t>.</a:t>
            </a:r>
          </a:p>
          <a:p>
            <a:pPr>
              <a:spcAft>
                <a:spcPts val="800"/>
              </a:spcAft>
              <a:buAutoNum type="arabicPeriod"/>
              <a:defRPr sz="1600"/>
            </a:pPr>
            <a:r>
              <a:rPr sz="1600"/>
              <a:t>Compare the approach below with your own. What does </a:t>
            </a:r>
            <a:r>
              <a:rPr sz="1600">
                <a:latin typeface="Courier New"/>
              </a:rPr>
              <a:t>count &lt;&lt; LED1_BIT</a:t>
            </a:r>
            <a:r>
              <a:rPr sz="1600"/>
              <a:t> accomplish? Why is it necessary to clear the LED bits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343400"/>
            <a:ext cx="987552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188720" y="4297680"/>
            <a:ext cx="9966960" cy="105156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07408"/>
            <a:ext cx="96012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400" i="0">
                <a:solidFill>
                  <a:srgbClr val="1A1A1A"/>
                </a:solidFill>
                <a:latin typeface="Courier New"/>
              </a:rPr>
              <a:t>-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~</a:t>
            </a:r>
            <a:r>
              <a:rPr sz="1400" i="0">
                <a:solidFill>
                  <a:srgbClr val="1A1A1A"/>
                </a:solidFill>
                <a:latin typeface="Courier New"/>
              </a:rPr>
              <a:t>LED_ALL</a:t>
            </a:r>
            <a:r>
              <a:rPr sz="1400" i="0">
                <a:solidFill>
                  <a:srgbClr val="1A1A1A"/>
                </a:solidFill>
                <a:latin typeface="Courier New"/>
              </a:rPr>
              <a:t>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400" i="1">
                <a:solidFill>
                  <a:srgbClr val="3C7654"/>
                </a:solidFill>
                <a:latin typeface="Courier New"/>
              </a:rPr>
              <a:t>// clear the three LED bits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400" i="0">
                <a:solidFill>
                  <a:srgbClr val="1A1A1A"/>
                </a:solidFill>
                <a:latin typeface="Courier New"/>
              </a:rPr>
              <a:t>-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|</a:t>
            </a:r>
            <a:r>
              <a:rPr sz="1400" i="0">
                <a:solidFill>
                  <a:srgbClr val="1A1A1A"/>
                </a:solidFill>
                <a:latin typeface="Courier New"/>
              </a:rPr>
              <a:t>=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(</a:t>
            </a:r>
            <a:r>
              <a:rPr sz="14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0">
                <a:solidFill>
                  <a:srgbClr val="1A1A1A"/>
                </a:solidFill>
                <a:latin typeface="Courier New"/>
              </a:rPr>
              <a:t>LED1_BIT</a:t>
            </a:r>
            <a:r>
              <a:rPr sz="1400" i="0">
                <a:solidFill>
                  <a:srgbClr val="1A1A1A"/>
                </a:solidFill>
                <a:latin typeface="Courier New"/>
              </a:rPr>
              <a:t>)</a:t>
            </a:r>
            <a:r>
              <a:rPr sz="1400" i="0">
                <a:solidFill>
                  <a:srgbClr val="1A1A1A"/>
                </a:solidFill>
                <a:latin typeface="Courier New"/>
              </a:rPr>
              <a:t>;</a:t>
            </a:r>
            <a:r>
              <a:rPr sz="1400" i="0">
                <a:solidFill>
                  <a:srgbClr val="1A1A1A"/>
                </a:solidFill>
                <a:latin typeface="Courier New"/>
              </a:rPr>
              <a:t> </a:t>
            </a:r>
            <a:r>
              <a:rPr sz="1400" i="1">
                <a:solidFill>
                  <a:srgbClr val="3C7654"/>
                </a:solidFill>
                <a:latin typeface="Courier New"/>
              </a:rPr>
              <a:t>// then write the new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blinkySIM.c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57200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5254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bit 0 enables clock for GPIOA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3C7654"/>
                </a:solidFill>
                <a:latin typeface="Courier New"/>
              </a:rPr>
              <a:t>// LEDs on D13, D12, D11 (PA5, 6, 7)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6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7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LED_ALL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   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1. clock access to GPIOA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14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2. PA5,6,7 as outputs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LED_ALL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3. turn LEDs 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LED_ALL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4. turn LEDs off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blinkySEQ.c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57200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5254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6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7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   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clock access to GPIOA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14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PA5,6,7 as outputs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-&gt; LED1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-&gt; LED2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-&gt; LED3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blinkyCNT.c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57200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5254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LED1_BIT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LED1_BIT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LED1_BIT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+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LED1_BIT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+</a:t>
            </a:r>
            <a:r>
              <a:rPr sz="1200" i="0">
                <a:solidFill>
                  <a:srgbClr val="A85A00"/>
                </a:solidFill>
                <a:latin typeface="Courier New"/>
              </a:rPr>
              <a:t>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LED_ALL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   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clock access to GPIOA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12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14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PA5,6,7 as outputs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13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for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unsigned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8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+</a:t>
            </a:r>
            <a:r>
              <a:rPr sz="1200" i="0">
                <a:solidFill>
                  <a:srgbClr val="1A1A1A"/>
                </a:solidFill>
                <a:latin typeface="Courier New"/>
              </a:rPr>
              <a:t>+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LED_ALL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turn all LEDs off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LED1_BIT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write the count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· The Analog Discovery 2 Oscilloscope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measurements: the Analog Discovery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21208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A compact USB instrument: oscilloscope, waveform generator, logic analyzer, and more.</a:t>
            </a:r>
          </a:p>
          <a:p>
            <a:pPr>
              <a:defRPr sz="1600"/>
            </a:pPr>
            <a:r>
              <a:rPr sz="1600"/>
              <a:t>Plug it into your laptop and open the Waveforms application.</a:t>
            </a:r>
          </a:p>
          <a:p>
            <a:pPr>
              <a:defRPr sz="1600"/>
            </a:pPr>
            <a:r>
              <a:rPr b="1" sz="1600"/>
              <a:t>This is your window into the real voltages on your circuit.</a:t>
            </a:r>
          </a:p>
        </p:txBody>
      </p:sp>
      <p:pic>
        <p:nvPicPr>
          <p:cNvPr id="4" name="Picture 3" descr="slide16_31ca4c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690" y="1554480"/>
            <a:ext cx="4790299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897880"/>
            <a:ext cx="484632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The AD2 connects to a laptop over USB; flying-lead cables reach your breadboard.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AD2 connector pinout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21208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Color-coded flying leads plug directly into breadboard holes.</a:t>
            </a:r>
          </a:p>
          <a:p>
            <a:pPr>
              <a:defRPr sz="1600"/>
            </a:pPr>
            <a:r>
              <a:rPr b="1" sz="1600">
                <a:solidFill>
                  <a:srgbClr val="C06000"/>
                </a:solidFill>
              </a:rPr>
              <a:t>Channel 1 = 1+ / 1−  (orange)</a:t>
            </a:r>
          </a:p>
          <a:p>
            <a:pPr>
              <a:defRPr sz="1600"/>
            </a:pPr>
            <a:r>
              <a:rPr b="1" sz="1600">
                <a:solidFill>
                  <a:srgbClr val="1F6FB2"/>
                </a:solidFill>
              </a:rPr>
              <a:t>Channel 2 = 2+ / 2−  (blue)</a:t>
            </a:r>
          </a:p>
          <a:p>
            <a:pPr>
              <a:defRPr sz="1600"/>
            </a:pPr>
            <a:r>
              <a:rPr sz="1600"/>
              <a:t>The minus (−) leads have a white stripe — always connect these to GND.</a:t>
            </a:r>
          </a:p>
        </p:txBody>
      </p:sp>
      <p:pic>
        <p:nvPicPr>
          <p:cNvPr id="4" name="Picture 3" descr="slide17_e3a60d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28" y="1554480"/>
            <a:ext cx="4005942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2547" y="2542946"/>
            <a:ext cx="721069" cy="2376525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C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4160520"/>
            <a:ext cx="2331720" cy="82296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ctr"/>
            <a:r>
              <a:rPr sz="1250" b="1">
                <a:solidFill>
                  <a:srgbClr val="C01010"/>
                </a:solidFill>
                <a:latin typeface="Arial"/>
              </a:rPr>
              <a:t>The two analog scope
channels — CH1 &amp; CH2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806440"/>
            <a:ext cx="50292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Each channel has a plus (signal) and a minus (ground-reference) lead.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 the AD2 to your Lab 1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206240" cy="4297680"/>
          </a:xfrm>
        </p:spPr>
        <p:txBody>
          <a:bodyPr wrap="square"/>
          <a:lstStyle/>
          <a:p>
            <a:pPr>
              <a:defRPr sz="1600"/>
            </a:pPr>
            <a:r>
              <a:rPr b="1" sz="1600"/>
              <a:t>Load blinkySEQ.c onto your Nucleo.</a:t>
            </a:r>
          </a:p>
          <a:p>
            <a:pPr>
              <a:defRPr sz="1600"/>
            </a:pPr>
            <a:r>
              <a:rPr sz="1600"/>
              <a:t>Connect both minus (white-stripe) leads to GND.</a:t>
            </a:r>
          </a:p>
          <a:p>
            <a:pPr>
              <a:defRPr sz="1600"/>
            </a:pPr>
            <a:r>
              <a:rPr sz="1600">
                <a:solidFill>
                  <a:srgbClr val="C06000"/>
                </a:solidFill>
              </a:rPr>
              <a:t>CH1 (+) → one LED anode</a:t>
            </a:r>
          </a:p>
          <a:p>
            <a:pPr>
              <a:defRPr sz="1600"/>
            </a:pPr>
            <a:r>
              <a:rPr sz="1600">
                <a:solidFill>
                  <a:srgbClr val="1F6FB2"/>
                </a:solidFill>
              </a:rPr>
              <a:t>CH2 (+) → a second LED anode</a:t>
            </a:r>
          </a:p>
        </p:txBody>
      </p:sp>
      <p:pic>
        <p:nvPicPr>
          <p:cNvPr id="4" name="Picture 3" descr="slide18_b0119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362" y="1554480"/>
            <a:ext cx="5295355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5897880"/>
            <a:ext cx="621792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Minus leads to ground; CH1 and CH2 plus leads to two LED anodes.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pulse width with cursors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11480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Drag two vertical cursors to the rising and falling edges of a pulse.</a:t>
            </a:r>
          </a:p>
          <a:p>
            <a:pPr>
              <a:defRPr sz="1600"/>
            </a:pPr>
            <a:r>
              <a:rPr sz="1600"/>
              <a:t>The toolbar shows the time difference (Δt) between them.</a:t>
            </a:r>
          </a:p>
          <a:p>
            <a:pPr>
              <a:defRPr sz="1600"/>
            </a:pPr>
            <a:r>
              <a:rPr b="1" sz="1600"/>
              <a:t>You'll use this to measure pulse widths — and soon, switch bounce.</a:t>
            </a:r>
          </a:p>
        </p:txBody>
      </p:sp>
      <p:pic>
        <p:nvPicPr>
          <p:cNvPr id="4" name="Picture 3" descr="slide04_9157d7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309360" cy="4171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5771524"/>
            <a:ext cx="630936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Two cursors bracket one LED pulse; the toolbar reads the time difference.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Exploring the Oscilloscope (1 of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000"/>
              </a:spcAft>
              <a:buNone/>
              <a:defRPr sz="1600"/>
            </a:pPr>
            <a:r>
              <a:rPr sz="1600"/>
              <a:t>Setup: load blinkySEQ.c; minus (white-stripe) leads → GND, CH1(+) → one LED anode, CH2(+) → a second LED anode.</a:t>
            </a:r>
          </a:p>
          <a:p>
            <a:pPr>
              <a:spcAft>
                <a:spcPts val="1000"/>
              </a:spcAft>
              <a:buNone/>
              <a:defRPr sz="1600"/>
            </a:pPr>
            <a:r>
              <a:rPr sz="1600"/>
              <a:t>Run the scope and observe both channels. Then experiment with the settings and answer at your table:</a:t>
            </a:r>
          </a:p>
          <a:p>
            <a:pPr lvl="1">
              <a:spcAft>
                <a:spcPts val="800"/>
              </a:spcAft>
              <a:buAutoNum type="arabicPeriod"/>
              <a:defRPr sz="1600"/>
            </a:pPr>
            <a:r>
              <a:rPr sz="1600"/>
              <a:t>What does Time Base control? What value shows one full blink cycle across the screen?</a:t>
            </a:r>
          </a:p>
          <a:p>
            <a:pPr lvl="1">
              <a:spcAft>
                <a:spcPts val="800"/>
              </a:spcAft>
              <a:buAutoNum type="arabicPeriod"/>
              <a:defRPr sz="1600"/>
            </a:pPr>
            <a:r>
              <a:rPr sz="1600"/>
              <a:t>What does Range control? Set it so the waveform fills roughly half the vertical space.</a:t>
            </a:r>
          </a:p>
          <a:p>
            <a:pPr lvl="1">
              <a:spcAft>
                <a:spcPts val="800"/>
              </a:spcAft>
              <a:buAutoNum type="arabicPeriod"/>
              <a:defRPr sz="1600"/>
            </a:pPr>
            <a:r>
              <a:rPr sz="1600"/>
              <a:t>What does Offset do? How do you use it to separate two overlapping channels?</a:t>
            </a:r>
          </a:p>
          <a:p>
            <a:pPr lvl="1">
              <a:buAutoNum type="arabicPeriod"/>
              <a:defRPr sz="1600"/>
            </a:pPr>
            <a:r>
              <a:rPr sz="1600"/>
              <a:t>What voltage does the scope measure on a GPIO pin when the LED connected to it is 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Exploring the Oscilloscope (2 of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Measure the pulse width of one LED's ON period with the cursor tool. Does it match the delay_ms value in your code?</a:t>
            </a:r>
          </a:p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In your blinkySIM project, set 1 ms ON / 10 ms OFF and flash it; then swap to 10 ms ON / 1 ms OFF. How does brightness change, and why?</a:t>
            </a:r>
          </a:p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You want to observe a switch bounce that lasts about 1 ms. Which time base setting would you choose, and why?</a:t>
            </a:r>
          </a:p>
          <a:p>
            <a:pPr>
              <a:buAutoNum type="arabicPeriod"/>
              <a:defRPr sz="1600"/>
            </a:pPr>
            <a:r>
              <a:rPr sz="1600"/>
              <a:t>Save a screenshot of your scope view: File → Export → Image tab → Save. You'll need this for every lab report.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Debrief: the four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760720" cy="4206240"/>
          </a:xfrm>
        </p:spPr>
        <p:txBody>
          <a:bodyPr wrap="square"/>
          <a:lstStyle/>
          <a:p>
            <a:pPr>
              <a:spcAft>
                <a:spcPts val="800"/>
              </a:spcAft>
              <a:defRPr sz="1400"/>
            </a:pPr>
            <a:r>
              <a:rPr b="1" sz="1400"/>
              <a:t>Time Base</a:t>
            </a:r>
            <a:r>
              <a:rPr sz="1400"/>
              <a:t> — time across the screen (100 ms/div for a blink; 20 µs/div for bounce).</a:t>
            </a:r>
          </a:p>
          <a:p>
            <a:pPr>
              <a:spcAft>
                <a:spcPts val="800"/>
              </a:spcAft>
              <a:defRPr sz="1400"/>
            </a:pPr>
            <a:r>
              <a:rPr b="1" sz="1400"/>
              <a:t>Range</a:t>
            </a:r>
            <a:r>
              <a:rPr sz="1400"/>
              <a:t> — vertical scale, V/div; fill about half the height.</a:t>
            </a:r>
          </a:p>
          <a:p>
            <a:pPr>
              <a:spcAft>
                <a:spcPts val="800"/>
              </a:spcAft>
              <a:defRPr sz="1400"/>
            </a:pPr>
            <a:r>
              <a:rPr b="1" sz="1400"/>
              <a:t>Offset</a:t>
            </a:r>
            <a:r>
              <a:rPr sz="1400"/>
              <a:t> — shift a channel to separate overlapping traces.</a:t>
            </a:r>
          </a:p>
          <a:p>
            <a:pPr>
              <a:defRPr sz="1400"/>
            </a:pPr>
            <a:r>
              <a:rPr b="1" sz="1400"/>
              <a:t>Trigger</a:t>
            </a:r>
            <a:r>
              <a:rPr sz="1400"/>
              <a:t> — start capture when a signal crosses a threshold.</a:t>
            </a:r>
          </a:p>
        </p:txBody>
      </p:sp>
      <p:pic>
        <p:nvPicPr>
          <p:cNvPr id="4" name="Picture 3" descr="slide19_5c4e22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0"/>
            <a:ext cx="4663440" cy="3089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4963926"/>
            <a:ext cx="466344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CH1 (orange) &amp; CH2 (blue) pulses, ~100 ms wide; settings panel at right.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· Wiring &amp; Reading a Digital Input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 up a pushbutton switch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20624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Add a pushbutton to your Lab 1 breadboard.</a:t>
            </a:r>
          </a:p>
          <a:p>
            <a:pPr>
              <a:defRPr sz="1600"/>
            </a:pPr>
            <a:r>
              <a:rPr sz="1600"/>
              <a:t>Wire one side to D5, the other side to GND.</a:t>
            </a:r>
          </a:p>
          <a:p>
            <a:pPr>
              <a:defRPr sz="1600"/>
            </a:pPr>
            <a:r>
              <a:rPr b="1" sz="1600"/>
              <a:t>Use D5 (PB4) specifically</a:t>
            </a:r>
            <a:r>
              <a:rPr sz="1600"/>
              <a:t> — the button.c starter code is written for PB4.</a:t>
            </a:r>
          </a:p>
        </p:txBody>
      </p:sp>
      <p:pic>
        <p:nvPicPr>
          <p:cNvPr id="4" name="Picture 3" descr="slide23_cdfa0e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546" y="1463040"/>
            <a:ext cx="2642106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5897880"/>
            <a:ext cx="566928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The button bridges two rows: one terminal to the GPIO pin, the other to GND.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wire a pushbutton: pull-ups &amp; active-low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572000" cy="4297680"/>
          </a:xfrm>
        </p:spPr>
        <p:txBody>
          <a:bodyPr wrap="square"/>
          <a:lstStyle/>
          <a:p>
            <a:pPr>
              <a:defRPr sz="1500"/>
            </a:pPr>
            <a:r>
              <a:rPr sz="1500"/>
              <a:t>An unconnected pin floats — it drifts with noise and reads random 0s and 1s.</a:t>
            </a:r>
          </a:p>
          <a:p>
            <a:pPr>
              <a:defRPr sz="1500"/>
            </a:pPr>
            <a:r>
              <a:rPr sz="1500"/>
              <a:t>A pull-up resistor to 3.3 V holds the pin HIGH when the button is open.</a:t>
            </a:r>
          </a:p>
          <a:p>
            <a:pPr>
              <a:defRPr sz="1500"/>
            </a:pPr>
            <a:r>
              <a:rPr sz="1500"/>
              <a:t>Pressing connects the pin to GND → pulls it LOW.</a:t>
            </a:r>
          </a:p>
          <a:p>
            <a:pPr>
              <a:defRPr sz="1500"/>
            </a:pPr>
            <a:r>
              <a:rPr b="1" sz="1500"/>
              <a:t>Active-low: pressed = 0, released = 1.</a:t>
            </a:r>
          </a:p>
          <a:p>
            <a:pPr>
              <a:defRPr sz="1500"/>
            </a:pPr>
            <a:r>
              <a:rPr sz="1500"/>
              <a:t>The STM32 has ~40 kΩ internal pull-ups you enable in software — no external resistor needed.</a:t>
            </a:r>
          </a:p>
        </p:txBody>
      </p:sp>
      <p:pic>
        <p:nvPicPr>
          <p:cNvPr id="4" name="Picture 3" descr="slide24_07d739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426" y="1463040"/>
            <a:ext cx="2642106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897880"/>
            <a:ext cx="54864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An external pull-up shown for intuition; on the STM32 we use the internal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structure of an I/O port bit</a:t>
            </a:r>
          </a:p>
        </p:txBody>
      </p:sp>
      <p:pic>
        <p:nvPicPr>
          <p:cNvPr id="3" name="Picture 2" descr="ann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722" y="1600200"/>
            <a:ext cx="7458075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Read path (input): pin → pull-up/down → Schmitt trigger → IDR.  Write path (output): ODR → output control → pin.  The same pull-up/pull-down serve both modes.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switch connects to the port bit</a:t>
            </a:r>
          </a:p>
        </p:txBody>
      </p:sp>
      <p:pic>
        <p:nvPicPr>
          <p:cNvPr id="3" name="Picture 2" descr="ann24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109" y="1691640"/>
            <a:ext cx="679330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05272"/>
            <a:ext cx="1033272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The same port bit, now wired to a button: the internal pull-up holds the pin HIGH when the switch is open; closing the switch pulls the pin to GND (LOW). The blue path shows the level flowing into IDR.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pin configuration: MODER, PUPDR, IDR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486400" cy="4206240"/>
          </a:xfrm>
        </p:spPr>
        <p:txBody>
          <a:bodyPr wrap="square"/>
          <a:lstStyle/>
          <a:p>
            <a:pPr>
              <a:spcAft>
                <a:spcPts val="1000"/>
              </a:spcAft>
              <a:defRPr sz="1600"/>
            </a:pPr>
            <a:r>
              <a:rPr b="1" sz="1600">
                <a:solidFill>
                  <a:srgbClr val="00693E"/>
                </a:solidFill>
                <a:latin typeface="Courier New"/>
              </a:rPr>
              <a:t>GPIOx→MODER</a:t>
            </a:r>
            <a:r>
              <a:rPr sz="1600"/>
              <a:t> — sets pin mode (input / output / alternate / analog).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>
                <a:solidFill>
                  <a:srgbClr val="00693E"/>
                </a:solidFill>
                <a:latin typeface="Courier New"/>
              </a:rPr>
              <a:t>GPIOx→PUPDR</a:t>
            </a:r>
            <a:r>
              <a:rPr sz="1600"/>
              <a:t> — turns the internal pull-up or pull-down on or off.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>
                <a:solidFill>
                  <a:srgbClr val="00693E"/>
                </a:solidFill>
                <a:latin typeface="Courier New"/>
              </a:rPr>
              <a:t>GPIOx→IDR</a:t>
            </a:r>
            <a:r>
              <a:rPr sz="1600"/>
              <a:t> — read-only; each bit is the live level on that pin.</a:t>
            </a:r>
          </a:p>
          <a:p>
            <a:pPr>
              <a:defRPr sz="1400"/>
            </a:pPr>
            <a:r>
              <a:rPr i="1" sz="1400"/>
              <a:t>x = port letter (A, B, C, D, F). The exact bit values are in the reference manual.</a:t>
            </a:r>
          </a:p>
        </p:txBody>
      </p:sp>
      <p:pic>
        <p:nvPicPr>
          <p:cNvPr id="4" name="Picture 3" descr="ann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02920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5554980"/>
            <a:ext cx="50292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The blue path: button → pull-up → Schmitt trigger → IDR.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Finding Configuration Details in the Reference Manual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You know what MODER, PUPDR, and IDR do — but not the specific bit values yet. Open the STM32C031 reference manual, find </a:t>
            </a:r>
            <a:r>
              <a:rPr i="1" sz="1600"/>
              <a:t>General-purpose I/Os (GPIO)</a:t>
            </a:r>
            <a:r>
              <a:rPr sz="1600"/>
              <a:t> in the table of contents, then go to </a:t>
            </a:r>
            <a:r>
              <a:rPr i="1" sz="1600"/>
              <a:t>Section 6.4 GPIO registers</a:t>
            </a:r>
            <a:r>
              <a:rPr sz="1600"/>
              <a:t>. Looking up registers is a skill you'll use constantly.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Find </a:t>
            </a:r>
            <a:r>
              <a:rPr sz="1600">
                <a:latin typeface="Courier New"/>
              </a:rPr>
              <a:t>GPIOx_MODER</a:t>
            </a:r>
            <a:r>
              <a:rPr sz="1600"/>
              <a:t> (§6.4.1). What two-bit value selects input mode? What is the power-on default for all pins?</a:t>
            </a:r>
          </a:p>
          <a:p>
            <a:pPr>
              <a:buAutoNum type="arabicPeriod"/>
              <a:defRPr sz="1600"/>
            </a:pPr>
            <a:r>
              <a:rPr sz="1600"/>
              <a:t>Find </a:t>
            </a:r>
            <a:r>
              <a:rPr sz="1600">
                <a:latin typeface="Courier New"/>
              </a:rPr>
              <a:t>GPIOx_PUPDR</a:t>
            </a:r>
            <a:r>
              <a:rPr sz="1600"/>
              <a:t>. Which two-bit value enables the internal pull-up? Write the C statements that enable the pull-up on PB4 (pin 4 of Port B), using bit masks.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Reveal: Configuring PB4 as an input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10515600" cy="27889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92807"/>
            <a:ext cx="10149840" cy="2569463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1">
                <a:solidFill>
                  <a:srgbClr val="3C7654"/>
                </a:solidFill>
                <a:latin typeface="Courier New"/>
              </a:rPr>
              <a:t>// PB4 = D5, active-low button with internal pull-up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IOPENR bit 1 -&gt; GPIOB clock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4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PB4 = D5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|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1. enable GPIOB clock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1">
                <a:solidFill>
                  <a:srgbClr val="3C7654"/>
                </a:solidFill>
                <a:latin typeface="Courier New"/>
              </a:rPr>
              <a:t>// 2. MODER [9:8] = 00 by default -&gt; input (no write needed)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|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8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3. PUPDR [9:8] = 01 -&gt; pull-up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~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9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515600" cy="1554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400"/>
              </a:spcAft>
            </a:pPr>
            <a:r>
              <a:rPr b="1" sz="1400">
                <a:solidFill>
                  <a:srgbClr val="00693E"/>
                </a:solidFill>
                <a:latin typeface="Courier New"/>
              </a:rPr>
              <a:t>MODER   </a:t>
            </a:r>
            <a:r>
              <a:rPr sz="1400">
                <a:solidFill>
                  <a:srgbClr val="1A1A1A"/>
                </a:solidFill>
                <a:latin typeface="Arial"/>
              </a:rPr>
              <a:t>00 = input (power-on default) · 01 = output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693E"/>
                </a:solidFill>
                <a:latin typeface="Courier New"/>
              </a:rPr>
              <a:t>PUPDR   </a:t>
            </a:r>
            <a:r>
              <a:rPr sz="1400">
                <a:solidFill>
                  <a:srgbClr val="1A1A1A"/>
                </a:solidFill>
                <a:latin typeface="Arial"/>
              </a:rPr>
              <a:t>01 = pull-up · 10 = pull-down · 00 = floating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0693E"/>
                </a:solidFill>
                <a:latin typeface="Courier New"/>
              </a:rPr>
              <a:t>IDR   </a:t>
            </a:r>
            <a:r>
              <a:rPr sz="1400">
                <a:solidFill>
                  <a:srgbClr val="1A1A1A"/>
                </a:solidFill>
                <a:latin typeface="Arial"/>
              </a:rPr>
              <a:t>read-only; bit n = live logic level on pin 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Reference: Reading a pin (VIL / VIH thresholds)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/>
            </a:pPr>
            <a:r>
              <a:rPr sz="1600"/>
              <a:t>When a pin is an input, the STM32 samples its voltage into the </a:t>
            </a:r>
            <a:r>
              <a:rPr b="1" sz="1600"/>
              <a:t>Input Data Register (IDR)</a:t>
            </a:r>
            <a:r>
              <a:rPr sz="1600"/>
              <a:t> — one bit per pin.</a:t>
            </a:r>
          </a:p>
          <a:p>
            <a:pPr>
              <a:defRPr sz="1600"/>
            </a:pPr>
            <a:r>
              <a:rPr sz="1600"/>
              <a:t>Below VIL (≈ 0.3 × VDD ≈ 1.0 V) reads a reliable 0.</a:t>
            </a:r>
          </a:p>
          <a:p>
            <a:pPr>
              <a:defRPr sz="1600"/>
            </a:pPr>
            <a:r>
              <a:rPr sz="1600"/>
              <a:t>Above VIH (≈ 0.7 × VDD ≈ 2.3 V) reads a reliable 1.</a:t>
            </a:r>
          </a:p>
          <a:p>
            <a:pPr>
              <a:defRPr sz="1600"/>
            </a:pPr>
            <a:r>
              <a:rPr sz="1600"/>
              <a:t>Voltages in between are indeterminate — the result is unpredictable.</a:t>
            </a:r>
          </a:p>
          <a:p>
            <a:pPr>
              <a:defRPr sz="1500"/>
            </a:pPr>
            <a:r>
              <a:rPr i="1" sz="1500"/>
              <a:t>In clean digital circuits you stay well outside this zone. It matters for slow-rising signals, noisy lines, or mixed supply voltages.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button.c — reading a pin (excerpt)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3474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3255263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1">
                <a:solidFill>
                  <a:srgbClr val="3C7654"/>
                </a:solidFill>
                <a:latin typeface="Courier New"/>
              </a:rPr>
              <a:t>// PB4 = D5 button, PA5 = D13 LED (active-low button)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|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A85A00"/>
                </a:solidFill>
                <a:latin typeface="Courier New"/>
              </a:rPr>
              <a:t>8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enable pull-up on PB4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~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A85A00"/>
                </a:solidFill>
                <a:latin typeface="Courier New"/>
              </a:rPr>
              <a:t>9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A85A00"/>
                </a:solidFill>
                <a:latin typeface="Courier New"/>
              </a:rPr>
              <a:t>50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           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give the pull-up time to pull the pin HIGH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A85A00"/>
                </a:solidFill>
                <a:latin typeface="Courier New"/>
              </a:rPr>
              <a:t>1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50" i="0">
                <a:solidFill>
                  <a:srgbClr val="1543A8"/>
                </a:solidFill>
                <a:latin typeface="Courier New"/>
              </a:rPr>
              <a:t>if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A85A00"/>
                </a:solidFill>
                <a:latin typeface="Courier New"/>
              </a:rPr>
              <a:t>0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low-true: 0 = pressed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|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LED 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50" i="0">
                <a:solidFill>
                  <a:srgbClr val="1543A8"/>
                </a:solidFill>
                <a:latin typeface="Courier New"/>
              </a:rPr>
              <a:t>else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~</a:t>
            </a:r>
            <a:r>
              <a:rPr sz="135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LED off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257800"/>
            <a:ext cx="1051560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400" i="1">
                <a:solidFill>
                  <a:srgbClr val="555F59"/>
                </a:solidFill>
                <a:latin typeface="Arial"/>
              </a:rPr>
              <a:t>Copy your TemplateProject → Buttons; download button.c from Canvas into Src. Read it before flashing.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Reading a Button in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In STM32CubeIDE, copy your TemplateProject and name the copy Buttons. Download button.c from Canvas into the Src folder. Read the code, then answer before flashing: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The code calls </a:t>
            </a:r>
            <a:r>
              <a:rPr sz="1600">
                <a:latin typeface="Courier New"/>
              </a:rPr>
              <a:t>delay_ms(50)</a:t>
            </a:r>
            <a:r>
              <a:rPr sz="1600"/>
              <a:t> immediately after enabling the pull-up. Why? What would happen if you removed that line?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The main loop uses </a:t>
            </a:r>
            <a:r>
              <a:rPr sz="1600">
                <a:latin typeface="Courier New"/>
              </a:rPr>
              <a:t>(GPIOB-&gt;IDR &amp; BUTTON_PIN) == 0</a:t>
            </a:r>
            <a:r>
              <a:rPr sz="1600"/>
              <a:t> to detect a press. Why </a:t>
            </a:r>
            <a:r>
              <a:rPr sz="1600">
                <a:latin typeface="Courier New"/>
              </a:rPr>
              <a:t>== 0</a:t>
            </a:r>
            <a:r>
              <a:rPr sz="1600"/>
              <a:t> rather than </a:t>
            </a:r>
            <a:r>
              <a:rPr sz="1600">
                <a:latin typeface="Courier New"/>
              </a:rPr>
              <a:t>!= 0</a:t>
            </a:r>
            <a:r>
              <a:rPr sz="1600"/>
              <a:t>?</a:t>
            </a:r>
          </a:p>
          <a:p>
            <a:pPr>
              <a:buAutoNum type="arabicPeriod"/>
              <a:defRPr sz="1600"/>
            </a:pPr>
            <a:r>
              <a:rPr sz="1600"/>
              <a:t>Flash it (press → LED on, release → off). Then modify </a:t>
            </a:r>
            <a:r>
              <a:rPr sz="1600">
                <a:latin typeface="Courier New"/>
              </a:rPr>
              <a:t>blinkySEQ.c</a:t>
            </a:r>
            <a:r>
              <a:rPr sz="1600"/>
              <a:t> so a press interrupts the sequence and lights all three LEDs; releasing returns to the sequence.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delay_ms() after the pull-ups?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20624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The pin doesn't jump to HIGH instantly — the pull-up charges the pin capacitance.</a:t>
            </a:r>
          </a:p>
          <a:p>
            <a:pPr>
              <a:defRPr sz="1600"/>
            </a:pPr>
            <a:r>
              <a:rPr b="1" sz="1600"/>
              <a:t>It reaches the HIGH threshold in about 2.5 µs.</a:t>
            </a:r>
          </a:p>
          <a:p>
            <a:pPr>
              <a:defRPr sz="1600"/>
            </a:pPr>
            <a:r>
              <a:rPr sz="1600"/>
              <a:t>Read IDR before it settles and you get a spurious 0 — so delay first.</a:t>
            </a:r>
          </a:p>
        </p:txBody>
      </p:sp>
      <p:pic>
        <p:nvPicPr>
          <p:cNvPr id="4" name="Picture 3" descr="slide36_428a4d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215" y="1554480"/>
            <a:ext cx="5156208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5897880"/>
            <a:ext cx="59436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Pin voltage rising after the internal pull-up is enabled: ~2.5 µs to reach HIGH.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Preview: a debounce capacitor slows this down more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20624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Tomorrow we add a capacitor across the button to tame bounce.</a:t>
            </a:r>
          </a:p>
          <a:p>
            <a:pPr>
              <a:defRPr sz="1600"/>
            </a:pPr>
            <a:r>
              <a:rPr b="1" sz="1600"/>
              <a:t>With a 0.1 µF cap the pin takes ~4 ms to reach HIGH.</a:t>
            </a:r>
          </a:p>
          <a:p>
            <a:pPr>
              <a:defRPr sz="1600"/>
            </a:pPr>
            <a:r>
              <a:rPr i="1" sz="1600"/>
              <a:t>That leaves even more time to accidentally read the old 0 — a preview of Day 3X.</a:t>
            </a:r>
          </a:p>
        </p:txBody>
      </p:sp>
      <p:pic>
        <p:nvPicPr>
          <p:cNvPr id="4" name="Picture 3" descr="slide37_8621c6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451" y="1554480"/>
            <a:ext cx="5521736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5897880"/>
            <a:ext cx="59436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Exponential pull-up response with a 0.1 µF debouncing capacitor (~4 ms).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 · Button Exercises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buNone/>
              <a:defRPr sz="1800"/>
            </a:pPr>
            <a:r>
              <a:rPr sz="1800"/>
              <a:t>A head start on Lab 2 — you may not finish in class, and that's fine.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Button Exercises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400"/>
              </a:spcAft>
              <a:buAutoNum type="arabicPeriod"/>
              <a:defRPr sz="1700"/>
            </a:pPr>
            <a:r>
              <a:rPr sz="1700"/>
              <a:t>Modify </a:t>
            </a:r>
            <a:r>
              <a:rPr sz="1700">
                <a:latin typeface="Courier New"/>
              </a:rPr>
              <a:t>blinkyCNT.c</a:t>
            </a:r>
            <a:r>
              <a:rPr sz="1700"/>
              <a:t> so that pressing the button pauses the counter and releasing resumes it.</a:t>
            </a:r>
          </a:p>
          <a:p>
            <a:pPr>
              <a:spcAft>
                <a:spcPts val="800"/>
              </a:spcAft>
              <a:buAutoNum type="arabicPeriod"/>
              <a:defRPr sz="1700"/>
            </a:pPr>
            <a:r>
              <a:rPr b="1" sz="1700"/>
              <a:t>Homework (due Thursday): </a:t>
            </a:r>
            <a:r>
              <a:rPr sz="1700"/>
              <a:t>Write </a:t>
            </a:r>
            <a:r>
              <a:rPr sz="1700">
                <a:latin typeface="Courier New"/>
              </a:rPr>
              <a:t>toggleLED.c</a:t>
            </a:r>
            <a:r>
              <a:rPr sz="1700"/>
              <a:t> so the on-board LED toggles each time the button is pressed and released: first press turns the LED on, second press turns it off, and so on.</a:t>
            </a:r>
          </a:p>
          <a:p>
            <a:pPr>
              <a:buNone/>
              <a:defRPr sz="1500"/>
            </a:pPr>
            <a:r>
              <a:rPr i="1" sz="1500"/>
              <a:t>You'll likely see erratic behavior (“glitches”) — bring your observations to Day 3X.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