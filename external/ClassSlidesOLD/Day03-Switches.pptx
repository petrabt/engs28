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8B7705-C52C-460A-B6F9-B030132438BB}">
  <a:tblStyle styleId="{8F8B7705-C52C-460A-B6F9-B030132438BB}"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7BFC3E56-0A12-41E2-8237-432FA2F4DB43}"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20" Type="http://schemas.openxmlformats.org/officeDocument/2006/relationships/slide" Target="slides/slide15.xml"/><Relationship Id="rId42" Type="http://schemas.openxmlformats.org/officeDocument/2006/relationships/slide" Target="slides/slide37.xml"/><Relationship Id="rId41" Type="http://schemas.openxmlformats.org/officeDocument/2006/relationships/slide" Target="slides/slide36.xml"/><Relationship Id="rId22" Type="http://schemas.openxmlformats.org/officeDocument/2006/relationships/slide" Target="slides/slide17.xml"/><Relationship Id="rId44" Type="http://schemas.openxmlformats.org/officeDocument/2006/relationships/slide" Target="slides/slide39.xml"/><Relationship Id="rId21" Type="http://schemas.openxmlformats.org/officeDocument/2006/relationships/slide" Target="slides/slide16.xml"/><Relationship Id="rId43" Type="http://schemas.openxmlformats.org/officeDocument/2006/relationships/slide" Target="slides/slide38.xml"/><Relationship Id="rId24" Type="http://schemas.openxmlformats.org/officeDocument/2006/relationships/slide" Target="slides/slide19.xml"/><Relationship Id="rId23" Type="http://schemas.openxmlformats.org/officeDocument/2006/relationships/slide" Target="slides/slide18.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39" Type="http://schemas.openxmlformats.org/officeDocument/2006/relationships/slide" Target="slides/slide34.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3b53b9f4e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3b53b9f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b631ec7d27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b631ec7d2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631ec7d27_0_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631ec7d27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b631ec7d27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b631ec7d27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1cb1ce2c8dc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1cb1ce2c8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1ee7d3736ab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1ee7d3736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b5854a1ec6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b5854a1ec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6c4000b5a0_1_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6c4000b5a0_1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abad2109d2_0_45: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abad2109d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6c4000b5a0_1_8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6c4000b5a0_1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2ec7a074ccf_0_0: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2ec7a074cc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2ec7a074ccf_0_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2ec7a074cc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af8c0e72f7_2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af8c0e72f7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2ec7a074ccf_0_12: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2ec7a074ccf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ae26aac3b9_0_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ae26aac3b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ae26aac3b9_0_17: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ae26aac3b9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ae26aac3b9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ae26aac3b9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ae26aac3b9_0_3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ae26aac3b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2ec7a074ccf_0_10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2ec7a074ccf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time base settings depend on your chosen LED on/off time. This picture has a delay_ms(100).</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2ec3f81c356_0_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2ec3f81c35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channel that is last enabled will determine what shows on the y-axis. You may need to check "enable labels on the plot" under "Preferences-&gt;M2K".</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10cb914241a_0_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10cb914241a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looks dimmer than the other but oscilloscope shows that the voltage is the same. It's our eyes that cannot </a:t>
            </a:r>
            <a:r>
              <a:rPr lang="en"/>
              <a:t>perceive</a:t>
            </a:r>
            <a:r>
              <a:rPr lang="en"/>
              <a:t> the flickering.</a:t>
            </a:r>
            <a:endParaRPr/>
          </a:p>
          <a:p>
            <a:pPr indent="0" lvl="0" marL="0" rtl="0" algn="l">
              <a:spcBef>
                <a:spcPts val="0"/>
              </a:spcBef>
              <a:spcAft>
                <a:spcPts val="0"/>
              </a:spcAft>
              <a:buNone/>
            </a:pPr>
            <a:r>
              <a:rPr lang="en"/>
              <a:t>Use case: dimming an LED!</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abad2109d2_0_9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0" name="Google Shape;220;gabad2109d2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ae26aac3b9_1_2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ae26aac3b9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button doesn't do </a:t>
            </a:r>
            <a:r>
              <a:rPr lang="en"/>
              <a:t>anything</a:t>
            </a:r>
            <a:r>
              <a:rPr lang="en"/>
              <a:t>! It simply connects the pin to ground when it is pushed and leaves the pin hanging randomly otherwise.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abad2109d2_0_14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abad2109d2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ec7a074ccf_0_144: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2ec7a074ccf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Subject to the specific hardware characteristics of each I/O port listed in the datasheet, each</a:t>
            </a:r>
            <a:endParaRPr/>
          </a:p>
          <a:p>
            <a:pPr indent="0" lvl="0" marL="0" rtl="0" algn="l">
              <a:spcBef>
                <a:spcPts val="0"/>
              </a:spcBef>
              <a:spcAft>
                <a:spcPts val="0"/>
              </a:spcAft>
              <a:buClr>
                <a:schemeClr val="dk1"/>
              </a:buClr>
              <a:buSzPts val="1100"/>
              <a:buFont typeface="Arial"/>
              <a:buNone/>
            </a:pPr>
            <a:r>
              <a:rPr lang="en"/>
              <a:t>port bit of the general-purpose I/O (GPIO) ports can be individually configured by software in</a:t>
            </a:r>
            <a:endParaRPr/>
          </a:p>
          <a:p>
            <a:pPr indent="0" lvl="0" marL="0" rtl="0" algn="l">
              <a:spcBef>
                <a:spcPts val="0"/>
              </a:spcBef>
              <a:spcAft>
                <a:spcPts val="0"/>
              </a:spcAft>
              <a:buClr>
                <a:schemeClr val="dk1"/>
              </a:buClr>
              <a:buSzPts val="1100"/>
              <a:buFont typeface="Arial"/>
              <a:buNone/>
            </a:pPr>
            <a:r>
              <a:rPr lang="en"/>
              <a:t>several modes:</a:t>
            </a:r>
            <a:endParaRPr/>
          </a:p>
          <a:p>
            <a:pPr indent="0" lvl="0" marL="0" rtl="0" algn="l">
              <a:spcBef>
                <a:spcPts val="0"/>
              </a:spcBef>
              <a:spcAft>
                <a:spcPts val="0"/>
              </a:spcAft>
              <a:buClr>
                <a:schemeClr val="dk1"/>
              </a:buClr>
              <a:buSzPts val="1100"/>
              <a:buFont typeface="Arial"/>
              <a:buNone/>
            </a:pPr>
            <a:r>
              <a:rPr lang="en"/>
              <a:t>• Input floating</a:t>
            </a:r>
            <a:endParaRPr/>
          </a:p>
          <a:p>
            <a:pPr indent="0" lvl="0" marL="0" rtl="0" algn="l">
              <a:spcBef>
                <a:spcPts val="0"/>
              </a:spcBef>
              <a:spcAft>
                <a:spcPts val="0"/>
              </a:spcAft>
              <a:buClr>
                <a:schemeClr val="dk1"/>
              </a:buClr>
              <a:buSzPts val="1100"/>
              <a:buFont typeface="Arial"/>
              <a:buNone/>
            </a:pPr>
            <a:r>
              <a:rPr lang="en"/>
              <a:t>• Input pull-up</a:t>
            </a:r>
            <a:endParaRPr/>
          </a:p>
          <a:p>
            <a:pPr indent="0" lvl="0" marL="0" rtl="0" algn="l">
              <a:spcBef>
                <a:spcPts val="0"/>
              </a:spcBef>
              <a:spcAft>
                <a:spcPts val="0"/>
              </a:spcAft>
              <a:buClr>
                <a:schemeClr val="dk1"/>
              </a:buClr>
              <a:buSzPts val="1100"/>
              <a:buFont typeface="Arial"/>
              <a:buNone/>
            </a:pPr>
            <a:r>
              <a:rPr lang="en"/>
              <a:t>• Input-pull-down</a:t>
            </a:r>
            <a:endParaRPr/>
          </a:p>
          <a:p>
            <a:pPr indent="0" lvl="0" marL="0" rtl="0" algn="l">
              <a:spcBef>
                <a:spcPts val="0"/>
              </a:spcBef>
              <a:spcAft>
                <a:spcPts val="0"/>
              </a:spcAft>
              <a:buClr>
                <a:schemeClr val="dk1"/>
              </a:buClr>
              <a:buSzPts val="1100"/>
              <a:buFont typeface="Arial"/>
              <a:buNone/>
            </a:pPr>
            <a:r>
              <a:rPr lang="en"/>
              <a:t>• Analog</a:t>
            </a:r>
            <a:endParaRPr/>
          </a:p>
          <a:p>
            <a:pPr indent="0" lvl="0" marL="0" rtl="0" algn="l">
              <a:spcBef>
                <a:spcPts val="0"/>
              </a:spcBef>
              <a:spcAft>
                <a:spcPts val="0"/>
              </a:spcAft>
              <a:buClr>
                <a:schemeClr val="dk1"/>
              </a:buClr>
              <a:buSzPts val="1100"/>
              <a:buFont typeface="Arial"/>
              <a:buNone/>
            </a:pPr>
            <a:r>
              <a:rPr lang="en"/>
              <a:t>• Output open-drain with pull-up or pull-down capability</a:t>
            </a:r>
            <a:endParaRPr/>
          </a:p>
          <a:p>
            <a:pPr indent="0" lvl="0" marL="0" rtl="0" algn="l">
              <a:spcBef>
                <a:spcPts val="0"/>
              </a:spcBef>
              <a:spcAft>
                <a:spcPts val="0"/>
              </a:spcAft>
              <a:buClr>
                <a:schemeClr val="dk1"/>
              </a:buClr>
              <a:buSzPts val="1100"/>
              <a:buFont typeface="Arial"/>
              <a:buNone/>
            </a:pPr>
            <a:r>
              <a:rPr lang="en"/>
              <a:t>• Output push-pull with pull-up or pull-down capability</a:t>
            </a:r>
            <a:endParaRPr/>
          </a:p>
          <a:p>
            <a:pPr indent="0" lvl="0" marL="0" rtl="0" algn="l">
              <a:spcBef>
                <a:spcPts val="0"/>
              </a:spcBef>
              <a:spcAft>
                <a:spcPts val="0"/>
              </a:spcAft>
              <a:buClr>
                <a:schemeClr val="dk1"/>
              </a:buClr>
              <a:buSzPts val="1100"/>
              <a:buFont typeface="Arial"/>
              <a:buNone/>
            </a:pPr>
            <a:r>
              <a:rPr lang="en"/>
              <a:t>• Alternate function push-pull with pull-up or pull-down capability</a:t>
            </a:r>
            <a:endParaRPr/>
          </a:p>
          <a:p>
            <a:pPr indent="0" lvl="0" marL="0" rtl="0" algn="l">
              <a:spcBef>
                <a:spcPts val="0"/>
              </a:spcBef>
              <a:spcAft>
                <a:spcPts val="0"/>
              </a:spcAft>
              <a:buClr>
                <a:schemeClr val="dk1"/>
              </a:buClr>
              <a:buSzPts val="1100"/>
              <a:buFont typeface="Arial"/>
              <a:buNone/>
            </a:pPr>
            <a:r>
              <a:rPr lang="en"/>
              <a:t>• Alternate function open-drain with pull-up or pull-down capability</a:t>
            </a:r>
            <a:endParaRPr/>
          </a:p>
          <a:p>
            <a:pPr indent="0" lvl="0" marL="0" rtl="0" algn="l">
              <a:spcBef>
                <a:spcPts val="0"/>
              </a:spcBef>
              <a:spcAft>
                <a:spcPts val="0"/>
              </a:spcAft>
              <a:buClr>
                <a:schemeClr val="dk1"/>
              </a:buClr>
              <a:buSzPts val="1100"/>
              <a:buFont typeface="Arial"/>
              <a:buNone/>
            </a:pPr>
            <a:r>
              <a:rPr lang="en"/>
              <a:t>Each I/O port bit is freely programmable, however the I/O port registers have to be</a:t>
            </a:r>
            <a:endParaRPr/>
          </a:p>
          <a:p>
            <a:pPr indent="0" lvl="0" marL="0" rtl="0" algn="l">
              <a:spcBef>
                <a:spcPts val="0"/>
              </a:spcBef>
              <a:spcAft>
                <a:spcPts val="0"/>
              </a:spcAft>
              <a:buClr>
                <a:schemeClr val="dk1"/>
              </a:buClr>
              <a:buSzPts val="1100"/>
              <a:buFont typeface="Arial"/>
              <a:buNone/>
            </a:pPr>
            <a:r>
              <a:rPr lang="en"/>
              <a:t>accessed as 32-bit words, half-words or bytes. The purpose of the GPIOx_BSRR and</a:t>
            </a:r>
            <a:endParaRPr/>
          </a:p>
          <a:p>
            <a:pPr indent="0" lvl="0" marL="0" rtl="0" algn="l">
              <a:spcBef>
                <a:spcPts val="0"/>
              </a:spcBef>
              <a:spcAft>
                <a:spcPts val="0"/>
              </a:spcAft>
              <a:buClr>
                <a:schemeClr val="dk1"/>
              </a:buClr>
              <a:buSzPts val="1100"/>
              <a:buFont typeface="Arial"/>
              <a:buNone/>
            </a:pPr>
            <a:r>
              <a:rPr lang="en"/>
              <a:t>GPIOx_BRR registers is to allow atomic read/modify accesses to any of the GPIOx_ODR</a:t>
            </a:r>
            <a:endParaRPr/>
          </a:p>
          <a:p>
            <a:pPr indent="0" lvl="0" marL="0" rtl="0" algn="l">
              <a:spcBef>
                <a:spcPts val="0"/>
              </a:spcBef>
              <a:spcAft>
                <a:spcPts val="0"/>
              </a:spcAft>
              <a:buClr>
                <a:schemeClr val="dk1"/>
              </a:buClr>
              <a:buSzPts val="1100"/>
              <a:buFont typeface="Arial"/>
              <a:buNone/>
            </a:pPr>
            <a:r>
              <a:rPr lang="en"/>
              <a:t>registers. In this way, there is no risk of an IRQ occurring between the read and the modify</a:t>
            </a:r>
            <a:endParaRPr/>
          </a:p>
          <a:p>
            <a:pPr indent="0" lvl="0" marL="0" rtl="0" algn="l">
              <a:spcBef>
                <a:spcPts val="0"/>
              </a:spcBef>
              <a:spcAft>
                <a:spcPts val="0"/>
              </a:spcAft>
              <a:buClr>
                <a:schemeClr val="dk1"/>
              </a:buClr>
              <a:buSzPts val="1100"/>
              <a:buFont typeface="Arial"/>
              <a:buNone/>
            </a:pPr>
            <a:r>
              <a:rPr lang="en"/>
              <a:t>access.</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abad2109d2_0_10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abad2109d2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Switch open: pin pulled uip</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Switch closed: pin connected to ground</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2ec7a074ccf_0_19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2ec7a074ccf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the I/O port is programmed as input:</a:t>
            </a:r>
            <a:endParaRPr/>
          </a:p>
          <a:p>
            <a:pPr indent="0" lvl="0" marL="0" rtl="0" algn="l">
              <a:spcBef>
                <a:spcPts val="0"/>
              </a:spcBef>
              <a:spcAft>
                <a:spcPts val="0"/>
              </a:spcAft>
              <a:buNone/>
            </a:pPr>
            <a:r>
              <a:rPr lang="en"/>
              <a:t>• The output buffer is disabled</a:t>
            </a:r>
            <a:endParaRPr/>
          </a:p>
          <a:p>
            <a:pPr indent="0" lvl="0" marL="0" rtl="0" algn="l">
              <a:spcBef>
                <a:spcPts val="0"/>
              </a:spcBef>
              <a:spcAft>
                <a:spcPts val="0"/>
              </a:spcAft>
              <a:buNone/>
            </a:pPr>
            <a:r>
              <a:rPr lang="en"/>
              <a:t>• The Schmitt trigger input is activated</a:t>
            </a:r>
            <a:endParaRPr/>
          </a:p>
          <a:p>
            <a:pPr indent="0" lvl="0" marL="0" rtl="0" algn="l">
              <a:spcBef>
                <a:spcPts val="0"/>
              </a:spcBef>
              <a:spcAft>
                <a:spcPts val="0"/>
              </a:spcAft>
              <a:buNone/>
            </a:pPr>
            <a:r>
              <a:rPr lang="en"/>
              <a:t>• The pull-up and pull-down resistors are activated depending on the value in the GPIOx_PUPDR register</a:t>
            </a:r>
            <a:endParaRPr/>
          </a:p>
          <a:p>
            <a:pPr indent="0" lvl="0" marL="0" rtl="0" algn="l">
              <a:spcBef>
                <a:spcPts val="0"/>
              </a:spcBef>
              <a:spcAft>
                <a:spcPts val="0"/>
              </a:spcAft>
              <a:buNone/>
            </a:pPr>
            <a:r>
              <a:rPr lang="en"/>
              <a:t>• The data present on the I/O pin are sampled into the input data register every AHB clock cycle</a:t>
            </a:r>
            <a:endParaRPr/>
          </a:p>
          <a:p>
            <a:pPr indent="0" lvl="0" marL="0" rtl="0" algn="l">
              <a:spcBef>
                <a:spcPts val="0"/>
              </a:spcBef>
              <a:spcAft>
                <a:spcPts val="0"/>
              </a:spcAft>
              <a:buNone/>
            </a:pPr>
            <a:r>
              <a:rPr lang="en"/>
              <a:t>• A read access to the input data register provides the I/O state</a:t>
            </a:r>
            <a:endParaRPr/>
          </a:p>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2ec7a074ccf_0_2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2ec7a074ccf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ec7a074ccf_0_2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ec7a074ccf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abad2109d2_0_15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abad2109d2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2ec7a074ccf_0_2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2ec7a074ccf_0_2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abad2109d2_0_173: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abad2109d2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abad2109d2_0_18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abad2109d2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abad2109d2_0_19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abad2109d2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b1020eeaef_0_1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b1020eeaef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 instrumented some code to measure this delay on an oscilloscope.  Ends up being about 16 instructions +/- running at ~85ns per instruction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b1020eeaef_0_1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8" name="Google Shape;368;g3b1020eeae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This is just the RC delay of the pullup and the intrinsic capacitance of the pin.  Still slow enough to read the old value.  (Note the “ringing” is at 12MHz - system clock inducing noise on the outputs!</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b1020eeaef_0_2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3b1020eeaef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With a .1uF cap.  Smoother, but much much slower.</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3b1020eeaef_0_3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3b1020eeaef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af8c0e72f7_2_41: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af8c0e72f7_2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abad2109d2_0_196:notes"/>
          <p:cNvSpPr/>
          <p:nvPr>
            <p:ph idx="2" type="sldImg"/>
          </p:nvPr>
        </p:nvSpPr>
        <p:spPr>
          <a:xfrm>
            <a:off x="1143300"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abad2109d2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2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9.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8.png"/><Relationship Id="rId5" Type="http://schemas.openxmlformats.org/officeDocument/2006/relationships/image" Target="../media/image7.png"/><Relationship Id="rId6"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0.png"/><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0.png"/><Relationship Id="rId4" Type="http://schemas.openxmlformats.org/officeDocument/2006/relationships/image" Target="../media/image2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4.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992767"/>
            <a:ext cx="8520600" cy="2736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000">
                <a:latin typeface="Comic Sans MS"/>
                <a:ea typeface="Comic Sans MS"/>
                <a:cs typeface="Comic Sans MS"/>
                <a:sym typeface="Comic Sans MS"/>
              </a:rPr>
              <a:t>Engs 28</a:t>
            </a:r>
            <a:endParaRPr sz="3000">
              <a:latin typeface="Comic Sans MS"/>
              <a:ea typeface="Comic Sans MS"/>
              <a:cs typeface="Comic Sans MS"/>
              <a:sym typeface="Comic Sans MS"/>
            </a:endParaRPr>
          </a:p>
          <a:p>
            <a:pPr indent="0" lvl="0" marL="0" rtl="0" algn="ctr">
              <a:spcBef>
                <a:spcPts val="0"/>
              </a:spcBef>
              <a:spcAft>
                <a:spcPts val="0"/>
              </a:spcAft>
              <a:buNone/>
            </a:pPr>
            <a:r>
              <a:rPr lang="en">
                <a:latin typeface="Comic Sans MS"/>
                <a:ea typeface="Comic Sans MS"/>
                <a:cs typeface="Comic Sans MS"/>
                <a:sym typeface="Comic Sans MS"/>
              </a:rPr>
              <a:t>Embedded Systems</a:t>
            </a:r>
            <a:endParaRPr>
              <a:latin typeface="Comic Sans MS"/>
              <a:ea typeface="Comic Sans MS"/>
              <a:cs typeface="Comic Sans MS"/>
              <a:sym typeface="Comic Sans MS"/>
            </a:endParaRPr>
          </a:p>
        </p:txBody>
      </p:sp>
      <p:sp>
        <p:nvSpPr>
          <p:cNvPr id="55" name="Google Shape;55;p13"/>
          <p:cNvSpPr txBox="1"/>
          <p:nvPr>
            <p:ph idx="1" type="subTitle"/>
          </p:nvPr>
        </p:nvSpPr>
        <p:spPr>
          <a:xfrm>
            <a:off x="311700" y="4128267"/>
            <a:ext cx="8520600" cy="105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latin typeface="Comic Sans MS"/>
                <a:ea typeface="Comic Sans MS"/>
                <a:cs typeface="Comic Sans MS"/>
                <a:sym typeface="Comic Sans MS"/>
              </a:rPr>
              <a:t>Day 3</a:t>
            </a:r>
            <a:endParaRPr>
              <a:latin typeface="Comic Sans MS"/>
              <a:ea typeface="Comic Sans MS"/>
              <a:cs typeface="Comic Sans MS"/>
              <a:sym typeface="Comic Sans MS"/>
            </a:endParaRPr>
          </a:p>
        </p:txBody>
      </p:sp>
      <p:pic>
        <p:nvPicPr>
          <p:cNvPr id="56" name="Google Shape;56;p13"/>
          <p:cNvPicPr preferRelativeResize="0"/>
          <p:nvPr/>
        </p:nvPicPr>
        <p:blipFill>
          <a:blip r:embed="rId3">
            <a:alphaModFix/>
          </a:blip>
          <a:stretch>
            <a:fillRect/>
          </a:stretch>
        </p:blipFill>
        <p:spPr>
          <a:xfrm>
            <a:off x="525637" y="395688"/>
            <a:ext cx="1103550" cy="1334750"/>
          </a:xfrm>
          <a:prstGeom prst="rect">
            <a:avLst/>
          </a:prstGeom>
          <a:noFill/>
          <a:ln>
            <a:noFill/>
          </a:ln>
        </p:spPr>
      </p:pic>
      <p:pic>
        <p:nvPicPr>
          <p:cNvPr id="57" name="Google Shape;57;p13"/>
          <p:cNvPicPr preferRelativeResize="0"/>
          <p:nvPr/>
        </p:nvPicPr>
        <p:blipFill rotWithShape="1">
          <a:blip r:embed="rId4">
            <a:alphaModFix/>
          </a:blip>
          <a:srcRect b="0" l="0" r="0" t="0"/>
          <a:stretch/>
        </p:blipFill>
        <p:spPr>
          <a:xfrm>
            <a:off x="7600125" y="0"/>
            <a:ext cx="1543875" cy="2126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 name="Shape 61"/>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5" name="Shape 65"/>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 name="Shape 69"/>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Reminder: Late Lab Assignment Policy</a:t>
            </a:r>
            <a:endParaRPr/>
          </a:p>
        </p:txBody>
      </p:sp>
      <p:sp>
        <p:nvSpPr>
          <p:cNvPr id="75" name="Google Shape;75;p17"/>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Each student has an account of 2 late days to be used at their discretion for lab assignments. If you wish to use one of your late days for a lab assignment, please indicate you are doing so in a submission comment. </a:t>
            </a:r>
            <a:br>
              <a:rPr lang="en"/>
            </a:br>
            <a:endParaRPr/>
          </a:p>
          <a:p>
            <a:pPr indent="-342900" lvl="0" marL="457200" rtl="0" algn="l">
              <a:spcBef>
                <a:spcPts val="0"/>
              </a:spcBef>
              <a:spcAft>
                <a:spcPts val="0"/>
              </a:spcAft>
              <a:buSzPts val="1800"/>
              <a:buChar char="●"/>
            </a:pPr>
            <a:r>
              <a:rPr lang="en"/>
              <a:t>If you use a late day for your lab assignment and submit within 24 hours of the original deadline you will not be penalized for your late submission. Otherwise:</a:t>
            </a:r>
            <a:br>
              <a:rPr lang="en"/>
            </a:br>
            <a:endParaRPr/>
          </a:p>
          <a:p>
            <a:pPr indent="-342900" lvl="0" marL="457200" rtl="0" algn="l">
              <a:spcBef>
                <a:spcPts val="0"/>
              </a:spcBef>
              <a:spcAft>
                <a:spcPts val="0"/>
              </a:spcAft>
              <a:buSzPts val="1800"/>
              <a:buChar char="●"/>
            </a:pPr>
            <a:r>
              <a:rPr lang="en"/>
              <a:t>Late lab assignments will be accepted for up to two days after they are due (with due date modified based on number of used late days) at the cost of a 10% penalty per day. </a:t>
            </a:r>
            <a:br>
              <a:rPr lang="en"/>
            </a:br>
            <a:endParaRPr/>
          </a:p>
          <a:p>
            <a:pPr indent="-342900" lvl="0" marL="457200" rtl="0" algn="l">
              <a:spcBef>
                <a:spcPts val="0"/>
              </a:spcBef>
              <a:spcAft>
                <a:spcPts val="0"/>
              </a:spcAft>
              <a:buSzPts val="1800"/>
              <a:buChar char="●"/>
            </a:pPr>
            <a:r>
              <a:rPr lang="en"/>
              <a:t>After two days beyond the deadline lab assignments will not be accepted for credit.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Another </a:t>
            </a:r>
            <a:r>
              <a:rPr lang="en"/>
              <a:t>Reminder: Labs and the Honor Code</a:t>
            </a:r>
            <a:endParaRPr/>
          </a:p>
        </p:txBody>
      </p:sp>
      <p:sp>
        <p:nvSpPr>
          <p:cNvPr id="81" name="Google Shape;81;p18"/>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You will work alone on the labs unless we specifically say otherwise.</a:t>
            </a:r>
            <a:endParaRPr/>
          </a:p>
          <a:p>
            <a:pPr indent="-342900" lvl="0" marL="457200" rtl="0" algn="l">
              <a:spcBef>
                <a:spcPts val="0"/>
              </a:spcBef>
              <a:spcAft>
                <a:spcPts val="0"/>
              </a:spcAft>
              <a:buSzPts val="1800"/>
              <a:buChar char="●"/>
            </a:pPr>
            <a:r>
              <a:rPr lang="en"/>
              <a:t>Interaction, to a certain degree, among class members is encouraged when learning new things. But, as you write and debug your programs, be careful that in your conversations you are exchanging ideas, not code, and that the work you turn in is your own. Do not copy any portion of someone else’s computer code or provide code to someone else. Copying another person’s work — including reusing a design posted online or written by a student in another course — is a violation of the Honor Principle and will have serious consequences.</a:t>
            </a:r>
            <a:endParaRPr/>
          </a:p>
          <a:p>
            <a:pPr indent="-342900" lvl="0" marL="457200" rtl="0" algn="l">
              <a:spcBef>
                <a:spcPts val="0"/>
              </a:spcBef>
              <a:spcAft>
                <a:spcPts val="0"/>
              </a:spcAft>
              <a:buSzPts val="1800"/>
              <a:buChar char="●"/>
            </a:pPr>
            <a:r>
              <a:rPr lang="en"/>
              <a:t>Always cite your lab and study partners by giving their names on your papers, just as you would acknowledge any other source (such as a book or article) outside the usual course readings.</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 Third Reminder: AI Use in ENGS 28</a:t>
            </a:r>
            <a:endParaRPr/>
          </a:p>
        </p:txBody>
      </p:sp>
      <p:sp>
        <p:nvSpPr>
          <p:cNvPr id="87" name="Google Shape;87;p19"/>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You are </a:t>
            </a:r>
            <a:r>
              <a:rPr lang="en">
                <a:solidFill>
                  <a:srgbClr val="38761D"/>
                </a:solidFill>
              </a:rPr>
              <a:t>free to use the HiTA</a:t>
            </a:r>
            <a:r>
              <a:rPr lang="en"/>
              <a:t> tool, integrated in Canvas, to get help with the assignments in this course. </a:t>
            </a:r>
            <a:r>
              <a:rPr lang="en">
                <a:solidFill>
                  <a:srgbClr val="FF0000"/>
                </a:solidFill>
              </a:rPr>
              <a:t>Please do not use any other GenAI tools unless explicitly invited to do so</a:t>
            </a:r>
            <a:r>
              <a:rPr lang="en"/>
              <a:t>.</a:t>
            </a:r>
            <a:endParaRPr/>
          </a:p>
          <a:p>
            <a:pPr indent="0" lvl="0" marL="0" rtl="0" algn="l">
              <a:spcBef>
                <a:spcPts val="1600"/>
              </a:spcBef>
              <a:spcAft>
                <a:spcPts val="0"/>
              </a:spcAft>
              <a:buNone/>
            </a:pPr>
            <a:r>
              <a:rPr lang="en"/>
              <a:t>We will treat GenAI tools similarly to other resources you use. This means you MUST follow these four points:</a:t>
            </a:r>
            <a:endParaRPr/>
          </a:p>
          <a:p>
            <a:pPr indent="-342900" lvl="0" marL="457200" rtl="0" algn="l">
              <a:spcBef>
                <a:spcPts val="1600"/>
              </a:spcBef>
              <a:spcAft>
                <a:spcPts val="0"/>
              </a:spcAft>
              <a:buSzPts val="1800"/>
              <a:buChar char="●"/>
            </a:pPr>
            <a:r>
              <a:rPr lang="en"/>
              <a:t>Give notice that you used the AI tool and how you used it in the comments of your code and your lab report.</a:t>
            </a:r>
            <a:endParaRPr/>
          </a:p>
          <a:p>
            <a:pPr indent="-342900" lvl="0" marL="457200" rtl="0" algn="l">
              <a:spcBef>
                <a:spcPts val="0"/>
              </a:spcBef>
              <a:spcAft>
                <a:spcPts val="0"/>
              </a:spcAft>
              <a:buSzPts val="1800"/>
              <a:buChar char="●"/>
            </a:pPr>
            <a:r>
              <a:rPr lang="en"/>
              <a:t>If you are basing your work on generated code, rigorously test and alter the program to suit the assignment and your understanding.</a:t>
            </a:r>
            <a:endParaRPr/>
          </a:p>
          <a:p>
            <a:pPr indent="-342900" lvl="0" marL="457200" rtl="0" algn="l">
              <a:spcBef>
                <a:spcPts val="0"/>
              </a:spcBef>
              <a:spcAft>
                <a:spcPts val="0"/>
              </a:spcAft>
              <a:buSzPts val="1800"/>
              <a:buChar char="●"/>
            </a:pPr>
            <a:r>
              <a:rPr lang="en"/>
              <a:t>You must understand any code you submit and be prepared to explain it to us.</a:t>
            </a:r>
            <a:endParaRPr/>
          </a:p>
          <a:p>
            <a:pPr indent="-342900" lvl="0" marL="457200" rtl="0" algn="l">
              <a:spcBef>
                <a:spcPts val="0"/>
              </a:spcBef>
              <a:spcAft>
                <a:spcPts val="0"/>
              </a:spcAft>
              <a:buSzPts val="1800"/>
              <a:buChar char="●"/>
            </a:pPr>
            <a:r>
              <a:rPr lang="en"/>
              <a:t>All comments in your code should be your own words.</a:t>
            </a:r>
            <a:endParaRPr/>
          </a:p>
          <a:p>
            <a:pPr indent="0" lvl="0" marL="0" rtl="0" algn="l">
              <a:spcBef>
                <a:spcPts val="1600"/>
              </a:spcBef>
              <a:spcAft>
                <a:spcPts val="1600"/>
              </a:spcAft>
              <a:buNone/>
            </a:pPr>
            <a:r>
              <a:t/>
            </a:r>
            <a:endParaRPr/>
          </a:p>
        </p:txBody>
      </p:sp>
      <p:sp>
        <p:nvSpPr>
          <p:cNvPr id="88" name="Google Shape;88;p1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2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Agenda</a:t>
            </a:r>
            <a:endParaRPr/>
          </a:p>
        </p:txBody>
      </p:sp>
      <p:sp>
        <p:nvSpPr>
          <p:cNvPr id="94" name="Google Shape;94;p20"/>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Code Review for Lab 1 code blinkyCNT.c</a:t>
            </a:r>
            <a:endParaRPr/>
          </a:p>
          <a:p>
            <a:pPr indent="0" lvl="0" marL="0" rtl="0" algn="l">
              <a:spcBef>
                <a:spcPts val="1600"/>
              </a:spcBef>
              <a:spcAft>
                <a:spcPts val="0"/>
              </a:spcAft>
              <a:buNone/>
            </a:pPr>
            <a:r>
              <a:rPr lang="en"/>
              <a:t>Using the AD2’s oscilloscope</a:t>
            </a:r>
            <a:endParaRPr/>
          </a:p>
          <a:p>
            <a:pPr indent="0" lvl="0" marL="0" rtl="0" algn="l">
              <a:spcBef>
                <a:spcPts val="1600"/>
              </a:spcBef>
              <a:spcAft>
                <a:spcPts val="0"/>
              </a:spcAft>
              <a:buNone/>
            </a:pPr>
            <a:r>
              <a:rPr lang="en"/>
              <a:t>Using a pushbutton switch</a:t>
            </a:r>
            <a:endParaRPr/>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Lab 1</a:t>
            </a:r>
            <a:endParaRPr/>
          </a:p>
        </p:txBody>
      </p:sp>
      <p:sp>
        <p:nvSpPr>
          <p:cNvPr id="100" name="Google Shape;100;p21"/>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1" name="Google Shape;101;p21"/>
          <p:cNvSpPr txBox="1"/>
          <p:nvPr/>
        </p:nvSpPr>
        <p:spPr>
          <a:xfrm>
            <a:off x="349675" y="1172650"/>
            <a:ext cx="4724400" cy="2947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600">
                <a:solidFill>
                  <a:schemeClr val="dk2"/>
                </a:solidFill>
              </a:rPr>
              <a:t>Wire up three LEDs, as shown.  Use both red and green.</a:t>
            </a:r>
            <a:endParaRPr sz="1600">
              <a:solidFill>
                <a:schemeClr val="dk2"/>
              </a:solidFill>
            </a:endParaRPr>
          </a:p>
          <a:p>
            <a:pPr indent="-330200" lvl="0" marL="457200" rtl="0" algn="l">
              <a:lnSpc>
                <a:spcPct val="115000"/>
              </a:lnSpc>
              <a:spcBef>
                <a:spcPts val="1600"/>
              </a:spcBef>
              <a:spcAft>
                <a:spcPts val="0"/>
              </a:spcAft>
              <a:buClr>
                <a:schemeClr val="dk2"/>
              </a:buClr>
              <a:buSzPts val="1600"/>
              <a:buAutoNum type="arabicPeriod"/>
            </a:pPr>
            <a:r>
              <a:rPr b="1" lang="en" sz="1600">
                <a:solidFill>
                  <a:schemeClr val="dk2"/>
                </a:solidFill>
              </a:rPr>
              <a:t>blinkySIM.c</a:t>
            </a:r>
            <a:r>
              <a:rPr lang="en" sz="1600">
                <a:solidFill>
                  <a:schemeClr val="dk2"/>
                </a:solidFill>
              </a:rPr>
              <a:t>: blink all three LEDs simultaneously.</a:t>
            </a:r>
            <a:endParaRPr sz="1600">
              <a:solidFill>
                <a:schemeClr val="dk2"/>
              </a:solidFill>
            </a:endParaRPr>
          </a:p>
          <a:p>
            <a:pPr indent="-330200" lvl="0" marL="457200" rtl="0" algn="l">
              <a:lnSpc>
                <a:spcPct val="115000"/>
              </a:lnSpc>
              <a:spcBef>
                <a:spcPts val="1000"/>
              </a:spcBef>
              <a:spcAft>
                <a:spcPts val="0"/>
              </a:spcAft>
              <a:buClr>
                <a:schemeClr val="dk2"/>
              </a:buClr>
              <a:buSzPts val="1600"/>
              <a:buAutoNum type="arabicPeriod"/>
            </a:pPr>
            <a:r>
              <a:rPr b="1" lang="en" sz="1600">
                <a:solidFill>
                  <a:schemeClr val="dk2"/>
                </a:solidFill>
              </a:rPr>
              <a:t>blinkySEQ.c</a:t>
            </a:r>
            <a:r>
              <a:rPr lang="en" sz="1600">
                <a:solidFill>
                  <a:schemeClr val="dk2"/>
                </a:solidFill>
              </a:rPr>
              <a:t>: blink the LEDs sequentially, so only one LED is lit at a time.</a:t>
            </a:r>
            <a:endParaRPr sz="1600">
              <a:solidFill>
                <a:schemeClr val="dk2"/>
              </a:solidFill>
            </a:endParaRPr>
          </a:p>
          <a:p>
            <a:pPr indent="-330200" lvl="0" marL="457200" rtl="0" algn="l">
              <a:lnSpc>
                <a:spcPct val="115000"/>
              </a:lnSpc>
              <a:spcBef>
                <a:spcPts val="1000"/>
              </a:spcBef>
              <a:spcAft>
                <a:spcPts val="1000"/>
              </a:spcAft>
              <a:buClr>
                <a:schemeClr val="dk2"/>
              </a:buClr>
              <a:buSzPts val="1600"/>
              <a:buAutoNum type="arabicPeriod"/>
            </a:pPr>
            <a:r>
              <a:rPr b="1" lang="en" sz="1600">
                <a:solidFill>
                  <a:schemeClr val="dk2"/>
                </a:solidFill>
              </a:rPr>
              <a:t>blinkyCNT.c</a:t>
            </a:r>
            <a:r>
              <a:rPr lang="en" sz="1600">
                <a:solidFill>
                  <a:schemeClr val="dk2"/>
                </a:solidFill>
              </a:rPr>
              <a:t>:  blink the LEDs in a binary code:  000, 001, 010,...111, 000...</a:t>
            </a:r>
            <a:endParaRPr/>
          </a:p>
        </p:txBody>
      </p:sp>
      <p:pic>
        <p:nvPicPr>
          <p:cNvPr id="102" name="Google Shape;102;p21" title="LED_x3_bb.png"/>
          <p:cNvPicPr preferRelativeResize="0"/>
          <p:nvPr/>
        </p:nvPicPr>
        <p:blipFill>
          <a:blip r:embed="rId3">
            <a:alphaModFix/>
          </a:blip>
          <a:stretch>
            <a:fillRect/>
          </a:stretch>
        </p:blipFill>
        <p:spPr>
          <a:xfrm>
            <a:off x="5074075" y="660585"/>
            <a:ext cx="3429324" cy="569681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Code Review</a:t>
            </a:r>
            <a:endParaRPr/>
          </a:p>
        </p:txBody>
      </p:sp>
      <p:sp>
        <p:nvSpPr>
          <p:cNvPr id="108" name="Google Shape;108;p22"/>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342900" lvl="0" marL="457200" rtl="0" algn="l">
              <a:lnSpc>
                <a:spcPct val="200000"/>
              </a:lnSpc>
              <a:spcBef>
                <a:spcPts val="0"/>
              </a:spcBef>
              <a:spcAft>
                <a:spcPts val="0"/>
              </a:spcAft>
              <a:buSzPts val="1800"/>
              <a:buChar char="●"/>
            </a:pPr>
            <a:r>
              <a:rPr lang="en"/>
              <a:t>Share </a:t>
            </a:r>
            <a:r>
              <a:rPr b="1" lang="en"/>
              <a:t>blinkyCNT.c</a:t>
            </a:r>
            <a:r>
              <a:rPr lang="en"/>
              <a:t> in your group.</a:t>
            </a:r>
            <a:endParaRPr/>
          </a:p>
          <a:p>
            <a:pPr indent="-342900" lvl="0" marL="457200" rtl="0" algn="l">
              <a:lnSpc>
                <a:spcPct val="200000"/>
              </a:lnSpc>
              <a:spcBef>
                <a:spcPts val="0"/>
              </a:spcBef>
              <a:spcAft>
                <a:spcPts val="0"/>
              </a:spcAft>
              <a:buSzPts val="1800"/>
              <a:buChar char="●"/>
            </a:pPr>
            <a:r>
              <a:rPr lang="en"/>
              <a:t>Read, explain, understand your partners’ code.</a:t>
            </a:r>
            <a:endParaRPr/>
          </a:p>
        </p:txBody>
      </p:sp>
      <p:sp>
        <p:nvSpPr>
          <p:cNvPr id="109" name="Google Shape;109;p22"/>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100"/>
              <a:buFont typeface="Arial"/>
              <a:buNone/>
            </a:pPr>
            <a:fld id="{00000000-1234-1234-1234-123412341234}" type="slidenum">
              <a:rPr lang="en"/>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13" name="Shape 113"/>
        <p:cNvGrpSpPr/>
        <p:nvPr/>
      </p:nvGrpSpPr>
      <p:grpSpPr>
        <a:xfrm>
          <a:off x="0" y="0"/>
          <a:ext cx="0" cy="0"/>
          <a:chOff x="0" y="0"/>
          <a:chExt cx="0" cy="0"/>
        </a:xfrm>
      </p:grpSpPr>
      <p:sp>
        <p:nvSpPr>
          <p:cNvPr id="114" name="Google Shape;114;p23"/>
          <p:cNvSpPr txBox="1"/>
          <p:nvPr>
            <p:ph type="title"/>
          </p:nvPr>
        </p:nvSpPr>
        <p:spPr>
          <a:xfrm>
            <a:off x="311700" y="2584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 </a:t>
            </a:r>
            <a:r>
              <a:rPr lang="en" sz="1800">
                <a:solidFill>
                  <a:schemeClr val="dk2"/>
                </a:solidFill>
              </a:rPr>
              <a:t>blinkySIM.c: blink all three LEDs simultaneously</a:t>
            </a:r>
            <a:endParaRPr/>
          </a:p>
        </p:txBody>
      </p:sp>
      <p:sp>
        <p:nvSpPr>
          <p:cNvPr id="115" name="Google Shape;115;p23"/>
          <p:cNvSpPr txBox="1"/>
          <p:nvPr>
            <p:ph idx="1" type="body"/>
          </p:nvPr>
        </p:nvSpPr>
        <p:spPr>
          <a:xfrm>
            <a:off x="311700" y="1151400"/>
            <a:ext cx="8520600" cy="4555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#include </a:t>
            </a:r>
            <a:r>
              <a:rPr b="1" lang="en" sz="1100">
                <a:solidFill>
                  <a:srgbClr val="2A00FF"/>
                </a:solidFill>
                <a:highlight>
                  <a:schemeClr val="lt1"/>
                </a:highlight>
                <a:latin typeface="Courier New"/>
                <a:ea typeface="Courier New"/>
                <a:cs typeface="Courier New"/>
                <a:sym typeface="Courier New"/>
              </a:rPr>
              <a:t>"</a:t>
            </a:r>
            <a:r>
              <a:rPr b="1" lang="en" sz="1100">
                <a:solidFill>
                  <a:srgbClr val="3F3FBF"/>
                </a:solidFill>
                <a:highlight>
                  <a:schemeClr val="lt1"/>
                </a:highlight>
                <a:latin typeface="Courier New"/>
                <a:ea typeface="Courier New"/>
                <a:cs typeface="Courier New"/>
                <a:sym typeface="Courier New"/>
              </a:rPr>
              <a:t>ES28.h</a:t>
            </a:r>
            <a:r>
              <a:rPr b="1" lang="en" sz="1100">
                <a:solidFill>
                  <a:srgbClr val="2A00FF"/>
                </a:solidFill>
                <a:highlight>
                  <a:schemeClr val="lt1"/>
                </a:highlight>
                <a:latin typeface="Courier New"/>
                <a:ea typeface="Courier New"/>
                <a:cs typeface="Courier New"/>
                <a:sym typeface="Courier New"/>
              </a:rPr>
              <a:t>"</a:t>
            </a:r>
            <a:endParaRPr b="1" sz="1100">
              <a:solidFill>
                <a:srgbClr val="7F005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GPIOAEN         (1U&lt;&lt;0)        </a:t>
            </a:r>
            <a:r>
              <a:rPr b="1" lang="en" sz="1100">
                <a:solidFill>
                  <a:srgbClr val="3F7F59"/>
                </a:solidFill>
                <a:highlight>
                  <a:srgbClr val="FFFFFF"/>
                </a:highlight>
                <a:latin typeface="Courier New"/>
                <a:ea typeface="Courier New"/>
                <a:cs typeface="Courier New"/>
                <a:sym typeface="Courier New"/>
              </a:rPr>
              <a:t>// bit 0 enables clock for GPIOA</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3F7F59"/>
                </a:solidFill>
                <a:highlight>
                  <a:srgbClr val="FFFFFF"/>
                </a:highlight>
                <a:latin typeface="Courier New"/>
                <a:ea typeface="Courier New"/>
                <a:cs typeface="Courier New"/>
                <a:sym typeface="Courier New"/>
              </a:rPr>
              <a:t>// LEDs on D13, D12, D11 (PA 5, 6, 7)</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LED_PIN1        (1U&lt;&lt;5)        </a:t>
            </a:r>
            <a:r>
              <a:rPr b="1" lang="en" sz="1100">
                <a:solidFill>
                  <a:srgbClr val="3F7F59"/>
                </a:solidFill>
                <a:highlight>
                  <a:srgbClr val="FFFFFF"/>
                </a:highlight>
                <a:latin typeface="Courier New"/>
                <a:ea typeface="Courier New"/>
                <a:cs typeface="Courier New"/>
                <a:sym typeface="Courier New"/>
              </a:rPr>
              <a:t>// Bit 5 of Port A is wired to the LED1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LED_PIN2        (1U&lt;&lt;6)        </a:t>
            </a:r>
            <a:r>
              <a:rPr b="1" lang="en" sz="1100">
                <a:solidFill>
                  <a:srgbClr val="3F7F59"/>
                </a:solidFill>
                <a:highlight>
                  <a:srgbClr val="FFFFFF"/>
                </a:highlight>
                <a:latin typeface="Courier New"/>
                <a:ea typeface="Courier New"/>
                <a:cs typeface="Courier New"/>
                <a:sym typeface="Courier New"/>
              </a:rPr>
              <a:t>// Bit 6 of Port A is wired to the LED2</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LED_PIN3        (1U&lt;&lt;7)        </a:t>
            </a:r>
            <a:r>
              <a:rPr b="1" lang="en" sz="1100">
                <a:solidFill>
                  <a:srgbClr val="3F7F59"/>
                </a:solidFill>
                <a:highlight>
                  <a:srgbClr val="FFFFFF"/>
                </a:highlight>
                <a:latin typeface="Courier New"/>
                <a:ea typeface="Courier New"/>
                <a:cs typeface="Courier New"/>
                <a:sym typeface="Courier New"/>
              </a:rPr>
              <a:t>// Bit 6 of Port A is wired to the LED3</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LED_ALL         (LED_PIN1 | LED_PIN2 | LED_PIN3)</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main</a:t>
            </a:r>
            <a:r>
              <a:rPr b="1"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RCC-&gt;IOPENR |= GPIOAEN;        	</a:t>
            </a:r>
            <a:r>
              <a:rPr b="1" lang="en" sz="1100">
                <a:solidFill>
                  <a:srgbClr val="3F7F59"/>
                </a:solidFill>
                <a:highlight>
                  <a:srgbClr val="FFFFFF"/>
                </a:highlight>
                <a:latin typeface="Courier New"/>
                <a:ea typeface="Courier New"/>
                <a:cs typeface="Courier New"/>
                <a:sym typeface="Courier New"/>
              </a:rPr>
              <a:t>// 1. Enable clock access to GPIOA</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9"/>
                </a:solidFill>
                <a:highlight>
                  <a:srgbClr val="FFFFFF"/>
                </a:highlight>
                <a:latin typeface="Courier New"/>
                <a:ea typeface="Courier New"/>
                <a:cs typeface="Courier New"/>
                <a:sym typeface="Courier New"/>
              </a:rPr>
              <a:t>// 2. Configure PA5, 6, 7 as output pin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GPIOA-&gt;MODER |= (1U&lt;&lt;10) | (1U&lt;&lt;12) | (1U&lt;&lt; 14);</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GPIOA-&gt;MODER &amp;= ~(1U&lt;&lt;11) &amp; ~(1U&lt;&lt;13) &amp; ~(1U&lt;&lt;15);</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GPIOA-&gt;ODR |= LED_ALL;    	</a:t>
            </a:r>
            <a:r>
              <a:rPr b="1" lang="en" sz="1100">
                <a:solidFill>
                  <a:srgbClr val="3F7F59"/>
                </a:solidFill>
                <a:highlight>
                  <a:srgbClr val="FFFFFF"/>
                </a:highlight>
                <a:latin typeface="Courier New"/>
                <a:ea typeface="Courier New"/>
                <a:cs typeface="Courier New"/>
                <a:sym typeface="Courier New"/>
              </a:rPr>
              <a:t>// 3. turn LEDs on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delay_ms(500)</a:t>
            </a:r>
            <a:r>
              <a:rPr b="1" lang="en" sz="1100">
                <a:solidFill>
                  <a:schemeClr val="dk1"/>
                </a:solidFill>
                <a:highlight>
                  <a:srgbClr val="FFFFFF"/>
                </a:highlight>
                <a:latin typeface="Courier New"/>
                <a:ea typeface="Courier New"/>
                <a:cs typeface="Courier New"/>
                <a:sym typeface="Courier New"/>
              </a:rPr>
              <a:t>;                </a:t>
            </a:r>
            <a:r>
              <a:rPr b="1" lang="en" sz="1100">
                <a:solidFill>
                  <a:srgbClr val="3F7F59"/>
                </a:solidFill>
                <a:highlight>
                  <a:srgbClr val="FFFFFF"/>
                </a:highlight>
                <a:latin typeface="Courier New"/>
                <a:ea typeface="Courier New"/>
                <a:cs typeface="Courier New"/>
                <a:sym typeface="Courier New"/>
              </a:rPr>
              <a:t>// kill some time</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GPIOA-&gt;ODR &amp;= ~LED_ALL;    	</a:t>
            </a:r>
            <a:r>
              <a:rPr b="1" lang="en" sz="1100">
                <a:solidFill>
                  <a:srgbClr val="3F7F59"/>
                </a:solidFill>
                <a:highlight>
                  <a:srgbClr val="FFFFFF"/>
                </a:highlight>
                <a:latin typeface="Courier New"/>
                <a:ea typeface="Courier New"/>
                <a:cs typeface="Courier New"/>
                <a:sym typeface="Courier New"/>
              </a:rPr>
              <a:t>// 4. turn LEDs off</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delay_ms(500);                </a:t>
            </a:r>
            <a:r>
              <a:rPr b="1" lang="en" sz="1100">
                <a:solidFill>
                  <a:srgbClr val="3F7F59"/>
                </a:solidFill>
                <a:highlight>
                  <a:srgbClr val="FFFFFF"/>
                </a:highlight>
                <a:latin typeface="Courier New"/>
                <a:ea typeface="Courier New"/>
                <a:cs typeface="Courier New"/>
                <a:sym typeface="Courier New"/>
              </a:rPr>
              <a:t>// kill some time</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                   		</a:t>
            </a:r>
            <a:r>
              <a:rPr b="1" lang="en" sz="1100">
                <a:solidFill>
                  <a:srgbClr val="3F7F59"/>
                </a:solidFill>
                <a:highlight>
                  <a:srgbClr val="FFFFFF"/>
                </a:highlight>
                <a:latin typeface="Courier New"/>
                <a:ea typeface="Courier New"/>
                <a:cs typeface="Courier New"/>
                <a:sym typeface="Courier New"/>
              </a:rPr>
              <a:t>// never reached</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rgbClr val="004A43"/>
              </a:solidFill>
              <a:highlight>
                <a:srgbClr val="FFFFFF"/>
              </a:highlight>
              <a:latin typeface="Courier New"/>
              <a:ea typeface="Courier New"/>
              <a:cs typeface="Courier New"/>
              <a:sym typeface="Courier New"/>
            </a:endParaRPr>
          </a:p>
        </p:txBody>
      </p:sp>
      <p:sp>
        <p:nvSpPr>
          <p:cNvPr id="116" name="Google Shape;116;p23"/>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0" name="Shape 120"/>
        <p:cNvGrpSpPr/>
        <p:nvPr/>
      </p:nvGrpSpPr>
      <p:grpSpPr>
        <a:xfrm>
          <a:off x="0" y="0"/>
          <a:ext cx="0" cy="0"/>
          <a:chOff x="0" y="0"/>
          <a:chExt cx="0" cy="0"/>
        </a:xfrm>
      </p:grpSpPr>
      <p:sp>
        <p:nvSpPr>
          <p:cNvPr id="121" name="Google Shape;121;p24"/>
          <p:cNvSpPr txBox="1"/>
          <p:nvPr>
            <p:ph type="title"/>
          </p:nvPr>
        </p:nvSpPr>
        <p:spPr>
          <a:xfrm>
            <a:off x="311700" y="2584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 </a:t>
            </a:r>
            <a:r>
              <a:rPr lang="en" sz="1800">
                <a:solidFill>
                  <a:schemeClr val="dk2"/>
                </a:solidFill>
              </a:rPr>
              <a:t>blinkySEQ.c: create a "running light"</a:t>
            </a:r>
            <a:endParaRPr/>
          </a:p>
          <a:p>
            <a:pPr indent="0" lvl="0" marL="0" rtl="0" algn="l">
              <a:spcBef>
                <a:spcPts val="0"/>
              </a:spcBef>
              <a:spcAft>
                <a:spcPts val="0"/>
              </a:spcAft>
              <a:buNone/>
            </a:pPr>
            <a:r>
              <a:t/>
            </a:r>
            <a:endParaRPr/>
          </a:p>
        </p:txBody>
      </p:sp>
      <p:sp>
        <p:nvSpPr>
          <p:cNvPr id="122" name="Google Shape;122;p24"/>
          <p:cNvSpPr txBox="1"/>
          <p:nvPr>
            <p:ph idx="1" type="body"/>
          </p:nvPr>
        </p:nvSpPr>
        <p:spPr>
          <a:xfrm>
            <a:off x="311700" y="1151400"/>
            <a:ext cx="8520600" cy="49386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00">
                <a:solidFill>
                  <a:srgbClr val="7F0055"/>
                </a:solidFill>
                <a:highlight>
                  <a:schemeClr val="lt1"/>
                </a:highlight>
                <a:latin typeface="Courier New"/>
                <a:ea typeface="Courier New"/>
                <a:cs typeface="Courier New"/>
                <a:sym typeface="Courier New"/>
              </a:rPr>
              <a:t>#include </a:t>
            </a:r>
            <a:r>
              <a:rPr b="1" lang="en" sz="1100">
                <a:solidFill>
                  <a:srgbClr val="2A00FF"/>
                </a:solidFill>
                <a:highlight>
                  <a:schemeClr val="lt1"/>
                </a:highlight>
                <a:latin typeface="Courier New"/>
                <a:ea typeface="Courier New"/>
                <a:cs typeface="Courier New"/>
                <a:sym typeface="Courier New"/>
              </a:rPr>
              <a:t>"</a:t>
            </a:r>
            <a:r>
              <a:rPr b="1" lang="en" sz="1100">
                <a:solidFill>
                  <a:srgbClr val="3F3FBF"/>
                </a:solidFill>
                <a:highlight>
                  <a:schemeClr val="lt1"/>
                </a:highlight>
                <a:latin typeface="Courier New"/>
                <a:ea typeface="Courier New"/>
                <a:cs typeface="Courier New"/>
                <a:sym typeface="Courier New"/>
              </a:rPr>
              <a:t>ES28.h</a:t>
            </a:r>
            <a:r>
              <a:rPr b="1" lang="en" sz="1100">
                <a:solidFill>
                  <a:srgbClr val="2A00FF"/>
                </a:solidFill>
                <a:highlight>
                  <a:schemeClr val="lt1"/>
                </a:highlight>
                <a:latin typeface="Courier New"/>
                <a:ea typeface="Courier New"/>
                <a:cs typeface="Courier New"/>
                <a:sym typeface="Courier New"/>
              </a:rPr>
              <a:t>"</a:t>
            </a:r>
            <a:endParaRPr b="1" sz="1100">
              <a:solidFill>
                <a:srgbClr val="7F005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GPIOAEN         (1U&lt;&lt;0)        </a:t>
            </a:r>
            <a:r>
              <a:rPr b="1" lang="en" sz="1100">
                <a:solidFill>
                  <a:srgbClr val="3F7F59"/>
                </a:solidFill>
                <a:highlight>
                  <a:srgbClr val="FFFFFF"/>
                </a:highlight>
                <a:latin typeface="Courier New"/>
                <a:ea typeface="Courier New"/>
                <a:cs typeface="Courier New"/>
                <a:sym typeface="Courier New"/>
              </a:rPr>
              <a:t>// bit 0 enables clock for GPIOA</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3F7F59"/>
                </a:solidFill>
                <a:highlight>
                  <a:srgbClr val="FFFFFF"/>
                </a:highlight>
                <a:latin typeface="Courier New"/>
                <a:ea typeface="Courier New"/>
                <a:cs typeface="Courier New"/>
                <a:sym typeface="Courier New"/>
              </a:rPr>
              <a:t>// LEDs on D13, D12, D11 (PA 5, 6, 7)</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LED_PIN1        (1U&lt;&lt;5)        </a:t>
            </a:r>
            <a:r>
              <a:rPr b="1" lang="en" sz="1100">
                <a:solidFill>
                  <a:srgbClr val="3F7F59"/>
                </a:solidFill>
                <a:highlight>
                  <a:srgbClr val="FFFFFF"/>
                </a:highlight>
                <a:latin typeface="Courier New"/>
                <a:ea typeface="Courier New"/>
                <a:cs typeface="Courier New"/>
                <a:sym typeface="Courier New"/>
              </a:rPr>
              <a:t>// Bit 5 of Port A is wired to the LED1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LED_PIN2        (1U&lt;&lt;6)        </a:t>
            </a:r>
            <a:r>
              <a:rPr b="1" lang="en" sz="1100">
                <a:solidFill>
                  <a:srgbClr val="3F7F59"/>
                </a:solidFill>
                <a:highlight>
                  <a:srgbClr val="FFFFFF"/>
                </a:highlight>
                <a:latin typeface="Courier New"/>
                <a:ea typeface="Courier New"/>
                <a:cs typeface="Courier New"/>
                <a:sym typeface="Courier New"/>
              </a:rPr>
              <a:t>// Bit 6 of Port A is wired to the LED2</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LED_PIN3        (1U&lt;&lt;7)        </a:t>
            </a:r>
            <a:r>
              <a:rPr b="1" lang="en" sz="1100">
                <a:solidFill>
                  <a:srgbClr val="3F7F59"/>
                </a:solidFill>
                <a:highlight>
                  <a:srgbClr val="FFFFFF"/>
                </a:highlight>
                <a:latin typeface="Courier New"/>
                <a:ea typeface="Courier New"/>
                <a:cs typeface="Courier New"/>
                <a:sym typeface="Courier New"/>
              </a:rPr>
              <a:t>// Bit 6 of Port A is wired to the LED3</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main</a:t>
            </a:r>
            <a:r>
              <a:rPr b="1"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RCC-&gt;IOPENR |= GPIOAEN;            </a:t>
            </a:r>
            <a:r>
              <a:rPr b="1" lang="en" sz="1100">
                <a:solidFill>
                  <a:srgbClr val="3F7F59"/>
                </a:solidFill>
                <a:highlight>
                  <a:srgbClr val="FFFFFF"/>
                </a:highlight>
                <a:latin typeface="Courier New"/>
                <a:ea typeface="Courier New"/>
                <a:cs typeface="Courier New"/>
                <a:sym typeface="Courier New"/>
              </a:rPr>
              <a:t>// 1. Enable clock access to GPIOA</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9"/>
                </a:solidFill>
                <a:highlight>
                  <a:srgbClr val="FFFFFF"/>
                </a:highlight>
                <a:latin typeface="Courier New"/>
                <a:ea typeface="Courier New"/>
                <a:cs typeface="Courier New"/>
                <a:sym typeface="Courier New"/>
              </a:rPr>
              <a:t>// 2. Configure PA5, 6, 7 as output pin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GPIOA-&gt;MODER |= (1U&lt;&lt;10) | (1U&lt;&lt;12) | (1U&lt;&lt; 14);</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GPIOA-&gt;MODER &amp;= ~(1U&lt;&lt;11) &amp; ~(1U&lt;&lt;13) &amp; ~(1U&lt;&lt;15);</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GPIOA-&gt;ODR = (GPIOA-&gt;ODR &amp; ~LED_PIN3) | LED_PIN1; </a:t>
            </a:r>
            <a:r>
              <a:rPr b="1" lang="en" sz="1100">
                <a:solidFill>
                  <a:srgbClr val="3F7F59"/>
                </a:solidFill>
                <a:highlight>
                  <a:srgbClr val="FFFFFF"/>
                </a:highlight>
                <a:latin typeface="Courier New"/>
                <a:ea typeface="Courier New"/>
                <a:cs typeface="Courier New"/>
                <a:sym typeface="Courier New"/>
              </a:rPr>
              <a:t>// switch to LED1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delay_ms(500);                </a:t>
            </a:r>
            <a:r>
              <a:rPr b="1" lang="en" sz="1100">
                <a:solidFill>
                  <a:srgbClr val="3F7F59"/>
                </a:solidFill>
                <a:highlight>
                  <a:schemeClr val="lt1"/>
                </a:highlight>
                <a:latin typeface="Courier New"/>
                <a:ea typeface="Courier New"/>
                <a:cs typeface="Courier New"/>
                <a:sym typeface="Courier New"/>
              </a:rPr>
              <a:t>// kill some time</a:t>
            </a:r>
            <a:endParaRPr b="1" sz="1100">
              <a:solidFill>
                <a:srgbClr val="7F005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GPIOA-&gt;ODR = (GPIOA-&gt;ODR &amp; ~LED_PIN1) | LED_PIN2; </a:t>
            </a:r>
            <a:r>
              <a:rPr b="1" lang="en" sz="1100">
                <a:solidFill>
                  <a:srgbClr val="3F7F59"/>
                </a:solidFill>
                <a:highlight>
                  <a:srgbClr val="FFFFFF"/>
                </a:highlight>
                <a:latin typeface="Courier New"/>
                <a:ea typeface="Courier New"/>
                <a:cs typeface="Courier New"/>
                <a:sym typeface="Courier New"/>
              </a:rPr>
              <a:t>// switch to LED2</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delay_ms(500);                </a:t>
            </a:r>
            <a:r>
              <a:rPr b="1" lang="en" sz="1100">
                <a:solidFill>
                  <a:srgbClr val="3F7F59"/>
                </a:solidFill>
                <a:highlight>
                  <a:schemeClr val="lt1"/>
                </a:highlight>
                <a:latin typeface="Courier New"/>
                <a:ea typeface="Courier New"/>
                <a:cs typeface="Courier New"/>
                <a:sym typeface="Courier New"/>
              </a:rPr>
              <a:t>// kill some time</a:t>
            </a:r>
            <a:endParaRPr b="1" sz="1100">
              <a:solidFill>
                <a:srgbClr val="7F005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GPIOA-&gt;ODR = (GPIOA-&gt;ODR &amp; ~LED_PIN2) | LED_PIN3; </a:t>
            </a:r>
            <a:r>
              <a:rPr b="1" lang="en" sz="1100">
                <a:solidFill>
                  <a:srgbClr val="3F7F59"/>
                </a:solidFill>
                <a:highlight>
                  <a:srgbClr val="FFFFFF"/>
                </a:highlight>
                <a:latin typeface="Courier New"/>
                <a:ea typeface="Courier New"/>
                <a:cs typeface="Courier New"/>
                <a:sym typeface="Courier New"/>
              </a:rPr>
              <a:t>// switch to LED3</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delay_ms(500);                </a:t>
            </a:r>
            <a:r>
              <a:rPr b="1" lang="en" sz="1100">
                <a:solidFill>
                  <a:srgbClr val="3F7F59"/>
                </a:solidFill>
                <a:highlight>
                  <a:schemeClr val="lt1"/>
                </a:highlight>
                <a:latin typeface="Courier New"/>
                <a:ea typeface="Courier New"/>
                <a:cs typeface="Courier New"/>
                <a:sym typeface="Courier New"/>
              </a:rPr>
              <a:t>// kill some time</a:t>
            </a:r>
            <a:endParaRPr b="1" sz="1100">
              <a:solidFill>
                <a:srgbClr val="7F005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                    </a:t>
            </a:r>
            <a:r>
              <a:rPr b="1" lang="en" sz="1100">
                <a:solidFill>
                  <a:srgbClr val="3F7F59"/>
                </a:solidFill>
                <a:highlight>
                  <a:srgbClr val="FFFFFF"/>
                </a:highlight>
                <a:latin typeface="Courier New"/>
                <a:ea typeface="Courier New"/>
                <a:cs typeface="Courier New"/>
                <a:sym typeface="Courier New"/>
              </a:rPr>
              <a:t>// never reached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rgbClr val="7F0055"/>
              </a:solidFill>
              <a:highlight>
                <a:srgbClr val="FFFFFF"/>
              </a:highlight>
              <a:latin typeface="Courier New"/>
              <a:ea typeface="Courier New"/>
              <a:cs typeface="Courier New"/>
              <a:sym typeface="Courier New"/>
            </a:endParaRPr>
          </a:p>
        </p:txBody>
      </p:sp>
      <p:sp>
        <p:nvSpPr>
          <p:cNvPr id="123" name="Google Shape;123;p2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blinkyCNT.c </a:t>
            </a:r>
            <a:endParaRPr/>
          </a:p>
        </p:txBody>
      </p:sp>
      <p:sp>
        <p:nvSpPr>
          <p:cNvPr id="129" name="Google Shape;129;p25"/>
          <p:cNvSpPr txBox="1"/>
          <p:nvPr>
            <p:ph idx="1" type="body"/>
          </p:nvPr>
        </p:nvSpPr>
        <p:spPr>
          <a:xfrm>
            <a:off x="311700" y="1356875"/>
            <a:ext cx="8520600" cy="1525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To turn an individual output bit n of Port x on and off:</a:t>
            </a:r>
            <a:endParaRPr sz="1600"/>
          </a:p>
          <a:p>
            <a:pPr indent="0" lvl="0" marL="457200" rtl="0" algn="l">
              <a:spcBef>
                <a:spcPts val="0"/>
              </a:spcBef>
              <a:spcAft>
                <a:spcPts val="0"/>
              </a:spcAft>
              <a:buNone/>
            </a:pPr>
            <a:r>
              <a:rPr lang="en" sz="1400">
                <a:solidFill>
                  <a:schemeClr val="dk1"/>
                </a:solidFill>
                <a:latin typeface="Courier New"/>
                <a:ea typeface="Courier New"/>
                <a:cs typeface="Courier New"/>
                <a:sym typeface="Courier New"/>
              </a:rPr>
              <a:t>GPIOx-&gt;ODR</a:t>
            </a:r>
            <a:r>
              <a:rPr lang="en" sz="1400">
                <a:solidFill>
                  <a:schemeClr val="dk1"/>
                </a:solidFill>
                <a:latin typeface="Courier New"/>
                <a:ea typeface="Courier New"/>
                <a:cs typeface="Courier New"/>
                <a:sym typeface="Courier New"/>
              </a:rPr>
              <a:t> |=  (1U &lt;&lt; n);</a:t>
            </a:r>
            <a:endParaRPr sz="1400">
              <a:solidFill>
                <a:schemeClr val="dk1"/>
              </a:solidFill>
              <a:latin typeface="Courier New"/>
              <a:ea typeface="Courier New"/>
              <a:cs typeface="Courier New"/>
              <a:sym typeface="Courier New"/>
            </a:endParaRPr>
          </a:p>
          <a:p>
            <a:pPr indent="0" lvl="0" marL="457200" rtl="0" algn="l">
              <a:spcBef>
                <a:spcPts val="0"/>
              </a:spcBef>
              <a:spcAft>
                <a:spcPts val="0"/>
              </a:spcAft>
              <a:buNone/>
            </a:pPr>
            <a:r>
              <a:rPr lang="en" sz="1400">
                <a:solidFill>
                  <a:schemeClr val="dk1"/>
                </a:solidFill>
                <a:latin typeface="Courier New"/>
                <a:ea typeface="Courier New"/>
                <a:cs typeface="Courier New"/>
                <a:sym typeface="Courier New"/>
              </a:rPr>
              <a:t>GPIOx-&gt;ODR &amp;= ~(1U &lt;&lt; n);</a:t>
            </a:r>
            <a:endParaRPr sz="1400">
              <a:solidFill>
                <a:schemeClr val="dk1"/>
              </a:solidFill>
              <a:latin typeface="Courier New"/>
              <a:ea typeface="Courier New"/>
              <a:cs typeface="Courier New"/>
              <a:sym typeface="Courier New"/>
            </a:endParaRPr>
          </a:p>
          <a:p>
            <a:pPr indent="0" lvl="0" marL="457200" rtl="0" algn="l">
              <a:spcBef>
                <a:spcPts val="0"/>
              </a:spcBef>
              <a:spcAft>
                <a:spcPts val="0"/>
              </a:spcAft>
              <a:buNone/>
            </a:pPr>
            <a:r>
              <a:t/>
            </a:r>
            <a:endParaRPr>
              <a:latin typeface="Courier New"/>
              <a:ea typeface="Courier New"/>
              <a:cs typeface="Courier New"/>
              <a:sym typeface="Courier New"/>
            </a:endParaRPr>
          </a:p>
          <a:p>
            <a:pPr indent="0" lvl="0" marL="0" rtl="0" algn="l">
              <a:spcBef>
                <a:spcPts val="0"/>
              </a:spcBef>
              <a:spcAft>
                <a:spcPts val="0"/>
              </a:spcAft>
              <a:buNone/>
            </a:pPr>
            <a:r>
              <a:rPr lang="en" sz="1600"/>
              <a:t>How to turn multiple bits on and off? In particular, how do you display the binary count? </a:t>
            </a:r>
            <a:endParaRPr sz="1600"/>
          </a:p>
          <a:p>
            <a:pPr indent="0" lvl="0" marL="457200" rtl="0" algn="l">
              <a:spcBef>
                <a:spcPts val="0"/>
              </a:spcBef>
              <a:spcAft>
                <a:spcPts val="0"/>
              </a:spcAft>
              <a:buNone/>
            </a:pPr>
            <a:r>
              <a:t/>
            </a:r>
            <a:endParaRPr sz="16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t/>
            </a:r>
            <a:endParaRPr sz="1200">
              <a:latin typeface="Courier New"/>
              <a:ea typeface="Courier New"/>
              <a:cs typeface="Courier New"/>
              <a:sym typeface="Courier New"/>
            </a:endParaRPr>
          </a:p>
          <a:p>
            <a:pPr indent="0" lvl="0" marL="0" rtl="0" algn="l">
              <a:spcBef>
                <a:spcPts val="0"/>
              </a:spcBef>
              <a:spcAft>
                <a:spcPts val="0"/>
              </a:spcAft>
              <a:buNone/>
            </a:pPr>
            <a:r>
              <a:rPr lang="en" sz="1200">
                <a:latin typeface="Courier New"/>
                <a:ea typeface="Courier New"/>
                <a:cs typeface="Courier New"/>
                <a:sym typeface="Courier New"/>
              </a:rPr>
              <a:t>   </a:t>
            </a:r>
            <a:endParaRPr sz="1200">
              <a:latin typeface="Courier New"/>
              <a:ea typeface="Courier New"/>
              <a:cs typeface="Courier New"/>
              <a:sym typeface="Courier New"/>
            </a:endParaRPr>
          </a:p>
        </p:txBody>
      </p:sp>
      <p:sp>
        <p:nvSpPr>
          <p:cNvPr id="130" name="Google Shape;130;p25"/>
          <p:cNvSpPr txBox="1"/>
          <p:nvPr/>
        </p:nvSpPr>
        <p:spPr>
          <a:xfrm>
            <a:off x="389250" y="4888750"/>
            <a:ext cx="7659600" cy="86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One possibility: Turn all bits off, then turn on those that you wish to turn on:</a:t>
            </a:r>
            <a:endParaRPr/>
          </a:p>
          <a:p>
            <a:pPr indent="0" lvl="0" marL="457200" rtl="0" algn="l">
              <a:lnSpc>
                <a:spcPct val="115000"/>
              </a:lnSpc>
              <a:spcBef>
                <a:spcPts val="0"/>
              </a:spcBef>
              <a:spcAft>
                <a:spcPts val="0"/>
              </a:spcAft>
              <a:buNone/>
            </a:pPr>
            <a:r>
              <a:rPr lang="en">
                <a:solidFill>
                  <a:schemeClr val="dk1"/>
                </a:solidFill>
                <a:latin typeface="Courier New"/>
                <a:ea typeface="Courier New"/>
                <a:cs typeface="Courier New"/>
                <a:sym typeface="Courier New"/>
              </a:rPr>
              <a:t>GPIO</a:t>
            </a:r>
            <a:r>
              <a:rPr lang="en">
                <a:solidFill>
                  <a:schemeClr val="dk1"/>
                </a:solidFill>
                <a:latin typeface="Courier New"/>
                <a:ea typeface="Courier New"/>
                <a:cs typeface="Courier New"/>
                <a:sym typeface="Courier New"/>
              </a:rPr>
              <a:t>x-&gt;ODR &amp;= ~( (1U &lt;&lt; 5) | (1U &lt;&lt; 6) | (1U &lt;&lt; 7));</a:t>
            </a:r>
            <a:endParaRPr>
              <a:solidFill>
                <a:schemeClr val="dk1"/>
              </a:solidFill>
              <a:latin typeface="Courier New"/>
              <a:ea typeface="Courier New"/>
              <a:cs typeface="Courier New"/>
              <a:sym typeface="Courier New"/>
            </a:endParaRPr>
          </a:p>
          <a:p>
            <a:pPr indent="0" lvl="0" marL="457200" rtl="0" algn="l">
              <a:lnSpc>
                <a:spcPct val="115000"/>
              </a:lnSpc>
              <a:spcBef>
                <a:spcPts val="0"/>
              </a:spcBef>
              <a:spcAft>
                <a:spcPts val="0"/>
              </a:spcAft>
              <a:buClr>
                <a:schemeClr val="dk1"/>
              </a:buClr>
              <a:buSzPts val="1100"/>
              <a:buFont typeface="Arial"/>
              <a:buNone/>
            </a:pPr>
            <a:r>
              <a:rPr lang="en">
                <a:solidFill>
                  <a:schemeClr val="dk1"/>
                </a:solidFill>
                <a:latin typeface="Courier New"/>
                <a:ea typeface="Courier New"/>
                <a:cs typeface="Courier New"/>
                <a:sym typeface="Courier New"/>
              </a:rPr>
              <a:t>GPIOx-&gt;ODR |= (count &lt;&lt; 5);</a:t>
            </a:r>
            <a:endParaRPr/>
          </a:p>
        </p:txBody>
      </p:sp>
      <p:graphicFrame>
        <p:nvGraphicFramePr>
          <p:cNvPr id="131" name="Google Shape;131;p25"/>
          <p:cNvGraphicFramePr/>
          <p:nvPr/>
        </p:nvGraphicFramePr>
        <p:xfrm>
          <a:off x="1747525" y="4011195"/>
          <a:ext cx="3000000" cy="3000000"/>
        </p:xfrm>
        <a:graphic>
          <a:graphicData uri="http://schemas.openxmlformats.org/drawingml/2006/table">
            <a:tbl>
              <a:tblPr>
                <a:noFill/>
                <a:tableStyleId>{8F8B7705-C52C-460A-B6F9-B030132438BB}</a:tableStyleId>
              </a:tblPr>
              <a:tblGrid>
                <a:gridCol w="597950"/>
                <a:gridCol w="597950"/>
                <a:gridCol w="597950"/>
                <a:gridCol w="597950"/>
                <a:gridCol w="597950"/>
                <a:gridCol w="597950"/>
                <a:gridCol w="597950"/>
                <a:gridCol w="597950"/>
                <a:gridCol w="597950"/>
                <a:gridCol w="597950"/>
                <a:gridCol w="597950"/>
                <a:gridCol w="597950"/>
              </a:tblGrid>
              <a:tr h="664975">
                <a:tc>
                  <a:txBody>
                    <a:bodyPr/>
                    <a:lstStyle/>
                    <a:p>
                      <a:pPr indent="0" lvl="0" marL="0" marR="0" rtl="0" algn="l">
                        <a:lnSpc>
                          <a:spcPct val="100000"/>
                        </a:lnSpc>
                        <a:spcBef>
                          <a:spcPts val="0"/>
                        </a:spcBef>
                        <a:spcAft>
                          <a:spcPts val="0"/>
                        </a:spcAft>
                        <a:buNone/>
                      </a:pPr>
                      <a:r>
                        <a:rPr lang="en" sz="1000"/>
                        <a:t>Bit 15</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000"/>
                        <a:t>Bit 14</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000"/>
                        <a:t>…</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000"/>
                        <a:t>Bit 8</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000" u="none" cap="none" strike="noStrike"/>
                        <a:t>Bit </a:t>
                      </a:r>
                      <a:r>
                        <a:rPr lang="en" sz="1000"/>
                        <a:t>7</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6</a:t>
                      </a:r>
                      <a:endParaRPr sz="1000"/>
                    </a:p>
                    <a:p>
                      <a:pPr indent="0" lvl="0" marL="0" marR="0" rtl="0" algn="ctr">
                        <a:lnSpc>
                          <a:spcPct val="100000"/>
                        </a:lnSpc>
                        <a:spcBef>
                          <a:spcPts val="0"/>
                        </a:spcBef>
                        <a:spcAft>
                          <a:spcPts val="0"/>
                        </a:spcAft>
                        <a:buClr>
                          <a:srgbClr val="000000"/>
                        </a:buClr>
                        <a:buSzPts val="1900"/>
                        <a:buFont typeface="Arial"/>
                        <a:buNone/>
                      </a:pPr>
                      <a:r>
                        <a:t/>
                      </a:r>
                      <a:endParaRPr sz="1600"/>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5</a:t>
                      </a:r>
                      <a:endParaRPr sz="1000"/>
                    </a:p>
                    <a:p>
                      <a:pPr indent="0" lvl="0" marL="0" marR="0" rtl="0" algn="ctr">
                        <a:lnSpc>
                          <a:spcPct val="100000"/>
                        </a:lnSpc>
                        <a:spcBef>
                          <a:spcPts val="0"/>
                        </a:spcBef>
                        <a:spcAft>
                          <a:spcPts val="0"/>
                        </a:spcAft>
                        <a:buClr>
                          <a:srgbClr val="000000"/>
                        </a:buClr>
                        <a:buSzPts val="1900"/>
                        <a:buFont typeface="Arial"/>
                        <a:buNone/>
                      </a:pPr>
                      <a:r>
                        <a:t/>
                      </a:r>
                      <a:endParaRPr sz="1600"/>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4</a:t>
                      </a:r>
                      <a:endParaRPr sz="1000"/>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a:t>Bit 3</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2</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1</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0 </a:t>
                      </a:r>
                      <a:endParaRPr sz="1000" u="none" cap="none" strike="noStrike"/>
                    </a:p>
                  </a:txBody>
                  <a:tcPr marT="121900" marB="121900" marR="91425" marL="91425"/>
                </a:tc>
              </a:tr>
            </a:tbl>
          </a:graphicData>
        </a:graphic>
      </p:graphicFrame>
      <p:sp>
        <p:nvSpPr>
          <p:cNvPr id="132" name="Google Shape;132;p25"/>
          <p:cNvSpPr txBox="1"/>
          <p:nvPr/>
        </p:nvSpPr>
        <p:spPr>
          <a:xfrm>
            <a:off x="123350" y="4143588"/>
            <a:ext cx="14151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GPIOA-&gt;ODR</a:t>
            </a:r>
            <a:endParaRPr/>
          </a:p>
        </p:txBody>
      </p:sp>
      <p:graphicFrame>
        <p:nvGraphicFramePr>
          <p:cNvPr id="133" name="Google Shape;133;p25"/>
          <p:cNvGraphicFramePr/>
          <p:nvPr/>
        </p:nvGraphicFramePr>
        <p:xfrm>
          <a:off x="1149575" y="2882370"/>
          <a:ext cx="3000000" cy="3000000"/>
        </p:xfrm>
        <a:graphic>
          <a:graphicData uri="http://schemas.openxmlformats.org/drawingml/2006/table">
            <a:tbl>
              <a:tblPr>
                <a:noFill/>
                <a:tableStyleId>{8F8B7705-C52C-460A-B6F9-B030132438BB}</a:tableStyleId>
              </a:tblPr>
              <a:tblGrid>
                <a:gridCol w="597950"/>
                <a:gridCol w="622575"/>
                <a:gridCol w="573325"/>
                <a:gridCol w="597950"/>
                <a:gridCol w="597950"/>
                <a:gridCol w="597950"/>
                <a:gridCol w="597950"/>
                <a:gridCol w="597950"/>
              </a:tblGrid>
              <a:tr h="664975">
                <a:tc>
                  <a:txBody>
                    <a:bodyPr/>
                    <a:lstStyle/>
                    <a:p>
                      <a:pPr indent="0" lvl="0" marL="0" marR="0" rtl="0" algn="l">
                        <a:lnSpc>
                          <a:spcPct val="100000"/>
                        </a:lnSpc>
                        <a:spcBef>
                          <a:spcPts val="0"/>
                        </a:spcBef>
                        <a:spcAft>
                          <a:spcPts val="0"/>
                        </a:spcAft>
                        <a:buClr>
                          <a:srgbClr val="000000"/>
                        </a:buClr>
                        <a:buSzPts val="1900"/>
                        <a:buFont typeface="Arial"/>
                        <a:buNone/>
                      </a:pPr>
                      <a:r>
                        <a:rPr lang="en" sz="1000"/>
                        <a:t>…</a:t>
                      </a:r>
                      <a:endParaRPr sz="1000" u="none" cap="none" strike="noStrike"/>
                    </a:p>
                  </a:txBody>
                  <a:tcPr marT="121900" marB="121900"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6</a:t>
                      </a:r>
                      <a:endParaRPr sz="1000"/>
                    </a:p>
                    <a:p>
                      <a:pPr indent="0" lvl="0" marL="0" marR="0" rtl="0" algn="ctr">
                        <a:lnSpc>
                          <a:spcPct val="100000"/>
                        </a:lnSpc>
                        <a:spcBef>
                          <a:spcPts val="0"/>
                        </a:spcBef>
                        <a:spcAft>
                          <a:spcPts val="0"/>
                        </a:spcAft>
                        <a:buClr>
                          <a:srgbClr val="000000"/>
                        </a:buClr>
                        <a:buSzPts val="1900"/>
                        <a:buFont typeface="Arial"/>
                        <a:buNone/>
                      </a:pPr>
                      <a:r>
                        <a:t/>
                      </a:r>
                      <a:endParaRPr sz="1600"/>
                    </a:p>
                  </a:txBody>
                  <a:tcPr marT="121900" marB="121900"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5</a:t>
                      </a:r>
                      <a:endParaRPr sz="1000"/>
                    </a:p>
                    <a:p>
                      <a:pPr indent="0" lvl="0" marL="0" marR="0" rtl="0" algn="ctr">
                        <a:lnSpc>
                          <a:spcPct val="100000"/>
                        </a:lnSpc>
                        <a:spcBef>
                          <a:spcPts val="0"/>
                        </a:spcBef>
                        <a:spcAft>
                          <a:spcPts val="0"/>
                        </a:spcAft>
                        <a:buClr>
                          <a:srgbClr val="000000"/>
                        </a:buClr>
                        <a:buSzPts val="1900"/>
                        <a:buFont typeface="Arial"/>
                        <a:buNone/>
                      </a:pPr>
                      <a:r>
                        <a:t/>
                      </a:r>
                      <a:endParaRPr sz="1600"/>
                    </a:p>
                  </a:txBody>
                  <a:tcPr marT="121900" marB="121900"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4</a:t>
                      </a:r>
                      <a:endParaRPr sz="1000"/>
                    </a:p>
                  </a:txBody>
                  <a:tcPr marT="121900" marB="121900"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000"/>
                        <a:t>Bit 3</a:t>
                      </a:r>
                      <a:endParaRPr sz="1000" u="none" cap="none" strike="noStrike"/>
                    </a:p>
                  </a:txBody>
                  <a:tcPr marT="121900" marB="121900" marR="91425" marL="91425">
                    <a:solidFill>
                      <a:srgbClr val="D9D9D9"/>
                    </a:solidFill>
                  </a:tcPr>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2</a:t>
                      </a:r>
                      <a:endParaRPr sz="1000" u="none" cap="none" strike="noStrike"/>
                    </a:p>
                    <a:p>
                      <a:pPr indent="0" lvl="0" marL="0" rtl="0" algn="ctr">
                        <a:spcBef>
                          <a:spcPts val="0"/>
                        </a:spcBef>
                        <a:spcAft>
                          <a:spcPts val="0"/>
                        </a:spcAft>
                        <a:buClr>
                          <a:schemeClr val="dk1"/>
                        </a:buClr>
                        <a:buSzPts val="1900"/>
                        <a:buFont typeface="Arial"/>
                        <a:buNone/>
                      </a:pPr>
                      <a:r>
                        <a:rPr lang="en" sz="1600">
                          <a:solidFill>
                            <a:schemeClr val="dk1"/>
                          </a:solidFill>
                        </a:rPr>
                        <a:t>d</a:t>
                      </a:r>
                      <a:endParaRPr sz="1000"/>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1</a:t>
                      </a:r>
                      <a:endParaRPr sz="1000" u="none" cap="none" strike="noStrike"/>
                    </a:p>
                    <a:p>
                      <a:pPr indent="0" lvl="0" marL="0" rtl="0" algn="ctr">
                        <a:spcBef>
                          <a:spcPts val="0"/>
                        </a:spcBef>
                        <a:spcAft>
                          <a:spcPts val="0"/>
                        </a:spcAft>
                        <a:buClr>
                          <a:schemeClr val="dk1"/>
                        </a:buClr>
                        <a:buSzPts val="1900"/>
                        <a:buFont typeface="Arial"/>
                        <a:buNone/>
                      </a:pPr>
                      <a:r>
                        <a:rPr lang="en" sz="1600">
                          <a:solidFill>
                            <a:schemeClr val="dk1"/>
                          </a:solidFill>
                        </a:rPr>
                        <a:t>d</a:t>
                      </a:r>
                      <a:endParaRPr sz="1000"/>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0 </a:t>
                      </a:r>
                      <a:endParaRPr sz="1000" u="none" cap="none" strike="noStrike"/>
                    </a:p>
                    <a:p>
                      <a:pPr indent="0" lvl="0" marL="0" rtl="0" algn="ctr">
                        <a:spcBef>
                          <a:spcPts val="0"/>
                        </a:spcBef>
                        <a:spcAft>
                          <a:spcPts val="0"/>
                        </a:spcAft>
                        <a:buClr>
                          <a:schemeClr val="dk1"/>
                        </a:buClr>
                        <a:buSzPts val="1900"/>
                        <a:buFont typeface="Arial"/>
                        <a:buNone/>
                      </a:pPr>
                      <a:r>
                        <a:rPr lang="en" sz="1600">
                          <a:solidFill>
                            <a:schemeClr val="dk1"/>
                          </a:solidFill>
                        </a:rPr>
                        <a:t>d</a:t>
                      </a:r>
                      <a:endParaRPr sz="1000"/>
                    </a:p>
                  </a:txBody>
                  <a:tcPr marT="121900" marB="121900" marR="91425" marL="91425"/>
                </a:tc>
              </a:tr>
            </a:tbl>
          </a:graphicData>
        </a:graphic>
      </p:graphicFrame>
      <p:sp>
        <p:nvSpPr>
          <p:cNvPr id="134" name="Google Shape;134;p25"/>
          <p:cNvSpPr txBox="1"/>
          <p:nvPr/>
        </p:nvSpPr>
        <p:spPr>
          <a:xfrm>
            <a:off x="220100" y="3014750"/>
            <a:ext cx="6606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
              <a:t>count</a:t>
            </a:r>
            <a:endParaRPr/>
          </a:p>
        </p:txBody>
      </p:sp>
      <p:cxnSp>
        <p:nvCxnSpPr>
          <p:cNvPr id="135" name="Google Shape;135;p25"/>
          <p:cNvCxnSpPr/>
          <p:nvPr/>
        </p:nvCxnSpPr>
        <p:spPr>
          <a:xfrm flipH="1">
            <a:off x="4460125" y="3588775"/>
            <a:ext cx="8700" cy="381000"/>
          </a:xfrm>
          <a:prstGeom prst="straightConnector1">
            <a:avLst/>
          </a:prstGeom>
          <a:noFill/>
          <a:ln cap="flat" cmpd="sng" w="9525">
            <a:solidFill>
              <a:srgbClr val="000000"/>
            </a:solidFill>
            <a:prstDash val="solid"/>
            <a:round/>
            <a:headEnd len="med" w="med" type="none"/>
            <a:tailEnd len="med" w="med" type="triangle"/>
          </a:ln>
        </p:spPr>
      </p:cxnSp>
      <p:cxnSp>
        <p:nvCxnSpPr>
          <p:cNvPr id="136" name="Google Shape;136;p25"/>
          <p:cNvCxnSpPr/>
          <p:nvPr/>
        </p:nvCxnSpPr>
        <p:spPr>
          <a:xfrm flipH="1">
            <a:off x="5031825" y="3588775"/>
            <a:ext cx="8700" cy="381000"/>
          </a:xfrm>
          <a:prstGeom prst="straightConnector1">
            <a:avLst/>
          </a:prstGeom>
          <a:noFill/>
          <a:ln cap="flat" cmpd="sng" w="9525">
            <a:solidFill>
              <a:srgbClr val="000000"/>
            </a:solidFill>
            <a:prstDash val="solid"/>
            <a:round/>
            <a:headEnd len="med" w="med" type="none"/>
            <a:tailEnd len="med" w="med" type="triangle"/>
          </a:ln>
        </p:spPr>
      </p:cxnSp>
      <p:cxnSp>
        <p:nvCxnSpPr>
          <p:cNvPr id="137" name="Google Shape;137;p25"/>
          <p:cNvCxnSpPr/>
          <p:nvPr/>
        </p:nvCxnSpPr>
        <p:spPr>
          <a:xfrm flipH="1">
            <a:off x="5538050" y="3588775"/>
            <a:ext cx="8700" cy="381000"/>
          </a:xfrm>
          <a:prstGeom prst="straightConnector1">
            <a:avLst/>
          </a:prstGeom>
          <a:noFill/>
          <a:ln cap="flat" cmpd="sng" w="9525">
            <a:solidFill>
              <a:srgbClr val="000000"/>
            </a:solidFill>
            <a:prstDash val="solid"/>
            <a:round/>
            <a:headEnd len="med" w="med" type="none"/>
            <a:tailEnd len="med" w="med" type="triangle"/>
          </a:ln>
        </p:spPr>
      </p:cxnSp>
      <p:sp>
        <p:nvSpPr>
          <p:cNvPr id="138" name="Google Shape;138;p25"/>
          <p:cNvSpPr txBox="1"/>
          <p:nvPr/>
        </p:nvSpPr>
        <p:spPr>
          <a:xfrm>
            <a:off x="389250" y="5805000"/>
            <a:ext cx="76596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Note: Turning off all bits can also be accomplished this way (</a:t>
            </a:r>
            <a:r>
              <a:rPr b="1" lang="en">
                <a:solidFill>
                  <a:srgbClr val="2A00FF"/>
                </a:solidFill>
              </a:rPr>
              <a:t>WHY?</a:t>
            </a:r>
            <a:r>
              <a:rPr lang="en"/>
              <a:t>):</a:t>
            </a:r>
            <a:endParaRPr/>
          </a:p>
          <a:p>
            <a:pPr indent="0" lvl="0" marL="457200" rtl="0" algn="l">
              <a:lnSpc>
                <a:spcPct val="115000"/>
              </a:lnSpc>
              <a:spcBef>
                <a:spcPts val="0"/>
              </a:spcBef>
              <a:spcAft>
                <a:spcPts val="0"/>
              </a:spcAft>
              <a:buNone/>
            </a:pPr>
            <a:r>
              <a:rPr lang="en">
                <a:solidFill>
                  <a:schemeClr val="dk1"/>
                </a:solidFill>
                <a:latin typeface="Courier New"/>
                <a:ea typeface="Courier New"/>
                <a:cs typeface="Courier New"/>
                <a:sym typeface="Courier New"/>
              </a:rPr>
              <a:t>GPIOx-&gt;ODR &amp;= ~(0x7 &lt;&lt; 5);</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42" name="Shape 142"/>
        <p:cNvGrpSpPr/>
        <p:nvPr/>
      </p:nvGrpSpPr>
      <p:grpSpPr>
        <a:xfrm>
          <a:off x="0" y="0"/>
          <a:ext cx="0" cy="0"/>
          <a:chOff x="0" y="0"/>
          <a:chExt cx="0" cy="0"/>
        </a:xfrm>
      </p:grpSpPr>
      <p:sp>
        <p:nvSpPr>
          <p:cNvPr id="143" name="Google Shape;143;p26"/>
          <p:cNvSpPr txBox="1"/>
          <p:nvPr>
            <p:ph type="title"/>
          </p:nvPr>
        </p:nvSpPr>
        <p:spPr>
          <a:xfrm>
            <a:off x="311700" y="258400"/>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Solution </a:t>
            </a:r>
            <a:r>
              <a:rPr lang="en" sz="1800">
                <a:solidFill>
                  <a:schemeClr val="dk2"/>
                </a:solidFill>
              </a:rPr>
              <a:t>blinkyCNT.c: create a counter</a:t>
            </a:r>
            <a:endParaRPr/>
          </a:p>
          <a:p>
            <a:pPr indent="0" lvl="0" marL="0" rtl="0" algn="l">
              <a:spcBef>
                <a:spcPts val="0"/>
              </a:spcBef>
              <a:spcAft>
                <a:spcPts val="0"/>
              </a:spcAft>
              <a:buNone/>
            </a:pPr>
            <a:r>
              <a:t/>
            </a:r>
            <a:endParaRPr/>
          </a:p>
        </p:txBody>
      </p:sp>
      <p:sp>
        <p:nvSpPr>
          <p:cNvPr id="144" name="Google Shape;144;p26"/>
          <p:cNvSpPr txBox="1"/>
          <p:nvPr>
            <p:ph idx="1" type="body"/>
          </p:nvPr>
        </p:nvSpPr>
        <p:spPr>
          <a:xfrm>
            <a:off x="311700" y="1151400"/>
            <a:ext cx="8520600" cy="4555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100">
                <a:solidFill>
                  <a:srgbClr val="7F0055"/>
                </a:solidFill>
                <a:highlight>
                  <a:schemeClr val="lt1"/>
                </a:highlight>
                <a:latin typeface="Courier New"/>
                <a:ea typeface="Courier New"/>
                <a:cs typeface="Courier New"/>
                <a:sym typeface="Courier New"/>
              </a:rPr>
              <a:t>#include </a:t>
            </a:r>
            <a:r>
              <a:rPr b="1" lang="en" sz="1100">
                <a:solidFill>
                  <a:srgbClr val="2A00FF"/>
                </a:solidFill>
                <a:highlight>
                  <a:schemeClr val="lt1"/>
                </a:highlight>
                <a:latin typeface="Courier New"/>
                <a:ea typeface="Courier New"/>
                <a:cs typeface="Courier New"/>
                <a:sym typeface="Courier New"/>
              </a:rPr>
              <a:t>"</a:t>
            </a:r>
            <a:r>
              <a:rPr b="1" lang="en" sz="1100">
                <a:solidFill>
                  <a:srgbClr val="3F3FBF"/>
                </a:solidFill>
                <a:highlight>
                  <a:schemeClr val="lt1"/>
                </a:highlight>
                <a:latin typeface="Courier New"/>
                <a:ea typeface="Courier New"/>
                <a:cs typeface="Courier New"/>
                <a:sym typeface="Courier New"/>
              </a:rPr>
              <a:t>ES28.h</a:t>
            </a:r>
            <a:r>
              <a:rPr b="1" lang="en" sz="1100">
                <a:solidFill>
                  <a:srgbClr val="2A00FF"/>
                </a:solidFill>
                <a:highlight>
                  <a:schemeClr val="lt1"/>
                </a:highlight>
                <a:latin typeface="Courier New"/>
                <a:ea typeface="Courier New"/>
                <a:cs typeface="Courier New"/>
                <a:sym typeface="Courier New"/>
              </a:rPr>
              <a:t>"</a:t>
            </a:r>
            <a:endParaRPr b="1" sz="1100">
              <a:solidFill>
                <a:srgbClr val="7F0055"/>
              </a:solidFill>
              <a:highlight>
                <a:schemeClr val="lt1"/>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GPIOAEN        (1U&lt;&lt;0)        </a:t>
            </a:r>
            <a:r>
              <a:rPr b="1" lang="en" sz="1100">
                <a:solidFill>
                  <a:srgbClr val="3F7F59"/>
                </a:solidFill>
                <a:highlight>
                  <a:srgbClr val="FFFFFF"/>
                </a:highlight>
                <a:latin typeface="Courier New"/>
                <a:ea typeface="Courier New"/>
                <a:cs typeface="Courier New"/>
                <a:sym typeface="Courier New"/>
              </a:rPr>
              <a:t>// bit 0 enables clock for GPIOA</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3F7F59"/>
                </a:solidFill>
                <a:highlight>
                  <a:srgbClr val="FFFFFF"/>
                </a:highlight>
                <a:latin typeface="Courier New"/>
                <a:ea typeface="Courier New"/>
                <a:cs typeface="Courier New"/>
                <a:sym typeface="Courier New"/>
              </a:rPr>
              <a:t>// LEDs on D13, D12, D11 (PA 5, 6, 7)</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LED1_BIT        5</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LED_PIN1        (1U&lt;&lt;LED1_BIT)        	 </a:t>
            </a:r>
            <a:r>
              <a:rPr b="1" lang="en" sz="1100">
                <a:solidFill>
                  <a:srgbClr val="3F7F59"/>
                </a:solidFill>
                <a:highlight>
                  <a:srgbClr val="FFFFFF"/>
                </a:highlight>
                <a:latin typeface="Courier New"/>
                <a:ea typeface="Courier New"/>
                <a:cs typeface="Courier New"/>
                <a:sym typeface="Courier New"/>
              </a:rPr>
              <a:t>// Bit 5 of Port A is wired to the LED1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LED_PIN2        (1U&lt;&lt;(LED1_BIT+1))        </a:t>
            </a:r>
            <a:r>
              <a:rPr b="1" lang="en" sz="1100">
                <a:solidFill>
                  <a:srgbClr val="3F7F59"/>
                </a:solidFill>
                <a:highlight>
                  <a:srgbClr val="FFFFFF"/>
                </a:highlight>
                <a:latin typeface="Courier New"/>
                <a:ea typeface="Courier New"/>
                <a:cs typeface="Courier New"/>
                <a:sym typeface="Courier New"/>
              </a:rPr>
              <a:t>// Bit 6 of Port A is wired to the LED2</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LED_PIN3        (1U&lt;&lt;(LED1_BIT+2))        </a:t>
            </a:r>
            <a:r>
              <a:rPr b="1" lang="en" sz="1100">
                <a:solidFill>
                  <a:srgbClr val="3F7F59"/>
                </a:solidFill>
                <a:highlight>
                  <a:srgbClr val="FFFFFF"/>
                </a:highlight>
                <a:latin typeface="Courier New"/>
                <a:ea typeface="Courier New"/>
                <a:cs typeface="Courier New"/>
                <a:sym typeface="Courier New"/>
              </a:rPr>
              <a:t>// Bit 7 of Port A is wired to the LED3</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#define LED_ALL         (LED_PIN1 | LED_PIN2 | LED_PIN3)</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main</a:t>
            </a:r>
            <a:r>
              <a:rPr b="1"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RCC-&gt;IOPENR |= GPIOAEN;        			</a:t>
            </a:r>
            <a:r>
              <a:rPr b="1" lang="en" sz="1100">
                <a:solidFill>
                  <a:srgbClr val="3F7F59"/>
                </a:solidFill>
                <a:highlight>
                  <a:srgbClr val="FFFFFF"/>
                </a:highlight>
                <a:latin typeface="Courier New"/>
                <a:ea typeface="Courier New"/>
                <a:cs typeface="Courier New"/>
                <a:sym typeface="Courier New"/>
              </a:rPr>
              <a:t>// Enable clock access to GPIOA</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9"/>
                </a:solidFill>
                <a:highlight>
                  <a:srgbClr val="FFFFFF"/>
                </a:highlight>
                <a:latin typeface="Courier New"/>
                <a:ea typeface="Courier New"/>
                <a:cs typeface="Courier New"/>
                <a:sym typeface="Courier New"/>
              </a:rPr>
              <a:t>// Configure PA5, 6, 7 as output pin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GPIOA-&gt;MODER |= (1U&lt;&lt;10) | (1U&lt;&lt;12) | (1U&lt;&lt; 14);</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GPIOA-&gt;MODER &amp;= ~(1U&lt;&lt;11) &amp; ~(1U&lt;&lt;13) &amp; ~(1U&lt;&lt;15);</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for</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unsigned</a:t>
            </a:r>
            <a:r>
              <a:rPr b="1" lang="en" sz="1100">
                <a:solidFill>
                  <a:schemeClr val="dk1"/>
                </a:solidFill>
                <a:highlight>
                  <a:srgbClr val="FFFFFF"/>
                </a:highlight>
                <a:latin typeface="Courier New"/>
                <a:ea typeface="Courier New"/>
                <a:cs typeface="Courier New"/>
                <a:sym typeface="Courier New"/>
              </a:rPr>
              <a:t> count = 0; count&lt;8; count++){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GPIOA-&gt;ODR &amp;= ~(LED_ALL); 			 </a:t>
            </a:r>
            <a:r>
              <a:rPr b="1" lang="en" sz="1100">
                <a:solidFill>
                  <a:srgbClr val="3F7F59"/>
                </a:solidFill>
                <a:highlight>
                  <a:srgbClr val="FFFFFF"/>
                </a:highlight>
                <a:latin typeface="Courier New"/>
                <a:ea typeface="Courier New"/>
                <a:cs typeface="Courier New"/>
                <a:sym typeface="Courier New"/>
              </a:rPr>
              <a:t>//turn all LEDs off</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GPIOA-&gt;ODR |= count&lt;&lt;LED1_BIT;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chemeClr val="dk1"/>
                </a:solidFill>
                <a:highlight>
                  <a:schemeClr val="lt1"/>
                </a:highlight>
                <a:latin typeface="Courier New"/>
                <a:ea typeface="Courier New"/>
                <a:cs typeface="Courier New"/>
                <a:sym typeface="Courier New"/>
              </a:rPr>
              <a:t>delay_ms(500);                        </a:t>
            </a:r>
            <a:r>
              <a:rPr b="1" lang="en" sz="1100">
                <a:solidFill>
                  <a:srgbClr val="3F7F59"/>
                </a:solidFill>
                <a:highlight>
                  <a:schemeClr val="lt1"/>
                </a:highlight>
                <a:latin typeface="Courier New"/>
                <a:ea typeface="Courier New"/>
                <a:cs typeface="Courier New"/>
                <a:sym typeface="Courier New"/>
              </a:rPr>
              <a:t>// kill some time</a:t>
            </a:r>
            <a:endParaRPr b="1" sz="1100">
              <a:solidFill>
                <a:srgbClr val="7F0055"/>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                   				 </a:t>
            </a:r>
            <a:r>
              <a:rPr b="1" lang="en" sz="1100">
                <a:solidFill>
                  <a:srgbClr val="3F7F59"/>
                </a:solidFill>
                <a:highlight>
                  <a:srgbClr val="FFFFFF"/>
                </a:highlight>
                <a:latin typeface="Courier New"/>
                <a:ea typeface="Courier New"/>
                <a:cs typeface="Courier New"/>
                <a:sym typeface="Courier New"/>
              </a:rPr>
              <a:t>// never reached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endParaRPr>
          </a:p>
          <a:p>
            <a:pPr indent="0" lvl="0" marL="0" rtl="0" algn="l">
              <a:lnSpc>
                <a:spcPct val="100000"/>
              </a:lnSpc>
              <a:spcBef>
                <a:spcPts val="0"/>
              </a:spcBef>
              <a:spcAft>
                <a:spcPts val="0"/>
              </a:spcAft>
              <a:buNone/>
            </a:pPr>
            <a:r>
              <a:t/>
            </a:r>
            <a:endParaRPr sz="1100">
              <a:solidFill>
                <a:srgbClr val="7F0055"/>
              </a:solidFill>
              <a:highlight>
                <a:srgbClr val="FFFFFF"/>
              </a:highlight>
              <a:latin typeface="Courier New"/>
              <a:ea typeface="Courier New"/>
              <a:cs typeface="Courier New"/>
              <a:sym typeface="Courier New"/>
            </a:endParaRPr>
          </a:p>
        </p:txBody>
      </p:sp>
      <p:sp>
        <p:nvSpPr>
          <p:cNvPr id="145" name="Google Shape;145;p26"/>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7"/>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Watching signals in time</a:t>
            </a:r>
            <a:endParaRPr/>
          </a:p>
          <a:p>
            <a:pPr indent="0" lvl="0" marL="0" rtl="0" algn="ctr">
              <a:spcBef>
                <a:spcPts val="0"/>
              </a:spcBef>
              <a:spcAft>
                <a:spcPts val="0"/>
              </a:spcAft>
              <a:buNone/>
            </a:pPr>
            <a:r>
              <a:rPr lang="en"/>
              <a:t>(oscilloscope)</a:t>
            </a:r>
            <a:endParaRPr/>
          </a:p>
        </p:txBody>
      </p:sp>
      <p:sp>
        <p:nvSpPr>
          <p:cNvPr id="151" name="Google Shape;151;p27"/>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id="156" name="Google Shape;156;p28" title="s-l1600.png"/>
          <p:cNvPicPr preferRelativeResize="0"/>
          <p:nvPr/>
        </p:nvPicPr>
        <p:blipFill>
          <a:blip r:embed="rId3">
            <a:alphaModFix/>
          </a:blip>
          <a:stretch>
            <a:fillRect/>
          </a:stretch>
        </p:blipFill>
        <p:spPr>
          <a:xfrm rot="2392371">
            <a:off x="1073825" y="1419549"/>
            <a:ext cx="6738901" cy="6045901"/>
          </a:xfrm>
          <a:prstGeom prst="rect">
            <a:avLst/>
          </a:prstGeom>
          <a:noFill/>
          <a:ln>
            <a:noFill/>
          </a:ln>
        </p:spPr>
      </p:pic>
      <p:sp>
        <p:nvSpPr>
          <p:cNvPr id="157" name="Google Shape;157;p2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Making measurements: Analog Discovery 2</a:t>
            </a:r>
            <a:endParaRPr/>
          </a:p>
        </p:txBody>
      </p:sp>
      <p:sp>
        <p:nvSpPr>
          <p:cNvPr id="158" name="Google Shape;158;p28"/>
          <p:cNvSpPr txBox="1"/>
          <p:nvPr>
            <p:ph idx="1" type="body"/>
          </p:nvPr>
        </p:nvSpPr>
        <p:spPr>
          <a:xfrm>
            <a:off x="311700" y="1536633"/>
            <a:ext cx="8520600" cy="9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“AD2” contains oscilloscope, waveform generator, and other test tools.  </a:t>
            </a:r>
            <a:endParaRPr/>
          </a:p>
          <a:p>
            <a:pPr indent="0" lvl="0" marL="0" rtl="0" algn="l">
              <a:spcBef>
                <a:spcPts val="1600"/>
              </a:spcBef>
              <a:spcAft>
                <a:spcPts val="1600"/>
              </a:spcAft>
              <a:buNone/>
            </a:pPr>
            <a:r>
              <a:t/>
            </a:r>
            <a:endParaRPr/>
          </a:p>
        </p:txBody>
      </p:sp>
      <p:sp>
        <p:nvSpPr>
          <p:cNvPr id="159" name="Google Shape;159;p28"/>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0" name="Google Shape;160;p28"/>
          <p:cNvSpPr txBox="1"/>
          <p:nvPr/>
        </p:nvSpPr>
        <p:spPr>
          <a:xfrm>
            <a:off x="5930000" y="2277675"/>
            <a:ext cx="3037200" cy="41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USB connection to laptop</a:t>
            </a:r>
            <a:endParaRPr i="1" sz="1800">
              <a:solidFill>
                <a:srgbClr val="FF0000"/>
              </a:solidFill>
            </a:endParaRPr>
          </a:p>
        </p:txBody>
      </p:sp>
      <p:sp>
        <p:nvSpPr>
          <p:cNvPr id="161" name="Google Shape;161;p28"/>
          <p:cNvSpPr txBox="1"/>
          <p:nvPr/>
        </p:nvSpPr>
        <p:spPr>
          <a:xfrm>
            <a:off x="4095650" y="5555983"/>
            <a:ext cx="2849100" cy="41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Input/output connectors</a:t>
            </a:r>
            <a:endParaRPr i="1" sz="1800">
              <a:solidFill>
                <a:srgbClr val="FF0000"/>
              </a:solidFill>
            </a:endParaRPr>
          </a:p>
        </p:txBody>
      </p:sp>
      <p:cxnSp>
        <p:nvCxnSpPr>
          <p:cNvPr id="162" name="Google Shape;162;p28"/>
          <p:cNvCxnSpPr/>
          <p:nvPr/>
        </p:nvCxnSpPr>
        <p:spPr>
          <a:xfrm rot="10800000">
            <a:off x="4139725" y="4847025"/>
            <a:ext cx="486300" cy="758700"/>
          </a:xfrm>
          <a:prstGeom prst="straightConnector1">
            <a:avLst/>
          </a:prstGeom>
          <a:noFill/>
          <a:ln cap="flat" cmpd="sng" w="19050">
            <a:solidFill>
              <a:srgbClr val="FF0000"/>
            </a:solidFill>
            <a:prstDash val="solid"/>
            <a:round/>
            <a:headEnd len="med" w="med" type="none"/>
            <a:tailEnd len="med" w="med" type="triangle"/>
          </a:ln>
        </p:spPr>
      </p:cxnSp>
      <p:sp>
        <p:nvSpPr>
          <p:cNvPr id="163" name="Google Shape;163;p28"/>
          <p:cNvSpPr txBox="1"/>
          <p:nvPr/>
        </p:nvSpPr>
        <p:spPr>
          <a:xfrm>
            <a:off x="600175" y="3446100"/>
            <a:ext cx="1756500" cy="4104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800">
                <a:solidFill>
                  <a:srgbClr val="FF0000"/>
                </a:solidFill>
              </a:rPr>
              <a:t>Flying leads</a:t>
            </a:r>
            <a:endParaRPr i="1" sz="1800">
              <a:solidFill>
                <a:srgbClr val="FF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9"/>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AD2</a:t>
            </a:r>
            <a:r>
              <a:rPr lang="en"/>
              <a:t> connector pinout</a:t>
            </a:r>
            <a:endParaRPr/>
          </a:p>
        </p:txBody>
      </p:sp>
      <p:sp>
        <p:nvSpPr>
          <p:cNvPr id="169" name="Google Shape;169;p29"/>
          <p:cNvSpPr txBox="1"/>
          <p:nvPr>
            <p:ph idx="1" type="body"/>
          </p:nvPr>
        </p:nvSpPr>
        <p:spPr>
          <a:xfrm>
            <a:off x="311700" y="1509700"/>
            <a:ext cx="8520600" cy="6591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Use “flying leads” to connect AD2 to Nucleo and/or breadboard.</a:t>
            </a:r>
            <a:endParaRPr/>
          </a:p>
        </p:txBody>
      </p:sp>
      <p:sp>
        <p:nvSpPr>
          <p:cNvPr id="170" name="Google Shape;170;p29"/>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71" name="Google Shape;171;p29"/>
          <p:cNvPicPr preferRelativeResize="0"/>
          <p:nvPr/>
        </p:nvPicPr>
        <p:blipFill>
          <a:blip r:embed="rId3">
            <a:alphaModFix/>
          </a:blip>
          <a:stretch>
            <a:fillRect/>
          </a:stretch>
        </p:blipFill>
        <p:spPr>
          <a:xfrm>
            <a:off x="2412025" y="2321633"/>
            <a:ext cx="4144849" cy="4282701"/>
          </a:xfrm>
          <a:prstGeom prst="rect">
            <a:avLst/>
          </a:prstGeom>
          <a:noFill/>
          <a:ln>
            <a:noFill/>
          </a:ln>
        </p:spPr>
      </p:pic>
      <p:sp>
        <p:nvSpPr>
          <p:cNvPr id="172" name="Google Shape;172;p29"/>
          <p:cNvSpPr/>
          <p:nvPr/>
        </p:nvSpPr>
        <p:spPr>
          <a:xfrm>
            <a:off x="2494825" y="3278000"/>
            <a:ext cx="621000" cy="2379300"/>
          </a:xfrm>
          <a:prstGeom prst="rect">
            <a:avLst/>
          </a:prstGeom>
          <a:noFill/>
          <a:ln cap="flat" cmpd="sng" w="3810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29"/>
          <p:cNvSpPr txBox="1"/>
          <p:nvPr/>
        </p:nvSpPr>
        <p:spPr>
          <a:xfrm>
            <a:off x="395425" y="4022150"/>
            <a:ext cx="2016600" cy="7140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800">
                <a:solidFill>
                  <a:srgbClr val="FF0000"/>
                </a:solidFill>
              </a:rPr>
              <a:t>Two analog </a:t>
            </a:r>
            <a:endParaRPr i="1" sz="1800">
              <a:solidFill>
                <a:srgbClr val="FF0000"/>
              </a:solidFill>
            </a:endParaRPr>
          </a:p>
          <a:p>
            <a:pPr indent="0" lvl="0" marL="0" rtl="0" algn="r">
              <a:spcBef>
                <a:spcPts val="0"/>
              </a:spcBef>
              <a:spcAft>
                <a:spcPts val="0"/>
              </a:spcAft>
              <a:buNone/>
            </a:pPr>
            <a:r>
              <a:rPr i="1" lang="en" sz="1800">
                <a:solidFill>
                  <a:srgbClr val="FF0000"/>
                </a:solidFill>
              </a:rPr>
              <a:t>input channels </a:t>
            </a:r>
            <a:endParaRPr i="1" sz="1800">
              <a:solidFill>
                <a:srgbClr val="FF0000"/>
              </a:solidFill>
            </a:endParaRPr>
          </a:p>
        </p:txBody>
      </p:sp>
      <p:sp>
        <p:nvSpPr>
          <p:cNvPr id="174" name="Google Shape;174;p29"/>
          <p:cNvSpPr txBox="1"/>
          <p:nvPr/>
        </p:nvSpPr>
        <p:spPr>
          <a:xfrm>
            <a:off x="6443850" y="4022150"/>
            <a:ext cx="2385900" cy="714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We’ll get to the other I/O channels later</a:t>
            </a:r>
            <a:r>
              <a:rPr i="1" lang="en" sz="1800">
                <a:solidFill>
                  <a:srgbClr val="FF0000"/>
                </a:solidFill>
              </a:rPr>
              <a:t> </a:t>
            </a:r>
            <a:endParaRPr i="1" sz="1800">
              <a:solidFill>
                <a:srgbClr val="FF0000"/>
              </a:solidFill>
            </a:endParaRPr>
          </a:p>
        </p:txBody>
      </p:sp>
      <p:sp>
        <p:nvSpPr>
          <p:cNvPr id="175" name="Google Shape;175;p29"/>
          <p:cNvSpPr txBox="1"/>
          <p:nvPr/>
        </p:nvSpPr>
        <p:spPr>
          <a:xfrm>
            <a:off x="311700" y="5201825"/>
            <a:ext cx="1671300" cy="1015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i="1" lang="en" sz="1800">
                <a:solidFill>
                  <a:srgbClr val="0000FF"/>
                </a:solidFill>
              </a:rPr>
              <a:t>Minus leads have a white stripe on them</a:t>
            </a:r>
            <a:endParaRPr>
              <a:solidFill>
                <a:srgbClr val="0000FF"/>
              </a:solidFill>
            </a:endParaRPr>
          </a:p>
        </p:txBody>
      </p:sp>
      <p:sp>
        <p:nvSpPr>
          <p:cNvPr id="176" name="Google Shape;176;p29"/>
          <p:cNvSpPr/>
          <p:nvPr/>
        </p:nvSpPr>
        <p:spPr>
          <a:xfrm>
            <a:off x="2368625" y="5026450"/>
            <a:ext cx="747300" cy="714000"/>
          </a:xfrm>
          <a:prstGeom prst="roundRect">
            <a:avLst>
              <a:gd fmla="val 16667" name="adj"/>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77" name="Google Shape;177;p29"/>
          <p:cNvCxnSpPr>
            <a:stCxn id="175" idx="3"/>
            <a:endCxn id="176" idx="1"/>
          </p:cNvCxnSpPr>
          <p:nvPr/>
        </p:nvCxnSpPr>
        <p:spPr>
          <a:xfrm flipH="1" rot="10800000">
            <a:off x="1983000" y="5383325"/>
            <a:ext cx="385500" cy="326400"/>
          </a:xfrm>
          <a:prstGeom prst="straightConnector1">
            <a:avLst/>
          </a:prstGeom>
          <a:noFill/>
          <a:ln cap="flat" cmpd="sng" w="28575">
            <a:solidFill>
              <a:srgbClr val="0000FF"/>
            </a:solidFill>
            <a:prstDash val="solid"/>
            <a:round/>
            <a:headEnd len="med" w="med" type="none"/>
            <a:tailEnd len="med" w="med" type="triangle"/>
          </a:ln>
        </p:spPr>
      </p:cxnSp>
      <p:sp>
        <p:nvSpPr>
          <p:cNvPr id="178" name="Google Shape;178;p29"/>
          <p:cNvSpPr txBox="1"/>
          <p:nvPr/>
        </p:nvSpPr>
        <p:spPr>
          <a:xfrm>
            <a:off x="243775" y="2359175"/>
            <a:ext cx="16713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800">
                <a:solidFill>
                  <a:srgbClr val="0000FF"/>
                </a:solidFill>
              </a:rPr>
              <a:t>Plus </a:t>
            </a:r>
            <a:r>
              <a:rPr i="1" lang="en" sz="1800">
                <a:solidFill>
                  <a:srgbClr val="0000FF"/>
                </a:solidFill>
              </a:rPr>
              <a:t>leads are solid colored</a:t>
            </a:r>
            <a:endParaRPr>
              <a:solidFill>
                <a:srgbClr val="0000FF"/>
              </a:solidFill>
            </a:endParaRPr>
          </a:p>
        </p:txBody>
      </p:sp>
      <p:sp>
        <p:nvSpPr>
          <p:cNvPr id="179" name="Google Shape;179;p29"/>
          <p:cNvSpPr/>
          <p:nvPr/>
        </p:nvSpPr>
        <p:spPr>
          <a:xfrm>
            <a:off x="2431675" y="3134000"/>
            <a:ext cx="747300" cy="714000"/>
          </a:xfrm>
          <a:prstGeom prst="roundRect">
            <a:avLst>
              <a:gd fmla="val 16667" name="adj"/>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0" name="Google Shape;180;p29"/>
          <p:cNvCxnSpPr>
            <a:stCxn id="178" idx="3"/>
            <a:endCxn id="179" idx="1"/>
          </p:cNvCxnSpPr>
          <p:nvPr/>
        </p:nvCxnSpPr>
        <p:spPr>
          <a:xfrm>
            <a:off x="1915075" y="2728625"/>
            <a:ext cx="516600" cy="762300"/>
          </a:xfrm>
          <a:prstGeom prst="straightConnector1">
            <a:avLst/>
          </a:prstGeom>
          <a:noFill/>
          <a:ln cap="flat" cmpd="sng" w="28575">
            <a:solidFill>
              <a:srgbClr val="0000FF"/>
            </a:solidFill>
            <a:prstDash val="solid"/>
            <a:round/>
            <a:headEnd len="med" w="med" type="none"/>
            <a:tailEnd len="med" w="med" type="triangle"/>
          </a:ln>
        </p:spPr>
      </p:cxn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30"/>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Wire the AD2 to your Lab 1 setup</a:t>
            </a:r>
            <a:endParaRPr/>
          </a:p>
        </p:txBody>
      </p:sp>
      <p:sp>
        <p:nvSpPr>
          <p:cNvPr id="186" name="Google Shape;186;p30"/>
          <p:cNvSpPr txBox="1"/>
          <p:nvPr>
            <p:ph idx="1" type="body"/>
          </p:nvPr>
        </p:nvSpPr>
        <p:spPr>
          <a:xfrm>
            <a:off x="311700" y="1204900"/>
            <a:ext cx="8520600" cy="184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Load BlinkySEQ onto your Nucleo.</a:t>
            </a:r>
            <a:endParaRPr sz="1600"/>
          </a:p>
          <a:p>
            <a:pPr indent="0" lvl="0" marL="0" rtl="0" algn="l">
              <a:spcBef>
                <a:spcPts val="1600"/>
              </a:spcBef>
              <a:spcAft>
                <a:spcPts val="1600"/>
              </a:spcAft>
              <a:buNone/>
            </a:pPr>
            <a:r>
              <a:rPr lang="en" sz="1600"/>
              <a:t>Use “flying leads” to connect AD2 to your breadboard:  “–” leads to ground, “+” leads to the LED anodes.</a:t>
            </a:r>
            <a:endParaRPr sz="1600"/>
          </a:p>
        </p:txBody>
      </p:sp>
      <p:sp>
        <p:nvSpPr>
          <p:cNvPr id="187" name="Google Shape;187;p30"/>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88" name="Google Shape;188;p30" title="LED_x3_AD2_bb.png"/>
          <p:cNvPicPr preferRelativeResize="0"/>
          <p:nvPr/>
        </p:nvPicPr>
        <p:blipFill>
          <a:blip r:embed="rId3">
            <a:alphaModFix/>
          </a:blip>
          <a:stretch>
            <a:fillRect/>
          </a:stretch>
        </p:blipFill>
        <p:spPr>
          <a:xfrm>
            <a:off x="2001625" y="2663675"/>
            <a:ext cx="4845952" cy="39329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pic>
        <p:nvPicPr>
          <p:cNvPr id="193" name="Google Shape;193;p31" title="AD2_BlinkySeq.png"/>
          <p:cNvPicPr preferRelativeResize="0"/>
          <p:nvPr/>
        </p:nvPicPr>
        <p:blipFill>
          <a:blip r:embed="rId3">
            <a:alphaModFix/>
          </a:blip>
          <a:stretch>
            <a:fillRect/>
          </a:stretch>
        </p:blipFill>
        <p:spPr>
          <a:xfrm>
            <a:off x="1015250" y="1549292"/>
            <a:ext cx="7539227" cy="4994540"/>
          </a:xfrm>
          <a:prstGeom prst="rect">
            <a:avLst/>
          </a:prstGeom>
          <a:noFill/>
          <a:ln>
            <a:noFill/>
          </a:ln>
        </p:spPr>
      </p:pic>
      <p:cxnSp>
        <p:nvCxnSpPr>
          <p:cNvPr id="194" name="Google Shape;194;p31"/>
          <p:cNvCxnSpPr/>
          <p:nvPr/>
        </p:nvCxnSpPr>
        <p:spPr>
          <a:xfrm>
            <a:off x="3092761" y="2482704"/>
            <a:ext cx="0" cy="3589200"/>
          </a:xfrm>
          <a:prstGeom prst="straightConnector1">
            <a:avLst/>
          </a:prstGeom>
          <a:noFill/>
          <a:ln cap="flat" cmpd="sng" w="28575">
            <a:solidFill>
              <a:srgbClr val="FF0000"/>
            </a:solidFill>
            <a:prstDash val="dot"/>
            <a:round/>
            <a:headEnd len="med" w="med" type="none"/>
            <a:tailEnd len="med" w="med" type="none"/>
          </a:ln>
        </p:spPr>
      </p:cxnSp>
      <p:sp>
        <p:nvSpPr>
          <p:cNvPr id="195" name="Google Shape;195;p31"/>
          <p:cNvSpPr txBox="1"/>
          <p:nvPr>
            <p:ph type="title"/>
          </p:nvPr>
        </p:nvSpPr>
        <p:spPr>
          <a:xfrm>
            <a:off x="524563" y="307845"/>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Open Waveforms, select "Scope".</a:t>
            </a:r>
            <a:endParaRPr/>
          </a:p>
        </p:txBody>
      </p:sp>
      <p:sp>
        <p:nvSpPr>
          <p:cNvPr id="196" name="Google Shape;196;p31"/>
          <p:cNvSpPr txBox="1"/>
          <p:nvPr>
            <p:ph type="title"/>
          </p:nvPr>
        </p:nvSpPr>
        <p:spPr>
          <a:xfrm>
            <a:off x="390300" y="961817"/>
            <a:ext cx="8520600" cy="76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000"/>
              <a:t>Observe two channels with Waveforms</a:t>
            </a:r>
            <a:endParaRPr sz="2000"/>
          </a:p>
        </p:txBody>
      </p:sp>
      <p:sp>
        <p:nvSpPr>
          <p:cNvPr id="197" name="Google Shape;197;p31"/>
          <p:cNvSpPr txBox="1"/>
          <p:nvPr/>
        </p:nvSpPr>
        <p:spPr>
          <a:xfrm>
            <a:off x="1999200" y="2678725"/>
            <a:ext cx="4963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rPr>
              <a:t>LED ON:</a:t>
            </a:r>
            <a:r>
              <a:rPr lang="en">
                <a:solidFill>
                  <a:schemeClr val="dk1"/>
                </a:solidFill>
              </a:rPr>
              <a:t>           1          2         3           1</a:t>
            </a:r>
            <a:endParaRPr>
              <a:solidFill>
                <a:schemeClr val="dk1"/>
              </a:solidFill>
            </a:endParaRPr>
          </a:p>
        </p:txBody>
      </p:sp>
      <p:cxnSp>
        <p:nvCxnSpPr>
          <p:cNvPr id="198" name="Google Shape;198;p31"/>
          <p:cNvCxnSpPr/>
          <p:nvPr/>
        </p:nvCxnSpPr>
        <p:spPr>
          <a:xfrm>
            <a:off x="3692561" y="2445154"/>
            <a:ext cx="0" cy="3589200"/>
          </a:xfrm>
          <a:prstGeom prst="straightConnector1">
            <a:avLst/>
          </a:prstGeom>
          <a:noFill/>
          <a:ln cap="flat" cmpd="sng" w="28575">
            <a:solidFill>
              <a:srgbClr val="FF0000"/>
            </a:solidFill>
            <a:prstDash val="dot"/>
            <a:round/>
            <a:headEnd len="med" w="med" type="none"/>
            <a:tailEnd len="med" w="med" type="none"/>
          </a:ln>
        </p:spPr>
      </p:cxnSp>
      <p:cxnSp>
        <p:nvCxnSpPr>
          <p:cNvPr id="199" name="Google Shape;199;p31"/>
          <p:cNvCxnSpPr/>
          <p:nvPr/>
        </p:nvCxnSpPr>
        <p:spPr>
          <a:xfrm>
            <a:off x="4292361" y="2482704"/>
            <a:ext cx="0" cy="3589200"/>
          </a:xfrm>
          <a:prstGeom prst="straightConnector1">
            <a:avLst/>
          </a:prstGeom>
          <a:noFill/>
          <a:ln cap="flat" cmpd="sng" w="28575">
            <a:solidFill>
              <a:srgbClr val="FF0000"/>
            </a:solidFill>
            <a:prstDash val="dot"/>
            <a:round/>
            <a:headEnd len="med" w="med" type="none"/>
            <a:tailEnd len="med" w="med" type="none"/>
          </a:ln>
        </p:spPr>
      </p:cxnSp>
      <p:cxnSp>
        <p:nvCxnSpPr>
          <p:cNvPr id="200" name="Google Shape;200;p31"/>
          <p:cNvCxnSpPr/>
          <p:nvPr/>
        </p:nvCxnSpPr>
        <p:spPr>
          <a:xfrm>
            <a:off x="4886561" y="2482704"/>
            <a:ext cx="0" cy="3589200"/>
          </a:xfrm>
          <a:prstGeom prst="straightConnector1">
            <a:avLst/>
          </a:prstGeom>
          <a:noFill/>
          <a:ln cap="flat" cmpd="sng" w="28575">
            <a:solidFill>
              <a:srgbClr val="FF0000"/>
            </a:solidFill>
            <a:prstDash val="dot"/>
            <a:round/>
            <a:headEnd len="med" w="med" type="none"/>
            <a:tailEnd len="med" w="med" type="none"/>
          </a:ln>
        </p:spPr>
      </p:cxnSp>
      <p:sp>
        <p:nvSpPr>
          <p:cNvPr id="201" name="Google Shape;201;p31"/>
          <p:cNvSpPr txBox="1"/>
          <p:nvPr/>
        </p:nvSpPr>
        <p:spPr>
          <a:xfrm>
            <a:off x="1940250" y="3228900"/>
            <a:ext cx="37728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2"/>
                </a:solidFill>
              </a:rPr>
              <a:t>100ms</a:t>
            </a:r>
            <a:endParaRPr>
              <a:solidFill>
                <a:schemeClr val="dk2"/>
              </a:solidFill>
            </a:endParaRPr>
          </a:p>
        </p:txBody>
      </p:sp>
      <p:sp>
        <p:nvSpPr>
          <p:cNvPr id="202" name="Google Shape;202;p31"/>
          <p:cNvSpPr/>
          <p:nvPr/>
        </p:nvSpPr>
        <p:spPr>
          <a:xfrm>
            <a:off x="2620050" y="3258174"/>
            <a:ext cx="812250" cy="344400"/>
          </a:xfrm>
          <a:custGeom>
            <a:rect b="b" l="l" r="r" t="t"/>
            <a:pathLst>
              <a:path extrusionOk="0" h="13776" w="32490">
                <a:moveTo>
                  <a:pt x="0" y="6463"/>
                </a:moveTo>
                <a:cubicBezTo>
                  <a:pt x="3319" y="5411"/>
                  <a:pt x="14498" y="-1067"/>
                  <a:pt x="19913" y="152"/>
                </a:cubicBezTo>
                <a:cubicBezTo>
                  <a:pt x="25328" y="1371"/>
                  <a:pt x="30394" y="11505"/>
                  <a:pt x="32490" y="13776"/>
                </a:cubicBezTo>
              </a:path>
            </a:pathLst>
          </a:custGeom>
          <a:noFill/>
          <a:ln cap="flat" cmpd="sng" w="19050">
            <a:solidFill>
              <a:srgbClr val="FF0000"/>
            </a:solidFill>
            <a:prstDash val="solid"/>
            <a:round/>
            <a:headEnd len="med" w="med" type="none"/>
            <a:tailEnd len="med" w="med" type="triangle"/>
          </a:ln>
        </p:spPr>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Waveforms Settings</a:t>
            </a:r>
            <a:endParaRPr/>
          </a:p>
        </p:txBody>
      </p:sp>
      <p:sp>
        <p:nvSpPr>
          <p:cNvPr id="208" name="Google Shape;208;p32"/>
          <p:cNvSpPr txBox="1"/>
          <p:nvPr>
            <p:ph idx="1" type="body"/>
          </p:nvPr>
        </p:nvSpPr>
        <p:spPr>
          <a:xfrm>
            <a:off x="311700" y="1536633"/>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Experiment with different settings for Time Base, Range, Offset, both for CH1 and CH2. Answer the following questions as a table group:</a:t>
            </a:r>
            <a:endParaRPr/>
          </a:p>
          <a:p>
            <a:pPr indent="-342900" lvl="0" marL="457200" rtl="0" algn="l">
              <a:spcBef>
                <a:spcPts val="1600"/>
              </a:spcBef>
              <a:spcAft>
                <a:spcPts val="0"/>
              </a:spcAft>
              <a:buSzPts val="1800"/>
              <a:buChar char="●"/>
            </a:pPr>
            <a:r>
              <a:rPr lang="en"/>
              <a:t>What does "Time Base" do?  </a:t>
            </a:r>
            <a:endParaRPr/>
          </a:p>
          <a:p>
            <a:pPr indent="-342900" lvl="0" marL="457200" rtl="0" algn="l">
              <a:spcBef>
                <a:spcPts val="0"/>
              </a:spcBef>
              <a:spcAft>
                <a:spcPts val="0"/>
              </a:spcAft>
              <a:buSzPts val="1800"/>
              <a:buChar char="●"/>
            </a:pPr>
            <a:r>
              <a:rPr lang="en"/>
              <a:t>What does Range do?</a:t>
            </a:r>
            <a:endParaRPr/>
          </a:p>
          <a:p>
            <a:pPr indent="-342900" lvl="0" marL="457200" rtl="0" algn="l">
              <a:spcBef>
                <a:spcPts val="0"/>
              </a:spcBef>
              <a:spcAft>
                <a:spcPts val="0"/>
              </a:spcAft>
              <a:buSzPts val="1800"/>
              <a:buChar char="●"/>
            </a:pPr>
            <a:r>
              <a:rPr lang="en"/>
              <a:t>What does Offset do?</a:t>
            </a:r>
            <a:endParaRPr/>
          </a:p>
          <a:p>
            <a:pPr indent="-342900" lvl="0" marL="457200" rtl="0" algn="l">
              <a:spcBef>
                <a:spcPts val="0"/>
              </a:spcBef>
              <a:spcAft>
                <a:spcPts val="0"/>
              </a:spcAft>
              <a:buSzPts val="1800"/>
              <a:buChar char="●"/>
            </a:pPr>
            <a:r>
              <a:rPr lang="en"/>
              <a:t>How do you change which channel's voltage is shown on the vertical axis?</a:t>
            </a:r>
            <a:endParaRPr/>
          </a:p>
          <a:p>
            <a:pPr indent="-342900" lvl="0" marL="457200" rtl="0" algn="l">
              <a:spcBef>
                <a:spcPts val="0"/>
              </a:spcBef>
              <a:spcAft>
                <a:spcPts val="0"/>
              </a:spcAft>
              <a:buSzPts val="1800"/>
              <a:buChar char="●"/>
            </a:pPr>
            <a:r>
              <a:rPr lang="en"/>
              <a:t>What is the voltage on an output pin when it is high?</a:t>
            </a:r>
            <a:endParaRPr/>
          </a:p>
          <a:p>
            <a:pPr indent="-342900" lvl="0" marL="457200" rtl="0" algn="l">
              <a:spcBef>
                <a:spcPts val="0"/>
              </a:spcBef>
              <a:spcAft>
                <a:spcPts val="0"/>
              </a:spcAft>
              <a:buSzPts val="1800"/>
              <a:buChar char="●"/>
            </a:pPr>
            <a:r>
              <a:rPr lang="en"/>
              <a:t>S</a:t>
            </a:r>
            <a:r>
              <a:rPr lang="en"/>
              <a:t>ave as PNG, and see what you get. (You’ll need this for labs going forward)</a:t>
            </a:r>
            <a:endParaRPr/>
          </a:p>
          <a:p>
            <a:pPr indent="-317500" lvl="1" marL="914400" rtl="0" algn="l">
              <a:lnSpc>
                <a:spcPct val="100000"/>
              </a:lnSpc>
              <a:spcBef>
                <a:spcPts val="1000"/>
              </a:spcBef>
              <a:spcAft>
                <a:spcPts val="0"/>
              </a:spcAft>
              <a:buSzPts val="1400"/>
              <a:buChar char="○"/>
            </a:pPr>
            <a:r>
              <a:rPr lang="en"/>
              <a:t>File-&gt;Export</a:t>
            </a:r>
            <a:endParaRPr/>
          </a:p>
          <a:p>
            <a:pPr indent="-317500" lvl="1" marL="914400" rtl="0" algn="l">
              <a:lnSpc>
                <a:spcPct val="100000"/>
              </a:lnSpc>
              <a:spcBef>
                <a:spcPts val="0"/>
              </a:spcBef>
              <a:spcAft>
                <a:spcPts val="0"/>
              </a:spcAft>
              <a:buSzPts val="1400"/>
              <a:buChar char="○"/>
            </a:pPr>
            <a:r>
              <a:rPr lang="en"/>
              <a:t>Select the “Image” tab</a:t>
            </a:r>
            <a:endParaRPr/>
          </a:p>
          <a:p>
            <a:pPr indent="-317500" lvl="1" marL="914400" rtl="0" algn="l">
              <a:lnSpc>
                <a:spcPct val="100000"/>
              </a:lnSpc>
              <a:spcBef>
                <a:spcPts val="0"/>
              </a:spcBef>
              <a:spcAft>
                <a:spcPts val="0"/>
              </a:spcAft>
              <a:buSzPts val="1400"/>
              <a:buChar char="○"/>
            </a:pPr>
            <a:r>
              <a:rPr lang="en"/>
              <a:t>Click "Save"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3"/>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One more experiment	</a:t>
            </a:r>
            <a:endParaRPr/>
          </a:p>
        </p:txBody>
      </p:sp>
      <p:sp>
        <p:nvSpPr>
          <p:cNvPr id="214" name="Google Shape;214;p33"/>
          <p:cNvSpPr txBox="1"/>
          <p:nvPr>
            <p:ph idx="1" type="body"/>
          </p:nvPr>
        </p:nvSpPr>
        <p:spPr>
          <a:xfrm>
            <a:off x="311700" y="1536625"/>
            <a:ext cx="4164300" cy="297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Edit </a:t>
            </a:r>
            <a:r>
              <a:rPr b="1" lang="en"/>
              <a:t>blinkySIM.c</a:t>
            </a:r>
            <a:r>
              <a:rPr lang="en"/>
              <a:t>:</a:t>
            </a:r>
            <a:endParaRPr/>
          </a:p>
          <a:p>
            <a:pPr indent="-342900" lvl="0" marL="457200" rtl="0" algn="l">
              <a:spcBef>
                <a:spcPts val="1600"/>
              </a:spcBef>
              <a:spcAft>
                <a:spcPts val="0"/>
              </a:spcAft>
              <a:buSzPts val="1800"/>
              <a:buAutoNum type="arabicPeriod"/>
            </a:pPr>
            <a:r>
              <a:rPr lang="en"/>
              <a:t>Change the blink rate as follows and note the brightness of the</a:t>
            </a:r>
            <a:br>
              <a:rPr lang="en"/>
            </a:br>
            <a:r>
              <a:rPr lang="en"/>
              <a:t>LEDs and observe the waveform.</a:t>
            </a:r>
            <a:br>
              <a:rPr lang="en"/>
            </a:br>
            <a:endParaRPr/>
          </a:p>
          <a:p>
            <a:pPr indent="-342900" lvl="0" marL="457200" rtl="0" algn="l">
              <a:spcBef>
                <a:spcPts val="0"/>
              </a:spcBef>
              <a:spcAft>
                <a:spcPts val="0"/>
              </a:spcAft>
              <a:buSzPts val="1800"/>
              <a:buAutoNum type="arabicPeriod"/>
            </a:pPr>
            <a:r>
              <a:rPr lang="en"/>
              <a:t>Now swap the lengths of on and off time; again note the brightness and the waveform.</a:t>
            </a:r>
            <a:endParaRPr/>
          </a:p>
          <a:p>
            <a:pPr indent="0" lvl="0" marL="0" rtl="0" algn="l">
              <a:spcBef>
                <a:spcPts val="1600"/>
              </a:spcBef>
              <a:spcAft>
                <a:spcPts val="1600"/>
              </a:spcAft>
              <a:buNone/>
            </a:pPr>
            <a:r>
              <a:t/>
            </a:r>
            <a:endParaRPr/>
          </a:p>
        </p:txBody>
      </p:sp>
      <p:sp>
        <p:nvSpPr>
          <p:cNvPr id="215" name="Google Shape;215;p33"/>
          <p:cNvSpPr txBox="1"/>
          <p:nvPr>
            <p:ph idx="1" type="body"/>
          </p:nvPr>
        </p:nvSpPr>
        <p:spPr>
          <a:xfrm>
            <a:off x="4211850" y="1536625"/>
            <a:ext cx="4857900" cy="1584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lang="en" sz="1100">
                <a:solidFill>
                  <a:schemeClr val="dk1"/>
                </a:solidFill>
                <a:highlight>
                  <a:srgbClr val="FFFFFF"/>
                </a:highlight>
                <a:latin typeface="Courier New"/>
                <a:ea typeface="Courier New"/>
                <a:cs typeface="Courier New"/>
                <a:sym typeface="Courier New"/>
              </a:rPr>
              <a:t>(1)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 LED_ALL;     </a:t>
            </a:r>
            <a:r>
              <a:rPr lang="en" sz="1100">
                <a:solidFill>
                  <a:srgbClr val="3F7F59"/>
                </a:solidFill>
                <a:highlight>
                  <a:srgbClr val="FFFFFF"/>
                </a:highlight>
                <a:latin typeface="Courier New"/>
                <a:ea typeface="Courier New"/>
                <a:cs typeface="Courier New"/>
                <a:sym typeface="Courier New"/>
              </a:rPr>
              <a:t>// 3. turn LEDs on</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a:t>
            </a: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&amp;= ~LED_ALL;     </a:t>
            </a:r>
            <a:r>
              <a:rPr lang="en" sz="1100">
                <a:solidFill>
                  <a:srgbClr val="3F7F59"/>
                </a:solidFill>
                <a:highlight>
                  <a:srgbClr val="FFFFFF"/>
                </a:highlight>
                <a:latin typeface="Courier New"/>
                <a:ea typeface="Courier New"/>
                <a:cs typeface="Courier New"/>
                <a:sym typeface="Courier New"/>
              </a:rPr>
              <a:t>// 4. turn LEDs off</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delay_ms(10)</a:t>
            </a: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rgbClr val="004A43"/>
              </a:solidFill>
              <a:highlight>
                <a:srgbClr val="FFFFFF"/>
              </a:highlight>
              <a:latin typeface="Courier New"/>
              <a:ea typeface="Courier New"/>
              <a:cs typeface="Courier New"/>
              <a:sym typeface="Courier New"/>
            </a:endParaRPr>
          </a:p>
        </p:txBody>
      </p:sp>
      <p:sp>
        <p:nvSpPr>
          <p:cNvPr id="216" name="Google Shape;216;p33"/>
          <p:cNvSpPr txBox="1"/>
          <p:nvPr>
            <p:ph idx="1" type="body"/>
          </p:nvPr>
        </p:nvSpPr>
        <p:spPr>
          <a:xfrm>
            <a:off x="4211850" y="3233375"/>
            <a:ext cx="4857900" cy="1584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lang="en" sz="1100">
                <a:solidFill>
                  <a:schemeClr val="dk1"/>
                </a:solidFill>
                <a:highlight>
                  <a:srgbClr val="FFFFFF"/>
                </a:highlight>
                <a:latin typeface="Courier New"/>
                <a:ea typeface="Courier New"/>
                <a:cs typeface="Courier New"/>
                <a:sym typeface="Courier New"/>
              </a:rPr>
              <a:t>(1)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 LED_ALL;      </a:t>
            </a:r>
            <a:r>
              <a:rPr lang="en" sz="1100">
                <a:solidFill>
                  <a:srgbClr val="3F7F59"/>
                </a:solidFill>
                <a:highlight>
                  <a:srgbClr val="FFFFFF"/>
                </a:highlight>
                <a:latin typeface="Courier New"/>
                <a:ea typeface="Courier New"/>
                <a:cs typeface="Courier New"/>
                <a:sym typeface="Courier New"/>
              </a:rPr>
              <a:t>// 3. turn LEDs on</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delay_ms(10);</a:t>
            </a: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GPIOA-&gt;ODR &amp;= ~LED_ALL;     </a:t>
            </a:r>
            <a:r>
              <a:rPr lang="en" sz="1100">
                <a:solidFill>
                  <a:srgbClr val="3F7F59"/>
                </a:solidFill>
                <a:highlight>
                  <a:srgbClr val="FFFFFF"/>
                </a:highlight>
                <a:latin typeface="Courier New"/>
                <a:ea typeface="Courier New"/>
                <a:cs typeface="Courier New"/>
                <a:sym typeface="Courier New"/>
              </a:rPr>
              <a:t>// 4. turn LEDs off</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r>
              <a:rPr lang="en" sz="1100">
                <a:solidFill>
                  <a:schemeClr val="dk1"/>
                </a:solidFill>
                <a:highlight>
                  <a:schemeClr val="lt1"/>
                </a:highlight>
                <a:latin typeface="Courier New"/>
                <a:ea typeface="Courier New"/>
                <a:cs typeface="Courier New"/>
                <a:sym typeface="Courier New"/>
              </a:rPr>
              <a:t>delay_ms(1);</a:t>
            </a:r>
            <a:r>
              <a:rPr lang="en" sz="1100">
                <a:solidFill>
                  <a:schemeClr val="dk1"/>
                </a:solidFill>
                <a:highlight>
                  <a:srgbClr val="FFFFFF"/>
                </a:highlight>
                <a:latin typeface="Courier New"/>
                <a:ea typeface="Courier New"/>
                <a:cs typeface="Courier New"/>
                <a:sym typeface="Courier New"/>
              </a:rPr>
              <a:t>                </a:t>
            </a:r>
            <a:r>
              <a:rPr lang="en" sz="1100">
                <a:solidFill>
                  <a:srgbClr val="3F7F59"/>
                </a:solidFill>
                <a:highlight>
                  <a:srgbClr val="FFFFFF"/>
                </a:highlight>
                <a:latin typeface="Courier New"/>
                <a:ea typeface="Courier New"/>
                <a:cs typeface="Courier New"/>
                <a:sym typeface="Courier New"/>
              </a:rPr>
              <a:t>// kill some time</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rPr lang="en" sz="1100">
                <a:solidFill>
                  <a:schemeClr val="dk1"/>
                </a:solidFill>
                <a:highlight>
                  <a:srgbClr val="FFFFFF"/>
                </a:highlight>
                <a:latin typeface="Courier New"/>
                <a:ea typeface="Courier New"/>
                <a:cs typeface="Courier New"/>
                <a:sym typeface="Courier New"/>
              </a:rPr>
              <a:t>    }</a:t>
            </a:r>
            <a:endParaRPr sz="1100">
              <a:solidFill>
                <a:schemeClr val="dk1"/>
              </a:solidFill>
              <a:highlight>
                <a:srgbClr val="FFFFFF"/>
              </a:highlight>
              <a:latin typeface="Courier New"/>
              <a:ea typeface="Courier New"/>
              <a:cs typeface="Courier New"/>
              <a:sym typeface="Courier New"/>
            </a:endParaRPr>
          </a:p>
          <a:p>
            <a:pPr indent="0" lvl="0" marL="0" rtl="0" algn="l">
              <a:lnSpc>
                <a:spcPct val="100000"/>
              </a:lnSpc>
              <a:spcBef>
                <a:spcPts val="0"/>
              </a:spcBef>
              <a:spcAft>
                <a:spcPts val="0"/>
              </a:spcAft>
              <a:buNone/>
            </a:pPr>
            <a:r>
              <a:t/>
            </a:r>
            <a:endParaRPr sz="1100">
              <a:solidFill>
                <a:srgbClr val="004A43"/>
              </a:solidFill>
              <a:highlight>
                <a:srgbClr val="FFFFFF"/>
              </a:highlight>
              <a:latin typeface="Courier New"/>
              <a:ea typeface="Courier New"/>
              <a:cs typeface="Courier New"/>
              <a:sym typeface="Courier New"/>
            </a:endParaRPr>
          </a:p>
        </p:txBody>
      </p:sp>
      <p:sp>
        <p:nvSpPr>
          <p:cNvPr id="217" name="Google Shape;217;p33"/>
          <p:cNvSpPr txBox="1"/>
          <p:nvPr/>
        </p:nvSpPr>
        <p:spPr>
          <a:xfrm>
            <a:off x="410100" y="4930125"/>
            <a:ext cx="8323800" cy="15312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0000FF"/>
                </a:solidFill>
              </a:rPr>
              <a:t>The oscilloscope can see the on/off in the LED signal, even when your eyes cannot.</a:t>
            </a:r>
            <a:endParaRPr sz="1800">
              <a:solidFill>
                <a:srgbClr val="0000FF"/>
              </a:solidFill>
            </a:endParaRPr>
          </a:p>
          <a:p>
            <a:pPr indent="0" lvl="0" marL="0" rtl="0" algn="l">
              <a:lnSpc>
                <a:spcPct val="115000"/>
              </a:lnSpc>
              <a:spcBef>
                <a:spcPts val="1600"/>
              </a:spcBef>
              <a:spcAft>
                <a:spcPts val="1600"/>
              </a:spcAft>
              <a:buNone/>
            </a:pPr>
            <a:r>
              <a:rPr lang="en" sz="1800">
                <a:solidFill>
                  <a:srgbClr val="0000FF"/>
                </a:solidFill>
              </a:rPr>
              <a:t>Discuss at your table why the LED brightness changes.  How could this be useful?</a:t>
            </a:r>
            <a:endParaRPr sz="1800">
              <a:solidFill>
                <a:srgbClr val="0000FF"/>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34"/>
          <p:cNvSpPr txBox="1"/>
          <p:nvPr>
            <p:ph type="title"/>
          </p:nvPr>
        </p:nvSpPr>
        <p:spPr>
          <a:xfrm>
            <a:off x="311700" y="2867800"/>
            <a:ext cx="8520600" cy="1122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Using pins for INPUT</a:t>
            </a:r>
            <a:endParaRPr/>
          </a:p>
        </p:txBody>
      </p:sp>
      <p:sp>
        <p:nvSpPr>
          <p:cNvPr id="223" name="Google Shape;223;p34"/>
          <p:cNvSpPr txBox="1"/>
          <p:nvPr>
            <p:ph idx="12" type="sldNum"/>
          </p:nvPr>
        </p:nvSpPr>
        <p:spPr>
          <a:xfrm>
            <a:off x="8472458" y="6217622"/>
            <a:ext cx="548700" cy="5247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5"/>
          <p:cNvSpPr txBox="1"/>
          <p:nvPr>
            <p:ph type="title"/>
          </p:nvPr>
        </p:nvSpPr>
        <p:spPr>
          <a:xfrm>
            <a:off x="311700" y="5548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Wire up the next circuit</a:t>
            </a:r>
            <a:endParaRPr/>
          </a:p>
        </p:txBody>
      </p:sp>
      <p:sp>
        <p:nvSpPr>
          <p:cNvPr id="229" name="Google Shape;229;p35"/>
          <p:cNvSpPr txBox="1"/>
          <p:nvPr>
            <p:ph idx="1" type="body"/>
          </p:nvPr>
        </p:nvSpPr>
        <p:spPr>
          <a:xfrm>
            <a:off x="1140925" y="4177275"/>
            <a:ext cx="3239100" cy="11040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lang="en"/>
              <a:t>Add a pushbutton switch to your Lab 1 breadboard, like this.</a:t>
            </a:r>
            <a:endParaRPr/>
          </a:p>
        </p:txBody>
      </p:sp>
      <p:pic>
        <p:nvPicPr>
          <p:cNvPr id="230" name="Google Shape;230;p35" title="LED_x3_button_bb.png"/>
          <p:cNvPicPr preferRelativeResize="0"/>
          <p:nvPr/>
        </p:nvPicPr>
        <p:blipFill>
          <a:blip r:embed="rId3">
            <a:alphaModFix/>
          </a:blip>
          <a:stretch>
            <a:fillRect/>
          </a:stretch>
        </p:blipFill>
        <p:spPr>
          <a:xfrm>
            <a:off x="4813650" y="344675"/>
            <a:ext cx="3820649" cy="634692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pic>
        <p:nvPicPr>
          <p:cNvPr id="235" name="Google Shape;235;p36" title="Button_w_pullup_bb.png"/>
          <p:cNvPicPr preferRelativeResize="0"/>
          <p:nvPr/>
        </p:nvPicPr>
        <p:blipFill>
          <a:blip r:embed="rId3">
            <a:alphaModFix/>
          </a:blip>
          <a:stretch>
            <a:fillRect/>
          </a:stretch>
        </p:blipFill>
        <p:spPr>
          <a:xfrm>
            <a:off x="4847700" y="672925"/>
            <a:ext cx="3885201" cy="6085124"/>
          </a:xfrm>
          <a:prstGeom prst="rect">
            <a:avLst/>
          </a:prstGeom>
          <a:noFill/>
          <a:ln>
            <a:noFill/>
          </a:ln>
        </p:spPr>
      </p:pic>
      <p:sp>
        <p:nvSpPr>
          <p:cNvPr id="236" name="Google Shape;236;p36"/>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wire a pushbutton</a:t>
            </a:r>
            <a:endParaRPr/>
          </a:p>
        </p:txBody>
      </p:sp>
      <p:sp>
        <p:nvSpPr>
          <p:cNvPr id="237" name="Google Shape;237;p36"/>
          <p:cNvSpPr txBox="1"/>
          <p:nvPr>
            <p:ph idx="1" type="body"/>
          </p:nvPr>
        </p:nvSpPr>
        <p:spPr>
          <a:xfrm>
            <a:off x="311700" y="1305550"/>
            <a:ext cx="4253100" cy="2808000"/>
          </a:xfrm>
          <a:prstGeom prst="rect">
            <a:avLst/>
          </a:prstGeom>
          <a:solidFill>
            <a:srgbClr val="FFFFFF"/>
          </a:solidFill>
        </p:spPr>
        <p:txBody>
          <a:bodyPr anchorCtr="0" anchor="t" bIns="91425" lIns="91425" spcFirstLastPara="1" rIns="91425" wrap="square" tIns="91425">
            <a:noAutofit/>
          </a:bodyPr>
          <a:lstStyle/>
          <a:p>
            <a:pPr indent="0" lvl="0" marL="0" rtl="0" algn="l">
              <a:spcBef>
                <a:spcPts val="0"/>
              </a:spcBef>
              <a:spcAft>
                <a:spcPts val="0"/>
              </a:spcAft>
              <a:buNone/>
            </a:pPr>
            <a:r>
              <a:rPr lang="en" sz="1600"/>
              <a:t>A button by itself does not produce a 1 or a 0 — it simply closes a connection from the pin to ground.</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t/>
            </a:r>
            <a:endParaRPr sz="1600"/>
          </a:p>
          <a:p>
            <a:pPr indent="0" lvl="0" marL="0" rtl="0" algn="l">
              <a:spcBef>
                <a:spcPts val="1600"/>
              </a:spcBef>
              <a:spcAft>
                <a:spcPts val="0"/>
              </a:spcAft>
              <a:buNone/>
            </a:pPr>
            <a:r>
              <a:rPr lang="en" sz="1600"/>
              <a:t>“Pull the pin up” so that it is HIGH when the switch is unpressed.  Two possibilities:</a:t>
            </a:r>
            <a:endParaRPr sz="1600"/>
          </a:p>
          <a:p>
            <a:pPr indent="-330200" lvl="0" marL="457200" rtl="0" algn="l">
              <a:spcBef>
                <a:spcPts val="1600"/>
              </a:spcBef>
              <a:spcAft>
                <a:spcPts val="0"/>
              </a:spcAft>
              <a:buSzPts val="1600"/>
              <a:buChar char="●"/>
            </a:pPr>
            <a:r>
              <a:rPr lang="en" sz="1600"/>
              <a:t>An external resistor (about 10K)</a:t>
            </a:r>
            <a:endParaRPr sz="1600"/>
          </a:p>
          <a:p>
            <a:pPr indent="-330200" lvl="0" marL="457200" rtl="0" algn="l">
              <a:spcBef>
                <a:spcPts val="1000"/>
              </a:spcBef>
              <a:spcAft>
                <a:spcPts val="0"/>
              </a:spcAft>
              <a:buSzPts val="1600"/>
              <a:buChar char="●"/>
            </a:pPr>
            <a:r>
              <a:rPr lang="en" sz="1600"/>
              <a:t>Enable the pin’s </a:t>
            </a:r>
            <a:r>
              <a:rPr i="1" lang="en" sz="1600"/>
              <a:t>internal</a:t>
            </a:r>
            <a:r>
              <a:rPr lang="en" sz="1600"/>
              <a:t> pullup resistor</a:t>
            </a:r>
            <a:endParaRPr sz="1600"/>
          </a:p>
          <a:p>
            <a:pPr indent="0" lvl="0" marL="0" rtl="0" algn="l">
              <a:spcBef>
                <a:spcPts val="1600"/>
              </a:spcBef>
              <a:spcAft>
                <a:spcPts val="0"/>
              </a:spcAft>
              <a:buNone/>
            </a:pPr>
            <a:r>
              <a:rPr lang="en" sz="1600"/>
              <a:t>Pressing the button connects the pin to ground and pulls the pin LOW.  (“Low true”)</a:t>
            </a:r>
            <a:endParaRPr sz="1600"/>
          </a:p>
          <a:p>
            <a:pPr indent="0" lvl="0" marL="457200" marR="0" rtl="0" algn="l">
              <a:lnSpc>
                <a:spcPct val="115000"/>
              </a:lnSpc>
              <a:spcBef>
                <a:spcPts val="1600"/>
              </a:spcBef>
              <a:spcAft>
                <a:spcPts val="1600"/>
              </a:spcAft>
              <a:buNone/>
            </a:pPr>
            <a:r>
              <a:t/>
            </a:r>
            <a:endParaRPr sz="1600"/>
          </a:p>
        </p:txBody>
      </p:sp>
      <p:cxnSp>
        <p:nvCxnSpPr>
          <p:cNvPr id="238" name="Google Shape;238;p36"/>
          <p:cNvCxnSpPr/>
          <p:nvPr/>
        </p:nvCxnSpPr>
        <p:spPr>
          <a:xfrm flipH="1" rot="10800000">
            <a:off x="3854075" y="4619375"/>
            <a:ext cx="2151600" cy="160200"/>
          </a:xfrm>
          <a:prstGeom prst="straightConnector1">
            <a:avLst/>
          </a:prstGeom>
          <a:noFill/>
          <a:ln cap="flat" cmpd="sng" w="19050">
            <a:solidFill>
              <a:srgbClr val="980000"/>
            </a:solidFill>
            <a:prstDash val="solid"/>
            <a:round/>
            <a:headEnd len="med" w="med" type="none"/>
            <a:tailEnd len="med" w="med" type="triangle"/>
          </a:ln>
        </p:spPr>
      </p:cxn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37"/>
          <p:cNvPicPr preferRelativeResize="0"/>
          <p:nvPr/>
        </p:nvPicPr>
        <p:blipFill rotWithShape="1">
          <a:blip r:embed="rId3">
            <a:alphaModFix/>
          </a:blip>
          <a:srcRect b="8352" l="4016" r="5731" t="9768"/>
          <a:stretch/>
        </p:blipFill>
        <p:spPr>
          <a:xfrm>
            <a:off x="0" y="1418187"/>
            <a:ext cx="9144000" cy="4523663"/>
          </a:xfrm>
          <a:prstGeom prst="rect">
            <a:avLst/>
          </a:prstGeom>
          <a:noFill/>
          <a:ln>
            <a:noFill/>
          </a:ln>
        </p:spPr>
      </p:pic>
      <p:sp>
        <p:nvSpPr>
          <p:cNvPr id="244" name="Google Shape;244;p37"/>
          <p:cNvSpPr txBox="1"/>
          <p:nvPr>
            <p:ph type="title"/>
          </p:nvPr>
        </p:nvSpPr>
        <p:spPr>
          <a:xfrm>
            <a:off x="311700" y="2138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Basic structure of an I/O port bit</a:t>
            </a:r>
            <a:endParaRPr/>
          </a:p>
        </p:txBody>
      </p:sp>
      <p:sp>
        <p:nvSpPr>
          <p:cNvPr id="245" name="Google Shape;245;p37"/>
          <p:cNvSpPr/>
          <p:nvPr/>
        </p:nvSpPr>
        <p:spPr>
          <a:xfrm>
            <a:off x="8131200" y="3927300"/>
            <a:ext cx="317400" cy="351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7"/>
          <p:cNvSpPr txBox="1"/>
          <p:nvPr/>
        </p:nvSpPr>
        <p:spPr>
          <a:xfrm>
            <a:off x="8197900" y="4226500"/>
            <a:ext cx="762000" cy="4689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i="1" lang="en" sz="1800">
                <a:solidFill>
                  <a:srgbClr val="FF0000"/>
                </a:solidFill>
              </a:rPr>
              <a:t>PIN</a:t>
            </a:r>
            <a:endParaRPr i="1" sz="1800">
              <a:solidFill>
                <a:srgbClr val="FF0000"/>
              </a:solidFill>
            </a:endParaRPr>
          </a:p>
        </p:txBody>
      </p:sp>
      <p:sp>
        <p:nvSpPr>
          <p:cNvPr id="247" name="Google Shape;247;p37"/>
          <p:cNvSpPr/>
          <p:nvPr/>
        </p:nvSpPr>
        <p:spPr>
          <a:xfrm>
            <a:off x="6955600" y="2944750"/>
            <a:ext cx="1143000" cy="22119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37"/>
          <p:cNvSpPr txBox="1"/>
          <p:nvPr/>
        </p:nvSpPr>
        <p:spPr>
          <a:xfrm>
            <a:off x="7099575" y="5281850"/>
            <a:ext cx="1175700" cy="99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Internal pull-up / pull-down</a:t>
            </a:r>
            <a:endParaRPr i="1" sz="1800">
              <a:solidFill>
                <a:srgbClr val="FF0000"/>
              </a:solidFill>
            </a:endParaRPr>
          </a:p>
        </p:txBody>
      </p:sp>
      <p:sp>
        <p:nvSpPr>
          <p:cNvPr id="249" name="Google Shape;249;p37"/>
          <p:cNvSpPr/>
          <p:nvPr/>
        </p:nvSpPr>
        <p:spPr>
          <a:xfrm>
            <a:off x="2396225" y="2297400"/>
            <a:ext cx="260700" cy="1445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7"/>
          <p:cNvSpPr txBox="1"/>
          <p:nvPr/>
        </p:nvSpPr>
        <p:spPr>
          <a:xfrm>
            <a:off x="178925" y="2297400"/>
            <a:ext cx="2163900" cy="351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Read data from Pin </a:t>
            </a:r>
            <a:endParaRPr i="1" sz="1800">
              <a:solidFill>
                <a:srgbClr val="FF0000"/>
              </a:solidFill>
            </a:endParaRPr>
          </a:p>
        </p:txBody>
      </p:sp>
      <p:sp>
        <p:nvSpPr>
          <p:cNvPr id="251" name="Google Shape;251;p37"/>
          <p:cNvSpPr txBox="1"/>
          <p:nvPr/>
        </p:nvSpPr>
        <p:spPr>
          <a:xfrm>
            <a:off x="0" y="4658900"/>
            <a:ext cx="1969500" cy="351600"/>
          </a:xfrm>
          <a:prstGeom prst="rect">
            <a:avLst/>
          </a:prstGeom>
          <a:solidFill>
            <a:schemeClr val="lt1"/>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Write</a:t>
            </a:r>
            <a:r>
              <a:rPr i="1" lang="en" sz="1800">
                <a:solidFill>
                  <a:srgbClr val="FF0000"/>
                </a:solidFill>
              </a:rPr>
              <a:t> data to Pin </a:t>
            </a:r>
            <a:endParaRPr i="1" sz="1800">
              <a:solidFill>
                <a:srgbClr val="FF0000"/>
              </a:solidFill>
            </a:endParaRPr>
          </a:p>
        </p:txBody>
      </p:sp>
      <p:sp>
        <p:nvSpPr>
          <p:cNvPr id="252" name="Google Shape;252;p37"/>
          <p:cNvSpPr/>
          <p:nvPr/>
        </p:nvSpPr>
        <p:spPr>
          <a:xfrm>
            <a:off x="1933150" y="3590750"/>
            <a:ext cx="317400" cy="1566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8"/>
          <p:cNvSpPr txBox="1"/>
          <p:nvPr>
            <p:ph type="title"/>
          </p:nvPr>
        </p:nvSpPr>
        <p:spPr>
          <a:xfrm>
            <a:off x="311700" y="1876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Input pin configuration</a:t>
            </a:r>
            <a:endParaRPr/>
          </a:p>
        </p:txBody>
      </p:sp>
      <p:pic>
        <p:nvPicPr>
          <p:cNvPr id="258" name="Google Shape;258;p38"/>
          <p:cNvPicPr preferRelativeResize="0"/>
          <p:nvPr/>
        </p:nvPicPr>
        <p:blipFill>
          <a:blip r:embed="rId3">
            <a:alphaModFix/>
          </a:blip>
          <a:stretch>
            <a:fillRect/>
          </a:stretch>
        </p:blipFill>
        <p:spPr>
          <a:xfrm>
            <a:off x="0" y="1804002"/>
            <a:ext cx="9144000" cy="4852373"/>
          </a:xfrm>
          <a:prstGeom prst="rect">
            <a:avLst/>
          </a:prstGeom>
          <a:noFill/>
          <a:ln>
            <a:noFill/>
          </a:ln>
        </p:spPr>
      </p:pic>
      <p:sp>
        <p:nvSpPr>
          <p:cNvPr id="259" name="Google Shape;259;p38"/>
          <p:cNvSpPr/>
          <p:nvPr/>
        </p:nvSpPr>
        <p:spPr>
          <a:xfrm>
            <a:off x="2422400" y="2953225"/>
            <a:ext cx="260700" cy="1341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8"/>
          <p:cNvSpPr txBox="1"/>
          <p:nvPr/>
        </p:nvSpPr>
        <p:spPr>
          <a:xfrm>
            <a:off x="745075" y="2953225"/>
            <a:ext cx="1571400" cy="46890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GPIOx-&gt;IDR</a:t>
            </a:r>
            <a:endParaRPr i="1" sz="1800">
              <a:solidFill>
                <a:srgbClr val="FF0000"/>
              </a:solidFill>
            </a:endParaRPr>
          </a:p>
        </p:txBody>
      </p:sp>
      <p:sp>
        <p:nvSpPr>
          <p:cNvPr id="261" name="Google Shape;261;p38"/>
          <p:cNvSpPr txBox="1"/>
          <p:nvPr/>
        </p:nvSpPr>
        <p:spPr>
          <a:xfrm>
            <a:off x="204950" y="827500"/>
            <a:ext cx="2986500" cy="595500"/>
          </a:xfrm>
          <a:prstGeom prst="rect">
            <a:avLst/>
          </a:prstGeom>
          <a:solidFill>
            <a:srgbClr val="FFFF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FF0000"/>
                </a:solidFill>
              </a:rPr>
              <a:t>x = Port (A, B, C, D, F)</a:t>
            </a:r>
            <a:endParaRPr sz="1800">
              <a:solidFill>
                <a:srgbClr val="FF0000"/>
              </a:solidFill>
            </a:endParaRPr>
          </a:p>
        </p:txBody>
      </p:sp>
      <p:sp>
        <p:nvSpPr>
          <p:cNvPr id="262" name="Google Shape;262;p38"/>
          <p:cNvSpPr txBox="1"/>
          <p:nvPr/>
        </p:nvSpPr>
        <p:spPr>
          <a:xfrm>
            <a:off x="6830750" y="187650"/>
            <a:ext cx="2137500" cy="1494900"/>
          </a:xfrm>
          <a:prstGeom prst="rect">
            <a:avLst/>
          </a:prstGeom>
          <a:solidFill>
            <a:srgbClr val="FFFFFF"/>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GPIOx-&gt;MODER </a:t>
            </a:r>
            <a:r>
              <a:rPr lang="en" sz="1800">
                <a:solidFill>
                  <a:srgbClr val="FF0000"/>
                </a:solidFill>
              </a:rPr>
              <a:t>determines input versus output mode, amongst others.</a:t>
            </a:r>
            <a:endParaRPr sz="1800">
              <a:solidFill>
                <a:srgbClr val="FF0000"/>
              </a:solidFill>
            </a:endParaRPr>
          </a:p>
        </p:txBody>
      </p:sp>
      <p:sp>
        <p:nvSpPr>
          <p:cNvPr id="263" name="Google Shape;263;p38"/>
          <p:cNvSpPr/>
          <p:nvPr/>
        </p:nvSpPr>
        <p:spPr>
          <a:xfrm>
            <a:off x="7823725" y="4719125"/>
            <a:ext cx="180900" cy="204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8"/>
          <p:cNvSpPr txBox="1"/>
          <p:nvPr/>
        </p:nvSpPr>
        <p:spPr>
          <a:xfrm>
            <a:off x="7758275" y="3995754"/>
            <a:ext cx="982200" cy="59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i="1" lang="en" sz="1800">
                <a:solidFill>
                  <a:srgbClr val="FF0000"/>
                </a:solidFill>
              </a:rPr>
              <a:t>From</a:t>
            </a:r>
            <a:r>
              <a:rPr b="1" i="1" lang="en" sz="1800">
                <a:solidFill>
                  <a:srgbClr val="FF0000"/>
                </a:solidFill>
              </a:rPr>
              <a:t> button</a:t>
            </a:r>
            <a:endParaRPr b="1" i="1" sz="1800">
              <a:solidFill>
                <a:srgbClr val="FF0000"/>
              </a:solidFill>
            </a:endParaRPr>
          </a:p>
        </p:txBody>
      </p:sp>
      <p:cxnSp>
        <p:nvCxnSpPr>
          <p:cNvPr id="265" name="Google Shape;265;p38"/>
          <p:cNvCxnSpPr/>
          <p:nvPr/>
        </p:nvCxnSpPr>
        <p:spPr>
          <a:xfrm flipH="1">
            <a:off x="6641725" y="4816925"/>
            <a:ext cx="1182000" cy="9000"/>
          </a:xfrm>
          <a:prstGeom prst="straightConnector1">
            <a:avLst/>
          </a:prstGeom>
          <a:noFill/>
          <a:ln cap="flat" cmpd="sng" w="38100">
            <a:solidFill>
              <a:srgbClr val="0000FF"/>
            </a:solidFill>
            <a:prstDash val="solid"/>
            <a:round/>
            <a:headEnd len="med" w="med" type="none"/>
            <a:tailEnd len="med" w="med" type="stealth"/>
          </a:ln>
        </p:spPr>
      </p:cxnSp>
      <p:cxnSp>
        <p:nvCxnSpPr>
          <p:cNvPr id="266" name="Google Shape;266;p38"/>
          <p:cNvCxnSpPr/>
          <p:nvPr/>
        </p:nvCxnSpPr>
        <p:spPr>
          <a:xfrm flipH="1">
            <a:off x="6621750" y="3686050"/>
            <a:ext cx="6600" cy="1141500"/>
          </a:xfrm>
          <a:prstGeom prst="straightConnector1">
            <a:avLst/>
          </a:prstGeom>
          <a:noFill/>
          <a:ln cap="flat" cmpd="sng" w="38100">
            <a:solidFill>
              <a:srgbClr val="0000FF"/>
            </a:solidFill>
            <a:prstDash val="solid"/>
            <a:round/>
            <a:headEnd len="med" w="med" type="none"/>
            <a:tailEnd len="med" w="med" type="none"/>
          </a:ln>
        </p:spPr>
      </p:cxnSp>
      <p:sp>
        <p:nvSpPr>
          <p:cNvPr id="267" name="Google Shape;267;p38"/>
          <p:cNvSpPr txBox="1"/>
          <p:nvPr/>
        </p:nvSpPr>
        <p:spPr>
          <a:xfrm>
            <a:off x="6667500" y="3842625"/>
            <a:ext cx="24921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cxnSp>
        <p:nvCxnSpPr>
          <p:cNvPr id="268" name="Google Shape;268;p38"/>
          <p:cNvCxnSpPr/>
          <p:nvPr/>
        </p:nvCxnSpPr>
        <p:spPr>
          <a:xfrm flipH="1">
            <a:off x="2689425" y="3682775"/>
            <a:ext cx="3932400" cy="6600"/>
          </a:xfrm>
          <a:prstGeom prst="straightConnector1">
            <a:avLst/>
          </a:prstGeom>
          <a:noFill/>
          <a:ln cap="flat" cmpd="sng" w="38100">
            <a:solidFill>
              <a:srgbClr val="0000FF"/>
            </a:solidFill>
            <a:prstDash val="solid"/>
            <a:round/>
            <a:headEnd len="med" w="med" type="none"/>
            <a:tailEnd len="med" w="med" type="none"/>
          </a:ln>
        </p:spPr>
      </p:cxnSp>
      <p:cxnSp>
        <p:nvCxnSpPr>
          <p:cNvPr id="269" name="Google Shape;269;p38"/>
          <p:cNvCxnSpPr/>
          <p:nvPr/>
        </p:nvCxnSpPr>
        <p:spPr>
          <a:xfrm rot="10800000">
            <a:off x="841175" y="3503550"/>
            <a:ext cx="1593900" cy="9600"/>
          </a:xfrm>
          <a:prstGeom prst="straightConnector1">
            <a:avLst/>
          </a:prstGeom>
          <a:noFill/>
          <a:ln cap="flat" cmpd="sng" w="38100">
            <a:solidFill>
              <a:srgbClr val="0000FF"/>
            </a:solidFill>
            <a:prstDash val="solid"/>
            <a:round/>
            <a:headEnd len="med" w="med" type="none"/>
            <a:tailEnd len="med" w="med" type="stealth"/>
          </a:ln>
        </p:spPr>
      </p:cxnSp>
      <p:sp>
        <p:nvSpPr>
          <p:cNvPr id="270" name="Google Shape;270;p38"/>
          <p:cNvSpPr/>
          <p:nvPr/>
        </p:nvSpPr>
        <p:spPr>
          <a:xfrm>
            <a:off x="6698950" y="3707738"/>
            <a:ext cx="982200" cy="10449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38"/>
          <p:cNvSpPr txBox="1"/>
          <p:nvPr/>
        </p:nvSpPr>
        <p:spPr>
          <a:xfrm>
            <a:off x="6698950" y="2819088"/>
            <a:ext cx="2041500" cy="76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Internal pull-up:</a:t>
            </a:r>
            <a:endParaRPr i="1" sz="1800">
              <a:solidFill>
                <a:srgbClr val="FF0000"/>
              </a:solidFill>
            </a:endParaRPr>
          </a:p>
          <a:p>
            <a:pPr indent="0" lvl="0" marL="0" rtl="0" algn="l">
              <a:spcBef>
                <a:spcPts val="0"/>
              </a:spcBef>
              <a:spcAft>
                <a:spcPts val="0"/>
              </a:spcAft>
              <a:buNone/>
            </a:pPr>
            <a:r>
              <a:rPr i="1" lang="en" sz="1800">
                <a:solidFill>
                  <a:srgbClr val="FF0000"/>
                </a:solidFill>
              </a:rPr>
              <a:t>GPIOx-&gt;PUPDR</a:t>
            </a:r>
            <a:endParaRPr i="1" sz="180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39"/>
          <p:cNvSpPr txBox="1"/>
          <p:nvPr>
            <p:ph type="title"/>
          </p:nvPr>
        </p:nvSpPr>
        <p:spPr>
          <a:xfrm>
            <a:off x="311700" y="1876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wire a pushbutton</a:t>
            </a:r>
            <a:endParaRPr/>
          </a:p>
        </p:txBody>
      </p:sp>
      <p:pic>
        <p:nvPicPr>
          <p:cNvPr id="277" name="Google Shape;277;p39"/>
          <p:cNvPicPr preferRelativeResize="0"/>
          <p:nvPr/>
        </p:nvPicPr>
        <p:blipFill>
          <a:blip r:embed="rId3">
            <a:alphaModFix/>
          </a:blip>
          <a:stretch>
            <a:fillRect/>
          </a:stretch>
        </p:blipFill>
        <p:spPr>
          <a:xfrm>
            <a:off x="0" y="1194402"/>
            <a:ext cx="9144000" cy="4852373"/>
          </a:xfrm>
          <a:prstGeom prst="rect">
            <a:avLst/>
          </a:prstGeom>
          <a:noFill/>
          <a:ln>
            <a:noFill/>
          </a:ln>
        </p:spPr>
      </p:pic>
      <p:sp>
        <p:nvSpPr>
          <p:cNvPr id="278" name="Google Shape;278;p39"/>
          <p:cNvSpPr/>
          <p:nvPr/>
        </p:nvSpPr>
        <p:spPr>
          <a:xfrm>
            <a:off x="2422400" y="2343625"/>
            <a:ext cx="260700" cy="1341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9"/>
          <p:cNvSpPr txBox="1"/>
          <p:nvPr/>
        </p:nvSpPr>
        <p:spPr>
          <a:xfrm>
            <a:off x="745075" y="2343625"/>
            <a:ext cx="1571400" cy="468900"/>
          </a:xfrm>
          <a:prstGeom prst="rect">
            <a:avLst/>
          </a:prstGeom>
          <a:solidFill>
            <a:schemeClr val="lt1"/>
          </a:solid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FF0000"/>
                </a:solidFill>
              </a:rPr>
              <a:t>GPIOx-&gt;IDR</a:t>
            </a:r>
            <a:endParaRPr i="1" sz="1800">
              <a:solidFill>
                <a:srgbClr val="FF0000"/>
              </a:solidFill>
            </a:endParaRPr>
          </a:p>
        </p:txBody>
      </p:sp>
      <p:sp>
        <p:nvSpPr>
          <p:cNvPr id="280" name="Google Shape;280;p39"/>
          <p:cNvSpPr/>
          <p:nvPr/>
        </p:nvSpPr>
        <p:spPr>
          <a:xfrm>
            <a:off x="7823725" y="4109525"/>
            <a:ext cx="180900" cy="2046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81" name="Google Shape;281;p39"/>
          <p:cNvCxnSpPr/>
          <p:nvPr/>
        </p:nvCxnSpPr>
        <p:spPr>
          <a:xfrm flipH="1">
            <a:off x="6641725" y="4207325"/>
            <a:ext cx="1182000" cy="9000"/>
          </a:xfrm>
          <a:prstGeom prst="straightConnector1">
            <a:avLst/>
          </a:prstGeom>
          <a:noFill/>
          <a:ln cap="flat" cmpd="sng" w="38100">
            <a:solidFill>
              <a:srgbClr val="0000FF"/>
            </a:solidFill>
            <a:prstDash val="solid"/>
            <a:round/>
            <a:headEnd len="med" w="med" type="none"/>
            <a:tailEnd len="med" w="med" type="stealth"/>
          </a:ln>
        </p:spPr>
      </p:cxnSp>
      <p:cxnSp>
        <p:nvCxnSpPr>
          <p:cNvPr id="282" name="Google Shape;282;p39"/>
          <p:cNvCxnSpPr/>
          <p:nvPr/>
        </p:nvCxnSpPr>
        <p:spPr>
          <a:xfrm flipH="1">
            <a:off x="6621750" y="3076450"/>
            <a:ext cx="6600" cy="1141500"/>
          </a:xfrm>
          <a:prstGeom prst="straightConnector1">
            <a:avLst/>
          </a:prstGeom>
          <a:noFill/>
          <a:ln cap="flat" cmpd="sng" w="38100">
            <a:solidFill>
              <a:srgbClr val="0000FF"/>
            </a:solidFill>
            <a:prstDash val="solid"/>
            <a:round/>
            <a:headEnd len="med" w="med" type="none"/>
            <a:tailEnd len="med" w="med" type="none"/>
          </a:ln>
        </p:spPr>
      </p:cxnSp>
      <p:cxnSp>
        <p:nvCxnSpPr>
          <p:cNvPr id="283" name="Google Shape;283;p39"/>
          <p:cNvCxnSpPr/>
          <p:nvPr/>
        </p:nvCxnSpPr>
        <p:spPr>
          <a:xfrm flipH="1">
            <a:off x="2689425" y="3073175"/>
            <a:ext cx="3932400" cy="6600"/>
          </a:xfrm>
          <a:prstGeom prst="straightConnector1">
            <a:avLst/>
          </a:prstGeom>
          <a:noFill/>
          <a:ln cap="flat" cmpd="sng" w="38100">
            <a:solidFill>
              <a:srgbClr val="0000FF"/>
            </a:solidFill>
            <a:prstDash val="solid"/>
            <a:round/>
            <a:headEnd len="med" w="med" type="none"/>
            <a:tailEnd len="med" w="med" type="none"/>
          </a:ln>
        </p:spPr>
      </p:cxnSp>
      <p:cxnSp>
        <p:nvCxnSpPr>
          <p:cNvPr id="284" name="Google Shape;284;p39"/>
          <p:cNvCxnSpPr/>
          <p:nvPr/>
        </p:nvCxnSpPr>
        <p:spPr>
          <a:xfrm rot="10800000">
            <a:off x="841175" y="2893950"/>
            <a:ext cx="1593900" cy="9600"/>
          </a:xfrm>
          <a:prstGeom prst="straightConnector1">
            <a:avLst/>
          </a:prstGeom>
          <a:noFill/>
          <a:ln cap="flat" cmpd="sng" w="38100">
            <a:solidFill>
              <a:srgbClr val="0000FF"/>
            </a:solidFill>
            <a:prstDash val="solid"/>
            <a:round/>
            <a:headEnd len="med" w="med" type="none"/>
            <a:tailEnd len="med" w="med" type="stealth"/>
          </a:ln>
        </p:spPr>
      </p:cxnSp>
      <p:sp>
        <p:nvSpPr>
          <p:cNvPr id="285" name="Google Shape;285;p39"/>
          <p:cNvSpPr/>
          <p:nvPr/>
        </p:nvSpPr>
        <p:spPr>
          <a:xfrm>
            <a:off x="6698950" y="3098138"/>
            <a:ext cx="982200" cy="1044900"/>
          </a:xfrm>
          <a:prstGeom prst="roundRect">
            <a:avLst>
              <a:gd fmla="val 16667" name="adj"/>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9"/>
          <p:cNvSpPr txBox="1"/>
          <p:nvPr/>
        </p:nvSpPr>
        <p:spPr>
          <a:xfrm>
            <a:off x="6698950" y="1853900"/>
            <a:ext cx="2041500" cy="104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1800">
                <a:solidFill>
                  <a:srgbClr val="38761D"/>
                </a:solidFill>
              </a:rPr>
              <a:t>I</a:t>
            </a:r>
            <a:r>
              <a:rPr i="1" lang="en" sz="1800">
                <a:solidFill>
                  <a:srgbClr val="38761D"/>
                </a:solidFill>
              </a:rPr>
              <a:t>nternal pullup</a:t>
            </a:r>
            <a:endParaRPr i="1" sz="1800">
              <a:solidFill>
                <a:srgbClr val="38761D"/>
              </a:solidFill>
            </a:endParaRPr>
          </a:p>
          <a:p>
            <a:pPr indent="0" lvl="0" marL="0" rtl="0" algn="l">
              <a:spcBef>
                <a:spcPts val="0"/>
              </a:spcBef>
              <a:spcAft>
                <a:spcPts val="0"/>
              </a:spcAft>
              <a:buNone/>
            </a:pPr>
            <a:r>
              <a:rPr i="1" lang="en" sz="1800">
                <a:solidFill>
                  <a:srgbClr val="38761D"/>
                </a:solidFill>
              </a:rPr>
              <a:t>holds pin HIGH if switch is open.</a:t>
            </a:r>
            <a:endParaRPr i="1" sz="1800">
              <a:solidFill>
                <a:srgbClr val="38761D"/>
              </a:solidFill>
            </a:endParaRPr>
          </a:p>
        </p:txBody>
      </p:sp>
      <p:cxnSp>
        <p:nvCxnSpPr>
          <p:cNvPr id="287" name="Google Shape;287;p39"/>
          <p:cNvCxnSpPr/>
          <p:nvPr/>
        </p:nvCxnSpPr>
        <p:spPr>
          <a:xfrm rot="10800000">
            <a:off x="8129850" y="5108350"/>
            <a:ext cx="219900" cy="468900"/>
          </a:xfrm>
          <a:prstGeom prst="straightConnector1">
            <a:avLst/>
          </a:prstGeom>
          <a:noFill/>
          <a:ln cap="flat" cmpd="sng" w="28575">
            <a:solidFill>
              <a:srgbClr val="38761D"/>
            </a:solidFill>
            <a:prstDash val="solid"/>
            <a:round/>
            <a:headEnd len="med" w="med" type="none"/>
            <a:tailEnd len="med" w="med" type="triangle"/>
          </a:ln>
        </p:spPr>
      </p:cxnSp>
      <p:cxnSp>
        <p:nvCxnSpPr>
          <p:cNvPr id="288" name="Google Shape;288;p39"/>
          <p:cNvCxnSpPr/>
          <p:nvPr/>
        </p:nvCxnSpPr>
        <p:spPr>
          <a:xfrm rot="10800000">
            <a:off x="8004750" y="4211775"/>
            <a:ext cx="349200" cy="2700"/>
          </a:xfrm>
          <a:prstGeom prst="straightConnector1">
            <a:avLst/>
          </a:prstGeom>
          <a:noFill/>
          <a:ln cap="flat" cmpd="sng" w="28575">
            <a:solidFill>
              <a:srgbClr val="38761D"/>
            </a:solidFill>
            <a:prstDash val="solid"/>
            <a:round/>
            <a:headEnd len="med" w="med" type="none"/>
            <a:tailEnd len="med" w="med" type="none"/>
          </a:ln>
        </p:spPr>
      </p:cxnSp>
      <p:cxnSp>
        <p:nvCxnSpPr>
          <p:cNvPr id="289" name="Google Shape;289;p39"/>
          <p:cNvCxnSpPr/>
          <p:nvPr/>
        </p:nvCxnSpPr>
        <p:spPr>
          <a:xfrm>
            <a:off x="8340900" y="4227525"/>
            <a:ext cx="9000" cy="860400"/>
          </a:xfrm>
          <a:prstGeom prst="straightConnector1">
            <a:avLst/>
          </a:prstGeom>
          <a:noFill/>
          <a:ln cap="flat" cmpd="sng" w="28575">
            <a:solidFill>
              <a:srgbClr val="38761D"/>
            </a:solidFill>
            <a:prstDash val="solid"/>
            <a:round/>
            <a:headEnd len="med" w="med" type="none"/>
            <a:tailEnd len="med" w="med" type="none"/>
          </a:ln>
        </p:spPr>
      </p:cxnSp>
      <p:cxnSp>
        <p:nvCxnSpPr>
          <p:cNvPr id="290" name="Google Shape;290;p39"/>
          <p:cNvCxnSpPr/>
          <p:nvPr/>
        </p:nvCxnSpPr>
        <p:spPr>
          <a:xfrm>
            <a:off x="8349750" y="5527450"/>
            <a:ext cx="0" cy="908700"/>
          </a:xfrm>
          <a:prstGeom prst="straightConnector1">
            <a:avLst/>
          </a:prstGeom>
          <a:noFill/>
          <a:ln cap="flat" cmpd="sng" w="28575">
            <a:solidFill>
              <a:srgbClr val="38761D"/>
            </a:solidFill>
            <a:prstDash val="solid"/>
            <a:round/>
            <a:headEnd len="med" w="med" type="none"/>
            <a:tailEnd len="med" w="med" type="none"/>
          </a:ln>
        </p:spPr>
      </p:cxnSp>
      <p:sp>
        <p:nvSpPr>
          <p:cNvPr id="291" name="Google Shape;291;p39"/>
          <p:cNvSpPr/>
          <p:nvPr/>
        </p:nvSpPr>
        <p:spPr>
          <a:xfrm>
            <a:off x="8241325" y="6421325"/>
            <a:ext cx="219900" cy="190184"/>
          </a:xfrm>
          <a:prstGeom prst="flowChartMerge">
            <a:avLst/>
          </a:prstGeom>
          <a:no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39"/>
          <p:cNvSpPr txBox="1"/>
          <p:nvPr/>
        </p:nvSpPr>
        <p:spPr>
          <a:xfrm>
            <a:off x="6163050" y="4342400"/>
            <a:ext cx="1722300" cy="2202600"/>
          </a:xfrm>
          <a:prstGeom prst="rect">
            <a:avLst/>
          </a:prstGeom>
          <a:solidFill>
            <a:schemeClr val="lt1"/>
          </a:solidFill>
          <a:ln>
            <a:noFill/>
          </a:ln>
        </p:spPr>
        <p:txBody>
          <a:bodyPr anchorCtr="0" anchor="t" bIns="91425" lIns="91425" spcFirstLastPara="1" rIns="91425" wrap="square" tIns="91425">
            <a:noAutofit/>
          </a:bodyPr>
          <a:lstStyle/>
          <a:p>
            <a:pPr indent="0" lvl="0" marL="0" rtl="0" algn="r">
              <a:spcBef>
                <a:spcPts val="0"/>
              </a:spcBef>
              <a:spcAft>
                <a:spcPts val="0"/>
              </a:spcAft>
              <a:buNone/>
            </a:pPr>
            <a:r>
              <a:t/>
            </a:r>
            <a:endParaRPr i="1" sz="1800">
              <a:solidFill>
                <a:srgbClr val="38761D"/>
              </a:solidFill>
            </a:endParaRPr>
          </a:p>
          <a:p>
            <a:pPr indent="0" lvl="0" marL="0" rtl="0" algn="r">
              <a:spcBef>
                <a:spcPts val="0"/>
              </a:spcBef>
              <a:spcAft>
                <a:spcPts val="0"/>
              </a:spcAft>
              <a:buNone/>
            </a:pPr>
            <a:r>
              <a:rPr i="1" lang="en" sz="1800">
                <a:solidFill>
                  <a:srgbClr val="38761D"/>
                </a:solidFill>
              </a:rPr>
              <a:t>Wire switch from pin to ground.</a:t>
            </a:r>
            <a:endParaRPr i="1" sz="1800">
              <a:solidFill>
                <a:srgbClr val="38761D"/>
              </a:solidFill>
            </a:endParaRPr>
          </a:p>
          <a:p>
            <a:pPr indent="0" lvl="0" marL="0" rtl="0" algn="r">
              <a:spcBef>
                <a:spcPts val="0"/>
              </a:spcBef>
              <a:spcAft>
                <a:spcPts val="0"/>
              </a:spcAft>
              <a:buNone/>
            </a:pPr>
            <a:r>
              <a:t/>
            </a:r>
            <a:endParaRPr i="1" sz="1800">
              <a:solidFill>
                <a:srgbClr val="38761D"/>
              </a:solidFill>
            </a:endParaRPr>
          </a:p>
          <a:p>
            <a:pPr indent="0" lvl="0" marL="0" rtl="0" algn="r">
              <a:spcBef>
                <a:spcPts val="0"/>
              </a:spcBef>
              <a:spcAft>
                <a:spcPts val="0"/>
              </a:spcAft>
              <a:buNone/>
            </a:pPr>
            <a:r>
              <a:rPr i="1" lang="en" sz="1800">
                <a:solidFill>
                  <a:srgbClr val="38761D"/>
                </a:solidFill>
              </a:rPr>
              <a:t>Closing switch pulls pin LOW.</a:t>
            </a:r>
            <a:endParaRPr i="1" sz="1800">
              <a:solidFill>
                <a:srgbClr val="38761D"/>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0"/>
          <p:cNvSpPr txBox="1"/>
          <p:nvPr>
            <p:ph type="title"/>
          </p:nvPr>
        </p:nvSpPr>
        <p:spPr>
          <a:xfrm>
            <a:off x="311700" y="2355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to use a pin as INPUT</a:t>
            </a:r>
            <a:endParaRPr/>
          </a:p>
        </p:txBody>
      </p:sp>
      <p:sp>
        <p:nvSpPr>
          <p:cNvPr id="298" name="Google Shape;298;p40"/>
          <p:cNvSpPr txBox="1"/>
          <p:nvPr>
            <p:ph idx="1" type="body"/>
          </p:nvPr>
        </p:nvSpPr>
        <p:spPr>
          <a:xfrm>
            <a:off x="222250" y="4775850"/>
            <a:ext cx="8520600" cy="1888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In this </a:t>
            </a:r>
            <a:r>
              <a:rPr b="1" lang="en" sz="1600"/>
              <a:t>example</a:t>
            </a:r>
            <a:r>
              <a:rPr lang="en" sz="1600"/>
              <a:t>:</a:t>
            </a:r>
            <a:endParaRPr sz="1600"/>
          </a:p>
          <a:p>
            <a:pPr indent="-330200" lvl="0" marL="457200" rtl="0" algn="l">
              <a:spcBef>
                <a:spcPts val="0"/>
              </a:spcBef>
              <a:spcAft>
                <a:spcPts val="0"/>
              </a:spcAft>
              <a:buSzPts val="1600"/>
              <a:buChar char="●"/>
            </a:pPr>
            <a:r>
              <a:rPr lang="en" sz="1600"/>
              <a:t>pin 0 can be used as an input pin (ex: pushbutton)</a:t>
            </a:r>
            <a:endParaRPr sz="1600"/>
          </a:p>
          <a:p>
            <a:pPr indent="-330200" lvl="0" marL="457200" rtl="0" algn="l">
              <a:spcBef>
                <a:spcPts val="0"/>
              </a:spcBef>
              <a:spcAft>
                <a:spcPts val="0"/>
              </a:spcAft>
              <a:buSzPts val="1600"/>
              <a:buChar char="●"/>
            </a:pPr>
            <a:r>
              <a:rPr lang="en" sz="1600"/>
              <a:t>pin 5 as an output pin (ex: LED)</a:t>
            </a:r>
            <a:endParaRPr sz="1600"/>
          </a:p>
          <a:p>
            <a:pPr indent="-330200" lvl="0" marL="457200" rtl="0" algn="l">
              <a:spcBef>
                <a:spcPts val="0"/>
              </a:spcBef>
              <a:spcAft>
                <a:spcPts val="0"/>
              </a:spcAft>
              <a:buSzPts val="1600"/>
              <a:buChar char="●"/>
            </a:pPr>
            <a:r>
              <a:rPr lang="en" sz="1600"/>
              <a:t>pin 6 as an analog pin (ex: analog temperature sensor)</a:t>
            </a:r>
            <a:endParaRPr sz="1600"/>
          </a:p>
          <a:p>
            <a:pPr indent="-330200" lvl="0" marL="457200" rtl="0" algn="l">
              <a:spcBef>
                <a:spcPts val="0"/>
              </a:spcBef>
              <a:spcAft>
                <a:spcPts val="0"/>
              </a:spcAft>
              <a:buSzPts val="1600"/>
              <a:buChar char="●"/>
            </a:pPr>
            <a:r>
              <a:rPr lang="en" sz="1600"/>
              <a:t>pin 15 in alternate function mode (ex: control motor speed)</a:t>
            </a:r>
            <a:endParaRPr sz="1600"/>
          </a:p>
          <a:p>
            <a:pPr indent="0" lvl="0" marL="0" rtl="0" algn="l">
              <a:spcBef>
                <a:spcPts val="0"/>
              </a:spcBef>
              <a:spcAft>
                <a:spcPts val="0"/>
              </a:spcAft>
              <a:buNone/>
            </a:pPr>
            <a:r>
              <a:rPr lang="en" sz="1600"/>
              <a:t>By default (after a reboot) all I/O lines start as inputs (00).</a:t>
            </a:r>
            <a:endParaRPr/>
          </a:p>
        </p:txBody>
      </p:sp>
      <p:pic>
        <p:nvPicPr>
          <p:cNvPr id="299" name="Google Shape;299;p40"/>
          <p:cNvPicPr preferRelativeResize="0"/>
          <p:nvPr/>
        </p:nvPicPr>
        <p:blipFill rotWithShape="1">
          <a:blip r:embed="rId3">
            <a:alphaModFix/>
          </a:blip>
          <a:srcRect b="0" l="32858" r="51476" t="0"/>
          <a:stretch/>
        </p:blipFill>
        <p:spPr>
          <a:xfrm>
            <a:off x="4475675" y="3615800"/>
            <a:ext cx="192650" cy="934675"/>
          </a:xfrm>
          <a:prstGeom prst="rect">
            <a:avLst/>
          </a:prstGeom>
          <a:noFill/>
          <a:ln>
            <a:noFill/>
          </a:ln>
        </p:spPr>
      </p:pic>
      <p:pic>
        <p:nvPicPr>
          <p:cNvPr id="300" name="Google Shape;300;p40"/>
          <p:cNvPicPr preferRelativeResize="0"/>
          <p:nvPr/>
        </p:nvPicPr>
        <p:blipFill>
          <a:blip r:embed="rId4">
            <a:alphaModFix/>
          </a:blip>
          <a:stretch>
            <a:fillRect/>
          </a:stretch>
        </p:blipFill>
        <p:spPr>
          <a:xfrm>
            <a:off x="7780112" y="3651450"/>
            <a:ext cx="611775" cy="611775"/>
          </a:xfrm>
          <a:prstGeom prst="rect">
            <a:avLst/>
          </a:prstGeom>
          <a:noFill/>
          <a:ln>
            <a:noFill/>
          </a:ln>
        </p:spPr>
      </p:pic>
      <p:sp>
        <p:nvSpPr>
          <p:cNvPr id="301" name="Google Shape;301;p40"/>
          <p:cNvSpPr txBox="1"/>
          <p:nvPr/>
        </p:nvSpPr>
        <p:spPr>
          <a:xfrm>
            <a:off x="222250" y="1180525"/>
            <a:ext cx="8520600" cy="11601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rgbClr val="595959"/>
              </a:buClr>
              <a:buSzPts val="1800"/>
              <a:buChar char="●"/>
            </a:pPr>
            <a:r>
              <a:rPr lang="en" sz="1800">
                <a:solidFill>
                  <a:srgbClr val="595959"/>
                </a:solidFill>
              </a:rPr>
              <a:t>GPIOx-&gt;MODER = "Mode Register for GPIO Port x", contains 32 bits: two for each pin to determine its mode: Output, input, analog I/O, etc</a:t>
            </a:r>
            <a:endParaRPr sz="1800">
              <a:solidFill>
                <a:srgbClr val="595959"/>
              </a:solidFill>
            </a:endParaRPr>
          </a:p>
          <a:p>
            <a:pPr indent="-342900" lvl="0" marL="457200" rtl="0" algn="l">
              <a:lnSpc>
                <a:spcPct val="115000"/>
              </a:lnSpc>
              <a:spcBef>
                <a:spcPts val="0"/>
              </a:spcBef>
              <a:spcAft>
                <a:spcPts val="0"/>
              </a:spcAft>
              <a:buClr>
                <a:srgbClr val="595959"/>
              </a:buClr>
              <a:buSzPts val="1800"/>
              <a:buChar char="●"/>
            </a:pPr>
            <a:r>
              <a:rPr lang="en" sz="1800">
                <a:solidFill>
                  <a:srgbClr val="595959"/>
                </a:solidFill>
              </a:rPr>
              <a:t>Bits 2n and 2n+1 configure pin n.</a:t>
            </a:r>
            <a:endParaRPr sz="1800">
              <a:solidFill>
                <a:srgbClr val="595959"/>
              </a:solidFill>
            </a:endParaRPr>
          </a:p>
        </p:txBody>
      </p:sp>
      <p:graphicFrame>
        <p:nvGraphicFramePr>
          <p:cNvPr id="302" name="Google Shape;302;p40"/>
          <p:cNvGraphicFramePr/>
          <p:nvPr/>
        </p:nvGraphicFramePr>
        <p:xfrm>
          <a:off x="311700" y="2839695"/>
          <a:ext cx="3000000" cy="3000000"/>
        </p:xfrm>
        <a:graphic>
          <a:graphicData uri="http://schemas.openxmlformats.org/drawingml/2006/table">
            <a:tbl>
              <a:tblPr>
                <a:noFill/>
                <a:tableStyleId>{8F8B7705-C52C-460A-B6F9-B030132438BB}</a:tableStyleId>
              </a:tblPr>
              <a:tblGrid>
                <a:gridCol w="710050"/>
                <a:gridCol w="814400"/>
                <a:gridCol w="605700"/>
                <a:gridCol w="710050"/>
                <a:gridCol w="710050"/>
                <a:gridCol w="710050"/>
                <a:gridCol w="710050"/>
                <a:gridCol w="710050"/>
                <a:gridCol w="710050"/>
                <a:gridCol w="710050"/>
                <a:gridCol w="710050"/>
                <a:gridCol w="710050"/>
              </a:tblGrid>
              <a:tr h="664975">
                <a:tc>
                  <a:txBody>
                    <a:bodyPr/>
                    <a:lstStyle/>
                    <a:p>
                      <a:pPr indent="0" lvl="0" marL="0" marR="0" rtl="0" algn="l">
                        <a:lnSpc>
                          <a:spcPct val="100000"/>
                        </a:lnSpc>
                        <a:spcBef>
                          <a:spcPts val="0"/>
                        </a:spcBef>
                        <a:spcAft>
                          <a:spcPts val="0"/>
                        </a:spcAft>
                        <a:buNone/>
                      </a:pPr>
                      <a:r>
                        <a:rPr lang="en" sz="1000"/>
                        <a:t>Bit 31</a:t>
                      </a:r>
                      <a:endParaRPr sz="1000"/>
                    </a:p>
                    <a:p>
                      <a:pPr indent="0" lvl="0" marL="0" rtl="0" algn="ctr">
                        <a:spcBef>
                          <a:spcPts val="0"/>
                        </a:spcBef>
                        <a:spcAft>
                          <a:spcPts val="0"/>
                        </a:spcAft>
                        <a:buClr>
                          <a:schemeClr val="dk1"/>
                        </a:buClr>
                        <a:buSzPts val="1900"/>
                        <a:buFont typeface="Arial"/>
                        <a:buNone/>
                      </a:pPr>
                      <a:r>
                        <a:rPr lang="en" sz="1600">
                          <a:solidFill>
                            <a:srgbClr val="FF0000"/>
                          </a:solidFill>
                        </a:rPr>
                        <a:t>1</a:t>
                      </a:r>
                      <a:endParaRPr sz="1000"/>
                    </a:p>
                  </a:txBody>
                  <a:tcPr marT="121900" marB="121900" marR="91425" marL="91425"/>
                </a:tc>
                <a:tc>
                  <a:txBody>
                    <a:bodyPr/>
                    <a:lstStyle/>
                    <a:p>
                      <a:pPr indent="0" lvl="0" marL="0" marR="0" rtl="0" algn="l">
                        <a:lnSpc>
                          <a:spcPct val="100000"/>
                        </a:lnSpc>
                        <a:spcBef>
                          <a:spcPts val="0"/>
                        </a:spcBef>
                        <a:spcAft>
                          <a:spcPts val="0"/>
                        </a:spcAft>
                        <a:buNone/>
                      </a:pPr>
                      <a:r>
                        <a:rPr lang="en" sz="1000"/>
                        <a:t>Bit 30</a:t>
                      </a:r>
                      <a:endParaRPr sz="1000"/>
                    </a:p>
                    <a:p>
                      <a:pPr indent="0" lvl="0" marL="0" rtl="0" algn="ctr">
                        <a:spcBef>
                          <a:spcPts val="0"/>
                        </a:spcBef>
                        <a:spcAft>
                          <a:spcPts val="0"/>
                        </a:spcAft>
                        <a:buClr>
                          <a:schemeClr val="dk1"/>
                        </a:buClr>
                        <a:buSzPts val="1900"/>
                        <a:buFont typeface="Arial"/>
                        <a:buNone/>
                      </a:pPr>
                      <a:r>
                        <a:rPr lang="en" sz="1600">
                          <a:solidFill>
                            <a:srgbClr val="FF0000"/>
                          </a:solidFill>
                        </a:rPr>
                        <a:t>0</a:t>
                      </a:r>
                      <a:endParaRPr sz="1000"/>
                    </a:p>
                  </a:txBody>
                  <a:tcPr marT="121900" marB="121900" marR="91425" marL="91425"/>
                </a:tc>
                <a:tc>
                  <a:txBody>
                    <a:bodyPr/>
                    <a:lstStyle/>
                    <a:p>
                      <a:pPr indent="0" lvl="0" marL="0" marR="0" rtl="0" algn="l">
                        <a:lnSpc>
                          <a:spcPct val="100000"/>
                        </a:lnSpc>
                        <a:spcBef>
                          <a:spcPts val="0"/>
                        </a:spcBef>
                        <a:spcAft>
                          <a:spcPts val="0"/>
                        </a:spcAft>
                        <a:buNone/>
                      </a:pPr>
                      <a:r>
                        <a:rPr lang="en" sz="1000"/>
                        <a:t>…</a:t>
                      </a:r>
                      <a:endParaRPr sz="1000" u="none" cap="none" strike="noStrike"/>
                    </a:p>
                  </a:txBody>
                  <a:tcPr marT="121900" marB="121900" marR="91425" marL="91425"/>
                </a:tc>
                <a:tc>
                  <a:txBody>
                    <a:bodyPr/>
                    <a:lstStyle/>
                    <a:p>
                      <a:pPr indent="0" lvl="0" marL="0" marR="0" rtl="0" algn="l">
                        <a:lnSpc>
                          <a:spcPct val="100000"/>
                        </a:lnSpc>
                        <a:spcBef>
                          <a:spcPts val="0"/>
                        </a:spcBef>
                        <a:spcAft>
                          <a:spcPts val="0"/>
                        </a:spcAft>
                        <a:buNone/>
                      </a:pPr>
                      <a:r>
                        <a:rPr lang="en" sz="1000"/>
                        <a:t>Bit 13</a:t>
                      </a:r>
                      <a:endParaRPr sz="1000"/>
                    </a:p>
                    <a:p>
                      <a:pPr indent="0" lvl="0" marL="0" rtl="0" algn="ctr">
                        <a:spcBef>
                          <a:spcPts val="0"/>
                        </a:spcBef>
                        <a:spcAft>
                          <a:spcPts val="0"/>
                        </a:spcAft>
                        <a:buClr>
                          <a:schemeClr val="dk1"/>
                        </a:buClr>
                        <a:buSzPts val="1900"/>
                        <a:buFont typeface="Arial"/>
                        <a:buNone/>
                      </a:pPr>
                      <a:r>
                        <a:rPr lang="en" sz="1600">
                          <a:solidFill>
                            <a:srgbClr val="FF0000"/>
                          </a:solidFill>
                        </a:rPr>
                        <a:t>1</a:t>
                      </a:r>
                      <a:endParaRPr sz="1000"/>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000" u="none" cap="none" strike="noStrike"/>
                        <a:t>Bit </a:t>
                      </a:r>
                      <a:r>
                        <a:rPr lang="en" sz="1000"/>
                        <a:t>12</a:t>
                      </a:r>
                      <a:endParaRPr sz="1000"/>
                    </a:p>
                    <a:p>
                      <a:pPr indent="0" lvl="0" marL="0" rtl="0" algn="ctr">
                        <a:spcBef>
                          <a:spcPts val="0"/>
                        </a:spcBef>
                        <a:spcAft>
                          <a:spcPts val="0"/>
                        </a:spcAft>
                        <a:buClr>
                          <a:schemeClr val="dk1"/>
                        </a:buClr>
                        <a:buSzPts val="1900"/>
                        <a:buFont typeface="Arial"/>
                        <a:buNone/>
                      </a:pPr>
                      <a:r>
                        <a:rPr lang="en" sz="1600">
                          <a:solidFill>
                            <a:srgbClr val="FF0000"/>
                          </a:solidFill>
                        </a:rPr>
                        <a:t>1</a:t>
                      </a:r>
                      <a:endParaRPr sz="1000"/>
                    </a:p>
                  </a:txBody>
                  <a:tcPr marT="121900" marB="121900" marR="91425" marL="91425"/>
                </a:tc>
                <a:tc>
                  <a:txBody>
                    <a:bodyPr/>
                    <a:lstStyle/>
                    <a:p>
                      <a:pPr indent="0" lvl="0" marL="0" marR="0" rtl="0" algn="l">
                        <a:lnSpc>
                          <a:spcPct val="100000"/>
                        </a:lnSpc>
                        <a:spcBef>
                          <a:spcPts val="0"/>
                        </a:spcBef>
                        <a:spcAft>
                          <a:spcPts val="0"/>
                        </a:spcAft>
                        <a:buClr>
                          <a:srgbClr val="000000"/>
                        </a:buClr>
                        <a:buSzPts val="1900"/>
                        <a:buFont typeface="Arial"/>
                        <a:buNone/>
                      </a:pPr>
                      <a:r>
                        <a:rPr lang="en" sz="1000" u="none" cap="none" strike="noStrike"/>
                        <a:t>Bit </a:t>
                      </a:r>
                      <a:r>
                        <a:rPr lang="en" sz="1000"/>
                        <a:t>11</a:t>
                      </a:r>
                      <a:endParaRPr sz="1000"/>
                    </a:p>
                    <a:p>
                      <a:pPr indent="0" lvl="0" marL="0" marR="0" rtl="0" algn="ctr">
                        <a:lnSpc>
                          <a:spcPct val="100000"/>
                        </a:lnSpc>
                        <a:spcBef>
                          <a:spcPts val="0"/>
                        </a:spcBef>
                        <a:spcAft>
                          <a:spcPts val="0"/>
                        </a:spcAft>
                        <a:buClr>
                          <a:srgbClr val="000000"/>
                        </a:buClr>
                        <a:buSzPts val="1900"/>
                        <a:buFont typeface="Arial"/>
                        <a:buNone/>
                      </a:pPr>
                      <a:r>
                        <a:rPr lang="en" sz="1600">
                          <a:solidFill>
                            <a:srgbClr val="FF0000"/>
                          </a:solidFill>
                        </a:rPr>
                        <a:t>0</a:t>
                      </a:r>
                      <a:endParaRPr sz="1600">
                        <a:solidFill>
                          <a:srgbClr val="FF0000"/>
                        </a:solidFill>
                      </a:endParaRPr>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10</a:t>
                      </a:r>
                      <a:endParaRPr sz="1000"/>
                    </a:p>
                    <a:p>
                      <a:pPr indent="0" lvl="0" marL="0" marR="0" rtl="0" algn="ctr">
                        <a:lnSpc>
                          <a:spcPct val="100000"/>
                        </a:lnSpc>
                        <a:spcBef>
                          <a:spcPts val="0"/>
                        </a:spcBef>
                        <a:spcAft>
                          <a:spcPts val="0"/>
                        </a:spcAft>
                        <a:buClr>
                          <a:srgbClr val="000000"/>
                        </a:buClr>
                        <a:buSzPts val="1900"/>
                        <a:buFont typeface="Arial"/>
                        <a:buNone/>
                      </a:pPr>
                      <a:r>
                        <a:rPr lang="en" sz="1600">
                          <a:solidFill>
                            <a:srgbClr val="FF0000"/>
                          </a:solidFill>
                        </a:rPr>
                        <a:t>1</a:t>
                      </a:r>
                      <a:endParaRPr sz="1600">
                        <a:solidFill>
                          <a:srgbClr val="FF0000"/>
                        </a:solidFill>
                      </a:endParaRPr>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a:t>
                      </a:r>
                      <a:r>
                        <a:rPr lang="en" sz="1000"/>
                        <a:t>9</a:t>
                      </a:r>
                      <a:endParaRPr sz="1000"/>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a:t>…</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2</a:t>
                      </a:r>
                      <a:endParaRPr sz="1000" u="none" cap="none" strike="noStrike"/>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1</a:t>
                      </a:r>
                      <a:endParaRPr sz="1000" u="none" cap="none" strike="noStrike"/>
                    </a:p>
                    <a:p>
                      <a:pPr indent="0" lvl="0" marL="0" rtl="0" algn="ctr">
                        <a:spcBef>
                          <a:spcPts val="0"/>
                        </a:spcBef>
                        <a:spcAft>
                          <a:spcPts val="0"/>
                        </a:spcAft>
                        <a:buClr>
                          <a:schemeClr val="dk1"/>
                        </a:buClr>
                        <a:buSzPts val="1900"/>
                        <a:buFont typeface="Arial"/>
                        <a:buNone/>
                      </a:pPr>
                      <a:r>
                        <a:rPr lang="en" sz="1600">
                          <a:solidFill>
                            <a:srgbClr val="FF0000"/>
                          </a:solidFill>
                        </a:rPr>
                        <a:t>0</a:t>
                      </a:r>
                      <a:endParaRPr sz="1000"/>
                    </a:p>
                  </a:txBody>
                  <a:tcPr marT="121900" marB="121900" marR="91425" marL="91425"/>
                </a:tc>
                <a:tc>
                  <a:txBody>
                    <a:bodyPr/>
                    <a:lstStyle/>
                    <a:p>
                      <a:pPr indent="0" lvl="0" marL="0" marR="0" rtl="0" algn="ctr">
                        <a:lnSpc>
                          <a:spcPct val="100000"/>
                        </a:lnSpc>
                        <a:spcBef>
                          <a:spcPts val="0"/>
                        </a:spcBef>
                        <a:spcAft>
                          <a:spcPts val="0"/>
                        </a:spcAft>
                        <a:buClr>
                          <a:srgbClr val="000000"/>
                        </a:buClr>
                        <a:buSzPts val="1900"/>
                        <a:buFont typeface="Arial"/>
                        <a:buNone/>
                      </a:pPr>
                      <a:r>
                        <a:rPr lang="en" sz="1000" u="none" cap="none" strike="noStrike"/>
                        <a:t>Bit 0 </a:t>
                      </a:r>
                      <a:endParaRPr sz="1000" u="none" cap="none" strike="noStrike"/>
                    </a:p>
                    <a:p>
                      <a:pPr indent="0" lvl="0" marL="0" rtl="0" algn="ctr">
                        <a:spcBef>
                          <a:spcPts val="0"/>
                        </a:spcBef>
                        <a:spcAft>
                          <a:spcPts val="0"/>
                        </a:spcAft>
                        <a:buClr>
                          <a:schemeClr val="dk1"/>
                        </a:buClr>
                        <a:buSzPts val="1900"/>
                        <a:buFont typeface="Arial"/>
                        <a:buNone/>
                      </a:pPr>
                      <a:r>
                        <a:rPr lang="en" sz="1600">
                          <a:solidFill>
                            <a:srgbClr val="FF0000"/>
                          </a:solidFill>
                        </a:rPr>
                        <a:t>0</a:t>
                      </a:r>
                      <a:endParaRPr sz="1000"/>
                    </a:p>
                  </a:txBody>
                  <a:tcPr marT="121900" marB="121900" marR="91425" marL="91425"/>
                </a:tc>
              </a:tr>
            </a:tbl>
          </a:graphicData>
        </a:graphic>
      </p:graphicFrame>
      <p:sp>
        <p:nvSpPr>
          <p:cNvPr id="303" name="Google Shape;303;p40"/>
          <p:cNvSpPr txBox="1"/>
          <p:nvPr/>
        </p:nvSpPr>
        <p:spPr>
          <a:xfrm>
            <a:off x="3861950" y="2266900"/>
            <a:ext cx="172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configure pin 5</a:t>
            </a:r>
            <a:endParaRPr sz="1800">
              <a:solidFill>
                <a:srgbClr val="0000FF"/>
              </a:solidFill>
            </a:endParaRPr>
          </a:p>
        </p:txBody>
      </p:sp>
      <p:sp>
        <p:nvSpPr>
          <p:cNvPr id="304" name="Google Shape;304;p40"/>
          <p:cNvSpPr txBox="1"/>
          <p:nvPr/>
        </p:nvSpPr>
        <p:spPr>
          <a:xfrm>
            <a:off x="7221100" y="2266900"/>
            <a:ext cx="172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A00FF"/>
                </a:solidFill>
              </a:rPr>
              <a:t>configure pin 0</a:t>
            </a:r>
            <a:endParaRPr sz="1800">
              <a:solidFill>
                <a:srgbClr val="2A00FF"/>
              </a:solidFill>
            </a:endParaRPr>
          </a:p>
        </p:txBody>
      </p:sp>
      <p:sp>
        <p:nvSpPr>
          <p:cNvPr id="305" name="Google Shape;305;p40"/>
          <p:cNvSpPr txBox="1"/>
          <p:nvPr/>
        </p:nvSpPr>
        <p:spPr>
          <a:xfrm>
            <a:off x="183225" y="2266900"/>
            <a:ext cx="18165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2A00FF"/>
                </a:solidFill>
              </a:rPr>
              <a:t>configure pin 15</a:t>
            </a:r>
            <a:endParaRPr sz="1800">
              <a:solidFill>
                <a:srgbClr val="2A00FF"/>
              </a:solidFill>
            </a:endParaRPr>
          </a:p>
        </p:txBody>
      </p:sp>
      <p:sp>
        <p:nvSpPr>
          <p:cNvPr id="306" name="Google Shape;306;p40"/>
          <p:cNvSpPr/>
          <p:nvPr/>
        </p:nvSpPr>
        <p:spPr>
          <a:xfrm>
            <a:off x="3845400" y="2839638"/>
            <a:ext cx="1453200" cy="665100"/>
          </a:xfrm>
          <a:prstGeom prst="ellipse">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307" name="Google Shape;307;p40"/>
          <p:cNvSpPr/>
          <p:nvPr/>
        </p:nvSpPr>
        <p:spPr>
          <a:xfrm>
            <a:off x="7359400" y="2839625"/>
            <a:ext cx="1453200" cy="665100"/>
          </a:xfrm>
          <a:prstGeom prst="ellipse">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308" name="Google Shape;308;p40"/>
          <p:cNvSpPr/>
          <p:nvPr/>
        </p:nvSpPr>
        <p:spPr>
          <a:xfrm>
            <a:off x="298450" y="2839613"/>
            <a:ext cx="1453200" cy="665100"/>
          </a:xfrm>
          <a:prstGeom prst="ellipse">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309" name="Google Shape;309;p40"/>
          <p:cNvSpPr/>
          <p:nvPr/>
        </p:nvSpPr>
        <p:spPr>
          <a:xfrm>
            <a:off x="2397600" y="2839638"/>
            <a:ext cx="1453200" cy="665100"/>
          </a:xfrm>
          <a:prstGeom prst="ellipse">
            <a:avLst/>
          </a:prstGeom>
          <a:noFill/>
          <a:ln cap="flat" cmpd="sng" w="2857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rgbClr val="0000FF"/>
              </a:solidFill>
            </a:endParaRPr>
          </a:p>
        </p:txBody>
      </p:sp>
      <p:sp>
        <p:nvSpPr>
          <p:cNvPr id="310" name="Google Shape;310;p40"/>
          <p:cNvSpPr txBox="1"/>
          <p:nvPr/>
        </p:nvSpPr>
        <p:spPr>
          <a:xfrm>
            <a:off x="2191800" y="2266900"/>
            <a:ext cx="17298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rgbClr val="0000FF"/>
                </a:solidFill>
              </a:rPr>
              <a:t>configure pin 6</a:t>
            </a:r>
            <a:endParaRPr sz="1800">
              <a:solidFill>
                <a:srgbClr val="0000FF"/>
              </a:solidFill>
            </a:endParaRPr>
          </a:p>
        </p:txBody>
      </p:sp>
      <p:pic>
        <p:nvPicPr>
          <p:cNvPr id="311" name="Google Shape;311;p40"/>
          <p:cNvPicPr preferRelativeResize="0"/>
          <p:nvPr/>
        </p:nvPicPr>
        <p:blipFill>
          <a:blip r:embed="rId5">
            <a:alphaModFix/>
          </a:blip>
          <a:stretch>
            <a:fillRect/>
          </a:stretch>
        </p:blipFill>
        <p:spPr>
          <a:xfrm>
            <a:off x="2589362" y="3615800"/>
            <a:ext cx="934675" cy="934675"/>
          </a:xfrm>
          <a:prstGeom prst="rect">
            <a:avLst/>
          </a:prstGeom>
          <a:noFill/>
          <a:ln>
            <a:noFill/>
          </a:ln>
        </p:spPr>
      </p:pic>
      <p:pic>
        <p:nvPicPr>
          <p:cNvPr id="312" name="Google Shape;312;p40"/>
          <p:cNvPicPr preferRelativeResize="0"/>
          <p:nvPr/>
        </p:nvPicPr>
        <p:blipFill>
          <a:blip r:embed="rId6">
            <a:alphaModFix/>
          </a:blip>
          <a:stretch>
            <a:fillRect/>
          </a:stretch>
        </p:blipFill>
        <p:spPr>
          <a:xfrm>
            <a:off x="445000" y="3615750"/>
            <a:ext cx="1160100" cy="1160100"/>
          </a:xfrm>
          <a:prstGeom prst="rect">
            <a:avLst/>
          </a:prstGeom>
          <a:noFill/>
          <a:ln>
            <a:noFill/>
          </a:ln>
        </p:spPr>
      </p:pic>
      <p:graphicFrame>
        <p:nvGraphicFramePr>
          <p:cNvPr id="313" name="Google Shape;313;p40"/>
          <p:cNvGraphicFramePr/>
          <p:nvPr/>
        </p:nvGraphicFramePr>
        <p:xfrm>
          <a:off x="6464100" y="4409950"/>
          <a:ext cx="3000000" cy="3000000"/>
        </p:xfrm>
        <a:graphic>
          <a:graphicData uri="http://schemas.openxmlformats.org/drawingml/2006/table">
            <a:tbl>
              <a:tblPr>
                <a:noFill/>
                <a:tableStyleId>{7BFC3E56-0A12-41E2-8237-432FA2F4DB43}</a:tableStyleId>
              </a:tblPr>
              <a:tblGrid>
                <a:gridCol w="756975"/>
                <a:gridCol w="1729825"/>
              </a:tblGrid>
              <a:tr h="381000">
                <a:tc>
                  <a:txBody>
                    <a:bodyPr/>
                    <a:lstStyle/>
                    <a:p>
                      <a:pPr indent="0" lvl="0" marL="0" rtl="0" algn="l">
                        <a:spcBef>
                          <a:spcPts val="0"/>
                        </a:spcBef>
                        <a:spcAft>
                          <a:spcPts val="0"/>
                        </a:spcAft>
                        <a:buNone/>
                      </a:pPr>
                      <a:r>
                        <a:rPr lang="en"/>
                        <a:t>Bits</a:t>
                      </a:r>
                      <a:endParaRPr/>
                    </a:p>
                  </a:txBody>
                  <a:tcPr marT="91425" marB="91425" marR="91425" marL="91425"/>
                </a:tc>
                <a:tc>
                  <a:txBody>
                    <a:bodyPr/>
                    <a:lstStyle/>
                    <a:p>
                      <a:pPr indent="0" lvl="0" marL="0" rtl="0" algn="l">
                        <a:spcBef>
                          <a:spcPts val="0"/>
                        </a:spcBef>
                        <a:spcAft>
                          <a:spcPts val="0"/>
                        </a:spcAft>
                        <a:buNone/>
                      </a:pPr>
                      <a:r>
                        <a:rPr lang="en"/>
                        <a:t>Function</a:t>
                      </a:r>
                      <a:endParaRPr/>
                    </a:p>
                  </a:txBody>
                  <a:tcPr marT="91425" marB="91425" marR="91425" marL="91425"/>
                </a:tc>
              </a:tr>
              <a:tr h="381000">
                <a:tc>
                  <a:txBody>
                    <a:bodyPr/>
                    <a:lstStyle/>
                    <a:p>
                      <a:pPr indent="0" lvl="0" marL="0" rtl="0" algn="l">
                        <a:spcBef>
                          <a:spcPts val="0"/>
                        </a:spcBef>
                        <a:spcAft>
                          <a:spcPts val="0"/>
                        </a:spcAft>
                        <a:buNone/>
                      </a:pPr>
                      <a:r>
                        <a:rPr lang="en">
                          <a:solidFill>
                            <a:srgbClr val="FF0000"/>
                          </a:solidFill>
                        </a:rPr>
                        <a:t>00</a:t>
                      </a:r>
                      <a:endParaRPr>
                        <a:solidFill>
                          <a:srgbClr val="FF0000"/>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Input</a:t>
                      </a:r>
                      <a:endParaRPr>
                        <a:solidFill>
                          <a:srgbClr val="0000FF"/>
                        </a:solidFill>
                      </a:endParaRPr>
                    </a:p>
                  </a:txBody>
                  <a:tcPr marT="91425" marB="91425" marR="91425" marL="91425"/>
                </a:tc>
              </a:tr>
              <a:tr h="381000">
                <a:tc>
                  <a:txBody>
                    <a:bodyPr/>
                    <a:lstStyle/>
                    <a:p>
                      <a:pPr indent="0" lvl="0" marL="0" rtl="0" algn="l">
                        <a:spcBef>
                          <a:spcPts val="0"/>
                        </a:spcBef>
                        <a:spcAft>
                          <a:spcPts val="0"/>
                        </a:spcAft>
                        <a:buNone/>
                      </a:pPr>
                      <a:r>
                        <a:rPr lang="en">
                          <a:solidFill>
                            <a:srgbClr val="FF0000"/>
                          </a:solidFill>
                        </a:rPr>
                        <a:t>01</a:t>
                      </a:r>
                      <a:endParaRPr>
                        <a:solidFill>
                          <a:srgbClr val="FF0000"/>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Output</a:t>
                      </a:r>
                      <a:endParaRPr>
                        <a:solidFill>
                          <a:srgbClr val="0000FF"/>
                        </a:solidFill>
                      </a:endParaRPr>
                    </a:p>
                  </a:txBody>
                  <a:tcPr marT="91425" marB="91425" marR="91425" marL="91425"/>
                </a:tc>
              </a:tr>
              <a:tr h="381000">
                <a:tc>
                  <a:txBody>
                    <a:bodyPr/>
                    <a:lstStyle/>
                    <a:p>
                      <a:pPr indent="0" lvl="0" marL="0" rtl="0" algn="l">
                        <a:spcBef>
                          <a:spcPts val="0"/>
                        </a:spcBef>
                        <a:spcAft>
                          <a:spcPts val="0"/>
                        </a:spcAft>
                        <a:buNone/>
                      </a:pPr>
                      <a:r>
                        <a:rPr lang="en">
                          <a:solidFill>
                            <a:srgbClr val="FF0000"/>
                          </a:solidFill>
                        </a:rPr>
                        <a:t>10</a:t>
                      </a:r>
                      <a:endParaRPr>
                        <a:solidFill>
                          <a:srgbClr val="FF0000"/>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Alternate function</a:t>
                      </a:r>
                      <a:endParaRPr>
                        <a:solidFill>
                          <a:srgbClr val="0000FF"/>
                        </a:solidFill>
                      </a:endParaRPr>
                    </a:p>
                  </a:txBody>
                  <a:tcPr marT="91425" marB="91425" marR="91425" marL="91425"/>
                </a:tc>
              </a:tr>
              <a:tr h="381000">
                <a:tc>
                  <a:txBody>
                    <a:bodyPr/>
                    <a:lstStyle/>
                    <a:p>
                      <a:pPr indent="0" lvl="0" marL="0" rtl="0" algn="l">
                        <a:spcBef>
                          <a:spcPts val="0"/>
                        </a:spcBef>
                        <a:spcAft>
                          <a:spcPts val="0"/>
                        </a:spcAft>
                        <a:buNone/>
                      </a:pPr>
                      <a:r>
                        <a:rPr lang="en">
                          <a:solidFill>
                            <a:srgbClr val="FF0000"/>
                          </a:solidFill>
                        </a:rPr>
                        <a:t>11</a:t>
                      </a:r>
                      <a:endParaRPr>
                        <a:solidFill>
                          <a:srgbClr val="FF0000"/>
                        </a:solidFill>
                      </a:endParaRPr>
                    </a:p>
                  </a:txBody>
                  <a:tcPr marT="91425" marB="91425" marR="91425" marL="91425"/>
                </a:tc>
                <a:tc>
                  <a:txBody>
                    <a:bodyPr/>
                    <a:lstStyle/>
                    <a:p>
                      <a:pPr indent="0" lvl="0" marL="0" rtl="0" algn="l">
                        <a:spcBef>
                          <a:spcPts val="0"/>
                        </a:spcBef>
                        <a:spcAft>
                          <a:spcPts val="0"/>
                        </a:spcAft>
                        <a:buNone/>
                      </a:pPr>
                      <a:r>
                        <a:rPr lang="en">
                          <a:solidFill>
                            <a:srgbClr val="0000FF"/>
                          </a:solidFill>
                        </a:rPr>
                        <a:t>Analog</a:t>
                      </a:r>
                      <a:endParaRPr>
                        <a:solidFill>
                          <a:srgbClr val="0000FF"/>
                        </a:solidFill>
                      </a:endParaRPr>
                    </a:p>
                  </a:txBody>
                  <a:tcPr marT="91425" marB="91425" marR="91425" marL="91425"/>
                </a:tc>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4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How do you know???</a:t>
            </a:r>
            <a:endParaRPr/>
          </a:p>
        </p:txBody>
      </p:sp>
      <p:sp>
        <p:nvSpPr>
          <p:cNvPr id="319" name="Google Shape;319;p41"/>
          <p:cNvSpPr txBox="1"/>
          <p:nvPr>
            <p:ph idx="1" type="body"/>
          </p:nvPr>
        </p:nvSpPr>
        <p:spPr>
          <a:xfrm>
            <a:off x="311700" y="1717708"/>
            <a:ext cx="8520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a:t>
            </a:r>
            <a:r>
              <a:rPr b="1" lang="en">
                <a:solidFill>
                  <a:srgbClr val="0000FF"/>
                </a:solidFill>
              </a:rPr>
              <a:t>Reference Manual</a:t>
            </a:r>
            <a:r>
              <a:rPr lang="en"/>
              <a:t> contains all of this </a:t>
            </a:r>
            <a:br>
              <a:rPr lang="en"/>
            </a:br>
            <a:r>
              <a:rPr lang="en"/>
              <a:t>information!</a:t>
            </a:r>
            <a:endParaRPr/>
          </a:p>
          <a:p>
            <a:pPr indent="-342900" lvl="0" marL="457200" rtl="0" algn="l">
              <a:spcBef>
                <a:spcPts val="1600"/>
              </a:spcBef>
              <a:spcAft>
                <a:spcPts val="0"/>
              </a:spcAft>
              <a:buSzPts val="1800"/>
              <a:buChar char="●"/>
            </a:pPr>
            <a:r>
              <a:rPr lang="en"/>
              <a:t>Open the reference manual.</a:t>
            </a:r>
            <a:endParaRPr/>
          </a:p>
          <a:p>
            <a:pPr indent="-342900" lvl="0" marL="457200" rtl="0" algn="l">
              <a:spcBef>
                <a:spcPts val="0"/>
              </a:spcBef>
              <a:spcAft>
                <a:spcPts val="0"/>
              </a:spcAft>
              <a:buSzPts val="1800"/>
              <a:buChar char="●"/>
            </a:pPr>
            <a:r>
              <a:rPr lang="en"/>
              <a:t>Scroll </a:t>
            </a:r>
            <a:r>
              <a:rPr lang="en"/>
              <a:t>through the table of contents.</a:t>
            </a:r>
            <a:endParaRPr/>
          </a:p>
          <a:p>
            <a:pPr indent="-342900" lvl="0" marL="457200" rtl="0" algn="l">
              <a:spcBef>
                <a:spcPts val="0"/>
              </a:spcBef>
              <a:spcAft>
                <a:spcPts val="0"/>
              </a:spcAft>
              <a:buSzPts val="1800"/>
              <a:buChar char="●"/>
            </a:pPr>
            <a:r>
              <a:rPr lang="en"/>
              <a:t>Find the General-purpose I/Os (GPIO) entry, follow the link to the GPIO section.</a:t>
            </a:r>
            <a:endParaRPr/>
          </a:p>
          <a:p>
            <a:pPr indent="-342900" lvl="0" marL="457200" rtl="0" algn="l">
              <a:spcBef>
                <a:spcPts val="0"/>
              </a:spcBef>
              <a:spcAft>
                <a:spcPts val="0"/>
              </a:spcAft>
              <a:buSzPts val="1800"/>
              <a:buChar char="●"/>
            </a:pPr>
            <a:r>
              <a:rPr lang="en"/>
              <a:t>Scroll through the section and note where the images for input/output function were taken from!</a:t>
            </a:r>
            <a:endParaRPr/>
          </a:p>
          <a:p>
            <a:pPr indent="-342900" lvl="0" marL="457200" rtl="0" algn="l">
              <a:spcBef>
                <a:spcPts val="0"/>
              </a:spcBef>
              <a:spcAft>
                <a:spcPts val="0"/>
              </a:spcAft>
              <a:buSzPts val="1800"/>
              <a:buChar char="●"/>
            </a:pPr>
            <a:r>
              <a:rPr lang="en"/>
              <a:t>Go to Section 6.4 GPIO registers</a:t>
            </a:r>
            <a:endParaRPr/>
          </a:p>
          <a:p>
            <a:pPr indent="-342900" lvl="0" marL="457200" rtl="0" algn="l">
              <a:spcBef>
                <a:spcPts val="0"/>
              </a:spcBef>
              <a:spcAft>
                <a:spcPts val="0"/>
              </a:spcAft>
              <a:buSzPts val="1800"/>
              <a:buChar char="●"/>
            </a:pPr>
            <a:r>
              <a:rPr lang="en"/>
              <a:t>GPIOx_MODER is described in 6.4.1</a:t>
            </a:r>
            <a:endParaRPr/>
          </a:p>
          <a:p>
            <a:pPr indent="0" lvl="0" marL="0" rtl="0" algn="l">
              <a:spcBef>
                <a:spcPts val="1600"/>
              </a:spcBef>
              <a:spcAft>
                <a:spcPts val="1600"/>
              </a:spcAft>
              <a:buNone/>
            </a:pPr>
            <a:r>
              <a:rPr lang="en"/>
              <a:t>Note: GPIOx_MODER is the name of the register. GPIOx-&gt;MODER is a dereferenced pointer to the memory location that is mapped to the register. To change GPIOx_MODER we write to GPIOx-&gt;MODER. So in our code we'll always use GPIOx-&gt;MODER.</a:t>
            </a:r>
            <a:endParaRPr/>
          </a:p>
        </p:txBody>
      </p:sp>
      <p:pic>
        <p:nvPicPr>
          <p:cNvPr id="320" name="Google Shape;320;p41"/>
          <p:cNvPicPr preferRelativeResize="0"/>
          <p:nvPr/>
        </p:nvPicPr>
        <p:blipFill>
          <a:blip r:embed="rId3">
            <a:alphaModFix/>
          </a:blip>
          <a:stretch>
            <a:fillRect/>
          </a:stretch>
        </p:blipFill>
        <p:spPr>
          <a:xfrm>
            <a:off x="5567525" y="67900"/>
            <a:ext cx="3508575" cy="3134750"/>
          </a:xfrm>
          <a:prstGeom prst="rect">
            <a:avLst/>
          </a:prstGeom>
          <a:noFill/>
          <a:ln cap="flat" cmpd="sng" w="28575">
            <a:solidFill>
              <a:srgbClr val="FF00FF"/>
            </a:solidFill>
            <a:prstDash val="solid"/>
            <a:round/>
            <a:headEnd len="sm" w="sm" type="none"/>
            <a:tailEnd len="sm" w="sm" type="none"/>
          </a:ln>
        </p:spPr>
      </p:pic>
      <p:sp>
        <p:nvSpPr>
          <p:cNvPr id="321" name="Google Shape;321;p41"/>
          <p:cNvSpPr/>
          <p:nvPr/>
        </p:nvSpPr>
        <p:spPr>
          <a:xfrm>
            <a:off x="5748975" y="1912525"/>
            <a:ext cx="1957800" cy="169800"/>
          </a:xfrm>
          <a:prstGeom prst="rect">
            <a:avLst/>
          </a:prstGeom>
          <a:noFill/>
          <a:ln cap="flat" cmpd="sng" w="28575">
            <a:solidFill>
              <a:srgbClr val="FF00F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Enabling the Internal Pullup Resistor</a:t>
            </a:r>
            <a:endParaRPr/>
          </a:p>
        </p:txBody>
      </p:sp>
      <p:sp>
        <p:nvSpPr>
          <p:cNvPr id="327" name="Google Shape;327;p42"/>
          <p:cNvSpPr txBox="1"/>
          <p:nvPr>
            <p:ph idx="1" type="body"/>
          </p:nvPr>
        </p:nvSpPr>
        <p:spPr>
          <a:xfrm>
            <a:off x="207350" y="1616933"/>
            <a:ext cx="8520600" cy="4555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Each GPIO pin has an optional internal pull-up resistor associated with it.</a:t>
            </a:r>
            <a:endParaRPr/>
          </a:p>
          <a:p>
            <a:pPr indent="-317500" lvl="1" marL="914400" rtl="0" algn="l">
              <a:spcBef>
                <a:spcPts val="0"/>
              </a:spcBef>
              <a:spcAft>
                <a:spcPts val="0"/>
              </a:spcAft>
              <a:buSzPts val="1400"/>
              <a:buChar char="○"/>
            </a:pPr>
            <a:r>
              <a:rPr lang="en"/>
              <a:t>If the pull-up is enabled, in the absence of an input signal, the input pin will be "pulled up" to a logical 1.</a:t>
            </a:r>
            <a:endParaRPr/>
          </a:p>
          <a:p>
            <a:pPr indent="-317500" lvl="1" marL="914400" rtl="0" algn="l">
              <a:spcBef>
                <a:spcPts val="0"/>
              </a:spcBef>
              <a:spcAft>
                <a:spcPts val="0"/>
              </a:spcAft>
              <a:buSzPts val="1400"/>
              <a:buChar char="○"/>
            </a:pPr>
            <a:r>
              <a:rPr lang="en"/>
              <a:t>If an active signal is attached to the pin the pull-up has no effect.</a:t>
            </a:r>
            <a:endParaRPr/>
          </a:p>
          <a:p>
            <a:pPr indent="-342900" lvl="0" marL="457200" rtl="0" algn="l">
              <a:spcBef>
                <a:spcPts val="0"/>
              </a:spcBef>
              <a:spcAft>
                <a:spcPts val="0"/>
              </a:spcAft>
              <a:buSzPts val="1800"/>
              <a:buChar char="●"/>
            </a:pPr>
            <a:r>
              <a:rPr lang="en"/>
              <a:t>To enable a pull-up resistor for a pin that is used as input (bits in GPIO-&gt;MODERx set to '00') we configure the corresponding GPIO port pull-up/pull-down register.</a:t>
            </a:r>
            <a:endParaRPr/>
          </a:p>
          <a:p>
            <a:pPr indent="0" lvl="0" marL="0" rtl="0" algn="l">
              <a:spcBef>
                <a:spcPts val="1600"/>
              </a:spcBef>
              <a:spcAft>
                <a:spcPts val="0"/>
              </a:spcAft>
              <a:buNone/>
            </a:pPr>
            <a:r>
              <a:rPr lang="en">
                <a:solidFill>
                  <a:srgbClr val="0000FF"/>
                </a:solidFill>
              </a:rPr>
              <a:t>Look at the reference manual and find: </a:t>
            </a:r>
            <a:endParaRPr>
              <a:solidFill>
                <a:srgbClr val="0000FF"/>
              </a:solidFill>
            </a:endParaRPr>
          </a:p>
          <a:p>
            <a:pPr indent="-342900" lvl="0" marL="457200" rtl="0" algn="l">
              <a:spcBef>
                <a:spcPts val="1600"/>
              </a:spcBef>
              <a:spcAft>
                <a:spcPts val="0"/>
              </a:spcAft>
              <a:buClr>
                <a:srgbClr val="0000FF"/>
              </a:buClr>
              <a:buSzPts val="1800"/>
              <a:buChar char="●"/>
            </a:pPr>
            <a:r>
              <a:rPr lang="en">
                <a:solidFill>
                  <a:srgbClr val="0000FF"/>
                </a:solidFill>
              </a:rPr>
              <a:t>The name of the pull-up/pull-down register for GPIO port x (x=A,B,...)</a:t>
            </a:r>
            <a:endParaRPr>
              <a:solidFill>
                <a:srgbClr val="0000FF"/>
              </a:solidFill>
            </a:endParaRPr>
          </a:p>
          <a:p>
            <a:pPr indent="-342900" lvl="0" marL="457200" rtl="0" algn="l">
              <a:spcBef>
                <a:spcPts val="0"/>
              </a:spcBef>
              <a:spcAft>
                <a:spcPts val="0"/>
              </a:spcAft>
              <a:buClr>
                <a:srgbClr val="0000FF"/>
              </a:buClr>
              <a:buSzPts val="1800"/>
              <a:buChar char="●"/>
            </a:pPr>
            <a:r>
              <a:rPr lang="en">
                <a:solidFill>
                  <a:srgbClr val="0000FF"/>
                </a:solidFill>
              </a:rPr>
              <a:t>How do we refer to it in code? </a:t>
            </a:r>
            <a:endParaRPr>
              <a:solidFill>
                <a:srgbClr val="0000FF"/>
              </a:solidFill>
            </a:endParaRPr>
          </a:p>
          <a:p>
            <a:pPr indent="-342900" lvl="0" marL="457200" rtl="0" algn="l">
              <a:spcBef>
                <a:spcPts val="0"/>
              </a:spcBef>
              <a:spcAft>
                <a:spcPts val="0"/>
              </a:spcAft>
              <a:buClr>
                <a:srgbClr val="0000FF"/>
              </a:buClr>
              <a:buSzPts val="1800"/>
              <a:buChar char="●"/>
            </a:pPr>
            <a:r>
              <a:rPr lang="en">
                <a:solidFill>
                  <a:srgbClr val="0000FF"/>
                </a:solidFill>
              </a:rPr>
              <a:t>Which bits should we set to what values in order to configure pin 4 of port B as an input pin?</a:t>
            </a:r>
            <a:endParaRPr>
              <a:solidFill>
                <a:srgbClr val="0000F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1" name="Shape 331"/>
        <p:cNvGrpSpPr/>
        <p:nvPr/>
      </p:nvGrpSpPr>
      <p:grpSpPr>
        <a:xfrm>
          <a:off x="0" y="0"/>
          <a:ext cx="0" cy="0"/>
          <a:chOff x="0" y="0"/>
          <a:chExt cx="0" cy="0"/>
        </a:xfrm>
      </p:grpSpPr>
      <p:sp>
        <p:nvSpPr>
          <p:cNvPr id="332" name="Google Shape;332;p43"/>
          <p:cNvSpPr txBox="1"/>
          <p:nvPr>
            <p:ph type="title"/>
          </p:nvPr>
        </p:nvSpPr>
        <p:spPr>
          <a:xfrm>
            <a:off x="311700" y="16101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Enabling the Internal Pullup Resistor</a:t>
            </a:r>
            <a:endParaRPr/>
          </a:p>
        </p:txBody>
      </p:sp>
      <p:sp>
        <p:nvSpPr>
          <p:cNvPr id="333" name="Google Shape;333;p43"/>
          <p:cNvSpPr txBox="1"/>
          <p:nvPr>
            <p:ph idx="1" type="body"/>
          </p:nvPr>
        </p:nvSpPr>
        <p:spPr>
          <a:xfrm>
            <a:off x="311700" y="811853"/>
            <a:ext cx="8520600" cy="28260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0000FF"/>
              </a:buClr>
              <a:buSzPts val="1800"/>
              <a:buChar char="●"/>
            </a:pPr>
            <a:r>
              <a:rPr lang="en">
                <a:solidFill>
                  <a:srgbClr val="0000FF"/>
                </a:solidFill>
              </a:rPr>
              <a:t>The name of the pull-up/pull-down register for GPIO port x: </a:t>
            </a:r>
            <a:br>
              <a:rPr lang="en">
                <a:solidFill>
                  <a:srgbClr val="0000FF"/>
                </a:solidFill>
              </a:rPr>
            </a:br>
            <a:r>
              <a:rPr lang="en">
                <a:solidFill>
                  <a:srgbClr val="FF0000"/>
                </a:solidFill>
              </a:rPr>
              <a:t>GPIOx_PUPDR</a:t>
            </a:r>
            <a:endParaRPr>
              <a:solidFill>
                <a:srgbClr val="FF0000"/>
              </a:solidFill>
            </a:endParaRPr>
          </a:p>
          <a:p>
            <a:pPr indent="-342900" lvl="0" marL="457200" rtl="0" algn="l">
              <a:spcBef>
                <a:spcPts val="0"/>
              </a:spcBef>
              <a:spcAft>
                <a:spcPts val="0"/>
              </a:spcAft>
              <a:buClr>
                <a:srgbClr val="0000FF"/>
              </a:buClr>
              <a:buSzPts val="1800"/>
              <a:buChar char="●"/>
            </a:pPr>
            <a:r>
              <a:rPr lang="en">
                <a:solidFill>
                  <a:srgbClr val="0000FF"/>
                </a:solidFill>
              </a:rPr>
              <a:t>How do we refer to it in code? </a:t>
            </a:r>
            <a:br>
              <a:rPr lang="en">
                <a:solidFill>
                  <a:srgbClr val="0000FF"/>
                </a:solidFill>
              </a:rPr>
            </a:br>
            <a:r>
              <a:rPr lang="en">
                <a:solidFill>
                  <a:srgbClr val="FF0000"/>
                </a:solidFill>
              </a:rPr>
              <a:t>GPIOx-&gt;PUPDR</a:t>
            </a:r>
            <a:endParaRPr>
              <a:solidFill>
                <a:srgbClr val="FF0000"/>
              </a:solidFill>
            </a:endParaRPr>
          </a:p>
          <a:p>
            <a:pPr indent="-342900" lvl="0" marL="457200" rtl="0" algn="l">
              <a:spcBef>
                <a:spcPts val="0"/>
              </a:spcBef>
              <a:spcAft>
                <a:spcPts val="0"/>
              </a:spcAft>
              <a:buClr>
                <a:srgbClr val="0000FF"/>
              </a:buClr>
              <a:buSzPts val="1800"/>
              <a:buChar char="●"/>
            </a:pPr>
            <a:r>
              <a:rPr lang="en">
                <a:solidFill>
                  <a:srgbClr val="0000FF"/>
                </a:solidFill>
              </a:rPr>
              <a:t>Which bits should we set to what values in order to configure pin 4 of port B as an input pin?</a:t>
            </a:r>
            <a:br>
              <a:rPr lang="en">
                <a:solidFill>
                  <a:srgbClr val="0000FF"/>
                </a:solidFill>
              </a:rPr>
            </a:br>
            <a:r>
              <a:rPr lang="en">
                <a:solidFill>
                  <a:srgbClr val="FF0000"/>
                </a:solidFill>
              </a:rPr>
              <a:t>Bit 8 of GPIOB-&gt;PUPDR: 1</a:t>
            </a:r>
            <a:br>
              <a:rPr lang="en">
                <a:solidFill>
                  <a:srgbClr val="FF0000"/>
                </a:solidFill>
              </a:rPr>
            </a:br>
            <a:r>
              <a:rPr lang="en">
                <a:solidFill>
                  <a:srgbClr val="FF0000"/>
                </a:solidFill>
              </a:rPr>
              <a:t>Bit 9 of GPIOB-&gt;PUPDR: 0</a:t>
            </a:r>
            <a:endParaRPr>
              <a:solidFill>
                <a:srgbClr val="FF0000"/>
              </a:solidFill>
            </a:endParaRPr>
          </a:p>
        </p:txBody>
      </p:sp>
      <p:pic>
        <p:nvPicPr>
          <p:cNvPr id="334" name="Google Shape;334;p43"/>
          <p:cNvPicPr preferRelativeResize="0"/>
          <p:nvPr/>
        </p:nvPicPr>
        <p:blipFill>
          <a:blip r:embed="rId3">
            <a:alphaModFix/>
          </a:blip>
          <a:stretch>
            <a:fillRect/>
          </a:stretch>
        </p:blipFill>
        <p:spPr>
          <a:xfrm>
            <a:off x="122575" y="4249100"/>
            <a:ext cx="6377600" cy="2548400"/>
          </a:xfrm>
          <a:prstGeom prst="rect">
            <a:avLst/>
          </a:prstGeom>
          <a:noFill/>
          <a:ln>
            <a:noFill/>
          </a:ln>
        </p:spPr>
      </p:pic>
      <p:pic>
        <p:nvPicPr>
          <p:cNvPr id="335" name="Google Shape;335;p43"/>
          <p:cNvPicPr preferRelativeResize="0"/>
          <p:nvPr/>
        </p:nvPicPr>
        <p:blipFill rotWithShape="1">
          <a:blip r:embed="rId4">
            <a:alphaModFix/>
          </a:blip>
          <a:srcRect b="0" l="0" r="24414" t="0"/>
          <a:stretch/>
        </p:blipFill>
        <p:spPr>
          <a:xfrm>
            <a:off x="4147522" y="2657475"/>
            <a:ext cx="4787751" cy="15430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4"/>
          <p:cNvSpPr txBox="1"/>
          <p:nvPr>
            <p:ph type="title"/>
          </p:nvPr>
        </p:nvSpPr>
        <p:spPr>
          <a:xfrm>
            <a:off x="311700" y="31009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Reading the state of a pin</a:t>
            </a:r>
            <a:endParaRPr/>
          </a:p>
        </p:txBody>
      </p:sp>
      <p:sp>
        <p:nvSpPr>
          <p:cNvPr id="341" name="Google Shape;341;p44"/>
          <p:cNvSpPr txBox="1"/>
          <p:nvPr>
            <p:ph idx="1" type="body"/>
          </p:nvPr>
        </p:nvSpPr>
        <p:spPr>
          <a:xfrm>
            <a:off x="311700" y="1073604"/>
            <a:ext cx="8520600" cy="22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read the state of pin n in PORTx (x = A, B, C, D, F):</a:t>
            </a:r>
            <a:endParaRPr/>
          </a:p>
          <a:p>
            <a:pPr indent="-342900" lvl="0" marL="457200" rtl="0" algn="l">
              <a:spcBef>
                <a:spcPts val="1600"/>
              </a:spcBef>
              <a:spcAft>
                <a:spcPts val="0"/>
              </a:spcAft>
              <a:buSzPts val="1800"/>
              <a:buChar char="●"/>
            </a:pPr>
            <a:r>
              <a:rPr lang="en"/>
              <a:t>Ensure that bits 2n and 2n+1 in GPIOx-&gt;MODER are cleared (input).</a:t>
            </a:r>
            <a:endParaRPr/>
          </a:p>
          <a:p>
            <a:pPr indent="-342900" lvl="0" marL="457200" rtl="0" algn="l">
              <a:spcBef>
                <a:spcPts val="0"/>
              </a:spcBef>
              <a:spcAft>
                <a:spcPts val="0"/>
              </a:spcAft>
              <a:buSzPts val="1800"/>
              <a:buChar char="●"/>
            </a:pPr>
            <a:r>
              <a:rPr lang="en"/>
              <a:t>If desired, enable internal pull-up resistor by setting bits 2n and 2n+1 in GPIOx-&gt;PUPDR to 01.</a:t>
            </a:r>
            <a:endParaRPr/>
          </a:p>
          <a:p>
            <a:pPr indent="-342900" lvl="0" marL="457200" rtl="0" algn="l">
              <a:spcBef>
                <a:spcPts val="0"/>
              </a:spcBef>
              <a:spcAft>
                <a:spcPts val="0"/>
              </a:spcAft>
              <a:buSzPts val="1800"/>
              <a:buChar char="●"/>
            </a:pPr>
            <a:r>
              <a:rPr lang="en"/>
              <a:t>Read bit n of GPIOx-&gt;IDR (input data register).  Read all 16 bits in the register, perform logical AND with a </a:t>
            </a:r>
            <a:r>
              <a:rPr lang="en">
                <a:solidFill>
                  <a:srgbClr val="FF0000"/>
                </a:solidFill>
              </a:rPr>
              <a:t>bit mask</a:t>
            </a:r>
            <a:r>
              <a:rPr lang="en"/>
              <a:t> t</a:t>
            </a:r>
            <a:r>
              <a:rPr lang="en"/>
              <a:t>o isolate pin n.</a:t>
            </a:r>
            <a:endParaRPr/>
          </a:p>
          <a:p>
            <a:pPr indent="0" lvl="0" marL="0" rtl="0" algn="l">
              <a:spcBef>
                <a:spcPts val="1600"/>
              </a:spcBef>
              <a:spcAft>
                <a:spcPts val="1600"/>
              </a:spcAft>
              <a:buNone/>
            </a:pPr>
            <a:r>
              <a:rPr lang="en"/>
              <a:t>Example: Button wired to Nucleo pin D5 (PB4):</a:t>
            </a:r>
            <a:endParaRPr/>
          </a:p>
        </p:txBody>
      </p:sp>
      <p:sp>
        <p:nvSpPr>
          <p:cNvPr id="342" name="Google Shape;342;p44"/>
          <p:cNvSpPr txBox="1"/>
          <p:nvPr/>
        </p:nvSpPr>
        <p:spPr>
          <a:xfrm>
            <a:off x="417450" y="3791475"/>
            <a:ext cx="3205500" cy="2664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9900FF"/>
                </a:solidFill>
              </a:rPr>
              <a:t>Setup:</a:t>
            </a:r>
            <a:br>
              <a:rPr lang="en"/>
            </a:br>
            <a:br>
              <a:rPr lang="en"/>
            </a:br>
            <a:r>
              <a:rPr b="1" lang="en" sz="1200">
                <a:solidFill>
                  <a:srgbClr val="3F7F59"/>
                </a:solidFill>
                <a:highlight>
                  <a:srgbClr val="FFFFFF"/>
                </a:highlight>
                <a:latin typeface="Courier New"/>
                <a:ea typeface="Courier New"/>
                <a:cs typeface="Courier New"/>
                <a:sym typeface="Courier New"/>
              </a:rPr>
              <a:t>// Configure PB4 as input pin</a:t>
            </a:r>
            <a:endParaRPr b="1" sz="1200"/>
          </a:p>
          <a:p>
            <a:pPr indent="0" lvl="0" marL="0" rtl="0" algn="l">
              <a:lnSpc>
                <a:spcPct val="115000"/>
              </a:lnSpc>
              <a:spcBef>
                <a:spcPts val="0"/>
              </a:spcBef>
              <a:spcAft>
                <a:spcPts val="0"/>
              </a:spcAft>
              <a:buNone/>
            </a:pPr>
            <a:r>
              <a:rPr b="1" lang="en" sz="1200">
                <a:solidFill>
                  <a:schemeClr val="dk1"/>
                </a:solidFill>
                <a:highlight>
                  <a:srgbClr val="FFFFFF"/>
                </a:highlight>
                <a:latin typeface="Courier New"/>
                <a:ea typeface="Courier New"/>
                <a:cs typeface="Courier New"/>
                <a:sym typeface="Courier New"/>
              </a:rPr>
              <a:t>GPIOB-&gt;MODER &amp;= ~(1U&lt;&lt;8);     GPIOB-&gt;MODER &amp;= ~(1U&lt;&lt;9);</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3F7F59"/>
                </a:solidFill>
                <a:highlight>
                  <a:srgbClr val="FFFFFF"/>
                </a:highlight>
                <a:latin typeface="Courier New"/>
                <a:ea typeface="Courier New"/>
                <a:cs typeface="Courier New"/>
                <a:sym typeface="Courier New"/>
              </a:rPr>
              <a:t>// (may not be necessary since this is default reset value)</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3F7F59"/>
                </a:solidFill>
                <a:highlight>
                  <a:srgbClr val="FFFFFF"/>
                </a:highlight>
                <a:latin typeface="Courier New"/>
                <a:ea typeface="Courier New"/>
                <a:cs typeface="Courier New"/>
                <a:sym typeface="Courier New"/>
              </a:rPr>
              <a:t>// enable pull-up for PB4</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GPIOB-&gt;PUPDR |= (1U&lt;&lt;8);</a:t>
            </a:r>
            <a:endParaRPr b="1" sz="12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200">
                <a:solidFill>
                  <a:schemeClr val="dk1"/>
                </a:solidFill>
                <a:highlight>
                  <a:srgbClr val="FFFFFF"/>
                </a:highlight>
                <a:latin typeface="Courier New"/>
                <a:ea typeface="Courier New"/>
                <a:cs typeface="Courier New"/>
                <a:sym typeface="Courier New"/>
              </a:rPr>
              <a:t>GPIOB-&gt;PUPDR &amp;= ~(1U&lt;&lt;9);</a:t>
            </a:r>
            <a:endParaRPr b="1" sz="1200">
              <a:latin typeface="Courier New"/>
              <a:ea typeface="Courier New"/>
              <a:cs typeface="Courier New"/>
              <a:sym typeface="Courier New"/>
            </a:endParaRPr>
          </a:p>
        </p:txBody>
      </p:sp>
      <p:sp>
        <p:nvSpPr>
          <p:cNvPr id="343" name="Google Shape;343;p44"/>
          <p:cNvSpPr txBox="1"/>
          <p:nvPr/>
        </p:nvSpPr>
        <p:spPr>
          <a:xfrm>
            <a:off x="4894275" y="3791475"/>
            <a:ext cx="3708000" cy="261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solidFill>
                  <a:srgbClr val="9900FF"/>
                </a:solidFill>
              </a:rPr>
              <a:t>Read button state:</a:t>
            </a:r>
            <a:br>
              <a:rPr lang="en"/>
            </a:br>
            <a:br>
              <a:rPr lang="en" sz="1200"/>
            </a:br>
            <a:r>
              <a:rPr b="1" lang="en" sz="1200">
                <a:solidFill>
                  <a:srgbClr val="3F7F59"/>
                </a:solidFill>
                <a:highlight>
                  <a:srgbClr val="FFFFFF"/>
                </a:highlight>
                <a:latin typeface="Courier New"/>
                <a:ea typeface="Courier New"/>
                <a:cs typeface="Courier New"/>
                <a:sym typeface="Courier New"/>
              </a:rPr>
              <a:t>// Button on PB4 (D5)</a:t>
            </a:r>
            <a:endParaRPr b="1" sz="1200"/>
          </a:p>
          <a:p>
            <a:pPr indent="0" lvl="0" marL="0" rtl="0" algn="l">
              <a:lnSpc>
                <a:spcPct val="115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#define BUTTON_PIN (1U&lt;&lt;4)</a:t>
            </a:r>
            <a:endParaRPr b="1" sz="1200">
              <a:solidFill>
                <a:srgbClr val="7F005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a:t>
            </a:r>
            <a:endParaRPr b="1" sz="1200">
              <a:solidFill>
                <a:srgbClr val="7F0055"/>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solidFill>
                  <a:srgbClr val="7F0055"/>
                </a:solidFill>
                <a:highlight>
                  <a:srgbClr val="FFFFFF"/>
                </a:highlight>
                <a:latin typeface="Courier New"/>
                <a:ea typeface="Courier New"/>
                <a:cs typeface="Courier New"/>
                <a:sym typeface="Courier New"/>
              </a:rPr>
              <a:t>if</a:t>
            </a:r>
            <a:r>
              <a:rPr b="1" lang="en" sz="1200">
                <a:solidFill>
                  <a:schemeClr val="dk1"/>
                </a:solidFill>
                <a:highlight>
                  <a:srgbClr val="FFFFFF"/>
                </a:highlight>
                <a:latin typeface="Courier New"/>
                <a:ea typeface="Courier New"/>
                <a:cs typeface="Courier New"/>
                <a:sym typeface="Courier New"/>
              </a:rPr>
              <a:t> ((GPIOB-&gt;IDR </a:t>
            </a:r>
            <a:r>
              <a:rPr b="1" lang="en" sz="1200">
                <a:solidFill>
                  <a:srgbClr val="FF0000"/>
                </a:solidFill>
                <a:highlight>
                  <a:srgbClr val="FFFFFF"/>
                </a:highlight>
                <a:latin typeface="Courier New"/>
                <a:ea typeface="Courier New"/>
                <a:cs typeface="Courier New"/>
                <a:sym typeface="Courier New"/>
              </a:rPr>
              <a:t>&amp; BUTTON_PIN</a:t>
            </a:r>
            <a:r>
              <a:rPr b="1" lang="en" sz="1200">
                <a:solidFill>
                  <a:schemeClr val="dk1"/>
                </a:solidFill>
                <a:highlight>
                  <a:srgbClr val="FFFFFF"/>
                </a:highlight>
                <a:latin typeface="Courier New"/>
                <a:ea typeface="Courier New"/>
                <a:cs typeface="Courier New"/>
                <a:sym typeface="Courier New"/>
              </a:rPr>
              <a:t>) == 0) {</a:t>
            </a:r>
            <a:endParaRPr b="1" sz="1200"/>
          </a:p>
          <a:p>
            <a:pPr indent="0" lvl="0" marL="0" rtl="0" algn="l">
              <a:lnSpc>
                <a:spcPct val="115000"/>
              </a:lnSpc>
              <a:spcBef>
                <a:spcPts val="0"/>
              </a:spcBef>
              <a:spcAft>
                <a:spcPts val="0"/>
              </a:spcAft>
              <a:buNone/>
            </a:pPr>
            <a:r>
              <a:rPr b="1" lang="en" sz="1200">
                <a:latin typeface="Courier New"/>
                <a:ea typeface="Courier New"/>
                <a:cs typeface="Courier New"/>
                <a:sym typeface="Courier New"/>
              </a:rPr>
              <a:t>	</a:t>
            </a:r>
            <a:r>
              <a:rPr b="1" lang="en" sz="1200">
                <a:solidFill>
                  <a:srgbClr val="3F7F59"/>
                </a:solidFill>
                <a:latin typeface="Courier New"/>
                <a:ea typeface="Courier New"/>
                <a:cs typeface="Courier New"/>
                <a:sym typeface="Courier New"/>
              </a:rPr>
              <a:t>// button pressed</a:t>
            </a:r>
            <a:endParaRPr b="1" sz="1200">
              <a:solidFill>
                <a:srgbClr val="3F7F59"/>
              </a:solidFill>
              <a:latin typeface="Courier New"/>
              <a:ea typeface="Courier New"/>
              <a:cs typeface="Courier New"/>
              <a:sym typeface="Courier New"/>
            </a:endParaRPr>
          </a:p>
          <a:p>
            <a:pPr indent="457200" lvl="0" marL="0" rtl="0" algn="l">
              <a:lnSpc>
                <a:spcPct val="115000"/>
              </a:lnSpc>
              <a:spcBef>
                <a:spcPts val="0"/>
              </a:spcBef>
              <a:spcAft>
                <a:spcPts val="0"/>
              </a:spcAft>
              <a:buNone/>
            </a:pPr>
            <a:r>
              <a:rPr b="1" lang="en" sz="1200">
                <a:solidFill>
                  <a:srgbClr val="3F7F59"/>
                </a:solidFill>
                <a:latin typeface="Courier New"/>
                <a:ea typeface="Courier New"/>
                <a:cs typeface="Courier New"/>
                <a:sym typeface="Courier New"/>
              </a:rPr>
              <a:t>// do stuff</a:t>
            </a:r>
            <a:endParaRPr b="1" sz="1200">
              <a:solidFill>
                <a:srgbClr val="3F7F59"/>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latin typeface="Courier New"/>
                <a:ea typeface="Courier New"/>
                <a:cs typeface="Courier New"/>
                <a:sym typeface="Courier New"/>
              </a:rPr>
              <a:t>} else {</a:t>
            </a:r>
            <a:endParaRPr b="1" sz="1200">
              <a:latin typeface="Courier New"/>
              <a:ea typeface="Courier New"/>
              <a:cs typeface="Courier New"/>
              <a:sym typeface="Courier New"/>
            </a:endParaRPr>
          </a:p>
          <a:p>
            <a:pPr indent="457200" lvl="0" marL="0" rtl="0" algn="l">
              <a:lnSpc>
                <a:spcPct val="115000"/>
              </a:lnSpc>
              <a:spcBef>
                <a:spcPts val="0"/>
              </a:spcBef>
              <a:spcAft>
                <a:spcPts val="0"/>
              </a:spcAft>
              <a:buNone/>
            </a:pPr>
            <a:r>
              <a:rPr b="1" lang="en" sz="1200">
                <a:solidFill>
                  <a:srgbClr val="3F7F59"/>
                </a:solidFill>
                <a:latin typeface="Courier New"/>
                <a:ea typeface="Courier New"/>
                <a:cs typeface="Courier New"/>
                <a:sym typeface="Courier New"/>
              </a:rPr>
              <a:t>// button not pressed</a:t>
            </a:r>
            <a:endParaRPr b="1" sz="1200">
              <a:solidFill>
                <a:srgbClr val="3F7F59"/>
              </a:solidFill>
              <a:latin typeface="Courier New"/>
              <a:ea typeface="Courier New"/>
              <a:cs typeface="Courier New"/>
              <a:sym typeface="Courier New"/>
            </a:endParaRPr>
          </a:p>
          <a:p>
            <a:pPr indent="457200" lvl="0" marL="0" rtl="0" algn="l">
              <a:lnSpc>
                <a:spcPct val="115000"/>
              </a:lnSpc>
              <a:spcBef>
                <a:spcPts val="0"/>
              </a:spcBef>
              <a:spcAft>
                <a:spcPts val="0"/>
              </a:spcAft>
              <a:buNone/>
            </a:pPr>
            <a:r>
              <a:rPr b="1" lang="en" sz="1200">
                <a:solidFill>
                  <a:srgbClr val="3F7F59"/>
                </a:solidFill>
                <a:latin typeface="Courier New"/>
                <a:ea typeface="Courier New"/>
                <a:cs typeface="Courier New"/>
                <a:sym typeface="Courier New"/>
              </a:rPr>
              <a:t>// do other stuff</a:t>
            </a:r>
            <a:endParaRPr b="1" sz="1200">
              <a:solidFill>
                <a:srgbClr val="3F7F59"/>
              </a:solidFill>
              <a:latin typeface="Courier New"/>
              <a:ea typeface="Courier New"/>
              <a:cs typeface="Courier New"/>
              <a:sym typeface="Courier New"/>
            </a:endParaRPr>
          </a:p>
          <a:p>
            <a:pPr indent="0" lvl="0" marL="0" rtl="0" algn="l">
              <a:lnSpc>
                <a:spcPct val="115000"/>
              </a:lnSpc>
              <a:spcBef>
                <a:spcPts val="0"/>
              </a:spcBef>
              <a:spcAft>
                <a:spcPts val="0"/>
              </a:spcAft>
              <a:buNone/>
            </a:pPr>
            <a:r>
              <a:rPr b="1" lang="en" sz="1200">
                <a:latin typeface="Courier New"/>
                <a:ea typeface="Courier New"/>
                <a:cs typeface="Courier New"/>
                <a:sym typeface="Courier New"/>
              </a:rPr>
              <a:t>}</a:t>
            </a:r>
            <a:br>
              <a:rPr b="1" lang="en" sz="1200">
                <a:latin typeface="Courier New"/>
                <a:ea typeface="Courier New"/>
                <a:cs typeface="Courier New"/>
                <a:sym typeface="Courier New"/>
              </a:rPr>
            </a:br>
            <a:endParaRPr b="1" sz="1200"/>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45"/>
          <p:cNvSpPr txBox="1"/>
          <p:nvPr>
            <p:ph type="title"/>
          </p:nvPr>
        </p:nvSpPr>
        <p:spPr>
          <a:xfrm>
            <a:off x="311700" y="275342"/>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Pushbutton exercises</a:t>
            </a:r>
            <a:endParaRPr/>
          </a:p>
        </p:txBody>
      </p:sp>
      <p:sp>
        <p:nvSpPr>
          <p:cNvPr id="349" name="Google Shape;349;p45"/>
          <p:cNvSpPr txBox="1"/>
          <p:nvPr>
            <p:ph idx="1" type="body"/>
          </p:nvPr>
        </p:nvSpPr>
        <p:spPr>
          <a:xfrm>
            <a:off x="311700" y="843900"/>
            <a:ext cx="4467000" cy="252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Create a new copy of your TemplateProject and name it "Buttons". This creates an </a:t>
            </a:r>
            <a:r>
              <a:rPr lang="en" sz="1600"/>
              <a:t>entirely</a:t>
            </a:r>
            <a:r>
              <a:rPr lang="en" sz="1600"/>
              <a:t> new project for you. </a:t>
            </a:r>
            <a:endParaRPr sz="1600"/>
          </a:p>
          <a:p>
            <a:pPr indent="0" lvl="0" marL="0" rtl="0" algn="l">
              <a:spcBef>
                <a:spcPts val="1600"/>
              </a:spcBef>
              <a:spcAft>
                <a:spcPts val="0"/>
              </a:spcAft>
              <a:buNone/>
            </a:pPr>
            <a:r>
              <a:rPr lang="en" sz="1600"/>
              <a:t>Download “button.c” from Canvas and place it into the Src folder in your buttons project.</a:t>
            </a:r>
            <a:endParaRPr sz="1600"/>
          </a:p>
          <a:p>
            <a:pPr indent="0" lvl="0" marL="0" rtl="0" algn="l">
              <a:spcBef>
                <a:spcPts val="1600"/>
              </a:spcBef>
              <a:spcAft>
                <a:spcPts val="1600"/>
              </a:spcAft>
              <a:buNone/>
            </a:pPr>
            <a:r>
              <a:rPr lang="en" sz="1600"/>
              <a:t>This is how things should look in  your Project Explorer in the IDE:</a:t>
            </a:r>
            <a:endParaRPr sz="1600"/>
          </a:p>
        </p:txBody>
      </p:sp>
      <p:pic>
        <p:nvPicPr>
          <p:cNvPr id="350" name="Google Shape;350;p45" title="LED_x3_button_bb.png"/>
          <p:cNvPicPr preferRelativeResize="0"/>
          <p:nvPr/>
        </p:nvPicPr>
        <p:blipFill>
          <a:blip r:embed="rId3">
            <a:alphaModFix/>
          </a:blip>
          <a:stretch>
            <a:fillRect/>
          </a:stretch>
        </p:blipFill>
        <p:spPr>
          <a:xfrm>
            <a:off x="5051076" y="620888"/>
            <a:ext cx="3561950" cy="5917175"/>
          </a:xfrm>
          <a:prstGeom prst="rect">
            <a:avLst/>
          </a:prstGeom>
          <a:noFill/>
          <a:ln>
            <a:noFill/>
          </a:ln>
        </p:spPr>
      </p:pic>
      <p:pic>
        <p:nvPicPr>
          <p:cNvPr id="351" name="Google Shape;351;p45"/>
          <p:cNvPicPr preferRelativeResize="0"/>
          <p:nvPr/>
        </p:nvPicPr>
        <p:blipFill>
          <a:blip r:embed="rId4">
            <a:alphaModFix/>
          </a:blip>
          <a:stretch>
            <a:fillRect/>
          </a:stretch>
        </p:blipFill>
        <p:spPr>
          <a:xfrm>
            <a:off x="606900" y="3373800"/>
            <a:ext cx="3495232" cy="3360275"/>
          </a:xfrm>
          <a:prstGeom prst="rect">
            <a:avLst/>
          </a:prstGeom>
          <a:noFill/>
          <a:ln>
            <a:noFill/>
          </a:ln>
        </p:spPr>
      </p:pic>
      <p:sp>
        <p:nvSpPr>
          <p:cNvPr id="352" name="Google Shape;352;p45"/>
          <p:cNvSpPr/>
          <p:nvPr/>
        </p:nvSpPr>
        <p:spPr>
          <a:xfrm>
            <a:off x="1170550" y="5122850"/>
            <a:ext cx="1060500" cy="234000"/>
          </a:xfrm>
          <a:prstGeom prst="rect">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46"/>
          <p:cNvSpPr txBox="1"/>
          <p:nvPr>
            <p:ph type="title"/>
          </p:nvPr>
        </p:nvSpPr>
        <p:spPr>
          <a:xfrm>
            <a:off x="311700" y="-8"/>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button.c</a:t>
            </a:r>
            <a:endParaRPr/>
          </a:p>
        </p:txBody>
      </p:sp>
      <p:sp>
        <p:nvSpPr>
          <p:cNvPr id="358" name="Google Shape;358;p46"/>
          <p:cNvSpPr txBox="1"/>
          <p:nvPr>
            <p:ph idx="1" type="body"/>
          </p:nvPr>
        </p:nvSpPr>
        <p:spPr>
          <a:xfrm>
            <a:off x="311700" y="615125"/>
            <a:ext cx="8520600" cy="6243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100">
                <a:solidFill>
                  <a:srgbClr val="3F7F59"/>
                </a:solidFill>
                <a:highlight>
                  <a:srgbClr val="FFFFFF"/>
                </a:highlight>
                <a:latin typeface="Courier New"/>
                <a:ea typeface="Courier New"/>
                <a:cs typeface="Courier New"/>
                <a:sym typeface="Courier New"/>
              </a:rPr>
              <a:t>// Press button to light the built-in LED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#include </a:t>
            </a:r>
            <a:r>
              <a:rPr b="1" lang="en" sz="1100">
                <a:solidFill>
                  <a:srgbClr val="2A00FF"/>
                </a:solidFill>
                <a:highlight>
                  <a:srgbClr val="FFFFFF"/>
                </a:highlight>
                <a:latin typeface="Courier New"/>
                <a:ea typeface="Courier New"/>
                <a:cs typeface="Courier New"/>
                <a:sym typeface="Courier New"/>
              </a:rPr>
              <a:t>"</a:t>
            </a:r>
            <a:r>
              <a:rPr b="1" lang="en" sz="1100">
                <a:solidFill>
                  <a:srgbClr val="3F3FBF"/>
                </a:solidFill>
                <a:highlight>
                  <a:srgbClr val="FFFFFF"/>
                </a:highlight>
                <a:latin typeface="Courier New"/>
                <a:ea typeface="Courier New"/>
                <a:cs typeface="Courier New"/>
                <a:sym typeface="Courier New"/>
              </a:rPr>
              <a:t>ES28.h</a:t>
            </a:r>
            <a:r>
              <a:rPr b="1" lang="en" sz="1100">
                <a:solidFill>
                  <a:srgbClr val="2A00FF"/>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                </a:t>
            </a:r>
            <a:r>
              <a:rPr b="1" lang="en" sz="1100">
                <a:solidFill>
                  <a:srgbClr val="3F7F59"/>
                </a:solidFill>
                <a:highlight>
                  <a:srgbClr val="FFFFFF"/>
                </a:highlight>
                <a:latin typeface="Courier New"/>
                <a:ea typeface="Courier New"/>
                <a:cs typeface="Courier New"/>
                <a:sym typeface="Courier New"/>
              </a:rPr>
              <a:t>// All the port definitions are here</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GPIOAEN        (1U&lt;&lt;0)        </a:t>
            </a:r>
            <a:r>
              <a:rPr b="1" lang="en" sz="1100">
                <a:solidFill>
                  <a:srgbClr val="3F7F59"/>
                </a:solidFill>
                <a:highlight>
                  <a:srgbClr val="FFFFFF"/>
                </a:highlight>
                <a:latin typeface="Courier New"/>
                <a:ea typeface="Courier New"/>
                <a:cs typeface="Courier New"/>
                <a:sym typeface="Courier New"/>
              </a:rPr>
              <a:t>// Clock access to GPIOA (LED)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GPIOBEN        (1U&lt;&lt;1)        </a:t>
            </a:r>
            <a:r>
              <a:rPr b="1" lang="en" sz="1100">
                <a:solidFill>
                  <a:srgbClr val="3F7F59"/>
                </a:solidFill>
                <a:highlight>
                  <a:srgbClr val="FFFFFF"/>
                </a:highlight>
                <a:latin typeface="Courier New"/>
                <a:ea typeface="Courier New"/>
                <a:cs typeface="Courier New"/>
                <a:sym typeface="Courier New"/>
              </a:rPr>
              <a:t>// Clock access to GPIOB (button)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LED_PIN        (1U&lt;&lt;5)        </a:t>
            </a:r>
            <a:r>
              <a:rPr b="1" lang="en" sz="1100">
                <a:solidFill>
                  <a:srgbClr val="3F7F59"/>
                </a:solidFill>
                <a:highlight>
                  <a:srgbClr val="FFFFFF"/>
                </a:highlight>
                <a:latin typeface="Courier New"/>
                <a:ea typeface="Courier New"/>
                <a:cs typeface="Courier New"/>
                <a:sym typeface="Courier New"/>
              </a:rPr>
              <a:t>// LED on PA5     (D13)</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#define BUTTON_PIN     (1U&lt;&lt;4)        </a:t>
            </a:r>
            <a:r>
              <a:rPr b="1" lang="en" sz="1100">
                <a:solidFill>
                  <a:srgbClr val="3F7F59"/>
                </a:solidFill>
                <a:highlight>
                  <a:srgbClr val="FFFFFF"/>
                </a:highlight>
                <a:latin typeface="Courier New"/>
                <a:ea typeface="Courier New"/>
                <a:cs typeface="Courier New"/>
                <a:sym typeface="Courier New"/>
              </a:rPr>
              <a:t>// Button on PB4 (D5)</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rgbClr val="7F0055"/>
                </a:solidFill>
                <a:highlight>
                  <a:srgbClr val="FFFFFF"/>
                </a:highlight>
                <a:latin typeface="Courier New"/>
                <a:ea typeface="Courier New"/>
                <a:cs typeface="Courier New"/>
                <a:sym typeface="Courier New"/>
              </a:rPr>
              <a:t>int</a:t>
            </a: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main</a:t>
            </a:r>
            <a:r>
              <a:rPr b="1" lang="en" sz="1100">
                <a:solidFill>
                  <a:schemeClr val="dk1"/>
                </a:solidFill>
                <a:highlight>
                  <a:srgbClr val="FFFFFF"/>
                </a:highlight>
                <a:latin typeface="Courier New"/>
                <a:ea typeface="Courier New"/>
                <a:cs typeface="Courier New"/>
                <a:sym typeface="Courier New"/>
              </a:rPr>
              <a:t>(</a:t>
            </a:r>
            <a:r>
              <a:rPr b="1" lang="en" sz="1100">
                <a:solidFill>
                  <a:srgbClr val="7F0055"/>
                </a:solidFill>
                <a:highlight>
                  <a:srgbClr val="FFFFFF"/>
                </a:highlight>
                <a:latin typeface="Courier New"/>
                <a:ea typeface="Courier New"/>
                <a:cs typeface="Courier New"/>
                <a:sym typeface="Courier New"/>
              </a:rPr>
              <a:t>void</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RCC-&gt;IOPENR |= (GPIOAEN | GPIOBEN);   </a:t>
            </a:r>
            <a:r>
              <a:rPr b="1" lang="en" sz="1100">
                <a:solidFill>
                  <a:srgbClr val="3F7F59"/>
                </a:solidFill>
                <a:highlight>
                  <a:srgbClr val="FFFFFF"/>
                </a:highlight>
                <a:latin typeface="Courier New"/>
                <a:ea typeface="Courier New"/>
                <a:cs typeface="Courier New"/>
                <a:sym typeface="Courier New"/>
              </a:rPr>
              <a:t>// Enable clock access to GPIOA and B</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GPIOA-&gt;MODER |= (1U&lt;&lt;10);    	    </a:t>
            </a:r>
            <a:r>
              <a:rPr b="1" lang="en" sz="1100">
                <a:solidFill>
                  <a:srgbClr val="3F7F59"/>
                </a:solidFill>
                <a:highlight>
                  <a:srgbClr val="FFFFFF"/>
                </a:highlight>
                <a:latin typeface="Courier New"/>
                <a:ea typeface="Courier New"/>
                <a:cs typeface="Courier New"/>
                <a:sym typeface="Courier New"/>
              </a:rPr>
              <a:t>// Configure PA5 as output pin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GPIOA-&gt;MODER &amp;= ~(1U&lt;&lt;11);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GPIOB-&gt;MODER &amp;= ~(1U&lt;&lt;8);    	    </a:t>
            </a:r>
            <a:r>
              <a:rPr b="1" lang="en" sz="1100">
                <a:solidFill>
                  <a:srgbClr val="3F7F59"/>
                </a:solidFill>
                <a:highlight>
                  <a:srgbClr val="FFFFFF"/>
                </a:highlight>
                <a:latin typeface="Courier New"/>
                <a:ea typeface="Courier New"/>
                <a:cs typeface="Courier New"/>
                <a:sym typeface="Courier New"/>
              </a:rPr>
              <a:t>// Configure PB4 as input pin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GPIOB-&gt;MODER &amp;= ~(1U&lt;&lt;9);    	    </a:t>
            </a:r>
            <a:r>
              <a:rPr b="1" lang="en" sz="1100">
                <a:solidFill>
                  <a:srgbClr val="3F7F59"/>
                </a:solidFill>
                <a:highlight>
                  <a:srgbClr val="FFFFFF"/>
                </a:highlight>
                <a:latin typeface="Courier New"/>
                <a:ea typeface="Courier New"/>
                <a:cs typeface="Courier New"/>
                <a:sym typeface="Courier New"/>
              </a:rPr>
              <a:t>// (default is 0b11)</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GPIOB-&gt;PUPDR |= (1U&lt;&lt;8);    	         </a:t>
            </a:r>
            <a:r>
              <a:rPr b="1" lang="en" sz="1100">
                <a:solidFill>
                  <a:srgbClr val="3F7F59"/>
                </a:solidFill>
                <a:highlight>
                  <a:srgbClr val="FFFFFF"/>
                </a:highlight>
                <a:latin typeface="Courier New"/>
                <a:ea typeface="Courier New"/>
                <a:cs typeface="Courier New"/>
                <a:sym typeface="Courier New"/>
              </a:rPr>
              <a:t>// enable pull-up for PB4</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GPIOB-&gt;PUPDR &amp;= ~(1U&lt;&lt;9);</a:t>
            </a:r>
            <a:br>
              <a:rPr b="1" lang="en" sz="1100">
                <a:solidFill>
                  <a:schemeClr val="dk1"/>
                </a:solidFill>
                <a:highlight>
                  <a:srgbClr val="FFFFFF"/>
                </a:highlight>
                <a:latin typeface="Courier New"/>
                <a:ea typeface="Courier New"/>
                <a:cs typeface="Courier New"/>
                <a:sym typeface="Courier New"/>
              </a:rPr>
            </a:br>
            <a:r>
              <a:rPr b="1" lang="en" sz="1100">
                <a:solidFill>
                  <a:schemeClr val="dk1"/>
                </a:solidFill>
                <a:highlight>
                  <a:srgbClr val="FFFFFF"/>
                </a:highlight>
                <a:latin typeface="Courier New"/>
                <a:ea typeface="Courier New"/>
                <a:cs typeface="Courier New"/>
                <a:sym typeface="Courier New"/>
              </a:rPr>
              <a:t>    delay_ms(50);                         </a:t>
            </a:r>
            <a:r>
              <a:rPr b="1" lang="en" sz="1100">
                <a:solidFill>
                  <a:srgbClr val="3F7F59"/>
                </a:solidFill>
                <a:highlight>
                  <a:srgbClr val="FFFFFF"/>
                </a:highlight>
                <a:latin typeface="Courier New"/>
                <a:ea typeface="Courier New"/>
                <a:cs typeface="Courier New"/>
                <a:sym typeface="Courier New"/>
              </a:rPr>
              <a:t>// give pull-ups time to pull up the pins</a:t>
            </a:r>
            <a:endParaRPr b="1" sz="1100">
              <a:solidFill>
                <a:srgbClr val="3F7F59"/>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while</a:t>
            </a:r>
            <a:r>
              <a:rPr b="1" lang="en" sz="1100">
                <a:solidFill>
                  <a:schemeClr val="dk1"/>
                </a:solidFill>
                <a:highlight>
                  <a:srgbClr val="FFFFFF"/>
                </a:highlight>
                <a:latin typeface="Courier New"/>
                <a:ea typeface="Courier New"/>
                <a:cs typeface="Courier New"/>
                <a:sym typeface="Courier New"/>
              </a:rPr>
              <a:t>(1)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3F7F59"/>
                </a:solidFill>
                <a:highlight>
                  <a:srgbClr val="FFFFFF"/>
                </a:highlight>
                <a:latin typeface="Courier New"/>
                <a:ea typeface="Courier New"/>
                <a:cs typeface="Courier New"/>
                <a:sym typeface="Courier New"/>
              </a:rPr>
              <a:t>// Read the pin and control the LED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if</a:t>
            </a:r>
            <a:r>
              <a:rPr b="1" lang="en" sz="1100">
                <a:solidFill>
                  <a:schemeClr val="dk1"/>
                </a:solidFill>
                <a:highlight>
                  <a:srgbClr val="FFFFFF"/>
                </a:highlight>
                <a:latin typeface="Courier New"/>
                <a:ea typeface="Courier New"/>
                <a:cs typeface="Courier New"/>
                <a:sym typeface="Courier New"/>
              </a:rPr>
              <a:t> ((GPIOB-&gt;IDR &amp; BUTTON_PIN) == 0) {   </a:t>
            </a:r>
            <a:r>
              <a:rPr b="1" lang="en" sz="1100">
                <a:solidFill>
                  <a:srgbClr val="3F7F59"/>
                </a:solidFill>
                <a:highlight>
                  <a:srgbClr val="FFFFFF"/>
                </a:highlight>
                <a:latin typeface="Courier New"/>
                <a:ea typeface="Courier New"/>
                <a:cs typeface="Courier New"/>
                <a:sym typeface="Courier New"/>
              </a:rPr>
              <a:t>// button input is low-true</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GPIOA-&gt;ODR |= LED_PIN;              </a:t>
            </a:r>
            <a:r>
              <a:rPr b="1" lang="en" sz="1100">
                <a:solidFill>
                  <a:srgbClr val="3F7F59"/>
                </a:solidFill>
                <a:highlight>
                  <a:srgbClr val="FFFFFF"/>
                </a:highlight>
                <a:latin typeface="Courier New"/>
                <a:ea typeface="Courier New"/>
                <a:cs typeface="Courier New"/>
                <a:sym typeface="Courier New"/>
              </a:rPr>
              <a:t>// turn LED on</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 </a:t>
            </a:r>
            <a:r>
              <a:rPr b="1" lang="en" sz="1100">
                <a:solidFill>
                  <a:srgbClr val="7F0055"/>
                </a:solidFill>
                <a:highlight>
                  <a:srgbClr val="FFFFFF"/>
                </a:highlight>
                <a:latin typeface="Courier New"/>
                <a:ea typeface="Courier New"/>
                <a:cs typeface="Courier New"/>
                <a:sym typeface="Courier New"/>
              </a:rPr>
              <a:t>else</a:t>
            </a: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GPIOA-&gt;ODR &amp;= ~LED_PIN;             </a:t>
            </a:r>
            <a:r>
              <a:rPr b="1" lang="en" sz="1100">
                <a:solidFill>
                  <a:srgbClr val="3F7F59"/>
                </a:solidFill>
                <a:highlight>
                  <a:srgbClr val="FFFFFF"/>
                </a:highlight>
                <a:latin typeface="Courier New"/>
                <a:ea typeface="Courier New"/>
                <a:cs typeface="Courier New"/>
                <a:sym typeface="Courier New"/>
              </a:rPr>
              <a:t>// turn LED off</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    </a:t>
            </a:r>
            <a:r>
              <a:rPr b="1" lang="en" sz="1100">
                <a:solidFill>
                  <a:srgbClr val="7F0055"/>
                </a:solidFill>
                <a:highlight>
                  <a:srgbClr val="FFFFFF"/>
                </a:highlight>
                <a:latin typeface="Courier New"/>
                <a:ea typeface="Courier New"/>
                <a:cs typeface="Courier New"/>
                <a:sym typeface="Courier New"/>
              </a:rPr>
              <a:t>return</a:t>
            </a:r>
            <a:r>
              <a:rPr b="1" lang="en" sz="1100">
                <a:solidFill>
                  <a:schemeClr val="dk1"/>
                </a:solidFill>
                <a:highlight>
                  <a:srgbClr val="FFFFFF"/>
                </a:highlight>
                <a:latin typeface="Courier New"/>
                <a:ea typeface="Courier New"/>
                <a:cs typeface="Courier New"/>
                <a:sym typeface="Courier New"/>
              </a:rPr>
              <a:t> 0;                    		    </a:t>
            </a:r>
            <a:r>
              <a:rPr b="1" lang="en" sz="1100">
                <a:solidFill>
                  <a:srgbClr val="3F7F59"/>
                </a:solidFill>
                <a:highlight>
                  <a:srgbClr val="FFFFFF"/>
                </a:highlight>
                <a:latin typeface="Courier New"/>
                <a:ea typeface="Courier New"/>
                <a:cs typeface="Courier New"/>
                <a:sym typeface="Courier New"/>
              </a:rPr>
              <a:t>// never reached</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rPr b="1" lang="en" sz="1100">
                <a:solidFill>
                  <a:schemeClr val="dk1"/>
                </a:solidFill>
                <a:highlight>
                  <a:srgbClr val="FFFFFF"/>
                </a:highlight>
                <a:latin typeface="Courier New"/>
                <a:ea typeface="Courier New"/>
                <a:cs typeface="Courier New"/>
                <a:sym typeface="Courier New"/>
              </a:rPr>
              <a:t>}</a:t>
            </a:r>
            <a:endParaRPr b="1" sz="1100">
              <a:solidFill>
                <a:schemeClr val="dk1"/>
              </a:solidFill>
              <a:highlight>
                <a:srgbClr val="FFFFFF"/>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rgbClr val="FFFFFF"/>
              </a:highlight>
              <a:latin typeface="Courier New"/>
              <a:ea typeface="Courier New"/>
              <a:cs typeface="Courier New"/>
              <a:sym typeface="Courier New"/>
            </a:endParaRPr>
          </a:p>
          <a:p>
            <a:pPr indent="0" lvl="0" marL="0" rtl="0" algn="l">
              <a:lnSpc>
                <a:spcPct val="115000"/>
              </a:lnSpc>
              <a:spcBef>
                <a:spcPts val="0"/>
              </a:spcBef>
              <a:spcAft>
                <a:spcPts val="0"/>
              </a:spcAft>
              <a:buClr>
                <a:schemeClr val="dk1"/>
              </a:buClr>
              <a:buSzPts val="1100"/>
              <a:buFont typeface="Arial"/>
              <a:buNone/>
            </a:pPr>
            <a:r>
              <a:t/>
            </a:r>
            <a:endParaRPr b="1" sz="1100">
              <a:solidFill>
                <a:srgbClr val="004A43"/>
              </a:solidFill>
              <a:highlight>
                <a:srgbClr val="FFFFFF"/>
              </a:highlight>
              <a:latin typeface="Courier New"/>
              <a:ea typeface="Courier New"/>
              <a:cs typeface="Courier New"/>
              <a:sym typeface="Courier New"/>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47"/>
          <p:cNvSpPr txBox="1"/>
          <p:nvPr>
            <p:ph type="title"/>
          </p:nvPr>
        </p:nvSpPr>
        <p:spPr>
          <a:xfrm>
            <a:off x="311700" y="150917"/>
            <a:ext cx="8520600" cy="76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600"/>
              <a:t>Why the delay_ms() after the pull-ups?</a:t>
            </a:r>
            <a:endParaRPr/>
          </a:p>
        </p:txBody>
      </p:sp>
      <p:sp>
        <p:nvSpPr>
          <p:cNvPr id="364" name="Google Shape;364;p47"/>
          <p:cNvSpPr txBox="1"/>
          <p:nvPr>
            <p:ph idx="1" type="body"/>
          </p:nvPr>
        </p:nvSpPr>
        <p:spPr>
          <a:xfrm>
            <a:off x="311700" y="1064650"/>
            <a:ext cx="8520600" cy="535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100">
                <a:solidFill>
                  <a:srgbClr val="3F7F59"/>
                </a:solidFill>
                <a:highlight>
                  <a:schemeClr val="lt1"/>
                </a:highlight>
                <a:latin typeface="Courier New"/>
                <a:ea typeface="Courier New"/>
                <a:cs typeface="Courier New"/>
                <a:sym typeface="Courier New"/>
              </a:rPr>
              <a:t>// Press button to light the built-in LED</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#include </a:t>
            </a:r>
            <a:r>
              <a:rPr b="1" lang="en" sz="1100">
                <a:solidFill>
                  <a:srgbClr val="2A00FF"/>
                </a:solidFill>
                <a:highlight>
                  <a:schemeClr val="lt1"/>
                </a:highlight>
                <a:latin typeface="Courier New"/>
                <a:ea typeface="Courier New"/>
                <a:cs typeface="Courier New"/>
                <a:sym typeface="Courier New"/>
              </a:rPr>
              <a:t>"</a:t>
            </a:r>
            <a:r>
              <a:rPr b="1" lang="en" sz="1100">
                <a:solidFill>
                  <a:srgbClr val="3F3FBF"/>
                </a:solidFill>
                <a:highlight>
                  <a:schemeClr val="lt1"/>
                </a:highlight>
                <a:latin typeface="Courier New"/>
                <a:ea typeface="Courier New"/>
                <a:cs typeface="Courier New"/>
                <a:sym typeface="Courier New"/>
              </a:rPr>
              <a:t>ES28.h</a:t>
            </a:r>
            <a:r>
              <a:rPr b="1" lang="en" sz="1100">
                <a:solidFill>
                  <a:srgbClr val="2A00FF"/>
                </a:solidFill>
                <a:highlight>
                  <a:schemeClr val="lt1"/>
                </a:highlight>
                <a:latin typeface="Courier New"/>
                <a:ea typeface="Courier New"/>
                <a:cs typeface="Courier New"/>
                <a:sym typeface="Courier New"/>
              </a:rPr>
              <a:t>"</a:t>
            </a:r>
            <a:r>
              <a:rPr b="1" lang="en" sz="1100">
                <a:solidFill>
                  <a:srgbClr val="7F0055"/>
                </a:solidFill>
                <a:highlight>
                  <a:schemeClr val="lt1"/>
                </a:highlight>
                <a:latin typeface="Courier New"/>
                <a:ea typeface="Courier New"/>
                <a:cs typeface="Courier New"/>
                <a:sym typeface="Courier New"/>
              </a:rPr>
              <a:t>                </a:t>
            </a:r>
            <a:r>
              <a:rPr b="1" lang="en" sz="1100">
                <a:solidFill>
                  <a:srgbClr val="3F7F59"/>
                </a:solidFill>
                <a:highlight>
                  <a:schemeClr val="lt1"/>
                </a:highlight>
                <a:latin typeface="Courier New"/>
                <a:ea typeface="Courier New"/>
                <a:cs typeface="Courier New"/>
                <a:sym typeface="Courier New"/>
              </a:rPr>
              <a:t>// All the port definitions are here</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#define GPIOAEN        (1U&lt;&lt;0)        </a:t>
            </a:r>
            <a:r>
              <a:rPr b="1" lang="en" sz="1100">
                <a:solidFill>
                  <a:srgbClr val="3F7F59"/>
                </a:solidFill>
                <a:highlight>
                  <a:schemeClr val="lt1"/>
                </a:highlight>
                <a:latin typeface="Courier New"/>
                <a:ea typeface="Courier New"/>
                <a:cs typeface="Courier New"/>
                <a:sym typeface="Courier New"/>
              </a:rPr>
              <a:t>// Clock access to GPIOA (LED)</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#define GPIOBEN        (1U&lt;&lt;1)        </a:t>
            </a:r>
            <a:r>
              <a:rPr b="1" lang="en" sz="1100">
                <a:solidFill>
                  <a:srgbClr val="3F7F59"/>
                </a:solidFill>
                <a:highlight>
                  <a:schemeClr val="lt1"/>
                </a:highlight>
                <a:latin typeface="Courier New"/>
                <a:ea typeface="Courier New"/>
                <a:cs typeface="Courier New"/>
                <a:sym typeface="Courier New"/>
              </a:rPr>
              <a:t>// Clock access to GPIOB (button)</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#define LED_PIN        (1U&lt;&lt;5)        </a:t>
            </a:r>
            <a:r>
              <a:rPr b="1" lang="en" sz="1100">
                <a:solidFill>
                  <a:srgbClr val="3F7F59"/>
                </a:solidFill>
                <a:highlight>
                  <a:schemeClr val="lt1"/>
                </a:highlight>
                <a:latin typeface="Courier New"/>
                <a:ea typeface="Courier New"/>
                <a:cs typeface="Courier New"/>
                <a:sym typeface="Courier New"/>
              </a:rPr>
              <a:t>// LED on PA5     (D13)</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#define BUTTON_PIN     (1U&lt;&lt;4)        </a:t>
            </a:r>
            <a:r>
              <a:rPr b="1" lang="en" sz="1100">
                <a:solidFill>
                  <a:srgbClr val="3F7F59"/>
                </a:solidFill>
                <a:highlight>
                  <a:schemeClr val="lt1"/>
                </a:highlight>
                <a:latin typeface="Courier New"/>
                <a:ea typeface="Courier New"/>
                <a:cs typeface="Courier New"/>
                <a:sym typeface="Courier New"/>
              </a:rPr>
              <a:t>// Button on PB4 (D5)</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rgbClr val="7F0055"/>
                </a:solidFill>
                <a:highlight>
                  <a:schemeClr val="lt1"/>
                </a:highlight>
                <a:latin typeface="Courier New"/>
                <a:ea typeface="Courier New"/>
                <a:cs typeface="Courier New"/>
                <a:sym typeface="Courier New"/>
              </a:rPr>
              <a:t>int</a:t>
            </a:r>
            <a:r>
              <a:rPr b="1" lang="en" sz="1100">
                <a:solidFill>
                  <a:schemeClr val="dk1"/>
                </a:solidFill>
                <a:highlight>
                  <a:schemeClr val="lt1"/>
                </a:highlight>
                <a:latin typeface="Courier New"/>
                <a:ea typeface="Courier New"/>
                <a:cs typeface="Courier New"/>
                <a:sym typeface="Courier New"/>
              </a:rPr>
              <a:t> </a:t>
            </a:r>
            <a:r>
              <a:rPr b="1" lang="en" sz="1100">
                <a:solidFill>
                  <a:srgbClr val="7F0055"/>
                </a:solidFill>
                <a:highlight>
                  <a:schemeClr val="lt1"/>
                </a:highlight>
                <a:latin typeface="Courier New"/>
                <a:ea typeface="Courier New"/>
                <a:cs typeface="Courier New"/>
                <a:sym typeface="Courier New"/>
              </a:rPr>
              <a:t>main</a:t>
            </a:r>
            <a:r>
              <a:rPr b="1" lang="en" sz="1100">
                <a:solidFill>
                  <a:schemeClr val="dk1"/>
                </a:solidFill>
                <a:highlight>
                  <a:schemeClr val="lt1"/>
                </a:highlight>
                <a:latin typeface="Courier New"/>
                <a:ea typeface="Courier New"/>
                <a:cs typeface="Courier New"/>
                <a:sym typeface="Courier New"/>
              </a:rPr>
              <a:t>(</a:t>
            </a:r>
            <a:r>
              <a:rPr b="1" lang="en" sz="1100">
                <a:solidFill>
                  <a:srgbClr val="7F0055"/>
                </a:solidFill>
                <a:highlight>
                  <a:schemeClr val="lt1"/>
                </a:highlight>
                <a:latin typeface="Courier New"/>
                <a:ea typeface="Courier New"/>
                <a:cs typeface="Courier New"/>
                <a:sym typeface="Courier New"/>
              </a:rPr>
              <a:t>void</a:t>
            </a:r>
            <a:r>
              <a:rPr b="1" lang="en" sz="1100">
                <a:solidFill>
                  <a:schemeClr val="dk1"/>
                </a:solidFill>
                <a:highlight>
                  <a:schemeClr val="lt1"/>
                </a:highlight>
                <a:latin typeface="Courier New"/>
                <a:ea typeface="Courier New"/>
                <a:cs typeface="Courier New"/>
                <a:sym typeface="Courier New"/>
              </a:rPr>
              <a:t>)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RCC-&gt;IOPENR |= (GPIOAEN | GPIOBEN);   </a:t>
            </a:r>
            <a:r>
              <a:rPr b="1" lang="en" sz="1100">
                <a:solidFill>
                  <a:srgbClr val="3F7F59"/>
                </a:solidFill>
                <a:highlight>
                  <a:schemeClr val="lt1"/>
                </a:highlight>
                <a:latin typeface="Courier New"/>
                <a:ea typeface="Courier New"/>
                <a:cs typeface="Courier New"/>
                <a:sym typeface="Courier New"/>
              </a:rPr>
              <a:t>// Enable clock access to GPIOA and B</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GPIOA-&gt;MODER |= (1U&lt;&lt;10);    	    </a:t>
            </a:r>
            <a:r>
              <a:rPr b="1" lang="en" sz="1100">
                <a:solidFill>
                  <a:srgbClr val="3F7F59"/>
                </a:solidFill>
                <a:highlight>
                  <a:schemeClr val="lt1"/>
                </a:highlight>
                <a:latin typeface="Courier New"/>
                <a:ea typeface="Courier New"/>
                <a:cs typeface="Courier New"/>
                <a:sym typeface="Courier New"/>
              </a:rPr>
              <a:t>// Configure PA5 as output pin</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GPIOA-&gt;MODER &amp;= ~(1U&lt;&lt;11);</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GPIOB-&gt;MODER &amp;= ~(1U&lt;&lt;8);    	    </a:t>
            </a:r>
            <a:r>
              <a:rPr b="1" lang="en" sz="1100">
                <a:solidFill>
                  <a:srgbClr val="3F7F59"/>
                </a:solidFill>
                <a:highlight>
                  <a:schemeClr val="lt1"/>
                </a:highlight>
                <a:latin typeface="Courier New"/>
                <a:ea typeface="Courier New"/>
                <a:cs typeface="Courier New"/>
                <a:sym typeface="Courier New"/>
              </a:rPr>
              <a:t>// Configure PB4 as input pin</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GPIOB-&gt;MODER &amp;= ~(1U&lt;&lt;9);    	    </a:t>
            </a:r>
            <a:r>
              <a:rPr b="1" lang="en" sz="1100">
                <a:solidFill>
                  <a:srgbClr val="3F7F59"/>
                </a:solidFill>
                <a:highlight>
                  <a:schemeClr val="lt1"/>
                </a:highlight>
                <a:latin typeface="Courier New"/>
                <a:ea typeface="Courier New"/>
                <a:cs typeface="Courier New"/>
                <a:sym typeface="Courier New"/>
              </a:rPr>
              <a:t>// (default is 0b11)</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chemeClr val="dk1"/>
                </a:solidFill>
                <a:highlight>
                  <a:schemeClr val="accent6"/>
                </a:highlight>
                <a:latin typeface="Courier New"/>
                <a:ea typeface="Courier New"/>
                <a:cs typeface="Courier New"/>
                <a:sym typeface="Courier New"/>
              </a:rPr>
              <a:t>GPIOB-&gt;PUPDR |= (1U&lt;&lt;8);</a:t>
            </a:r>
            <a:r>
              <a:rPr b="1" lang="en" sz="1100">
                <a:solidFill>
                  <a:schemeClr val="dk1"/>
                </a:solidFill>
                <a:highlight>
                  <a:schemeClr val="lt1"/>
                </a:highlight>
                <a:latin typeface="Courier New"/>
                <a:ea typeface="Courier New"/>
                <a:cs typeface="Courier New"/>
                <a:sym typeface="Courier New"/>
              </a:rPr>
              <a:t>    	         </a:t>
            </a:r>
            <a:r>
              <a:rPr b="1" lang="en" sz="1100">
                <a:solidFill>
                  <a:srgbClr val="3F7F59"/>
                </a:solidFill>
                <a:highlight>
                  <a:schemeClr val="lt1"/>
                </a:highlight>
                <a:latin typeface="Courier New"/>
                <a:ea typeface="Courier New"/>
                <a:cs typeface="Courier New"/>
                <a:sym typeface="Courier New"/>
              </a:rPr>
              <a:t>// enable pull-up for PB4</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chemeClr val="dk1"/>
                </a:solidFill>
                <a:highlight>
                  <a:schemeClr val="accent6"/>
                </a:highlight>
                <a:latin typeface="Courier New"/>
                <a:ea typeface="Courier New"/>
                <a:cs typeface="Courier New"/>
                <a:sym typeface="Courier New"/>
              </a:rPr>
              <a:t>GPIOB-&gt;PUPDR &amp;= ~(1U&lt;&lt;9);</a:t>
            </a:r>
            <a:br>
              <a:rPr b="1" lang="en" sz="1100">
                <a:solidFill>
                  <a:schemeClr val="dk1"/>
                </a:solidFill>
                <a:highlight>
                  <a:schemeClr val="lt1"/>
                </a:highlight>
                <a:latin typeface="Courier New"/>
                <a:ea typeface="Courier New"/>
                <a:cs typeface="Courier New"/>
                <a:sym typeface="Courier New"/>
              </a:rPr>
            </a:br>
            <a:r>
              <a:rPr b="1" lang="en" sz="1100">
                <a:solidFill>
                  <a:schemeClr val="dk1"/>
                </a:solidFill>
                <a:highlight>
                  <a:schemeClr val="lt1"/>
                </a:highlight>
                <a:latin typeface="Courier New"/>
                <a:ea typeface="Courier New"/>
                <a:cs typeface="Courier New"/>
                <a:sym typeface="Courier New"/>
              </a:rPr>
              <a:t>    delay_ms(50);                         </a:t>
            </a:r>
            <a:r>
              <a:rPr b="1" lang="en" sz="1100">
                <a:solidFill>
                  <a:srgbClr val="3F7F59"/>
                </a:solidFill>
                <a:highlight>
                  <a:schemeClr val="lt1"/>
                </a:highlight>
                <a:latin typeface="Courier New"/>
                <a:ea typeface="Courier New"/>
                <a:cs typeface="Courier New"/>
                <a:sym typeface="Courier New"/>
              </a:rPr>
              <a:t>// gives pull-ups time to pull up the pins</a:t>
            </a:r>
            <a:endParaRPr b="1" sz="1100">
              <a:solidFill>
                <a:srgbClr val="3F7F59"/>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7F0055"/>
                </a:solidFill>
                <a:highlight>
                  <a:schemeClr val="lt1"/>
                </a:highlight>
                <a:latin typeface="Courier New"/>
                <a:ea typeface="Courier New"/>
                <a:cs typeface="Courier New"/>
                <a:sym typeface="Courier New"/>
              </a:rPr>
              <a:t>while</a:t>
            </a:r>
            <a:r>
              <a:rPr b="1" lang="en" sz="1100">
                <a:solidFill>
                  <a:schemeClr val="dk1"/>
                </a:solidFill>
                <a:highlight>
                  <a:schemeClr val="lt1"/>
                </a:highlight>
                <a:latin typeface="Courier New"/>
                <a:ea typeface="Courier New"/>
                <a:cs typeface="Courier New"/>
                <a:sym typeface="Courier New"/>
              </a:rPr>
              <a:t>(1) {</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3F7F59"/>
                </a:solidFill>
                <a:highlight>
                  <a:schemeClr val="lt1"/>
                </a:highlight>
                <a:latin typeface="Courier New"/>
                <a:ea typeface="Courier New"/>
                <a:cs typeface="Courier New"/>
                <a:sym typeface="Courier New"/>
              </a:rPr>
              <a:t>// Read the pin and control the LED</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a:t>
            </a:r>
            <a:r>
              <a:rPr b="1" lang="en" sz="1100">
                <a:solidFill>
                  <a:srgbClr val="7F0055"/>
                </a:solidFill>
                <a:highlight>
                  <a:schemeClr val="lt1"/>
                </a:highlight>
                <a:latin typeface="Courier New"/>
                <a:ea typeface="Courier New"/>
                <a:cs typeface="Courier New"/>
                <a:sym typeface="Courier New"/>
              </a:rPr>
              <a:t>if</a:t>
            </a:r>
            <a:r>
              <a:rPr b="1" lang="en" sz="1100">
                <a:solidFill>
                  <a:schemeClr val="dk1"/>
                </a:solidFill>
                <a:highlight>
                  <a:schemeClr val="lt1"/>
                </a:highlight>
                <a:latin typeface="Courier New"/>
                <a:ea typeface="Courier New"/>
                <a:cs typeface="Courier New"/>
                <a:sym typeface="Courier New"/>
              </a:rPr>
              <a:t> ((GPIOB-&gt;IDR &amp; BUTTON_PIN) == 0) {   </a:t>
            </a:r>
            <a:r>
              <a:rPr b="1" lang="en" sz="1100">
                <a:solidFill>
                  <a:srgbClr val="3F7F59"/>
                </a:solidFill>
                <a:highlight>
                  <a:schemeClr val="lt1"/>
                </a:highlight>
                <a:latin typeface="Courier New"/>
                <a:ea typeface="Courier New"/>
                <a:cs typeface="Courier New"/>
                <a:sym typeface="Courier New"/>
              </a:rPr>
              <a:t>// button input is low-true</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b="1" lang="en" sz="1100">
                <a:solidFill>
                  <a:schemeClr val="dk1"/>
                </a:solidFill>
                <a:highlight>
                  <a:schemeClr val="lt1"/>
                </a:highlight>
                <a:latin typeface="Courier New"/>
                <a:ea typeface="Courier New"/>
                <a:cs typeface="Courier New"/>
                <a:sym typeface="Courier New"/>
              </a:rPr>
              <a:t>            GPIOA-&gt;ODR |= LED_PIN;              </a:t>
            </a:r>
            <a:r>
              <a:rPr b="1" lang="en" sz="1100">
                <a:solidFill>
                  <a:srgbClr val="3F7F59"/>
                </a:solidFill>
                <a:highlight>
                  <a:schemeClr val="lt1"/>
                </a:highlight>
                <a:latin typeface="Courier New"/>
                <a:ea typeface="Courier New"/>
                <a:cs typeface="Courier New"/>
                <a:sym typeface="Courier New"/>
              </a:rPr>
              <a:t>// turn LED on</a:t>
            </a:r>
            <a:endParaRPr b="1" sz="1100">
              <a:solidFill>
                <a:schemeClr val="dk1"/>
              </a:solidFill>
              <a:highlight>
                <a:schemeClr val="lt1"/>
              </a:highlight>
              <a:latin typeface="Courier New"/>
              <a:ea typeface="Courier New"/>
              <a:cs typeface="Courier New"/>
              <a:sym typeface="Courier New"/>
            </a:endParaRPr>
          </a:p>
          <a:p>
            <a:pPr indent="0" lvl="0" marL="0" rtl="0" algn="l">
              <a:spcBef>
                <a:spcPts val="0"/>
              </a:spcBef>
              <a:spcAft>
                <a:spcPts val="0"/>
              </a:spcAft>
              <a:buNone/>
            </a:pPr>
            <a:r>
              <a:rPr b="1" lang="en" sz="1100">
                <a:solidFill>
                  <a:schemeClr val="dk1"/>
                </a:solidFill>
                <a:highlight>
                  <a:schemeClr val="lt1"/>
                </a:highlight>
                <a:latin typeface="Courier New"/>
                <a:ea typeface="Courier New"/>
                <a:cs typeface="Courier New"/>
                <a:sym typeface="Courier New"/>
              </a:rPr>
              <a:t>        …</a:t>
            </a:r>
            <a:endParaRPr b="1" sz="1100">
              <a:solidFill>
                <a:srgbClr val="3F7F5F"/>
              </a:solidFill>
              <a:latin typeface="Courier New"/>
              <a:ea typeface="Courier New"/>
              <a:cs typeface="Courier New"/>
              <a:sym typeface="Courier New"/>
            </a:endParaRPr>
          </a:p>
        </p:txBody>
      </p:sp>
      <p:sp>
        <p:nvSpPr>
          <p:cNvPr id="365" name="Google Shape;365;p47"/>
          <p:cNvSpPr txBox="1"/>
          <p:nvPr/>
        </p:nvSpPr>
        <p:spPr>
          <a:xfrm>
            <a:off x="3304550" y="4410900"/>
            <a:ext cx="2972700" cy="1700400"/>
          </a:xfrm>
          <a:prstGeom prst="rect">
            <a:avLst/>
          </a:prstGeom>
          <a:solidFill>
            <a:schemeClr val="lt1"/>
          </a:solidFill>
          <a:ln cap="flat" cmpd="sng" w="28575">
            <a:solidFill>
              <a:srgbClr val="0000FF"/>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00FF"/>
                </a:solidFill>
              </a:rPr>
              <a:t>This code takes about 1.5us to execute.</a:t>
            </a:r>
            <a:endParaRPr sz="1800">
              <a:solidFill>
                <a:srgbClr val="0000FF"/>
              </a:solidFill>
            </a:endParaRPr>
          </a:p>
          <a:p>
            <a:pPr indent="0" lvl="0" marL="0" rtl="0" algn="l">
              <a:spcBef>
                <a:spcPts val="0"/>
              </a:spcBef>
              <a:spcAft>
                <a:spcPts val="0"/>
              </a:spcAft>
              <a:buNone/>
            </a:pPr>
            <a:r>
              <a:t/>
            </a:r>
            <a:endParaRPr sz="1800">
              <a:solidFill>
                <a:srgbClr val="0000FF"/>
              </a:solidFill>
            </a:endParaRPr>
          </a:p>
          <a:p>
            <a:pPr indent="0" lvl="0" marL="0" rtl="0" algn="l">
              <a:spcBef>
                <a:spcPts val="0"/>
              </a:spcBef>
              <a:spcAft>
                <a:spcPts val="0"/>
              </a:spcAft>
              <a:buNone/>
            </a:pPr>
            <a:r>
              <a:rPr lang="en" sz="1800">
                <a:solidFill>
                  <a:srgbClr val="0000FF"/>
                </a:solidFill>
              </a:rPr>
              <a:t>How long does the pull-up take to get to a logical 1?</a:t>
            </a:r>
            <a:endParaRPr sz="1800">
              <a:solidFill>
                <a:srgbClr val="0000FF"/>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9" name="Shape 369"/>
        <p:cNvGrpSpPr/>
        <p:nvPr/>
      </p:nvGrpSpPr>
      <p:grpSpPr>
        <a:xfrm>
          <a:off x="0" y="0"/>
          <a:ext cx="0" cy="0"/>
          <a:chOff x="0" y="0"/>
          <a:chExt cx="0" cy="0"/>
        </a:xfrm>
      </p:grpSpPr>
      <p:pic>
        <p:nvPicPr>
          <p:cNvPr id="370" name="Google Shape;370;p48"/>
          <p:cNvPicPr preferRelativeResize="0"/>
          <p:nvPr/>
        </p:nvPicPr>
        <p:blipFill>
          <a:blip r:embed="rId3">
            <a:alphaModFix/>
          </a:blip>
          <a:stretch>
            <a:fillRect/>
          </a:stretch>
        </p:blipFill>
        <p:spPr>
          <a:xfrm>
            <a:off x="874725" y="1053050"/>
            <a:ext cx="6918323" cy="5766400"/>
          </a:xfrm>
          <a:prstGeom prst="rect">
            <a:avLst/>
          </a:prstGeom>
          <a:noFill/>
          <a:ln>
            <a:noFill/>
          </a:ln>
        </p:spPr>
      </p:pic>
      <p:cxnSp>
        <p:nvCxnSpPr>
          <p:cNvPr id="371" name="Google Shape;371;p48"/>
          <p:cNvCxnSpPr/>
          <p:nvPr/>
        </p:nvCxnSpPr>
        <p:spPr>
          <a:xfrm flipH="1" rot="10800000">
            <a:off x="2294500" y="2297000"/>
            <a:ext cx="1631700" cy="6000"/>
          </a:xfrm>
          <a:prstGeom prst="straightConnector1">
            <a:avLst/>
          </a:prstGeom>
          <a:noFill/>
          <a:ln cap="flat" cmpd="sng" w="19050">
            <a:solidFill>
              <a:srgbClr val="FF0000"/>
            </a:solidFill>
            <a:prstDash val="solid"/>
            <a:round/>
            <a:headEnd len="med" w="med" type="triangle"/>
            <a:tailEnd len="med" w="med" type="triangle"/>
          </a:ln>
        </p:spPr>
      </p:cxnSp>
      <p:sp>
        <p:nvSpPr>
          <p:cNvPr id="372" name="Google Shape;372;p48"/>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Exponential response of pull-up turning on.</a:t>
            </a:r>
            <a:endParaRPr/>
          </a:p>
        </p:txBody>
      </p:sp>
      <p:cxnSp>
        <p:nvCxnSpPr>
          <p:cNvPr id="373" name="Google Shape;373;p48"/>
          <p:cNvCxnSpPr/>
          <p:nvPr/>
        </p:nvCxnSpPr>
        <p:spPr>
          <a:xfrm>
            <a:off x="2235000" y="1438550"/>
            <a:ext cx="8400" cy="4470000"/>
          </a:xfrm>
          <a:prstGeom prst="straightConnector1">
            <a:avLst/>
          </a:prstGeom>
          <a:noFill/>
          <a:ln cap="flat" cmpd="sng" w="28575">
            <a:solidFill>
              <a:srgbClr val="FF0000"/>
            </a:solidFill>
            <a:prstDash val="solid"/>
            <a:round/>
            <a:headEnd len="med" w="med" type="none"/>
            <a:tailEnd len="med" w="med" type="none"/>
          </a:ln>
        </p:spPr>
      </p:cxnSp>
      <p:cxnSp>
        <p:nvCxnSpPr>
          <p:cNvPr id="374" name="Google Shape;374;p48"/>
          <p:cNvCxnSpPr/>
          <p:nvPr/>
        </p:nvCxnSpPr>
        <p:spPr>
          <a:xfrm>
            <a:off x="3900650" y="1504175"/>
            <a:ext cx="16200" cy="4283100"/>
          </a:xfrm>
          <a:prstGeom prst="straightConnector1">
            <a:avLst/>
          </a:prstGeom>
          <a:noFill/>
          <a:ln cap="flat" cmpd="sng" w="28575">
            <a:solidFill>
              <a:srgbClr val="FF0000"/>
            </a:solidFill>
            <a:prstDash val="solid"/>
            <a:round/>
            <a:headEnd len="med" w="med" type="none"/>
            <a:tailEnd len="med" w="med" type="none"/>
          </a:ln>
        </p:spPr>
      </p:cxnSp>
      <p:sp>
        <p:nvSpPr>
          <p:cNvPr id="375" name="Google Shape;375;p48"/>
          <p:cNvSpPr txBox="1"/>
          <p:nvPr/>
        </p:nvSpPr>
        <p:spPr>
          <a:xfrm>
            <a:off x="2692213" y="2089200"/>
            <a:ext cx="8922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~2.5us </a:t>
            </a:r>
            <a:endParaRPr sz="1800">
              <a:solidFill>
                <a:schemeClr val="dk2"/>
              </a:solidFill>
            </a:endParaRPr>
          </a:p>
        </p:txBody>
      </p:sp>
      <p:sp>
        <p:nvSpPr>
          <p:cNvPr id="376" name="Google Shape;376;p48"/>
          <p:cNvSpPr txBox="1"/>
          <p:nvPr/>
        </p:nvSpPr>
        <p:spPr>
          <a:xfrm>
            <a:off x="4716450" y="2472950"/>
            <a:ext cx="3025500" cy="2678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With no external cap, the pullup takes ~2.5 us to change the state of the input.</a:t>
            </a:r>
            <a:endParaRPr sz="1800">
              <a:solidFill>
                <a:schemeClr val="dk2"/>
              </a:solidFill>
            </a:endParaRPr>
          </a:p>
          <a:p>
            <a:pPr indent="0" lvl="0" marL="0" rtl="0" algn="l">
              <a:spcBef>
                <a:spcPts val="0"/>
              </a:spcBef>
              <a:spcAft>
                <a:spcPts val="0"/>
              </a:spcAft>
              <a:buNone/>
            </a:pPr>
            <a:r>
              <a:t/>
            </a:r>
            <a:endParaRPr sz="1800">
              <a:solidFill>
                <a:schemeClr val="dk2"/>
              </a:solidFill>
            </a:endParaRPr>
          </a:p>
          <a:p>
            <a:pPr indent="0" lvl="0" marL="0" rtl="0" algn="l">
              <a:spcBef>
                <a:spcPts val="0"/>
              </a:spcBef>
              <a:spcAft>
                <a:spcPts val="0"/>
              </a:spcAft>
              <a:buNone/>
            </a:pPr>
            <a:r>
              <a:rPr lang="en" sz="1800">
                <a:solidFill>
                  <a:schemeClr val="dk2"/>
                </a:solidFill>
              </a:rPr>
              <a:t>This is enough time to sample the pin and read the old “0” value even though the button is not pushed.</a:t>
            </a:r>
            <a:endParaRPr sz="1800">
              <a:solidFill>
                <a:schemeClr val="dk2"/>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pic>
        <p:nvPicPr>
          <p:cNvPr id="381" name="Google Shape;381;p49"/>
          <p:cNvPicPr preferRelativeResize="0"/>
          <p:nvPr/>
        </p:nvPicPr>
        <p:blipFill>
          <a:blip r:embed="rId3">
            <a:alphaModFix/>
          </a:blip>
          <a:stretch>
            <a:fillRect/>
          </a:stretch>
        </p:blipFill>
        <p:spPr>
          <a:xfrm>
            <a:off x="611875" y="1147250"/>
            <a:ext cx="7860777" cy="5482049"/>
          </a:xfrm>
          <a:prstGeom prst="rect">
            <a:avLst/>
          </a:prstGeom>
          <a:noFill/>
          <a:ln>
            <a:noFill/>
          </a:ln>
        </p:spPr>
      </p:pic>
      <p:cxnSp>
        <p:nvCxnSpPr>
          <p:cNvPr id="382" name="Google Shape;382;p49"/>
          <p:cNvCxnSpPr/>
          <p:nvPr/>
        </p:nvCxnSpPr>
        <p:spPr>
          <a:xfrm>
            <a:off x="1903575" y="2294500"/>
            <a:ext cx="2685300" cy="0"/>
          </a:xfrm>
          <a:prstGeom prst="straightConnector1">
            <a:avLst/>
          </a:prstGeom>
          <a:noFill/>
          <a:ln cap="flat" cmpd="sng" w="19050">
            <a:solidFill>
              <a:srgbClr val="FF0000"/>
            </a:solidFill>
            <a:prstDash val="solid"/>
            <a:round/>
            <a:headEnd len="med" w="med" type="triangle"/>
            <a:tailEnd len="med" w="med" type="triangle"/>
          </a:ln>
        </p:spPr>
      </p:cxnSp>
      <p:sp>
        <p:nvSpPr>
          <p:cNvPr id="383" name="Google Shape;383;p49"/>
          <p:cNvSpPr txBox="1"/>
          <p:nvPr>
            <p:ph type="title"/>
          </p:nvPr>
        </p:nvSpPr>
        <p:spPr>
          <a:xfrm>
            <a:off x="214900" y="625253"/>
            <a:ext cx="8520600" cy="992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solidFill>
                  <a:srgbClr val="2A00FF"/>
                </a:solidFill>
              </a:rPr>
              <a:t>Tomorrow</a:t>
            </a:r>
            <a:r>
              <a:rPr lang="en" sz="2000">
                <a:solidFill>
                  <a:srgbClr val="2A00FF"/>
                </a:solidFill>
              </a:rPr>
              <a:t> we'll be adding a capacitor to our setup to improve the button's behavior. This actually makes things worse when it comes to the time it takes to pull the pin up so that it reads '0' for even longer initially.</a:t>
            </a:r>
            <a:endParaRPr sz="2000">
              <a:solidFill>
                <a:srgbClr val="2A00FF"/>
              </a:solidFill>
            </a:endParaRPr>
          </a:p>
        </p:txBody>
      </p:sp>
      <p:cxnSp>
        <p:nvCxnSpPr>
          <p:cNvPr id="384" name="Google Shape;384;p49"/>
          <p:cNvCxnSpPr/>
          <p:nvPr/>
        </p:nvCxnSpPr>
        <p:spPr>
          <a:xfrm>
            <a:off x="1835600" y="1438550"/>
            <a:ext cx="8400" cy="4470000"/>
          </a:xfrm>
          <a:prstGeom prst="straightConnector1">
            <a:avLst/>
          </a:prstGeom>
          <a:noFill/>
          <a:ln cap="flat" cmpd="sng" w="28575">
            <a:solidFill>
              <a:srgbClr val="FF0000"/>
            </a:solidFill>
            <a:prstDash val="solid"/>
            <a:round/>
            <a:headEnd len="med" w="med" type="none"/>
            <a:tailEnd len="med" w="med" type="none"/>
          </a:ln>
        </p:spPr>
      </p:cxnSp>
      <p:sp>
        <p:nvSpPr>
          <p:cNvPr id="385" name="Google Shape;385;p49"/>
          <p:cNvSpPr txBox="1"/>
          <p:nvPr/>
        </p:nvSpPr>
        <p:spPr>
          <a:xfrm>
            <a:off x="2692227" y="2089200"/>
            <a:ext cx="1013100" cy="461700"/>
          </a:xfrm>
          <a:prstGeom prst="rect">
            <a:avLst/>
          </a:prstGeom>
          <a:solidFill>
            <a:schemeClr val="lt1"/>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~4ms </a:t>
            </a:r>
            <a:endParaRPr sz="1800">
              <a:solidFill>
                <a:schemeClr val="dk2"/>
              </a:solidFill>
            </a:endParaRPr>
          </a:p>
        </p:txBody>
      </p:sp>
      <p:sp>
        <p:nvSpPr>
          <p:cNvPr id="386" name="Google Shape;386;p49"/>
          <p:cNvSpPr txBox="1"/>
          <p:nvPr/>
        </p:nvSpPr>
        <p:spPr>
          <a:xfrm>
            <a:off x="5268825" y="2846875"/>
            <a:ext cx="3025500" cy="1569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With a debouncing capacitor, the time goes way up. This leaves even more time for the pin to read 0.</a:t>
            </a:r>
            <a:endParaRPr sz="1800">
              <a:solidFill>
                <a:schemeClr val="dk2"/>
              </a:solidFill>
            </a:endParaRPr>
          </a:p>
        </p:txBody>
      </p:sp>
      <p:cxnSp>
        <p:nvCxnSpPr>
          <p:cNvPr id="387" name="Google Shape;387;p49"/>
          <p:cNvCxnSpPr/>
          <p:nvPr/>
        </p:nvCxnSpPr>
        <p:spPr>
          <a:xfrm>
            <a:off x="4731200" y="1438550"/>
            <a:ext cx="8400" cy="4470000"/>
          </a:xfrm>
          <a:prstGeom prst="straightConnector1">
            <a:avLst/>
          </a:prstGeom>
          <a:noFill/>
          <a:ln cap="flat" cmpd="sng" w="28575">
            <a:solidFill>
              <a:srgbClr val="FF0000"/>
            </a:solidFill>
            <a:prstDash val="solid"/>
            <a:round/>
            <a:headEnd len="med" w="med" type="none"/>
            <a:tailEnd len="med" w="med" type="none"/>
          </a:ln>
        </p:spPr>
      </p:cxnSp>
      <p:sp>
        <p:nvSpPr>
          <p:cNvPr id="388" name="Google Shape;388;p49"/>
          <p:cNvSpPr txBox="1"/>
          <p:nvPr>
            <p:ph type="title"/>
          </p:nvPr>
        </p:nvSpPr>
        <p:spPr>
          <a:xfrm>
            <a:off x="281950" y="-8"/>
            <a:ext cx="8520600" cy="7635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Exponential response with 0.1uF debouncing cap.</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50"/>
          <p:cNvSpPr txBox="1"/>
          <p:nvPr>
            <p:ph type="title"/>
          </p:nvPr>
        </p:nvSpPr>
        <p:spPr>
          <a:xfrm>
            <a:off x="311700" y="276528"/>
            <a:ext cx="8520600" cy="108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Fundamental Issue: Code executes super fast but it takes time for the pins to get to the '1' state.</a:t>
            </a:r>
            <a:endParaRPr/>
          </a:p>
        </p:txBody>
      </p:sp>
      <p:sp>
        <p:nvSpPr>
          <p:cNvPr id="394" name="Google Shape;394;p50"/>
          <p:cNvSpPr txBox="1"/>
          <p:nvPr>
            <p:ph idx="1" type="body"/>
          </p:nvPr>
        </p:nvSpPr>
        <p:spPr>
          <a:xfrm>
            <a:off x="311700" y="1409174"/>
            <a:ext cx="8520600" cy="49305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a:t>In general the pins on the chip start out “0”.</a:t>
            </a:r>
            <a:endParaRPr/>
          </a:p>
          <a:p>
            <a:pPr indent="-342900" lvl="0" marL="457200" rtl="0" algn="l">
              <a:spcBef>
                <a:spcPts val="0"/>
              </a:spcBef>
              <a:spcAft>
                <a:spcPts val="0"/>
              </a:spcAft>
              <a:buSzPts val="1800"/>
              <a:buChar char="●"/>
            </a:pPr>
            <a:r>
              <a:rPr lang="en"/>
              <a:t>Debouncing makes it take longer for the pullup to make them “1”.</a:t>
            </a:r>
            <a:endParaRPr/>
          </a:p>
          <a:p>
            <a:pPr indent="0" lvl="0" marL="0" rtl="0" algn="l">
              <a:spcBef>
                <a:spcPts val="1600"/>
              </a:spcBef>
              <a:spcAft>
                <a:spcPts val="0"/>
              </a:spcAft>
              <a:buNone/>
            </a:pPr>
            <a:r>
              <a:rPr lang="en" sz="2400"/>
              <a:t>How can we fix it?</a:t>
            </a:r>
            <a:endParaRPr sz="2400"/>
          </a:p>
          <a:p>
            <a:pPr indent="-342900" lvl="0" marL="457200" rtl="0" algn="l">
              <a:spcBef>
                <a:spcPts val="1600"/>
              </a:spcBef>
              <a:spcAft>
                <a:spcPts val="0"/>
              </a:spcAft>
              <a:buSzPts val="1800"/>
              <a:buChar char="●"/>
            </a:pPr>
            <a:r>
              <a:rPr lang="en"/>
              <a:t>Easiest: </a:t>
            </a:r>
            <a:endParaRPr/>
          </a:p>
          <a:p>
            <a:pPr indent="-317500" lvl="1" marL="914400" rtl="0" algn="l">
              <a:spcBef>
                <a:spcPts val="0"/>
              </a:spcBef>
              <a:spcAft>
                <a:spcPts val="0"/>
              </a:spcAft>
              <a:buSzPts val="1400"/>
              <a:buChar char="○"/>
            </a:pPr>
            <a:r>
              <a:rPr lang="en"/>
              <a:t>Wait (delay_ms) 50ms before sampling any pin - add a delay after initialization.</a:t>
            </a:r>
            <a:endParaRPr/>
          </a:p>
          <a:p>
            <a:pPr indent="-342900" lvl="0" marL="457200" rtl="0" algn="l">
              <a:spcBef>
                <a:spcPts val="0"/>
              </a:spcBef>
              <a:spcAft>
                <a:spcPts val="0"/>
              </a:spcAft>
              <a:buSzPts val="1800"/>
              <a:buChar char="●"/>
            </a:pPr>
            <a:r>
              <a:rPr lang="en"/>
              <a:t>Others:</a:t>
            </a:r>
            <a:endParaRPr/>
          </a:p>
          <a:p>
            <a:pPr indent="-317500" lvl="1" marL="914400" rtl="0" algn="l">
              <a:spcBef>
                <a:spcPts val="0"/>
              </a:spcBef>
              <a:spcAft>
                <a:spcPts val="0"/>
              </a:spcAft>
              <a:buSzPts val="1400"/>
              <a:buChar char="○"/>
            </a:pPr>
            <a:r>
              <a:rPr lang="en"/>
              <a:t>Loop until the pin reads “1”</a:t>
            </a:r>
            <a:endParaRPr/>
          </a:p>
          <a:p>
            <a:pPr indent="-317500" lvl="1" marL="914400" rtl="0" algn="l">
              <a:spcBef>
                <a:spcPts val="0"/>
              </a:spcBef>
              <a:spcAft>
                <a:spcPts val="0"/>
              </a:spcAft>
              <a:buSzPts val="1400"/>
              <a:buChar char="○"/>
            </a:pPr>
            <a:r>
              <a:rPr lang="en"/>
              <a:t>Start as an output, set the pin to a “1”, then switch modes and enable the pullup.</a:t>
            </a:r>
            <a:endParaRPr/>
          </a:p>
          <a:p>
            <a:pPr indent="-317500" lvl="1" marL="914400" rtl="0" algn="l">
              <a:spcBef>
                <a:spcPts val="0"/>
              </a:spcBef>
              <a:spcAft>
                <a:spcPts val="0"/>
              </a:spcAft>
              <a:buSzPts val="1400"/>
              <a:buChar char="○"/>
            </a:pPr>
            <a:r>
              <a:rPr lang="en"/>
              <a:t>Use an </a:t>
            </a:r>
            <a:r>
              <a:rPr i="1" lang="en"/>
              <a:t>external</a:t>
            </a:r>
            <a:r>
              <a:rPr lang="en"/>
              <a:t> pullup.</a:t>
            </a:r>
            <a:endParaRPr/>
          </a:p>
          <a:p>
            <a:pPr indent="0" lvl="0" marL="0" rtl="0" algn="l">
              <a:spcBef>
                <a:spcPts val="1600"/>
              </a:spcBef>
              <a:spcAft>
                <a:spcPts val="0"/>
              </a:spcAft>
              <a:buNone/>
            </a:pPr>
            <a:r>
              <a:rPr lang="en" sz="2400"/>
              <a:t>Caution!</a:t>
            </a:r>
            <a:endParaRPr sz="2400"/>
          </a:p>
          <a:p>
            <a:pPr indent="0" lvl="0" marL="0" rtl="0" algn="l">
              <a:spcBef>
                <a:spcPts val="1600"/>
              </a:spcBef>
              <a:spcAft>
                <a:spcPts val="0"/>
              </a:spcAft>
              <a:buNone/>
            </a:pPr>
            <a:r>
              <a:rPr lang="en" sz="1400"/>
              <a:t>This will happen any time the pin is pulled down.  Your code  needs to account for this!  Best way in “regular” code is to use a state machine.  Make sure you transition from PRESSED to UNPRESSED before taking another action.</a:t>
            </a:r>
            <a:endParaRPr sz="1400"/>
          </a:p>
          <a:p>
            <a:pPr indent="0" lvl="0" marL="0" rtl="0" algn="l">
              <a:spcBef>
                <a:spcPts val="1600"/>
              </a:spcBef>
              <a:spcAft>
                <a:spcPts val="160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1"/>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Pushbutton exercises</a:t>
            </a:r>
            <a:endParaRPr/>
          </a:p>
        </p:txBody>
      </p:sp>
      <p:sp>
        <p:nvSpPr>
          <p:cNvPr id="400" name="Google Shape;400;p51"/>
          <p:cNvSpPr txBox="1"/>
          <p:nvPr>
            <p:ph idx="1" type="body"/>
          </p:nvPr>
        </p:nvSpPr>
        <p:spPr>
          <a:xfrm>
            <a:off x="311700" y="1536625"/>
            <a:ext cx="3828600" cy="455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Make a copy of one of your Lab 1 programs and modify them to use the button:</a:t>
            </a:r>
            <a:endParaRPr sz="1600"/>
          </a:p>
          <a:p>
            <a:pPr indent="-330200" lvl="0" marL="457200" rtl="0" algn="l">
              <a:spcBef>
                <a:spcPts val="1600"/>
              </a:spcBef>
              <a:spcAft>
                <a:spcPts val="0"/>
              </a:spcAft>
              <a:buSzPts val="1600"/>
              <a:buChar char="●"/>
            </a:pPr>
            <a:r>
              <a:rPr b="1" lang="en" sz="1600"/>
              <a:t>blinkySEQ.c</a:t>
            </a:r>
            <a:r>
              <a:rPr lang="en" sz="1600"/>
              <a:t>:  Pressing the button turns all the LEDs on, releasing it returns to the usual sequence.</a:t>
            </a:r>
            <a:endParaRPr sz="1600"/>
          </a:p>
          <a:p>
            <a:pPr indent="-330200" lvl="0" marL="457200" rtl="0" algn="l">
              <a:spcBef>
                <a:spcPts val="1000"/>
              </a:spcBef>
              <a:spcAft>
                <a:spcPts val="0"/>
              </a:spcAft>
              <a:buSzPts val="1600"/>
              <a:buChar char="●"/>
            </a:pPr>
            <a:r>
              <a:rPr b="1" lang="en" sz="1600"/>
              <a:t>blinkyCNT.c</a:t>
            </a:r>
            <a:r>
              <a:rPr lang="en" sz="1600"/>
              <a:t>:  A button press causes the counter to pause, a second press causes it to resume.</a:t>
            </a:r>
            <a:endParaRPr sz="1600"/>
          </a:p>
          <a:p>
            <a:pPr indent="0" lvl="0" marL="0" rtl="0" algn="l">
              <a:spcBef>
                <a:spcPts val="1600"/>
              </a:spcBef>
              <a:spcAft>
                <a:spcPts val="1600"/>
              </a:spcAft>
              <a:buNone/>
            </a:pPr>
            <a:r>
              <a:rPr lang="en" sz="1600"/>
              <a:t>(This is part of your Lab 2 work. You won't quite get this done right now but can get a nice headstart.)</a:t>
            </a:r>
            <a:endParaRPr sz="1600"/>
          </a:p>
        </p:txBody>
      </p:sp>
      <p:pic>
        <p:nvPicPr>
          <p:cNvPr id="401" name="Google Shape;401;p51" title="LED_x3_button_bb.png"/>
          <p:cNvPicPr preferRelativeResize="0"/>
          <p:nvPr/>
        </p:nvPicPr>
        <p:blipFill>
          <a:blip r:embed="rId3">
            <a:alphaModFix/>
          </a:blip>
          <a:stretch>
            <a:fillRect/>
          </a:stretch>
        </p:blipFill>
        <p:spPr>
          <a:xfrm>
            <a:off x="4390051" y="593363"/>
            <a:ext cx="3561950" cy="5917175"/>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pic>
        <p:nvPicPr>
          <p:cNvPr id="406" name="Google Shape;406;p52" title="LED_x3_button_bb.png"/>
          <p:cNvPicPr preferRelativeResize="0"/>
          <p:nvPr/>
        </p:nvPicPr>
        <p:blipFill>
          <a:blip r:embed="rId3">
            <a:alphaModFix/>
          </a:blip>
          <a:stretch>
            <a:fillRect/>
          </a:stretch>
        </p:blipFill>
        <p:spPr>
          <a:xfrm>
            <a:off x="4910376" y="659813"/>
            <a:ext cx="3561950" cy="5917175"/>
          </a:xfrm>
          <a:prstGeom prst="rect">
            <a:avLst/>
          </a:prstGeom>
          <a:noFill/>
          <a:ln>
            <a:noFill/>
          </a:ln>
        </p:spPr>
      </p:pic>
      <p:sp>
        <p:nvSpPr>
          <p:cNvPr id="407" name="Google Shape;407;p52"/>
          <p:cNvSpPr txBox="1"/>
          <p:nvPr>
            <p:ph type="title"/>
          </p:nvPr>
        </p:nvSpPr>
        <p:spPr>
          <a:xfrm>
            <a:off x="311700" y="593367"/>
            <a:ext cx="8520600" cy="76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Homework for Thursday</a:t>
            </a:r>
            <a:endParaRPr/>
          </a:p>
        </p:txBody>
      </p:sp>
      <p:sp>
        <p:nvSpPr>
          <p:cNvPr id="408" name="Google Shape;408;p52"/>
          <p:cNvSpPr txBox="1"/>
          <p:nvPr>
            <p:ph idx="1" type="body"/>
          </p:nvPr>
        </p:nvSpPr>
        <p:spPr>
          <a:xfrm>
            <a:off x="311700" y="1231825"/>
            <a:ext cx="3854100" cy="549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600"/>
              <a:t>Write code (toggleLED.c) so that the </a:t>
            </a:r>
            <a:r>
              <a:rPr b="1" lang="en" sz="1600">
                <a:solidFill>
                  <a:srgbClr val="0000FF"/>
                </a:solidFill>
              </a:rPr>
              <a:t>on-board LED</a:t>
            </a:r>
            <a:r>
              <a:rPr lang="en" sz="1600"/>
              <a:t> is toggled on and off via the button:</a:t>
            </a:r>
            <a:endParaRPr sz="1600"/>
          </a:p>
          <a:p>
            <a:pPr indent="0" lvl="0" marL="457200" rtl="0" algn="l">
              <a:spcBef>
                <a:spcPts val="0"/>
              </a:spcBef>
              <a:spcAft>
                <a:spcPts val="0"/>
              </a:spcAft>
              <a:buNone/>
            </a:pPr>
            <a:r>
              <a:rPr lang="en" sz="1600"/>
              <a:t>	</a:t>
            </a:r>
            <a:r>
              <a:rPr lang="en" sz="1400"/>
              <a:t>PRESS 	=&gt; LED goes ON</a:t>
            </a:r>
            <a:endParaRPr sz="1400"/>
          </a:p>
          <a:p>
            <a:pPr indent="0" lvl="0" marL="457200" rtl="0" algn="l">
              <a:spcBef>
                <a:spcPts val="0"/>
              </a:spcBef>
              <a:spcAft>
                <a:spcPts val="0"/>
              </a:spcAft>
              <a:buNone/>
            </a:pPr>
            <a:r>
              <a:rPr lang="en" sz="1400"/>
              <a:t>	RELEASE	=&gt; LED stays ON</a:t>
            </a:r>
            <a:endParaRPr sz="1400"/>
          </a:p>
          <a:p>
            <a:pPr indent="0" lvl="0" marL="457200" rtl="0" algn="l">
              <a:spcBef>
                <a:spcPts val="0"/>
              </a:spcBef>
              <a:spcAft>
                <a:spcPts val="0"/>
              </a:spcAft>
              <a:buNone/>
            </a:pPr>
            <a:r>
              <a:rPr lang="en" sz="1400"/>
              <a:t>	PRESS	=&gt; LED goes OFF</a:t>
            </a:r>
            <a:endParaRPr sz="1400"/>
          </a:p>
          <a:p>
            <a:pPr indent="0" lvl="0" marL="457200" rtl="0" algn="l">
              <a:spcBef>
                <a:spcPts val="0"/>
              </a:spcBef>
              <a:spcAft>
                <a:spcPts val="0"/>
              </a:spcAft>
              <a:buNone/>
            </a:pPr>
            <a:r>
              <a:rPr lang="en" sz="1400"/>
              <a:t>	RELEASE	=&gt; LED stays OFF</a:t>
            </a:r>
            <a:endParaRPr sz="1400"/>
          </a:p>
          <a:p>
            <a:pPr indent="0" lvl="0" marL="0" rtl="0" algn="l">
              <a:spcBef>
                <a:spcPts val="0"/>
              </a:spcBef>
              <a:spcAft>
                <a:spcPts val="0"/>
              </a:spcAft>
              <a:buNone/>
            </a:pPr>
            <a:r>
              <a:t/>
            </a:r>
            <a:endParaRPr sz="1400"/>
          </a:p>
          <a:p>
            <a:pPr indent="0" lvl="0" marL="0" rtl="0" algn="l">
              <a:spcBef>
                <a:spcPts val="0"/>
              </a:spcBef>
              <a:spcAft>
                <a:spcPts val="0"/>
              </a:spcAft>
              <a:buNone/>
            </a:pPr>
            <a:r>
              <a:rPr lang="en" sz="1600"/>
              <a:t>You may observe “glitches” (erratic behavior of the LED).  We’ll investigate on Thursday.</a:t>
            </a:r>
            <a:endParaRPr sz="1600"/>
          </a:p>
          <a:p>
            <a:pPr indent="0" lvl="0" marL="0" rtl="0" algn="l">
              <a:spcBef>
                <a:spcPts val="0"/>
              </a:spcBef>
              <a:spcAft>
                <a:spcPts val="0"/>
              </a:spcAft>
              <a:buNone/>
            </a:pPr>
            <a:r>
              <a:t/>
            </a:r>
            <a:endParaRPr sz="1600"/>
          </a:p>
          <a:p>
            <a:pPr indent="0" lvl="0" marL="0" rtl="0" algn="l">
              <a:spcBef>
                <a:spcPts val="0"/>
              </a:spcBef>
              <a:spcAft>
                <a:spcPts val="1600"/>
              </a:spcAft>
              <a:buNone/>
            </a:pPr>
            <a:r>
              <a:t/>
            </a:r>
            <a:endParaRPr/>
          </a:p>
        </p:txBody>
      </p:sp>
      <p:sp>
        <p:nvSpPr>
          <p:cNvPr id="409" name="Google Shape;409;p52"/>
          <p:cNvSpPr txBox="1"/>
          <p:nvPr/>
        </p:nvSpPr>
        <p:spPr>
          <a:xfrm>
            <a:off x="2733825" y="356875"/>
            <a:ext cx="3523800" cy="411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410" name="Google Shape;410;p52"/>
          <p:cNvSpPr/>
          <p:nvPr/>
        </p:nvSpPr>
        <p:spPr>
          <a:xfrm>
            <a:off x="7009000" y="2695325"/>
            <a:ext cx="285900" cy="207900"/>
          </a:xfrm>
          <a:prstGeom prst="rect">
            <a:avLst/>
          </a:prstGeom>
          <a:noFill/>
          <a:ln cap="flat" cmpd="sng" w="38100">
            <a:solidFill>
              <a:srgbClr val="F1C23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2"/>
          <p:cNvSpPr/>
          <p:nvPr/>
        </p:nvSpPr>
        <p:spPr>
          <a:xfrm>
            <a:off x="7097350" y="2768175"/>
            <a:ext cx="124800" cy="62400"/>
          </a:xfrm>
          <a:prstGeom prst="rect">
            <a:avLst/>
          </a:prstGeom>
          <a:solidFill>
            <a:srgbClr val="00FF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