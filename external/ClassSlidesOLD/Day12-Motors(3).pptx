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9144000"/>
  <p:notesSz cx="6858000" cy="9144000"/>
  <p:embeddedFontLst>
    <p:embeddedFont>
      <p:font typeface="Helvetica Neue"/>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HelveticaNeue-regular.fntdata"/><Relationship Id="rId14" Type="http://schemas.openxmlformats.org/officeDocument/2006/relationships/slide" Target="slides/slide10.xml"/><Relationship Id="rId17" Type="http://schemas.openxmlformats.org/officeDocument/2006/relationships/font" Target="fonts/HelveticaNeue-italic.fntdata"/><Relationship Id="rId16" Type="http://schemas.openxmlformats.org/officeDocument/2006/relationships/font" Target="fonts/HelveticaNeue-bold.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HelveticaNeue-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4e32faedb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4e32fae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11e2377659_0_4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11e2377659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06dddfafa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06dddfaf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1376a8bc79_0_2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1376a8bc79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1376a8bc79_0_2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1376a8bc79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Really important that you get this working before you leave today. This is what we'll use to measure speed. It's the U-shaped object that's wrapped around the slotted wheel. It has an LED on one side and a photosensor on the other side. You'll figure out how to capture those pulses with the microcontroller and count them in Lab 6 and how to convert those counts to the rpm of the motor.</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137d78a836_0_1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137d78a836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Take down the oscilloscope, multimeter, etc. Back to the barebones circuit. Take the three wires out of the photointerruptor and wire them how you see here. Don't wire the signal wire (orange in this </a:t>
            </a:r>
            <a:r>
              <a:rPr lang="en" sz="1400"/>
              <a:t>picture</a:t>
            </a:r>
            <a:r>
              <a:rPr lang="en" sz="1400"/>
              <a:t>, white in your setup) into the Arduino yet. For now, just </a:t>
            </a:r>
            <a:r>
              <a:rPr lang="en" sz="1400"/>
              <a:t>wire power and ground to logic power and ground. We'll observe the signal on the orange wire with Scopy.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You'll need a pullup resistor on the orange wire since the phototransistor doesn't make any current. So run the orange wire onto the breadboard and connect a ~10K pullup resistor between it and the power rail. Then you can measure the voltage at the signal wire with scopy.</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When you build this in Lab 6 you'll wire this into the Arduino and so you can just enable the pullup on that Arduino pin.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7b761240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7b76124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3b61ca00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33b61ca0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https://youtu.be/VH0-zO2LpDc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137d78a836_0_1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137d78a83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1376a8bc79_0_1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1376a8bc79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8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228600" lvl="5" marL="2743200" algn="l">
              <a:spcBef>
                <a:spcPts val="36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algn="l">
              <a:spcBef>
                <a:spcPts val="6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www.youtube.com/watch?v=VH0-zO2LpDc" TargetMode="Externa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60" name="Google Shape;60;p14"/>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12</a:t>
            </a:r>
            <a:endParaRPr sz="2800">
              <a:solidFill>
                <a:srgbClr val="595959"/>
              </a:solidFill>
              <a:latin typeface="Comic Sans MS"/>
              <a:ea typeface="Comic Sans MS"/>
              <a:cs typeface="Comic Sans MS"/>
              <a:sym typeface="Comic Sans MS"/>
            </a:endParaRPr>
          </a:p>
        </p:txBody>
      </p:sp>
      <p:pic>
        <p:nvPicPr>
          <p:cNvPr id="61" name="Google Shape;61;p14"/>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62" name="Google Shape;62;p14"/>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
        <p:nvSpPr>
          <p:cNvPr id="63" name="Google Shape;6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9534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Review:  Basic DC motor control</a:t>
            </a:r>
            <a:endParaRPr/>
          </a:p>
        </p:txBody>
      </p:sp>
      <p:sp>
        <p:nvSpPr>
          <p:cNvPr id="69" name="Google Shape;69;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 At Your Table</a:t>
            </a:r>
            <a:endParaRPr/>
          </a:p>
        </p:txBody>
      </p:sp>
      <p:sp>
        <p:nvSpPr>
          <p:cNvPr id="75" name="Google Shape;75;p1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How does </a:t>
            </a:r>
            <a:r>
              <a:rPr b="1" lang="en" sz="1600">
                <a:solidFill>
                  <a:schemeClr val="dk1"/>
                </a:solidFill>
              </a:rPr>
              <a:t>TTmotor_ramp.c</a:t>
            </a:r>
            <a:r>
              <a:rPr lang="en"/>
              <a:t> work?</a:t>
            </a:r>
            <a:br>
              <a:rPr lang="en"/>
            </a:br>
            <a:endParaRPr/>
          </a:p>
          <a:p>
            <a:pPr indent="-342900" lvl="0" marL="457200" rtl="0" algn="l">
              <a:spcBef>
                <a:spcPts val="0"/>
              </a:spcBef>
              <a:spcAft>
                <a:spcPts val="0"/>
              </a:spcAft>
              <a:buSzPts val="1800"/>
              <a:buChar char="●"/>
            </a:pPr>
            <a:r>
              <a:rPr lang="en"/>
              <a:t>Do you understand all of the register bits that are set?</a:t>
            </a:r>
            <a:br>
              <a:rPr lang="en"/>
            </a:br>
            <a:endParaRPr/>
          </a:p>
          <a:p>
            <a:pPr indent="-342900" lvl="0" marL="457200" rtl="0" algn="l">
              <a:spcBef>
                <a:spcPts val="0"/>
              </a:spcBef>
              <a:spcAft>
                <a:spcPts val="0"/>
              </a:spcAft>
              <a:buSzPts val="1800"/>
              <a:buChar char="●"/>
            </a:pPr>
            <a:r>
              <a:rPr lang="en"/>
              <a:t>What</a:t>
            </a:r>
            <a:r>
              <a:rPr lang="en"/>
              <a:t> questions do you have about the code?</a:t>
            </a:r>
            <a:endParaRPr/>
          </a:p>
        </p:txBody>
      </p:sp>
      <p:sp>
        <p:nvSpPr>
          <p:cNvPr id="76" name="Google Shape;76;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19534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Motor speed sensing</a:t>
            </a:r>
            <a:endParaRPr/>
          </a:p>
        </p:txBody>
      </p:sp>
      <p:sp>
        <p:nvSpPr>
          <p:cNvPr id="82" name="Google Shape;82;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will use an optical incremental sensor </a:t>
            </a:r>
            <a:endParaRPr/>
          </a:p>
        </p:txBody>
      </p:sp>
      <p:sp>
        <p:nvSpPr>
          <p:cNvPr id="88" name="Google Shape;88;p18"/>
          <p:cNvSpPr txBox="1"/>
          <p:nvPr/>
        </p:nvSpPr>
        <p:spPr>
          <a:xfrm>
            <a:off x="6102100" y="6335150"/>
            <a:ext cx="2778000" cy="31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t>https://www.adafruit.com/product/3985</a:t>
            </a:r>
            <a:endParaRPr i="1" sz="1000"/>
          </a:p>
        </p:txBody>
      </p:sp>
      <p:pic>
        <p:nvPicPr>
          <p:cNvPr id="89" name="Google Shape;89;p18"/>
          <p:cNvPicPr preferRelativeResize="0"/>
          <p:nvPr/>
        </p:nvPicPr>
        <p:blipFill>
          <a:blip r:embed="rId3">
            <a:alphaModFix/>
          </a:blip>
          <a:stretch>
            <a:fillRect/>
          </a:stretch>
        </p:blipFill>
        <p:spPr>
          <a:xfrm>
            <a:off x="424925" y="1663275"/>
            <a:ext cx="2706300" cy="2031125"/>
          </a:xfrm>
          <a:prstGeom prst="rect">
            <a:avLst/>
          </a:prstGeom>
          <a:noFill/>
          <a:ln>
            <a:noFill/>
          </a:ln>
        </p:spPr>
      </p:pic>
      <p:pic>
        <p:nvPicPr>
          <p:cNvPr id="90" name="Google Shape;90;p18"/>
          <p:cNvPicPr preferRelativeResize="0"/>
          <p:nvPr/>
        </p:nvPicPr>
        <p:blipFill>
          <a:blip r:embed="rId4">
            <a:alphaModFix/>
          </a:blip>
          <a:stretch>
            <a:fillRect/>
          </a:stretch>
        </p:blipFill>
        <p:spPr>
          <a:xfrm>
            <a:off x="424925" y="4310135"/>
            <a:ext cx="2706300" cy="2031115"/>
          </a:xfrm>
          <a:prstGeom prst="rect">
            <a:avLst/>
          </a:prstGeom>
          <a:noFill/>
          <a:ln>
            <a:noFill/>
          </a:ln>
        </p:spPr>
      </p:pic>
      <p:sp>
        <p:nvSpPr>
          <p:cNvPr id="91" name="Google Shape;91;p18"/>
          <p:cNvSpPr txBox="1"/>
          <p:nvPr/>
        </p:nvSpPr>
        <p:spPr>
          <a:xfrm>
            <a:off x="353225" y="3690050"/>
            <a:ext cx="2778000" cy="31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t>https://www.adafruit.com/product/3985</a:t>
            </a:r>
            <a:endParaRPr i="1" sz="1000"/>
          </a:p>
        </p:txBody>
      </p:sp>
      <p:sp>
        <p:nvSpPr>
          <p:cNvPr id="92" name="Google Shape;92;p18"/>
          <p:cNvSpPr txBox="1"/>
          <p:nvPr/>
        </p:nvSpPr>
        <p:spPr>
          <a:xfrm>
            <a:off x="625625" y="6341250"/>
            <a:ext cx="2505600" cy="318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t>https://www.adafruit.com/product/3782</a:t>
            </a:r>
            <a:endParaRPr i="1" sz="1000"/>
          </a:p>
        </p:txBody>
      </p:sp>
      <p:sp>
        <p:nvSpPr>
          <p:cNvPr id="93" name="Google Shape;93;p18"/>
          <p:cNvSpPr txBox="1"/>
          <p:nvPr/>
        </p:nvSpPr>
        <p:spPr>
          <a:xfrm>
            <a:off x="3995700" y="1657725"/>
            <a:ext cx="4884300" cy="1029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a:t>LED + photosensor → series of pulses as slotted wheel interrupts the beam.</a:t>
            </a:r>
            <a:endParaRPr/>
          </a:p>
          <a:p>
            <a:pPr indent="-317500" lvl="0" marL="457200" rtl="0" algn="l">
              <a:lnSpc>
                <a:spcPct val="115000"/>
              </a:lnSpc>
              <a:spcBef>
                <a:spcPts val="1000"/>
              </a:spcBef>
              <a:spcAft>
                <a:spcPts val="1000"/>
              </a:spcAft>
              <a:buSzPts val="1400"/>
              <a:buChar char="●"/>
            </a:pPr>
            <a:r>
              <a:rPr lang="en"/>
              <a:t>Detect and count pulses in the MCU, convert to RPM.</a:t>
            </a:r>
            <a:endParaRPr/>
          </a:p>
        </p:txBody>
      </p:sp>
      <p:pic>
        <p:nvPicPr>
          <p:cNvPr id="94" name="Google Shape;94;p18"/>
          <p:cNvPicPr preferRelativeResize="0"/>
          <p:nvPr/>
        </p:nvPicPr>
        <p:blipFill>
          <a:blip r:embed="rId5">
            <a:alphaModFix/>
          </a:blip>
          <a:stretch>
            <a:fillRect/>
          </a:stretch>
        </p:blipFill>
        <p:spPr>
          <a:xfrm>
            <a:off x="4198025" y="2932649"/>
            <a:ext cx="4544801" cy="3408601"/>
          </a:xfrm>
          <a:prstGeom prst="rect">
            <a:avLst/>
          </a:prstGeom>
          <a:noFill/>
          <a:ln>
            <a:noFill/>
          </a:ln>
        </p:spPr>
      </p:pic>
      <p:sp>
        <p:nvSpPr>
          <p:cNvPr id="95" name="Google Shape;95;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p:cNvPicPr preferRelativeResize="0"/>
          <p:nvPr/>
        </p:nvPicPr>
        <p:blipFill rotWithShape="1">
          <a:blip r:embed="rId3">
            <a:alphaModFix/>
          </a:blip>
          <a:srcRect b="2954" l="0" r="0" t="2954"/>
          <a:stretch/>
        </p:blipFill>
        <p:spPr>
          <a:xfrm>
            <a:off x="2458950" y="303663"/>
            <a:ext cx="5994302" cy="6250670"/>
          </a:xfrm>
          <a:prstGeom prst="rect">
            <a:avLst/>
          </a:prstGeom>
          <a:noFill/>
          <a:ln>
            <a:noFill/>
          </a:ln>
        </p:spPr>
      </p:pic>
      <p:sp>
        <p:nvSpPr>
          <p:cNvPr id="101" name="Google Shape;101;p19"/>
          <p:cNvSpPr txBox="1"/>
          <p:nvPr>
            <p:ph type="title"/>
          </p:nvPr>
        </p:nvSpPr>
        <p:spPr>
          <a:xfrm>
            <a:off x="170750" y="1084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#1</a:t>
            </a:r>
            <a:endParaRPr/>
          </a:p>
        </p:txBody>
      </p:sp>
      <p:sp>
        <p:nvSpPr>
          <p:cNvPr id="102" name="Google Shape;102;p19"/>
          <p:cNvSpPr txBox="1"/>
          <p:nvPr/>
        </p:nvSpPr>
        <p:spPr>
          <a:xfrm>
            <a:off x="125550" y="785375"/>
            <a:ext cx="4347000" cy="2400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Wire the photointerrupter to your setup.</a:t>
            </a:r>
            <a:endParaRPr sz="1600"/>
          </a:p>
          <a:p>
            <a:pPr indent="-330200" lvl="0" marL="457200" rtl="0" algn="l">
              <a:spcBef>
                <a:spcPts val="0"/>
              </a:spcBef>
              <a:spcAft>
                <a:spcPts val="0"/>
              </a:spcAft>
              <a:buSzPts val="1600"/>
              <a:buChar char="●"/>
            </a:pPr>
            <a:r>
              <a:rPr lang="en" sz="1600"/>
              <a:t>Connect the AD2 to monitor the photointerrupter output using Waveforms.</a:t>
            </a:r>
            <a:endParaRPr sz="1600"/>
          </a:p>
          <a:p>
            <a:pPr indent="-330200" lvl="0" marL="457200" rtl="0" algn="l">
              <a:spcBef>
                <a:spcPts val="0"/>
              </a:spcBef>
              <a:spcAft>
                <a:spcPts val="0"/>
              </a:spcAft>
              <a:buSzPts val="1600"/>
              <a:buChar char="●"/>
            </a:pPr>
            <a:r>
              <a:rPr lang="en" sz="1600"/>
              <a:t>Run </a:t>
            </a:r>
            <a:r>
              <a:rPr b="1" lang="en" sz="1600"/>
              <a:t>TTmotor_ramp.c, </a:t>
            </a:r>
            <a:r>
              <a:rPr lang="en" sz="1600"/>
              <a:t>observe the photointerrupter signal on the oscilloscope as the motor changes speed.</a:t>
            </a:r>
            <a:endParaRPr sz="1600"/>
          </a:p>
        </p:txBody>
      </p:sp>
      <p:sp>
        <p:nvSpPr>
          <p:cNvPr id="103" name="Google Shape;103;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4" name="Google Shape;104;p19"/>
          <p:cNvSpPr txBox="1"/>
          <p:nvPr/>
        </p:nvSpPr>
        <p:spPr>
          <a:xfrm>
            <a:off x="604675" y="3129850"/>
            <a:ext cx="141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~10 KΩ pullup</a:t>
            </a:r>
            <a:endParaRPr>
              <a:solidFill>
                <a:srgbClr val="0000FF"/>
              </a:solidFill>
            </a:endParaRPr>
          </a:p>
        </p:txBody>
      </p:sp>
      <p:cxnSp>
        <p:nvCxnSpPr>
          <p:cNvPr id="105" name="Google Shape;105;p19"/>
          <p:cNvCxnSpPr>
            <a:stCxn id="104" idx="3"/>
          </p:cNvCxnSpPr>
          <p:nvPr/>
        </p:nvCxnSpPr>
        <p:spPr>
          <a:xfrm flipH="1" rot="10800000">
            <a:off x="2017675" y="3117250"/>
            <a:ext cx="1668900" cy="212700"/>
          </a:xfrm>
          <a:prstGeom prst="straightConnector1">
            <a:avLst/>
          </a:prstGeom>
          <a:noFill/>
          <a:ln cap="flat" cmpd="sng" w="9525">
            <a:solidFill>
              <a:srgbClr val="0000FF"/>
            </a:solidFill>
            <a:prstDash val="solid"/>
            <a:round/>
            <a:headEnd len="med" w="med" type="none"/>
            <a:tailEnd len="med" w="med" type="triangle"/>
          </a:ln>
        </p:spPr>
      </p:cxnSp>
      <p:sp>
        <p:nvSpPr>
          <p:cNvPr id="106" name="Google Shape;106;p19"/>
          <p:cNvSpPr txBox="1"/>
          <p:nvPr/>
        </p:nvSpPr>
        <p:spPr>
          <a:xfrm>
            <a:off x="125550" y="3625500"/>
            <a:ext cx="2314200" cy="3232500"/>
          </a:xfrm>
          <a:prstGeom prst="rect">
            <a:avLst/>
          </a:prstGeom>
          <a:solidFill>
            <a:srgbClr val="FCE5CD"/>
          </a:solidFill>
          <a:ln cap="flat" cmpd="sng" w="2857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Don't wire the signal wire into the Nucleo yet. We'll observe its signal with the oscilloscope.</a:t>
            </a:r>
            <a:endParaRPr sz="1800">
              <a:solidFill>
                <a:srgbClr val="0000FF"/>
              </a:solidFill>
            </a:endParaRPr>
          </a:p>
          <a:p>
            <a:pPr indent="0" lvl="0" marL="0" rtl="0" algn="l">
              <a:spcBef>
                <a:spcPts val="0"/>
              </a:spcBef>
              <a:spcAft>
                <a:spcPts val="0"/>
              </a:spcAft>
              <a:buNone/>
            </a:pPr>
            <a:r>
              <a:t/>
            </a:r>
            <a:endParaRPr sz="1800">
              <a:solidFill>
                <a:srgbClr val="0000FF"/>
              </a:solidFill>
            </a:endParaRPr>
          </a:p>
          <a:p>
            <a:pPr indent="0" lvl="0" marL="0" rtl="0" algn="l">
              <a:spcBef>
                <a:spcPts val="0"/>
              </a:spcBef>
              <a:spcAft>
                <a:spcPts val="0"/>
              </a:spcAft>
              <a:buNone/>
            </a:pPr>
            <a:r>
              <a:rPr lang="en" sz="1800">
                <a:solidFill>
                  <a:srgbClr val="0000FF"/>
                </a:solidFill>
              </a:rPr>
              <a:t>Later, when you wire it to the Nucleo you can simply enable the pull-up on that pin.</a:t>
            </a:r>
            <a:endParaRPr sz="1800">
              <a:solidFill>
                <a:srgbClr val="0000FF"/>
              </a:solidFill>
            </a:endParaRPr>
          </a:p>
        </p:txBody>
      </p:sp>
      <p:cxnSp>
        <p:nvCxnSpPr>
          <p:cNvPr id="107" name="Google Shape;107;p19"/>
          <p:cNvCxnSpPr>
            <a:stCxn id="106" idx="3"/>
          </p:cNvCxnSpPr>
          <p:nvPr/>
        </p:nvCxnSpPr>
        <p:spPr>
          <a:xfrm flipH="1" rot="10800000">
            <a:off x="2439750" y="4075950"/>
            <a:ext cx="1260300" cy="1165800"/>
          </a:xfrm>
          <a:prstGeom prst="straightConnector1">
            <a:avLst/>
          </a:prstGeom>
          <a:noFill/>
          <a:ln cap="flat" cmpd="sng" w="28575">
            <a:solidFill>
              <a:srgbClr val="FF9900"/>
            </a:solidFill>
            <a:prstDash val="solid"/>
            <a:round/>
            <a:headEnd len="med" w="med" type="none"/>
            <a:tailEnd len="med" w="med" type="triangle"/>
          </a:ln>
        </p:spPr>
      </p:cxnSp>
      <p:pic>
        <p:nvPicPr>
          <p:cNvPr id="108" name="Google Shape;108;p19"/>
          <p:cNvPicPr preferRelativeResize="0"/>
          <p:nvPr/>
        </p:nvPicPr>
        <p:blipFill>
          <a:blip r:embed="rId4">
            <a:alphaModFix/>
          </a:blip>
          <a:stretch>
            <a:fillRect/>
          </a:stretch>
        </p:blipFill>
        <p:spPr>
          <a:xfrm rot="-5400000">
            <a:off x="8071426" y="2801650"/>
            <a:ext cx="782574" cy="1705526"/>
          </a:xfrm>
          <a:prstGeom prst="rect">
            <a:avLst/>
          </a:prstGeom>
          <a:noFill/>
          <a:ln>
            <a:noFill/>
          </a:ln>
        </p:spPr>
      </p:pic>
      <p:sp>
        <p:nvSpPr>
          <p:cNvPr id="109" name="Google Shape;109;p19"/>
          <p:cNvSpPr txBox="1"/>
          <p:nvPr/>
        </p:nvSpPr>
        <p:spPr>
          <a:xfrm>
            <a:off x="5295750" y="5726525"/>
            <a:ext cx="2314200" cy="1015800"/>
          </a:xfrm>
          <a:prstGeom prst="rect">
            <a:avLst/>
          </a:prstGeom>
          <a:solidFill>
            <a:srgbClr val="CFE2F3"/>
          </a:solid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The photointerrupter needs a 5V voltage supply.</a:t>
            </a:r>
            <a:endParaRPr sz="1800">
              <a:solidFill>
                <a:srgbClr val="0000FF"/>
              </a:solidFill>
            </a:endParaRPr>
          </a:p>
        </p:txBody>
      </p:sp>
      <p:cxnSp>
        <p:nvCxnSpPr>
          <p:cNvPr id="110" name="Google Shape;110;p19"/>
          <p:cNvCxnSpPr>
            <a:stCxn id="109" idx="0"/>
          </p:cNvCxnSpPr>
          <p:nvPr/>
        </p:nvCxnSpPr>
        <p:spPr>
          <a:xfrm rot="10800000">
            <a:off x="6088350" y="3325925"/>
            <a:ext cx="364500" cy="2400600"/>
          </a:xfrm>
          <a:prstGeom prst="straightConnector1">
            <a:avLst/>
          </a:prstGeom>
          <a:noFill/>
          <a:ln cap="flat" cmpd="sng" w="28575">
            <a:solidFill>
              <a:srgbClr val="0000FF"/>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Wiring the Fancy Photointerrupter </a:t>
            </a:r>
            <a:endParaRPr/>
          </a:p>
        </p:txBody>
      </p:sp>
      <p:sp>
        <p:nvSpPr>
          <p:cNvPr id="116" name="Google Shape;116;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nvSpPr>
        <p:spPr>
          <a:xfrm>
            <a:off x="539925" y="1356875"/>
            <a:ext cx="54561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Some of you have a photointerrupter with a long cable on it.  The signals are listed below (and in the lab handout!)</a:t>
            </a:r>
            <a:endParaRPr sz="1800">
              <a:solidFill>
                <a:schemeClr val="dk2"/>
              </a:solidFill>
            </a:endParaRPr>
          </a:p>
        </p:txBody>
      </p:sp>
      <p:pic>
        <p:nvPicPr>
          <p:cNvPr id="118" name="Google Shape;118;p20" title="3985-07.jpg"/>
          <p:cNvPicPr preferRelativeResize="0"/>
          <p:nvPr/>
        </p:nvPicPr>
        <p:blipFill>
          <a:blip r:embed="rId3">
            <a:alphaModFix/>
          </a:blip>
          <a:stretch>
            <a:fillRect/>
          </a:stretch>
        </p:blipFill>
        <p:spPr>
          <a:xfrm>
            <a:off x="4225525" y="2586025"/>
            <a:ext cx="4167001" cy="3127401"/>
          </a:xfrm>
          <a:prstGeom prst="rect">
            <a:avLst/>
          </a:prstGeom>
          <a:noFill/>
          <a:ln>
            <a:noFill/>
          </a:ln>
        </p:spPr>
      </p:pic>
      <p:sp>
        <p:nvSpPr>
          <p:cNvPr id="119" name="Google Shape;119;p20"/>
          <p:cNvSpPr txBox="1"/>
          <p:nvPr/>
        </p:nvSpPr>
        <p:spPr>
          <a:xfrm>
            <a:off x="539925" y="3135350"/>
            <a:ext cx="3685500" cy="23898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400"/>
              </a:spcBef>
              <a:spcAft>
                <a:spcPts val="0"/>
              </a:spcAft>
              <a:buNone/>
            </a:pPr>
            <a:r>
              <a:rPr lang="en" sz="1600">
                <a:solidFill>
                  <a:schemeClr val="dk1"/>
                </a:solidFill>
              </a:rPr>
              <a:t>B</a:t>
            </a:r>
            <a:r>
              <a:rPr lang="en" sz="1600">
                <a:solidFill>
                  <a:schemeClr val="dk1"/>
                </a:solidFill>
              </a:rPr>
              <a:t>rown wire - </a:t>
            </a:r>
            <a:r>
              <a:rPr b="1" lang="en" sz="1600">
                <a:solidFill>
                  <a:schemeClr val="dk1"/>
                </a:solidFill>
              </a:rPr>
              <a:t>5V</a:t>
            </a:r>
            <a:endParaRPr b="1" sz="1600">
              <a:solidFill>
                <a:schemeClr val="dk1"/>
              </a:solidFill>
            </a:endParaRPr>
          </a:p>
          <a:p>
            <a:pPr indent="0" lvl="0" marL="457200" rtl="0" algn="l">
              <a:lnSpc>
                <a:spcPct val="115000"/>
              </a:lnSpc>
              <a:spcBef>
                <a:spcPts val="1400"/>
              </a:spcBef>
              <a:spcAft>
                <a:spcPts val="0"/>
              </a:spcAft>
              <a:buNone/>
            </a:pPr>
            <a:r>
              <a:rPr lang="en" sz="1600">
                <a:solidFill>
                  <a:schemeClr val="dk1"/>
                </a:solidFill>
              </a:rPr>
              <a:t>Pink wire - </a:t>
            </a:r>
            <a:r>
              <a:rPr b="1" lang="en" sz="1600">
                <a:solidFill>
                  <a:schemeClr val="dk1"/>
                </a:solidFill>
              </a:rPr>
              <a:t>Led</a:t>
            </a:r>
            <a:r>
              <a:rPr lang="en" sz="1600">
                <a:solidFill>
                  <a:schemeClr val="dk1"/>
                </a:solidFill>
              </a:rPr>
              <a:t> (optional) to  5V</a:t>
            </a:r>
            <a:endParaRPr sz="1600">
              <a:solidFill>
                <a:schemeClr val="dk1"/>
              </a:solidFill>
            </a:endParaRPr>
          </a:p>
          <a:p>
            <a:pPr indent="0" lvl="0" marL="457200" rtl="0" algn="l">
              <a:lnSpc>
                <a:spcPct val="115000"/>
              </a:lnSpc>
              <a:spcBef>
                <a:spcPts val="1400"/>
              </a:spcBef>
              <a:spcAft>
                <a:spcPts val="0"/>
              </a:spcAft>
              <a:buNone/>
            </a:pPr>
            <a:r>
              <a:rPr lang="en" sz="1600">
                <a:solidFill>
                  <a:schemeClr val="dk1"/>
                </a:solidFill>
              </a:rPr>
              <a:t>Black wire - </a:t>
            </a:r>
            <a:r>
              <a:rPr b="1" lang="en" sz="1600">
                <a:solidFill>
                  <a:schemeClr val="dk1"/>
                </a:solidFill>
              </a:rPr>
              <a:t>Output</a:t>
            </a:r>
            <a:endParaRPr sz="1600">
              <a:solidFill>
                <a:schemeClr val="dk1"/>
              </a:solidFill>
            </a:endParaRPr>
          </a:p>
          <a:p>
            <a:pPr indent="457200" lvl="0" marL="0" rtl="0" algn="l">
              <a:lnSpc>
                <a:spcPct val="115000"/>
              </a:lnSpc>
              <a:spcBef>
                <a:spcPts val="1400"/>
              </a:spcBef>
              <a:spcAft>
                <a:spcPts val="0"/>
              </a:spcAft>
              <a:buNone/>
            </a:pPr>
            <a:r>
              <a:rPr lang="en" sz="1600">
                <a:solidFill>
                  <a:schemeClr val="dk1"/>
                </a:solidFill>
              </a:rPr>
              <a:t>Blue wire - </a:t>
            </a:r>
            <a:r>
              <a:rPr b="1" lang="en" sz="1600">
                <a:solidFill>
                  <a:schemeClr val="dk1"/>
                </a:solidFill>
              </a:rPr>
              <a:t>Ground</a:t>
            </a:r>
            <a:endParaRPr b="1" sz="1600">
              <a:solidFill>
                <a:schemeClr val="dk1"/>
              </a:solidFill>
            </a:endParaRPr>
          </a:p>
          <a:p>
            <a:pPr indent="0" lvl="0" marL="0" rtl="0" algn="l">
              <a:lnSpc>
                <a:spcPct val="115000"/>
              </a:lnSpc>
              <a:spcBef>
                <a:spcPts val="1400"/>
              </a:spcBef>
              <a:spcAft>
                <a:spcPts val="1400"/>
              </a:spcAft>
              <a:buNone/>
            </a:pPr>
            <a:r>
              <a:t/>
            </a:r>
            <a:endParaRPr sz="23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311700" y="195527"/>
            <a:ext cx="8520600" cy="9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Photointerrupter</a:t>
            </a:r>
            <a:r>
              <a:rPr lang="en"/>
              <a:t> on the oscilloscope: Motor speed increasing from 30 RPM to 180 RPM</a:t>
            </a:r>
            <a:endParaRPr/>
          </a:p>
        </p:txBody>
      </p:sp>
      <p:sp>
        <p:nvSpPr>
          <p:cNvPr id="125" name="Google Shape;125;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6" name="Google Shape;126;p21" title="PhotoInterrupter">
            <a:hlinkClick r:id="rId3"/>
          </p:cNvPr>
          <p:cNvPicPr preferRelativeResize="0"/>
          <p:nvPr/>
        </p:nvPicPr>
        <p:blipFill>
          <a:blip r:embed="rId4">
            <a:alphaModFix/>
          </a:blip>
          <a:stretch>
            <a:fillRect/>
          </a:stretch>
        </p:blipFill>
        <p:spPr>
          <a:xfrm>
            <a:off x="0" y="1336675"/>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 #2:  Photointerrupter → RPM (on paper)</a:t>
            </a:r>
            <a:endParaRPr/>
          </a:p>
        </p:txBody>
      </p:sp>
      <p:sp>
        <p:nvSpPr>
          <p:cNvPr id="132" name="Google Shape;132;p22"/>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 at your table, how to convert the pulse stream from the photosensor into measurements of RPM:</a:t>
            </a:r>
            <a:endParaRPr/>
          </a:p>
          <a:p>
            <a:pPr indent="-342900" lvl="0" marL="457200" rtl="0" algn="l">
              <a:spcBef>
                <a:spcPts val="1600"/>
              </a:spcBef>
              <a:spcAft>
                <a:spcPts val="0"/>
              </a:spcAft>
              <a:buSzPts val="1800"/>
              <a:buChar char="●"/>
            </a:pPr>
            <a:r>
              <a:rPr lang="en"/>
              <a:t>How do you detect the pulses on the microcontroller?</a:t>
            </a:r>
            <a:endParaRPr/>
          </a:p>
          <a:p>
            <a:pPr indent="-342900" lvl="0" marL="457200" rtl="0" algn="l">
              <a:spcBef>
                <a:spcPts val="0"/>
              </a:spcBef>
              <a:spcAft>
                <a:spcPts val="0"/>
              </a:spcAft>
              <a:buSzPts val="1800"/>
              <a:buChar char="●"/>
            </a:pPr>
            <a:r>
              <a:rPr lang="en"/>
              <a:t>How do you count the pulses?</a:t>
            </a:r>
            <a:endParaRPr/>
          </a:p>
          <a:p>
            <a:pPr indent="-342900" lvl="0" marL="457200" rtl="0" algn="l">
              <a:spcBef>
                <a:spcPts val="0"/>
              </a:spcBef>
              <a:spcAft>
                <a:spcPts val="0"/>
              </a:spcAft>
              <a:buSzPts val="1800"/>
              <a:buChar char="●"/>
            </a:pPr>
            <a:r>
              <a:rPr lang="en"/>
              <a:t>How do you convert the count to an rpm?</a:t>
            </a:r>
            <a:endParaRPr/>
          </a:p>
          <a:p>
            <a:pPr indent="0" lvl="0" marL="0" rtl="0" algn="l">
              <a:spcBef>
                <a:spcPts val="1600"/>
              </a:spcBef>
              <a:spcAft>
                <a:spcPts val="1600"/>
              </a:spcAft>
              <a:buNone/>
            </a:pPr>
            <a:r>
              <a:t/>
            </a:r>
            <a:endParaRPr/>
          </a:p>
        </p:txBody>
      </p:sp>
      <p:sp>
        <p:nvSpPr>
          <p:cNvPr id="133" name="Google Shape;133;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3"/>
          <p:cNvPicPr preferRelativeResize="0"/>
          <p:nvPr/>
        </p:nvPicPr>
        <p:blipFill>
          <a:blip r:embed="rId3">
            <a:alphaModFix/>
          </a:blip>
          <a:stretch>
            <a:fillRect/>
          </a:stretch>
        </p:blipFill>
        <p:spPr>
          <a:xfrm>
            <a:off x="2856200" y="804538"/>
            <a:ext cx="6287800" cy="5857975"/>
          </a:xfrm>
          <a:prstGeom prst="rect">
            <a:avLst/>
          </a:prstGeom>
          <a:noFill/>
          <a:ln>
            <a:noFill/>
          </a:ln>
        </p:spPr>
      </p:pic>
      <p:sp>
        <p:nvSpPr>
          <p:cNvPr id="139" name="Google Shape;139;p23"/>
          <p:cNvSpPr txBox="1"/>
          <p:nvPr>
            <p:ph type="title"/>
          </p:nvPr>
        </p:nvSpPr>
        <p:spPr>
          <a:xfrm>
            <a:off x="311700" y="2550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Complete Lab 6 setup</a:t>
            </a:r>
            <a:endParaRPr/>
          </a:p>
        </p:txBody>
      </p:sp>
      <p:sp>
        <p:nvSpPr>
          <p:cNvPr id="140" name="Google Shape;140;p23"/>
          <p:cNvSpPr txBox="1"/>
          <p:nvPr/>
        </p:nvSpPr>
        <p:spPr>
          <a:xfrm>
            <a:off x="162650" y="880975"/>
            <a:ext cx="2832600" cy="570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t>Hardware: t</a:t>
            </a:r>
            <a:r>
              <a:rPr lang="en" sz="1600"/>
              <a:t>oday’s setup, plus:</a:t>
            </a:r>
            <a:endParaRPr sz="1600"/>
          </a:p>
          <a:p>
            <a:pPr indent="-330200" lvl="0" marL="457200" rtl="0" algn="l">
              <a:lnSpc>
                <a:spcPct val="115000"/>
              </a:lnSpc>
              <a:spcBef>
                <a:spcPts val="0"/>
              </a:spcBef>
              <a:spcAft>
                <a:spcPts val="0"/>
              </a:spcAft>
              <a:buSzPts val="1600"/>
              <a:buChar char="●"/>
            </a:pPr>
            <a:r>
              <a:rPr lang="en" sz="1600"/>
              <a:t>Wire potentiometer to ADC, use ADC value to set motor speed via PWM.</a:t>
            </a:r>
            <a:endParaRPr sz="1600"/>
          </a:p>
          <a:p>
            <a:pPr indent="-330200" lvl="0" marL="457200" rtl="0" algn="l">
              <a:lnSpc>
                <a:spcPct val="115000"/>
              </a:lnSpc>
              <a:spcBef>
                <a:spcPts val="0"/>
              </a:spcBef>
              <a:spcAft>
                <a:spcPts val="0"/>
              </a:spcAft>
              <a:buSzPts val="1600"/>
              <a:buChar char="●"/>
            </a:pPr>
            <a:r>
              <a:rPr lang="en" sz="1600"/>
              <a:t>Wire photointerrupter OUT to PA15 (internal or external pullup).</a:t>
            </a:r>
            <a:endParaRPr sz="1600"/>
          </a:p>
          <a:p>
            <a:pPr indent="0" lvl="0" marL="45720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rPr lang="en" sz="1600"/>
              <a:t>Firmware:</a:t>
            </a:r>
            <a:endParaRPr sz="1600"/>
          </a:p>
          <a:p>
            <a:pPr indent="-330200" lvl="0" marL="457200" rtl="0" algn="l">
              <a:lnSpc>
                <a:spcPct val="115000"/>
              </a:lnSpc>
              <a:spcBef>
                <a:spcPts val="0"/>
              </a:spcBef>
              <a:spcAft>
                <a:spcPts val="0"/>
              </a:spcAft>
              <a:buSzPts val="1600"/>
              <a:buChar char="●"/>
            </a:pPr>
            <a:r>
              <a:rPr lang="en" sz="1600"/>
              <a:t>Write device driver for the TB6612.</a:t>
            </a:r>
            <a:endParaRPr sz="1600"/>
          </a:p>
          <a:p>
            <a:pPr indent="-330200" lvl="0" marL="457200" rtl="0" algn="l">
              <a:lnSpc>
                <a:spcPct val="115000"/>
              </a:lnSpc>
              <a:spcBef>
                <a:spcPts val="0"/>
              </a:spcBef>
              <a:spcAft>
                <a:spcPts val="0"/>
              </a:spcAft>
              <a:buSzPts val="1600"/>
              <a:buChar char="●"/>
            </a:pPr>
            <a:r>
              <a:rPr lang="en" sz="1600"/>
              <a:t>Write code to convert photointerrupter pulse train to RPM, display on screen.</a:t>
            </a:r>
            <a:endParaRPr sz="1600"/>
          </a:p>
          <a:p>
            <a:pPr indent="-330200" lvl="0" marL="457200" rtl="0" algn="l">
              <a:lnSpc>
                <a:spcPct val="115000"/>
              </a:lnSpc>
              <a:spcBef>
                <a:spcPts val="0"/>
              </a:spcBef>
              <a:spcAft>
                <a:spcPts val="0"/>
              </a:spcAft>
              <a:buSzPts val="1600"/>
              <a:buChar char="●"/>
            </a:pPr>
            <a:r>
              <a:rPr lang="en" sz="1600"/>
              <a:t>Add the 7-segment display, show ±RPM.</a:t>
            </a:r>
            <a:endParaRPr sz="1600"/>
          </a:p>
        </p:txBody>
      </p:sp>
      <p:sp>
        <p:nvSpPr>
          <p:cNvPr id="141" name="Google Shape;141;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