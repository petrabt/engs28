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embeddedFontLst>
    <p:embeddedFont>
      <p:font typeface="Robot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AA7EF3-D24E-4D8B-A93F-51990384F66D}">
  <a:tblStyle styleId="{E0AA7EF3-D24E-4D8B-A93F-51990384F66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DBB2C75-EDEC-43C7-BF9A-8E6AEE0BFBCD}"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italic.fntdata"/><Relationship Id="rId10" Type="http://schemas.openxmlformats.org/officeDocument/2006/relationships/slide" Target="slides/slide4.xml"/><Relationship Id="rId54"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bcd0bd4c2_2_4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10bcd0bd4c2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8a94a59b1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8a94a59b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49d90d2ca0_0_4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49d90d2ca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4b8f89247b_0_1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4b8f89247b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ee55975414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ee5597541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let this scare you away - I'll show you what parts to look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452ea5e2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452ea5e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let this scare you away - I'll show you what parts to look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8a94a59b1d_0_5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18a94a59b1d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Bottom right picture shows that Port A, bit 5 connected to Pin 16 on microcontroller; that signal also has the name SCK and goes to Arduino pin 13, as you can see from the top left schematic picture since the name PA5 appears there also. Whenever you see two wires with the same name they are connected.</a:t>
            </a:r>
            <a:endParaRPr/>
          </a:p>
          <a:p>
            <a:pPr indent="0" lvl="0" marL="0" rtl="0" algn="l">
              <a:lnSpc>
                <a:spcPct val="100000"/>
              </a:lnSpc>
              <a:spcBef>
                <a:spcPts val="0"/>
              </a:spcBef>
              <a:spcAft>
                <a:spcPts val="0"/>
              </a:spcAft>
              <a:buSzPts val="1100"/>
              <a:buNone/>
            </a:pPr>
            <a:r>
              <a:rPr lang="en"/>
              <a:t>SCK = serial clock - only used here since that's how the pin is labelled.</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49ee1f5f66_0_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49ee1f5f6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eb87bc7acc_0_8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eb87bc7ac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49ee1f5f66_0_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49ee1f5f6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b87bc7acc_0_9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eb87bc7ac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Fetch-Execute cycle here</a:t>
            </a:r>
            <a:endParaRPr/>
          </a:p>
          <a:p>
            <a:pPr indent="0" lvl="0" marL="0" rtl="0" algn="l">
              <a:spcBef>
                <a:spcPts val="0"/>
              </a:spcBef>
              <a:spcAft>
                <a:spcPts val="0"/>
              </a:spcAft>
              <a:buNone/>
            </a:pPr>
            <a:r>
              <a:rPr lang="en"/>
              <a:t>Program lives in the flash memory. Line after line of machine instruction in successive memory locations.</a:t>
            </a:r>
            <a:endParaRPr/>
          </a:p>
          <a:p>
            <a:pPr indent="0" lvl="0" marL="0" rtl="0" algn="l">
              <a:spcBef>
                <a:spcPts val="0"/>
              </a:spcBef>
              <a:spcAft>
                <a:spcPts val="0"/>
              </a:spcAft>
              <a:buNone/>
            </a:pPr>
            <a:r>
              <a:rPr lang="en"/>
              <a:t>The program counter points to where you are in the execution sequence of these instructions.</a:t>
            </a:r>
            <a:endParaRPr/>
          </a:p>
          <a:p>
            <a:pPr indent="0" lvl="0" marL="0" rtl="0" algn="l">
              <a:spcBef>
                <a:spcPts val="0"/>
              </a:spcBef>
              <a:spcAft>
                <a:spcPts val="0"/>
              </a:spcAft>
              <a:buNone/>
            </a:pPr>
            <a:r>
              <a:rPr lang="en"/>
              <a:t>The instruction that the program pointer points to is copied into the instruction register - a bit of storage used to hold the instruction that comes out of the program memory. The instruction register is part of the processor’s internal control logic and is not explicitly named or user-accessible like general-purpose registers (e.g., R0-R15).</a:t>
            </a:r>
            <a:endParaRPr/>
          </a:p>
          <a:p>
            <a:pPr indent="0" lvl="0" marL="0" rtl="0" algn="l">
              <a:spcBef>
                <a:spcPts val="0"/>
              </a:spcBef>
              <a:spcAft>
                <a:spcPts val="0"/>
              </a:spcAft>
              <a:buNone/>
            </a:pPr>
            <a:r>
              <a:rPr lang="en"/>
              <a:t>Instruction is decoded to tell the processor what to do (move data, add data, etc); pieces in the instruction byte also tells the processor where to find the operands for the instruction. General purpose register? Main data memory?</a:t>
            </a:r>
            <a:endParaRPr/>
          </a:p>
          <a:p>
            <a:pPr indent="0" lvl="0" marL="0" rtl="0" algn="l">
              <a:spcBef>
                <a:spcPts val="0"/>
              </a:spcBef>
              <a:spcAft>
                <a:spcPts val="0"/>
              </a:spcAft>
              <a:buNone/>
            </a:pPr>
            <a:r>
              <a:rPr lang="en"/>
              <a:t>Then program counter increments and we start again.</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eb87bc7acc_0_7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eb87bc7ac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0bcd0bd4c2_0_1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0bcd0bd4c2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Calibri"/>
                <a:ea typeface="Calibri"/>
                <a:cs typeface="Calibri"/>
                <a:sym typeface="Calibri"/>
              </a:rPr>
              <a:t>The pair of output transistors can be used in three ways.  </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“push-pull” mode, either the PMOS transistor is ON and the NMOS transistor is OFF, which drives the output HIGH, or vice-versa, which drives the output LOW. </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“open-drain” mode, the PMOS transistor is always off.  There must be an external connection of the I/O pin to a positive supply to drive a load.  An open-drain output might used if the load needs a higher supply voltage than the chip uses.  (Another way would be to use an external driver transistor, like an H-bridge, driven by a push-pull output pin.)</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“Hi-Z” mode, both the PMOS and NMOS can be turned off, which effectively disconnects the I/O pin from the external circuit.  These are (implicitly) used in I2C, where we have multiple devices connected to the same bus.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box labeled Output Control must have a NOT function inside so that a ‘0’ in the Output Data Register drives the output pin LOW, and vice-versa.  Easy to do, since the Output Control box is also managing the choice of push-pull, open-drain, and Hi-Z.</a:t>
            </a:r>
            <a:endParaRPr sz="1050">
              <a:solidFill>
                <a:srgbClr val="444746"/>
              </a:solidFill>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452ea5e24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2452ea5e2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Calibri"/>
                <a:ea typeface="Calibri"/>
                <a:cs typeface="Calibri"/>
                <a:sym typeface="Calibri"/>
              </a:rPr>
              <a:t>The pair of output transistors can be used in three ways.  </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“push-pull” mode, either the PMOS transistor is ON and the NMOS transistor is OFF, which drives the output HIGH, or vice-versa, which drives the output LOW. </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“open-drain” mode, the PMOS transistor is always off.  There must be an external connection of the I/O pin to a positive supply to drive a load.  An open-drain output might used if the load needs a higher supply voltage than the chip uses.  (Another way would be to use an external driver transistor, like an H-bridge, driven by a push-pull output pin.)</a:t>
            </a:r>
            <a:endParaRPr>
              <a:solidFill>
                <a:schemeClr val="dk1"/>
              </a:solidFill>
              <a:latin typeface="Calibri"/>
              <a:ea typeface="Calibri"/>
              <a:cs typeface="Calibri"/>
              <a:sym typeface="Calibri"/>
            </a:endParaRPr>
          </a:p>
          <a:p>
            <a:pPr indent="-298450" lvl="0" marL="520700" rtl="0" algn="l">
              <a:lnSpc>
                <a:spcPct val="115000"/>
              </a:lnSpc>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In “Hi-Z” mode, both the PMOS and NMOS can be turned off, which effectively disconnects the I/O pin from the external circuit.  These are (implicitly) used in I2C, where we have multiple devices connected to the same bus.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box labeled Output Control must have a NOT function inside so that a ‘0’ in the Output Data Register drives the output pin LOW, and vice-versa.  Easy to do, since the Output Control box is also managing the choice of push-pull, open-drain, and Hi-Z.</a:t>
            </a:r>
            <a:endParaRPr sz="1050">
              <a:solidFill>
                <a:srgbClr val="444746"/>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eb87bc7acc_0_1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eb87bc7ac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your program writes to memory location </a:t>
            </a:r>
            <a:r>
              <a:rPr lang="en"/>
              <a:t>0x5000 0014</a:t>
            </a:r>
            <a:r>
              <a:rPr lang="en"/>
              <a:t>, the information it wants to store in that register is put onto the processor's data bus and the </a:t>
            </a:r>
            <a:r>
              <a:rPr lang="en"/>
              <a:t>0x5000 0014</a:t>
            </a:r>
            <a:r>
              <a:rPr lang="en"/>
              <a:t> address activates the register so that it will receive the data on the data bus and store it in the register. None of the other registers attached to the data bus have this address, so they will not store the information coming on the bus.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b87bc7acc_0_1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eb87bc7acc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444746"/>
                </a:solidFill>
                <a:latin typeface="Roboto"/>
                <a:ea typeface="Roboto"/>
                <a:cs typeface="Roboto"/>
                <a:sym typeface="Roboto"/>
              </a:rPr>
              <a:t>All the GPIO ports have the same registers, and using the struct simplifies programming by allowing you to use the same names across all the ports.  Also, observe how the offsets step up by four.  ("Why is this"?)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0bcd0bd4c2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0bcd0bd4c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0bcd0bd4c2_0_8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0bcd0bd4c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0bcd0bd4c2_0_1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0bcd0bd4c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be used to measure DC volts, resistance in ohms, DC current and AC volts. Plug in the probes at the bottom as in the picture.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0bcd0bd4c2_0_9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0bcd0bd4c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LED has an anode and a cathode terminal. Current can only flow through one way and illuminate the LED. The anode wire is longer than the cathode wire, unless they have already been shortened. The other way to tell is the flat part on the case which is near the cathode wire.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0bcd0bd4c2_0_26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0bcd0bd4c2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part of your lab!</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0bcd0bd4c2_0_27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0bcd0bd4c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5th band is tolerance - brown for 1%, red for 2%, etc</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0bcd0bd4c2_0_24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0bcd0bd4c2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0bcd0bd4c2_0_1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0bcd0bd4c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0bcd0bd4c2_0_1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0bcd0bd4c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d44b861a6e_0_2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d44b861a6e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b9cf35062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b9cf3506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D4 is Port B, pin 10.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ab9cf35062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ab9cf3506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57de051a9_1_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b57de051a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b9cf35062_0_2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3ab9cf35062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b9cf35062_0_9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ab9cf35062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Bits 20 and 21 configure pin 10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ec48fe38f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ec48fe38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0eab1bc12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0eab1bc1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0eab1bc12c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0eab1bc1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0bcd0bd4c2_0_1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0bcd0bd4c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ec48fe38f5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ec48fe38f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0bcd0bd4c2_0_16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0bcd0bd4c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fc836ba22c_0_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2fc836ba22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17163738e9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17163738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0bcd0bd4c2_0_29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0bcd0bd4c2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0bea3bdef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0bea3bde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0bea3bdef7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0bea3bdef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b57de051a9_1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b57de051a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4a21ab1bea_0_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4a21ab1be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ec48fe38f5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ec48fe38f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ec48fe38f5_0_2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ec48fe38f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0" name="Google Shape;60;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3" name="Google Shape;63;p1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64" name="Google Shape;64;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17"/>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68" name="Google Shape;68;p17"/>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69" name="Google Shape;69;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2" name="Google Shape;72;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6" name="Google Shape;76;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85" name="Google Shape;85;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rtl="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sp>
        <p:nvSpPr>
          <p:cNvPr id="92" name="Google Shape;92;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5.png"/><Relationship Id="rId4" Type="http://schemas.openxmlformats.org/officeDocument/2006/relationships/image" Target="../media/image14.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35.png"/><Relationship Id="rId7" Type="http://schemas.openxmlformats.org/officeDocument/2006/relationships/image" Target="../media/image37.png"/><Relationship Id="rId8"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omic Sans MS"/>
                <a:ea typeface="Comic Sans MS"/>
                <a:cs typeface="Comic Sans MS"/>
                <a:sym typeface="Comic Sans MS"/>
              </a:rPr>
              <a:t>Embedded Systems</a:t>
            </a:r>
            <a:endParaRPr>
              <a:latin typeface="Comic Sans MS"/>
              <a:ea typeface="Comic Sans MS"/>
              <a:cs typeface="Comic Sans MS"/>
              <a:sym typeface="Comic Sans MS"/>
            </a:endParaRPr>
          </a:p>
        </p:txBody>
      </p:sp>
      <p:sp>
        <p:nvSpPr>
          <p:cNvPr id="100" name="Google Shape;100;p25"/>
          <p:cNvSpPr txBox="1"/>
          <p:nvPr>
            <p:ph idx="1" type="subTitle"/>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ENGS 28</a:t>
            </a:r>
            <a:endParaRPr>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Day 2:  Finishing Blinky</a:t>
            </a:r>
            <a:endParaRPr>
              <a:latin typeface="Comic Sans MS"/>
              <a:ea typeface="Comic Sans MS"/>
              <a:cs typeface="Comic Sans MS"/>
              <a:sym typeface="Comic Sans MS"/>
            </a:endParaRPr>
          </a:p>
        </p:txBody>
      </p:sp>
      <p:pic>
        <p:nvPicPr>
          <p:cNvPr id="101" name="Google Shape;101;p25"/>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02" name="Google Shape;102;p25"/>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for Today</a:t>
            </a:r>
            <a:endParaRPr/>
          </a:p>
        </p:txBody>
      </p:sp>
      <p:sp>
        <p:nvSpPr>
          <p:cNvPr id="108" name="Google Shape;108;p26"/>
          <p:cNvSpPr txBox="1"/>
          <p:nvPr>
            <p:ph idx="1" type="body"/>
          </p:nvPr>
        </p:nvSpPr>
        <p:spPr>
          <a:xfrm>
            <a:off x="311700" y="1536624"/>
            <a:ext cx="8520600" cy="50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deeper into how Blinky works:</a:t>
            </a:r>
            <a:endParaRPr/>
          </a:p>
          <a:p>
            <a:pPr indent="-342900" lvl="0" marL="457200" rtl="0" algn="l">
              <a:spcBef>
                <a:spcPts val="0"/>
              </a:spcBef>
              <a:spcAft>
                <a:spcPts val="0"/>
              </a:spcAft>
              <a:buSzPts val="1800"/>
              <a:buChar char="●"/>
            </a:pPr>
            <a:r>
              <a:rPr lang="en"/>
              <a:t>How is the LED connected to the microcontroller?  </a:t>
            </a:r>
            <a:endParaRPr/>
          </a:p>
          <a:p>
            <a:pPr indent="-342900" lvl="0" marL="457200" rtl="0" algn="l">
              <a:spcBef>
                <a:spcPts val="0"/>
              </a:spcBef>
              <a:spcAft>
                <a:spcPts val="0"/>
              </a:spcAft>
              <a:buSzPts val="1800"/>
              <a:buChar char="●"/>
            </a:pPr>
            <a:r>
              <a:rPr lang="en"/>
              <a:t>How does a microcontroller output pin work?</a:t>
            </a:r>
            <a:endParaRPr/>
          </a:p>
          <a:p>
            <a:pPr indent="-342900" lvl="0" marL="457200" rtl="0" algn="l">
              <a:spcBef>
                <a:spcPts val="0"/>
              </a:spcBef>
              <a:spcAft>
                <a:spcPts val="0"/>
              </a:spcAft>
              <a:buSzPts val="1800"/>
              <a:buChar char="●"/>
            </a:pPr>
            <a:r>
              <a:rPr lang="en"/>
              <a:t>How does the computer program change the state of the pin?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Implement Blinky for external LEDs, measure voltage and current and compare with the data sheets.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Start </a:t>
            </a:r>
            <a:r>
              <a:rPr lang="en"/>
              <a:t>Lab 1:  Various experiments with LEDs and the microcontroller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txBox="1"/>
          <p:nvPr/>
        </p:nvSpPr>
        <p:spPr>
          <a:xfrm>
            <a:off x="113000" y="1756025"/>
            <a:ext cx="8520600" cy="4986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#include "stm32C0xx.h"</a:t>
            </a:r>
            <a:r>
              <a:rPr lang="en">
                <a:solidFill>
                  <a:srgbClr val="595959"/>
                </a:solidFill>
                <a:latin typeface="Courier New"/>
                <a:ea typeface="Courier New"/>
                <a:cs typeface="Courier New"/>
                <a:sym typeface="Courier New"/>
              </a:rPr>
              <a:t>			// All the port definitions are here</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0 of RCC-&gt;IOPENR enables clock for GPIOA</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GPIOAEN		(1U&lt;&lt;0)</a:t>
            </a:r>
            <a:r>
              <a:rPr lang="en">
                <a:solidFill>
                  <a:srgbClr val="595959"/>
                </a:solidFill>
                <a:latin typeface="Courier New"/>
                <a:ea typeface="Courier New"/>
                <a:cs typeface="Courier New"/>
                <a:sym typeface="Courier New"/>
              </a:rPr>
              <a:t>		// 0b 0000 … 0000 0001 (32-bit)</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5 of Port A is wired to the LED</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LED_PIN		(1U&lt;&lt;5)</a:t>
            </a:r>
            <a:r>
              <a:rPr lang="en">
                <a:solidFill>
                  <a:srgbClr val="595959"/>
                </a:solidFill>
                <a:latin typeface="Courier New"/>
                <a:ea typeface="Courier New"/>
                <a:cs typeface="Courier New"/>
                <a:sym typeface="Courier New"/>
              </a:rPr>
              <a:t>		// 0b 0000 … 0001 0000</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int main(void)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RCC-&gt;IOPENR |= GPIOAEN;		</a:t>
            </a:r>
            <a:r>
              <a:rPr lang="en">
                <a:solidFill>
                  <a:srgbClr val="FF0000"/>
                </a:solidFill>
                <a:latin typeface="Courier New"/>
                <a:ea typeface="Courier New"/>
                <a:cs typeface="Courier New"/>
                <a:sym typeface="Courier New"/>
              </a:rPr>
              <a:t>// 1. Enable clock access to GPIOA</a:t>
            </a:r>
            <a:endParaRPr>
              <a:solidFill>
                <a:srgbClr val="FF0000"/>
              </a:solidFill>
              <a:latin typeface="Courier New"/>
              <a:ea typeface="Courier New"/>
              <a:cs typeface="Courier New"/>
              <a:sym typeface="Courier New"/>
            </a:endParaRPr>
          </a:p>
          <a:p>
            <a:pPr indent="0" lvl="0" marL="0" rtl="0" algn="l">
              <a:spcBef>
                <a:spcPts val="0"/>
              </a:spcBef>
              <a:spcAft>
                <a:spcPts val="0"/>
              </a:spcAft>
              <a:buNone/>
            </a:pPr>
            <a:r>
              <a:t/>
            </a:r>
            <a:endParaRPr>
              <a:solidFill>
                <a:srgbClr val="FF0000"/>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GPIOA-&gt;MODER |= (1U&lt;&lt;10);		</a:t>
            </a:r>
            <a:r>
              <a:rPr lang="en">
                <a:solidFill>
                  <a:srgbClr val="FF0000"/>
                </a:solidFill>
                <a:latin typeface="Courier New"/>
                <a:ea typeface="Courier New"/>
                <a:cs typeface="Courier New"/>
                <a:sym typeface="Courier New"/>
              </a:rPr>
              <a:t>// 2. Configure PA5 (Port A, bit 5)</a:t>
            </a:r>
            <a:r>
              <a:rPr b="1" lang="en">
                <a:solidFill>
                  <a:srgbClr val="FF0000"/>
                </a:solidFill>
                <a:latin typeface="Courier New"/>
                <a:ea typeface="Courier New"/>
                <a:cs typeface="Courier New"/>
                <a:sym typeface="Courier New"/>
              </a:rPr>
              <a:t> </a:t>
            </a:r>
            <a:endParaRPr b="1">
              <a:solidFill>
                <a:srgbClr val="FF0000"/>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FF0000"/>
                </a:solidFill>
                <a:latin typeface="Courier New"/>
                <a:ea typeface="Courier New"/>
                <a:cs typeface="Courier New"/>
                <a:sym typeface="Courier New"/>
              </a:rPr>
              <a:t>	GPIOA-&gt;MODER &amp;= ~(1U&lt;&lt;11);	</a:t>
            </a:r>
            <a:r>
              <a:rPr lang="en">
                <a:solidFill>
                  <a:srgbClr val="FF0000"/>
                </a:solidFill>
                <a:latin typeface="Courier New"/>
                <a:ea typeface="Courier New"/>
                <a:cs typeface="Courier New"/>
                <a:sym typeface="Courier New"/>
              </a:rPr>
              <a:t>//    as output pin</a:t>
            </a:r>
            <a:endParaRPr>
              <a:solidFill>
                <a:srgbClr val="FF0000"/>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while(1)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GPIOA-&gt;ODR |= LED_PIN;	</a:t>
            </a:r>
            <a:r>
              <a:rPr lang="en">
                <a:solidFill>
                  <a:srgbClr val="FF0000"/>
                </a:solidFill>
                <a:latin typeface="Courier New"/>
                <a:ea typeface="Courier New"/>
                <a:cs typeface="Courier New"/>
                <a:sym typeface="Courier New"/>
              </a:rPr>
              <a:t>// 3. Set set bit 5 to turn LED on</a:t>
            </a:r>
            <a:endParaRPr>
              <a:solidFill>
                <a:srgbClr val="FF0000"/>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for (int i=0; i&lt;100000; i++);		</a:t>
            </a:r>
            <a:r>
              <a:rPr lang="en">
                <a:solidFill>
                  <a:srgbClr val="595959"/>
                </a:solidFill>
                <a:latin typeface="Courier New"/>
                <a:ea typeface="Courier New"/>
                <a:cs typeface="Courier New"/>
                <a:sym typeface="Courier New"/>
              </a:rPr>
              <a:t>// kill some time</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endParaRPr>
              <a:solidFill>
                <a:srgbClr val="595959"/>
              </a:solidFill>
              <a:latin typeface="Courier New"/>
              <a:ea typeface="Courier New"/>
              <a:cs typeface="Courier New"/>
              <a:sym typeface="Courier New"/>
            </a:endParaRPr>
          </a:p>
          <a:p>
            <a:pPr indent="45720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GPIOA-&gt;ODR &amp;= ~LED_PIN;	</a:t>
            </a:r>
            <a:r>
              <a:rPr lang="en">
                <a:solidFill>
                  <a:srgbClr val="FF0000"/>
                </a:solidFill>
                <a:latin typeface="Courier New"/>
                <a:ea typeface="Courier New"/>
                <a:cs typeface="Courier New"/>
                <a:sym typeface="Courier New"/>
              </a:rPr>
              <a:t>// 4. Clear bit 5 to turn LED off</a:t>
            </a:r>
            <a:endParaRPr>
              <a:solidFill>
                <a:srgbClr val="FF0000"/>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for(int i = 0; i&lt;</a:t>
            </a:r>
            <a:r>
              <a:rPr b="1" lang="en">
                <a:solidFill>
                  <a:srgbClr val="595959"/>
                </a:solidFill>
                <a:latin typeface="Courier New"/>
                <a:ea typeface="Courier New"/>
                <a:cs typeface="Courier New"/>
                <a:sym typeface="Courier New"/>
              </a:rPr>
              <a:t>100000</a:t>
            </a:r>
            <a:r>
              <a:rPr b="1" lang="en">
                <a:solidFill>
                  <a:srgbClr val="595959"/>
                </a:solidFill>
                <a:latin typeface="Courier New"/>
                <a:ea typeface="Courier New"/>
                <a:cs typeface="Courier New"/>
                <a:sym typeface="Courier New"/>
              </a:rPr>
              <a:t>; i++);	</a:t>
            </a:r>
            <a:r>
              <a:rPr lang="en">
                <a:solidFill>
                  <a:srgbClr val="595959"/>
                </a:solidFill>
                <a:latin typeface="Courier New"/>
                <a:ea typeface="Courier New"/>
                <a:cs typeface="Courier New"/>
                <a:sym typeface="Courier New"/>
              </a:rPr>
              <a:t>// kill some time</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	return 0;					</a:t>
            </a:r>
            <a:r>
              <a:rPr lang="en">
                <a:solidFill>
                  <a:srgbClr val="595959"/>
                </a:solidFill>
                <a:latin typeface="Courier New"/>
                <a:ea typeface="Courier New"/>
                <a:cs typeface="Courier New"/>
                <a:sym typeface="Courier New"/>
              </a:rPr>
              <a:t>// never reached</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1600"/>
              </a:spcAft>
              <a:buNone/>
            </a:pPr>
            <a:r>
              <a:t/>
            </a:r>
            <a:endParaRPr>
              <a:solidFill>
                <a:srgbClr val="595959"/>
              </a:solidFill>
              <a:latin typeface="Courier New"/>
              <a:ea typeface="Courier New"/>
              <a:cs typeface="Courier New"/>
              <a:sym typeface="Courier New"/>
            </a:endParaRPr>
          </a:p>
        </p:txBody>
      </p:sp>
      <p:sp>
        <p:nvSpPr>
          <p:cNvPr id="114" name="Google Shape;114;p27"/>
          <p:cNvSpPr txBox="1"/>
          <p:nvPr>
            <p:ph type="title"/>
          </p:nvPr>
        </p:nvSpPr>
        <p:spPr>
          <a:xfrm>
            <a:off x="57050" y="129000"/>
            <a:ext cx="1615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blinky.c</a:t>
            </a:r>
            <a:endParaRPr/>
          </a:p>
        </p:txBody>
      </p:sp>
      <p:sp>
        <p:nvSpPr>
          <p:cNvPr id="115" name="Google Shape;115;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pic>
        <p:nvPicPr>
          <p:cNvPr id="116" name="Google Shape;116;p27"/>
          <p:cNvPicPr preferRelativeResize="0"/>
          <p:nvPr/>
        </p:nvPicPr>
        <p:blipFill rotWithShape="1">
          <a:blip r:embed="rId3">
            <a:alphaModFix/>
          </a:blip>
          <a:srcRect b="1691" l="69632" r="0" t="0"/>
          <a:stretch/>
        </p:blipFill>
        <p:spPr>
          <a:xfrm rot="-5400000">
            <a:off x="5431237" y="-2008512"/>
            <a:ext cx="1526775" cy="5801799"/>
          </a:xfrm>
          <a:prstGeom prst="rect">
            <a:avLst/>
          </a:prstGeom>
          <a:noFill/>
          <a:ln>
            <a:noFill/>
          </a:ln>
        </p:spPr>
      </p:pic>
      <p:sp>
        <p:nvSpPr>
          <p:cNvPr id="117" name="Google Shape;117;p27"/>
          <p:cNvSpPr/>
          <p:nvPr/>
        </p:nvSpPr>
        <p:spPr>
          <a:xfrm rot="-5400000">
            <a:off x="5259975" y="987400"/>
            <a:ext cx="177300" cy="426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7"/>
          <p:cNvSpPr/>
          <p:nvPr/>
        </p:nvSpPr>
        <p:spPr>
          <a:xfrm>
            <a:off x="6317950" y="851175"/>
            <a:ext cx="177600" cy="14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7"/>
          <p:cNvSpPr txBox="1"/>
          <p:nvPr/>
        </p:nvSpPr>
        <p:spPr>
          <a:xfrm>
            <a:off x="1555075" y="671250"/>
            <a:ext cx="1615800" cy="9858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1" lang="en" sz="1400" u="none" cap="none" strike="noStrike">
                <a:solidFill>
                  <a:srgbClr val="FF0000"/>
                </a:solidFill>
                <a:latin typeface="Arial"/>
                <a:ea typeface="Arial"/>
                <a:cs typeface="Arial"/>
                <a:sym typeface="Arial"/>
              </a:rPr>
              <a:t>LED at header pin D13</a:t>
            </a:r>
            <a:r>
              <a:rPr i="1" lang="en">
                <a:solidFill>
                  <a:srgbClr val="FF0000"/>
                </a:solidFill>
              </a:rPr>
              <a:t> </a:t>
            </a:r>
            <a:r>
              <a:rPr i="1" lang="en">
                <a:solidFill>
                  <a:srgbClr val="FF0000"/>
                </a:solidFill>
              </a:rPr>
              <a:t>wired to </a:t>
            </a:r>
            <a:endParaRPr i="1">
              <a:solidFill>
                <a:srgbClr val="FF0000"/>
              </a:solidFil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STM32C0</a:t>
            </a:r>
            <a:r>
              <a:rPr b="0" i="1" lang="en" sz="1400" u="none" cap="none" strike="noStrike">
                <a:solidFill>
                  <a:srgbClr val="FF0000"/>
                </a:solidFill>
                <a:latin typeface="Arial"/>
                <a:ea typeface="Arial"/>
                <a:cs typeface="Arial"/>
                <a:sym typeface="Arial"/>
              </a:rPr>
              <a:t> pin </a:t>
            </a:r>
            <a:r>
              <a:rPr i="1" lang="en">
                <a:solidFill>
                  <a:srgbClr val="FF0000"/>
                </a:solidFill>
              </a:rPr>
              <a:t>16 (Port A, bit 5)</a:t>
            </a:r>
            <a:endParaRPr b="0" i="1" sz="1400" u="none" cap="none" strike="noStrike">
              <a:solidFill>
                <a:srgbClr val="FF0000"/>
              </a:solidFill>
              <a:latin typeface="Arial"/>
              <a:ea typeface="Arial"/>
              <a:cs typeface="Arial"/>
              <a:sym typeface="Arial"/>
            </a:endParaRPr>
          </a:p>
        </p:txBody>
      </p:sp>
      <p:cxnSp>
        <p:nvCxnSpPr>
          <p:cNvPr id="120" name="Google Shape;120;p27"/>
          <p:cNvCxnSpPr>
            <a:endCxn id="117" idx="0"/>
          </p:cNvCxnSpPr>
          <p:nvPr/>
        </p:nvCxnSpPr>
        <p:spPr>
          <a:xfrm flipH="1" rot="10800000">
            <a:off x="3170925" y="1200400"/>
            <a:ext cx="1964700" cy="47700"/>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Going deeper into how Blinky works</a:t>
            </a:r>
            <a:endParaRPr/>
          </a:p>
        </p:txBody>
      </p:sp>
      <p:sp>
        <p:nvSpPr>
          <p:cNvPr id="126" name="Google Shape;126;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 name="Google Shape;132;p29"/>
          <p:cNvSpPr txBox="1"/>
          <p:nvPr>
            <p:ph idx="4294967295" type="title"/>
          </p:nvPr>
        </p:nvSpPr>
        <p:spPr>
          <a:xfrm>
            <a:off x="311700" y="163752"/>
            <a:ext cx="8520600" cy="9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Hardware:  How is the LED connected to the microcontroller?</a:t>
            </a:r>
            <a:endParaRPr/>
          </a:p>
        </p:txBody>
      </p:sp>
      <p:sp>
        <p:nvSpPr>
          <p:cNvPr id="133" name="Google Shape;133;p29"/>
          <p:cNvSpPr txBox="1"/>
          <p:nvPr/>
        </p:nvSpPr>
        <p:spPr>
          <a:xfrm>
            <a:off x="5963400" y="1409550"/>
            <a:ext cx="2868900" cy="461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Thayer Shares: Courses</a:t>
            </a:r>
            <a:endParaRPr sz="1800">
              <a:solidFill>
                <a:srgbClr val="0000FF"/>
              </a:solidFill>
            </a:endParaRPr>
          </a:p>
        </p:txBody>
      </p:sp>
      <p:sp>
        <p:nvSpPr>
          <p:cNvPr id="134" name="Google Shape;134;p29"/>
          <p:cNvSpPr/>
          <p:nvPr/>
        </p:nvSpPr>
        <p:spPr>
          <a:xfrm>
            <a:off x="1490875" y="4025350"/>
            <a:ext cx="2868900" cy="325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29"/>
          <p:cNvGrpSpPr/>
          <p:nvPr/>
        </p:nvGrpSpPr>
        <p:grpSpPr>
          <a:xfrm>
            <a:off x="409900" y="1205477"/>
            <a:ext cx="5131881" cy="5459448"/>
            <a:chOff x="409900" y="1205477"/>
            <a:chExt cx="5131881" cy="5459448"/>
          </a:xfrm>
        </p:grpSpPr>
        <p:pic>
          <p:nvPicPr>
            <p:cNvPr id="136" name="Google Shape;136;p29"/>
            <p:cNvPicPr preferRelativeResize="0"/>
            <p:nvPr/>
          </p:nvPicPr>
          <p:blipFill>
            <a:blip r:embed="rId3">
              <a:alphaModFix/>
            </a:blip>
            <a:stretch>
              <a:fillRect/>
            </a:stretch>
          </p:blipFill>
          <p:spPr>
            <a:xfrm>
              <a:off x="409900" y="1205477"/>
              <a:ext cx="5131881" cy="5459448"/>
            </a:xfrm>
            <a:prstGeom prst="rect">
              <a:avLst/>
            </a:prstGeom>
            <a:noFill/>
            <a:ln>
              <a:noFill/>
            </a:ln>
          </p:spPr>
        </p:pic>
        <p:sp>
          <p:nvSpPr>
            <p:cNvPr id="137" name="Google Shape;137;p29"/>
            <p:cNvSpPr txBox="1"/>
            <p:nvPr/>
          </p:nvSpPr>
          <p:spPr>
            <a:xfrm>
              <a:off x="1148425" y="1222400"/>
              <a:ext cx="104700" cy="2310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2"/>
                  </a:solidFill>
                </a:rPr>
                <a:t>6</a:t>
              </a:r>
              <a:endParaRPr sz="1500">
                <a:solidFill>
                  <a:schemeClr val="dk2"/>
                </a:solidFill>
              </a:endParaRPr>
            </a:p>
          </p:txBody>
        </p:sp>
        <p:sp>
          <p:nvSpPr>
            <p:cNvPr id="138" name="Google Shape;138;p29"/>
            <p:cNvSpPr txBox="1"/>
            <p:nvPr/>
          </p:nvSpPr>
          <p:spPr>
            <a:xfrm>
              <a:off x="1148425" y="1508025"/>
              <a:ext cx="104700" cy="231000"/>
            </a:xfrm>
            <a:prstGeom prst="rect">
              <a:avLst/>
            </a:prstGeom>
            <a:solidFill>
              <a:srgbClr val="F4F5F5"/>
            </a:solidFill>
            <a:ln>
              <a:noFill/>
            </a:ln>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2"/>
                  </a:solidFill>
                </a:rPr>
                <a:t>6</a:t>
              </a:r>
              <a:endParaRPr sz="1500">
                <a:solidFill>
                  <a:schemeClr val="dk2"/>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30"/>
          <p:cNvSpPr txBox="1"/>
          <p:nvPr>
            <p:ph idx="4294967295" type="title"/>
          </p:nvPr>
        </p:nvSpPr>
        <p:spPr>
          <a:xfrm>
            <a:off x="311700" y="163752"/>
            <a:ext cx="8520600" cy="9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Hardware:  How is the LED connected to the microcontroller?</a:t>
            </a:r>
            <a:endParaRPr/>
          </a:p>
        </p:txBody>
      </p:sp>
      <p:sp>
        <p:nvSpPr>
          <p:cNvPr id="145" name="Google Shape;145;p30"/>
          <p:cNvSpPr txBox="1"/>
          <p:nvPr/>
        </p:nvSpPr>
        <p:spPr>
          <a:xfrm>
            <a:off x="5974175" y="1200525"/>
            <a:ext cx="2919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STM32 Nucleo 64 Schematic</a:t>
            </a:r>
            <a:endParaRPr sz="1800">
              <a:solidFill>
                <a:srgbClr val="0000FF"/>
              </a:solidFill>
            </a:endParaRPr>
          </a:p>
        </p:txBody>
      </p:sp>
      <p:pic>
        <p:nvPicPr>
          <p:cNvPr id="146" name="Google Shape;146;p30"/>
          <p:cNvPicPr preferRelativeResize="0"/>
          <p:nvPr/>
        </p:nvPicPr>
        <p:blipFill>
          <a:blip r:embed="rId3">
            <a:alphaModFix/>
          </a:blip>
          <a:stretch>
            <a:fillRect/>
          </a:stretch>
        </p:blipFill>
        <p:spPr>
          <a:xfrm>
            <a:off x="181850" y="1200525"/>
            <a:ext cx="5508526" cy="2853774"/>
          </a:xfrm>
          <a:prstGeom prst="rect">
            <a:avLst/>
          </a:prstGeom>
          <a:noFill/>
          <a:ln cap="flat" cmpd="sng" w="9525">
            <a:solidFill>
              <a:srgbClr val="800000"/>
            </a:solidFill>
            <a:prstDash val="solid"/>
            <a:round/>
            <a:headEnd len="sm" w="sm" type="none"/>
            <a:tailEnd len="sm" w="sm" type="none"/>
          </a:ln>
        </p:spPr>
      </p:pic>
      <p:pic>
        <p:nvPicPr>
          <p:cNvPr id="147" name="Google Shape;147;p30"/>
          <p:cNvPicPr preferRelativeResize="0"/>
          <p:nvPr/>
        </p:nvPicPr>
        <p:blipFill>
          <a:blip r:embed="rId4">
            <a:alphaModFix/>
          </a:blip>
          <a:stretch>
            <a:fillRect/>
          </a:stretch>
        </p:blipFill>
        <p:spPr>
          <a:xfrm>
            <a:off x="4059675" y="2472450"/>
            <a:ext cx="4923151" cy="2932749"/>
          </a:xfrm>
          <a:prstGeom prst="rect">
            <a:avLst/>
          </a:prstGeom>
          <a:noFill/>
          <a:ln cap="flat" cmpd="sng" w="9525">
            <a:solidFill>
              <a:srgbClr val="980000"/>
            </a:solidFill>
            <a:prstDash val="solid"/>
            <a:round/>
            <a:headEnd len="sm" w="sm" type="none"/>
            <a:tailEnd len="sm" w="sm" type="none"/>
          </a:ln>
        </p:spPr>
      </p:pic>
      <p:pic>
        <p:nvPicPr>
          <p:cNvPr id="148" name="Google Shape;148;p30"/>
          <p:cNvPicPr preferRelativeResize="0"/>
          <p:nvPr/>
        </p:nvPicPr>
        <p:blipFill>
          <a:blip r:embed="rId5">
            <a:alphaModFix/>
          </a:blip>
          <a:stretch>
            <a:fillRect/>
          </a:stretch>
        </p:blipFill>
        <p:spPr>
          <a:xfrm>
            <a:off x="492413" y="3888550"/>
            <a:ext cx="4671892" cy="2853775"/>
          </a:xfrm>
          <a:prstGeom prst="rect">
            <a:avLst/>
          </a:prstGeom>
          <a:noFill/>
          <a:ln cap="flat" cmpd="sng" w="9525">
            <a:solidFill>
              <a:srgbClr val="980000"/>
            </a:solidFill>
            <a:prstDash val="solid"/>
            <a:round/>
            <a:headEnd len="sm" w="sm" type="none"/>
            <a:tailEnd len="sm" w="sm" type="none"/>
          </a:ln>
        </p:spPr>
      </p:pic>
      <p:sp>
        <p:nvSpPr>
          <p:cNvPr id="149" name="Google Shape;149;p30"/>
          <p:cNvSpPr/>
          <p:nvPr/>
        </p:nvSpPr>
        <p:spPr>
          <a:xfrm>
            <a:off x="2073675" y="1802600"/>
            <a:ext cx="1775400" cy="10437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30"/>
          <p:cNvSpPr/>
          <p:nvPr/>
        </p:nvSpPr>
        <p:spPr>
          <a:xfrm>
            <a:off x="2592025" y="3888550"/>
            <a:ext cx="1162200" cy="8145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1"/>
          <p:cNvPicPr preferRelativeResize="0"/>
          <p:nvPr/>
        </p:nvPicPr>
        <p:blipFill>
          <a:blip r:embed="rId3">
            <a:alphaModFix/>
          </a:blip>
          <a:stretch>
            <a:fillRect/>
          </a:stretch>
        </p:blipFill>
        <p:spPr>
          <a:xfrm>
            <a:off x="6673200" y="783250"/>
            <a:ext cx="2159099" cy="2534449"/>
          </a:xfrm>
          <a:prstGeom prst="rect">
            <a:avLst/>
          </a:prstGeom>
          <a:noFill/>
          <a:ln>
            <a:noFill/>
          </a:ln>
        </p:spPr>
      </p:pic>
      <p:sp>
        <p:nvSpPr>
          <p:cNvPr id="156" name="Google Shape;156;p31"/>
          <p:cNvSpPr txBox="1"/>
          <p:nvPr>
            <p:ph type="title"/>
          </p:nvPr>
        </p:nvSpPr>
        <p:spPr>
          <a:xfrm>
            <a:off x="311700" y="163752"/>
            <a:ext cx="8520600" cy="93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Hardware:  How is the LED connected to the microcontroller?</a:t>
            </a:r>
            <a:endParaRPr/>
          </a:p>
        </p:txBody>
      </p:sp>
      <p:sp>
        <p:nvSpPr>
          <p:cNvPr id="157" name="Google Shape;157;p3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31"/>
          <p:cNvSpPr txBox="1"/>
          <p:nvPr/>
        </p:nvSpPr>
        <p:spPr>
          <a:xfrm>
            <a:off x="94525" y="1093677"/>
            <a:ext cx="1531500" cy="524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1" lang="en" sz="1400" u="none" cap="none" strike="noStrike">
                <a:solidFill>
                  <a:srgbClr val="FF0000"/>
                </a:solidFill>
                <a:latin typeface="Arial"/>
                <a:ea typeface="Arial"/>
                <a:cs typeface="Arial"/>
                <a:sym typeface="Arial"/>
              </a:rPr>
              <a:t>LED is driven by</a:t>
            </a:r>
            <a:endParaRPr b="0" i="1" sz="1400" u="none" cap="none" strike="noStrike">
              <a:solidFill>
                <a:srgbClr val="FF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signal on PA5</a:t>
            </a:r>
            <a:endParaRPr b="0" i="1" sz="1400" u="none" cap="none" strike="noStrike">
              <a:solidFill>
                <a:srgbClr val="FF0000"/>
              </a:solidFill>
              <a:latin typeface="Arial"/>
              <a:ea typeface="Arial"/>
              <a:cs typeface="Arial"/>
              <a:sym typeface="Arial"/>
            </a:endParaRPr>
          </a:p>
        </p:txBody>
      </p:sp>
      <p:sp>
        <p:nvSpPr>
          <p:cNvPr id="159" name="Google Shape;159;p31"/>
          <p:cNvSpPr txBox="1"/>
          <p:nvPr/>
        </p:nvSpPr>
        <p:spPr>
          <a:xfrm>
            <a:off x="411625" y="5071400"/>
            <a:ext cx="3213300" cy="9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1" lang="en">
                <a:solidFill>
                  <a:srgbClr val="FF0000"/>
                </a:solidFill>
              </a:rPr>
              <a:t>B</a:t>
            </a:r>
            <a:r>
              <a:rPr b="0" i="1" lang="en" sz="1400" u="none" cap="none" strike="noStrike">
                <a:solidFill>
                  <a:srgbClr val="FF0000"/>
                </a:solidFill>
                <a:latin typeface="Arial"/>
                <a:ea typeface="Arial"/>
                <a:cs typeface="Arial"/>
                <a:sym typeface="Arial"/>
              </a:rPr>
              <a:t>it 5 of I/O Port </a:t>
            </a:r>
            <a:r>
              <a:rPr i="1" lang="en">
                <a:solidFill>
                  <a:srgbClr val="FF0000"/>
                </a:solidFill>
              </a:rPr>
              <a:t>A</a:t>
            </a:r>
            <a:r>
              <a:rPr b="0" i="1" lang="en" sz="1400" u="none" cap="none" strike="noStrike">
                <a:solidFill>
                  <a:srgbClr val="FF0000"/>
                </a:solidFill>
                <a:latin typeface="Arial"/>
                <a:ea typeface="Arial"/>
                <a:cs typeface="Arial"/>
                <a:sym typeface="Arial"/>
              </a:rPr>
              <a:t> of th</a:t>
            </a:r>
            <a:r>
              <a:rPr i="1" lang="en">
                <a:solidFill>
                  <a:srgbClr val="FF0000"/>
                </a:solidFill>
              </a:rPr>
              <a:t>e STM32C031C6 is connected to the LED and Arduino </a:t>
            </a:r>
            <a:r>
              <a:rPr b="0" i="1" lang="en" sz="1400" u="none" cap="none" strike="noStrike">
                <a:solidFill>
                  <a:srgbClr val="FF0000"/>
                </a:solidFill>
                <a:latin typeface="Arial"/>
                <a:ea typeface="Arial"/>
                <a:cs typeface="Arial"/>
                <a:sym typeface="Arial"/>
              </a:rPr>
              <a:t>header pin 13</a:t>
            </a:r>
            <a:r>
              <a:rPr i="1" lang="en">
                <a:solidFill>
                  <a:srgbClr val="FF0000"/>
                </a:solidFill>
              </a:rPr>
              <a:t>.</a:t>
            </a:r>
            <a:endParaRPr b="0" i="1" sz="1400" u="none" cap="none" strike="noStrike">
              <a:solidFill>
                <a:srgbClr val="FF0000"/>
              </a:solidFill>
              <a:latin typeface="Arial"/>
              <a:ea typeface="Arial"/>
              <a:cs typeface="Arial"/>
              <a:sym typeface="Arial"/>
            </a:endParaRPr>
          </a:p>
        </p:txBody>
      </p:sp>
      <p:sp>
        <p:nvSpPr>
          <p:cNvPr id="160" name="Google Shape;160;p31"/>
          <p:cNvSpPr txBox="1"/>
          <p:nvPr/>
        </p:nvSpPr>
        <p:spPr>
          <a:xfrm>
            <a:off x="3534325" y="1208592"/>
            <a:ext cx="2970000" cy="65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(detail of </a:t>
            </a:r>
            <a:r>
              <a:rPr lang="en"/>
              <a:t>Nucleo </a:t>
            </a:r>
            <a:r>
              <a:rPr b="0" i="0" lang="en" sz="1400" u="none" cap="none" strike="noStrike">
                <a:solidFill>
                  <a:srgbClr val="000000"/>
                </a:solidFill>
                <a:latin typeface="Arial"/>
                <a:ea typeface="Arial"/>
                <a:cs typeface="Arial"/>
                <a:sym typeface="Arial"/>
              </a:rPr>
              <a:t>schematic)</a:t>
            </a:r>
            <a:endParaRPr b="0" i="0" sz="1400" u="none" cap="none" strike="noStrike">
              <a:solidFill>
                <a:srgbClr val="000000"/>
              </a:solidFill>
              <a:latin typeface="Arial"/>
              <a:ea typeface="Arial"/>
              <a:cs typeface="Arial"/>
              <a:sym typeface="Arial"/>
            </a:endParaRPr>
          </a:p>
        </p:txBody>
      </p:sp>
      <p:sp>
        <p:nvSpPr>
          <p:cNvPr id="161" name="Google Shape;161;p31"/>
          <p:cNvSpPr/>
          <p:nvPr/>
        </p:nvSpPr>
        <p:spPr>
          <a:xfrm rot="5400000">
            <a:off x="8315520" y="1643323"/>
            <a:ext cx="125100" cy="67500"/>
          </a:xfrm>
          <a:prstGeom prst="rect">
            <a:avLst/>
          </a:prstGeom>
          <a:noFill/>
          <a:ln cap="flat" cmpd="sng" w="28575">
            <a:solidFill>
              <a:srgbClr val="008C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1"/>
          <p:cNvSpPr/>
          <p:nvPr/>
        </p:nvSpPr>
        <p:spPr>
          <a:xfrm rot="5400000">
            <a:off x="7654622" y="2632700"/>
            <a:ext cx="87900" cy="67501"/>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rot="5400000">
            <a:off x="8434464" y="1980364"/>
            <a:ext cx="87900" cy="2682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4" name="Google Shape;164;p31"/>
          <p:cNvPicPr preferRelativeResize="0"/>
          <p:nvPr/>
        </p:nvPicPr>
        <p:blipFill>
          <a:blip r:embed="rId4">
            <a:alphaModFix/>
          </a:blip>
          <a:stretch>
            <a:fillRect/>
          </a:stretch>
        </p:blipFill>
        <p:spPr>
          <a:xfrm>
            <a:off x="311700" y="1739623"/>
            <a:ext cx="3873490" cy="2632825"/>
          </a:xfrm>
          <a:prstGeom prst="rect">
            <a:avLst/>
          </a:prstGeom>
          <a:noFill/>
          <a:ln>
            <a:noFill/>
          </a:ln>
        </p:spPr>
      </p:pic>
      <p:cxnSp>
        <p:nvCxnSpPr>
          <p:cNvPr id="165" name="Google Shape;165;p31"/>
          <p:cNvCxnSpPr/>
          <p:nvPr/>
        </p:nvCxnSpPr>
        <p:spPr>
          <a:xfrm flipH="1">
            <a:off x="1432020" y="1651585"/>
            <a:ext cx="6912300" cy="809700"/>
          </a:xfrm>
          <a:prstGeom prst="straightConnector1">
            <a:avLst/>
          </a:prstGeom>
          <a:noFill/>
          <a:ln cap="flat" cmpd="sng" w="19050">
            <a:solidFill>
              <a:srgbClr val="008C00"/>
            </a:solidFill>
            <a:prstDash val="solid"/>
            <a:round/>
            <a:headEnd len="med" w="med" type="none"/>
            <a:tailEnd len="med" w="med" type="stealth"/>
          </a:ln>
        </p:spPr>
      </p:cxnSp>
      <p:pic>
        <p:nvPicPr>
          <p:cNvPr id="166" name="Google Shape;166;p31"/>
          <p:cNvPicPr preferRelativeResize="0"/>
          <p:nvPr/>
        </p:nvPicPr>
        <p:blipFill rotWithShape="1">
          <a:blip r:embed="rId5">
            <a:alphaModFix/>
          </a:blip>
          <a:srcRect b="54708" l="0" r="0" t="0"/>
          <a:stretch/>
        </p:blipFill>
        <p:spPr>
          <a:xfrm>
            <a:off x="4470950" y="3716950"/>
            <a:ext cx="4001500" cy="2779249"/>
          </a:xfrm>
          <a:prstGeom prst="rect">
            <a:avLst/>
          </a:prstGeom>
          <a:noFill/>
          <a:ln>
            <a:noFill/>
          </a:ln>
        </p:spPr>
      </p:pic>
      <p:cxnSp>
        <p:nvCxnSpPr>
          <p:cNvPr id="167" name="Google Shape;167;p31"/>
          <p:cNvCxnSpPr>
            <a:stCxn id="163" idx="3"/>
          </p:cNvCxnSpPr>
          <p:nvPr/>
        </p:nvCxnSpPr>
        <p:spPr>
          <a:xfrm flipH="1">
            <a:off x="3110214" y="2158414"/>
            <a:ext cx="5368200" cy="1265100"/>
          </a:xfrm>
          <a:prstGeom prst="straightConnector1">
            <a:avLst/>
          </a:prstGeom>
          <a:noFill/>
          <a:ln cap="flat" cmpd="sng" w="19050">
            <a:solidFill>
              <a:srgbClr val="0000FF"/>
            </a:solidFill>
            <a:prstDash val="solid"/>
            <a:round/>
            <a:headEnd len="med" w="med" type="none"/>
            <a:tailEnd len="med" w="med" type="stealth"/>
          </a:ln>
        </p:spPr>
      </p:cxnSp>
      <p:sp>
        <p:nvSpPr>
          <p:cNvPr id="168" name="Google Shape;168;p31"/>
          <p:cNvSpPr txBox="1"/>
          <p:nvPr/>
        </p:nvSpPr>
        <p:spPr>
          <a:xfrm>
            <a:off x="5761625" y="4921925"/>
            <a:ext cx="1308900" cy="3693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9900FF"/>
                </a:solidFill>
              </a:rPr>
              <a:t>STM32C031C6</a:t>
            </a:r>
            <a:endParaRPr sz="1200">
              <a:solidFill>
                <a:srgbClr val="9900FF"/>
              </a:solidFill>
            </a:endParaRPr>
          </a:p>
        </p:txBody>
      </p:sp>
      <p:cxnSp>
        <p:nvCxnSpPr>
          <p:cNvPr id="169" name="Google Shape;169;p31"/>
          <p:cNvCxnSpPr>
            <a:stCxn id="162" idx="3"/>
          </p:cNvCxnSpPr>
          <p:nvPr/>
        </p:nvCxnSpPr>
        <p:spPr>
          <a:xfrm flipH="1">
            <a:off x="5739272" y="2710400"/>
            <a:ext cx="1959300" cy="1988400"/>
          </a:xfrm>
          <a:prstGeom prst="straightConnector1">
            <a:avLst/>
          </a:prstGeom>
          <a:noFill/>
          <a:ln cap="flat" cmpd="sng" w="19050">
            <a:solidFill>
              <a:srgbClr val="9900FF"/>
            </a:solidFill>
            <a:prstDash val="solid"/>
            <a:round/>
            <a:headEnd len="med" w="med" type="none"/>
            <a:tailEnd len="med" w="med" type="stealth"/>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54100" y="1271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2"/>
                </a:solidFill>
              </a:rPr>
              <a:t>How does the microcontroller run a program?</a:t>
            </a:r>
            <a:endParaRPr>
              <a:solidFill>
                <a:schemeClr val="dk2"/>
              </a:solidFill>
            </a:endParaRPr>
          </a:p>
          <a:p>
            <a:pPr indent="0" lvl="0" marL="0" rtl="0" algn="l">
              <a:spcBef>
                <a:spcPts val="1600"/>
              </a:spcBef>
              <a:spcAft>
                <a:spcPts val="0"/>
              </a:spcAft>
              <a:buNone/>
            </a:pPr>
            <a:r>
              <a:t/>
            </a:r>
            <a:endParaRPr/>
          </a:p>
        </p:txBody>
      </p:sp>
      <p:sp>
        <p:nvSpPr>
          <p:cNvPr id="175" name="Google Shape;175;p32"/>
          <p:cNvSpPr txBox="1"/>
          <p:nvPr>
            <p:ph idx="1" type="body"/>
          </p:nvPr>
        </p:nvSpPr>
        <p:spPr>
          <a:xfrm>
            <a:off x="148350" y="762875"/>
            <a:ext cx="8873100" cy="52077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b="1" lang="en" sz="1700">
                <a:solidFill>
                  <a:schemeClr val="dk1"/>
                </a:solidFill>
              </a:rPr>
              <a:t>Compiler (G</a:t>
            </a:r>
            <a:r>
              <a:rPr b="1" lang="en" sz="1700">
                <a:solidFill>
                  <a:schemeClr val="dk1"/>
                </a:solidFill>
              </a:rPr>
              <a:t>NU</a:t>
            </a:r>
            <a:r>
              <a:rPr b="1" lang="en" sz="1700">
                <a:solidFill>
                  <a:schemeClr val="dk1"/>
                </a:solidFill>
              </a:rPr>
              <a:t> C) </a:t>
            </a:r>
            <a:r>
              <a:rPr lang="en" sz="1700">
                <a:solidFill>
                  <a:schemeClr val="dk1"/>
                </a:solidFill>
              </a:rPr>
              <a:t>translates C code into machine language instructions.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Machine code is </a:t>
            </a:r>
            <a:r>
              <a:rPr b="1" lang="en" sz="1700">
                <a:solidFill>
                  <a:schemeClr val="dk1"/>
                </a:solidFill>
              </a:rPr>
              <a:t>uploaded (system bootloader)</a:t>
            </a:r>
            <a:r>
              <a:rPr lang="en" sz="1700">
                <a:solidFill>
                  <a:schemeClr val="dk1"/>
                </a:solidFill>
              </a:rPr>
              <a:t> to the processor’s flash memory.</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Microcontroller’s processor executes the machine language instructions.</a:t>
            </a:r>
            <a:endParaRPr sz="1700">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rPr lang="en">
                <a:solidFill>
                  <a:srgbClr val="000000"/>
                </a:solidFill>
              </a:rPr>
              <a:t>We need to dig inside the microcontroller</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rPr>
              <a:t>Architecture: </a:t>
            </a:r>
            <a:r>
              <a:rPr lang="en">
                <a:solidFill>
                  <a:srgbClr val="000000"/>
                </a:solidFill>
              </a:rPr>
              <a:t>how the processor is built</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rPr>
              <a:t>Instruction set: </a:t>
            </a:r>
            <a:r>
              <a:rPr lang="en">
                <a:solidFill>
                  <a:srgbClr val="000000"/>
                </a:solidFill>
              </a:rPr>
              <a:t>what the processor can do</a:t>
            </a:r>
            <a:endParaRPr>
              <a:solidFill>
                <a:srgbClr val="000000"/>
              </a:solidFill>
            </a:endParaRPr>
          </a:p>
          <a:p>
            <a:pPr indent="0" lvl="0" marL="0" rtl="0" algn="l">
              <a:spcBef>
                <a:spcPts val="1600"/>
              </a:spcBef>
              <a:spcAft>
                <a:spcPts val="0"/>
              </a:spcAft>
              <a:buNone/>
            </a:pPr>
            <a:r>
              <a:t/>
            </a:r>
            <a:endParaRPr b="1">
              <a:solidFill>
                <a:srgbClr val="000000"/>
              </a:solidFill>
            </a:endParaRPr>
          </a:p>
          <a:p>
            <a:pPr indent="0" lvl="0" marL="0" rtl="0" algn="l">
              <a:spcBef>
                <a:spcPts val="1600"/>
              </a:spcBef>
              <a:spcAft>
                <a:spcPts val="1600"/>
              </a:spcAft>
              <a:buNone/>
            </a:pPr>
            <a:r>
              <a:t/>
            </a:r>
            <a:endParaRPr>
              <a:solidFill>
                <a:srgbClr val="000000"/>
              </a:solidFill>
            </a:endParaRPr>
          </a:p>
        </p:txBody>
      </p:sp>
      <p:sp>
        <p:nvSpPr>
          <p:cNvPr id="176" name="Google Shape;176;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pic>
        <p:nvPicPr>
          <p:cNvPr id="177" name="Google Shape;177;p32" title="Gemini_Generated_Image_lee5a8lee5a8lee5.png"/>
          <p:cNvPicPr preferRelativeResize="0"/>
          <p:nvPr/>
        </p:nvPicPr>
        <p:blipFill rotWithShape="1">
          <a:blip r:embed="rId3">
            <a:alphaModFix/>
          </a:blip>
          <a:srcRect b="7174" l="0" r="0" t="13297"/>
          <a:stretch/>
        </p:blipFill>
        <p:spPr>
          <a:xfrm>
            <a:off x="354100" y="1783425"/>
            <a:ext cx="8163925" cy="35414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3" title="Screenshot 2026-01-08 at 9.48.06 AM.png"/>
          <p:cNvPicPr preferRelativeResize="0"/>
          <p:nvPr/>
        </p:nvPicPr>
        <p:blipFill rotWithShape="1">
          <a:blip r:embed="rId3">
            <a:alphaModFix/>
          </a:blip>
          <a:srcRect b="0" l="0" r="0" t="0"/>
          <a:stretch/>
        </p:blipFill>
        <p:spPr>
          <a:xfrm>
            <a:off x="14738" y="1385426"/>
            <a:ext cx="8881466" cy="3253325"/>
          </a:xfrm>
          <a:prstGeom prst="rect">
            <a:avLst/>
          </a:prstGeom>
          <a:noFill/>
          <a:ln>
            <a:noFill/>
          </a:ln>
        </p:spPr>
      </p:pic>
      <p:sp>
        <p:nvSpPr>
          <p:cNvPr id="183" name="Google Shape;183;p33"/>
          <p:cNvSpPr/>
          <p:nvPr/>
        </p:nvSpPr>
        <p:spPr>
          <a:xfrm>
            <a:off x="3768875" y="1012963"/>
            <a:ext cx="1530600" cy="1467600"/>
          </a:xfrm>
          <a:prstGeom prst="rect">
            <a:avLst/>
          </a:prstGeom>
          <a:solidFill>
            <a:srgbClr val="FFCC9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33"/>
          <p:cNvSpPr txBox="1"/>
          <p:nvPr>
            <p:ph type="title"/>
          </p:nvPr>
        </p:nvSpPr>
        <p:spPr>
          <a:xfrm>
            <a:off x="311700" y="134816"/>
            <a:ext cx="7217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Microprocessor Architecture At a </a:t>
            </a:r>
            <a:r>
              <a:rPr lang="en"/>
              <a:t>Glance</a:t>
            </a:r>
            <a:endParaRPr/>
          </a:p>
        </p:txBody>
      </p:sp>
      <p:sp>
        <p:nvSpPr>
          <p:cNvPr id="185" name="Google Shape;185;p33"/>
          <p:cNvSpPr txBox="1"/>
          <p:nvPr>
            <p:ph idx="12" type="sldNum"/>
          </p:nvPr>
        </p:nvSpPr>
        <p:spPr>
          <a:xfrm>
            <a:off x="8472458" y="6074614"/>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
        <p:nvSpPr>
          <p:cNvPr id="186" name="Google Shape;186;p33"/>
          <p:cNvSpPr txBox="1"/>
          <p:nvPr/>
        </p:nvSpPr>
        <p:spPr>
          <a:xfrm>
            <a:off x="616125" y="5037325"/>
            <a:ext cx="827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Every line of C code ultimately manipulates registers and memory shown here.</a:t>
            </a:r>
            <a:endParaRPr sz="1800">
              <a:solidFill>
                <a:srgbClr val="0000FF"/>
              </a:solidFill>
            </a:endParaRPr>
          </a:p>
        </p:txBody>
      </p:sp>
      <p:sp>
        <p:nvSpPr>
          <p:cNvPr id="187" name="Google Shape;187;p33"/>
          <p:cNvSpPr txBox="1"/>
          <p:nvPr/>
        </p:nvSpPr>
        <p:spPr>
          <a:xfrm>
            <a:off x="4136825" y="1322548"/>
            <a:ext cx="7947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rPr>
              <a:t>Flash</a:t>
            </a:r>
            <a:endParaRPr b="1" sz="1800">
              <a:solidFill>
                <a:srgbClr val="9900FF"/>
              </a:solidFill>
            </a:endParaRPr>
          </a:p>
        </p:txBody>
      </p:sp>
      <p:sp>
        <p:nvSpPr>
          <p:cNvPr id="188" name="Google Shape;188;p33"/>
          <p:cNvSpPr txBox="1"/>
          <p:nvPr/>
        </p:nvSpPr>
        <p:spPr>
          <a:xfrm>
            <a:off x="616125" y="918091"/>
            <a:ext cx="2737800" cy="381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rgbClr val="9900FF"/>
                </a:solidFill>
              </a:rPr>
              <a:t>Program Instructions</a:t>
            </a:r>
            <a:endParaRPr b="1" sz="1800">
              <a:solidFill>
                <a:srgbClr val="9900FF"/>
              </a:solidFill>
            </a:endParaRPr>
          </a:p>
        </p:txBody>
      </p:sp>
      <p:sp>
        <p:nvSpPr>
          <p:cNvPr id="189" name="Google Shape;189;p33"/>
          <p:cNvSpPr txBox="1"/>
          <p:nvPr/>
        </p:nvSpPr>
        <p:spPr>
          <a:xfrm>
            <a:off x="4136825" y="1704148"/>
            <a:ext cx="7947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38761D"/>
                </a:solidFill>
              </a:rPr>
              <a:t>RAM</a:t>
            </a:r>
            <a:endParaRPr b="1" sz="1800">
              <a:solidFill>
                <a:srgbClr val="38761D"/>
              </a:solidFill>
            </a:endParaRPr>
          </a:p>
        </p:txBody>
      </p:sp>
      <p:sp>
        <p:nvSpPr>
          <p:cNvPr id="190" name="Google Shape;190;p33"/>
          <p:cNvSpPr txBox="1"/>
          <p:nvPr/>
        </p:nvSpPr>
        <p:spPr>
          <a:xfrm>
            <a:off x="616125" y="1385441"/>
            <a:ext cx="2420100" cy="381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rgbClr val="38761D"/>
                </a:solidFill>
              </a:rPr>
              <a:t>Data</a:t>
            </a:r>
            <a:endParaRPr b="1" sz="1800">
              <a:solidFill>
                <a:srgbClr val="38761D"/>
              </a:solidFill>
            </a:endParaRPr>
          </a:p>
        </p:txBody>
      </p:sp>
      <p:sp>
        <p:nvSpPr>
          <p:cNvPr id="191" name="Google Shape;191;p33"/>
          <p:cNvSpPr txBox="1"/>
          <p:nvPr/>
        </p:nvSpPr>
        <p:spPr>
          <a:xfrm>
            <a:off x="3787175" y="2073573"/>
            <a:ext cx="14940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80000"/>
                </a:solidFill>
              </a:rPr>
              <a:t>GPIO Registers</a:t>
            </a:r>
            <a:endParaRPr b="1">
              <a:solidFill>
                <a:srgbClr val="980000"/>
              </a:solidFill>
            </a:endParaRPr>
          </a:p>
        </p:txBody>
      </p:sp>
      <p:sp>
        <p:nvSpPr>
          <p:cNvPr id="192" name="Google Shape;192;p33"/>
          <p:cNvSpPr txBox="1"/>
          <p:nvPr/>
        </p:nvSpPr>
        <p:spPr>
          <a:xfrm>
            <a:off x="616125" y="1852791"/>
            <a:ext cx="2420100" cy="381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rgbClr val="980000"/>
                </a:solidFill>
              </a:rPr>
              <a:t>Memory-mapped I/O</a:t>
            </a:r>
            <a:endParaRPr b="1" sz="1800">
              <a:solidFill>
                <a:srgbClr val="980000"/>
              </a:solidFill>
            </a:endParaRPr>
          </a:p>
        </p:txBody>
      </p:sp>
      <p:pic>
        <p:nvPicPr>
          <p:cNvPr id="193" name="Google Shape;193;p33" title="Screenshot 2026-01-06 at 10.20.00 AM.png"/>
          <p:cNvPicPr preferRelativeResize="0"/>
          <p:nvPr/>
        </p:nvPicPr>
        <p:blipFill rotWithShape="1">
          <a:blip r:embed="rId4">
            <a:alphaModFix/>
          </a:blip>
          <a:srcRect b="0" l="1807" r="0" t="0"/>
          <a:stretch/>
        </p:blipFill>
        <p:spPr>
          <a:xfrm>
            <a:off x="6831550" y="575191"/>
            <a:ext cx="636025" cy="933450"/>
          </a:xfrm>
          <a:prstGeom prst="rect">
            <a:avLst/>
          </a:prstGeom>
          <a:noFill/>
          <a:ln>
            <a:noFill/>
          </a:ln>
        </p:spPr>
      </p:pic>
      <p:cxnSp>
        <p:nvCxnSpPr>
          <p:cNvPr id="194" name="Google Shape;194;p33"/>
          <p:cNvCxnSpPr>
            <a:endCxn id="193" idx="1"/>
          </p:cNvCxnSpPr>
          <p:nvPr/>
        </p:nvCxnSpPr>
        <p:spPr>
          <a:xfrm flipH="1" rot="10800000">
            <a:off x="6105250" y="1041916"/>
            <a:ext cx="726300" cy="600600"/>
          </a:xfrm>
          <a:prstGeom prst="straightConnector1">
            <a:avLst/>
          </a:prstGeom>
          <a:noFill/>
          <a:ln cap="flat" cmpd="sng" w="28575">
            <a:solidFill>
              <a:srgbClr val="0000FF"/>
            </a:solidFill>
            <a:prstDash val="solid"/>
            <a:round/>
            <a:headEnd len="med" w="med" type="none"/>
            <a:tailEnd len="med" w="med" type="triangle"/>
          </a:ln>
        </p:spPr>
      </p:cxnSp>
      <p:sp>
        <p:nvSpPr>
          <p:cNvPr id="195" name="Google Shape;195;p33"/>
          <p:cNvSpPr txBox="1"/>
          <p:nvPr/>
        </p:nvSpPr>
        <p:spPr>
          <a:xfrm>
            <a:off x="163475" y="5829150"/>
            <a:ext cx="8610900" cy="6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134F5C"/>
                </a:solidFill>
              </a:rPr>
              <a:t>C code → CPU executes instructions → Register write </a:t>
            </a:r>
            <a:endParaRPr b="1" sz="1800">
              <a:solidFill>
                <a:srgbClr val="134F5C"/>
              </a:solidFill>
            </a:endParaRPr>
          </a:p>
          <a:p>
            <a:pPr indent="0" lvl="0" marL="0" rtl="0" algn="l">
              <a:spcBef>
                <a:spcPts val="0"/>
              </a:spcBef>
              <a:spcAft>
                <a:spcPts val="0"/>
              </a:spcAft>
              <a:buNone/>
            </a:pPr>
            <a:r>
              <a:rPr b="1" lang="en" sz="1800">
                <a:solidFill>
                  <a:srgbClr val="134F5C"/>
                </a:solidFill>
              </a:rPr>
              <a:t>             → Memory-mapped GPIO → Pin voltage changes → LED</a:t>
            </a:r>
            <a:endParaRPr b="1" sz="1800">
              <a:solidFill>
                <a:srgbClr val="134F5C"/>
              </a:solidFill>
            </a:endParaRPr>
          </a:p>
        </p:txBody>
      </p:sp>
      <p:cxnSp>
        <p:nvCxnSpPr>
          <p:cNvPr id="196" name="Google Shape;196;p33"/>
          <p:cNvCxnSpPr>
            <a:stCxn id="188" idx="3"/>
            <a:endCxn id="187" idx="1"/>
          </p:cNvCxnSpPr>
          <p:nvPr/>
        </p:nvCxnSpPr>
        <p:spPr>
          <a:xfrm>
            <a:off x="3353925" y="1108891"/>
            <a:ext cx="783000" cy="404400"/>
          </a:xfrm>
          <a:prstGeom prst="straightConnector1">
            <a:avLst/>
          </a:prstGeom>
          <a:noFill/>
          <a:ln cap="flat" cmpd="sng" w="28575">
            <a:solidFill>
              <a:srgbClr val="9900FF"/>
            </a:solidFill>
            <a:prstDash val="solid"/>
            <a:round/>
            <a:headEnd len="med" w="med" type="none"/>
            <a:tailEnd len="med" w="med" type="triangle"/>
          </a:ln>
        </p:spPr>
      </p:cxnSp>
      <p:cxnSp>
        <p:nvCxnSpPr>
          <p:cNvPr id="197" name="Google Shape;197;p33"/>
          <p:cNvCxnSpPr>
            <a:stCxn id="190" idx="3"/>
            <a:endCxn id="189" idx="1"/>
          </p:cNvCxnSpPr>
          <p:nvPr/>
        </p:nvCxnSpPr>
        <p:spPr>
          <a:xfrm>
            <a:off x="3036225" y="1576241"/>
            <a:ext cx="1100700" cy="318600"/>
          </a:xfrm>
          <a:prstGeom prst="straightConnector1">
            <a:avLst/>
          </a:prstGeom>
          <a:noFill/>
          <a:ln cap="flat" cmpd="sng" w="28575">
            <a:solidFill>
              <a:srgbClr val="38761D"/>
            </a:solidFill>
            <a:prstDash val="solid"/>
            <a:round/>
            <a:headEnd len="med" w="med" type="none"/>
            <a:tailEnd len="med" w="med" type="triangle"/>
          </a:ln>
        </p:spPr>
      </p:cxnSp>
      <p:cxnSp>
        <p:nvCxnSpPr>
          <p:cNvPr id="198" name="Google Shape;198;p33"/>
          <p:cNvCxnSpPr>
            <a:stCxn id="192" idx="3"/>
            <a:endCxn id="191" idx="1"/>
          </p:cNvCxnSpPr>
          <p:nvPr/>
        </p:nvCxnSpPr>
        <p:spPr>
          <a:xfrm>
            <a:off x="3036225" y="2043591"/>
            <a:ext cx="750900" cy="220800"/>
          </a:xfrm>
          <a:prstGeom prst="straightConnector1">
            <a:avLst/>
          </a:prstGeom>
          <a:noFill/>
          <a:ln cap="flat" cmpd="sng" w="28575">
            <a:solidFill>
              <a:srgbClr val="980000"/>
            </a:solidFill>
            <a:prstDash val="solid"/>
            <a:round/>
            <a:headEnd len="med" w="med" type="none"/>
            <a:tailEnd len="med" w="med" type="triangle"/>
          </a:ln>
        </p:spPr>
      </p:cxnSp>
      <p:sp>
        <p:nvSpPr>
          <p:cNvPr id="199" name="Google Shape;199;p33"/>
          <p:cNvSpPr txBox="1"/>
          <p:nvPr/>
        </p:nvSpPr>
        <p:spPr>
          <a:xfrm>
            <a:off x="3482550" y="3558851"/>
            <a:ext cx="876000" cy="400200"/>
          </a:xfrm>
          <a:prstGeom prst="rect">
            <a:avLst/>
          </a:prstGeom>
          <a:solidFill>
            <a:srgbClr val="CCFFCC"/>
          </a:solidFill>
          <a:ln cap="flat" cmpd="sng" w="9525">
            <a:solidFill>
              <a:srgbClr val="0000C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32 wires</a:t>
            </a:r>
            <a:endParaRPr>
              <a:solidFill>
                <a:schemeClr val="dk2"/>
              </a:solidFill>
            </a:endParaRPr>
          </a:p>
        </p:txBody>
      </p:sp>
      <p:sp>
        <p:nvSpPr>
          <p:cNvPr id="200" name="Google Shape;200;p33"/>
          <p:cNvSpPr txBox="1"/>
          <p:nvPr/>
        </p:nvSpPr>
        <p:spPr>
          <a:xfrm>
            <a:off x="6711563" y="3024338"/>
            <a:ext cx="876000" cy="400200"/>
          </a:xfrm>
          <a:prstGeom prst="rect">
            <a:avLst/>
          </a:prstGeom>
          <a:solidFill>
            <a:srgbClr val="FFFF99"/>
          </a:solidFill>
          <a:ln cap="flat" cmpd="sng" w="9525">
            <a:solidFill>
              <a:srgbClr val="0000C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32 wires</a:t>
            </a:r>
            <a:endParaRPr>
              <a:solidFill>
                <a:schemeClr val="dk2"/>
              </a:solidFill>
            </a:endParaRPr>
          </a:p>
        </p:txBody>
      </p:sp>
      <p:pic>
        <p:nvPicPr>
          <p:cNvPr id="201" name="Google Shape;201;p33" title="Screenshot 2026-01-08 at 10.06.20 AM.png"/>
          <p:cNvPicPr preferRelativeResize="0"/>
          <p:nvPr/>
        </p:nvPicPr>
        <p:blipFill>
          <a:blip r:embed="rId5">
            <a:alphaModFix/>
          </a:blip>
          <a:stretch>
            <a:fillRect/>
          </a:stretch>
        </p:blipFill>
        <p:spPr>
          <a:xfrm>
            <a:off x="1881025" y="3588550"/>
            <a:ext cx="1212625" cy="834250"/>
          </a:xfrm>
          <a:prstGeom prst="rect">
            <a:avLst/>
          </a:prstGeom>
          <a:noFill/>
          <a:ln>
            <a:noFill/>
          </a:ln>
        </p:spPr>
      </p:pic>
      <p:sp>
        <p:nvSpPr>
          <p:cNvPr id="202" name="Google Shape;202;p33"/>
          <p:cNvSpPr txBox="1"/>
          <p:nvPr/>
        </p:nvSpPr>
        <p:spPr>
          <a:xfrm>
            <a:off x="4020325" y="1006425"/>
            <a:ext cx="110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Memory</a:t>
            </a:r>
            <a:endParaRPr b="1"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290875" y="338475"/>
            <a:ext cx="6602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CPU’s "Scratchpad": M0+ Registers</a:t>
            </a:r>
            <a:endParaRPr/>
          </a:p>
        </p:txBody>
      </p:sp>
      <p:sp>
        <p:nvSpPr>
          <p:cNvPr id="208" name="Google Shape;208;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pic>
        <p:nvPicPr>
          <p:cNvPr id="209" name="Google Shape;209;p34"/>
          <p:cNvPicPr preferRelativeResize="0"/>
          <p:nvPr/>
        </p:nvPicPr>
        <p:blipFill rotWithShape="1">
          <a:blip r:embed="rId3">
            <a:alphaModFix/>
          </a:blip>
          <a:srcRect b="3552" l="4214" r="4579" t="3701"/>
          <a:stretch/>
        </p:blipFill>
        <p:spPr>
          <a:xfrm>
            <a:off x="4927900" y="1292675"/>
            <a:ext cx="3764375" cy="4785075"/>
          </a:xfrm>
          <a:prstGeom prst="rect">
            <a:avLst/>
          </a:prstGeom>
          <a:noFill/>
          <a:ln cap="flat" cmpd="sng" w="28575">
            <a:solidFill>
              <a:srgbClr val="FF00FF"/>
            </a:solidFill>
            <a:prstDash val="solid"/>
            <a:round/>
            <a:headEnd len="sm" w="sm" type="none"/>
            <a:tailEnd len="sm" w="sm" type="none"/>
          </a:ln>
        </p:spPr>
      </p:pic>
      <p:pic>
        <p:nvPicPr>
          <p:cNvPr id="210" name="Google Shape;210;p34" title="Screenshot 2026-01-08 at 10.08.40 AM.png"/>
          <p:cNvPicPr preferRelativeResize="0"/>
          <p:nvPr/>
        </p:nvPicPr>
        <p:blipFill rotWithShape="1">
          <a:blip r:embed="rId4">
            <a:alphaModFix/>
          </a:blip>
          <a:srcRect b="6353" l="4806" r="9680" t="3792"/>
          <a:stretch/>
        </p:blipFill>
        <p:spPr>
          <a:xfrm>
            <a:off x="585100" y="1292675"/>
            <a:ext cx="3306550" cy="4524375"/>
          </a:xfrm>
          <a:prstGeom prst="rect">
            <a:avLst/>
          </a:prstGeom>
          <a:noFill/>
          <a:ln cap="flat" cmpd="sng" w="28575">
            <a:solidFill>
              <a:schemeClr val="dk1"/>
            </a:solidFill>
            <a:prstDash val="solid"/>
            <a:round/>
            <a:headEnd len="sm" w="sm" type="none"/>
            <a:tailEnd len="sm" w="sm" type="none"/>
          </a:ln>
        </p:spPr>
      </p:pic>
      <p:pic>
        <p:nvPicPr>
          <p:cNvPr id="211" name="Google Shape;211;p34" title="Screenshot 2026-01-08 at 10.09.22 AM.png"/>
          <p:cNvPicPr preferRelativeResize="0"/>
          <p:nvPr/>
        </p:nvPicPr>
        <p:blipFill rotWithShape="1">
          <a:blip r:embed="rId5">
            <a:alphaModFix/>
          </a:blip>
          <a:srcRect b="0" l="0" r="25312" t="0"/>
          <a:stretch/>
        </p:blipFill>
        <p:spPr>
          <a:xfrm>
            <a:off x="696200" y="2257800"/>
            <a:ext cx="3102425" cy="2847600"/>
          </a:xfrm>
          <a:prstGeom prst="rect">
            <a:avLst/>
          </a:prstGeom>
          <a:noFill/>
          <a:ln>
            <a:noFill/>
          </a:ln>
        </p:spPr>
      </p:pic>
      <p:sp>
        <p:nvSpPr>
          <p:cNvPr id="212" name="Google Shape;212;p34"/>
          <p:cNvSpPr/>
          <p:nvPr/>
        </p:nvSpPr>
        <p:spPr>
          <a:xfrm>
            <a:off x="696200" y="3577825"/>
            <a:ext cx="1358400" cy="15276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34"/>
          <p:cNvSpPr txBox="1"/>
          <p:nvPr/>
        </p:nvSpPr>
        <p:spPr>
          <a:xfrm>
            <a:off x="1170200" y="1700900"/>
            <a:ext cx="185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Microprocessor</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5" title="Gemini_Generated_Image_5y5tih5y5tih5y5t.png"/>
          <p:cNvPicPr preferRelativeResize="0"/>
          <p:nvPr/>
        </p:nvPicPr>
        <p:blipFill rotWithShape="1">
          <a:blip r:embed="rId3">
            <a:alphaModFix/>
          </a:blip>
          <a:srcRect b="8855" l="0" r="0" t="37283"/>
          <a:stretch/>
        </p:blipFill>
        <p:spPr>
          <a:xfrm>
            <a:off x="1053875" y="975425"/>
            <a:ext cx="6719324" cy="3619100"/>
          </a:xfrm>
          <a:prstGeom prst="rect">
            <a:avLst/>
          </a:prstGeom>
          <a:noFill/>
          <a:ln>
            <a:noFill/>
          </a:ln>
        </p:spPr>
      </p:pic>
      <p:sp>
        <p:nvSpPr>
          <p:cNvPr id="219" name="Google Shape;219;p35"/>
          <p:cNvSpPr txBox="1"/>
          <p:nvPr>
            <p:ph type="title"/>
          </p:nvPr>
        </p:nvSpPr>
        <p:spPr>
          <a:xfrm>
            <a:off x="269325" y="211925"/>
            <a:ext cx="6602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Instruction Fetch-Decode-Execute Cycle</a:t>
            </a:r>
            <a:endParaRPr/>
          </a:p>
        </p:txBody>
      </p:sp>
      <p:sp>
        <p:nvSpPr>
          <p:cNvPr id="220" name="Google Shape;220;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
        <p:nvSpPr>
          <p:cNvPr id="221" name="Google Shape;221;p35"/>
          <p:cNvSpPr txBox="1"/>
          <p:nvPr/>
        </p:nvSpPr>
        <p:spPr>
          <a:xfrm>
            <a:off x="1412100" y="2814400"/>
            <a:ext cx="1419900" cy="2541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chemeClr val="dk2"/>
                </a:solidFill>
              </a:rPr>
              <a:t>GPIO-&gt;ODR |= LED_PIN;</a:t>
            </a:r>
            <a:endParaRPr b="1" sz="900">
              <a:solidFill>
                <a:schemeClr val="dk2"/>
              </a:solidFill>
            </a:endParaRPr>
          </a:p>
        </p:txBody>
      </p:sp>
      <p:pic>
        <p:nvPicPr>
          <p:cNvPr id="222" name="Google Shape;222;p35" title="Screenshot 2026-01-08 at 10.23.27 AM.png"/>
          <p:cNvPicPr preferRelativeResize="0"/>
          <p:nvPr/>
        </p:nvPicPr>
        <p:blipFill>
          <a:blip r:embed="rId4">
            <a:alphaModFix/>
          </a:blip>
          <a:stretch>
            <a:fillRect/>
          </a:stretch>
        </p:blipFill>
        <p:spPr>
          <a:xfrm>
            <a:off x="4375300" y="4594525"/>
            <a:ext cx="4279601" cy="2147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6" title="Gemini_Generated_Image_5y5tih5y5tih5y5t.png"/>
          <p:cNvPicPr preferRelativeResize="0"/>
          <p:nvPr/>
        </p:nvPicPr>
        <p:blipFill rotWithShape="1">
          <a:blip r:embed="rId3">
            <a:alphaModFix/>
          </a:blip>
          <a:srcRect b="29047" l="0" r="70414" t="38155"/>
          <a:stretch/>
        </p:blipFill>
        <p:spPr>
          <a:xfrm>
            <a:off x="321900" y="1282075"/>
            <a:ext cx="1987950" cy="2203876"/>
          </a:xfrm>
          <a:prstGeom prst="rect">
            <a:avLst/>
          </a:prstGeom>
          <a:noFill/>
          <a:ln>
            <a:noFill/>
          </a:ln>
        </p:spPr>
      </p:pic>
      <p:sp>
        <p:nvSpPr>
          <p:cNvPr id="228" name="Google Shape;228;p36"/>
          <p:cNvSpPr txBox="1"/>
          <p:nvPr>
            <p:ph type="title"/>
          </p:nvPr>
        </p:nvSpPr>
        <p:spPr>
          <a:xfrm>
            <a:off x="155075" y="56375"/>
            <a:ext cx="5998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Organization </a:t>
            </a:r>
            <a:r>
              <a:rPr lang="en"/>
              <a:t>for our chip</a:t>
            </a:r>
            <a:endParaRPr/>
          </a:p>
        </p:txBody>
      </p:sp>
      <p:sp>
        <p:nvSpPr>
          <p:cNvPr id="229" name="Google Shape;229;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pic>
        <p:nvPicPr>
          <p:cNvPr id="230" name="Google Shape;230;p36"/>
          <p:cNvPicPr preferRelativeResize="0"/>
          <p:nvPr/>
        </p:nvPicPr>
        <p:blipFill rotWithShape="1">
          <a:blip r:embed="rId4">
            <a:alphaModFix/>
          </a:blip>
          <a:srcRect b="0" l="0" r="0" t="2686"/>
          <a:stretch/>
        </p:blipFill>
        <p:spPr>
          <a:xfrm>
            <a:off x="2737400" y="819875"/>
            <a:ext cx="6108751" cy="5922449"/>
          </a:xfrm>
          <a:prstGeom prst="rect">
            <a:avLst/>
          </a:prstGeom>
          <a:noFill/>
          <a:ln>
            <a:noFill/>
          </a:ln>
        </p:spPr>
      </p:pic>
      <p:sp>
        <p:nvSpPr>
          <p:cNvPr id="231" name="Google Shape;231;p36"/>
          <p:cNvSpPr/>
          <p:nvPr/>
        </p:nvSpPr>
        <p:spPr>
          <a:xfrm>
            <a:off x="5720750" y="5996450"/>
            <a:ext cx="1573800" cy="4671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36"/>
          <p:cNvSpPr txBox="1"/>
          <p:nvPr/>
        </p:nvSpPr>
        <p:spPr>
          <a:xfrm>
            <a:off x="700700" y="5628825"/>
            <a:ext cx="1723200" cy="10158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Program code and data lives here</a:t>
            </a:r>
            <a:endParaRPr sz="1800">
              <a:solidFill>
                <a:schemeClr val="dk2"/>
              </a:solidFill>
            </a:endParaRPr>
          </a:p>
        </p:txBody>
      </p:sp>
      <p:cxnSp>
        <p:nvCxnSpPr>
          <p:cNvPr id="233" name="Google Shape;233;p36"/>
          <p:cNvCxnSpPr>
            <a:stCxn id="232" idx="3"/>
            <a:endCxn id="231" idx="1"/>
          </p:cNvCxnSpPr>
          <p:nvPr/>
        </p:nvCxnSpPr>
        <p:spPr>
          <a:xfrm>
            <a:off x="2423900" y="6136725"/>
            <a:ext cx="3297000" cy="93300"/>
          </a:xfrm>
          <a:prstGeom prst="straightConnector1">
            <a:avLst/>
          </a:prstGeom>
          <a:noFill/>
          <a:ln cap="flat" cmpd="sng" w="9525">
            <a:solidFill>
              <a:srgbClr val="FF00FF"/>
            </a:solidFill>
            <a:prstDash val="solid"/>
            <a:round/>
            <a:headEnd len="med" w="med" type="none"/>
            <a:tailEnd len="med" w="med" type="triangle"/>
          </a:ln>
        </p:spPr>
      </p:cxnSp>
      <p:sp>
        <p:nvSpPr>
          <p:cNvPr id="234" name="Google Shape;234;p36"/>
          <p:cNvSpPr/>
          <p:nvPr/>
        </p:nvSpPr>
        <p:spPr>
          <a:xfrm>
            <a:off x="894425" y="1789375"/>
            <a:ext cx="1256400" cy="3531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36"/>
          <p:cNvSpPr/>
          <p:nvPr/>
        </p:nvSpPr>
        <p:spPr>
          <a:xfrm>
            <a:off x="4092600" y="4425750"/>
            <a:ext cx="1122600" cy="3531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6"/>
          <p:cNvSpPr txBox="1"/>
          <p:nvPr/>
        </p:nvSpPr>
        <p:spPr>
          <a:xfrm>
            <a:off x="7033800" y="137850"/>
            <a:ext cx="2044800" cy="1416000"/>
          </a:xfrm>
          <a:prstGeom prst="rect">
            <a:avLst/>
          </a:prstGeom>
          <a:solidFill>
            <a:schemeClr val="lt1"/>
          </a:solidFill>
          <a:ln cap="flat" cmpd="sng" w="2857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I/O is "memory-mapped", so controlled through registers in memory.</a:t>
            </a:r>
            <a:endParaRPr sz="1600">
              <a:solidFill>
                <a:schemeClr val="dk2"/>
              </a:solidFill>
            </a:endParaRPr>
          </a:p>
        </p:txBody>
      </p:sp>
      <p:cxnSp>
        <p:nvCxnSpPr>
          <p:cNvPr id="237" name="Google Shape;237;p36"/>
          <p:cNvCxnSpPr>
            <a:stCxn id="236" idx="2"/>
            <a:endCxn id="235" idx="3"/>
          </p:cNvCxnSpPr>
          <p:nvPr/>
        </p:nvCxnSpPr>
        <p:spPr>
          <a:xfrm flipH="1">
            <a:off x="5215200" y="1553850"/>
            <a:ext cx="2841000" cy="3048600"/>
          </a:xfrm>
          <a:prstGeom prst="straightConnector1">
            <a:avLst/>
          </a:prstGeom>
          <a:noFill/>
          <a:ln cap="flat" cmpd="sng" w="28575">
            <a:solidFill>
              <a:srgbClr val="38761D"/>
            </a:solidFill>
            <a:prstDash val="solid"/>
            <a:round/>
            <a:headEnd len="med" w="med" type="none"/>
            <a:tailEnd len="med" w="med" type="triangle"/>
          </a:ln>
        </p:spPr>
      </p:cxnSp>
      <p:sp>
        <p:nvSpPr>
          <p:cNvPr id="238" name="Google Shape;238;p36"/>
          <p:cNvSpPr txBox="1"/>
          <p:nvPr/>
        </p:nvSpPr>
        <p:spPr>
          <a:xfrm>
            <a:off x="646325" y="3062125"/>
            <a:ext cx="1419900" cy="2541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chemeClr val="dk2"/>
                </a:solidFill>
              </a:rPr>
              <a:t>GPIO-&gt;ODR |= LED_PIN;</a:t>
            </a:r>
            <a:endParaRPr b="1" sz="9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311700" y="1798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a microcontroller output pin work?</a:t>
            </a:r>
            <a:endParaRPr/>
          </a:p>
        </p:txBody>
      </p:sp>
      <p:sp>
        <p:nvSpPr>
          <p:cNvPr id="244" name="Google Shape;244;p37"/>
          <p:cNvSpPr/>
          <p:nvPr/>
        </p:nvSpPr>
        <p:spPr>
          <a:xfrm>
            <a:off x="1456752" y="5068975"/>
            <a:ext cx="3341100" cy="325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5" name="Google Shape;245;p37"/>
          <p:cNvCxnSpPr>
            <a:stCxn id="244" idx="3"/>
            <a:endCxn id="246" idx="3"/>
          </p:cNvCxnSpPr>
          <p:nvPr/>
        </p:nvCxnSpPr>
        <p:spPr>
          <a:xfrm flipH="1" rot="10800000">
            <a:off x="4797852" y="3799675"/>
            <a:ext cx="645600" cy="1431900"/>
          </a:xfrm>
          <a:prstGeom prst="straightConnector1">
            <a:avLst/>
          </a:prstGeom>
          <a:noFill/>
          <a:ln cap="flat" cmpd="sng" w="28575">
            <a:solidFill>
              <a:srgbClr val="FF00FF"/>
            </a:solidFill>
            <a:prstDash val="solid"/>
            <a:round/>
            <a:headEnd len="med" w="med" type="none"/>
            <a:tailEnd len="med" w="med" type="triangle"/>
          </a:ln>
        </p:spPr>
      </p:cxnSp>
      <p:pic>
        <p:nvPicPr>
          <p:cNvPr id="247" name="Google Shape;247;p37"/>
          <p:cNvPicPr preferRelativeResize="0"/>
          <p:nvPr/>
        </p:nvPicPr>
        <p:blipFill>
          <a:blip r:embed="rId3">
            <a:alphaModFix/>
          </a:blip>
          <a:stretch>
            <a:fillRect/>
          </a:stretch>
        </p:blipFill>
        <p:spPr>
          <a:xfrm>
            <a:off x="5812856" y="3977652"/>
            <a:ext cx="2915150" cy="2785473"/>
          </a:xfrm>
          <a:prstGeom prst="rect">
            <a:avLst/>
          </a:prstGeom>
          <a:noFill/>
          <a:ln cap="flat" cmpd="sng" w="28575">
            <a:solidFill>
              <a:srgbClr val="FF00FF"/>
            </a:solidFill>
            <a:prstDash val="solid"/>
            <a:round/>
            <a:headEnd len="sm" w="sm" type="none"/>
            <a:tailEnd len="sm" w="sm" type="none"/>
          </a:ln>
        </p:spPr>
      </p:pic>
      <p:cxnSp>
        <p:nvCxnSpPr>
          <p:cNvPr id="248" name="Google Shape;248;p37"/>
          <p:cNvCxnSpPr/>
          <p:nvPr/>
        </p:nvCxnSpPr>
        <p:spPr>
          <a:xfrm>
            <a:off x="5868600" y="2290525"/>
            <a:ext cx="853800" cy="2046600"/>
          </a:xfrm>
          <a:prstGeom prst="straightConnector1">
            <a:avLst/>
          </a:prstGeom>
          <a:noFill/>
          <a:ln cap="flat" cmpd="sng" w="28575">
            <a:solidFill>
              <a:srgbClr val="FF00FF"/>
            </a:solidFill>
            <a:prstDash val="solid"/>
            <a:round/>
            <a:headEnd len="med" w="med" type="none"/>
            <a:tailEnd len="med" w="med" type="triangle"/>
          </a:ln>
        </p:spPr>
      </p:cxnSp>
      <p:grpSp>
        <p:nvGrpSpPr>
          <p:cNvPr id="249" name="Google Shape;249;p37"/>
          <p:cNvGrpSpPr/>
          <p:nvPr/>
        </p:nvGrpSpPr>
        <p:grpSpPr>
          <a:xfrm>
            <a:off x="311700" y="1069952"/>
            <a:ext cx="5131881" cy="5459448"/>
            <a:chOff x="311700" y="1069952"/>
            <a:chExt cx="5131881" cy="5459448"/>
          </a:xfrm>
        </p:grpSpPr>
        <p:pic>
          <p:nvPicPr>
            <p:cNvPr id="246" name="Google Shape;246;p37"/>
            <p:cNvPicPr preferRelativeResize="0"/>
            <p:nvPr/>
          </p:nvPicPr>
          <p:blipFill>
            <a:blip r:embed="rId4">
              <a:alphaModFix/>
            </a:blip>
            <a:stretch>
              <a:fillRect/>
            </a:stretch>
          </p:blipFill>
          <p:spPr>
            <a:xfrm>
              <a:off x="311700" y="1069952"/>
              <a:ext cx="5131881" cy="5459448"/>
            </a:xfrm>
            <a:prstGeom prst="rect">
              <a:avLst/>
            </a:prstGeom>
            <a:noFill/>
            <a:ln>
              <a:noFill/>
            </a:ln>
          </p:spPr>
        </p:pic>
        <p:sp>
          <p:nvSpPr>
            <p:cNvPr id="250" name="Google Shape;250;p37"/>
            <p:cNvSpPr txBox="1"/>
            <p:nvPr/>
          </p:nvSpPr>
          <p:spPr>
            <a:xfrm>
              <a:off x="1042025" y="1088975"/>
              <a:ext cx="104700" cy="2310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2"/>
                  </a:solidFill>
                </a:rPr>
                <a:t>6</a:t>
              </a:r>
              <a:endParaRPr sz="1500">
                <a:solidFill>
                  <a:schemeClr val="dk2"/>
                </a:solidFill>
              </a:endParaRPr>
            </a:p>
          </p:txBody>
        </p:sp>
        <p:sp>
          <p:nvSpPr>
            <p:cNvPr id="251" name="Google Shape;251;p37"/>
            <p:cNvSpPr txBox="1"/>
            <p:nvPr/>
          </p:nvSpPr>
          <p:spPr>
            <a:xfrm>
              <a:off x="1042025" y="1379850"/>
              <a:ext cx="104700" cy="231000"/>
            </a:xfrm>
            <a:prstGeom prst="rect">
              <a:avLst/>
            </a:prstGeom>
            <a:solidFill>
              <a:srgbClr val="F4F5F5"/>
            </a:solidFill>
            <a:ln>
              <a:noFill/>
            </a:ln>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2"/>
                  </a:solidFill>
                </a:rPr>
                <a:t>6</a:t>
              </a:r>
              <a:endParaRPr sz="1500">
                <a:solidFill>
                  <a:schemeClr val="dk2"/>
                </a:solidFill>
              </a:endParaRPr>
            </a:p>
          </p:txBody>
        </p:sp>
      </p:grpSp>
      <p:pic>
        <p:nvPicPr>
          <p:cNvPr id="252" name="Google Shape;252;p37"/>
          <p:cNvPicPr preferRelativeResize="0"/>
          <p:nvPr/>
        </p:nvPicPr>
        <p:blipFill>
          <a:blip r:embed="rId5">
            <a:alphaModFix/>
          </a:blip>
          <a:stretch>
            <a:fillRect/>
          </a:stretch>
        </p:blipFill>
        <p:spPr>
          <a:xfrm>
            <a:off x="2789550" y="1436652"/>
            <a:ext cx="6354451" cy="2331075"/>
          </a:xfrm>
          <a:prstGeom prst="rect">
            <a:avLst/>
          </a:prstGeom>
          <a:noFill/>
          <a:ln cap="flat" cmpd="sng" w="28575">
            <a:solidFill>
              <a:srgbClr val="FF00FF"/>
            </a:solidFill>
            <a:prstDash val="solid"/>
            <a:round/>
            <a:headEnd len="sm" w="sm" type="none"/>
            <a:tailEnd len="sm" w="sm" type="none"/>
          </a:ln>
        </p:spPr>
      </p:pic>
      <p:sp>
        <p:nvSpPr>
          <p:cNvPr id="253" name="Google Shape;253;p37"/>
          <p:cNvSpPr txBox="1"/>
          <p:nvPr/>
        </p:nvSpPr>
        <p:spPr>
          <a:xfrm>
            <a:off x="2574675" y="826750"/>
            <a:ext cx="2868900" cy="461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Thayer Shares: Courses</a:t>
            </a:r>
            <a:endParaRPr sz="1800">
              <a:solidFill>
                <a:srgbClr val="00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8"/>
          <p:cNvPicPr preferRelativeResize="0"/>
          <p:nvPr/>
        </p:nvPicPr>
        <p:blipFill>
          <a:blip r:embed="rId3">
            <a:alphaModFix/>
          </a:blip>
          <a:stretch>
            <a:fillRect/>
          </a:stretch>
        </p:blipFill>
        <p:spPr>
          <a:xfrm>
            <a:off x="-1" y="1529823"/>
            <a:ext cx="9143999" cy="4739797"/>
          </a:xfrm>
          <a:prstGeom prst="rect">
            <a:avLst/>
          </a:prstGeom>
          <a:noFill/>
          <a:ln>
            <a:noFill/>
          </a:ln>
        </p:spPr>
      </p:pic>
      <p:sp>
        <p:nvSpPr>
          <p:cNvPr id="259" name="Google Shape;259;p38"/>
          <p:cNvSpPr txBox="1"/>
          <p:nvPr>
            <p:ph type="title"/>
          </p:nvPr>
        </p:nvSpPr>
        <p:spPr>
          <a:xfrm>
            <a:off x="311700" y="1798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a microcontroller output pin work?</a:t>
            </a:r>
            <a:endParaRPr/>
          </a:p>
        </p:txBody>
      </p:sp>
      <p:sp>
        <p:nvSpPr>
          <p:cNvPr id="260" name="Google Shape;260;p38"/>
          <p:cNvSpPr/>
          <p:nvPr/>
        </p:nvSpPr>
        <p:spPr>
          <a:xfrm>
            <a:off x="2059475" y="4019000"/>
            <a:ext cx="272400" cy="1494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8"/>
          <p:cNvSpPr txBox="1"/>
          <p:nvPr/>
        </p:nvSpPr>
        <p:spPr>
          <a:xfrm>
            <a:off x="1451800" y="5614675"/>
            <a:ext cx="1672800" cy="4689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GPIOA-&gt;ODR</a:t>
            </a:r>
            <a:endParaRPr i="1" sz="1800">
              <a:solidFill>
                <a:srgbClr val="FF0000"/>
              </a:solidFill>
            </a:endParaRPr>
          </a:p>
        </p:txBody>
      </p:sp>
      <p:sp>
        <p:nvSpPr>
          <p:cNvPr id="262" name="Google Shape;262;p38"/>
          <p:cNvSpPr/>
          <p:nvPr/>
        </p:nvSpPr>
        <p:spPr>
          <a:xfrm>
            <a:off x="7823725" y="4414325"/>
            <a:ext cx="180900" cy="20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38"/>
          <p:cNvCxnSpPr/>
          <p:nvPr/>
        </p:nvCxnSpPr>
        <p:spPr>
          <a:xfrm>
            <a:off x="2699500" y="5174225"/>
            <a:ext cx="1116300" cy="1500"/>
          </a:xfrm>
          <a:prstGeom prst="straightConnector1">
            <a:avLst/>
          </a:prstGeom>
          <a:noFill/>
          <a:ln cap="flat" cmpd="sng" w="38100">
            <a:solidFill>
              <a:srgbClr val="0000FF"/>
            </a:solidFill>
            <a:prstDash val="solid"/>
            <a:round/>
            <a:headEnd len="med" w="med" type="none"/>
            <a:tailEnd len="med" w="med" type="stealth"/>
          </a:ln>
        </p:spPr>
      </p:cxnSp>
      <p:sp>
        <p:nvSpPr>
          <p:cNvPr id="264" name="Google Shape;264;p38"/>
          <p:cNvSpPr txBox="1"/>
          <p:nvPr/>
        </p:nvSpPr>
        <p:spPr>
          <a:xfrm>
            <a:off x="7823725" y="3865750"/>
            <a:ext cx="9822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800">
                <a:solidFill>
                  <a:srgbClr val="FF0000"/>
                </a:solidFill>
              </a:rPr>
              <a:t>To LED</a:t>
            </a:r>
            <a:endParaRPr b="1" i="1" sz="1800">
              <a:solidFill>
                <a:srgbClr val="FF0000"/>
              </a:solidFill>
            </a:endParaRPr>
          </a:p>
        </p:txBody>
      </p:sp>
      <p:cxnSp>
        <p:nvCxnSpPr>
          <p:cNvPr id="265" name="Google Shape;265;p38"/>
          <p:cNvCxnSpPr/>
          <p:nvPr/>
        </p:nvCxnSpPr>
        <p:spPr>
          <a:xfrm rot="10800000">
            <a:off x="5281900" y="5172125"/>
            <a:ext cx="1331100" cy="5700"/>
          </a:xfrm>
          <a:prstGeom prst="straightConnector1">
            <a:avLst/>
          </a:prstGeom>
          <a:noFill/>
          <a:ln cap="flat" cmpd="sng" w="38100">
            <a:solidFill>
              <a:srgbClr val="0000FF"/>
            </a:solidFill>
            <a:prstDash val="solid"/>
            <a:round/>
            <a:headEnd len="med" w="med" type="none"/>
            <a:tailEnd len="med" w="med" type="none"/>
          </a:ln>
        </p:spPr>
      </p:cxnSp>
      <p:cxnSp>
        <p:nvCxnSpPr>
          <p:cNvPr id="266" name="Google Shape;266;p38"/>
          <p:cNvCxnSpPr/>
          <p:nvPr/>
        </p:nvCxnSpPr>
        <p:spPr>
          <a:xfrm rot="10800000">
            <a:off x="987875" y="5370300"/>
            <a:ext cx="1071600" cy="12000"/>
          </a:xfrm>
          <a:prstGeom prst="straightConnector1">
            <a:avLst/>
          </a:prstGeom>
          <a:noFill/>
          <a:ln cap="flat" cmpd="sng" w="38100">
            <a:solidFill>
              <a:srgbClr val="0000FF"/>
            </a:solidFill>
            <a:prstDash val="solid"/>
            <a:round/>
            <a:headEnd len="med" w="med" type="stealth"/>
            <a:tailEnd len="med" w="med" type="none"/>
          </a:ln>
        </p:spPr>
      </p:cxnSp>
      <p:cxnSp>
        <p:nvCxnSpPr>
          <p:cNvPr id="267" name="Google Shape;267;p38"/>
          <p:cNvCxnSpPr/>
          <p:nvPr/>
        </p:nvCxnSpPr>
        <p:spPr>
          <a:xfrm rot="10800000">
            <a:off x="2331900" y="4725975"/>
            <a:ext cx="387900" cy="2100"/>
          </a:xfrm>
          <a:prstGeom prst="straightConnector1">
            <a:avLst/>
          </a:prstGeom>
          <a:noFill/>
          <a:ln cap="flat" cmpd="sng" w="38100">
            <a:solidFill>
              <a:srgbClr val="0000FF"/>
            </a:solidFill>
            <a:prstDash val="solid"/>
            <a:round/>
            <a:headEnd len="med" w="med" type="none"/>
            <a:tailEnd len="med" w="med" type="none"/>
          </a:ln>
        </p:spPr>
      </p:cxnSp>
      <p:sp>
        <p:nvSpPr>
          <p:cNvPr id="268" name="Google Shape;268;p38"/>
          <p:cNvSpPr txBox="1"/>
          <p:nvPr/>
        </p:nvSpPr>
        <p:spPr>
          <a:xfrm>
            <a:off x="138100" y="901625"/>
            <a:ext cx="2986500" cy="628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Using Port A, for example.</a:t>
            </a:r>
            <a:endParaRPr sz="1800">
              <a:solidFill>
                <a:srgbClr val="FF0000"/>
              </a:solidFill>
            </a:endParaRPr>
          </a:p>
        </p:txBody>
      </p:sp>
      <p:cxnSp>
        <p:nvCxnSpPr>
          <p:cNvPr id="269" name="Google Shape;269;p38"/>
          <p:cNvCxnSpPr/>
          <p:nvPr/>
        </p:nvCxnSpPr>
        <p:spPr>
          <a:xfrm flipH="1">
            <a:off x="2699500" y="4747100"/>
            <a:ext cx="3000" cy="433800"/>
          </a:xfrm>
          <a:prstGeom prst="straightConnector1">
            <a:avLst/>
          </a:prstGeom>
          <a:noFill/>
          <a:ln cap="flat" cmpd="sng" w="38100">
            <a:solidFill>
              <a:srgbClr val="0000FF"/>
            </a:solidFill>
            <a:prstDash val="solid"/>
            <a:round/>
            <a:headEnd len="med" w="med" type="none"/>
            <a:tailEnd len="med" w="med" type="none"/>
          </a:ln>
        </p:spPr>
      </p:cxnSp>
      <p:cxnSp>
        <p:nvCxnSpPr>
          <p:cNvPr id="270" name="Google Shape;270;p38"/>
          <p:cNvCxnSpPr/>
          <p:nvPr/>
        </p:nvCxnSpPr>
        <p:spPr>
          <a:xfrm>
            <a:off x="6613000" y="4512125"/>
            <a:ext cx="5700" cy="660000"/>
          </a:xfrm>
          <a:prstGeom prst="straightConnector1">
            <a:avLst/>
          </a:prstGeom>
          <a:noFill/>
          <a:ln cap="flat" cmpd="sng" w="38100">
            <a:solidFill>
              <a:srgbClr val="0000FF"/>
            </a:solidFill>
            <a:prstDash val="solid"/>
            <a:round/>
            <a:headEnd len="med" w="med" type="none"/>
            <a:tailEnd len="med" w="med" type="none"/>
          </a:ln>
        </p:spPr>
      </p:cxnSp>
      <p:cxnSp>
        <p:nvCxnSpPr>
          <p:cNvPr id="271" name="Google Shape;271;p38"/>
          <p:cNvCxnSpPr/>
          <p:nvPr/>
        </p:nvCxnSpPr>
        <p:spPr>
          <a:xfrm flipH="1">
            <a:off x="6641725" y="4512125"/>
            <a:ext cx="1182000" cy="9000"/>
          </a:xfrm>
          <a:prstGeom prst="straightConnector1">
            <a:avLst/>
          </a:prstGeom>
          <a:noFill/>
          <a:ln cap="flat" cmpd="sng" w="38100">
            <a:solidFill>
              <a:srgbClr val="0000FF"/>
            </a:solidFill>
            <a:prstDash val="solid"/>
            <a:round/>
            <a:headEnd len="med" w="med" type="stealth"/>
            <a:tailEnd len="med" w="med" type="none"/>
          </a:ln>
        </p:spPr>
      </p:cxnSp>
      <p:sp>
        <p:nvSpPr>
          <p:cNvPr id="272" name="Google Shape;272;p38"/>
          <p:cNvSpPr/>
          <p:nvPr/>
        </p:nvSpPr>
        <p:spPr>
          <a:xfrm>
            <a:off x="5531750" y="5561375"/>
            <a:ext cx="740400" cy="2742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8"/>
          <p:cNvSpPr txBox="1"/>
          <p:nvPr/>
        </p:nvSpPr>
        <p:spPr>
          <a:xfrm>
            <a:off x="3506225" y="5980175"/>
            <a:ext cx="5396700" cy="628200"/>
          </a:xfrm>
          <a:prstGeom prst="rect">
            <a:avLst/>
          </a:prstGeom>
          <a:solidFill>
            <a:schemeClr val="lt1"/>
          </a:solidFill>
          <a:ln cap="flat" cmpd="sng" w="2857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38761D"/>
                </a:solidFill>
              </a:rPr>
              <a:t>"In push pull mode, a 0 in the ODR register will drive the output low, while a 1 will drive it high."</a:t>
            </a:r>
            <a:endParaRPr i="1" sz="2000">
              <a:solidFill>
                <a:srgbClr val="38761D"/>
              </a:solidFill>
            </a:endParaRPr>
          </a:p>
        </p:txBody>
      </p:sp>
      <p:sp>
        <p:nvSpPr>
          <p:cNvPr id="274" name="Google Shape;274;p38"/>
          <p:cNvSpPr txBox="1"/>
          <p:nvPr/>
        </p:nvSpPr>
        <p:spPr>
          <a:xfrm>
            <a:off x="6765300" y="943325"/>
            <a:ext cx="2137500" cy="14949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GPIOA-&gt;MODER </a:t>
            </a:r>
            <a:r>
              <a:rPr lang="en" sz="1800">
                <a:solidFill>
                  <a:srgbClr val="FF0000"/>
                </a:solidFill>
              </a:rPr>
              <a:t>determines input versus output mode, amongst others.</a:t>
            </a:r>
            <a:endParaRPr sz="1800">
              <a:solidFill>
                <a:srgbClr val="FF0000"/>
              </a:solidFill>
            </a:endParaRPr>
          </a:p>
        </p:txBody>
      </p:sp>
      <p:sp>
        <p:nvSpPr>
          <p:cNvPr id="275" name="Google Shape;275;p38"/>
          <p:cNvSpPr/>
          <p:nvPr/>
        </p:nvSpPr>
        <p:spPr>
          <a:xfrm>
            <a:off x="4997413" y="4514375"/>
            <a:ext cx="410700" cy="13212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9"/>
          <p:cNvSpPr txBox="1"/>
          <p:nvPr>
            <p:ph type="title"/>
          </p:nvPr>
        </p:nvSpPr>
        <p:spPr>
          <a:xfrm>
            <a:off x="311700" y="-2"/>
            <a:ext cx="8520600" cy="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Where is the Output Data Register for GPIOA in Memory?</a:t>
            </a:r>
            <a:endParaRPr sz="2500"/>
          </a:p>
        </p:txBody>
      </p:sp>
      <p:sp>
        <p:nvSpPr>
          <p:cNvPr id="281" name="Google Shape;281;p39"/>
          <p:cNvSpPr txBox="1"/>
          <p:nvPr/>
        </p:nvSpPr>
        <p:spPr>
          <a:xfrm>
            <a:off x="98650" y="6311975"/>
            <a:ext cx="82962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GPIOA-&gt;ODR address: </a:t>
            </a:r>
            <a:r>
              <a:rPr lang="en" sz="1800">
                <a:solidFill>
                  <a:srgbClr val="FF0000"/>
                </a:solidFill>
              </a:rPr>
              <a:t>0x5000 0000 + 0x14 = 0x5000 0014</a:t>
            </a:r>
            <a:r>
              <a:rPr i="1" lang="en" sz="1800">
                <a:solidFill>
                  <a:srgbClr val="FF0000"/>
                </a:solidFill>
              </a:rPr>
              <a:t> </a:t>
            </a:r>
            <a:endParaRPr i="1" sz="1800">
              <a:solidFill>
                <a:srgbClr val="FF0000"/>
              </a:solidFill>
            </a:endParaRPr>
          </a:p>
        </p:txBody>
      </p:sp>
      <p:pic>
        <p:nvPicPr>
          <p:cNvPr id="282" name="Google Shape;282;p39"/>
          <p:cNvPicPr preferRelativeResize="0"/>
          <p:nvPr/>
        </p:nvPicPr>
        <p:blipFill rotWithShape="1">
          <a:blip r:embed="rId3">
            <a:alphaModFix/>
          </a:blip>
          <a:srcRect b="2822" l="9557" r="9379" t="10350"/>
          <a:stretch/>
        </p:blipFill>
        <p:spPr>
          <a:xfrm>
            <a:off x="10725" y="1027750"/>
            <a:ext cx="4951849" cy="5284226"/>
          </a:xfrm>
          <a:prstGeom prst="rect">
            <a:avLst/>
          </a:prstGeom>
          <a:noFill/>
          <a:ln>
            <a:noFill/>
          </a:ln>
        </p:spPr>
      </p:pic>
      <p:sp>
        <p:nvSpPr>
          <p:cNvPr id="283" name="Google Shape;283;p39"/>
          <p:cNvSpPr/>
          <p:nvPr/>
        </p:nvSpPr>
        <p:spPr>
          <a:xfrm>
            <a:off x="769650" y="4186800"/>
            <a:ext cx="1147200" cy="310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9"/>
          <p:cNvSpPr/>
          <p:nvPr/>
        </p:nvSpPr>
        <p:spPr>
          <a:xfrm>
            <a:off x="2405450" y="1826550"/>
            <a:ext cx="1579200" cy="2007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5" name="Google Shape;285;p39"/>
          <p:cNvPicPr preferRelativeResize="0"/>
          <p:nvPr/>
        </p:nvPicPr>
        <p:blipFill rotWithShape="1">
          <a:blip r:embed="rId4">
            <a:alphaModFix/>
          </a:blip>
          <a:srcRect b="0" l="12930" r="0" t="0"/>
          <a:stretch/>
        </p:blipFill>
        <p:spPr>
          <a:xfrm>
            <a:off x="5124000" y="687250"/>
            <a:ext cx="3917151" cy="2304700"/>
          </a:xfrm>
          <a:prstGeom prst="rect">
            <a:avLst/>
          </a:prstGeom>
          <a:noFill/>
          <a:ln>
            <a:noFill/>
          </a:ln>
        </p:spPr>
      </p:pic>
      <p:cxnSp>
        <p:nvCxnSpPr>
          <p:cNvPr id="286" name="Google Shape;286;p39"/>
          <p:cNvCxnSpPr/>
          <p:nvPr/>
        </p:nvCxnSpPr>
        <p:spPr>
          <a:xfrm flipH="1" rot="10800000">
            <a:off x="3995850" y="708175"/>
            <a:ext cx="1139100" cy="10953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39"/>
          <p:cNvCxnSpPr/>
          <p:nvPr/>
        </p:nvCxnSpPr>
        <p:spPr>
          <a:xfrm>
            <a:off x="3995850" y="2047400"/>
            <a:ext cx="1150500" cy="9195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39"/>
          <p:cNvSpPr/>
          <p:nvPr/>
        </p:nvSpPr>
        <p:spPr>
          <a:xfrm>
            <a:off x="7461950" y="2712500"/>
            <a:ext cx="1579200" cy="2544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89" name="Google Shape;289;p39"/>
          <p:cNvGraphicFramePr/>
          <p:nvPr/>
        </p:nvGraphicFramePr>
        <p:xfrm>
          <a:off x="6230100" y="3367500"/>
          <a:ext cx="3000000" cy="3000000"/>
        </p:xfrm>
        <a:graphic>
          <a:graphicData uri="http://schemas.openxmlformats.org/drawingml/2006/table">
            <a:tbl>
              <a:tblPr>
                <a:noFill/>
                <a:tableStyleId>{E0AA7EF3-D24E-4D8B-A93F-51990384F66D}</a:tableStyleId>
              </a:tblPr>
              <a:tblGrid>
                <a:gridCol w="878350"/>
                <a:gridCol w="1864050"/>
              </a:tblGrid>
              <a:tr h="192050">
                <a:tc>
                  <a:txBody>
                    <a:bodyPr/>
                    <a:lstStyle/>
                    <a:p>
                      <a:pPr indent="0" lvl="0" marL="0" rtl="0" algn="l">
                        <a:spcBef>
                          <a:spcPts val="0"/>
                        </a:spcBef>
                        <a:spcAft>
                          <a:spcPts val="0"/>
                        </a:spcAft>
                        <a:buNone/>
                      </a:pPr>
                      <a:r>
                        <a:rPr lang="en" sz="1600"/>
                        <a:t>Offset </a:t>
                      </a:r>
                      <a:endParaRPr sz="1600"/>
                    </a:p>
                  </a:txBody>
                  <a:tcPr marT="0" marB="0" marR="0" marL="91425"/>
                </a:tc>
                <a:tc>
                  <a:txBody>
                    <a:bodyPr/>
                    <a:lstStyle/>
                    <a:p>
                      <a:pPr indent="0" lvl="0" marL="0" rtl="0" algn="l">
                        <a:spcBef>
                          <a:spcPts val="0"/>
                        </a:spcBef>
                        <a:spcAft>
                          <a:spcPts val="0"/>
                        </a:spcAft>
                        <a:buNone/>
                      </a:pPr>
                      <a:r>
                        <a:rPr lang="en" sz="1600"/>
                        <a:t>Register name</a:t>
                      </a:r>
                      <a:endParaRPr sz="1600"/>
                    </a:p>
                  </a:txBody>
                  <a:tcPr marT="0" marB="0" marR="0" marL="91425"/>
                </a:tc>
              </a:tr>
              <a:tr h="192050">
                <a:tc>
                  <a:txBody>
                    <a:bodyPr/>
                    <a:lstStyle/>
                    <a:p>
                      <a:pPr indent="0" lvl="0" marL="0" rtl="0" algn="l">
                        <a:spcBef>
                          <a:spcPts val="0"/>
                        </a:spcBef>
                        <a:spcAft>
                          <a:spcPts val="0"/>
                        </a:spcAft>
                        <a:buNone/>
                      </a:pPr>
                      <a:r>
                        <a:rPr lang="en" sz="1600"/>
                        <a:t>0x00</a:t>
                      </a:r>
                      <a:endParaRPr sz="1600"/>
                    </a:p>
                  </a:txBody>
                  <a:tcPr marT="0" marB="0" marR="0" marL="91425"/>
                </a:tc>
                <a:tc>
                  <a:txBody>
                    <a:bodyPr/>
                    <a:lstStyle/>
                    <a:p>
                      <a:pPr indent="0" lvl="0" marL="0" rtl="0" algn="l">
                        <a:spcBef>
                          <a:spcPts val="0"/>
                        </a:spcBef>
                        <a:spcAft>
                          <a:spcPts val="0"/>
                        </a:spcAft>
                        <a:buNone/>
                      </a:pPr>
                      <a:r>
                        <a:rPr lang="en" sz="1600"/>
                        <a:t>GPIOx_MODER</a:t>
                      </a:r>
                      <a:endParaRPr sz="1600"/>
                    </a:p>
                  </a:txBody>
                  <a:tcPr marT="0" marB="0" marR="0" marL="91425"/>
                </a:tc>
              </a:tr>
              <a:tr h="192050">
                <a:tc>
                  <a:txBody>
                    <a:bodyPr/>
                    <a:lstStyle/>
                    <a:p>
                      <a:pPr indent="0" lvl="0" marL="0" rtl="0" algn="l">
                        <a:spcBef>
                          <a:spcPts val="0"/>
                        </a:spcBef>
                        <a:spcAft>
                          <a:spcPts val="0"/>
                        </a:spcAft>
                        <a:buNone/>
                      </a:pPr>
                      <a:r>
                        <a:rPr lang="en" sz="1600"/>
                        <a:t>0x04</a:t>
                      </a:r>
                      <a:endParaRPr sz="1600"/>
                    </a:p>
                  </a:txBody>
                  <a:tcPr marT="0" marB="0" marR="0" marL="91425"/>
                </a:tc>
                <a:tc>
                  <a:txBody>
                    <a:bodyPr/>
                    <a:lstStyle/>
                    <a:p>
                      <a:pPr indent="0" lvl="0" marL="0" rtl="0" algn="l">
                        <a:spcBef>
                          <a:spcPts val="0"/>
                        </a:spcBef>
                        <a:spcAft>
                          <a:spcPts val="0"/>
                        </a:spcAft>
                        <a:buNone/>
                      </a:pPr>
                      <a:r>
                        <a:rPr lang="en" sz="1600"/>
                        <a:t>GPIOx_OTYPER</a:t>
                      </a:r>
                      <a:endParaRPr sz="1600"/>
                    </a:p>
                  </a:txBody>
                  <a:tcPr marT="0" marB="0" marR="0" marL="91425"/>
                </a:tc>
              </a:tr>
              <a:tr h="192050">
                <a:tc>
                  <a:txBody>
                    <a:bodyPr/>
                    <a:lstStyle/>
                    <a:p>
                      <a:pPr indent="0" lvl="0" marL="0" rtl="0" algn="l">
                        <a:spcBef>
                          <a:spcPts val="0"/>
                        </a:spcBef>
                        <a:spcAft>
                          <a:spcPts val="0"/>
                        </a:spcAft>
                        <a:buNone/>
                      </a:pPr>
                      <a:r>
                        <a:rPr lang="en" sz="1600"/>
                        <a:t>0x08</a:t>
                      </a:r>
                      <a:endParaRPr sz="1600"/>
                    </a:p>
                  </a:txBody>
                  <a:tcPr marT="0" marB="0" marR="0" marL="91425"/>
                </a:tc>
                <a:tc>
                  <a:txBody>
                    <a:bodyPr/>
                    <a:lstStyle/>
                    <a:p>
                      <a:pPr indent="0" lvl="0" marL="0" rtl="0" algn="l">
                        <a:spcBef>
                          <a:spcPts val="0"/>
                        </a:spcBef>
                        <a:spcAft>
                          <a:spcPts val="0"/>
                        </a:spcAft>
                        <a:buNone/>
                      </a:pPr>
                      <a:r>
                        <a:rPr lang="en" sz="1600"/>
                        <a:t>GPIOx_OSPEEDR</a:t>
                      </a:r>
                      <a:endParaRPr sz="1600"/>
                    </a:p>
                  </a:txBody>
                  <a:tcPr marT="0" marB="0" marR="0" marL="91425"/>
                </a:tc>
              </a:tr>
              <a:tr h="192050">
                <a:tc>
                  <a:txBody>
                    <a:bodyPr/>
                    <a:lstStyle/>
                    <a:p>
                      <a:pPr indent="0" lvl="0" marL="0" rtl="0" algn="l">
                        <a:spcBef>
                          <a:spcPts val="0"/>
                        </a:spcBef>
                        <a:spcAft>
                          <a:spcPts val="0"/>
                        </a:spcAft>
                        <a:buNone/>
                      </a:pPr>
                      <a:r>
                        <a:rPr lang="en" sz="1600"/>
                        <a:t>0x0C</a:t>
                      </a:r>
                      <a:endParaRPr sz="1600"/>
                    </a:p>
                  </a:txBody>
                  <a:tcPr marT="0" marB="0" marR="0" marL="91425"/>
                </a:tc>
                <a:tc>
                  <a:txBody>
                    <a:bodyPr/>
                    <a:lstStyle/>
                    <a:p>
                      <a:pPr indent="0" lvl="0" marL="0" rtl="0" algn="l">
                        <a:spcBef>
                          <a:spcPts val="0"/>
                        </a:spcBef>
                        <a:spcAft>
                          <a:spcPts val="0"/>
                        </a:spcAft>
                        <a:buNone/>
                      </a:pPr>
                      <a:r>
                        <a:rPr lang="en" sz="1600"/>
                        <a:t>GPIOx_PUPDR</a:t>
                      </a:r>
                      <a:endParaRPr sz="1600"/>
                    </a:p>
                  </a:txBody>
                  <a:tcPr marT="0" marB="0" marR="0" marL="91425"/>
                </a:tc>
              </a:tr>
              <a:tr h="192050">
                <a:tc>
                  <a:txBody>
                    <a:bodyPr/>
                    <a:lstStyle/>
                    <a:p>
                      <a:pPr indent="0" lvl="0" marL="0" rtl="0" algn="l">
                        <a:spcBef>
                          <a:spcPts val="0"/>
                        </a:spcBef>
                        <a:spcAft>
                          <a:spcPts val="0"/>
                        </a:spcAft>
                        <a:buNone/>
                      </a:pPr>
                      <a:r>
                        <a:rPr lang="en" sz="1600"/>
                        <a:t>0x10</a:t>
                      </a:r>
                      <a:endParaRPr sz="1600"/>
                    </a:p>
                  </a:txBody>
                  <a:tcPr marT="0" marB="0" marR="0" marL="91425"/>
                </a:tc>
                <a:tc>
                  <a:txBody>
                    <a:bodyPr/>
                    <a:lstStyle/>
                    <a:p>
                      <a:pPr indent="0" lvl="0" marL="0" rtl="0" algn="l">
                        <a:spcBef>
                          <a:spcPts val="0"/>
                        </a:spcBef>
                        <a:spcAft>
                          <a:spcPts val="0"/>
                        </a:spcAft>
                        <a:buNone/>
                      </a:pPr>
                      <a:r>
                        <a:rPr lang="en" sz="1600"/>
                        <a:t>GPIOx_IDR</a:t>
                      </a:r>
                      <a:endParaRPr sz="1600"/>
                    </a:p>
                  </a:txBody>
                  <a:tcPr marT="0" marB="0" marR="0" marL="91425"/>
                </a:tc>
              </a:tr>
              <a:tr h="192050">
                <a:tc>
                  <a:txBody>
                    <a:bodyPr/>
                    <a:lstStyle/>
                    <a:p>
                      <a:pPr indent="0" lvl="0" marL="0" rtl="0" algn="l">
                        <a:spcBef>
                          <a:spcPts val="0"/>
                        </a:spcBef>
                        <a:spcAft>
                          <a:spcPts val="0"/>
                        </a:spcAft>
                        <a:buNone/>
                      </a:pPr>
                      <a:r>
                        <a:rPr lang="en" sz="1600"/>
                        <a:t>0x14</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GPIOx_ODR</a:t>
                      </a:r>
                      <a:endParaRPr sz="1600"/>
                    </a:p>
                  </a:txBody>
                  <a:tcPr marT="0" marB="0" marR="0" marL="91425"/>
                </a:tc>
              </a:tr>
              <a:tr h="192050">
                <a:tc>
                  <a:txBody>
                    <a:bodyPr/>
                    <a:lstStyle/>
                    <a:p>
                      <a:pPr indent="0" lvl="0" marL="0" rtl="0" algn="l">
                        <a:spcBef>
                          <a:spcPts val="0"/>
                        </a:spcBef>
                        <a:spcAft>
                          <a:spcPts val="0"/>
                        </a:spcAft>
                        <a:buNone/>
                      </a:pPr>
                      <a:r>
                        <a:rPr lang="en" sz="1600"/>
                        <a:t>0x18</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GPIOx_BSRR</a:t>
                      </a:r>
                      <a:endParaRPr sz="1600"/>
                    </a:p>
                  </a:txBody>
                  <a:tcPr marT="0" marB="0" marR="0" marL="91425"/>
                </a:tc>
              </a:tr>
              <a:tr h="192050">
                <a:tc>
                  <a:txBody>
                    <a:bodyPr/>
                    <a:lstStyle/>
                    <a:p>
                      <a:pPr indent="0" lvl="0" marL="0" rtl="0" algn="l">
                        <a:spcBef>
                          <a:spcPts val="0"/>
                        </a:spcBef>
                        <a:spcAft>
                          <a:spcPts val="0"/>
                        </a:spcAft>
                        <a:buNone/>
                      </a:pPr>
                      <a:r>
                        <a:rPr lang="en" sz="1600"/>
                        <a:t>0x1C</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GPIOx_LCKR</a:t>
                      </a:r>
                      <a:endParaRPr sz="1600"/>
                    </a:p>
                  </a:txBody>
                  <a:tcPr marT="0" marB="0" marR="0" marL="91425"/>
                </a:tc>
              </a:tr>
              <a:tr h="192050">
                <a:tc>
                  <a:txBody>
                    <a:bodyPr/>
                    <a:lstStyle/>
                    <a:p>
                      <a:pPr indent="0" lvl="0" marL="0" rtl="0" algn="l">
                        <a:spcBef>
                          <a:spcPts val="0"/>
                        </a:spcBef>
                        <a:spcAft>
                          <a:spcPts val="0"/>
                        </a:spcAft>
                        <a:buNone/>
                      </a:pPr>
                      <a:r>
                        <a:rPr lang="en" sz="1600"/>
                        <a:t>0x20</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GPIOx_AFRL</a:t>
                      </a:r>
                      <a:endParaRPr sz="1600"/>
                    </a:p>
                  </a:txBody>
                  <a:tcPr marT="0" marB="0" marR="0" marL="91425"/>
                </a:tc>
              </a:tr>
              <a:tr h="192050">
                <a:tc>
                  <a:txBody>
                    <a:bodyPr/>
                    <a:lstStyle/>
                    <a:p>
                      <a:pPr indent="0" lvl="0" marL="0" rtl="0" algn="l">
                        <a:spcBef>
                          <a:spcPts val="0"/>
                        </a:spcBef>
                        <a:spcAft>
                          <a:spcPts val="0"/>
                        </a:spcAft>
                        <a:buNone/>
                      </a:pPr>
                      <a:r>
                        <a:rPr lang="en" sz="1600"/>
                        <a:t>0x24</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GPIOx_AFRH</a:t>
                      </a:r>
                      <a:endParaRPr sz="1600"/>
                    </a:p>
                  </a:txBody>
                  <a:tcPr marT="0" marB="0" marR="0" marL="91425"/>
                </a:tc>
              </a:tr>
              <a:tr h="192050">
                <a:tc>
                  <a:txBody>
                    <a:bodyPr/>
                    <a:lstStyle/>
                    <a:p>
                      <a:pPr indent="0" lvl="0" marL="0" rtl="0" algn="l">
                        <a:spcBef>
                          <a:spcPts val="0"/>
                        </a:spcBef>
                        <a:spcAft>
                          <a:spcPts val="0"/>
                        </a:spcAft>
                        <a:buNone/>
                      </a:pPr>
                      <a:r>
                        <a:rPr lang="en" sz="1600"/>
                        <a:t>0x28</a:t>
                      </a:r>
                      <a:endParaRPr sz="1600"/>
                    </a:p>
                  </a:txBody>
                  <a:tcPr marT="0" marB="0" marR="0" marL="91425"/>
                </a:tc>
                <a:tc>
                  <a:txBody>
                    <a:bodyPr/>
                    <a:lstStyle/>
                    <a:p>
                      <a:pPr indent="0" lvl="0" marL="0" rtl="0" algn="l">
                        <a:spcBef>
                          <a:spcPts val="0"/>
                        </a:spcBef>
                        <a:spcAft>
                          <a:spcPts val="0"/>
                        </a:spcAft>
                        <a:buClr>
                          <a:schemeClr val="dk1"/>
                        </a:buClr>
                        <a:buSzPts val="1100"/>
                        <a:buFont typeface="Arial"/>
                        <a:buNone/>
                      </a:pPr>
                      <a:r>
                        <a:rPr lang="en" sz="1600">
                          <a:solidFill>
                            <a:schemeClr val="dk1"/>
                          </a:solidFill>
                        </a:rPr>
                        <a:t>GPIOx_BRR</a:t>
                      </a:r>
                      <a:endParaRPr sz="1600"/>
                    </a:p>
                  </a:txBody>
                  <a:tcPr marT="0" marB="0" marR="0" marL="91425"/>
                </a:tc>
              </a:tr>
            </a:tbl>
          </a:graphicData>
        </a:graphic>
      </p:graphicFrame>
      <p:sp>
        <p:nvSpPr>
          <p:cNvPr id="290" name="Google Shape;290;p39"/>
          <p:cNvSpPr/>
          <p:nvPr/>
        </p:nvSpPr>
        <p:spPr>
          <a:xfrm>
            <a:off x="7108450" y="4830450"/>
            <a:ext cx="1864200" cy="2544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1" name="Google Shape;291;p39"/>
          <p:cNvCxnSpPr/>
          <p:nvPr/>
        </p:nvCxnSpPr>
        <p:spPr>
          <a:xfrm flipH="1">
            <a:off x="6264075" y="2967850"/>
            <a:ext cx="1199100" cy="3972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39"/>
          <p:cNvCxnSpPr/>
          <p:nvPr/>
        </p:nvCxnSpPr>
        <p:spPr>
          <a:xfrm flipH="1">
            <a:off x="8977250" y="2979475"/>
            <a:ext cx="65700" cy="397200"/>
          </a:xfrm>
          <a:prstGeom prst="straightConnector1">
            <a:avLst/>
          </a:prstGeom>
          <a:noFill/>
          <a:ln cap="flat" cmpd="sng" w="9525">
            <a:solidFill>
              <a:schemeClr val="dk2"/>
            </a:solidFill>
            <a:prstDash val="solid"/>
            <a:round/>
            <a:headEnd len="med" w="med" type="none"/>
            <a:tailEnd len="med" w="med" type="none"/>
          </a:ln>
        </p:spPr>
      </p:cxnSp>
      <p:sp>
        <p:nvSpPr>
          <p:cNvPr id="293" name="Google Shape;293;p39"/>
          <p:cNvSpPr txBox="1"/>
          <p:nvPr/>
        </p:nvSpPr>
        <p:spPr>
          <a:xfrm>
            <a:off x="2011550" y="2087275"/>
            <a:ext cx="3917100" cy="42066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0000FF"/>
                </a:solidFill>
              </a:rPr>
              <a:t>When your program writes data to memory location 0x5000 0014:</a:t>
            </a:r>
            <a:endParaRPr b="1" sz="1800">
              <a:solidFill>
                <a:srgbClr val="0000FF"/>
              </a:solidFill>
            </a:endParaRPr>
          </a:p>
          <a:p>
            <a:pPr indent="0" lvl="0" marL="0" rtl="0" algn="l">
              <a:spcBef>
                <a:spcPts val="0"/>
              </a:spcBef>
              <a:spcAft>
                <a:spcPts val="0"/>
              </a:spcAft>
              <a:buNone/>
            </a:pPr>
            <a:r>
              <a:t/>
            </a:r>
            <a:endParaRPr b="1" sz="1800">
              <a:solidFill>
                <a:srgbClr val="0000FF"/>
              </a:solidFill>
            </a:endParaRPr>
          </a:p>
          <a:p>
            <a:pPr indent="-342900" lvl="0" marL="457200" rtl="0" algn="l">
              <a:spcBef>
                <a:spcPts val="0"/>
              </a:spcBef>
              <a:spcAft>
                <a:spcPts val="0"/>
              </a:spcAft>
              <a:buClr>
                <a:schemeClr val="dk2"/>
              </a:buClr>
              <a:buSzPts val="1800"/>
              <a:buChar char="●"/>
            </a:pPr>
            <a:r>
              <a:rPr lang="en" sz="1800">
                <a:solidFill>
                  <a:schemeClr val="dk2"/>
                </a:solidFill>
              </a:rPr>
              <a:t>Processor puts </a:t>
            </a:r>
            <a:r>
              <a:rPr b="1" lang="en" sz="1800">
                <a:solidFill>
                  <a:schemeClr val="dk2"/>
                </a:solidFill>
              </a:rPr>
              <a:t>data</a:t>
            </a:r>
            <a:r>
              <a:rPr lang="en" sz="1800">
                <a:solidFill>
                  <a:schemeClr val="dk2"/>
                </a:solidFill>
              </a:rPr>
              <a:t> on the data bus, </a:t>
            </a:r>
            <a:r>
              <a:rPr b="1" lang="en" sz="1800">
                <a:solidFill>
                  <a:schemeClr val="dk2"/>
                </a:solidFill>
              </a:rPr>
              <a:t>address</a:t>
            </a:r>
            <a:r>
              <a:rPr lang="en" sz="1800">
                <a:solidFill>
                  <a:schemeClr val="dk2"/>
                </a:solidFill>
              </a:rPr>
              <a:t> on the address bus and a </a:t>
            </a:r>
            <a:r>
              <a:rPr b="1" lang="en" sz="1800">
                <a:solidFill>
                  <a:schemeClr val="dk2"/>
                </a:solidFill>
              </a:rPr>
              <a:t>write signal</a:t>
            </a:r>
            <a:r>
              <a:rPr lang="en" sz="1800">
                <a:solidFill>
                  <a:schemeClr val="dk2"/>
                </a:solidFill>
              </a:rPr>
              <a:t> on the control bus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Only register with address </a:t>
            </a:r>
            <a:br>
              <a:rPr lang="en" sz="1800">
                <a:solidFill>
                  <a:schemeClr val="dk2"/>
                </a:solidFill>
              </a:rPr>
            </a:br>
            <a:r>
              <a:rPr lang="en" sz="1800">
                <a:solidFill>
                  <a:schemeClr val="dk2"/>
                </a:solidFill>
              </a:rPr>
              <a:t>0x5000 0014 activates and receives the data on the data bus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Since that address corresponds to a hardware register, the write changes the peripheral’s state instead of RAM</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ph type="title"/>
          </p:nvPr>
        </p:nvSpPr>
        <p:spPr>
          <a:xfrm>
            <a:off x="311700" y="48148"/>
            <a:ext cx="8520600" cy="5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rgbClr val="FF0000"/>
                </a:solidFill>
              </a:rPr>
              <a:t>GPIOA-&gt;ODR address: 0x5000 0000 + 0x14 = 0x5000 0014 </a:t>
            </a:r>
            <a:endParaRPr sz="2400">
              <a:solidFill>
                <a:srgbClr val="FF0000"/>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99" name="Google Shape;299;p40"/>
          <p:cNvSpPr txBox="1"/>
          <p:nvPr>
            <p:ph idx="1" type="body"/>
          </p:nvPr>
        </p:nvSpPr>
        <p:spPr>
          <a:xfrm>
            <a:off x="283950" y="976350"/>
            <a:ext cx="5281500" cy="286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typedef struct</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MODER;  /* Address offset: 0x00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OTYPER; /* Address offset: 0x04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OSPEEDR;/* Address offset: 0x08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PUPDR;  /* Address offset: 0x0C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IDR;    /* Address offset: 0x10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ODR;    /* Address offset: 0x14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BSRR;   /* Address offset: 0x18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LCKR;   /* Address offset: 0x1C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AFR[2]; /* Address offset: 0x20-0x24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__IO uint32_t BRR;    /* Address offset: 0x28      */</a:t>
            </a:r>
            <a:endParaRPr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 GPIO_TypeDef;</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p:txBody>
      </p:sp>
      <p:sp>
        <p:nvSpPr>
          <p:cNvPr id="300" name="Google Shape;300;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01" name="Google Shape;301;p40"/>
          <p:cNvGraphicFramePr/>
          <p:nvPr/>
        </p:nvGraphicFramePr>
        <p:xfrm>
          <a:off x="6230100" y="811650"/>
          <a:ext cx="3000000" cy="3000000"/>
        </p:xfrm>
        <a:graphic>
          <a:graphicData uri="http://schemas.openxmlformats.org/drawingml/2006/table">
            <a:tbl>
              <a:tblPr>
                <a:noFill/>
                <a:tableStyleId>{E0AA7EF3-D24E-4D8B-A93F-51990384F66D}</a:tableStyleId>
              </a:tblPr>
              <a:tblGrid>
                <a:gridCol w="878350"/>
                <a:gridCol w="1864050"/>
              </a:tblGrid>
              <a:tr h="192050">
                <a:tc>
                  <a:txBody>
                    <a:bodyPr/>
                    <a:lstStyle/>
                    <a:p>
                      <a:pPr indent="0" lvl="0" marL="0" rtl="0" algn="l">
                        <a:spcBef>
                          <a:spcPts val="0"/>
                        </a:spcBef>
                        <a:spcAft>
                          <a:spcPts val="0"/>
                        </a:spcAft>
                        <a:buNone/>
                      </a:pPr>
                      <a:r>
                        <a:rPr lang="en" sz="1600"/>
                        <a:t>Offset </a:t>
                      </a:r>
                      <a:endParaRPr sz="1600"/>
                    </a:p>
                  </a:txBody>
                  <a:tcPr marT="0" marB="0" marR="0" marL="91425"/>
                </a:tc>
                <a:tc>
                  <a:txBody>
                    <a:bodyPr/>
                    <a:lstStyle/>
                    <a:p>
                      <a:pPr indent="0" lvl="0" marL="0" rtl="0" algn="l">
                        <a:spcBef>
                          <a:spcPts val="0"/>
                        </a:spcBef>
                        <a:spcAft>
                          <a:spcPts val="0"/>
                        </a:spcAft>
                        <a:buNone/>
                      </a:pPr>
                      <a:r>
                        <a:rPr lang="en" sz="1600"/>
                        <a:t>Register name</a:t>
                      </a:r>
                      <a:endParaRPr sz="1600"/>
                    </a:p>
                  </a:txBody>
                  <a:tcPr marT="0" marB="0" marR="0" marL="91425"/>
                </a:tc>
              </a:tr>
              <a:tr h="192050">
                <a:tc>
                  <a:txBody>
                    <a:bodyPr/>
                    <a:lstStyle/>
                    <a:p>
                      <a:pPr indent="0" lvl="0" marL="0" rtl="0" algn="l">
                        <a:spcBef>
                          <a:spcPts val="0"/>
                        </a:spcBef>
                        <a:spcAft>
                          <a:spcPts val="0"/>
                        </a:spcAft>
                        <a:buNone/>
                      </a:pPr>
                      <a:r>
                        <a:rPr lang="en" sz="1600"/>
                        <a:t>0x00</a:t>
                      </a:r>
                      <a:endParaRPr sz="1600"/>
                    </a:p>
                  </a:txBody>
                  <a:tcPr marT="0" marB="0" marR="0" marL="91425"/>
                </a:tc>
                <a:tc>
                  <a:txBody>
                    <a:bodyPr/>
                    <a:lstStyle/>
                    <a:p>
                      <a:pPr indent="0" lvl="0" marL="0" rtl="0" algn="l">
                        <a:spcBef>
                          <a:spcPts val="0"/>
                        </a:spcBef>
                        <a:spcAft>
                          <a:spcPts val="0"/>
                        </a:spcAft>
                        <a:buNone/>
                      </a:pPr>
                      <a:r>
                        <a:rPr lang="en" sz="1600"/>
                        <a:t>GPIOx_MODER</a:t>
                      </a:r>
                      <a:endParaRPr sz="1600"/>
                    </a:p>
                  </a:txBody>
                  <a:tcPr marT="0" marB="0" marR="0" marL="91425"/>
                </a:tc>
              </a:tr>
              <a:tr h="192050">
                <a:tc>
                  <a:txBody>
                    <a:bodyPr/>
                    <a:lstStyle/>
                    <a:p>
                      <a:pPr indent="0" lvl="0" marL="0" rtl="0" algn="l">
                        <a:spcBef>
                          <a:spcPts val="0"/>
                        </a:spcBef>
                        <a:spcAft>
                          <a:spcPts val="0"/>
                        </a:spcAft>
                        <a:buNone/>
                      </a:pPr>
                      <a:r>
                        <a:rPr lang="en" sz="1600"/>
                        <a:t>0x04</a:t>
                      </a:r>
                      <a:endParaRPr sz="1600"/>
                    </a:p>
                  </a:txBody>
                  <a:tcPr marT="0" marB="0" marR="0" marL="91425"/>
                </a:tc>
                <a:tc>
                  <a:txBody>
                    <a:bodyPr/>
                    <a:lstStyle/>
                    <a:p>
                      <a:pPr indent="0" lvl="0" marL="0" rtl="0" algn="l">
                        <a:spcBef>
                          <a:spcPts val="0"/>
                        </a:spcBef>
                        <a:spcAft>
                          <a:spcPts val="0"/>
                        </a:spcAft>
                        <a:buNone/>
                      </a:pPr>
                      <a:r>
                        <a:rPr lang="en" sz="1600"/>
                        <a:t>GPIOx_OTYPER</a:t>
                      </a:r>
                      <a:endParaRPr sz="1600"/>
                    </a:p>
                  </a:txBody>
                  <a:tcPr marT="0" marB="0" marR="0" marL="91425"/>
                </a:tc>
              </a:tr>
              <a:tr h="192050">
                <a:tc>
                  <a:txBody>
                    <a:bodyPr/>
                    <a:lstStyle/>
                    <a:p>
                      <a:pPr indent="0" lvl="0" marL="0" rtl="0" algn="l">
                        <a:spcBef>
                          <a:spcPts val="0"/>
                        </a:spcBef>
                        <a:spcAft>
                          <a:spcPts val="0"/>
                        </a:spcAft>
                        <a:buNone/>
                      </a:pPr>
                      <a:r>
                        <a:rPr lang="en" sz="1600"/>
                        <a:t>0x08</a:t>
                      </a:r>
                      <a:endParaRPr sz="1600"/>
                    </a:p>
                  </a:txBody>
                  <a:tcPr marT="0" marB="0" marR="0" marL="91425"/>
                </a:tc>
                <a:tc>
                  <a:txBody>
                    <a:bodyPr/>
                    <a:lstStyle/>
                    <a:p>
                      <a:pPr indent="0" lvl="0" marL="0" rtl="0" algn="l">
                        <a:spcBef>
                          <a:spcPts val="0"/>
                        </a:spcBef>
                        <a:spcAft>
                          <a:spcPts val="0"/>
                        </a:spcAft>
                        <a:buNone/>
                      </a:pPr>
                      <a:r>
                        <a:rPr lang="en" sz="1600"/>
                        <a:t>GPIOx_OSPEEDR</a:t>
                      </a:r>
                      <a:endParaRPr sz="1600"/>
                    </a:p>
                  </a:txBody>
                  <a:tcPr marT="0" marB="0" marR="0" marL="91425"/>
                </a:tc>
              </a:tr>
              <a:tr h="192050">
                <a:tc>
                  <a:txBody>
                    <a:bodyPr/>
                    <a:lstStyle/>
                    <a:p>
                      <a:pPr indent="0" lvl="0" marL="0" rtl="0" algn="l">
                        <a:spcBef>
                          <a:spcPts val="0"/>
                        </a:spcBef>
                        <a:spcAft>
                          <a:spcPts val="0"/>
                        </a:spcAft>
                        <a:buNone/>
                      </a:pPr>
                      <a:r>
                        <a:rPr lang="en" sz="1600"/>
                        <a:t>0x0C</a:t>
                      </a:r>
                      <a:endParaRPr sz="1600"/>
                    </a:p>
                  </a:txBody>
                  <a:tcPr marT="0" marB="0" marR="0" marL="91425"/>
                </a:tc>
                <a:tc>
                  <a:txBody>
                    <a:bodyPr/>
                    <a:lstStyle/>
                    <a:p>
                      <a:pPr indent="0" lvl="0" marL="0" rtl="0" algn="l">
                        <a:spcBef>
                          <a:spcPts val="0"/>
                        </a:spcBef>
                        <a:spcAft>
                          <a:spcPts val="0"/>
                        </a:spcAft>
                        <a:buNone/>
                      </a:pPr>
                      <a:r>
                        <a:rPr lang="en" sz="1600"/>
                        <a:t>GPIOx_PUPDR</a:t>
                      </a:r>
                      <a:endParaRPr sz="1600"/>
                    </a:p>
                  </a:txBody>
                  <a:tcPr marT="0" marB="0" marR="0" marL="91425"/>
                </a:tc>
              </a:tr>
              <a:tr h="192050">
                <a:tc>
                  <a:txBody>
                    <a:bodyPr/>
                    <a:lstStyle/>
                    <a:p>
                      <a:pPr indent="0" lvl="0" marL="0" rtl="0" algn="l">
                        <a:spcBef>
                          <a:spcPts val="0"/>
                        </a:spcBef>
                        <a:spcAft>
                          <a:spcPts val="0"/>
                        </a:spcAft>
                        <a:buNone/>
                      </a:pPr>
                      <a:r>
                        <a:rPr lang="en" sz="1600"/>
                        <a:t>0x10</a:t>
                      </a:r>
                      <a:endParaRPr sz="1600"/>
                    </a:p>
                  </a:txBody>
                  <a:tcPr marT="0" marB="0" marR="0" marL="91425"/>
                </a:tc>
                <a:tc>
                  <a:txBody>
                    <a:bodyPr/>
                    <a:lstStyle/>
                    <a:p>
                      <a:pPr indent="0" lvl="0" marL="0" rtl="0" algn="l">
                        <a:spcBef>
                          <a:spcPts val="0"/>
                        </a:spcBef>
                        <a:spcAft>
                          <a:spcPts val="0"/>
                        </a:spcAft>
                        <a:buNone/>
                      </a:pPr>
                      <a:r>
                        <a:rPr lang="en" sz="1600"/>
                        <a:t>GPIOx_IDR</a:t>
                      </a:r>
                      <a:endParaRPr sz="1600"/>
                    </a:p>
                  </a:txBody>
                  <a:tcPr marT="0" marB="0" marR="0" marL="91425"/>
                </a:tc>
              </a:tr>
              <a:tr h="192050">
                <a:tc>
                  <a:txBody>
                    <a:bodyPr/>
                    <a:lstStyle/>
                    <a:p>
                      <a:pPr indent="0" lvl="0" marL="0" rtl="0" algn="l">
                        <a:spcBef>
                          <a:spcPts val="0"/>
                        </a:spcBef>
                        <a:spcAft>
                          <a:spcPts val="0"/>
                        </a:spcAft>
                        <a:buNone/>
                      </a:pPr>
                      <a:r>
                        <a:rPr lang="en" sz="1600"/>
                        <a:t>0x14</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GPIOx_ODR</a:t>
                      </a:r>
                      <a:endParaRPr sz="1600"/>
                    </a:p>
                  </a:txBody>
                  <a:tcPr marT="0" marB="0" marR="0" marL="91425"/>
                </a:tc>
              </a:tr>
              <a:tr h="192050">
                <a:tc>
                  <a:txBody>
                    <a:bodyPr/>
                    <a:lstStyle/>
                    <a:p>
                      <a:pPr indent="0" lvl="0" marL="0" rtl="0" algn="l">
                        <a:spcBef>
                          <a:spcPts val="0"/>
                        </a:spcBef>
                        <a:spcAft>
                          <a:spcPts val="0"/>
                        </a:spcAft>
                        <a:buNone/>
                      </a:pPr>
                      <a:r>
                        <a:rPr lang="en" sz="1600"/>
                        <a:t>0x18</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GPIOx_BSRR</a:t>
                      </a:r>
                      <a:endParaRPr sz="1600"/>
                    </a:p>
                  </a:txBody>
                  <a:tcPr marT="0" marB="0" marR="0" marL="91425"/>
                </a:tc>
              </a:tr>
              <a:tr h="192050">
                <a:tc>
                  <a:txBody>
                    <a:bodyPr/>
                    <a:lstStyle/>
                    <a:p>
                      <a:pPr indent="0" lvl="0" marL="0" rtl="0" algn="l">
                        <a:spcBef>
                          <a:spcPts val="0"/>
                        </a:spcBef>
                        <a:spcAft>
                          <a:spcPts val="0"/>
                        </a:spcAft>
                        <a:buNone/>
                      </a:pPr>
                      <a:r>
                        <a:rPr lang="en" sz="1600"/>
                        <a:t>0x1C</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GPIOx_LCKR</a:t>
                      </a:r>
                      <a:endParaRPr sz="1600"/>
                    </a:p>
                  </a:txBody>
                  <a:tcPr marT="0" marB="0" marR="0" marL="91425"/>
                </a:tc>
              </a:tr>
              <a:tr h="192050">
                <a:tc>
                  <a:txBody>
                    <a:bodyPr/>
                    <a:lstStyle/>
                    <a:p>
                      <a:pPr indent="0" lvl="0" marL="0" rtl="0" algn="l">
                        <a:spcBef>
                          <a:spcPts val="0"/>
                        </a:spcBef>
                        <a:spcAft>
                          <a:spcPts val="0"/>
                        </a:spcAft>
                        <a:buNone/>
                      </a:pPr>
                      <a:r>
                        <a:rPr lang="en" sz="1600"/>
                        <a:t>0x20</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GPIOx_AFRL</a:t>
                      </a:r>
                      <a:endParaRPr sz="1600"/>
                    </a:p>
                  </a:txBody>
                  <a:tcPr marT="0" marB="0" marR="0" marL="91425"/>
                </a:tc>
              </a:tr>
              <a:tr h="192050">
                <a:tc>
                  <a:txBody>
                    <a:bodyPr/>
                    <a:lstStyle/>
                    <a:p>
                      <a:pPr indent="0" lvl="0" marL="0" rtl="0" algn="l">
                        <a:spcBef>
                          <a:spcPts val="0"/>
                        </a:spcBef>
                        <a:spcAft>
                          <a:spcPts val="0"/>
                        </a:spcAft>
                        <a:buNone/>
                      </a:pPr>
                      <a:r>
                        <a:rPr lang="en" sz="1600"/>
                        <a:t>0x24</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GPIOx_AFRH</a:t>
                      </a:r>
                      <a:endParaRPr sz="1600"/>
                    </a:p>
                  </a:txBody>
                  <a:tcPr marT="0" marB="0" marR="0" marL="91425"/>
                </a:tc>
              </a:tr>
              <a:tr h="192050">
                <a:tc>
                  <a:txBody>
                    <a:bodyPr/>
                    <a:lstStyle/>
                    <a:p>
                      <a:pPr indent="0" lvl="0" marL="0" rtl="0" algn="l">
                        <a:spcBef>
                          <a:spcPts val="0"/>
                        </a:spcBef>
                        <a:spcAft>
                          <a:spcPts val="0"/>
                        </a:spcAft>
                        <a:buNone/>
                      </a:pPr>
                      <a:r>
                        <a:rPr lang="en" sz="1600"/>
                        <a:t>0x28</a:t>
                      </a:r>
                      <a:endParaRPr sz="1600"/>
                    </a:p>
                  </a:txBody>
                  <a:tcPr marT="0" marB="0" marR="0" marL="91425"/>
                </a:tc>
                <a:tc>
                  <a:txBody>
                    <a:bodyPr/>
                    <a:lstStyle/>
                    <a:p>
                      <a:pPr indent="0" lvl="0" marL="0" rtl="0" algn="l">
                        <a:spcBef>
                          <a:spcPts val="0"/>
                        </a:spcBef>
                        <a:spcAft>
                          <a:spcPts val="0"/>
                        </a:spcAft>
                        <a:buNone/>
                      </a:pPr>
                      <a:r>
                        <a:rPr lang="en" sz="1600">
                          <a:solidFill>
                            <a:schemeClr val="dk1"/>
                          </a:solidFill>
                        </a:rPr>
                        <a:t>GPIOx_BRR</a:t>
                      </a:r>
                      <a:endParaRPr sz="1600"/>
                    </a:p>
                  </a:txBody>
                  <a:tcPr marT="0" marB="0" marR="0" marL="91425"/>
                </a:tc>
              </a:tr>
            </a:tbl>
          </a:graphicData>
        </a:graphic>
      </p:graphicFrame>
      <p:pic>
        <p:nvPicPr>
          <p:cNvPr id="302" name="Google Shape;302;p40"/>
          <p:cNvPicPr preferRelativeResize="0"/>
          <p:nvPr/>
        </p:nvPicPr>
        <p:blipFill rotWithShape="1">
          <a:blip r:embed="rId3">
            <a:alphaModFix/>
          </a:blip>
          <a:srcRect b="0" l="12930" r="0" t="0"/>
          <a:stretch/>
        </p:blipFill>
        <p:spPr>
          <a:xfrm>
            <a:off x="5055350" y="3976338"/>
            <a:ext cx="3917151" cy="2304700"/>
          </a:xfrm>
          <a:prstGeom prst="rect">
            <a:avLst/>
          </a:prstGeom>
          <a:noFill/>
          <a:ln>
            <a:noFill/>
          </a:ln>
        </p:spPr>
      </p:pic>
      <p:sp>
        <p:nvSpPr>
          <p:cNvPr id="303" name="Google Shape;303;p40"/>
          <p:cNvSpPr txBox="1"/>
          <p:nvPr/>
        </p:nvSpPr>
        <p:spPr>
          <a:xfrm>
            <a:off x="0" y="5146450"/>
            <a:ext cx="55656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0000FF"/>
              </a:buClr>
              <a:buSzPts val="1600"/>
              <a:buChar char="●"/>
            </a:pPr>
            <a:r>
              <a:rPr lang="en" sz="1600">
                <a:solidFill>
                  <a:srgbClr val="0000FF"/>
                </a:solidFill>
              </a:rPr>
              <a:t>GPIOA is a pointer to address 0x5000 00000.</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"-&gt;" dereferences (goes to that address)</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GPIOA-&gt;ODR is the member ODR of the </a:t>
            </a:r>
            <a:br>
              <a:rPr lang="en" sz="1600">
                <a:solidFill>
                  <a:srgbClr val="0000FF"/>
                </a:solidFill>
              </a:rPr>
            </a:br>
            <a:r>
              <a:rPr lang="en" sz="1600">
                <a:solidFill>
                  <a:srgbClr val="0000FF"/>
                </a:solidFill>
              </a:rPr>
              <a:t>structure of type GPIO_TypeDef, stored at </a:t>
            </a:r>
            <a:br>
              <a:rPr lang="en" sz="1600">
                <a:solidFill>
                  <a:srgbClr val="0000FF"/>
                </a:solidFill>
              </a:rPr>
            </a:br>
            <a:r>
              <a:rPr lang="en" sz="1600">
                <a:solidFill>
                  <a:srgbClr val="0000FF"/>
                </a:solidFill>
              </a:rPr>
              <a:t>0x5000 0000.</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The address of this member is 0x5000 000 + 0x14. </a:t>
            </a:r>
            <a:endParaRPr sz="1600">
              <a:solidFill>
                <a:srgbClr val="0000FF"/>
              </a:solidFill>
            </a:endParaRPr>
          </a:p>
        </p:txBody>
      </p:sp>
      <p:sp>
        <p:nvSpPr>
          <p:cNvPr id="304" name="Google Shape;304;p40"/>
          <p:cNvSpPr txBox="1"/>
          <p:nvPr/>
        </p:nvSpPr>
        <p:spPr>
          <a:xfrm>
            <a:off x="69850" y="572850"/>
            <a:ext cx="2654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Inside stm32c031xx.h:</a:t>
            </a:r>
            <a:endParaRPr sz="1800">
              <a:solidFill>
                <a:srgbClr val="0000FF"/>
              </a:solidFill>
            </a:endParaRPr>
          </a:p>
        </p:txBody>
      </p:sp>
      <p:sp>
        <p:nvSpPr>
          <p:cNvPr id="305" name="Google Shape;305;p40"/>
          <p:cNvSpPr txBox="1"/>
          <p:nvPr>
            <p:ph idx="1" type="body"/>
          </p:nvPr>
        </p:nvSpPr>
        <p:spPr>
          <a:xfrm>
            <a:off x="283950" y="3780043"/>
            <a:ext cx="5281500" cy="1261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latin typeface="Courier New"/>
                <a:ea typeface="Courier New"/>
                <a:cs typeface="Courier New"/>
                <a:sym typeface="Courier New"/>
              </a:rPr>
              <a:t>#define IOPORT_BASE (0x50000000UL)</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#define GPIOA_BASE  (IOPORT_BASE + 0x00000000UL)</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#define GPIOB_BASE  (IOPORT_BASE + 0x00000400UL)</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#define GPIOA       ((GPIO_TypeDef *) GPIOA_BASE)</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1"/>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Time to build something</a:t>
            </a:r>
            <a:endParaRPr/>
          </a:p>
        </p:txBody>
      </p:sp>
      <p:sp>
        <p:nvSpPr>
          <p:cNvPr id="311" name="Google Shape;311;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2"/>
          <p:cNvSpPr txBox="1"/>
          <p:nvPr>
            <p:ph type="title"/>
          </p:nvPr>
        </p:nvSpPr>
        <p:spPr>
          <a:xfrm>
            <a:off x="311700" y="302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 Nucleo-Breadboard connection</a:t>
            </a:r>
            <a:endParaRPr/>
          </a:p>
        </p:txBody>
      </p:sp>
      <p:sp>
        <p:nvSpPr>
          <p:cNvPr id="317" name="Google Shape;317;p42"/>
          <p:cNvSpPr txBox="1"/>
          <p:nvPr>
            <p:ph idx="1" type="body"/>
          </p:nvPr>
        </p:nvSpPr>
        <p:spPr>
          <a:xfrm>
            <a:off x="311700" y="1004275"/>
            <a:ext cx="8520600" cy="104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Your breadboard has been pre-wired for power and ground.  Leave these wires in place all term.  </a:t>
            </a:r>
            <a:r>
              <a:rPr lang="en"/>
              <a:t>Connect</a:t>
            </a:r>
            <a:r>
              <a:rPr lang="en"/>
              <a:t> your Nucleo as shown in the </a:t>
            </a:r>
            <a:r>
              <a:rPr lang="en"/>
              <a:t>picture below.</a:t>
            </a:r>
            <a:r>
              <a:rPr lang="en"/>
              <a:t>  </a:t>
            </a:r>
            <a:endParaRPr/>
          </a:p>
        </p:txBody>
      </p:sp>
      <p:sp>
        <p:nvSpPr>
          <p:cNvPr id="318" name="Google Shape;318;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19" name="Google Shape;319;p42"/>
          <p:cNvPicPr preferRelativeResize="0"/>
          <p:nvPr/>
        </p:nvPicPr>
        <p:blipFill>
          <a:blip r:embed="rId3">
            <a:alphaModFix/>
          </a:blip>
          <a:stretch>
            <a:fillRect/>
          </a:stretch>
        </p:blipFill>
        <p:spPr>
          <a:xfrm>
            <a:off x="311688" y="1989900"/>
            <a:ext cx="8352476" cy="45188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3"/>
          <p:cNvSpPr txBox="1"/>
          <p:nvPr>
            <p:ph type="title"/>
          </p:nvPr>
        </p:nvSpPr>
        <p:spPr>
          <a:xfrm>
            <a:off x="311700" y="1498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Digital multimeter (DMM)</a:t>
            </a:r>
            <a:endParaRPr/>
          </a:p>
        </p:txBody>
      </p:sp>
      <p:sp>
        <p:nvSpPr>
          <p:cNvPr id="325" name="Google Shape;325;p43"/>
          <p:cNvSpPr txBox="1"/>
          <p:nvPr>
            <p:ph idx="1" type="body"/>
          </p:nvPr>
        </p:nvSpPr>
        <p:spPr>
          <a:xfrm>
            <a:off x="311700" y="1070150"/>
            <a:ext cx="4505400" cy="50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Good for measuring voltage, current, and resistance.</a:t>
            </a:r>
            <a:endParaRPr/>
          </a:p>
          <a:p>
            <a:pPr indent="-342900" lvl="0" marL="457200" rtl="0" algn="l">
              <a:spcBef>
                <a:spcPts val="0"/>
              </a:spcBef>
              <a:spcAft>
                <a:spcPts val="0"/>
              </a:spcAft>
              <a:buSzPts val="1800"/>
              <a:buChar char="●"/>
            </a:pPr>
            <a:r>
              <a:rPr lang="en"/>
              <a:t>It is </a:t>
            </a:r>
            <a:r>
              <a:rPr b="1" lang="en"/>
              <a:t>not</a:t>
            </a:r>
            <a:r>
              <a:rPr lang="en"/>
              <a:t> “auto-ranging”.  Use the dial to select </a:t>
            </a:r>
            <a:r>
              <a:rPr b="1" lang="en"/>
              <a:t>type</a:t>
            </a:r>
            <a:r>
              <a:rPr lang="en"/>
              <a:t> of measurement and the expected </a:t>
            </a:r>
            <a:r>
              <a:rPr b="1" lang="en"/>
              <a:t>range</a:t>
            </a:r>
            <a:r>
              <a:rPr lang="en"/>
              <a:t> of values.</a:t>
            </a:r>
            <a:endParaRPr/>
          </a:p>
          <a:p>
            <a:pPr indent="-342900" lvl="0" marL="457200" rtl="0" algn="l">
              <a:spcBef>
                <a:spcPts val="0"/>
              </a:spcBef>
              <a:spcAft>
                <a:spcPts val="0"/>
              </a:spcAft>
              <a:buSzPts val="1800"/>
              <a:buChar char="●"/>
            </a:pPr>
            <a:r>
              <a:rPr b="1" lang="en"/>
              <a:t>Setup</a:t>
            </a:r>
            <a:r>
              <a:rPr lang="en"/>
              <a:t>: Plug the black probe into COM and the red probe into VΩmA.</a:t>
            </a:r>
            <a:endParaRPr/>
          </a:p>
          <a:p>
            <a:pPr indent="-342900" lvl="0" marL="457200" rtl="0" algn="l">
              <a:spcBef>
                <a:spcPts val="0"/>
              </a:spcBef>
              <a:spcAft>
                <a:spcPts val="0"/>
              </a:spcAft>
              <a:buSzPts val="1800"/>
              <a:buChar char="●"/>
            </a:pPr>
            <a:r>
              <a:rPr b="1" lang="en"/>
              <a:t>Best Practice</a:t>
            </a:r>
            <a:r>
              <a:rPr lang="en"/>
              <a:t>: </a:t>
            </a:r>
            <a:r>
              <a:rPr lang="en">
                <a:solidFill>
                  <a:srgbClr val="FF0000"/>
                </a:solidFill>
              </a:rPr>
              <a:t>Always set the dial before touching the probes to the circuit </a:t>
            </a:r>
            <a:r>
              <a:rPr lang="en"/>
              <a:t>to avoid blowing a fuse.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en"/>
              <a:t>Watch the video (linked from daily page).</a:t>
            </a:r>
            <a:endParaRPr/>
          </a:p>
          <a:p>
            <a:pPr indent="0" lvl="0" marL="0" rtl="0" algn="l">
              <a:spcBef>
                <a:spcPts val="1600"/>
              </a:spcBef>
              <a:spcAft>
                <a:spcPts val="1600"/>
              </a:spcAft>
              <a:buNone/>
            </a:pPr>
            <a:r>
              <a:t/>
            </a:r>
            <a:endParaRPr/>
          </a:p>
        </p:txBody>
      </p:sp>
      <p:sp>
        <p:nvSpPr>
          <p:cNvPr id="326" name="Google Shape;326;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7" name="Google Shape;327;p43"/>
          <p:cNvPicPr preferRelativeResize="0"/>
          <p:nvPr/>
        </p:nvPicPr>
        <p:blipFill>
          <a:blip r:embed="rId3">
            <a:alphaModFix/>
          </a:blip>
          <a:stretch>
            <a:fillRect/>
          </a:stretch>
        </p:blipFill>
        <p:spPr>
          <a:xfrm>
            <a:off x="4953275" y="149875"/>
            <a:ext cx="4067875" cy="6187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44"/>
          <p:cNvPicPr preferRelativeResize="0"/>
          <p:nvPr/>
        </p:nvPicPr>
        <p:blipFill>
          <a:blip r:embed="rId3">
            <a:alphaModFix/>
          </a:blip>
          <a:stretch>
            <a:fillRect/>
          </a:stretch>
        </p:blipFill>
        <p:spPr>
          <a:xfrm>
            <a:off x="4909775" y="1246482"/>
            <a:ext cx="3852508" cy="2336475"/>
          </a:xfrm>
          <a:prstGeom prst="rect">
            <a:avLst/>
          </a:prstGeom>
          <a:noFill/>
          <a:ln>
            <a:noFill/>
          </a:ln>
        </p:spPr>
      </p:pic>
      <p:sp>
        <p:nvSpPr>
          <p:cNvPr id="333" name="Google Shape;333;p4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up an LED on the breadboard (red or green)</a:t>
            </a:r>
            <a:endParaRPr/>
          </a:p>
        </p:txBody>
      </p:sp>
      <p:sp>
        <p:nvSpPr>
          <p:cNvPr id="334" name="Google Shape;334;p44"/>
          <p:cNvSpPr txBox="1"/>
          <p:nvPr>
            <p:ph idx="1" type="body"/>
          </p:nvPr>
        </p:nvSpPr>
        <p:spPr>
          <a:xfrm>
            <a:off x="425875" y="1356875"/>
            <a:ext cx="4173000" cy="51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Let's make an "external" LED blink, one that is on your breadboard rather than the Nucleo board.</a:t>
            </a:r>
            <a:endParaRPr sz="1600">
              <a:solidFill>
                <a:schemeClr val="dk1"/>
              </a:solidFill>
            </a:endParaRPr>
          </a:p>
          <a:p>
            <a:pPr indent="0" lvl="0" marL="0" rtl="0" algn="l">
              <a:spcBef>
                <a:spcPts val="1600"/>
              </a:spcBef>
              <a:spcAft>
                <a:spcPts val="0"/>
              </a:spcAft>
              <a:buNone/>
            </a:pPr>
            <a:r>
              <a:rPr lang="en" sz="1600">
                <a:solidFill>
                  <a:schemeClr val="dk1"/>
                </a:solidFill>
              </a:rPr>
              <a:t>Pick a red or green LED (agree with your table, so both colors are used).</a:t>
            </a:r>
            <a:endParaRPr sz="1600">
              <a:solidFill>
                <a:schemeClr val="dk1"/>
              </a:solidFill>
            </a:endParaRPr>
          </a:p>
          <a:p>
            <a:pPr indent="0" lvl="0" marL="0" rtl="0" algn="l">
              <a:spcBef>
                <a:spcPts val="1600"/>
              </a:spcBef>
              <a:spcAft>
                <a:spcPts val="0"/>
              </a:spcAft>
              <a:buClr>
                <a:schemeClr val="dk1"/>
              </a:buClr>
              <a:buSzPts val="1100"/>
              <a:buFont typeface="Arial"/>
              <a:buNone/>
            </a:pPr>
            <a:r>
              <a:rPr lang="en" sz="1600">
                <a:solidFill>
                  <a:schemeClr val="dk1"/>
                </a:solidFill>
              </a:rPr>
              <a:t>Pick the </a:t>
            </a:r>
            <a:r>
              <a:rPr b="1" lang="en" sz="1600">
                <a:solidFill>
                  <a:schemeClr val="dk1"/>
                </a:solidFill>
              </a:rPr>
              <a:t>220 ohm</a:t>
            </a:r>
            <a:r>
              <a:rPr lang="en" sz="1600">
                <a:solidFill>
                  <a:schemeClr val="dk1"/>
                </a:solidFill>
              </a:rPr>
              <a:t> resistor from your kit. The color code for 220 ohms is red-red-black-black (5 bands).  </a:t>
            </a:r>
            <a:endParaRPr sz="1600">
              <a:solidFill>
                <a:schemeClr val="dk1"/>
              </a:solidFill>
            </a:endParaRPr>
          </a:p>
          <a:p>
            <a:pPr indent="0" lvl="0" marL="0" rtl="0" algn="l">
              <a:spcBef>
                <a:spcPts val="1600"/>
              </a:spcBef>
              <a:spcAft>
                <a:spcPts val="0"/>
              </a:spcAft>
              <a:buClr>
                <a:schemeClr val="dk1"/>
              </a:buClr>
              <a:buSzPts val="1100"/>
              <a:buFont typeface="Arial"/>
              <a:buNone/>
            </a:pPr>
            <a:r>
              <a:rPr lang="en" sz="1600">
                <a:solidFill>
                  <a:schemeClr val="dk1"/>
                </a:solidFill>
              </a:rPr>
              <a:t>Measure the resistance with your DMM to confirm its value is within 1% of 220.</a:t>
            </a:r>
            <a:endParaRPr sz="1600">
              <a:solidFill>
                <a:schemeClr val="dk1"/>
              </a:solidFill>
            </a:endParaRPr>
          </a:p>
          <a:p>
            <a:pPr indent="0" lvl="0" marL="0" rtl="0" algn="l">
              <a:spcBef>
                <a:spcPts val="1600"/>
              </a:spcBef>
              <a:spcAft>
                <a:spcPts val="1600"/>
              </a:spcAft>
              <a:buNone/>
            </a:pPr>
            <a:r>
              <a:rPr lang="en" sz="1600"/>
              <a:t>Build the circuit shown to the right.  Use a  jumper, as shown, between the power rail and the LED.  While wiring, </a:t>
            </a:r>
            <a:r>
              <a:rPr lang="en" sz="1600">
                <a:solidFill>
                  <a:srgbClr val="FF0000"/>
                </a:solidFill>
              </a:rPr>
              <a:t>unplug your Nucleo from your computer or any other source of power.</a:t>
            </a:r>
            <a:r>
              <a:rPr b="1" lang="en">
                <a:solidFill>
                  <a:srgbClr val="000000"/>
                </a:solidFill>
              </a:rPr>
              <a:t> </a:t>
            </a:r>
            <a:endParaRPr b="1">
              <a:solidFill>
                <a:srgbClr val="000000"/>
              </a:solidFill>
            </a:endParaRPr>
          </a:p>
        </p:txBody>
      </p:sp>
      <p:sp>
        <p:nvSpPr>
          <p:cNvPr id="335" name="Google Shape;335;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cxnSp>
        <p:nvCxnSpPr>
          <p:cNvPr id="336" name="Google Shape;336;p44"/>
          <p:cNvCxnSpPr/>
          <p:nvPr/>
        </p:nvCxnSpPr>
        <p:spPr>
          <a:xfrm>
            <a:off x="6602100" y="1934113"/>
            <a:ext cx="0" cy="1418400"/>
          </a:xfrm>
          <a:prstGeom prst="straightConnector1">
            <a:avLst/>
          </a:prstGeom>
          <a:noFill/>
          <a:ln cap="flat" cmpd="sng" w="28575">
            <a:solidFill>
              <a:srgbClr val="38761D"/>
            </a:solidFill>
            <a:prstDash val="solid"/>
            <a:round/>
            <a:headEnd len="med" w="med" type="none"/>
            <a:tailEnd len="med" w="med" type="triangle"/>
          </a:ln>
        </p:spPr>
      </p:cxnSp>
      <p:cxnSp>
        <p:nvCxnSpPr>
          <p:cNvPr id="337" name="Google Shape;337;p44"/>
          <p:cNvCxnSpPr/>
          <p:nvPr/>
        </p:nvCxnSpPr>
        <p:spPr>
          <a:xfrm flipH="1" rot="10800000">
            <a:off x="7047525" y="1780650"/>
            <a:ext cx="2400" cy="1249800"/>
          </a:xfrm>
          <a:prstGeom prst="straightConnector1">
            <a:avLst/>
          </a:prstGeom>
          <a:noFill/>
          <a:ln cap="flat" cmpd="sng" w="28575">
            <a:solidFill>
              <a:srgbClr val="38761D"/>
            </a:solidFill>
            <a:prstDash val="solid"/>
            <a:round/>
            <a:headEnd len="med" w="med" type="none"/>
            <a:tailEnd len="med" w="med" type="triangle"/>
          </a:ln>
        </p:spPr>
      </p:cxnSp>
      <p:cxnSp>
        <p:nvCxnSpPr>
          <p:cNvPr id="338" name="Google Shape;338;p44"/>
          <p:cNvCxnSpPr/>
          <p:nvPr/>
        </p:nvCxnSpPr>
        <p:spPr>
          <a:xfrm rot="10800000">
            <a:off x="5474375" y="1590450"/>
            <a:ext cx="1032600" cy="0"/>
          </a:xfrm>
          <a:prstGeom prst="straightConnector1">
            <a:avLst/>
          </a:prstGeom>
          <a:noFill/>
          <a:ln cap="flat" cmpd="sng" w="28575">
            <a:solidFill>
              <a:srgbClr val="38761D"/>
            </a:solidFill>
            <a:prstDash val="solid"/>
            <a:round/>
            <a:headEnd len="med" w="med" type="none"/>
            <a:tailEnd len="med" w="med" type="triangle"/>
          </a:ln>
        </p:spPr>
      </p:cxnSp>
      <p:sp>
        <p:nvSpPr>
          <p:cNvPr id="339" name="Google Shape;339;p44"/>
          <p:cNvSpPr txBox="1"/>
          <p:nvPr/>
        </p:nvSpPr>
        <p:spPr>
          <a:xfrm>
            <a:off x="7209150" y="2328600"/>
            <a:ext cx="1191600" cy="3582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Current flow</a:t>
            </a:r>
            <a:endParaRPr>
              <a:solidFill>
                <a:srgbClr val="38761D"/>
              </a:solidFill>
            </a:endParaRPr>
          </a:p>
        </p:txBody>
      </p:sp>
      <p:cxnSp>
        <p:nvCxnSpPr>
          <p:cNvPr id="340" name="Google Shape;340;p44"/>
          <p:cNvCxnSpPr/>
          <p:nvPr/>
        </p:nvCxnSpPr>
        <p:spPr>
          <a:xfrm>
            <a:off x="5569500" y="1934125"/>
            <a:ext cx="1032600" cy="0"/>
          </a:xfrm>
          <a:prstGeom prst="straightConnector1">
            <a:avLst/>
          </a:prstGeom>
          <a:noFill/>
          <a:ln cap="flat" cmpd="sng" w="28575">
            <a:solidFill>
              <a:srgbClr val="38761D"/>
            </a:solidFill>
            <a:prstDash val="solid"/>
            <a:round/>
            <a:headEnd len="med" w="med" type="none"/>
            <a:tailEnd len="med" w="med" type="triangle"/>
          </a:ln>
        </p:spPr>
      </p:cxnSp>
      <p:pic>
        <p:nvPicPr>
          <p:cNvPr id="341" name="Google Shape;341;p44"/>
          <p:cNvPicPr preferRelativeResize="0"/>
          <p:nvPr/>
        </p:nvPicPr>
        <p:blipFill rotWithShape="1">
          <a:blip r:embed="rId4">
            <a:alphaModFix/>
          </a:blip>
          <a:srcRect b="7388" l="0" r="0" t="7397"/>
          <a:stretch/>
        </p:blipFill>
        <p:spPr>
          <a:xfrm>
            <a:off x="5231275" y="3929775"/>
            <a:ext cx="2741650" cy="2336476"/>
          </a:xfrm>
          <a:prstGeom prst="rect">
            <a:avLst/>
          </a:prstGeom>
          <a:noFill/>
          <a:ln>
            <a:noFill/>
          </a:ln>
        </p:spPr>
      </p:pic>
      <p:sp>
        <p:nvSpPr>
          <p:cNvPr id="342" name="Google Shape;342;p44"/>
          <p:cNvSpPr txBox="1"/>
          <p:nvPr/>
        </p:nvSpPr>
        <p:spPr>
          <a:xfrm>
            <a:off x="4392000" y="6300875"/>
            <a:ext cx="4420200" cy="35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https://www.switchelectronics.co.uk/blog/post/ledpolarity.html</a:t>
            </a:r>
            <a:endParaRPr sz="1200"/>
          </a:p>
        </p:txBody>
      </p:sp>
      <p:pic>
        <p:nvPicPr>
          <p:cNvPr id="343" name="Google Shape;343;p44"/>
          <p:cNvPicPr preferRelativeResize="0"/>
          <p:nvPr/>
        </p:nvPicPr>
        <p:blipFill rotWithShape="1">
          <a:blip r:embed="rId5">
            <a:alphaModFix/>
          </a:blip>
          <a:srcRect b="26629" l="0" r="0" t="33820"/>
          <a:stretch/>
        </p:blipFill>
        <p:spPr>
          <a:xfrm>
            <a:off x="3340526" y="3484200"/>
            <a:ext cx="1326674" cy="52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5"/>
          <p:cNvPicPr preferRelativeResize="0"/>
          <p:nvPr/>
        </p:nvPicPr>
        <p:blipFill>
          <a:blip r:embed="rId3">
            <a:alphaModFix/>
          </a:blip>
          <a:stretch>
            <a:fillRect/>
          </a:stretch>
        </p:blipFill>
        <p:spPr>
          <a:xfrm>
            <a:off x="4412775" y="2039850"/>
            <a:ext cx="4694100" cy="4723276"/>
          </a:xfrm>
          <a:prstGeom prst="rect">
            <a:avLst/>
          </a:prstGeom>
          <a:noFill/>
          <a:ln>
            <a:noFill/>
          </a:ln>
        </p:spPr>
      </p:pic>
      <p:pic>
        <p:nvPicPr>
          <p:cNvPr id="349" name="Google Shape;349;p45"/>
          <p:cNvPicPr preferRelativeResize="0"/>
          <p:nvPr/>
        </p:nvPicPr>
        <p:blipFill>
          <a:blip r:embed="rId4">
            <a:alphaModFix/>
          </a:blip>
          <a:stretch>
            <a:fillRect/>
          </a:stretch>
        </p:blipFill>
        <p:spPr>
          <a:xfrm>
            <a:off x="4833575" y="484482"/>
            <a:ext cx="3852508" cy="2336475"/>
          </a:xfrm>
          <a:prstGeom prst="rect">
            <a:avLst/>
          </a:prstGeom>
          <a:noFill/>
          <a:ln>
            <a:noFill/>
          </a:ln>
        </p:spPr>
      </p:pic>
      <p:sp>
        <p:nvSpPr>
          <p:cNvPr id="350" name="Google Shape;350;p45"/>
          <p:cNvSpPr txBox="1"/>
          <p:nvPr>
            <p:ph type="title"/>
          </p:nvPr>
        </p:nvSpPr>
        <p:spPr>
          <a:xfrm>
            <a:off x="235500" y="517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Measurements</a:t>
            </a:r>
            <a:endParaRPr/>
          </a:p>
        </p:txBody>
      </p:sp>
      <p:sp>
        <p:nvSpPr>
          <p:cNvPr id="351" name="Google Shape;351;p45"/>
          <p:cNvSpPr txBox="1"/>
          <p:nvPr>
            <p:ph idx="1" type="body"/>
          </p:nvPr>
        </p:nvSpPr>
        <p:spPr>
          <a:xfrm>
            <a:off x="349675" y="1280675"/>
            <a:ext cx="4173000" cy="45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Check your wiring, then power the board.  Make sure the LED is on.  If not, check your wiring (is the LED in </a:t>
            </a:r>
            <a:r>
              <a:rPr lang="en" sz="1600">
                <a:solidFill>
                  <a:schemeClr val="dk1"/>
                </a:solidFill>
              </a:rPr>
              <a:t>backwards</a:t>
            </a:r>
            <a:r>
              <a:rPr lang="en" sz="1600">
                <a:solidFill>
                  <a:schemeClr val="dk1"/>
                </a:solidFill>
              </a:rPr>
              <a:t>?).</a:t>
            </a:r>
            <a:endParaRPr sz="1600">
              <a:solidFill>
                <a:schemeClr val="dk1"/>
              </a:solidFill>
            </a:endParaRPr>
          </a:p>
          <a:p>
            <a:pPr indent="-342900" lvl="0" marL="457200" rtl="0" algn="l">
              <a:spcBef>
                <a:spcPts val="1600"/>
              </a:spcBef>
              <a:spcAft>
                <a:spcPts val="0"/>
              </a:spcAft>
              <a:buClr>
                <a:srgbClr val="000000"/>
              </a:buClr>
              <a:buSzPts val="1800"/>
              <a:buChar char="●"/>
            </a:pPr>
            <a:r>
              <a:rPr lang="en" sz="1600">
                <a:solidFill>
                  <a:srgbClr val="000000"/>
                </a:solidFill>
              </a:rPr>
              <a:t>Measure the three voltages: Vcc (power to ground), V</a:t>
            </a:r>
            <a:r>
              <a:rPr baseline="-25000" lang="en" sz="1600">
                <a:solidFill>
                  <a:srgbClr val="000000"/>
                </a:solidFill>
              </a:rPr>
              <a:t>F</a:t>
            </a:r>
            <a:r>
              <a:rPr lang="en" sz="1600">
                <a:solidFill>
                  <a:srgbClr val="000000"/>
                </a:solidFill>
              </a:rPr>
              <a:t> (anode to cathode), and V</a:t>
            </a:r>
            <a:r>
              <a:rPr baseline="-25000" lang="en" sz="1600">
                <a:solidFill>
                  <a:srgbClr val="000000"/>
                </a:solidFill>
              </a:rPr>
              <a:t>R</a:t>
            </a:r>
            <a:r>
              <a:rPr lang="en" sz="1600">
                <a:solidFill>
                  <a:srgbClr val="000000"/>
                </a:solidFill>
              </a:rPr>
              <a:t> (cathode to ground).  Confirm that Vcc = V</a:t>
            </a:r>
            <a:r>
              <a:rPr baseline="-25000" lang="en" sz="1600">
                <a:solidFill>
                  <a:srgbClr val="000000"/>
                </a:solidFill>
              </a:rPr>
              <a:t>F</a:t>
            </a:r>
            <a:r>
              <a:rPr lang="en" sz="1600">
                <a:solidFill>
                  <a:srgbClr val="000000"/>
                </a:solidFill>
              </a:rPr>
              <a:t> + V</a:t>
            </a:r>
            <a:r>
              <a:rPr baseline="-25000" lang="en" sz="1600">
                <a:solidFill>
                  <a:srgbClr val="000000"/>
                </a:solidFill>
              </a:rPr>
              <a:t>R</a:t>
            </a:r>
            <a:r>
              <a:rPr lang="en" sz="1600">
                <a:solidFill>
                  <a:srgbClr val="000000"/>
                </a:solidFill>
              </a:rPr>
              <a:t>.</a:t>
            </a:r>
            <a:r>
              <a:rPr b="1" lang="en">
                <a:solidFill>
                  <a:srgbClr val="000000"/>
                </a:solidFill>
              </a:rPr>
              <a:t> </a:t>
            </a:r>
            <a:endParaRPr b="1">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Using Ohm’s Law, what is the current I</a:t>
            </a:r>
            <a:r>
              <a:rPr baseline="-25000" lang="en" sz="1600">
                <a:solidFill>
                  <a:srgbClr val="000000"/>
                </a:solidFill>
              </a:rPr>
              <a:t>F</a:t>
            </a:r>
            <a:r>
              <a:rPr lang="en" sz="1600">
                <a:solidFill>
                  <a:srgbClr val="000000"/>
                </a:solidFill>
              </a:rPr>
              <a:t> flowing through the LED?</a:t>
            </a:r>
            <a:endParaRPr sz="1600">
              <a:solidFill>
                <a:srgbClr val="000000"/>
              </a:solidFill>
            </a:endParaRPr>
          </a:p>
          <a:p>
            <a:pPr indent="0" lvl="0" marL="0" rtl="0" algn="l">
              <a:spcBef>
                <a:spcPts val="1600"/>
              </a:spcBef>
              <a:spcAft>
                <a:spcPts val="0"/>
              </a:spcAft>
              <a:buNone/>
            </a:pPr>
            <a:r>
              <a:rPr lang="en" sz="1600">
                <a:solidFill>
                  <a:srgbClr val="000000"/>
                </a:solidFill>
              </a:rPr>
              <a:t>Look up V</a:t>
            </a:r>
            <a:r>
              <a:rPr baseline="-25000" lang="en" sz="1600">
                <a:solidFill>
                  <a:srgbClr val="000000"/>
                </a:solidFill>
              </a:rPr>
              <a:t>F</a:t>
            </a:r>
            <a:r>
              <a:rPr lang="en" sz="1600">
                <a:solidFill>
                  <a:srgbClr val="000000"/>
                </a:solidFill>
              </a:rPr>
              <a:t> on the LED data sheet and compare with your measurement.</a:t>
            </a:r>
            <a:endParaRPr sz="1600">
              <a:solidFill>
                <a:srgbClr val="000000"/>
              </a:solidFill>
            </a:endParaRPr>
          </a:p>
          <a:p>
            <a:pPr indent="0" lvl="0" marL="0" rtl="0" algn="l">
              <a:spcBef>
                <a:spcPts val="1600"/>
              </a:spcBef>
              <a:spcAft>
                <a:spcPts val="1600"/>
              </a:spcAft>
              <a:buNone/>
            </a:pPr>
            <a:r>
              <a:rPr lang="en" sz="1600">
                <a:solidFill>
                  <a:srgbClr val="000000"/>
                </a:solidFill>
              </a:rPr>
              <a:t>Compare V</a:t>
            </a:r>
            <a:r>
              <a:rPr baseline="-25000" lang="en" sz="1600">
                <a:solidFill>
                  <a:srgbClr val="000000"/>
                </a:solidFill>
              </a:rPr>
              <a:t>F</a:t>
            </a:r>
            <a:r>
              <a:rPr lang="en" sz="1600">
                <a:solidFill>
                  <a:srgbClr val="000000"/>
                </a:solidFill>
              </a:rPr>
              <a:t> of red and green LEDs with your partners.</a:t>
            </a:r>
            <a:endParaRPr sz="1600">
              <a:solidFill>
                <a:srgbClr val="000000"/>
              </a:solidFill>
            </a:endParaRPr>
          </a:p>
        </p:txBody>
      </p:sp>
      <p:sp>
        <p:nvSpPr>
          <p:cNvPr id="352" name="Google Shape;352;p45"/>
          <p:cNvSpPr txBox="1"/>
          <p:nvPr>
            <p:ph idx="12" type="sldNum"/>
          </p:nvPr>
        </p:nvSpPr>
        <p:spPr>
          <a:xfrm>
            <a:off x="8396258" y="61414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cxnSp>
        <p:nvCxnSpPr>
          <p:cNvPr id="353" name="Google Shape;353;p45"/>
          <p:cNvCxnSpPr/>
          <p:nvPr/>
        </p:nvCxnSpPr>
        <p:spPr>
          <a:xfrm>
            <a:off x="6525900" y="943513"/>
            <a:ext cx="0" cy="1418400"/>
          </a:xfrm>
          <a:prstGeom prst="straightConnector1">
            <a:avLst/>
          </a:prstGeom>
          <a:noFill/>
          <a:ln cap="flat" cmpd="sng" w="28575">
            <a:solidFill>
              <a:srgbClr val="38761D"/>
            </a:solidFill>
            <a:prstDash val="solid"/>
            <a:round/>
            <a:headEnd len="med" w="med" type="none"/>
            <a:tailEnd len="med" w="med" type="triangle"/>
          </a:ln>
        </p:spPr>
      </p:cxnSp>
      <p:cxnSp>
        <p:nvCxnSpPr>
          <p:cNvPr id="354" name="Google Shape;354;p45"/>
          <p:cNvCxnSpPr/>
          <p:nvPr/>
        </p:nvCxnSpPr>
        <p:spPr>
          <a:xfrm flipH="1" rot="10800000">
            <a:off x="6971325" y="790050"/>
            <a:ext cx="2400" cy="1249800"/>
          </a:xfrm>
          <a:prstGeom prst="straightConnector1">
            <a:avLst/>
          </a:prstGeom>
          <a:noFill/>
          <a:ln cap="flat" cmpd="sng" w="28575">
            <a:solidFill>
              <a:srgbClr val="38761D"/>
            </a:solidFill>
            <a:prstDash val="solid"/>
            <a:round/>
            <a:headEnd len="med" w="med" type="none"/>
            <a:tailEnd len="med" w="med" type="triangle"/>
          </a:ln>
        </p:spPr>
      </p:cxnSp>
      <p:cxnSp>
        <p:nvCxnSpPr>
          <p:cNvPr id="355" name="Google Shape;355;p45"/>
          <p:cNvCxnSpPr/>
          <p:nvPr/>
        </p:nvCxnSpPr>
        <p:spPr>
          <a:xfrm rot="10800000">
            <a:off x="5398175" y="599850"/>
            <a:ext cx="1032600" cy="0"/>
          </a:xfrm>
          <a:prstGeom prst="straightConnector1">
            <a:avLst/>
          </a:prstGeom>
          <a:noFill/>
          <a:ln cap="flat" cmpd="sng" w="28575">
            <a:solidFill>
              <a:srgbClr val="38761D"/>
            </a:solidFill>
            <a:prstDash val="solid"/>
            <a:round/>
            <a:headEnd len="med" w="med" type="none"/>
            <a:tailEnd len="med" w="med" type="triangle"/>
          </a:ln>
        </p:spPr>
      </p:cxnSp>
      <p:sp>
        <p:nvSpPr>
          <p:cNvPr id="356" name="Google Shape;356;p45"/>
          <p:cNvSpPr txBox="1"/>
          <p:nvPr/>
        </p:nvSpPr>
        <p:spPr>
          <a:xfrm>
            <a:off x="7132950" y="1338000"/>
            <a:ext cx="1191600" cy="3582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Current flow</a:t>
            </a:r>
            <a:endParaRPr>
              <a:solidFill>
                <a:srgbClr val="38761D"/>
              </a:solidFill>
            </a:endParaRPr>
          </a:p>
        </p:txBody>
      </p:sp>
      <p:cxnSp>
        <p:nvCxnSpPr>
          <p:cNvPr id="357" name="Google Shape;357;p45"/>
          <p:cNvCxnSpPr/>
          <p:nvPr/>
        </p:nvCxnSpPr>
        <p:spPr>
          <a:xfrm>
            <a:off x="5493300" y="943525"/>
            <a:ext cx="1032600" cy="0"/>
          </a:xfrm>
          <a:prstGeom prst="straightConnector1">
            <a:avLst/>
          </a:prstGeom>
          <a:noFill/>
          <a:ln cap="flat" cmpd="sng" w="28575">
            <a:solidFill>
              <a:srgbClr val="38761D"/>
            </a:solidFill>
            <a:prstDash val="solid"/>
            <a:round/>
            <a:headEnd len="med" w="med" type="none"/>
            <a:tailEnd len="med" w="med" type="triangle"/>
          </a:ln>
        </p:spPr>
      </p:cxnSp>
      <p:sp>
        <p:nvSpPr>
          <p:cNvPr id="358" name="Google Shape;358;p45"/>
          <p:cNvSpPr/>
          <p:nvPr/>
        </p:nvSpPr>
        <p:spPr>
          <a:xfrm>
            <a:off x="4412776" y="6340925"/>
            <a:ext cx="1875900" cy="3252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46"/>
          <p:cNvPicPr preferRelativeResize="0"/>
          <p:nvPr/>
        </p:nvPicPr>
        <p:blipFill>
          <a:blip r:embed="rId3">
            <a:alphaModFix/>
          </a:blip>
          <a:stretch>
            <a:fillRect/>
          </a:stretch>
        </p:blipFill>
        <p:spPr>
          <a:xfrm>
            <a:off x="4909775" y="1475082"/>
            <a:ext cx="3852508" cy="2336475"/>
          </a:xfrm>
          <a:prstGeom prst="rect">
            <a:avLst/>
          </a:prstGeom>
          <a:noFill/>
          <a:ln>
            <a:noFill/>
          </a:ln>
        </p:spPr>
      </p:pic>
      <p:sp>
        <p:nvSpPr>
          <p:cNvPr id="364" name="Google Shape;364;p4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measurements</a:t>
            </a:r>
            <a:endParaRPr/>
          </a:p>
        </p:txBody>
      </p:sp>
      <p:sp>
        <p:nvSpPr>
          <p:cNvPr id="365" name="Google Shape;365;p46"/>
          <p:cNvSpPr txBox="1"/>
          <p:nvPr>
            <p:ph idx="1" type="body"/>
          </p:nvPr>
        </p:nvSpPr>
        <p:spPr>
          <a:xfrm>
            <a:off x="425875" y="1356875"/>
            <a:ext cx="4173000" cy="4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Select a 1000 ohm (1K) resistor from your kit (brown-black-black-brown, 5 bands). </a:t>
            </a:r>
            <a:endParaRPr sz="1600">
              <a:solidFill>
                <a:schemeClr val="dk1"/>
              </a:solidFill>
            </a:endParaRPr>
          </a:p>
          <a:p>
            <a:pPr indent="0" lvl="0" marL="0" rtl="0" algn="l">
              <a:spcBef>
                <a:spcPts val="1600"/>
              </a:spcBef>
              <a:spcAft>
                <a:spcPts val="0"/>
              </a:spcAft>
              <a:buNone/>
            </a:pPr>
            <a:r>
              <a:t/>
            </a:r>
            <a:endParaRPr sz="1600">
              <a:solidFill>
                <a:schemeClr val="dk1"/>
              </a:solidFill>
            </a:endParaRPr>
          </a:p>
          <a:p>
            <a:pPr indent="0" lvl="0" marL="0" rtl="0" algn="l">
              <a:spcBef>
                <a:spcPts val="1600"/>
              </a:spcBef>
              <a:spcAft>
                <a:spcPts val="0"/>
              </a:spcAft>
              <a:buNone/>
            </a:pPr>
            <a:r>
              <a:rPr lang="en" sz="1600">
                <a:solidFill>
                  <a:schemeClr val="dk1"/>
                </a:solidFill>
              </a:rPr>
              <a:t>Measure its resistance with the multimeter. Is the measured resistance within 1% of 1000 ohms?</a:t>
            </a:r>
            <a:endParaRPr sz="1600">
              <a:solidFill>
                <a:schemeClr val="dk1"/>
              </a:solidFill>
            </a:endParaRPr>
          </a:p>
          <a:p>
            <a:pPr indent="0" lvl="0" marL="0" rtl="0" algn="l">
              <a:spcBef>
                <a:spcPts val="1600"/>
              </a:spcBef>
              <a:spcAft>
                <a:spcPts val="0"/>
              </a:spcAft>
              <a:buNone/>
            </a:pPr>
            <a:r>
              <a:rPr lang="en" sz="1600">
                <a:solidFill>
                  <a:srgbClr val="FF0000"/>
                </a:solidFill>
              </a:rPr>
              <a:t>Power off the board</a:t>
            </a:r>
            <a:r>
              <a:rPr lang="en" sz="1600">
                <a:solidFill>
                  <a:schemeClr val="dk1"/>
                </a:solidFill>
              </a:rPr>
              <a:t>, replace the 220 ohm resistor with a 1000 ohm (1K) resistor.   </a:t>
            </a:r>
            <a:endParaRPr sz="1600">
              <a:solidFill>
                <a:schemeClr val="dk1"/>
              </a:solidFill>
            </a:endParaRPr>
          </a:p>
          <a:p>
            <a:pPr indent="0" lvl="0" marL="0" rtl="0" algn="l">
              <a:spcBef>
                <a:spcPts val="1600"/>
              </a:spcBef>
              <a:spcAft>
                <a:spcPts val="0"/>
              </a:spcAft>
              <a:buNone/>
            </a:pPr>
            <a:r>
              <a:rPr lang="en" sz="1600">
                <a:solidFill>
                  <a:srgbClr val="FF0000"/>
                </a:solidFill>
              </a:rPr>
              <a:t>Power up the board </a:t>
            </a:r>
            <a:r>
              <a:rPr lang="en" sz="1600">
                <a:solidFill>
                  <a:schemeClr val="dk1"/>
                </a:solidFill>
              </a:rPr>
              <a:t>and repeat the measurements.  </a:t>
            </a:r>
            <a:r>
              <a:rPr lang="en" sz="1600">
                <a:solidFill>
                  <a:srgbClr val="000000"/>
                </a:solidFill>
              </a:rPr>
              <a:t>Vcc, V</a:t>
            </a:r>
            <a:r>
              <a:rPr baseline="-25000" lang="en" sz="1600">
                <a:solidFill>
                  <a:srgbClr val="000000"/>
                </a:solidFill>
              </a:rPr>
              <a:t>F</a:t>
            </a:r>
            <a:r>
              <a:rPr lang="en" sz="1600">
                <a:solidFill>
                  <a:srgbClr val="000000"/>
                </a:solidFill>
              </a:rPr>
              <a:t>, V</a:t>
            </a:r>
            <a:r>
              <a:rPr baseline="-25000" lang="en" sz="1600">
                <a:solidFill>
                  <a:srgbClr val="000000"/>
                </a:solidFill>
              </a:rPr>
              <a:t>R</a:t>
            </a:r>
            <a:r>
              <a:rPr lang="en" sz="1600">
                <a:solidFill>
                  <a:srgbClr val="000000"/>
                </a:solidFill>
              </a:rPr>
              <a:t>, I</a:t>
            </a:r>
            <a:r>
              <a:rPr baseline="-25000" lang="en" sz="1600">
                <a:solidFill>
                  <a:srgbClr val="000000"/>
                </a:solidFill>
              </a:rPr>
              <a:t>F</a:t>
            </a:r>
            <a:r>
              <a:rPr b="1" lang="en">
                <a:solidFill>
                  <a:srgbClr val="000000"/>
                </a:solidFill>
              </a:rPr>
              <a:t> </a:t>
            </a:r>
            <a:endParaRPr b="1">
              <a:solidFill>
                <a:srgbClr val="000000"/>
              </a:solidFill>
            </a:endParaRPr>
          </a:p>
          <a:p>
            <a:pPr indent="-330200" lvl="0" marL="457200" rtl="0" algn="l">
              <a:spcBef>
                <a:spcPts val="1600"/>
              </a:spcBef>
              <a:spcAft>
                <a:spcPts val="0"/>
              </a:spcAft>
              <a:buClr>
                <a:srgbClr val="000000"/>
              </a:buClr>
              <a:buSzPts val="1600"/>
              <a:buChar char="●"/>
            </a:pPr>
            <a:r>
              <a:rPr lang="en" sz="1600">
                <a:solidFill>
                  <a:srgbClr val="000000"/>
                </a:solidFill>
              </a:rPr>
              <a:t>Compare voltages, currents and brightnesses for the two resistors.</a:t>
            </a:r>
            <a:endParaRPr sz="1600">
              <a:solidFill>
                <a:srgbClr val="000000"/>
              </a:solidFill>
            </a:endParaRPr>
          </a:p>
        </p:txBody>
      </p:sp>
      <p:sp>
        <p:nvSpPr>
          <p:cNvPr id="366" name="Google Shape;366;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cxnSp>
        <p:nvCxnSpPr>
          <p:cNvPr id="367" name="Google Shape;367;p46"/>
          <p:cNvCxnSpPr/>
          <p:nvPr/>
        </p:nvCxnSpPr>
        <p:spPr>
          <a:xfrm>
            <a:off x="6602100" y="1934113"/>
            <a:ext cx="0" cy="1418400"/>
          </a:xfrm>
          <a:prstGeom prst="straightConnector1">
            <a:avLst/>
          </a:prstGeom>
          <a:noFill/>
          <a:ln cap="flat" cmpd="sng" w="28575">
            <a:solidFill>
              <a:srgbClr val="38761D"/>
            </a:solidFill>
            <a:prstDash val="solid"/>
            <a:round/>
            <a:headEnd len="med" w="med" type="none"/>
            <a:tailEnd len="med" w="med" type="triangle"/>
          </a:ln>
        </p:spPr>
      </p:cxnSp>
      <p:cxnSp>
        <p:nvCxnSpPr>
          <p:cNvPr id="368" name="Google Shape;368;p46"/>
          <p:cNvCxnSpPr/>
          <p:nvPr/>
        </p:nvCxnSpPr>
        <p:spPr>
          <a:xfrm flipH="1" rot="10800000">
            <a:off x="7047525" y="1780650"/>
            <a:ext cx="2400" cy="1249800"/>
          </a:xfrm>
          <a:prstGeom prst="straightConnector1">
            <a:avLst/>
          </a:prstGeom>
          <a:noFill/>
          <a:ln cap="flat" cmpd="sng" w="28575">
            <a:solidFill>
              <a:srgbClr val="38761D"/>
            </a:solidFill>
            <a:prstDash val="solid"/>
            <a:round/>
            <a:headEnd len="med" w="med" type="none"/>
            <a:tailEnd len="med" w="med" type="triangle"/>
          </a:ln>
        </p:spPr>
      </p:cxnSp>
      <p:cxnSp>
        <p:nvCxnSpPr>
          <p:cNvPr id="369" name="Google Shape;369;p46"/>
          <p:cNvCxnSpPr/>
          <p:nvPr/>
        </p:nvCxnSpPr>
        <p:spPr>
          <a:xfrm rot="10800000">
            <a:off x="5474375" y="1590450"/>
            <a:ext cx="1032600" cy="0"/>
          </a:xfrm>
          <a:prstGeom prst="straightConnector1">
            <a:avLst/>
          </a:prstGeom>
          <a:noFill/>
          <a:ln cap="flat" cmpd="sng" w="28575">
            <a:solidFill>
              <a:srgbClr val="38761D"/>
            </a:solidFill>
            <a:prstDash val="solid"/>
            <a:round/>
            <a:headEnd len="med" w="med" type="none"/>
            <a:tailEnd len="med" w="med" type="triangle"/>
          </a:ln>
        </p:spPr>
      </p:cxnSp>
      <p:sp>
        <p:nvSpPr>
          <p:cNvPr id="370" name="Google Shape;370;p46"/>
          <p:cNvSpPr txBox="1"/>
          <p:nvPr/>
        </p:nvSpPr>
        <p:spPr>
          <a:xfrm>
            <a:off x="7209150" y="2328600"/>
            <a:ext cx="1191600" cy="3582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Current flow</a:t>
            </a:r>
            <a:endParaRPr>
              <a:solidFill>
                <a:srgbClr val="38761D"/>
              </a:solidFill>
            </a:endParaRPr>
          </a:p>
        </p:txBody>
      </p:sp>
      <p:cxnSp>
        <p:nvCxnSpPr>
          <p:cNvPr id="371" name="Google Shape;371;p46"/>
          <p:cNvCxnSpPr/>
          <p:nvPr/>
        </p:nvCxnSpPr>
        <p:spPr>
          <a:xfrm>
            <a:off x="5569500" y="1934125"/>
            <a:ext cx="1032600" cy="0"/>
          </a:xfrm>
          <a:prstGeom prst="straightConnector1">
            <a:avLst/>
          </a:prstGeom>
          <a:noFill/>
          <a:ln cap="flat" cmpd="sng" w="28575">
            <a:solidFill>
              <a:srgbClr val="38761D"/>
            </a:solidFill>
            <a:prstDash val="solid"/>
            <a:round/>
            <a:headEnd len="med" w="med" type="none"/>
            <a:tailEnd len="med" w="med" type="triangle"/>
          </a:ln>
        </p:spPr>
      </p:cxnSp>
      <p:pic>
        <p:nvPicPr>
          <p:cNvPr id="372" name="Google Shape;372;p46"/>
          <p:cNvPicPr preferRelativeResize="0"/>
          <p:nvPr/>
        </p:nvPicPr>
        <p:blipFill rotWithShape="1">
          <a:blip r:embed="rId4">
            <a:alphaModFix/>
          </a:blip>
          <a:srcRect b="23938" l="0" r="0" t="24714"/>
          <a:stretch/>
        </p:blipFill>
        <p:spPr>
          <a:xfrm>
            <a:off x="1445775" y="2068648"/>
            <a:ext cx="1425143" cy="524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id="377" name="Google Shape;377;p47"/>
          <p:cNvPicPr preferRelativeResize="0"/>
          <p:nvPr/>
        </p:nvPicPr>
        <p:blipFill rotWithShape="1">
          <a:blip r:embed="rId3">
            <a:alphaModFix/>
          </a:blip>
          <a:srcRect b="0" l="0" r="37633" t="0"/>
          <a:stretch/>
        </p:blipFill>
        <p:spPr>
          <a:xfrm>
            <a:off x="4296425" y="880500"/>
            <a:ext cx="4331301" cy="5773577"/>
          </a:xfrm>
          <a:prstGeom prst="rect">
            <a:avLst/>
          </a:prstGeom>
          <a:noFill/>
          <a:ln>
            <a:noFill/>
          </a:ln>
        </p:spPr>
      </p:pic>
      <p:sp>
        <p:nvSpPr>
          <p:cNvPr id="378" name="Google Shape;378;p47"/>
          <p:cNvSpPr txBox="1"/>
          <p:nvPr>
            <p:ph type="title"/>
          </p:nvPr>
        </p:nvSpPr>
        <p:spPr>
          <a:xfrm>
            <a:off x="311700" y="197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up an LED on the breadboard</a:t>
            </a:r>
            <a:endParaRPr/>
          </a:p>
        </p:txBody>
      </p:sp>
      <p:sp>
        <p:nvSpPr>
          <p:cNvPr id="379" name="Google Shape;379;p47"/>
          <p:cNvSpPr txBox="1"/>
          <p:nvPr>
            <p:ph idx="1" type="body"/>
          </p:nvPr>
        </p:nvSpPr>
        <p:spPr>
          <a:xfrm>
            <a:off x="449150" y="1032425"/>
            <a:ext cx="3498000" cy="504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Let's make an "external" LED blink, one that is on your breadboard rather than the Nucloe board.</a:t>
            </a:r>
            <a:endParaRPr sz="1600"/>
          </a:p>
          <a:p>
            <a:pPr indent="0" lvl="0" marL="0" rtl="0" algn="l">
              <a:spcBef>
                <a:spcPts val="1600"/>
              </a:spcBef>
              <a:spcAft>
                <a:spcPts val="0"/>
              </a:spcAft>
              <a:buNone/>
            </a:pPr>
            <a:r>
              <a:rPr lang="en" sz="1600">
                <a:solidFill>
                  <a:srgbClr val="FF0000"/>
                </a:solidFill>
              </a:rPr>
              <a:t>Unplug the Nucleo from your computer or any other source of power.</a:t>
            </a:r>
            <a:r>
              <a:rPr lang="en" sz="1600"/>
              <a:t> B</a:t>
            </a:r>
            <a:r>
              <a:rPr lang="en" sz="1600"/>
              <a:t>uild the circuit shown to the right.  Again, use the </a:t>
            </a:r>
            <a:r>
              <a:rPr b="1" lang="en" sz="1600"/>
              <a:t>220 ohm resistor</a:t>
            </a:r>
            <a:r>
              <a:rPr lang="en" sz="1600"/>
              <a:t>. </a:t>
            </a:r>
            <a:endParaRPr sz="1600"/>
          </a:p>
          <a:p>
            <a:pPr indent="0" lvl="0" marL="0" rtl="0" algn="l">
              <a:spcBef>
                <a:spcPts val="1600"/>
              </a:spcBef>
              <a:spcAft>
                <a:spcPts val="0"/>
              </a:spcAft>
              <a:buNone/>
            </a:pPr>
            <a:r>
              <a:rPr lang="en" sz="1600">
                <a:solidFill>
                  <a:srgbClr val="000000"/>
                </a:solidFill>
              </a:rPr>
              <a:t>“Pin D13” (Port A, Bit 5), will be the voltage source now</a:t>
            </a:r>
            <a:r>
              <a:rPr lang="en" sz="1400">
                <a:solidFill>
                  <a:srgbClr val="000000"/>
                </a:solidFill>
              </a:rPr>
              <a:t>.  </a:t>
            </a:r>
            <a:r>
              <a:rPr lang="en" sz="1600">
                <a:solidFill>
                  <a:srgbClr val="000000"/>
                </a:solidFill>
              </a:rPr>
              <a:t>Make sure the anode (+) lead is connected to pin 13, and the cathode (–) lead is connected to ground, through the  220 ohm resistor.</a:t>
            </a:r>
            <a:endParaRPr sz="1600">
              <a:solidFill>
                <a:srgbClr val="000000"/>
              </a:solidFill>
            </a:endParaRPr>
          </a:p>
          <a:p>
            <a:pPr indent="0" lvl="0" marL="0" rtl="0" algn="l">
              <a:spcBef>
                <a:spcPts val="1600"/>
              </a:spcBef>
              <a:spcAft>
                <a:spcPts val="1600"/>
              </a:spcAft>
              <a:buNone/>
            </a:pPr>
            <a:r>
              <a:rPr b="1" lang="en">
                <a:solidFill>
                  <a:srgbClr val="000000"/>
                </a:solidFill>
              </a:rPr>
              <a:t> </a:t>
            </a:r>
            <a:endParaRPr b="1">
              <a:solidFill>
                <a:srgbClr val="000000"/>
              </a:solidFill>
            </a:endParaRPr>
          </a:p>
        </p:txBody>
      </p:sp>
      <p:sp>
        <p:nvSpPr>
          <p:cNvPr id="380" name="Google Shape;380;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cxnSp>
        <p:nvCxnSpPr>
          <p:cNvPr id="381" name="Google Shape;381;p47"/>
          <p:cNvCxnSpPr/>
          <p:nvPr/>
        </p:nvCxnSpPr>
        <p:spPr>
          <a:xfrm>
            <a:off x="6541725" y="2229100"/>
            <a:ext cx="25200" cy="670200"/>
          </a:xfrm>
          <a:prstGeom prst="straightConnector1">
            <a:avLst/>
          </a:prstGeom>
          <a:noFill/>
          <a:ln cap="flat" cmpd="sng" w="28575">
            <a:solidFill>
              <a:srgbClr val="38761D"/>
            </a:solidFill>
            <a:prstDash val="solid"/>
            <a:round/>
            <a:headEnd len="med" w="med" type="none"/>
            <a:tailEnd len="med" w="med" type="triangle"/>
          </a:ln>
        </p:spPr>
      </p:cxnSp>
      <p:cxnSp>
        <p:nvCxnSpPr>
          <p:cNvPr id="382" name="Google Shape;382;p47"/>
          <p:cNvCxnSpPr/>
          <p:nvPr/>
        </p:nvCxnSpPr>
        <p:spPr>
          <a:xfrm flipH="1" rot="10800000">
            <a:off x="6920325" y="2212300"/>
            <a:ext cx="7500" cy="1360500"/>
          </a:xfrm>
          <a:prstGeom prst="straightConnector1">
            <a:avLst/>
          </a:prstGeom>
          <a:noFill/>
          <a:ln cap="flat" cmpd="sng" w="28575">
            <a:solidFill>
              <a:srgbClr val="38761D"/>
            </a:solidFill>
            <a:prstDash val="solid"/>
            <a:round/>
            <a:headEnd len="med" w="med" type="none"/>
            <a:tailEnd len="med" w="med" type="triangle"/>
          </a:ln>
        </p:spPr>
      </p:cxnSp>
      <p:cxnSp>
        <p:nvCxnSpPr>
          <p:cNvPr id="383" name="Google Shape;383;p47"/>
          <p:cNvCxnSpPr/>
          <p:nvPr/>
        </p:nvCxnSpPr>
        <p:spPr>
          <a:xfrm rot="10800000">
            <a:off x="4797000" y="2887600"/>
            <a:ext cx="1577700" cy="10800"/>
          </a:xfrm>
          <a:prstGeom prst="straightConnector1">
            <a:avLst/>
          </a:prstGeom>
          <a:noFill/>
          <a:ln cap="flat" cmpd="sng" w="28575">
            <a:solidFill>
              <a:srgbClr val="38761D"/>
            </a:solidFill>
            <a:prstDash val="solid"/>
            <a:round/>
            <a:headEnd len="med" w="med" type="none"/>
            <a:tailEnd len="med" w="med" type="triangle"/>
          </a:ln>
        </p:spPr>
      </p:cxnSp>
      <p:sp>
        <p:nvSpPr>
          <p:cNvPr id="384" name="Google Shape;384;p47"/>
          <p:cNvSpPr txBox="1"/>
          <p:nvPr/>
        </p:nvSpPr>
        <p:spPr>
          <a:xfrm>
            <a:off x="4602900" y="1510625"/>
            <a:ext cx="1191600" cy="358200"/>
          </a:xfrm>
          <a:prstGeom prst="rect">
            <a:avLst/>
          </a:prstGeom>
          <a:solidFill>
            <a:srgbClr val="FFFFFF"/>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Current flow</a:t>
            </a:r>
            <a:endParaRPr>
              <a:solidFill>
                <a:srgbClr val="38761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Wire up an LED on the breadboard</a:t>
            </a:r>
            <a:endParaRPr/>
          </a:p>
          <a:p>
            <a:pPr indent="0" lvl="0" marL="0" rtl="0" algn="l">
              <a:spcBef>
                <a:spcPts val="0"/>
              </a:spcBef>
              <a:spcAft>
                <a:spcPts val="0"/>
              </a:spcAft>
              <a:buNone/>
            </a:pPr>
            <a:r>
              <a:t/>
            </a:r>
            <a:endParaRPr/>
          </a:p>
        </p:txBody>
      </p:sp>
      <p:sp>
        <p:nvSpPr>
          <p:cNvPr id="390" name="Google Shape;390;p48"/>
          <p:cNvSpPr txBox="1"/>
          <p:nvPr>
            <p:ph idx="1" type="body"/>
          </p:nvPr>
        </p:nvSpPr>
        <p:spPr>
          <a:xfrm>
            <a:off x="311700" y="1536633"/>
            <a:ext cx="77553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FF0000"/>
                </a:solidFill>
              </a:rPr>
              <a:t>Double-check: Make sure the LED is wired with the correct polarity.</a:t>
            </a:r>
            <a:endParaRPr b="1">
              <a:solidFill>
                <a:srgbClr val="FF0000"/>
              </a:solidFill>
            </a:endParaRPr>
          </a:p>
          <a:p>
            <a:pPr indent="0" lvl="0" marL="0" rtl="0" algn="ctr">
              <a:lnSpc>
                <a:spcPct val="100000"/>
              </a:lnSpc>
              <a:spcBef>
                <a:spcPts val="0"/>
              </a:spcBef>
              <a:spcAft>
                <a:spcPts val="0"/>
              </a:spcAft>
              <a:buNone/>
            </a:pPr>
            <a:r>
              <a:t/>
            </a:r>
            <a:endParaRPr b="1">
              <a:solidFill>
                <a:srgbClr val="FF0000"/>
              </a:solidFill>
            </a:endParaRPr>
          </a:p>
          <a:p>
            <a:pPr indent="-342900" lvl="0" marL="457200" rtl="0" algn="l">
              <a:spcBef>
                <a:spcPts val="0"/>
              </a:spcBef>
              <a:spcAft>
                <a:spcPts val="0"/>
              </a:spcAft>
              <a:buSzPts val="1800"/>
              <a:buChar char="●"/>
            </a:pPr>
            <a:r>
              <a:rPr lang="en"/>
              <a:t>Re-connect your Nucleo to your computer.</a:t>
            </a:r>
            <a:endParaRPr/>
          </a:p>
          <a:p>
            <a:pPr indent="-342900" lvl="0" marL="457200" rtl="0" algn="l">
              <a:spcBef>
                <a:spcPts val="0"/>
              </a:spcBef>
              <a:spcAft>
                <a:spcPts val="0"/>
              </a:spcAft>
              <a:buSzPts val="1800"/>
              <a:buChar char="●"/>
            </a:pPr>
            <a:r>
              <a:rPr lang="en"/>
              <a:t>As soon as the board has power, the previously flashed Blinky program will automatically start running.</a:t>
            </a:r>
            <a:endParaRPr/>
          </a:p>
          <a:p>
            <a:pPr indent="-342900" lvl="0" marL="457200" rtl="0" algn="l">
              <a:spcBef>
                <a:spcPts val="0"/>
              </a:spcBef>
              <a:spcAft>
                <a:spcPts val="0"/>
              </a:spcAft>
              <a:buSzPts val="1800"/>
              <a:buChar char="●"/>
            </a:pPr>
            <a:r>
              <a:rPr lang="en"/>
              <a:t>You should see the LED on the breadboard blink along with the on-board LED.</a:t>
            </a:r>
            <a:endParaRPr/>
          </a:p>
          <a:p>
            <a:pPr indent="0" lvl="0" marL="0" rtl="0" algn="l">
              <a:spcBef>
                <a:spcPts val="1600"/>
              </a:spcBef>
              <a:spcAft>
                <a:spcPts val="1600"/>
              </a:spcAft>
              <a:buNone/>
            </a:pPr>
            <a:r>
              <a:rPr lang="en"/>
              <a:t>If it doesn’t blink, check again that your LED is wired correctly.</a:t>
            </a:r>
            <a:endParaRPr/>
          </a:p>
        </p:txBody>
      </p:sp>
      <p:sp>
        <p:nvSpPr>
          <p:cNvPr id="391" name="Google Shape;391;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Small modification</a:t>
            </a:r>
            <a:endParaRPr/>
          </a:p>
        </p:txBody>
      </p:sp>
      <p:sp>
        <p:nvSpPr>
          <p:cNvPr id="397" name="Google Shape;397;p49"/>
          <p:cNvSpPr txBox="1"/>
          <p:nvPr>
            <p:ph idx="1" type="body"/>
          </p:nvPr>
        </p:nvSpPr>
        <p:spPr>
          <a:xfrm>
            <a:off x="425875" y="1356875"/>
            <a:ext cx="3090600" cy="48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Make a copy of blinky.c inside your Blinky project and name the new file "blinkyD4.c". Modify the resource configuration so that blinkyD4.c is the only file with a main() function that is active in your project.</a:t>
            </a:r>
            <a:endParaRPr sz="1600"/>
          </a:p>
          <a:p>
            <a:pPr indent="0" lvl="0" marL="0" rtl="0" algn="l">
              <a:spcBef>
                <a:spcPts val="1600"/>
              </a:spcBef>
              <a:spcAft>
                <a:spcPts val="0"/>
              </a:spcAft>
              <a:buNone/>
            </a:pPr>
            <a:r>
              <a:rPr lang="en" sz="1600"/>
              <a:t>Move the anode wire from pin D13 (Port A, Bit 5) to pin D4, as shown.</a:t>
            </a:r>
            <a:endParaRPr sz="1600"/>
          </a:p>
          <a:p>
            <a:pPr indent="0" lvl="0" marL="0" rtl="0" algn="l">
              <a:spcBef>
                <a:spcPts val="1600"/>
              </a:spcBef>
              <a:spcAft>
                <a:spcPts val="1600"/>
              </a:spcAft>
              <a:buClr>
                <a:schemeClr val="dk1"/>
              </a:buClr>
              <a:buSzPts val="1100"/>
              <a:buFont typeface="Arial"/>
              <a:buNone/>
            </a:pPr>
            <a:r>
              <a:rPr lang="en" sz="1600"/>
              <a:t>Modify blinkyD4.c so that the LED on the breadboard blinks. (The onboard LED will no longer blink.)</a:t>
            </a:r>
            <a:endParaRPr sz="1600"/>
          </a:p>
        </p:txBody>
      </p:sp>
      <p:sp>
        <p:nvSpPr>
          <p:cNvPr id="398" name="Google Shape;398;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pic>
        <p:nvPicPr>
          <p:cNvPr id="399" name="Google Shape;399;p49"/>
          <p:cNvPicPr preferRelativeResize="0"/>
          <p:nvPr/>
        </p:nvPicPr>
        <p:blipFill rotWithShape="1">
          <a:blip r:embed="rId3">
            <a:alphaModFix/>
          </a:blip>
          <a:srcRect b="0" l="0" r="37869" t="0"/>
          <a:stretch/>
        </p:blipFill>
        <p:spPr>
          <a:xfrm>
            <a:off x="3784125" y="176375"/>
            <a:ext cx="4861877" cy="65052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05" name="Google Shape;405;p50"/>
          <p:cNvPicPr preferRelativeResize="0"/>
          <p:nvPr/>
        </p:nvPicPr>
        <p:blipFill>
          <a:blip r:embed="rId3">
            <a:alphaModFix/>
          </a:blip>
          <a:stretch>
            <a:fillRect/>
          </a:stretch>
        </p:blipFill>
        <p:spPr>
          <a:xfrm>
            <a:off x="0" y="126125"/>
            <a:ext cx="9143999" cy="6231577"/>
          </a:xfrm>
          <a:prstGeom prst="rect">
            <a:avLst/>
          </a:prstGeom>
          <a:noFill/>
          <a:ln>
            <a:noFill/>
          </a:ln>
        </p:spPr>
      </p:pic>
      <p:sp>
        <p:nvSpPr>
          <p:cNvPr id="406" name="Google Shape;406;p50"/>
          <p:cNvSpPr txBox="1"/>
          <p:nvPr>
            <p:ph idx="4294967295" type="title"/>
          </p:nvPr>
        </p:nvSpPr>
        <p:spPr>
          <a:xfrm>
            <a:off x="162450" y="2554050"/>
            <a:ext cx="2263200" cy="16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pinout might come in handy…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Hints</a:t>
            </a:r>
            <a:endParaRPr/>
          </a:p>
        </p:txBody>
      </p:sp>
      <p:sp>
        <p:nvSpPr>
          <p:cNvPr id="412" name="Google Shape;412;p5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Previously, we were blinking Arduino header pin D13, with meant we had to program port A, pin 5.</a:t>
            </a:r>
            <a:endParaRPr/>
          </a:p>
          <a:p>
            <a:pPr indent="-342900" lvl="0" marL="457200" rtl="0" algn="l">
              <a:spcBef>
                <a:spcPts val="0"/>
              </a:spcBef>
              <a:spcAft>
                <a:spcPts val="0"/>
              </a:spcAft>
              <a:buSzPts val="1800"/>
              <a:buAutoNum type="arabicPeriod"/>
            </a:pPr>
            <a:r>
              <a:rPr lang="en"/>
              <a:t>Look at the Pinout on the previous slide and determine the port and pin you have to program in order to use Arduino header pin D4.</a:t>
            </a:r>
            <a:endParaRPr/>
          </a:p>
          <a:p>
            <a:pPr indent="-342900" lvl="0" marL="457200" rtl="0" algn="l">
              <a:spcBef>
                <a:spcPts val="0"/>
              </a:spcBef>
              <a:spcAft>
                <a:spcPts val="0"/>
              </a:spcAft>
              <a:buSzPts val="1800"/>
              <a:buAutoNum type="arabicPeriod"/>
            </a:pPr>
            <a:r>
              <a:rPr lang="en"/>
              <a:t>Mark every place in our previous blinky.c that referenced port A.</a:t>
            </a:r>
            <a:endParaRPr/>
          </a:p>
          <a:p>
            <a:pPr indent="-342900" lvl="0" marL="457200" rtl="0" algn="l">
              <a:spcBef>
                <a:spcPts val="0"/>
              </a:spcBef>
              <a:spcAft>
                <a:spcPts val="0"/>
              </a:spcAft>
              <a:buSzPts val="1800"/>
              <a:buAutoNum type="arabicPeriod"/>
            </a:pPr>
            <a:r>
              <a:rPr lang="en"/>
              <a:t>Mark every place in our previous blinky.c that referenced pin 5.</a:t>
            </a:r>
            <a:endParaRPr/>
          </a:p>
          <a:p>
            <a:pPr indent="0" lvl="0" marL="457200" rtl="0" algn="l">
              <a:spcBef>
                <a:spcPts val="1600"/>
              </a:spcBef>
              <a:spcAft>
                <a:spcPts val="1600"/>
              </a:spcAft>
              <a:buNone/>
            </a:pPr>
            <a:r>
              <a:t/>
            </a:r>
            <a:endParaRPr/>
          </a:p>
        </p:txBody>
      </p:sp>
      <p:sp>
        <p:nvSpPr>
          <p:cNvPr id="413" name="Google Shape;413;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2"/>
          <p:cNvSpPr txBox="1"/>
          <p:nvPr/>
        </p:nvSpPr>
        <p:spPr>
          <a:xfrm>
            <a:off x="140325" y="1061913"/>
            <a:ext cx="8520600" cy="4986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#include "stm32C0xx.h"</a:t>
            </a:r>
            <a:r>
              <a:rPr lang="en">
                <a:solidFill>
                  <a:srgbClr val="595959"/>
                </a:solidFill>
                <a:latin typeface="Courier New"/>
                <a:ea typeface="Courier New"/>
                <a:cs typeface="Courier New"/>
                <a:sym typeface="Courier New"/>
              </a:rPr>
              <a:t>			// All the port definitions are here</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0 of RCC-&gt;IOPENR enables clock for GPIOA</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GPIOAEN		(1U&lt;&lt;0)</a:t>
            </a:r>
            <a:r>
              <a:rPr lang="en">
                <a:solidFill>
                  <a:srgbClr val="595959"/>
                </a:solidFill>
                <a:latin typeface="Courier New"/>
                <a:ea typeface="Courier New"/>
                <a:cs typeface="Courier New"/>
                <a:sym typeface="Courier New"/>
              </a:rPr>
              <a:t>		// 0b 0000 … 0000 0001 (32-bit)</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5 of Port A is wired to the LED</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LED_PIN		(1U&lt;&lt;5)</a:t>
            </a:r>
            <a:r>
              <a:rPr lang="en">
                <a:solidFill>
                  <a:srgbClr val="595959"/>
                </a:solidFill>
                <a:latin typeface="Courier New"/>
                <a:ea typeface="Courier New"/>
                <a:cs typeface="Courier New"/>
                <a:sym typeface="Courier New"/>
              </a:rPr>
              <a:t>		// 0b 0000 … 0001 0000</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int main(void)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RCC-&gt;IOPENR |= GPIOAEN;		</a:t>
            </a:r>
            <a:r>
              <a:rPr lang="en">
                <a:solidFill>
                  <a:schemeClr val="dk1"/>
                </a:solidFill>
                <a:latin typeface="Courier New"/>
                <a:ea typeface="Courier New"/>
                <a:cs typeface="Courier New"/>
                <a:sym typeface="Courier New"/>
              </a:rPr>
              <a:t>// 1. Enable clock access to GPIOA</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GPIOA-&gt;MODER |= (1U&lt;&lt;10);</a:t>
            </a:r>
            <a:r>
              <a:rPr b="1" lang="en">
                <a:solidFill>
                  <a:schemeClr val="dk1"/>
                </a:solidFill>
                <a:latin typeface="Courier New"/>
                <a:ea typeface="Courier New"/>
                <a:cs typeface="Courier New"/>
                <a:sym typeface="Courier New"/>
              </a:rPr>
              <a:t>		</a:t>
            </a:r>
            <a:r>
              <a:rPr lang="en">
                <a:solidFill>
                  <a:schemeClr val="dk1"/>
                </a:solidFill>
                <a:latin typeface="Courier New"/>
                <a:ea typeface="Courier New"/>
                <a:cs typeface="Courier New"/>
                <a:sym typeface="Courier New"/>
              </a:rPr>
              <a:t>// 2. Configure PA5 (Port A, bit 5)</a:t>
            </a:r>
            <a:r>
              <a:rPr b="1" lang="en">
                <a:solidFill>
                  <a:schemeClr val="dk1"/>
                </a:solidFill>
                <a:latin typeface="Courier New"/>
                <a:ea typeface="Courier New"/>
                <a:cs typeface="Courier New"/>
                <a:sym typeface="Courier New"/>
              </a:rPr>
              <a:t> </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
                <a:solidFill>
                  <a:schemeClr val="dk1"/>
                </a:solidFill>
                <a:latin typeface="Courier New"/>
                <a:ea typeface="Courier New"/>
                <a:cs typeface="Courier New"/>
                <a:sym typeface="Courier New"/>
              </a:rPr>
              <a:t>	GPIOA-&gt;MODER &amp;= ~(1U&lt;&lt;11);	</a:t>
            </a:r>
            <a:r>
              <a:rPr lang="en">
                <a:solidFill>
                  <a:schemeClr val="dk1"/>
                </a:solidFill>
                <a:latin typeface="Courier New"/>
                <a:ea typeface="Courier New"/>
                <a:cs typeface="Courier New"/>
                <a:sym typeface="Courier New"/>
              </a:rPr>
              <a:t>//    as output pin</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while(1)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GPIOA-&gt;ODR |= LED_PIN;	</a:t>
            </a:r>
            <a:r>
              <a:rPr lang="en">
                <a:solidFill>
                  <a:schemeClr val="dk1"/>
                </a:solidFill>
                <a:latin typeface="Courier New"/>
                <a:ea typeface="Courier New"/>
                <a:cs typeface="Courier New"/>
                <a:sym typeface="Courier New"/>
              </a:rPr>
              <a:t>// 3. Set set bit 5 to turn LED on</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for (int i=0; i&lt;100000; i++);		</a:t>
            </a:r>
            <a:r>
              <a:rPr lang="en">
                <a:solidFill>
                  <a:schemeClr val="dk1"/>
                </a:solidFill>
                <a:latin typeface="Courier New"/>
                <a:ea typeface="Courier New"/>
                <a:cs typeface="Courier New"/>
                <a:sym typeface="Courier New"/>
              </a:rPr>
              <a:t>// kill some time</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GPIOA-&gt;ODR &amp;= ~LED_PIN;	</a:t>
            </a:r>
            <a:r>
              <a:rPr lang="en">
                <a:solidFill>
                  <a:schemeClr val="dk1"/>
                </a:solidFill>
                <a:latin typeface="Courier New"/>
                <a:ea typeface="Courier New"/>
                <a:cs typeface="Courier New"/>
                <a:sym typeface="Courier New"/>
              </a:rPr>
              <a:t>// 4. Clear bit 5 to turn LED off</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for(int i = 0; i&lt;100000; i++);	</a:t>
            </a:r>
            <a:r>
              <a:rPr lang="en">
                <a:solidFill>
                  <a:schemeClr val="dk1"/>
                </a:solidFill>
                <a:latin typeface="Courier New"/>
                <a:ea typeface="Courier New"/>
                <a:cs typeface="Courier New"/>
                <a:sym typeface="Courier New"/>
              </a:rPr>
              <a:t>// kill some time</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	return 0;					</a:t>
            </a:r>
            <a:r>
              <a:rPr lang="en">
                <a:solidFill>
                  <a:srgbClr val="595959"/>
                </a:solidFill>
                <a:latin typeface="Courier New"/>
                <a:ea typeface="Courier New"/>
                <a:cs typeface="Courier New"/>
                <a:sym typeface="Courier New"/>
              </a:rPr>
              <a:t>// never reached</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1600"/>
              </a:spcAft>
              <a:buNone/>
            </a:pPr>
            <a:r>
              <a:t/>
            </a:r>
            <a:endParaRPr>
              <a:solidFill>
                <a:srgbClr val="595959"/>
              </a:solidFill>
              <a:latin typeface="Courier New"/>
              <a:ea typeface="Courier New"/>
              <a:cs typeface="Courier New"/>
              <a:sym typeface="Courier New"/>
            </a:endParaRPr>
          </a:p>
        </p:txBody>
      </p:sp>
      <p:sp>
        <p:nvSpPr>
          <p:cNvPr id="419" name="Google Shape;419;p52"/>
          <p:cNvSpPr txBox="1"/>
          <p:nvPr>
            <p:ph type="title"/>
          </p:nvPr>
        </p:nvSpPr>
        <p:spPr>
          <a:xfrm>
            <a:off x="57050" y="129000"/>
            <a:ext cx="1615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blinky.c</a:t>
            </a:r>
            <a:endParaRPr/>
          </a:p>
        </p:txBody>
      </p:sp>
      <p:sp>
        <p:nvSpPr>
          <p:cNvPr id="420" name="Google Shape;420;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4" name="Shape 424"/>
        <p:cNvGrpSpPr/>
        <p:nvPr/>
      </p:nvGrpSpPr>
      <p:grpSpPr>
        <a:xfrm>
          <a:off x="0" y="0"/>
          <a:ext cx="0" cy="0"/>
          <a:chOff x="0" y="0"/>
          <a:chExt cx="0" cy="0"/>
        </a:xfrm>
      </p:grpSpPr>
      <p:sp>
        <p:nvSpPr>
          <p:cNvPr id="425" name="Google Shape;425;p53"/>
          <p:cNvSpPr txBox="1"/>
          <p:nvPr/>
        </p:nvSpPr>
        <p:spPr>
          <a:xfrm>
            <a:off x="140325" y="1061913"/>
            <a:ext cx="8520600" cy="4986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#include "stm32C0xx.h"</a:t>
            </a:r>
            <a:r>
              <a:rPr lang="en">
                <a:solidFill>
                  <a:srgbClr val="595959"/>
                </a:solidFill>
                <a:latin typeface="Courier New"/>
                <a:ea typeface="Courier New"/>
                <a:cs typeface="Courier New"/>
                <a:sym typeface="Courier New"/>
              </a:rPr>
              <a:t>			// All the port definitions are here</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0 of RCC-&gt;IOPENR enables clock for GPIOA</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a:t>
            </a:r>
            <a:r>
              <a:rPr b="1" lang="en">
                <a:solidFill>
                  <a:srgbClr val="595959"/>
                </a:solidFill>
                <a:highlight>
                  <a:srgbClr val="FFF2CC"/>
                </a:highlight>
                <a:latin typeface="Courier New"/>
                <a:ea typeface="Courier New"/>
                <a:cs typeface="Courier New"/>
                <a:sym typeface="Courier New"/>
              </a:rPr>
              <a:t>GPIOAEN</a:t>
            </a:r>
            <a:r>
              <a:rPr b="1" lang="en">
                <a:solidFill>
                  <a:srgbClr val="595959"/>
                </a:solidFill>
                <a:latin typeface="Courier New"/>
                <a:ea typeface="Courier New"/>
                <a:cs typeface="Courier New"/>
                <a:sym typeface="Courier New"/>
              </a:rPr>
              <a:t>		</a:t>
            </a:r>
            <a:r>
              <a:rPr b="1" lang="en">
                <a:solidFill>
                  <a:srgbClr val="595959"/>
                </a:solidFill>
                <a:highlight>
                  <a:srgbClr val="FFF2CC"/>
                </a:highlight>
                <a:latin typeface="Courier New"/>
                <a:ea typeface="Courier New"/>
                <a:cs typeface="Courier New"/>
                <a:sym typeface="Courier New"/>
              </a:rPr>
              <a:t>(1U&lt;&lt;0)</a:t>
            </a:r>
            <a:r>
              <a:rPr lang="en">
                <a:solidFill>
                  <a:srgbClr val="595959"/>
                </a:solidFill>
                <a:latin typeface="Courier New"/>
                <a:ea typeface="Courier New"/>
                <a:cs typeface="Courier New"/>
                <a:sym typeface="Courier New"/>
              </a:rPr>
              <a:t>		// 0b 0000 … 0000 0001 (32-bit)</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Bit 5 of Port A is wired to the LED</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#define LED_PIN		</a:t>
            </a:r>
            <a:r>
              <a:rPr b="1" lang="en">
                <a:solidFill>
                  <a:srgbClr val="595959"/>
                </a:solidFill>
                <a:highlight>
                  <a:srgbClr val="EAD1DC"/>
                </a:highlight>
                <a:latin typeface="Courier New"/>
                <a:ea typeface="Courier New"/>
                <a:cs typeface="Courier New"/>
                <a:sym typeface="Courier New"/>
              </a:rPr>
              <a:t>(1U&lt;&lt;5)</a:t>
            </a:r>
            <a:r>
              <a:rPr lang="en">
                <a:solidFill>
                  <a:srgbClr val="595959"/>
                </a:solidFill>
                <a:latin typeface="Courier New"/>
                <a:ea typeface="Courier New"/>
                <a:cs typeface="Courier New"/>
                <a:sym typeface="Courier New"/>
              </a:rPr>
              <a:t>		// 0b 0000 … 0001 0000</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int main(void) {</a:t>
            </a:r>
            <a:endParaRPr>
              <a:solidFill>
                <a:srgbClr val="595959"/>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RCC-&gt;IOPENR |= </a:t>
            </a:r>
            <a:r>
              <a:rPr b="1" lang="en">
                <a:solidFill>
                  <a:schemeClr val="dk1"/>
                </a:solidFill>
                <a:highlight>
                  <a:srgbClr val="FFF2CC"/>
                </a:highlight>
                <a:latin typeface="Courier New"/>
                <a:ea typeface="Courier New"/>
                <a:cs typeface="Courier New"/>
                <a:sym typeface="Courier New"/>
              </a:rPr>
              <a:t>GPIOAEN</a:t>
            </a:r>
            <a:r>
              <a:rPr b="1" lang="en">
                <a:solidFill>
                  <a:schemeClr val="dk1"/>
                </a:solidFill>
                <a:latin typeface="Courier New"/>
                <a:ea typeface="Courier New"/>
                <a:cs typeface="Courier New"/>
                <a:sym typeface="Courier New"/>
              </a:rPr>
              <a:t>;		</a:t>
            </a:r>
            <a:r>
              <a:rPr lang="en">
                <a:solidFill>
                  <a:schemeClr val="dk1"/>
                </a:solidFill>
                <a:latin typeface="Courier New"/>
                <a:ea typeface="Courier New"/>
                <a:cs typeface="Courier New"/>
                <a:sym typeface="Courier New"/>
              </a:rPr>
              <a:t>// 1. Enable clock access to GPIOA</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highlight>
                  <a:srgbClr val="FFF2CC"/>
                </a:highlight>
                <a:latin typeface="Courier New"/>
                <a:ea typeface="Courier New"/>
                <a:cs typeface="Courier New"/>
                <a:sym typeface="Courier New"/>
              </a:rPr>
              <a:t>GPIOA</a:t>
            </a:r>
            <a:r>
              <a:rPr b="1" lang="en">
                <a:solidFill>
                  <a:schemeClr val="dk1"/>
                </a:solidFill>
                <a:latin typeface="Courier New"/>
                <a:ea typeface="Courier New"/>
                <a:cs typeface="Courier New"/>
                <a:sym typeface="Courier New"/>
              </a:rPr>
              <a:t>-&gt;MODER |= </a:t>
            </a:r>
            <a:r>
              <a:rPr b="1" lang="en">
                <a:solidFill>
                  <a:schemeClr val="dk1"/>
                </a:solidFill>
                <a:highlight>
                  <a:srgbClr val="EAD1DC"/>
                </a:highlight>
                <a:latin typeface="Courier New"/>
                <a:ea typeface="Courier New"/>
                <a:cs typeface="Courier New"/>
                <a:sym typeface="Courier New"/>
              </a:rPr>
              <a:t>(1U&lt;&lt;10)</a:t>
            </a:r>
            <a:r>
              <a:rPr b="1" lang="en">
                <a:solidFill>
                  <a:schemeClr val="dk1"/>
                </a:solidFill>
                <a:latin typeface="Courier New"/>
                <a:ea typeface="Courier New"/>
                <a:cs typeface="Courier New"/>
                <a:sym typeface="Courier New"/>
              </a:rPr>
              <a:t>;		</a:t>
            </a:r>
            <a:r>
              <a:rPr lang="en">
                <a:solidFill>
                  <a:schemeClr val="dk1"/>
                </a:solidFill>
                <a:latin typeface="Courier New"/>
                <a:ea typeface="Courier New"/>
                <a:cs typeface="Courier New"/>
                <a:sym typeface="Courier New"/>
              </a:rPr>
              <a:t>// 2. Configure PA5 (Port A, bit 5)</a:t>
            </a:r>
            <a:r>
              <a:rPr b="1" lang="en">
                <a:solidFill>
                  <a:schemeClr val="dk1"/>
                </a:solidFill>
                <a:latin typeface="Courier New"/>
                <a:ea typeface="Courier New"/>
                <a:cs typeface="Courier New"/>
                <a:sym typeface="Courier New"/>
              </a:rPr>
              <a:t> </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
                <a:solidFill>
                  <a:schemeClr val="dk1"/>
                </a:solidFill>
                <a:latin typeface="Courier New"/>
                <a:ea typeface="Courier New"/>
                <a:cs typeface="Courier New"/>
                <a:sym typeface="Courier New"/>
              </a:rPr>
              <a:t>	</a:t>
            </a:r>
            <a:r>
              <a:rPr b="1" lang="en">
                <a:solidFill>
                  <a:schemeClr val="dk1"/>
                </a:solidFill>
                <a:highlight>
                  <a:srgbClr val="FFF2CC"/>
                </a:highlight>
                <a:latin typeface="Courier New"/>
                <a:ea typeface="Courier New"/>
                <a:cs typeface="Courier New"/>
                <a:sym typeface="Courier New"/>
              </a:rPr>
              <a:t>GPIOA</a:t>
            </a:r>
            <a:r>
              <a:rPr b="1" lang="en">
                <a:solidFill>
                  <a:schemeClr val="dk1"/>
                </a:solidFill>
                <a:latin typeface="Courier New"/>
                <a:ea typeface="Courier New"/>
                <a:cs typeface="Courier New"/>
                <a:sym typeface="Courier New"/>
              </a:rPr>
              <a:t>-&gt;MODER &amp;= ~</a:t>
            </a:r>
            <a:r>
              <a:rPr b="1" lang="en">
                <a:solidFill>
                  <a:schemeClr val="dk1"/>
                </a:solidFill>
                <a:highlight>
                  <a:srgbClr val="EAD1DC"/>
                </a:highlight>
                <a:latin typeface="Courier New"/>
                <a:ea typeface="Courier New"/>
                <a:cs typeface="Courier New"/>
                <a:sym typeface="Courier New"/>
              </a:rPr>
              <a:t>(1U&lt;&lt;11)</a:t>
            </a:r>
            <a:r>
              <a:rPr b="1" lang="en">
                <a:solidFill>
                  <a:schemeClr val="dk1"/>
                </a:solidFill>
                <a:latin typeface="Courier New"/>
                <a:ea typeface="Courier New"/>
                <a:cs typeface="Courier New"/>
                <a:sym typeface="Courier New"/>
              </a:rPr>
              <a:t>;	</a:t>
            </a:r>
            <a:r>
              <a:rPr lang="en">
                <a:solidFill>
                  <a:schemeClr val="dk1"/>
                </a:solidFill>
                <a:latin typeface="Courier New"/>
                <a:ea typeface="Courier New"/>
                <a:cs typeface="Courier New"/>
                <a:sym typeface="Courier New"/>
              </a:rPr>
              <a:t>//    as output pin</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while(1) {</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highlight>
                  <a:srgbClr val="FFF2CC"/>
                </a:highlight>
                <a:latin typeface="Courier New"/>
                <a:ea typeface="Courier New"/>
                <a:cs typeface="Courier New"/>
                <a:sym typeface="Courier New"/>
              </a:rPr>
              <a:t>GPIOA</a:t>
            </a:r>
            <a:r>
              <a:rPr b="1" lang="en">
                <a:solidFill>
                  <a:schemeClr val="dk1"/>
                </a:solidFill>
                <a:latin typeface="Courier New"/>
                <a:ea typeface="Courier New"/>
                <a:cs typeface="Courier New"/>
                <a:sym typeface="Courier New"/>
              </a:rPr>
              <a:t>-&gt;ODR |= LED_PIN;	</a:t>
            </a:r>
            <a:r>
              <a:rPr lang="en">
                <a:solidFill>
                  <a:schemeClr val="dk1"/>
                </a:solidFill>
                <a:latin typeface="Courier New"/>
                <a:ea typeface="Courier New"/>
                <a:cs typeface="Courier New"/>
                <a:sym typeface="Courier New"/>
              </a:rPr>
              <a:t>// 3. Set set bit 5 to turn LED on</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for (int i=0; i&lt;100000; i++);		</a:t>
            </a:r>
            <a:r>
              <a:rPr lang="en">
                <a:solidFill>
                  <a:schemeClr val="dk1"/>
                </a:solidFill>
                <a:latin typeface="Courier New"/>
                <a:ea typeface="Courier New"/>
                <a:cs typeface="Courier New"/>
                <a:sym typeface="Courier New"/>
              </a:rPr>
              <a:t>// kill some time</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endParaRPr>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highlight>
                  <a:srgbClr val="FFF2CC"/>
                </a:highlight>
                <a:latin typeface="Courier New"/>
                <a:ea typeface="Courier New"/>
                <a:cs typeface="Courier New"/>
                <a:sym typeface="Courier New"/>
              </a:rPr>
              <a:t>GPIOA</a:t>
            </a:r>
            <a:r>
              <a:rPr b="1" lang="en">
                <a:solidFill>
                  <a:schemeClr val="dk1"/>
                </a:solidFill>
                <a:latin typeface="Courier New"/>
                <a:ea typeface="Courier New"/>
                <a:cs typeface="Courier New"/>
                <a:sym typeface="Courier New"/>
              </a:rPr>
              <a:t>-&gt;ODR &amp;= ~LED_PIN;	</a:t>
            </a:r>
            <a:r>
              <a:rPr lang="en">
                <a:solidFill>
                  <a:schemeClr val="dk1"/>
                </a:solidFill>
                <a:latin typeface="Courier New"/>
                <a:ea typeface="Courier New"/>
                <a:cs typeface="Courier New"/>
                <a:sym typeface="Courier New"/>
              </a:rPr>
              <a:t>// 4. Clear bit 5 to turn LED off</a:t>
            </a:r>
            <a:endParaRPr>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for(int i = 0; i&lt;100000; i++);	</a:t>
            </a:r>
            <a:r>
              <a:rPr lang="en">
                <a:solidFill>
                  <a:schemeClr val="dk1"/>
                </a:solidFill>
                <a:latin typeface="Courier New"/>
                <a:ea typeface="Courier New"/>
                <a:cs typeface="Courier New"/>
                <a:sym typeface="Courier New"/>
              </a:rPr>
              <a:t>// kill some time</a:t>
            </a:r>
            <a:endParaRPr b="1">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a:solidFill>
                  <a:srgbClr val="595959"/>
                </a:solidFill>
                <a:latin typeface="Courier New"/>
                <a:ea typeface="Courier New"/>
                <a:cs typeface="Courier New"/>
                <a:sym typeface="Courier New"/>
              </a:rPr>
              <a:t>	</a:t>
            </a: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	return 0;					</a:t>
            </a:r>
            <a:r>
              <a:rPr lang="en">
                <a:solidFill>
                  <a:srgbClr val="595959"/>
                </a:solidFill>
                <a:latin typeface="Courier New"/>
                <a:ea typeface="Courier New"/>
                <a:cs typeface="Courier New"/>
                <a:sym typeface="Courier New"/>
              </a:rPr>
              <a:t>// never reached</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1600"/>
              </a:spcAft>
              <a:buNone/>
            </a:pPr>
            <a:r>
              <a:t/>
            </a:r>
            <a:endParaRPr>
              <a:solidFill>
                <a:srgbClr val="595959"/>
              </a:solidFill>
              <a:latin typeface="Courier New"/>
              <a:ea typeface="Courier New"/>
              <a:cs typeface="Courier New"/>
              <a:sym typeface="Courier New"/>
            </a:endParaRPr>
          </a:p>
        </p:txBody>
      </p:sp>
      <p:sp>
        <p:nvSpPr>
          <p:cNvPr id="426" name="Google Shape;426;p53"/>
          <p:cNvSpPr txBox="1"/>
          <p:nvPr>
            <p:ph type="title"/>
          </p:nvPr>
        </p:nvSpPr>
        <p:spPr>
          <a:xfrm>
            <a:off x="57050" y="129000"/>
            <a:ext cx="1615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blinky.c</a:t>
            </a:r>
            <a:endParaRPr/>
          </a:p>
        </p:txBody>
      </p:sp>
      <p:sp>
        <p:nvSpPr>
          <p:cNvPr id="427" name="Google Shape;427;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do we enable clock access to GPIOB?</a:t>
            </a:r>
            <a:endParaRPr>
              <a:solidFill>
                <a:schemeClr val="dk2"/>
              </a:solidFill>
            </a:endParaRPr>
          </a:p>
        </p:txBody>
      </p:sp>
      <p:sp>
        <p:nvSpPr>
          <p:cNvPr id="433" name="Google Shape;433;p5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4"/>
          <p:cNvSpPr txBox="1"/>
          <p:nvPr>
            <p:ph idx="1" type="body"/>
          </p:nvPr>
        </p:nvSpPr>
        <p:spPr>
          <a:xfrm>
            <a:off x="311700" y="1202200"/>
            <a:ext cx="8520600" cy="292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None/>
            </a:pPr>
            <a:r>
              <a:rPr lang="en"/>
              <a:t>Recall:</a:t>
            </a:r>
            <a:endParaRPr/>
          </a:p>
          <a:p>
            <a:pPr indent="-342900" lvl="0" marL="457200" rtl="0" algn="l">
              <a:lnSpc>
                <a:spcPct val="115000"/>
              </a:lnSpc>
              <a:spcBef>
                <a:spcPts val="1600"/>
              </a:spcBef>
              <a:spcAft>
                <a:spcPts val="0"/>
              </a:spcAft>
              <a:buSzPts val="1800"/>
              <a:buChar char="●"/>
            </a:pPr>
            <a:r>
              <a:rPr lang="en"/>
              <a:t>By default, the clock to peripherals (of which GPIOB is one) is turned off to save power.</a:t>
            </a:r>
            <a:endParaRPr/>
          </a:p>
          <a:p>
            <a:pPr indent="-342900" lvl="0" marL="457200" rtl="0" algn="l">
              <a:lnSpc>
                <a:spcPct val="115000"/>
              </a:lnSpc>
              <a:spcBef>
                <a:spcPts val="0"/>
              </a:spcBef>
              <a:spcAft>
                <a:spcPts val="0"/>
              </a:spcAft>
              <a:buSzPts val="1800"/>
              <a:buChar char="●"/>
            </a:pPr>
            <a:r>
              <a:rPr lang="en"/>
              <a:t>You can't read from or write to a GPIO pin without the clock being active.</a:t>
            </a:r>
            <a:endParaRPr/>
          </a:p>
          <a:p>
            <a:pPr indent="-342900" lvl="0" marL="457200" rtl="0" algn="l">
              <a:lnSpc>
                <a:spcPct val="115000"/>
              </a:lnSpc>
              <a:spcBef>
                <a:spcPts val="0"/>
              </a:spcBef>
              <a:spcAft>
                <a:spcPts val="0"/>
              </a:spcAft>
              <a:buSzPts val="1800"/>
              <a:buChar char="●"/>
            </a:pPr>
            <a:r>
              <a:rPr lang="en"/>
              <a:t>RCC-&gt;IOPENR = "I/O Port Clock Enable Register of the Reset and Clock Control (RCC) system".</a:t>
            </a:r>
            <a:endParaRPr/>
          </a:p>
          <a:p>
            <a:pPr indent="-342900" lvl="0" marL="457200" rtl="0" algn="l">
              <a:lnSpc>
                <a:spcPct val="115000"/>
              </a:lnSpc>
              <a:spcBef>
                <a:spcPts val="0"/>
              </a:spcBef>
              <a:spcAft>
                <a:spcPts val="0"/>
              </a:spcAft>
              <a:buSzPts val="1800"/>
              <a:buChar char="●"/>
            </a:pPr>
            <a:r>
              <a:rPr lang="en"/>
              <a:t>It's a 32-bit register that enables (1) or disables (0) the clock for GPIOx (x = A, B, C, D, or F):</a:t>
            </a:r>
            <a:endParaRPr/>
          </a:p>
        </p:txBody>
      </p:sp>
      <p:graphicFrame>
        <p:nvGraphicFramePr>
          <p:cNvPr id="435" name="Google Shape;435;p54"/>
          <p:cNvGraphicFramePr/>
          <p:nvPr/>
        </p:nvGraphicFramePr>
        <p:xfrm>
          <a:off x="311700" y="5019245"/>
          <a:ext cx="3000000" cy="3000000"/>
        </p:xfrm>
        <a:graphic>
          <a:graphicData uri="http://schemas.openxmlformats.org/drawingml/2006/table">
            <a:tbl>
              <a:tblPr>
                <a:noFill/>
                <a:tableStyleId>{EDBB2C75-EDEC-43C7-BF9A-8E6AEE0BFBCD}</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600"/>
                        <a:t>Bit 31</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Bit 30</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Bit 8</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7</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6</a:t>
                      </a:r>
                      <a:endParaRPr sz="16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5</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4</a:t>
                      </a:r>
                      <a:endParaRPr sz="16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Bit 3</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2</a:t>
                      </a:r>
                      <a:endParaRPr sz="1600" u="none" cap="none" strike="noStrike"/>
                    </a:p>
                  </a:txBody>
                  <a:tcPr marT="121900" marB="121900" marR="91425" marL="91425">
                    <a:lnR cap="flat" cmpd="sng" w="28575">
                      <a:solidFill>
                        <a:srgbClr val="2A00FF"/>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1</a:t>
                      </a:r>
                      <a:endParaRPr sz="1600" u="none" cap="none" strike="noStrike"/>
                    </a:p>
                    <a:p>
                      <a:pPr indent="0" lvl="0" marL="0" marR="0" rtl="0" algn="ctr">
                        <a:lnSpc>
                          <a:spcPct val="100000"/>
                        </a:lnSpc>
                        <a:spcBef>
                          <a:spcPts val="0"/>
                        </a:spcBef>
                        <a:spcAft>
                          <a:spcPts val="0"/>
                        </a:spcAft>
                        <a:buClr>
                          <a:srgbClr val="000000"/>
                        </a:buClr>
                        <a:buSzPts val="1900"/>
                        <a:buFont typeface="Arial"/>
                        <a:buNone/>
                      </a:pPr>
                      <a:r>
                        <a:rPr lang="en" sz="2000">
                          <a:solidFill>
                            <a:srgbClr val="FF0000"/>
                          </a:solidFill>
                        </a:rPr>
                        <a:t>1</a:t>
                      </a:r>
                      <a:endParaRPr sz="2000">
                        <a:solidFill>
                          <a:srgbClr val="FF0000"/>
                        </a:solidFill>
                      </a:endParaRPr>
                    </a:p>
                  </a:txBody>
                  <a:tcPr marT="121900" marB="121900" marR="91425" marL="91425">
                    <a:lnL cap="flat" cmpd="sng" w="28575">
                      <a:solidFill>
                        <a:srgbClr val="2A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2A00FF"/>
                      </a:solidFill>
                      <a:prstDash val="solid"/>
                      <a:round/>
                      <a:headEnd len="sm" w="sm" type="none"/>
                      <a:tailEnd len="sm" w="sm" type="none"/>
                    </a:lnT>
                    <a:lnB cap="flat" cmpd="sng" w="19050">
                      <a:solidFill>
                        <a:srgbClr val="2A00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0</a:t>
                      </a:r>
                      <a:endParaRPr sz="1600" u="none" cap="none" strike="noStrike"/>
                    </a:p>
                  </a:txBody>
                  <a:tcPr marT="121900" marB="121900" marR="91425" marL="91425">
                    <a:lnL cap="flat" cmpd="sng" w="19050">
                      <a:solidFill>
                        <a:srgbClr val="0000FF"/>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36" name="Google Shape;436;p54"/>
          <p:cNvSpPr txBox="1"/>
          <p:nvPr/>
        </p:nvSpPr>
        <p:spPr>
          <a:xfrm>
            <a:off x="8122250"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Port A</a:t>
            </a:r>
            <a:endParaRPr sz="1800">
              <a:solidFill>
                <a:schemeClr val="dk1"/>
              </a:solidFill>
            </a:endParaRPr>
          </a:p>
        </p:txBody>
      </p:sp>
      <p:sp>
        <p:nvSpPr>
          <p:cNvPr id="437" name="Google Shape;437;p54"/>
          <p:cNvSpPr txBox="1"/>
          <p:nvPr/>
        </p:nvSpPr>
        <p:spPr>
          <a:xfrm>
            <a:off x="7412200" y="38491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Port B</a:t>
            </a:r>
            <a:endParaRPr sz="1800">
              <a:solidFill>
                <a:srgbClr val="FF0000"/>
              </a:solidFill>
            </a:endParaRPr>
          </a:p>
        </p:txBody>
      </p:sp>
      <p:sp>
        <p:nvSpPr>
          <p:cNvPr id="438" name="Google Shape;438;p54"/>
          <p:cNvSpPr txBox="1"/>
          <p:nvPr/>
        </p:nvSpPr>
        <p:spPr>
          <a:xfrm>
            <a:off x="6648225"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C</a:t>
            </a:r>
            <a:endParaRPr sz="1800">
              <a:solidFill>
                <a:schemeClr val="dk2"/>
              </a:solidFill>
            </a:endParaRPr>
          </a:p>
        </p:txBody>
      </p:sp>
      <p:sp>
        <p:nvSpPr>
          <p:cNvPr id="439" name="Google Shape;439;p54"/>
          <p:cNvSpPr txBox="1"/>
          <p:nvPr/>
        </p:nvSpPr>
        <p:spPr>
          <a:xfrm>
            <a:off x="5992100" y="38491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D</a:t>
            </a:r>
            <a:endParaRPr sz="1800">
              <a:solidFill>
                <a:schemeClr val="dk2"/>
              </a:solidFill>
            </a:endParaRPr>
          </a:p>
        </p:txBody>
      </p:sp>
      <p:sp>
        <p:nvSpPr>
          <p:cNvPr id="440" name="Google Shape;440;p54"/>
          <p:cNvSpPr txBox="1"/>
          <p:nvPr/>
        </p:nvSpPr>
        <p:spPr>
          <a:xfrm>
            <a:off x="4514125"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F</a:t>
            </a:r>
            <a:endParaRPr sz="1800">
              <a:solidFill>
                <a:schemeClr val="dk2"/>
              </a:solidFill>
            </a:endParaRPr>
          </a:p>
        </p:txBody>
      </p:sp>
      <p:cxnSp>
        <p:nvCxnSpPr>
          <p:cNvPr id="441" name="Google Shape;441;p54"/>
          <p:cNvCxnSpPr/>
          <p:nvPr/>
        </p:nvCxnSpPr>
        <p:spPr>
          <a:xfrm>
            <a:off x="4907300" y="4677275"/>
            <a:ext cx="6600" cy="292500"/>
          </a:xfrm>
          <a:prstGeom prst="straightConnector1">
            <a:avLst/>
          </a:prstGeom>
          <a:noFill/>
          <a:ln cap="flat" cmpd="sng" w="9525">
            <a:solidFill>
              <a:schemeClr val="dk2"/>
            </a:solidFill>
            <a:prstDash val="solid"/>
            <a:round/>
            <a:headEnd len="med" w="med" type="none"/>
            <a:tailEnd len="med" w="med" type="triangle"/>
          </a:ln>
        </p:spPr>
      </p:cxnSp>
      <p:cxnSp>
        <p:nvCxnSpPr>
          <p:cNvPr id="442" name="Google Shape;442;p54"/>
          <p:cNvCxnSpPr/>
          <p:nvPr/>
        </p:nvCxnSpPr>
        <p:spPr>
          <a:xfrm>
            <a:off x="7015125" y="4677275"/>
            <a:ext cx="6600" cy="292500"/>
          </a:xfrm>
          <a:prstGeom prst="straightConnector1">
            <a:avLst/>
          </a:prstGeom>
          <a:noFill/>
          <a:ln cap="flat" cmpd="sng" w="9525">
            <a:solidFill>
              <a:schemeClr val="dk2"/>
            </a:solidFill>
            <a:prstDash val="solid"/>
            <a:round/>
            <a:headEnd len="med" w="med" type="none"/>
            <a:tailEnd len="med" w="med" type="triangle"/>
          </a:ln>
        </p:spPr>
      </p:cxnSp>
      <p:cxnSp>
        <p:nvCxnSpPr>
          <p:cNvPr id="443" name="Google Shape;443;p54"/>
          <p:cNvCxnSpPr/>
          <p:nvPr/>
        </p:nvCxnSpPr>
        <p:spPr>
          <a:xfrm>
            <a:off x="8472450" y="4677275"/>
            <a:ext cx="6600" cy="292500"/>
          </a:xfrm>
          <a:prstGeom prst="straightConnector1">
            <a:avLst/>
          </a:prstGeom>
          <a:noFill/>
          <a:ln cap="flat" cmpd="sng" w="9525">
            <a:solidFill>
              <a:schemeClr val="dk1"/>
            </a:solidFill>
            <a:prstDash val="solid"/>
            <a:round/>
            <a:headEnd len="med" w="med" type="none"/>
            <a:tailEnd len="med" w="med" type="triangle"/>
          </a:ln>
        </p:spPr>
      </p:cxnSp>
      <p:cxnSp>
        <p:nvCxnSpPr>
          <p:cNvPr id="444" name="Google Shape;444;p54"/>
          <p:cNvCxnSpPr/>
          <p:nvPr/>
        </p:nvCxnSpPr>
        <p:spPr>
          <a:xfrm>
            <a:off x="6320125" y="4252475"/>
            <a:ext cx="3600" cy="717300"/>
          </a:xfrm>
          <a:prstGeom prst="straightConnector1">
            <a:avLst/>
          </a:prstGeom>
          <a:noFill/>
          <a:ln cap="flat" cmpd="sng" w="9525">
            <a:solidFill>
              <a:schemeClr val="dk2"/>
            </a:solidFill>
            <a:prstDash val="solid"/>
            <a:round/>
            <a:headEnd len="med" w="med" type="none"/>
            <a:tailEnd len="med" w="med" type="triangle"/>
          </a:ln>
        </p:spPr>
      </p:cxnSp>
      <p:cxnSp>
        <p:nvCxnSpPr>
          <p:cNvPr id="445" name="Google Shape;445;p54"/>
          <p:cNvCxnSpPr/>
          <p:nvPr/>
        </p:nvCxnSpPr>
        <p:spPr>
          <a:xfrm>
            <a:off x="7745288" y="4252475"/>
            <a:ext cx="3600" cy="717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5"/>
          <p:cNvSpPr txBox="1"/>
          <p:nvPr>
            <p:ph idx="1" type="body"/>
          </p:nvPr>
        </p:nvSpPr>
        <p:spPr>
          <a:xfrm>
            <a:off x="311700" y="887825"/>
            <a:ext cx="8520600" cy="2136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Each GPIO Port has a 32-bit MODER. It has two bits for each pin to determine its mode: Output, input, analog I/O, etc</a:t>
            </a:r>
            <a:endParaRPr/>
          </a:p>
          <a:p>
            <a:pPr indent="-342900" lvl="0" marL="457200" rtl="0" algn="l">
              <a:lnSpc>
                <a:spcPct val="115000"/>
              </a:lnSpc>
              <a:spcBef>
                <a:spcPts val="0"/>
              </a:spcBef>
              <a:spcAft>
                <a:spcPts val="0"/>
              </a:spcAft>
              <a:buSzPts val="1800"/>
              <a:buChar char="●"/>
            </a:pPr>
            <a:r>
              <a:rPr lang="en"/>
              <a:t>Bits 0 and 1 configure pin 0, bits 2 and 3 configure pin 1, … bits 30 and 31 configure pin 15.</a:t>
            </a:r>
            <a:endParaRPr/>
          </a:p>
          <a:p>
            <a:pPr indent="-342900" lvl="0" marL="457200" rtl="0" algn="l">
              <a:lnSpc>
                <a:spcPct val="115000"/>
              </a:lnSpc>
              <a:spcBef>
                <a:spcPts val="0"/>
              </a:spcBef>
              <a:spcAft>
                <a:spcPts val="0"/>
              </a:spcAft>
              <a:buClr>
                <a:srgbClr val="FF0000"/>
              </a:buClr>
              <a:buSzPts val="1800"/>
              <a:buChar char="●"/>
            </a:pPr>
            <a:r>
              <a:rPr lang="en">
                <a:solidFill>
                  <a:srgbClr val="FF0000"/>
                </a:solidFill>
              </a:rPr>
              <a:t>Which bits configure pin 10?</a:t>
            </a:r>
            <a:endParaRPr>
              <a:solidFill>
                <a:srgbClr val="FF0000"/>
              </a:solidFill>
            </a:endParaRPr>
          </a:p>
          <a:p>
            <a:pPr indent="-342900" lvl="0" marL="457200" rtl="0" algn="l">
              <a:spcBef>
                <a:spcPts val="0"/>
              </a:spcBef>
              <a:spcAft>
                <a:spcPts val="0"/>
              </a:spcAft>
              <a:buSzPts val="1800"/>
              <a:buChar char="●"/>
            </a:pPr>
            <a:r>
              <a:rPr lang="en"/>
              <a:t>In order to configure our pin as output, write a '01' into its two bits.</a:t>
            </a:r>
            <a:endParaRPr/>
          </a:p>
        </p:txBody>
      </p:sp>
      <p:sp>
        <p:nvSpPr>
          <p:cNvPr id="451" name="Google Shape;451;p55"/>
          <p:cNvSpPr txBox="1"/>
          <p:nvPr>
            <p:ph type="title"/>
          </p:nvPr>
        </p:nvSpPr>
        <p:spPr>
          <a:xfrm>
            <a:off x="423500" y="130975"/>
            <a:ext cx="8720400" cy="6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400"/>
              <a:t>How do we set the MODER? Recall:</a:t>
            </a:r>
            <a:endParaRPr sz="2400"/>
          </a:p>
        </p:txBody>
      </p:sp>
      <p:sp>
        <p:nvSpPr>
          <p:cNvPr id="452" name="Google Shape;452;p5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55"/>
          <p:cNvSpPr txBox="1"/>
          <p:nvPr>
            <p:ph idx="1" type="body"/>
          </p:nvPr>
        </p:nvSpPr>
        <p:spPr>
          <a:xfrm>
            <a:off x="202400" y="3310828"/>
            <a:ext cx="8520600" cy="70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In blinky.c, in order to configure </a:t>
            </a:r>
            <a:r>
              <a:rPr lang="en">
                <a:solidFill>
                  <a:srgbClr val="2A00FF"/>
                </a:solidFill>
              </a:rPr>
              <a:t>pin 5 of port A</a:t>
            </a:r>
            <a:r>
              <a:rPr lang="en"/>
              <a:t> as output, we wrote a </a:t>
            </a:r>
            <a:r>
              <a:rPr lang="en">
                <a:solidFill>
                  <a:srgbClr val="2A00FF"/>
                </a:solidFill>
              </a:rPr>
              <a:t>'01'</a:t>
            </a:r>
            <a:r>
              <a:rPr lang="en"/>
              <a:t> into its two bits, </a:t>
            </a:r>
            <a:r>
              <a:rPr lang="en">
                <a:solidFill>
                  <a:srgbClr val="2A00FF"/>
                </a:solidFill>
              </a:rPr>
              <a:t>bits 10 and 11</a:t>
            </a:r>
            <a:r>
              <a:rPr lang="en"/>
              <a:t>:</a:t>
            </a:r>
            <a:endParaRPr/>
          </a:p>
        </p:txBody>
      </p:sp>
      <p:graphicFrame>
        <p:nvGraphicFramePr>
          <p:cNvPr id="454" name="Google Shape;454;p55"/>
          <p:cNvGraphicFramePr/>
          <p:nvPr/>
        </p:nvGraphicFramePr>
        <p:xfrm>
          <a:off x="311700" y="4174420"/>
          <a:ext cx="3000000" cy="3000000"/>
        </p:xfrm>
        <a:graphic>
          <a:graphicData uri="http://schemas.openxmlformats.org/drawingml/2006/table">
            <a:tbl>
              <a:tblPr>
                <a:noFill/>
                <a:tableStyleId>{EDBB2C75-EDEC-43C7-BF9A-8E6AEE0BFBCD}</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000"/>
                        <a:t>Bit 31</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30</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13</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12</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11</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2A00FF"/>
                          </a:solidFill>
                        </a:rPr>
                        <a:t>0</a:t>
                      </a:r>
                      <a:endParaRPr sz="1600">
                        <a:solidFill>
                          <a:srgbClr val="2A00FF"/>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10</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2A00FF"/>
                          </a:solidFill>
                        </a:rPr>
                        <a:t>1</a:t>
                      </a:r>
                      <a:endParaRPr sz="1600">
                        <a:solidFill>
                          <a:srgbClr val="2A00FF"/>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9</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txBody>
                  <a:tcPr marT="121900" marB="121900" marR="91425" marL="91425"/>
                </a:tc>
              </a:tr>
            </a:tbl>
          </a:graphicData>
        </a:graphic>
      </p:graphicFrame>
      <p:sp>
        <p:nvSpPr>
          <p:cNvPr id="455" name="Google Shape;455;p55"/>
          <p:cNvSpPr txBox="1"/>
          <p:nvPr>
            <p:ph idx="1" type="body"/>
          </p:nvPr>
        </p:nvSpPr>
        <p:spPr>
          <a:xfrm>
            <a:off x="4842675" y="5319600"/>
            <a:ext cx="3357900" cy="5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2A00FF"/>
                </a:solidFill>
              </a:rPr>
              <a:t>GPIOA-&gt;MODER |= (1U&lt;&lt;10);</a:t>
            </a:r>
            <a:endParaRPr>
              <a:solidFill>
                <a:srgbClr val="2A00FF"/>
              </a:solidFill>
            </a:endParaRPr>
          </a:p>
        </p:txBody>
      </p:sp>
      <p:sp>
        <p:nvSpPr>
          <p:cNvPr id="456" name="Google Shape;456;p55"/>
          <p:cNvSpPr txBox="1"/>
          <p:nvPr>
            <p:ph idx="1" type="body"/>
          </p:nvPr>
        </p:nvSpPr>
        <p:spPr>
          <a:xfrm>
            <a:off x="875000" y="5319600"/>
            <a:ext cx="3631800" cy="5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2A00FF"/>
                </a:solidFill>
              </a:rPr>
              <a:t>GPIOA-&gt;MODER &amp;= ~(1U&lt;&lt;11);</a:t>
            </a:r>
            <a:endParaRPr>
              <a:solidFill>
                <a:srgbClr val="2A00FF"/>
              </a:solidFill>
            </a:endParaRPr>
          </a:p>
        </p:txBody>
      </p:sp>
      <p:cxnSp>
        <p:nvCxnSpPr>
          <p:cNvPr id="457" name="Google Shape;457;p55"/>
          <p:cNvCxnSpPr/>
          <p:nvPr/>
        </p:nvCxnSpPr>
        <p:spPr>
          <a:xfrm rot="10800000">
            <a:off x="5028325" y="4686300"/>
            <a:ext cx="1051500" cy="480900"/>
          </a:xfrm>
          <a:prstGeom prst="straightConnector1">
            <a:avLst/>
          </a:prstGeom>
          <a:noFill/>
          <a:ln cap="flat" cmpd="sng" w="28575">
            <a:solidFill>
              <a:srgbClr val="2A00FF"/>
            </a:solidFill>
            <a:prstDash val="solid"/>
            <a:round/>
            <a:headEnd len="med" w="med" type="none"/>
            <a:tailEnd len="med" w="med" type="triangle"/>
          </a:ln>
        </p:spPr>
      </p:cxnSp>
      <p:cxnSp>
        <p:nvCxnSpPr>
          <p:cNvPr id="458" name="Google Shape;458;p55"/>
          <p:cNvCxnSpPr/>
          <p:nvPr/>
        </p:nvCxnSpPr>
        <p:spPr>
          <a:xfrm flipH="1" rot="10800000">
            <a:off x="3096475" y="4754475"/>
            <a:ext cx="1091100" cy="503400"/>
          </a:xfrm>
          <a:prstGeom prst="straightConnector1">
            <a:avLst/>
          </a:prstGeom>
          <a:noFill/>
          <a:ln cap="flat" cmpd="sng" w="28575">
            <a:solidFill>
              <a:srgbClr val="2A00FF"/>
            </a:solidFill>
            <a:prstDash val="solid"/>
            <a:round/>
            <a:headEnd len="med" w="med" type="none"/>
            <a:tailEnd len="med" w="med" type="triangle"/>
          </a:ln>
        </p:spPr>
      </p:cxnSp>
      <p:sp>
        <p:nvSpPr>
          <p:cNvPr id="459" name="Google Shape;459;p55"/>
          <p:cNvSpPr txBox="1"/>
          <p:nvPr>
            <p:ph idx="1" type="body"/>
          </p:nvPr>
        </p:nvSpPr>
        <p:spPr>
          <a:xfrm>
            <a:off x="202400" y="5841878"/>
            <a:ext cx="8520600" cy="70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0000"/>
                </a:solidFill>
              </a:rPr>
              <a:t>What makes pin 10 of port B into an output pin?</a:t>
            </a:r>
            <a:endParaRPr>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3" name="Shape 463"/>
        <p:cNvGrpSpPr/>
        <p:nvPr/>
      </p:nvGrpSpPr>
      <p:grpSpPr>
        <a:xfrm>
          <a:off x="0" y="0"/>
          <a:ext cx="0" cy="0"/>
          <a:chOff x="0" y="0"/>
          <a:chExt cx="0" cy="0"/>
        </a:xfrm>
      </p:grpSpPr>
      <p:sp>
        <p:nvSpPr>
          <p:cNvPr id="464" name="Google Shape;464;p5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465" name="Google Shape;465;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56"/>
          <p:cNvSpPr txBox="1"/>
          <p:nvPr/>
        </p:nvSpPr>
        <p:spPr>
          <a:xfrm>
            <a:off x="113000" y="1465825"/>
            <a:ext cx="8520600" cy="5276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#include "stm32C0xx.h"			</a:t>
            </a:r>
            <a:r>
              <a:rPr lang="en">
                <a:solidFill>
                  <a:srgbClr val="595959"/>
                </a:solidFill>
                <a:latin typeface="Courier New"/>
                <a:ea typeface="Courier New"/>
                <a:cs typeface="Courier New"/>
                <a:sym typeface="Courier New"/>
              </a:rPr>
              <a:t>// All the port definitions are here</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
                <a:solidFill>
                  <a:srgbClr val="595959"/>
                </a:solidFill>
                <a:latin typeface="Courier New"/>
                <a:ea typeface="Courier New"/>
                <a:cs typeface="Courier New"/>
                <a:sym typeface="Courier New"/>
              </a:rPr>
              <a:t>// Bit 1 of RCC-&gt;IOPENR enables clock for GPIOB</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#define GPIO</a:t>
            </a:r>
            <a:r>
              <a:rPr b="1" lang="en">
                <a:solidFill>
                  <a:srgbClr val="FF0000"/>
                </a:solidFill>
                <a:latin typeface="Courier New"/>
                <a:ea typeface="Courier New"/>
                <a:cs typeface="Courier New"/>
                <a:sym typeface="Courier New"/>
              </a:rPr>
              <a:t>B</a:t>
            </a:r>
            <a:r>
              <a:rPr b="1" lang="en">
                <a:solidFill>
                  <a:srgbClr val="595959"/>
                </a:solidFill>
                <a:latin typeface="Courier New"/>
                <a:ea typeface="Courier New"/>
                <a:cs typeface="Courier New"/>
                <a:sym typeface="Courier New"/>
              </a:rPr>
              <a:t>EN		</a:t>
            </a:r>
            <a:r>
              <a:rPr b="1" lang="en">
                <a:solidFill>
                  <a:srgbClr val="FF0000"/>
                </a:solidFill>
                <a:latin typeface="Courier New"/>
                <a:ea typeface="Courier New"/>
                <a:cs typeface="Courier New"/>
                <a:sym typeface="Courier New"/>
              </a:rPr>
              <a:t>(1U&lt;&lt;1)</a:t>
            </a:r>
            <a:r>
              <a:rPr b="1" lang="en">
                <a:solidFill>
                  <a:srgbClr val="595959"/>
                </a:solidFill>
                <a:latin typeface="Courier New"/>
                <a:ea typeface="Courier New"/>
                <a:cs typeface="Courier New"/>
                <a:sym typeface="Courier New"/>
              </a:rPr>
              <a:t>		</a:t>
            </a:r>
            <a:r>
              <a:rPr lang="en">
                <a:solidFill>
                  <a:srgbClr val="595959"/>
                </a:solidFill>
                <a:latin typeface="Courier New"/>
                <a:ea typeface="Courier New"/>
                <a:cs typeface="Courier New"/>
                <a:sym typeface="Courier New"/>
              </a:rPr>
              <a:t>// 0b 0000 … 0000 0010 (32-bit)</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
                <a:solidFill>
                  <a:srgbClr val="595959"/>
                </a:solidFill>
                <a:latin typeface="Courier New"/>
                <a:ea typeface="Courier New"/>
                <a:cs typeface="Courier New"/>
                <a:sym typeface="Courier New"/>
              </a:rPr>
              <a:t>// Bit 10 of Port B is wired to the LED</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#define LED_PIN		</a:t>
            </a:r>
            <a:r>
              <a:rPr b="1" lang="en">
                <a:solidFill>
                  <a:srgbClr val="FF0000"/>
                </a:solidFill>
                <a:latin typeface="Courier New"/>
                <a:ea typeface="Courier New"/>
                <a:cs typeface="Courier New"/>
                <a:sym typeface="Courier New"/>
              </a:rPr>
              <a:t>(1U&lt;&lt;10)</a:t>
            </a:r>
            <a:r>
              <a:rPr b="1" lang="en">
                <a:solidFill>
                  <a:srgbClr val="595959"/>
                </a:solidFill>
                <a:latin typeface="Courier New"/>
                <a:ea typeface="Courier New"/>
                <a:cs typeface="Courier New"/>
                <a:sym typeface="Courier New"/>
              </a:rPr>
              <a:t>		</a:t>
            </a:r>
            <a:r>
              <a:rPr lang="en">
                <a:solidFill>
                  <a:srgbClr val="595959"/>
                </a:solidFill>
                <a:latin typeface="Courier New"/>
                <a:ea typeface="Courier New"/>
                <a:cs typeface="Courier New"/>
                <a:sym typeface="Courier New"/>
              </a:rPr>
              <a:t>// 0b 0000 ... 0100 0000 0000</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int main(void)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RCC-&gt;IOPENR |= GPIO</a:t>
            </a:r>
            <a:r>
              <a:rPr b="1" lang="en">
                <a:solidFill>
                  <a:srgbClr val="FF0000"/>
                </a:solidFill>
                <a:latin typeface="Courier New"/>
                <a:ea typeface="Courier New"/>
                <a:cs typeface="Courier New"/>
                <a:sym typeface="Courier New"/>
              </a:rPr>
              <a:t>B</a:t>
            </a:r>
            <a:r>
              <a:rPr b="1" lang="en">
                <a:solidFill>
                  <a:srgbClr val="595959"/>
                </a:solidFill>
                <a:latin typeface="Courier New"/>
                <a:ea typeface="Courier New"/>
                <a:cs typeface="Courier New"/>
                <a:sym typeface="Courier New"/>
              </a:rPr>
              <a:t>EN;		</a:t>
            </a:r>
            <a:r>
              <a:rPr lang="en">
                <a:solidFill>
                  <a:srgbClr val="595959"/>
                </a:solidFill>
                <a:latin typeface="Courier New"/>
                <a:ea typeface="Courier New"/>
                <a:cs typeface="Courier New"/>
                <a:sym typeface="Courier New"/>
              </a:rPr>
              <a:t>// 1. Enable clock access to GPIOB</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GPIOB-&gt;MODER |= (1U&lt;&lt;</a:t>
            </a:r>
            <a:r>
              <a:rPr b="1" lang="en">
                <a:solidFill>
                  <a:srgbClr val="FF0000"/>
                </a:solidFill>
                <a:latin typeface="Courier New"/>
                <a:ea typeface="Courier New"/>
                <a:cs typeface="Courier New"/>
                <a:sym typeface="Courier New"/>
              </a:rPr>
              <a:t>20</a:t>
            </a:r>
            <a:r>
              <a:rPr b="1" lang="en">
                <a:solidFill>
                  <a:srgbClr val="595959"/>
                </a:solidFill>
                <a:latin typeface="Courier New"/>
                <a:ea typeface="Courier New"/>
                <a:cs typeface="Courier New"/>
                <a:sym typeface="Courier New"/>
              </a:rPr>
              <a:t>);		</a:t>
            </a:r>
            <a:r>
              <a:rPr lang="en">
                <a:solidFill>
                  <a:srgbClr val="595959"/>
                </a:solidFill>
                <a:latin typeface="Courier New"/>
                <a:ea typeface="Courier New"/>
                <a:cs typeface="Courier New"/>
                <a:sym typeface="Courier New"/>
              </a:rPr>
              <a:t>// 2. Configure PB10 (Port B, bit 10)</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GPIOB-&gt;MODER &amp;= ~(1U&lt;&lt;</a:t>
            </a:r>
            <a:r>
              <a:rPr b="1" lang="en">
                <a:solidFill>
                  <a:srgbClr val="FF0000"/>
                </a:solidFill>
                <a:latin typeface="Courier New"/>
                <a:ea typeface="Courier New"/>
                <a:cs typeface="Courier New"/>
                <a:sym typeface="Courier New"/>
              </a:rPr>
              <a:t>21</a:t>
            </a:r>
            <a:r>
              <a:rPr b="1" lang="en">
                <a:solidFill>
                  <a:srgbClr val="595959"/>
                </a:solidFill>
                <a:latin typeface="Courier New"/>
                <a:ea typeface="Courier New"/>
                <a:cs typeface="Courier New"/>
                <a:sym typeface="Courier New"/>
              </a:rPr>
              <a:t>);	</a:t>
            </a:r>
            <a:r>
              <a:rPr lang="en">
                <a:solidFill>
                  <a:srgbClr val="595959"/>
                </a:solidFill>
                <a:latin typeface="Courier New"/>
                <a:ea typeface="Courier New"/>
                <a:cs typeface="Courier New"/>
                <a:sym typeface="Courier New"/>
              </a:rPr>
              <a:t>//    as output pin</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while(1)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GPIO</a:t>
            </a:r>
            <a:r>
              <a:rPr b="1" lang="en">
                <a:solidFill>
                  <a:srgbClr val="FF0000"/>
                </a:solidFill>
                <a:latin typeface="Courier New"/>
                <a:ea typeface="Courier New"/>
                <a:cs typeface="Courier New"/>
                <a:sym typeface="Courier New"/>
              </a:rPr>
              <a:t>B</a:t>
            </a:r>
            <a:r>
              <a:rPr b="1" lang="en">
                <a:solidFill>
                  <a:srgbClr val="595959"/>
                </a:solidFill>
                <a:latin typeface="Courier New"/>
                <a:ea typeface="Courier New"/>
                <a:cs typeface="Courier New"/>
                <a:sym typeface="Courier New"/>
              </a:rPr>
              <a:t>-&gt;ODR |= LED_PIN;	</a:t>
            </a:r>
            <a:r>
              <a:rPr lang="en">
                <a:solidFill>
                  <a:srgbClr val="595959"/>
                </a:solidFill>
                <a:latin typeface="Courier New"/>
                <a:ea typeface="Courier New"/>
                <a:cs typeface="Courier New"/>
                <a:sym typeface="Courier New"/>
              </a:rPr>
              <a:t>// 3. Set bit 10 to turn LED on</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for (int i=0; i&lt;100000; i++);		</a:t>
            </a:r>
            <a:r>
              <a:rPr lang="en">
                <a:solidFill>
                  <a:srgbClr val="595959"/>
                </a:solidFill>
                <a:latin typeface="Courier New"/>
                <a:ea typeface="Courier New"/>
                <a:cs typeface="Courier New"/>
                <a:sym typeface="Courier New"/>
              </a:rPr>
              <a:t>// kill some time</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GPIO</a:t>
            </a:r>
            <a:r>
              <a:rPr b="1" lang="en">
                <a:solidFill>
                  <a:srgbClr val="FF0000"/>
                </a:solidFill>
                <a:latin typeface="Courier New"/>
                <a:ea typeface="Courier New"/>
                <a:cs typeface="Courier New"/>
                <a:sym typeface="Courier New"/>
              </a:rPr>
              <a:t>B</a:t>
            </a:r>
            <a:r>
              <a:rPr b="1" lang="en">
                <a:solidFill>
                  <a:srgbClr val="595959"/>
                </a:solidFill>
                <a:latin typeface="Courier New"/>
                <a:ea typeface="Courier New"/>
                <a:cs typeface="Courier New"/>
                <a:sym typeface="Courier New"/>
              </a:rPr>
              <a:t>-&gt;ODR &amp;= ~LED_PIN;	</a:t>
            </a:r>
            <a:r>
              <a:rPr lang="en">
                <a:solidFill>
                  <a:srgbClr val="595959"/>
                </a:solidFill>
                <a:latin typeface="Courier New"/>
                <a:ea typeface="Courier New"/>
                <a:cs typeface="Courier New"/>
                <a:sym typeface="Courier New"/>
              </a:rPr>
              <a:t>// 4. Clear bit 10 to turn LED off</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for(int i = 0; i&lt;100000; i++);	</a:t>
            </a:r>
            <a:r>
              <a:rPr lang="en">
                <a:solidFill>
                  <a:srgbClr val="595959"/>
                </a:solidFill>
                <a:latin typeface="Courier New"/>
                <a:ea typeface="Courier New"/>
                <a:cs typeface="Courier New"/>
                <a:sym typeface="Courier New"/>
              </a:rPr>
              <a:t>// kill some time</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	return 0;					</a:t>
            </a:r>
            <a:r>
              <a:rPr lang="en">
                <a:solidFill>
                  <a:srgbClr val="595959"/>
                </a:solidFill>
                <a:latin typeface="Courier New"/>
                <a:ea typeface="Courier New"/>
                <a:cs typeface="Courier New"/>
                <a:sym typeface="Courier New"/>
              </a:rPr>
              <a:t>// never reached</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t/>
            </a:r>
            <a:endParaRPr>
              <a:solidFill>
                <a:srgbClr val="595959"/>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
                <a:solidFill>
                  <a:srgbClr val="595959"/>
                </a:solidFill>
                <a:latin typeface="Courier New"/>
                <a:ea typeface="Courier New"/>
                <a:cs typeface="Courier New"/>
                <a:sym typeface="Courier New"/>
              </a:rPr>
              <a:t>}</a:t>
            </a:r>
            <a:endParaRPr b="1">
              <a:solidFill>
                <a:srgbClr val="595959"/>
              </a:solidFill>
              <a:latin typeface="Courier New"/>
              <a:ea typeface="Courier New"/>
              <a:cs typeface="Courier New"/>
              <a:sym typeface="Courier New"/>
            </a:endParaRPr>
          </a:p>
          <a:p>
            <a:pPr indent="0" lvl="0" marL="457200" rtl="0" algn="l">
              <a:spcBef>
                <a:spcPts val="0"/>
              </a:spcBef>
              <a:spcAft>
                <a:spcPts val="0"/>
              </a:spcAft>
              <a:buNone/>
            </a:pPr>
            <a:r>
              <a:t/>
            </a:r>
            <a:endParaRPr b="1">
              <a:solidFill>
                <a:srgbClr val="595959"/>
              </a:solidFill>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7"/>
          <p:cNvSpPr txBox="1"/>
          <p:nvPr>
            <p:ph type="title"/>
          </p:nvPr>
        </p:nvSpPr>
        <p:spPr>
          <a:xfrm>
            <a:off x="256600" y="235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that delaying for-loop…</a:t>
            </a:r>
            <a:endParaRPr/>
          </a:p>
        </p:txBody>
      </p:sp>
      <p:sp>
        <p:nvSpPr>
          <p:cNvPr id="472" name="Google Shape;472;p57"/>
          <p:cNvSpPr txBox="1"/>
          <p:nvPr>
            <p:ph idx="1" type="body"/>
          </p:nvPr>
        </p:nvSpPr>
        <p:spPr>
          <a:xfrm>
            <a:off x="311700" y="1099374"/>
            <a:ext cx="8520600" cy="54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much time are we really killing with this loop?</a:t>
            </a:r>
            <a:endParaRPr/>
          </a:p>
          <a:p>
            <a:pPr indent="0" lvl="0" marL="457200" rtl="0" algn="l">
              <a:lnSpc>
                <a:spcPct val="100000"/>
              </a:lnSpc>
              <a:spcBef>
                <a:spcPts val="1600"/>
              </a:spcBef>
              <a:spcAft>
                <a:spcPts val="0"/>
              </a:spcAft>
              <a:buNone/>
            </a:pPr>
            <a:r>
              <a:rPr b="1" lang="en" sz="1600">
                <a:solidFill>
                  <a:srgbClr val="0000FF"/>
                </a:solidFill>
                <a:latin typeface="Courier New"/>
                <a:ea typeface="Courier New"/>
                <a:cs typeface="Courier New"/>
                <a:sym typeface="Courier New"/>
              </a:rPr>
              <a:t>for (int i=0; i&lt;100000; i++);</a:t>
            </a:r>
            <a:r>
              <a:rPr b="1" lang="en" sz="1400">
                <a:latin typeface="Courier New"/>
                <a:ea typeface="Courier New"/>
                <a:cs typeface="Courier New"/>
                <a:sym typeface="Courier New"/>
              </a:rPr>
              <a:t>		</a:t>
            </a:r>
            <a:r>
              <a:rPr lang="en" sz="1400">
                <a:latin typeface="Courier New"/>
                <a:ea typeface="Courier New"/>
                <a:cs typeface="Courier New"/>
                <a:sym typeface="Courier New"/>
              </a:rPr>
              <a:t>// kill some time</a:t>
            </a:r>
            <a:endParaRPr/>
          </a:p>
          <a:p>
            <a:pPr indent="0" lvl="0" marL="0" rtl="0" algn="l">
              <a:spcBef>
                <a:spcPts val="0"/>
              </a:spcBef>
              <a:spcAft>
                <a:spcPts val="0"/>
              </a:spcAft>
              <a:buNone/>
            </a:pPr>
            <a:br>
              <a:rPr lang="en"/>
            </a:br>
            <a:r>
              <a:rPr lang="en"/>
              <a:t>Wouldn't it be great to specify the number of milliseconds we wish to wait?</a:t>
            </a:r>
            <a:endParaRPr/>
          </a:p>
          <a:p>
            <a:pPr indent="0" lvl="0" marL="0" rtl="0" algn="l">
              <a:spcBef>
                <a:spcPts val="1600"/>
              </a:spcBef>
              <a:spcAft>
                <a:spcPts val="0"/>
              </a:spcAft>
              <a:buNone/>
            </a:pPr>
            <a:r>
              <a:rPr lang="en"/>
              <a:t>Introducing </a:t>
            </a:r>
            <a:r>
              <a:rPr b="1" lang="en">
                <a:solidFill>
                  <a:srgbClr val="0000FF"/>
                </a:solidFill>
                <a:latin typeface="Courier New"/>
                <a:ea typeface="Courier New"/>
                <a:cs typeface="Courier New"/>
                <a:sym typeface="Courier New"/>
              </a:rPr>
              <a:t>delay_ms()</a:t>
            </a:r>
            <a:r>
              <a:rPr lang="en"/>
              <a:t>:</a:t>
            </a:r>
            <a:endParaRPr/>
          </a:p>
          <a:p>
            <a:pPr indent="-342900" lvl="0" marL="457200" rtl="0" algn="l">
              <a:spcBef>
                <a:spcPts val="1600"/>
              </a:spcBef>
              <a:spcAft>
                <a:spcPts val="0"/>
              </a:spcAft>
              <a:buSzPts val="1800"/>
              <a:buChar char="●"/>
            </a:pPr>
            <a:r>
              <a:rPr lang="en"/>
              <a:t>We coded a function "</a:t>
            </a:r>
            <a:r>
              <a:rPr b="1" lang="en">
                <a:latin typeface="Courier New"/>
                <a:ea typeface="Courier New"/>
                <a:cs typeface="Courier New"/>
                <a:sym typeface="Courier New"/>
              </a:rPr>
              <a:t>delay_ms()</a:t>
            </a:r>
            <a:r>
              <a:rPr lang="en"/>
              <a:t>" with code located inside </a:t>
            </a:r>
            <a:r>
              <a:rPr b="1" lang="en">
                <a:latin typeface="Courier New"/>
                <a:ea typeface="Courier New"/>
                <a:cs typeface="Courier New"/>
                <a:sym typeface="Courier New"/>
              </a:rPr>
              <a:t>sysinit.c</a:t>
            </a:r>
            <a:r>
              <a:rPr lang="en"/>
              <a:t> (which is one of the files currently in your mylib folder). You'll be able to understand the code inside the function later but feel free to take a look anyway!</a:t>
            </a:r>
            <a:endParaRPr/>
          </a:p>
          <a:p>
            <a:pPr indent="0" lvl="0" marL="0" rtl="0" algn="l">
              <a:spcBef>
                <a:spcPts val="1600"/>
              </a:spcBef>
              <a:spcAft>
                <a:spcPts val="0"/>
              </a:spcAft>
              <a:buNone/>
            </a:pPr>
            <a:r>
              <a:rPr lang="en"/>
              <a:t>From now on: Instead of </a:t>
            </a:r>
            <a:r>
              <a:rPr b="1" lang="en">
                <a:latin typeface="Courier New"/>
                <a:ea typeface="Courier New"/>
                <a:cs typeface="Courier New"/>
                <a:sym typeface="Courier New"/>
              </a:rPr>
              <a:t>#include "stm32C0xx.h"</a:t>
            </a:r>
            <a:r>
              <a:rPr lang="en"/>
              <a:t> at the start of your code: </a:t>
            </a:r>
            <a:endParaRPr/>
          </a:p>
          <a:p>
            <a:pPr indent="-342900" lvl="0" marL="457200" rtl="0" algn="l">
              <a:spcBef>
                <a:spcPts val="1600"/>
              </a:spcBef>
              <a:spcAft>
                <a:spcPts val="0"/>
              </a:spcAft>
              <a:buSzPts val="1800"/>
              <a:buChar char="●"/>
            </a:pPr>
            <a:r>
              <a:rPr lang="en"/>
              <a:t>Use </a:t>
            </a:r>
            <a:r>
              <a:rPr b="1" lang="en">
                <a:solidFill>
                  <a:srgbClr val="0000FF"/>
                </a:solidFill>
                <a:latin typeface="Courier New"/>
                <a:ea typeface="Courier New"/>
                <a:cs typeface="Courier New"/>
                <a:sym typeface="Courier New"/>
              </a:rPr>
              <a:t>#include "ES28.h"</a:t>
            </a:r>
            <a:r>
              <a:rPr lang="en"/>
              <a:t> at the start of your code.</a:t>
            </a:r>
            <a:endParaRPr/>
          </a:p>
          <a:p>
            <a:pPr indent="0" lvl="0" marL="0" rtl="0" algn="l">
              <a:spcBef>
                <a:spcPts val="1600"/>
              </a:spcBef>
              <a:spcAft>
                <a:spcPts val="1600"/>
              </a:spcAft>
              <a:buNone/>
            </a:pPr>
            <a:r>
              <a:rPr lang="en"/>
              <a:t>This will ensure that you have the prototype for </a:t>
            </a:r>
            <a:r>
              <a:rPr b="1" lang="en">
                <a:latin typeface="Courier New"/>
                <a:ea typeface="Courier New"/>
                <a:cs typeface="Courier New"/>
                <a:sym typeface="Courier New"/>
              </a:rPr>
              <a:t>delay_ms()</a:t>
            </a:r>
            <a:r>
              <a:rPr lang="en"/>
              <a:t> (remember that C requires those?) included in your code.</a:t>
            </a:r>
            <a:endParaRPr/>
          </a:p>
        </p:txBody>
      </p:sp>
      <p:sp>
        <p:nvSpPr>
          <p:cNvPr id="473" name="Google Shape;473;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blinky.c using delay_ms():</a:t>
            </a:r>
            <a:endParaRPr/>
          </a:p>
        </p:txBody>
      </p:sp>
      <p:sp>
        <p:nvSpPr>
          <p:cNvPr id="479" name="Google Shape;479;p5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400">
                <a:solidFill>
                  <a:srgbClr val="7F0055"/>
                </a:solidFill>
                <a:highlight>
                  <a:srgbClr val="FFFFFF"/>
                </a:highlight>
                <a:latin typeface="Courier New"/>
                <a:ea typeface="Courier New"/>
                <a:cs typeface="Courier New"/>
                <a:sym typeface="Courier New"/>
              </a:rPr>
              <a:t>#include</a:t>
            </a:r>
            <a:r>
              <a:rPr b="1" lang="en" sz="1400">
                <a:solidFill>
                  <a:schemeClr val="dk1"/>
                </a:solidFill>
                <a:highlight>
                  <a:srgbClr val="FFFFFF"/>
                </a:highlight>
                <a:latin typeface="Courier New"/>
                <a:ea typeface="Courier New"/>
                <a:cs typeface="Courier New"/>
                <a:sym typeface="Courier New"/>
              </a:rPr>
              <a:t> </a:t>
            </a:r>
            <a:r>
              <a:rPr b="1" lang="en" sz="1400">
                <a:solidFill>
                  <a:srgbClr val="2A00FF"/>
                </a:solidFill>
                <a:highlight>
                  <a:srgbClr val="FFFFFF"/>
                </a:highlight>
                <a:latin typeface="Courier New"/>
                <a:ea typeface="Courier New"/>
                <a:cs typeface="Courier New"/>
                <a:sym typeface="Courier New"/>
              </a:rPr>
              <a:t>"ES28.h"</a:t>
            </a:r>
            <a:endParaRPr b="1" sz="14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rgbClr val="3F7F5F"/>
                </a:solidFill>
                <a:highlight>
                  <a:srgbClr val="FFFFFF"/>
                </a:highlight>
                <a:latin typeface="Courier New"/>
                <a:ea typeface="Courier New"/>
                <a:cs typeface="Courier New"/>
                <a:sym typeface="Courier New"/>
              </a:rPr>
              <a:t>// Bit 0 of RCC-&gt;IOPENR enables clock for GPIOA</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rgbClr val="7F0055"/>
                </a:solidFill>
                <a:highlight>
                  <a:srgbClr val="FFFFFF"/>
                </a:highlight>
                <a:latin typeface="Courier New"/>
                <a:ea typeface="Courier New"/>
                <a:cs typeface="Courier New"/>
                <a:sym typeface="Courier New"/>
              </a:rPr>
              <a:t>#define</a:t>
            </a:r>
            <a:r>
              <a:rPr b="1" lang="en" sz="1400">
                <a:solidFill>
                  <a:schemeClr val="dk1"/>
                </a:solidFill>
                <a:highlight>
                  <a:srgbClr val="FFFFFF"/>
                </a:highlight>
                <a:latin typeface="Courier New"/>
                <a:ea typeface="Courier New"/>
                <a:cs typeface="Courier New"/>
                <a:sym typeface="Courier New"/>
              </a:rPr>
              <a:t> GPIOAEN		(1U&lt;&lt;0)		</a:t>
            </a:r>
            <a:r>
              <a:rPr b="1" lang="en" sz="1400">
                <a:solidFill>
                  <a:srgbClr val="3F7F5F"/>
                </a:solidFill>
                <a:highlight>
                  <a:srgbClr val="FFFFFF"/>
                </a:highlight>
                <a:latin typeface="Courier New"/>
                <a:ea typeface="Courier New"/>
                <a:cs typeface="Courier New"/>
                <a:sym typeface="Courier New"/>
              </a:rPr>
              <a:t>// 0b 0000 … 0000 0001 (32-bit)</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rgbClr val="3F7F5F"/>
                </a:solidFill>
                <a:highlight>
                  <a:srgbClr val="FFFFFF"/>
                </a:highlight>
                <a:latin typeface="Courier New"/>
                <a:ea typeface="Courier New"/>
                <a:cs typeface="Courier New"/>
                <a:sym typeface="Courier New"/>
              </a:rPr>
              <a:t>// Bit 5 of Port A is wired to the LED</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rgbClr val="7F0055"/>
                </a:solidFill>
                <a:highlight>
                  <a:srgbClr val="FFFFFF"/>
                </a:highlight>
                <a:latin typeface="Courier New"/>
                <a:ea typeface="Courier New"/>
                <a:cs typeface="Courier New"/>
                <a:sym typeface="Courier New"/>
              </a:rPr>
              <a:t>#define</a:t>
            </a:r>
            <a:r>
              <a:rPr b="1" lang="en" sz="1400">
                <a:solidFill>
                  <a:schemeClr val="dk1"/>
                </a:solidFill>
                <a:highlight>
                  <a:srgbClr val="FFFFFF"/>
                </a:highlight>
                <a:latin typeface="Courier New"/>
                <a:ea typeface="Courier New"/>
                <a:cs typeface="Courier New"/>
                <a:sym typeface="Courier New"/>
              </a:rPr>
              <a:t> LED_PIN		(1U&lt;&lt;5)		</a:t>
            </a:r>
            <a:r>
              <a:rPr b="1" lang="en" sz="1400">
                <a:solidFill>
                  <a:srgbClr val="3F7F5F"/>
                </a:solidFill>
                <a:highlight>
                  <a:srgbClr val="FFFFFF"/>
                </a:highlight>
                <a:latin typeface="Courier New"/>
                <a:ea typeface="Courier New"/>
                <a:cs typeface="Courier New"/>
                <a:sym typeface="Courier New"/>
              </a:rPr>
              <a:t>// 0b 0000 … 0001 0000</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rgbClr val="7F0055"/>
                </a:solidFill>
                <a:highlight>
                  <a:srgbClr val="FFFFFF"/>
                </a:highlight>
                <a:latin typeface="Courier New"/>
                <a:ea typeface="Courier New"/>
                <a:cs typeface="Courier New"/>
                <a:sym typeface="Courier New"/>
              </a:rPr>
              <a:t>int</a:t>
            </a:r>
            <a:r>
              <a:rPr b="1" lang="en" sz="1400">
                <a:solidFill>
                  <a:schemeClr val="dk1"/>
                </a:solidFill>
                <a:highlight>
                  <a:srgbClr val="FFFFFF"/>
                </a:highlight>
                <a:latin typeface="Courier New"/>
                <a:ea typeface="Courier New"/>
                <a:cs typeface="Courier New"/>
                <a:sym typeface="Courier New"/>
              </a:rPr>
              <a:t> main(</a:t>
            </a:r>
            <a:r>
              <a:rPr b="1" lang="en" sz="1400">
                <a:solidFill>
                  <a:srgbClr val="7F0055"/>
                </a:solidFill>
                <a:highlight>
                  <a:srgbClr val="FFFFFF"/>
                </a:highlight>
                <a:latin typeface="Courier New"/>
                <a:ea typeface="Courier New"/>
                <a:cs typeface="Courier New"/>
                <a:sym typeface="Courier New"/>
              </a:rPr>
              <a:t>void</a:t>
            </a:r>
            <a:r>
              <a:rPr b="1" lang="en" sz="1400">
                <a:solidFill>
                  <a:schemeClr val="dk1"/>
                </a:solidFill>
                <a:highlight>
                  <a:srgbClr val="FFFFFF"/>
                </a:highlight>
                <a:latin typeface="Courier New"/>
                <a:ea typeface="Courier New"/>
                <a:cs typeface="Courier New"/>
                <a:sym typeface="Courier New"/>
              </a:rPr>
              <a:t>) {</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RCC-&gt;</a:t>
            </a:r>
            <a:r>
              <a:rPr b="1" lang="en" sz="1400">
                <a:solidFill>
                  <a:srgbClr val="0000C0"/>
                </a:solidFill>
                <a:highlight>
                  <a:srgbClr val="FFFFFF"/>
                </a:highlight>
                <a:latin typeface="Courier New"/>
                <a:ea typeface="Courier New"/>
                <a:cs typeface="Courier New"/>
                <a:sym typeface="Courier New"/>
              </a:rPr>
              <a:t>IOPENR</a:t>
            </a:r>
            <a:r>
              <a:rPr b="1" lang="en" sz="1400">
                <a:solidFill>
                  <a:schemeClr val="dk1"/>
                </a:solidFill>
                <a:highlight>
                  <a:srgbClr val="FFFFFF"/>
                </a:highlight>
                <a:latin typeface="Courier New"/>
                <a:ea typeface="Courier New"/>
                <a:cs typeface="Courier New"/>
                <a:sym typeface="Courier New"/>
              </a:rPr>
              <a:t> |= GPIOAEN;		</a:t>
            </a:r>
            <a:r>
              <a:rPr b="1" lang="en" sz="1400">
                <a:solidFill>
                  <a:srgbClr val="3F7F5F"/>
                </a:solidFill>
                <a:highlight>
                  <a:srgbClr val="FFFFFF"/>
                </a:highlight>
                <a:latin typeface="Courier New"/>
                <a:ea typeface="Courier New"/>
                <a:cs typeface="Courier New"/>
                <a:sym typeface="Courier New"/>
              </a:rPr>
              <a:t>// 1. Enable clock access to GPIOA</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GPIOA-&gt;</a:t>
            </a:r>
            <a:r>
              <a:rPr b="1" lang="en" sz="1400">
                <a:solidFill>
                  <a:srgbClr val="0000C0"/>
                </a:solidFill>
                <a:highlight>
                  <a:srgbClr val="FFFFFF"/>
                </a:highlight>
                <a:latin typeface="Courier New"/>
                <a:ea typeface="Courier New"/>
                <a:cs typeface="Courier New"/>
                <a:sym typeface="Courier New"/>
              </a:rPr>
              <a:t>MODER</a:t>
            </a:r>
            <a:r>
              <a:rPr b="1" lang="en" sz="1400">
                <a:solidFill>
                  <a:schemeClr val="dk1"/>
                </a:solidFill>
                <a:highlight>
                  <a:srgbClr val="FFFFFF"/>
                </a:highlight>
                <a:latin typeface="Courier New"/>
                <a:ea typeface="Courier New"/>
                <a:cs typeface="Courier New"/>
                <a:sym typeface="Courier New"/>
              </a:rPr>
              <a:t> |= (1U&lt;&lt;10);	    </a:t>
            </a:r>
            <a:r>
              <a:rPr b="1" lang="en" sz="1400">
                <a:solidFill>
                  <a:srgbClr val="3F7F5F"/>
                </a:solidFill>
                <a:highlight>
                  <a:srgbClr val="FFFFFF"/>
                </a:highlight>
                <a:latin typeface="Courier New"/>
                <a:ea typeface="Courier New"/>
                <a:cs typeface="Courier New"/>
                <a:sym typeface="Courier New"/>
              </a:rPr>
              <a:t>// 2. Configure PA5 (Port A, bit 5)</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GPIOA-&gt;</a:t>
            </a:r>
            <a:r>
              <a:rPr b="1" lang="en" sz="1400">
                <a:solidFill>
                  <a:srgbClr val="0000C0"/>
                </a:solidFill>
                <a:highlight>
                  <a:srgbClr val="FFFFFF"/>
                </a:highlight>
                <a:latin typeface="Courier New"/>
                <a:ea typeface="Courier New"/>
                <a:cs typeface="Courier New"/>
                <a:sym typeface="Courier New"/>
              </a:rPr>
              <a:t>MODER</a:t>
            </a:r>
            <a:r>
              <a:rPr b="1" lang="en" sz="1400">
                <a:solidFill>
                  <a:schemeClr val="dk1"/>
                </a:solidFill>
                <a:highlight>
                  <a:srgbClr val="FFFFFF"/>
                </a:highlight>
                <a:latin typeface="Courier New"/>
                <a:ea typeface="Courier New"/>
                <a:cs typeface="Courier New"/>
                <a:sym typeface="Courier New"/>
              </a:rPr>
              <a:t> &amp;= ~(1U&lt;&lt;11);	</a:t>
            </a:r>
            <a:r>
              <a:rPr b="1" lang="en" sz="1400">
                <a:solidFill>
                  <a:srgbClr val="3F7F5F"/>
                </a:solidFill>
                <a:highlight>
                  <a:srgbClr val="FFFFFF"/>
                </a:highlight>
                <a:latin typeface="Courier New"/>
                <a:ea typeface="Courier New"/>
                <a:cs typeface="Courier New"/>
                <a:sym typeface="Courier New"/>
              </a:rPr>
              <a:t>//    as output pin</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7F0055"/>
                </a:solidFill>
                <a:highlight>
                  <a:srgbClr val="FFFFFF"/>
                </a:highlight>
                <a:latin typeface="Courier New"/>
                <a:ea typeface="Courier New"/>
                <a:cs typeface="Courier New"/>
                <a:sym typeface="Courier New"/>
              </a:rPr>
              <a:t>while</a:t>
            </a:r>
            <a:r>
              <a:rPr b="1" lang="en" sz="1400">
                <a:solidFill>
                  <a:schemeClr val="dk1"/>
                </a:solidFill>
                <a:highlight>
                  <a:srgbClr val="FFFFFF"/>
                </a:highlight>
                <a:latin typeface="Courier New"/>
                <a:ea typeface="Courier New"/>
                <a:cs typeface="Courier New"/>
                <a:sym typeface="Courier New"/>
              </a:rPr>
              <a:t>(1) {</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GPIOA-&gt;</a:t>
            </a:r>
            <a:r>
              <a:rPr b="1" lang="en" sz="1400">
                <a:solidFill>
                  <a:srgbClr val="0000C0"/>
                </a:solidFill>
                <a:highlight>
                  <a:srgbClr val="FFFFFF"/>
                </a:highlight>
                <a:latin typeface="Courier New"/>
                <a:ea typeface="Courier New"/>
                <a:cs typeface="Courier New"/>
                <a:sym typeface="Courier New"/>
              </a:rPr>
              <a:t>ODR</a:t>
            </a:r>
            <a:r>
              <a:rPr b="1" lang="en" sz="1400">
                <a:solidFill>
                  <a:schemeClr val="dk1"/>
                </a:solidFill>
                <a:highlight>
                  <a:srgbClr val="FFFFFF"/>
                </a:highlight>
                <a:latin typeface="Courier New"/>
                <a:ea typeface="Courier New"/>
                <a:cs typeface="Courier New"/>
                <a:sym typeface="Courier New"/>
              </a:rPr>
              <a:t> |= LED_PIN;	</a:t>
            </a:r>
            <a:r>
              <a:rPr b="1" lang="en" sz="1400">
                <a:solidFill>
                  <a:srgbClr val="3F7F5F"/>
                </a:solidFill>
                <a:highlight>
                  <a:srgbClr val="FFFFFF"/>
                </a:highlight>
                <a:latin typeface="Courier New"/>
                <a:ea typeface="Courier New"/>
                <a:cs typeface="Courier New"/>
                <a:sym typeface="Courier New"/>
              </a:rPr>
              <a:t>// 3. Set set bit 5 to turn LED on</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delay_ms(1000);		    </a:t>
            </a:r>
            <a:r>
              <a:rPr b="1" lang="en" sz="1400">
                <a:solidFill>
                  <a:srgbClr val="3F7F5F"/>
                </a:solidFill>
                <a:highlight>
                  <a:srgbClr val="FFFFFF"/>
                </a:highlight>
                <a:latin typeface="Courier New"/>
                <a:ea typeface="Courier New"/>
                <a:cs typeface="Courier New"/>
                <a:sym typeface="Courier New"/>
              </a:rPr>
              <a:t>// kill some time</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GPIOA-&gt;</a:t>
            </a:r>
            <a:r>
              <a:rPr b="1" lang="en" sz="1400">
                <a:solidFill>
                  <a:srgbClr val="0000C0"/>
                </a:solidFill>
                <a:highlight>
                  <a:srgbClr val="FFFFFF"/>
                </a:highlight>
                <a:latin typeface="Courier New"/>
                <a:ea typeface="Courier New"/>
                <a:cs typeface="Courier New"/>
                <a:sym typeface="Courier New"/>
              </a:rPr>
              <a:t>ODR</a:t>
            </a:r>
            <a:r>
              <a:rPr b="1" lang="en" sz="1400">
                <a:solidFill>
                  <a:schemeClr val="dk1"/>
                </a:solidFill>
                <a:highlight>
                  <a:srgbClr val="FFFFFF"/>
                </a:highlight>
                <a:latin typeface="Courier New"/>
                <a:ea typeface="Courier New"/>
                <a:cs typeface="Courier New"/>
                <a:sym typeface="Courier New"/>
              </a:rPr>
              <a:t> &amp;= ~LED_PIN;	</a:t>
            </a:r>
            <a:r>
              <a:rPr b="1" lang="en" sz="1400">
                <a:solidFill>
                  <a:srgbClr val="3F7F5F"/>
                </a:solidFill>
                <a:highlight>
                  <a:srgbClr val="FFFFFF"/>
                </a:highlight>
                <a:latin typeface="Courier New"/>
                <a:ea typeface="Courier New"/>
                <a:cs typeface="Courier New"/>
                <a:sym typeface="Courier New"/>
              </a:rPr>
              <a:t>// 4. Clear bit 5 to turn LED off</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delay_ms(500);	        </a:t>
            </a:r>
            <a:r>
              <a:rPr b="1" lang="en" sz="1400">
                <a:solidFill>
                  <a:srgbClr val="3F7F5F"/>
                </a:solidFill>
                <a:highlight>
                  <a:srgbClr val="FFFFFF"/>
                </a:highlight>
                <a:latin typeface="Courier New"/>
                <a:ea typeface="Courier New"/>
                <a:cs typeface="Courier New"/>
                <a:sym typeface="Courier New"/>
              </a:rPr>
              <a:t>// kill some time</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endParaRPr b="1" sz="14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	</a:t>
            </a:r>
            <a:r>
              <a:rPr b="1" lang="en" sz="1400">
                <a:solidFill>
                  <a:srgbClr val="7F0055"/>
                </a:solidFill>
                <a:highlight>
                  <a:srgbClr val="FFFFFF"/>
                </a:highlight>
                <a:latin typeface="Courier New"/>
                <a:ea typeface="Courier New"/>
                <a:cs typeface="Courier New"/>
                <a:sym typeface="Courier New"/>
              </a:rPr>
              <a:t>return</a:t>
            </a:r>
            <a:r>
              <a:rPr b="1" lang="en" sz="1400">
                <a:solidFill>
                  <a:schemeClr val="dk1"/>
                </a:solidFill>
                <a:highlight>
                  <a:srgbClr val="FFFFFF"/>
                </a:highlight>
                <a:latin typeface="Courier New"/>
                <a:ea typeface="Courier New"/>
                <a:cs typeface="Courier New"/>
                <a:sym typeface="Courier New"/>
              </a:rPr>
              <a:t> 0;					</a:t>
            </a:r>
            <a:r>
              <a:rPr b="1" lang="en" sz="1400">
                <a:solidFill>
                  <a:srgbClr val="3F7F5F"/>
                </a:solidFill>
                <a:highlight>
                  <a:srgbClr val="FFFFFF"/>
                </a:highlight>
                <a:latin typeface="Courier New"/>
                <a:ea typeface="Courier New"/>
                <a:cs typeface="Courier New"/>
                <a:sym typeface="Courier New"/>
              </a:rPr>
              <a:t>// never reached</a:t>
            </a:r>
            <a:endParaRPr b="1" sz="14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400">
                <a:solidFill>
                  <a:schemeClr val="dk1"/>
                </a:solidFill>
                <a:highlight>
                  <a:srgbClr val="FFFFFF"/>
                </a:highlight>
                <a:latin typeface="Courier New"/>
                <a:ea typeface="Courier New"/>
                <a:cs typeface="Courier New"/>
                <a:sym typeface="Courier New"/>
              </a:rPr>
              <a:t>}</a:t>
            </a:r>
            <a:endParaRPr b="1" sz="14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b="1" sz="2000">
              <a:latin typeface="Courier New"/>
              <a:ea typeface="Courier New"/>
              <a:cs typeface="Courier New"/>
              <a:sym typeface="Courier New"/>
            </a:endParaRPr>
          </a:p>
        </p:txBody>
      </p:sp>
      <p:sp>
        <p:nvSpPr>
          <p:cNvPr id="480" name="Google Shape;480;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58"/>
          <p:cNvSpPr/>
          <p:nvPr/>
        </p:nvSpPr>
        <p:spPr>
          <a:xfrm>
            <a:off x="370825" y="1632300"/>
            <a:ext cx="2016300" cy="2910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58"/>
          <p:cNvSpPr/>
          <p:nvPr/>
        </p:nvSpPr>
        <p:spPr>
          <a:xfrm>
            <a:off x="1152800" y="4291875"/>
            <a:ext cx="2016300" cy="2910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58"/>
          <p:cNvSpPr/>
          <p:nvPr/>
        </p:nvSpPr>
        <p:spPr>
          <a:xfrm>
            <a:off x="1152800" y="4798950"/>
            <a:ext cx="2016300" cy="2910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9"/>
          <p:cNvSpPr txBox="1"/>
          <p:nvPr>
            <p:ph type="title"/>
          </p:nvPr>
        </p:nvSpPr>
        <p:spPr>
          <a:xfrm>
            <a:off x="311700" y="231700"/>
            <a:ext cx="8645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Slow down LED blinking, observe with multimeter</a:t>
            </a:r>
            <a:endParaRPr/>
          </a:p>
          <a:p>
            <a:pPr indent="0" lvl="0" marL="0" rtl="0" algn="l">
              <a:spcBef>
                <a:spcPts val="0"/>
              </a:spcBef>
              <a:spcAft>
                <a:spcPts val="0"/>
              </a:spcAft>
              <a:buNone/>
            </a:pPr>
            <a:r>
              <a:t/>
            </a:r>
            <a:endParaRPr/>
          </a:p>
        </p:txBody>
      </p:sp>
      <p:sp>
        <p:nvSpPr>
          <p:cNvPr id="489" name="Google Shape;489;p59"/>
          <p:cNvSpPr txBox="1"/>
          <p:nvPr>
            <p:ph idx="1" type="body"/>
          </p:nvPr>
        </p:nvSpPr>
        <p:spPr>
          <a:xfrm>
            <a:off x="311700" y="949924"/>
            <a:ext cx="7755300" cy="53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Modify your blinky.c program so that the blink rate is quite slow, about 2 sec on, 2 sec off.</a:t>
            </a:r>
            <a:endParaRPr/>
          </a:p>
          <a:p>
            <a:pPr indent="-342900" lvl="0" marL="457200" rtl="0" algn="l">
              <a:spcBef>
                <a:spcPts val="0"/>
              </a:spcBef>
              <a:spcAft>
                <a:spcPts val="0"/>
              </a:spcAft>
              <a:buSzPts val="1800"/>
              <a:buChar char="●"/>
            </a:pPr>
            <a:r>
              <a:rPr lang="en"/>
              <a:t>Use the multimeter to measure the pin voltage.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1600"/>
              </a:spcAft>
              <a:buNone/>
            </a:pPr>
            <a:r>
              <a:t/>
            </a:r>
            <a:endParaRPr/>
          </a:p>
        </p:txBody>
      </p:sp>
      <p:sp>
        <p:nvSpPr>
          <p:cNvPr id="490" name="Google Shape;490;p59"/>
          <p:cNvSpPr txBox="1"/>
          <p:nvPr>
            <p:ph idx="12" type="sldNum"/>
          </p:nvPr>
        </p:nvSpPr>
        <p:spPr>
          <a:xfrm>
            <a:off x="8508133" y="5732347"/>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
        <p:nvSpPr>
          <p:cNvPr id="491" name="Google Shape;491;p59"/>
          <p:cNvSpPr txBox="1"/>
          <p:nvPr/>
        </p:nvSpPr>
        <p:spPr>
          <a:xfrm>
            <a:off x="1003675" y="2072950"/>
            <a:ext cx="4304100" cy="4562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AutoNum type="arabicPeriod"/>
            </a:pPr>
            <a:r>
              <a:rPr lang="en" sz="1800">
                <a:solidFill>
                  <a:schemeClr val="dk2"/>
                </a:solidFill>
              </a:rPr>
              <a:t>Plug the black (negative) probe into the COM port, and plug the red (positive) probe into the V𝜴mA port.</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Turn dial to the left to select the 0-20VDC range.</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Read voltage on the display.  How do the HIGH and LOW voltages compare with V</a:t>
            </a:r>
            <a:r>
              <a:rPr baseline="-25000" lang="en" sz="1800">
                <a:solidFill>
                  <a:schemeClr val="dk2"/>
                </a:solidFill>
              </a:rPr>
              <a:t>OH</a:t>
            </a:r>
            <a:r>
              <a:rPr lang="en" sz="1800">
                <a:solidFill>
                  <a:schemeClr val="dk2"/>
                </a:solidFill>
              </a:rPr>
              <a:t> and V</a:t>
            </a:r>
            <a:r>
              <a:rPr baseline="-25000" lang="en" sz="1800">
                <a:solidFill>
                  <a:schemeClr val="dk2"/>
                </a:solidFill>
              </a:rPr>
              <a:t>OL </a:t>
            </a:r>
            <a:r>
              <a:rPr lang="en" sz="1800">
                <a:solidFill>
                  <a:schemeClr val="dk2"/>
                </a:solidFill>
              </a:rPr>
              <a:t>specified in the microcontroller datasheet (stm32c031c6.pdf, table 51, page 69)?</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lnSpc>
                <a:spcPct val="115000"/>
              </a:lnSpc>
              <a:spcBef>
                <a:spcPts val="0"/>
              </a:spcBef>
              <a:spcAft>
                <a:spcPts val="0"/>
              </a:spcAft>
              <a:buClr>
                <a:srgbClr val="FF0000"/>
              </a:buClr>
              <a:buSzPts val="1800"/>
              <a:buAutoNum type="arabicPeriod"/>
            </a:pPr>
            <a:r>
              <a:rPr b="1" lang="en" sz="1800">
                <a:solidFill>
                  <a:srgbClr val="FF0000"/>
                </a:solidFill>
              </a:rPr>
              <a:t>Turn the dial back to OFF when you’re finished.</a:t>
            </a:r>
            <a:endParaRPr b="1" sz="1800">
              <a:solidFill>
                <a:srgbClr val="FF0000"/>
              </a:solidFill>
            </a:endParaRPr>
          </a:p>
          <a:p>
            <a:pPr indent="0" lvl="0" marL="0" rtl="0" algn="l">
              <a:spcBef>
                <a:spcPts val="1600"/>
              </a:spcBef>
              <a:spcAft>
                <a:spcPts val="0"/>
              </a:spcAft>
              <a:buNone/>
            </a:pPr>
            <a:r>
              <a:t/>
            </a:r>
            <a:endParaRPr sz="1800">
              <a:solidFill>
                <a:schemeClr val="dk2"/>
              </a:solidFill>
            </a:endParaRPr>
          </a:p>
          <a:p>
            <a:pPr indent="0" lvl="0" marL="0" rtl="0" algn="l">
              <a:spcBef>
                <a:spcPts val="0"/>
              </a:spcBef>
              <a:spcAft>
                <a:spcPts val="0"/>
              </a:spcAft>
              <a:buNone/>
            </a:pPr>
            <a:r>
              <a:t/>
            </a:r>
            <a:endParaRPr sz="1600">
              <a:solidFill>
                <a:schemeClr val="dk2"/>
              </a:solidFill>
            </a:endParaRPr>
          </a:p>
        </p:txBody>
      </p:sp>
      <p:pic>
        <p:nvPicPr>
          <p:cNvPr id="492" name="Google Shape;492;p59"/>
          <p:cNvPicPr preferRelativeResize="0"/>
          <p:nvPr/>
        </p:nvPicPr>
        <p:blipFill>
          <a:blip r:embed="rId3">
            <a:alphaModFix/>
          </a:blip>
          <a:stretch>
            <a:fillRect/>
          </a:stretch>
        </p:blipFill>
        <p:spPr>
          <a:xfrm>
            <a:off x="5774163" y="2189146"/>
            <a:ext cx="2524572" cy="3887901"/>
          </a:xfrm>
          <a:prstGeom prst="rect">
            <a:avLst/>
          </a:prstGeom>
          <a:noFill/>
          <a:ln>
            <a:noFill/>
          </a:ln>
        </p:spPr>
      </p:pic>
      <p:sp>
        <p:nvSpPr>
          <p:cNvPr id="493" name="Google Shape;493;p59"/>
          <p:cNvSpPr/>
          <p:nvPr/>
        </p:nvSpPr>
        <p:spPr>
          <a:xfrm>
            <a:off x="6329900" y="3411150"/>
            <a:ext cx="306900" cy="3069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9"/>
          <p:cNvSpPr/>
          <p:nvPr/>
        </p:nvSpPr>
        <p:spPr>
          <a:xfrm>
            <a:off x="6836575" y="4709975"/>
            <a:ext cx="927600" cy="4497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9"/>
          <p:cNvSpPr/>
          <p:nvPr/>
        </p:nvSpPr>
        <p:spPr>
          <a:xfrm>
            <a:off x="6329900" y="2704650"/>
            <a:ext cx="1327500" cy="3639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9"/>
          <p:cNvSpPr txBox="1"/>
          <p:nvPr/>
        </p:nvSpPr>
        <p:spPr>
          <a:xfrm>
            <a:off x="7914175" y="4752875"/>
            <a:ext cx="306900" cy="3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00FF"/>
                </a:solidFill>
              </a:rPr>
              <a:t>1</a:t>
            </a:r>
            <a:endParaRPr b="1" sz="1600">
              <a:solidFill>
                <a:srgbClr val="FF00FF"/>
              </a:solidFill>
            </a:endParaRPr>
          </a:p>
        </p:txBody>
      </p:sp>
      <p:sp>
        <p:nvSpPr>
          <p:cNvPr id="497" name="Google Shape;497;p59"/>
          <p:cNvSpPr txBox="1"/>
          <p:nvPr/>
        </p:nvSpPr>
        <p:spPr>
          <a:xfrm>
            <a:off x="6605875" y="3449225"/>
            <a:ext cx="306900" cy="3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00FF"/>
                </a:solidFill>
              </a:rPr>
              <a:t>2</a:t>
            </a:r>
            <a:endParaRPr b="1" sz="1600">
              <a:solidFill>
                <a:srgbClr val="FF00FF"/>
              </a:solidFill>
            </a:endParaRPr>
          </a:p>
        </p:txBody>
      </p:sp>
      <p:sp>
        <p:nvSpPr>
          <p:cNvPr id="498" name="Google Shape;498;p59"/>
          <p:cNvSpPr txBox="1"/>
          <p:nvPr/>
        </p:nvSpPr>
        <p:spPr>
          <a:xfrm>
            <a:off x="7384025" y="2747550"/>
            <a:ext cx="306900" cy="3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00FF"/>
                </a:solidFill>
              </a:rPr>
              <a:t>3</a:t>
            </a:r>
            <a:endParaRPr b="1" sz="1600">
              <a:solidFill>
                <a:srgbClr val="FF00FF"/>
              </a:solidFill>
            </a:endParaRPr>
          </a:p>
        </p:txBody>
      </p:sp>
      <p:sp>
        <p:nvSpPr>
          <p:cNvPr id="499" name="Google Shape;499;p59"/>
          <p:cNvSpPr/>
          <p:nvPr/>
        </p:nvSpPr>
        <p:spPr>
          <a:xfrm>
            <a:off x="6863300" y="3182550"/>
            <a:ext cx="306900" cy="3069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9"/>
          <p:cNvSpPr txBox="1"/>
          <p:nvPr/>
        </p:nvSpPr>
        <p:spPr>
          <a:xfrm>
            <a:off x="7139275" y="3220625"/>
            <a:ext cx="306900" cy="3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00FF"/>
                </a:solidFill>
              </a:rPr>
              <a:t>4</a:t>
            </a:r>
            <a:endParaRPr b="1" sz="1600">
              <a:solidFill>
                <a:srgbClr val="FF00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0"/>
          <p:cNvSpPr txBox="1"/>
          <p:nvPr>
            <p:ph type="title"/>
          </p:nvPr>
        </p:nvSpPr>
        <p:spPr>
          <a:xfrm>
            <a:off x="311700" y="2355800"/>
            <a:ext cx="8520600" cy="17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ALWAYS TURN OFF YOUR DIGITAL MULTIMETER WHEN FINISHED MEASURING</a:t>
            </a:r>
            <a:endParaRPr/>
          </a:p>
        </p:txBody>
      </p:sp>
      <p:sp>
        <p:nvSpPr>
          <p:cNvPr id="506" name="Google Shape;506;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07" name="Google Shape;507;p60"/>
          <p:cNvPicPr preferRelativeResize="0"/>
          <p:nvPr/>
        </p:nvPicPr>
        <p:blipFill>
          <a:blip r:embed="rId3">
            <a:alphaModFix/>
          </a:blip>
          <a:stretch>
            <a:fillRect/>
          </a:stretch>
        </p:blipFill>
        <p:spPr>
          <a:xfrm>
            <a:off x="152400" y="4301300"/>
            <a:ext cx="2809875" cy="1628775"/>
          </a:xfrm>
          <a:prstGeom prst="rect">
            <a:avLst/>
          </a:prstGeom>
          <a:noFill/>
          <a:ln>
            <a:noFill/>
          </a:ln>
        </p:spPr>
      </p:pic>
      <p:pic>
        <p:nvPicPr>
          <p:cNvPr id="508" name="Google Shape;508;p60"/>
          <p:cNvPicPr preferRelativeResize="0"/>
          <p:nvPr/>
        </p:nvPicPr>
        <p:blipFill>
          <a:blip r:embed="rId4">
            <a:alphaModFix/>
          </a:blip>
          <a:stretch>
            <a:fillRect/>
          </a:stretch>
        </p:blipFill>
        <p:spPr>
          <a:xfrm>
            <a:off x="3389525" y="4301300"/>
            <a:ext cx="1866868" cy="2404300"/>
          </a:xfrm>
          <a:prstGeom prst="rect">
            <a:avLst/>
          </a:prstGeom>
          <a:noFill/>
          <a:ln>
            <a:noFill/>
          </a:ln>
        </p:spPr>
      </p:pic>
      <p:pic>
        <p:nvPicPr>
          <p:cNvPr id="509" name="Google Shape;509;p60"/>
          <p:cNvPicPr preferRelativeResize="0"/>
          <p:nvPr/>
        </p:nvPicPr>
        <p:blipFill>
          <a:blip r:embed="rId5">
            <a:alphaModFix/>
          </a:blip>
          <a:stretch>
            <a:fillRect/>
          </a:stretch>
        </p:blipFill>
        <p:spPr>
          <a:xfrm>
            <a:off x="152400" y="152400"/>
            <a:ext cx="2051000" cy="2051000"/>
          </a:xfrm>
          <a:prstGeom prst="rect">
            <a:avLst/>
          </a:prstGeom>
          <a:noFill/>
          <a:ln>
            <a:noFill/>
          </a:ln>
        </p:spPr>
      </p:pic>
      <p:pic>
        <p:nvPicPr>
          <p:cNvPr id="510" name="Google Shape;510;p60"/>
          <p:cNvPicPr preferRelativeResize="0"/>
          <p:nvPr/>
        </p:nvPicPr>
        <p:blipFill>
          <a:blip r:embed="rId6">
            <a:alphaModFix/>
          </a:blip>
          <a:stretch>
            <a:fillRect/>
          </a:stretch>
        </p:blipFill>
        <p:spPr>
          <a:xfrm>
            <a:off x="3022612" y="152400"/>
            <a:ext cx="2051000" cy="2051000"/>
          </a:xfrm>
          <a:prstGeom prst="rect">
            <a:avLst/>
          </a:prstGeom>
          <a:noFill/>
          <a:ln>
            <a:noFill/>
          </a:ln>
        </p:spPr>
      </p:pic>
      <p:pic>
        <p:nvPicPr>
          <p:cNvPr id="511" name="Google Shape;511;p60"/>
          <p:cNvPicPr preferRelativeResize="0"/>
          <p:nvPr/>
        </p:nvPicPr>
        <p:blipFill>
          <a:blip r:embed="rId7">
            <a:alphaModFix/>
          </a:blip>
          <a:stretch>
            <a:fillRect/>
          </a:stretch>
        </p:blipFill>
        <p:spPr>
          <a:xfrm>
            <a:off x="5984325" y="152400"/>
            <a:ext cx="2847975" cy="1600200"/>
          </a:xfrm>
          <a:prstGeom prst="rect">
            <a:avLst/>
          </a:prstGeom>
          <a:noFill/>
          <a:ln>
            <a:noFill/>
          </a:ln>
        </p:spPr>
      </p:pic>
      <p:pic>
        <p:nvPicPr>
          <p:cNvPr id="512" name="Google Shape;512;p60"/>
          <p:cNvPicPr preferRelativeResize="0"/>
          <p:nvPr/>
        </p:nvPicPr>
        <p:blipFill>
          <a:blip r:embed="rId8">
            <a:alphaModFix/>
          </a:blip>
          <a:stretch>
            <a:fillRect/>
          </a:stretch>
        </p:blipFill>
        <p:spPr>
          <a:xfrm>
            <a:off x="5984318" y="4302200"/>
            <a:ext cx="2600325" cy="1762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Larger modification (Lab 1)</a:t>
            </a:r>
            <a:endParaRPr/>
          </a:p>
        </p:txBody>
      </p:sp>
      <p:sp>
        <p:nvSpPr>
          <p:cNvPr id="518" name="Google Shape;518;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
        <p:nvSpPr>
          <p:cNvPr id="519" name="Google Shape;519;p61"/>
          <p:cNvSpPr txBox="1"/>
          <p:nvPr/>
        </p:nvSpPr>
        <p:spPr>
          <a:xfrm>
            <a:off x="349675" y="1172650"/>
            <a:ext cx="4724400" cy="29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2"/>
                </a:solidFill>
              </a:rPr>
              <a:t>Wire up three LEDs, as shown.  Use both red and green, and the 220 ohm resistors.</a:t>
            </a:r>
            <a:endParaRPr sz="1600">
              <a:solidFill>
                <a:schemeClr val="dk2"/>
              </a:solidFill>
            </a:endParaRPr>
          </a:p>
          <a:p>
            <a:pPr indent="-330200" lvl="0" marL="457200" rtl="0" algn="l">
              <a:lnSpc>
                <a:spcPct val="115000"/>
              </a:lnSpc>
              <a:spcBef>
                <a:spcPts val="1600"/>
              </a:spcBef>
              <a:spcAft>
                <a:spcPts val="0"/>
              </a:spcAft>
              <a:buClr>
                <a:schemeClr val="dk2"/>
              </a:buClr>
              <a:buSzPts val="1600"/>
              <a:buAutoNum type="arabicPeriod"/>
            </a:pPr>
            <a:r>
              <a:rPr b="1" lang="en" sz="1600">
                <a:solidFill>
                  <a:schemeClr val="dk2"/>
                </a:solidFill>
              </a:rPr>
              <a:t>blinkySIM.c</a:t>
            </a:r>
            <a:r>
              <a:rPr lang="en" sz="1600">
                <a:solidFill>
                  <a:schemeClr val="dk2"/>
                </a:solidFill>
              </a:rPr>
              <a:t>: blink all three LEDs simultaneously.</a:t>
            </a:r>
            <a:endParaRPr sz="1600">
              <a:solidFill>
                <a:schemeClr val="dk2"/>
              </a:solidFill>
            </a:endParaRPr>
          </a:p>
          <a:p>
            <a:pPr indent="-330200" lvl="0" marL="457200" rtl="0" algn="l">
              <a:lnSpc>
                <a:spcPct val="115000"/>
              </a:lnSpc>
              <a:spcBef>
                <a:spcPts val="1000"/>
              </a:spcBef>
              <a:spcAft>
                <a:spcPts val="0"/>
              </a:spcAft>
              <a:buClr>
                <a:schemeClr val="dk2"/>
              </a:buClr>
              <a:buSzPts val="1600"/>
              <a:buAutoNum type="arabicPeriod"/>
            </a:pPr>
            <a:r>
              <a:rPr b="1" lang="en" sz="1600">
                <a:solidFill>
                  <a:schemeClr val="dk2"/>
                </a:solidFill>
              </a:rPr>
              <a:t>blinkySEQ.c</a:t>
            </a:r>
            <a:r>
              <a:rPr lang="en" sz="1600">
                <a:solidFill>
                  <a:schemeClr val="dk2"/>
                </a:solidFill>
              </a:rPr>
              <a:t>: blink the LEDs sequentially, so only one LED is lit at a time.</a:t>
            </a:r>
            <a:endParaRPr sz="1600">
              <a:solidFill>
                <a:schemeClr val="dk2"/>
              </a:solidFill>
            </a:endParaRPr>
          </a:p>
          <a:p>
            <a:pPr indent="-330200" lvl="0" marL="457200" rtl="0" algn="l">
              <a:lnSpc>
                <a:spcPct val="115000"/>
              </a:lnSpc>
              <a:spcBef>
                <a:spcPts val="1000"/>
              </a:spcBef>
              <a:spcAft>
                <a:spcPts val="1000"/>
              </a:spcAft>
              <a:buClr>
                <a:schemeClr val="dk2"/>
              </a:buClr>
              <a:buSzPts val="1600"/>
              <a:buAutoNum type="arabicPeriod"/>
            </a:pPr>
            <a:r>
              <a:rPr b="1" lang="en" sz="1600">
                <a:solidFill>
                  <a:schemeClr val="dk2"/>
                </a:solidFill>
              </a:rPr>
              <a:t>blinkyCNT.c</a:t>
            </a:r>
            <a:r>
              <a:rPr lang="en" sz="1600">
                <a:solidFill>
                  <a:schemeClr val="dk2"/>
                </a:solidFill>
              </a:rPr>
              <a:t>:  blink the LEDs in a binary code:  000, 001, 010,...111, 000...</a:t>
            </a:r>
            <a:endParaRPr/>
          </a:p>
        </p:txBody>
      </p:sp>
      <p:pic>
        <p:nvPicPr>
          <p:cNvPr id="520" name="Google Shape;520;p61" title="LED_x3_bb.png"/>
          <p:cNvPicPr preferRelativeResize="0"/>
          <p:nvPr/>
        </p:nvPicPr>
        <p:blipFill>
          <a:blip r:embed="rId3">
            <a:alphaModFix/>
          </a:blip>
          <a:stretch>
            <a:fillRect/>
          </a:stretch>
        </p:blipFill>
        <p:spPr>
          <a:xfrm>
            <a:off x="5276537" y="548388"/>
            <a:ext cx="3555774" cy="5906924"/>
          </a:xfrm>
          <a:prstGeom prst="rect">
            <a:avLst/>
          </a:prstGeom>
          <a:noFill/>
          <a:ln>
            <a:noFill/>
          </a:ln>
        </p:spPr>
      </p:pic>
      <p:sp>
        <p:nvSpPr>
          <p:cNvPr id="521" name="Google Shape;521;p61"/>
          <p:cNvSpPr txBox="1"/>
          <p:nvPr/>
        </p:nvSpPr>
        <p:spPr>
          <a:xfrm>
            <a:off x="349675" y="4451825"/>
            <a:ext cx="4724400" cy="12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0000FF"/>
                </a:solidFill>
              </a:rPr>
              <a:t>For the labs we'll always have you work in a new project. The next slide explains how to do so.</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2"/>
          <p:cNvSpPr txBox="1"/>
          <p:nvPr>
            <p:ph type="title"/>
          </p:nvPr>
        </p:nvSpPr>
        <p:spPr>
          <a:xfrm>
            <a:off x="126350" y="182675"/>
            <a:ext cx="4553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 a new "Lab1" project</a:t>
            </a:r>
            <a:endParaRPr/>
          </a:p>
        </p:txBody>
      </p:sp>
      <p:sp>
        <p:nvSpPr>
          <p:cNvPr id="527" name="Google Shape;527;p62"/>
          <p:cNvSpPr txBox="1"/>
          <p:nvPr>
            <p:ph idx="1" type="body"/>
          </p:nvPr>
        </p:nvSpPr>
        <p:spPr>
          <a:xfrm>
            <a:off x="126350" y="946175"/>
            <a:ext cx="8307000" cy="351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Make </a:t>
            </a:r>
            <a:r>
              <a:rPr lang="en" sz="1700"/>
              <a:t>a copy of your TemplateProject and name it "Lab1". This creates an entirely new project for you. </a:t>
            </a:r>
            <a:endParaRPr sz="1700"/>
          </a:p>
          <a:p>
            <a:pPr indent="0" lvl="0" marL="0" rtl="0" algn="l">
              <a:spcBef>
                <a:spcPts val="1600"/>
              </a:spcBef>
              <a:spcAft>
                <a:spcPts val="0"/>
              </a:spcAft>
              <a:buNone/>
            </a:pPr>
            <a:r>
              <a:rPr lang="en" sz="1700"/>
              <a:t>Download “template.c” from Canvas and place it into the Src folder in your Lab1 project. Rename this file </a:t>
            </a:r>
            <a:r>
              <a:rPr b="1" lang="en" sz="1700"/>
              <a:t>blinkySIM.c</a:t>
            </a:r>
            <a:r>
              <a:rPr lang="en" sz="1700"/>
              <a:t>. This is where you'll work on blinkySim. </a:t>
            </a:r>
            <a:endParaRPr sz="1700"/>
          </a:p>
          <a:p>
            <a:pPr indent="0" lvl="0" marL="0" rtl="0" algn="l">
              <a:spcBef>
                <a:spcPts val="1600"/>
              </a:spcBef>
              <a:spcAft>
                <a:spcPts val="0"/>
              </a:spcAft>
              <a:buNone/>
            </a:pPr>
            <a:r>
              <a:rPr lang="en" sz="1700"/>
              <a:t>The easiest way to get template.c from your downloads folder into your Lab1 Src folder is to </a:t>
            </a:r>
            <a:r>
              <a:rPr b="1" lang="en" sz="1700"/>
              <a:t>use copy+paste</a:t>
            </a:r>
            <a:r>
              <a:rPr lang="en" sz="1700"/>
              <a:t>. Copy the file in your downloads folder, then go to your IDE and hit paste on the Src folder in Lab1.</a:t>
            </a:r>
            <a:endParaRPr sz="1700"/>
          </a:p>
          <a:p>
            <a:pPr indent="0" lvl="0" marL="0" rtl="0" algn="l">
              <a:spcBef>
                <a:spcPts val="1600"/>
              </a:spcBef>
              <a:spcAft>
                <a:spcPts val="1600"/>
              </a:spcAft>
              <a:buNone/>
            </a:pPr>
            <a:r>
              <a:rPr b="1" lang="en" sz="1700">
                <a:solidFill>
                  <a:srgbClr val="990000"/>
                </a:solidFill>
              </a:rPr>
              <a:t>Do not try to use your computer's file manager to drag the file into the correct location: the IDE won't be happy with you. I promise. Tried it.</a:t>
            </a:r>
            <a:endParaRPr sz="1600"/>
          </a:p>
        </p:txBody>
      </p:sp>
      <p:pic>
        <p:nvPicPr>
          <p:cNvPr id="528" name="Google Shape;528;p62"/>
          <p:cNvPicPr preferRelativeResize="0"/>
          <p:nvPr/>
        </p:nvPicPr>
        <p:blipFill>
          <a:blip r:embed="rId3">
            <a:alphaModFix/>
          </a:blip>
          <a:stretch>
            <a:fillRect/>
          </a:stretch>
        </p:blipFill>
        <p:spPr>
          <a:xfrm>
            <a:off x="648150" y="4461875"/>
            <a:ext cx="2627563" cy="2091325"/>
          </a:xfrm>
          <a:prstGeom prst="rect">
            <a:avLst/>
          </a:prstGeom>
          <a:noFill/>
          <a:ln>
            <a:noFill/>
          </a:ln>
        </p:spPr>
      </p:pic>
      <p:pic>
        <p:nvPicPr>
          <p:cNvPr id="529" name="Google Shape;529;p62"/>
          <p:cNvPicPr preferRelativeResize="0"/>
          <p:nvPr/>
        </p:nvPicPr>
        <p:blipFill>
          <a:blip r:embed="rId4">
            <a:alphaModFix/>
          </a:blip>
          <a:stretch>
            <a:fillRect/>
          </a:stretch>
        </p:blipFill>
        <p:spPr>
          <a:xfrm>
            <a:off x="4818988" y="4461875"/>
            <a:ext cx="2541765" cy="2091325"/>
          </a:xfrm>
          <a:prstGeom prst="rect">
            <a:avLst/>
          </a:prstGeom>
          <a:noFill/>
          <a:ln>
            <a:noFill/>
          </a:ln>
        </p:spPr>
      </p:pic>
      <p:sp>
        <p:nvSpPr>
          <p:cNvPr id="530" name="Google Shape;530;p62"/>
          <p:cNvSpPr/>
          <p:nvPr/>
        </p:nvSpPr>
        <p:spPr>
          <a:xfrm>
            <a:off x="3525400" y="5453350"/>
            <a:ext cx="853800" cy="275400"/>
          </a:xfrm>
          <a:prstGeom prst="rightArrow">
            <a:avLst>
              <a:gd fmla="val 50000" name="adj1"/>
              <a:gd fmla="val 50000" name="adj2"/>
            </a:avLst>
          </a:prstGeom>
          <a:solidFill>
            <a:srgbClr val="2A00FF"/>
          </a:solidFill>
          <a:ln cap="flat" cmpd="sng" w="952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3"/>
          <p:cNvSpPr txBox="1"/>
          <p:nvPr>
            <p:ph type="title"/>
          </p:nvPr>
        </p:nvSpPr>
        <p:spPr>
          <a:xfrm>
            <a:off x="126350" y="182675"/>
            <a:ext cx="4553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blinkySIM -&gt; blinkySEQ</a:t>
            </a:r>
            <a:endParaRPr/>
          </a:p>
        </p:txBody>
      </p:sp>
      <p:sp>
        <p:nvSpPr>
          <p:cNvPr id="536" name="Google Shape;536;p63"/>
          <p:cNvSpPr txBox="1"/>
          <p:nvPr>
            <p:ph idx="1" type="body"/>
          </p:nvPr>
        </p:nvSpPr>
        <p:spPr>
          <a:xfrm>
            <a:off x="126350" y="946175"/>
            <a:ext cx="8307000" cy="190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Once you got blinkySim working, copy blinkySim.c and name the copy blinkySEQ.c - it'll also live inside your Lab1 Src folder.</a:t>
            </a:r>
            <a:endParaRPr sz="1700"/>
          </a:p>
          <a:p>
            <a:pPr indent="0" lvl="0" marL="0" rtl="0" algn="l">
              <a:spcBef>
                <a:spcPts val="1600"/>
              </a:spcBef>
              <a:spcAft>
                <a:spcPts val="0"/>
              </a:spcAft>
              <a:buNone/>
            </a:pPr>
            <a:r>
              <a:rPr lang="en" sz="1700"/>
              <a:t>Use the same strategy we used in class yesterday to exclude / include files from the build configuration so that your Src directory always contains exactly one active file with a main() function in it.</a:t>
            </a:r>
            <a:endParaRPr sz="1700"/>
          </a:p>
          <a:p>
            <a:pPr indent="0" lvl="0" marL="0" rtl="0" algn="l">
              <a:spcBef>
                <a:spcPts val="1600"/>
              </a:spcBef>
              <a:spcAft>
                <a:spcPts val="1600"/>
              </a:spcAft>
              <a:buNone/>
            </a:pPr>
            <a:r>
              <a:t/>
            </a:r>
            <a:endParaRPr sz="1600"/>
          </a:p>
        </p:txBody>
      </p:sp>
      <p:pic>
        <p:nvPicPr>
          <p:cNvPr id="537" name="Google Shape;537;p63"/>
          <p:cNvPicPr preferRelativeResize="0"/>
          <p:nvPr/>
        </p:nvPicPr>
        <p:blipFill rotWithShape="1">
          <a:blip r:embed="rId3">
            <a:alphaModFix/>
          </a:blip>
          <a:srcRect b="0" l="0" r="23325" t="0"/>
          <a:stretch/>
        </p:blipFill>
        <p:spPr>
          <a:xfrm>
            <a:off x="4614250" y="2850575"/>
            <a:ext cx="4075325" cy="3638550"/>
          </a:xfrm>
          <a:prstGeom prst="rect">
            <a:avLst/>
          </a:prstGeom>
          <a:noFill/>
          <a:ln>
            <a:noFill/>
          </a:ln>
        </p:spPr>
      </p:pic>
      <p:pic>
        <p:nvPicPr>
          <p:cNvPr id="538" name="Google Shape;538;p63"/>
          <p:cNvPicPr preferRelativeResize="0"/>
          <p:nvPr/>
        </p:nvPicPr>
        <p:blipFill>
          <a:blip r:embed="rId4">
            <a:alphaModFix/>
          </a:blip>
          <a:stretch>
            <a:fillRect/>
          </a:stretch>
        </p:blipFill>
        <p:spPr>
          <a:xfrm>
            <a:off x="126350" y="2850575"/>
            <a:ext cx="4267200" cy="3638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Notes for code development</a:t>
            </a:r>
            <a:endParaRPr/>
          </a:p>
        </p:txBody>
      </p:sp>
      <p:sp>
        <p:nvSpPr>
          <p:cNvPr id="544" name="Google Shape;544;p64"/>
          <p:cNvSpPr txBox="1"/>
          <p:nvPr>
            <p:ph idx="1" type="body"/>
          </p:nvPr>
        </p:nvSpPr>
        <p:spPr>
          <a:xfrm>
            <a:off x="311700" y="1536624"/>
            <a:ext cx="8520600" cy="514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Use a consistent naming convention:</a:t>
            </a:r>
            <a:endParaRPr sz="1600"/>
          </a:p>
          <a:p>
            <a:pPr indent="-330200" lvl="0" marL="457200" rtl="0" algn="l">
              <a:spcBef>
                <a:spcPts val="1600"/>
              </a:spcBef>
              <a:spcAft>
                <a:spcPts val="0"/>
              </a:spcAft>
              <a:buSzPts val="1600"/>
              <a:buChar char="●"/>
            </a:pPr>
            <a:r>
              <a:rPr lang="en" sz="1600"/>
              <a:t>ALLCAPS (ALL_CAPS) for constants (#define)</a:t>
            </a:r>
            <a:endParaRPr sz="1600"/>
          </a:p>
          <a:p>
            <a:pPr indent="-330200" lvl="0" marL="457200" rtl="0" algn="l">
              <a:spcBef>
                <a:spcPts val="0"/>
              </a:spcBef>
              <a:spcAft>
                <a:spcPts val="0"/>
              </a:spcAft>
              <a:buSzPts val="1600"/>
              <a:buChar char="●"/>
            </a:pPr>
            <a:r>
              <a:rPr lang="en" sz="1600"/>
              <a:t>CamelCase (camelCase) or snake_case for multi-word variable names</a:t>
            </a:r>
            <a:endParaRPr sz="1600"/>
          </a:p>
          <a:p>
            <a:pPr indent="0" lvl="0" marL="0" rtl="0" algn="l">
              <a:spcBef>
                <a:spcPts val="1600"/>
              </a:spcBef>
              <a:spcAft>
                <a:spcPts val="0"/>
              </a:spcAft>
              <a:buNone/>
            </a:pPr>
            <a:r>
              <a:rPr lang="en" sz="1600"/>
              <a:t>Build and test incrementally.  For example, for blinkySIM.c,  </a:t>
            </a:r>
            <a:endParaRPr sz="1600"/>
          </a:p>
          <a:p>
            <a:pPr indent="-330200" lvl="0" marL="457200" rtl="0" algn="l">
              <a:spcBef>
                <a:spcPts val="1600"/>
              </a:spcBef>
              <a:spcAft>
                <a:spcPts val="0"/>
              </a:spcAft>
              <a:buSzPts val="1600"/>
              <a:buChar char="●"/>
            </a:pPr>
            <a:r>
              <a:rPr lang="en" sz="1600"/>
              <a:t>One LED already works.</a:t>
            </a:r>
            <a:endParaRPr sz="1600"/>
          </a:p>
          <a:p>
            <a:pPr indent="-330200" lvl="0" marL="457200" rtl="0" algn="l">
              <a:spcBef>
                <a:spcPts val="0"/>
              </a:spcBef>
              <a:spcAft>
                <a:spcPts val="0"/>
              </a:spcAft>
              <a:buSzPts val="1600"/>
              <a:buChar char="●"/>
            </a:pPr>
            <a:r>
              <a:rPr lang="en" sz="1600"/>
              <a:t>Add a second LED to a second port bit, and make them both blink.  </a:t>
            </a:r>
            <a:endParaRPr sz="1600"/>
          </a:p>
          <a:p>
            <a:pPr indent="-330200" lvl="0" marL="457200" rtl="0" algn="l">
              <a:spcBef>
                <a:spcPts val="0"/>
              </a:spcBef>
              <a:spcAft>
                <a:spcPts val="0"/>
              </a:spcAft>
              <a:buSzPts val="1600"/>
              <a:buChar char="●"/>
            </a:pPr>
            <a:r>
              <a:rPr lang="en" sz="1600"/>
              <a:t>Add the third LED</a:t>
            </a:r>
            <a:endParaRPr sz="1600"/>
          </a:p>
          <a:p>
            <a:pPr indent="0" lvl="0" marL="0" rtl="0" algn="l">
              <a:spcBef>
                <a:spcPts val="1600"/>
              </a:spcBef>
              <a:spcAft>
                <a:spcPts val="0"/>
              </a:spcAft>
              <a:buNone/>
            </a:pPr>
            <a:r>
              <a:rPr lang="en" sz="1600"/>
              <a:t>Keep track of your changes, document (comment) as you go.</a:t>
            </a:r>
            <a:endParaRPr sz="1600"/>
          </a:p>
          <a:p>
            <a:pPr indent="0" lvl="0" marL="0" rtl="0" algn="l">
              <a:spcBef>
                <a:spcPts val="1600"/>
              </a:spcBef>
              <a:spcAft>
                <a:spcPts val="1600"/>
              </a:spcAft>
              <a:buNone/>
            </a:pPr>
            <a:r>
              <a:t/>
            </a:r>
            <a:endParaRPr sz="1600"/>
          </a:p>
        </p:txBody>
      </p:sp>
      <p:sp>
        <p:nvSpPr>
          <p:cNvPr id="545" name="Google Shape;545;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template.c file example</a:t>
            </a:r>
            <a:endParaRPr/>
          </a:p>
        </p:txBody>
      </p:sp>
      <p:sp>
        <p:nvSpPr>
          <p:cNvPr id="551" name="Google Shape;551;p65"/>
          <p:cNvSpPr txBox="1"/>
          <p:nvPr>
            <p:ph idx="1" type="body"/>
          </p:nvPr>
        </p:nvSpPr>
        <p:spPr>
          <a:xfrm>
            <a:off x="311700" y="12318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Name:  		</a:t>
            </a:r>
            <a:r>
              <a:rPr lang="en" sz="1200">
                <a:solidFill>
                  <a:srgbClr val="0000FF"/>
                </a:solidFill>
                <a:latin typeface="Courier New"/>
                <a:ea typeface="Courier New"/>
                <a:cs typeface="Courier New"/>
                <a:sym typeface="Courier New"/>
              </a:rPr>
              <a:t>Petra BT</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Assignment:		</a:t>
            </a:r>
            <a:r>
              <a:rPr lang="en" sz="1200">
                <a:solidFill>
                  <a:srgbClr val="0000FF"/>
                </a:solidFill>
                <a:latin typeface="Courier New"/>
                <a:ea typeface="Courier New"/>
                <a:cs typeface="Courier New"/>
                <a:sym typeface="Courier New"/>
              </a:rPr>
              <a:t>Engs 28 26W, Lab 1</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Program name:	</a:t>
            </a:r>
            <a:r>
              <a:rPr lang="en" sz="1200">
                <a:solidFill>
                  <a:srgbClr val="0000FF"/>
                </a:solidFill>
                <a:latin typeface="Courier New"/>
                <a:ea typeface="Courier New"/>
                <a:cs typeface="Courier New"/>
                <a:sym typeface="Courier New"/>
              </a:rPr>
              <a:t>blinkySim.c</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Date created:	</a:t>
            </a:r>
            <a:r>
              <a:rPr lang="en" sz="1200">
                <a:solidFill>
                  <a:srgbClr val="0000FF"/>
                </a:solidFill>
                <a:latin typeface="Courier New"/>
                <a:ea typeface="Courier New"/>
                <a:cs typeface="Courier New"/>
                <a:sym typeface="Courier New"/>
              </a:rPr>
              <a:t>9 Jan 2026</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Description:	</a:t>
            </a:r>
            <a:r>
              <a:rPr lang="en" sz="1200">
                <a:solidFill>
                  <a:srgbClr val="0000FF"/>
                </a:solidFill>
                <a:latin typeface="Courier New"/>
                <a:ea typeface="Courier New"/>
                <a:cs typeface="Courier New"/>
                <a:sym typeface="Courier New"/>
              </a:rPr>
              <a:t>Blink three LEDs on the breadboard</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 Dependencies: (what other source files are required)</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a:t>
            </a:r>
            <a:r>
              <a:rPr lang="en" sz="1200">
                <a:solidFill>
                  <a:srgbClr val="0000FF"/>
                </a:solidFill>
                <a:latin typeface="Courier New"/>
                <a:ea typeface="Courier New"/>
                <a:cs typeface="Courier New"/>
                <a:sym typeface="Courier New"/>
              </a:rPr>
              <a:t>(N/A)</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 I/O pins:  (what ports are used, and what are they wired to?)</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a:t>
            </a:r>
            <a:r>
              <a:rPr lang="en" sz="1200">
                <a:solidFill>
                  <a:srgbClr val="0000FF"/>
                </a:solidFill>
                <a:latin typeface="Courier New"/>
                <a:ea typeface="Courier New"/>
                <a:cs typeface="Courier New"/>
                <a:sym typeface="Courier New"/>
              </a:rPr>
              <a:t>PA 5, 6, 7:	Output, external LEDs on breadboard</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Revisions: (use this to track the evolution of your program)</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	</a:t>
            </a:r>
            <a:r>
              <a:rPr lang="en" sz="1200">
                <a:solidFill>
                  <a:srgbClr val="0000FF"/>
                </a:solidFill>
                <a:latin typeface="Courier New"/>
                <a:ea typeface="Courier New"/>
                <a:cs typeface="Courier New"/>
                <a:sym typeface="Courier New"/>
              </a:rPr>
              <a:t>Based on the original blinky.c</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552" name="Google Shape;552;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template</a:t>
            </a:r>
            <a:r>
              <a:rPr lang="en"/>
              <a:t>.c file (2)</a:t>
            </a:r>
            <a:endParaRPr/>
          </a:p>
        </p:txBody>
      </p:sp>
      <p:sp>
        <p:nvSpPr>
          <p:cNvPr id="558" name="Google Shape;558;p66"/>
          <p:cNvSpPr txBox="1"/>
          <p:nvPr>
            <p:ph idx="1" type="body"/>
          </p:nvPr>
        </p:nvSpPr>
        <p:spPr>
          <a:xfrm>
            <a:off x="311700" y="1155624"/>
            <a:ext cx="8520600" cy="527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Courier New"/>
                <a:ea typeface="Courier New"/>
                <a:cs typeface="Courier New"/>
                <a:sym typeface="Courier New"/>
              </a:rPr>
              <a:t>/* INCLUDE FILES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solidFill>
                  <a:srgbClr val="0000FF"/>
                </a:solidFill>
                <a:latin typeface="Courier New"/>
                <a:ea typeface="Courier New"/>
                <a:cs typeface="Courier New"/>
                <a:sym typeface="Courier New"/>
              </a:rPr>
              <a:t>#include "ES28.h"			</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FUNCTIONS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Declare user-defined functions here (unless you have put the declarations in</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 their own #include file)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CONSTANTS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#define your constants here */</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solidFill>
                  <a:srgbClr val="0000FF"/>
                </a:solidFill>
                <a:latin typeface="Courier New"/>
                <a:ea typeface="Courier New"/>
                <a:cs typeface="Courier New"/>
                <a:sym typeface="Courier New"/>
              </a:rPr>
              <a:t>#define LED_ON_TIME   100		// milliseconds </a:t>
            </a:r>
            <a:endParaRPr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200">
                <a:solidFill>
                  <a:srgbClr val="0000FF"/>
                </a:solidFill>
                <a:latin typeface="Courier New"/>
                <a:ea typeface="Courier New"/>
                <a:cs typeface="Courier New"/>
                <a:sym typeface="Courier New"/>
              </a:rPr>
              <a:t>#define LED_OFF_TIME  200</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0000FF"/>
              </a:solidFill>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CODE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int main(void)</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 Setup code (run once) goes here: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 Main code (runs in an infinite loop) goes here:</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while(1)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return 0;   	 /* never reached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Code for your user-defined functions go here, if not in their own source files.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p:txBody>
      </p:sp>
      <p:sp>
        <p:nvSpPr>
          <p:cNvPr id="559" name="Google Shape;559;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HiTA Lab 1 Support</a:t>
            </a:r>
            <a:endParaRPr/>
          </a:p>
        </p:txBody>
      </p:sp>
      <p:sp>
        <p:nvSpPr>
          <p:cNvPr id="565" name="Google Shape;565;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66" name="Google Shape;566;p67" title="Screenshot 2026-01-08 at 11.35.09 AM.png"/>
          <p:cNvPicPr preferRelativeResize="0"/>
          <p:nvPr/>
        </p:nvPicPr>
        <p:blipFill rotWithShape="1">
          <a:blip r:embed="rId3">
            <a:alphaModFix/>
          </a:blip>
          <a:srcRect b="0" l="0" r="1807" t="3110"/>
          <a:stretch/>
        </p:blipFill>
        <p:spPr>
          <a:xfrm>
            <a:off x="0" y="1519686"/>
            <a:ext cx="9144003" cy="4290813"/>
          </a:xfrm>
          <a:prstGeom prst="rect">
            <a:avLst/>
          </a:prstGeom>
          <a:noFill/>
          <a:ln>
            <a:noFill/>
          </a:ln>
        </p:spPr>
      </p:pic>
      <p:sp>
        <p:nvSpPr>
          <p:cNvPr id="567" name="Google Shape;567;p67"/>
          <p:cNvSpPr/>
          <p:nvPr/>
        </p:nvSpPr>
        <p:spPr>
          <a:xfrm>
            <a:off x="1668150" y="2937100"/>
            <a:ext cx="1596900" cy="7635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67"/>
          <p:cNvSpPr/>
          <p:nvPr/>
        </p:nvSpPr>
        <p:spPr>
          <a:xfrm>
            <a:off x="551600" y="4230125"/>
            <a:ext cx="548700" cy="2754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2" name="Shape 572"/>
        <p:cNvGrpSpPr/>
        <p:nvPr/>
      </p:nvGrpSpPr>
      <p:grpSpPr>
        <a:xfrm>
          <a:off x="0" y="0"/>
          <a:ext cx="0" cy="0"/>
          <a:chOff x="0" y="0"/>
          <a:chExt cx="0" cy="0"/>
        </a:xfrm>
      </p:grpSpPr>
      <p:sp>
        <p:nvSpPr>
          <p:cNvPr id="573" name="Google Shape;573;p68"/>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r>
              <a:rPr lang="en" sz="1800">
                <a:solidFill>
                  <a:schemeClr val="dk2"/>
                </a:solidFill>
              </a:rPr>
              <a:t>blinkySIM.c: blink all three LEDs simultaneously</a:t>
            </a:r>
            <a:endParaRPr/>
          </a:p>
        </p:txBody>
      </p:sp>
      <p:sp>
        <p:nvSpPr>
          <p:cNvPr id="574" name="Google Shape;574;p68"/>
          <p:cNvSpPr txBox="1"/>
          <p:nvPr>
            <p:ph idx="1" type="body"/>
          </p:nvPr>
        </p:nvSpPr>
        <p:spPr>
          <a:xfrm>
            <a:off x="311700" y="1151400"/>
            <a:ext cx="85206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#include </a:t>
            </a:r>
            <a:r>
              <a:rPr lang="en" sz="1100">
                <a:solidFill>
                  <a:srgbClr val="2A00FF"/>
                </a:solidFill>
                <a:highlight>
                  <a:srgbClr val="FFFFFF"/>
                </a:highlight>
                <a:latin typeface="Courier New"/>
                <a:ea typeface="Courier New"/>
                <a:cs typeface="Courier New"/>
                <a:sym typeface="Courier New"/>
              </a:rPr>
              <a:t>"</a:t>
            </a:r>
            <a:r>
              <a:rPr lang="en" sz="1100">
                <a:solidFill>
                  <a:srgbClr val="3F3FBF"/>
                </a:solidFill>
                <a:highlight>
                  <a:srgbClr val="FFFFFF"/>
                </a:highlight>
                <a:latin typeface="Courier New"/>
                <a:ea typeface="Courier New"/>
                <a:cs typeface="Courier New"/>
                <a:sym typeface="Courier New"/>
              </a:rPr>
              <a:t>ES28.h</a:t>
            </a:r>
            <a:r>
              <a:rPr lang="en" sz="1100">
                <a:solidFill>
                  <a:srgbClr val="2A00FF"/>
                </a:solidFill>
                <a:highlight>
                  <a:srgbClr val="FFFFFF"/>
                </a:highlight>
                <a:latin typeface="Courier New"/>
                <a:ea typeface="Courier New"/>
                <a:cs typeface="Courier New"/>
                <a:sym typeface="Courier New"/>
              </a:rPr>
              <a:t>"</a:t>
            </a:r>
            <a:r>
              <a:rPr lang="en" sz="1100">
                <a:solidFill>
                  <a:srgbClr val="7F0055"/>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GPIOAEN         (1U&lt;&lt;0)        </a:t>
            </a:r>
            <a:r>
              <a:rPr lang="en" sz="1100">
                <a:solidFill>
                  <a:srgbClr val="3F7F59"/>
                </a:solidFill>
                <a:highlight>
                  <a:srgbClr val="FFFFFF"/>
                </a:highlight>
                <a:latin typeface="Courier New"/>
                <a:ea typeface="Courier New"/>
                <a:cs typeface="Courier New"/>
                <a:sym typeface="Courier New"/>
              </a:rPr>
              <a:t>// bit 0 enables clock for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3F7F59"/>
                </a:solidFill>
                <a:highlight>
                  <a:srgbClr val="FFFFFF"/>
                </a:highlight>
                <a:latin typeface="Courier New"/>
                <a:ea typeface="Courier New"/>
                <a:cs typeface="Courier New"/>
                <a:sym typeface="Courier New"/>
              </a:rPr>
              <a:t>// LEDs on D13, D12, D11 (PA 5, 6, 7)</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LED_PIN1        (1U&lt;&lt;5)        </a:t>
            </a:r>
            <a:r>
              <a:rPr lang="en" sz="1100">
                <a:solidFill>
                  <a:srgbClr val="3F7F59"/>
                </a:solidFill>
                <a:highlight>
                  <a:srgbClr val="FFFFFF"/>
                </a:highlight>
                <a:latin typeface="Courier New"/>
                <a:ea typeface="Courier New"/>
                <a:cs typeface="Courier New"/>
                <a:sym typeface="Courier New"/>
              </a:rPr>
              <a:t>// Bit 5 of Port A is wired to the LED1</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LED_PIN2        (1U&lt;&lt;6)        </a:t>
            </a:r>
            <a:r>
              <a:rPr lang="en" sz="1100">
                <a:solidFill>
                  <a:srgbClr val="3F7F59"/>
                </a:solidFill>
                <a:highlight>
                  <a:srgbClr val="FFFFFF"/>
                </a:highlight>
                <a:latin typeface="Courier New"/>
                <a:ea typeface="Courier New"/>
                <a:cs typeface="Courier New"/>
                <a:sym typeface="Courier New"/>
              </a:rPr>
              <a:t>// Bit 6 of Port A is wired to the LED2</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LED_PIN3        (1U&lt;&lt;7)        </a:t>
            </a:r>
            <a:r>
              <a:rPr lang="en" sz="1100">
                <a:solidFill>
                  <a:srgbClr val="3F7F59"/>
                </a:solidFill>
                <a:highlight>
                  <a:srgbClr val="FFFFFF"/>
                </a:highlight>
                <a:latin typeface="Courier New"/>
                <a:ea typeface="Courier New"/>
                <a:cs typeface="Courier New"/>
                <a:sym typeface="Courier New"/>
              </a:rPr>
              <a:t>// Bit 6 of Port A is wired to the LED3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LED_ALL         (LED_PIN1 | LED_PIN2 | LED_PIN3)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RCC-&gt;IOPENR |= GPIOAEN;        	</a:t>
            </a:r>
            <a:r>
              <a:rPr lang="en" sz="1100">
                <a:solidFill>
                  <a:srgbClr val="3F7F59"/>
                </a:solidFill>
                <a:highlight>
                  <a:srgbClr val="FFFFFF"/>
                </a:highlight>
                <a:latin typeface="Courier New"/>
                <a:ea typeface="Courier New"/>
                <a:cs typeface="Courier New"/>
                <a:sym typeface="Courier New"/>
              </a:rPr>
              <a:t>// 1. Enable clock access to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2. Configure PA5, 6, 7 as output pin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 (1U&lt;&lt;10) | (1U&lt;&lt;12) | (1U&lt;&lt; 14);</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&amp;= ~(1U&lt;&lt;11) &amp; ~(1U&lt;&lt;13) &amp; ~(1U&lt;&lt;15);</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delay_ms(1000)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delay_ms(500); 			</a:t>
            </a:r>
            <a:r>
              <a:rPr lang="en" sz="1100">
                <a:solidFill>
                  <a:srgbClr val="3F7F59"/>
                </a:solidFill>
                <a:highlight>
                  <a:schemeClr val="lt1"/>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lang="en" sz="1100">
                <a:solidFill>
                  <a:schemeClr val="dk1"/>
                </a:solidFill>
                <a:highlight>
                  <a:srgbClr val="FFFFFF"/>
                </a:highlight>
                <a:latin typeface="Courier New"/>
                <a:ea typeface="Courier New"/>
                <a:cs typeface="Courier New"/>
                <a:sym typeface="Courier New"/>
              </a:rPr>
              <a:t> 0;                   		</a:t>
            </a:r>
            <a:r>
              <a:rPr lang="en" sz="1100">
                <a:solidFill>
                  <a:srgbClr val="3F7F59"/>
                </a:solidFill>
                <a:highlight>
                  <a:srgbClr val="FFFFFF"/>
                </a:highlight>
                <a:latin typeface="Courier New"/>
                <a:ea typeface="Courier New"/>
                <a:cs typeface="Courier New"/>
                <a:sym typeface="Courier New"/>
              </a:rPr>
              <a:t>// never reached</a:t>
            </a:r>
            <a:endParaRPr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575" name="Google Shape;575;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9" name="Shape 579"/>
        <p:cNvGrpSpPr/>
        <p:nvPr/>
      </p:nvGrpSpPr>
      <p:grpSpPr>
        <a:xfrm>
          <a:off x="0" y="0"/>
          <a:ext cx="0" cy="0"/>
          <a:chOff x="0" y="0"/>
          <a:chExt cx="0" cy="0"/>
        </a:xfrm>
      </p:grpSpPr>
      <p:sp>
        <p:nvSpPr>
          <p:cNvPr id="580" name="Google Shape;580;p69"/>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Solution </a:t>
            </a:r>
            <a:r>
              <a:rPr lang="en" sz="1800">
                <a:solidFill>
                  <a:schemeClr val="dk2"/>
                </a:solidFill>
              </a:rPr>
              <a:t>blinkySEQ.c: create a "running light"</a:t>
            </a:r>
            <a:endParaRPr/>
          </a:p>
          <a:p>
            <a:pPr indent="0" lvl="0" marL="0" rtl="0" algn="l">
              <a:spcBef>
                <a:spcPts val="0"/>
              </a:spcBef>
              <a:spcAft>
                <a:spcPts val="0"/>
              </a:spcAft>
              <a:buNone/>
            </a:pPr>
            <a:r>
              <a:t/>
            </a:r>
            <a:endParaRPr/>
          </a:p>
        </p:txBody>
      </p:sp>
      <p:sp>
        <p:nvSpPr>
          <p:cNvPr id="581" name="Google Shape;581;p69"/>
          <p:cNvSpPr txBox="1"/>
          <p:nvPr>
            <p:ph idx="1" type="body"/>
          </p:nvPr>
        </p:nvSpPr>
        <p:spPr>
          <a:xfrm>
            <a:off x="311700" y="1151400"/>
            <a:ext cx="85206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#include </a:t>
            </a:r>
            <a:r>
              <a:rPr lang="en" sz="1100">
                <a:solidFill>
                  <a:srgbClr val="2A00FF"/>
                </a:solidFill>
                <a:highlight>
                  <a:srgbClr val="FFFFFF"/>
                </a:highlight>
                <a:latin typeface="Courier New"/>
                <a:ea typeface="Courier New"/>
                <a:cs typeface="Courier New"/>
                <a:sym typeface="Courier New"/>
              </a:rPr>
              <a:t>"</a:t>
            </a:r>
            <a:r>
              <a:rPr lang="en" sz="1100">
                <a:solidFill>
                  <a:srgbClr val="3F3FBF"/>
                </a:solidFill>
                <a:highlight>
                  <a:srgbClr val="FFFFFF"/>
                </a:highlight>
                <a:latin typeface="Courier New"/>
                <a:ea typeface="Courier New"/>
                <a:cs typeface="Courier New"/>
                <a:sym typeface="Courier New"/>
              </a:rPr>
              <a:t>ES28.h</a:t>
            </a:r>
            <a:r>
              <a:rPr lang="en" sz="1100">
                <a:solidFill>
                  <a:srgbClr val="2A00FF"/>
                </a:solidFill>
                <a:highlight>
                  <a:srgbClr val="FFFFFF"/>
                </a:highlight>
                <a:latin typeface="Courier New"/>
                <a:ea typeface="Courier New"/>
                <a:cs typeface="Courier New"/>
                <a:sym typeface="Courier New"/>
              </a:rPr>
              <a:t>"</a:t>
            </a:r>
            <a:r>
              <a:rPr lang="en" sz="1100">
                <a:solidFill>
                  <a:srgbClr val="7F0055"/>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All the port definitions are here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GPIOAEN         (1U&lt;&lt;0)        </a:t>
            </a:r>
            <a:r>
              <a:rPr lang="en" sz="1100">
                <a:solidFill>
                  <a:srgbClr val="3F7F59"/>
                </a:solidFill>
                <a:highlight>
                  <a:srgbClr val="FFFFFF"/>
                </a:highlight>
                <a:latin typeface="Courier New"/>
                <a:ea typeface="Courier New"/>
                <a:cs typeface="Courier New"/>
                <a:sym typeface="Courier New"/>
              </a:rPr>
              <a:t>// bit 0 enables clock for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3F7F59"/>
                </a:solidFill>
                <a:highlight>
                  <a:srgbClr val="FFFFFF"/>
                </a:highlight>
                <a:latin typeface="Courier New"/>
                <a:ea typeface="Courier New"/>
                <a:cs typeface="Courier New"/>
                <a:sym typeface="Courier New"/>
              </a:rPr>
              <a:t>// LEDs on D13, D12, D11 (PA 5, 6, 7)</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LED_PIN1        (1U&lt;&lt;5)        </a:t>
            </a:r>
            <a:r>
              <a:rPr lang="en" sz="1100">
                <a:solidFill>
                  <a:srgbClr val="3F7F59"/>
                </a:solidFill>
                <a:highlight>
                  <a:srgbClr val="FFFFFF"/>
                </a:highlight>
                <a:latin typeface="Courier New"/>
                <a:ea typeface="Courier New"/>
                <a:cs typeface="Courier New"/>
                <a:sym typeface="Courier New"/>
              </a:rPr>
              <a:t>// Bit 5 of Port A is wired to the LED1</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LED_PIN2        (1U&lt;&lt;6)        </a:t>
            </a:r>
            <a:r>
              <a:rPr lang="en" sz="1100">
                <a:solidFill>
                  <a:srgbClr val="3F7F59"/>
                </a:solidFill>
                <a:highlight>
                  <a:srgbClr val="FFFFFF"/>
                </a:highlight>
                <a:latin typeface="Courier New"/>
                <a:ea typeface="Courier New"/>
                <a:cs typeface="Courier New"/>
                <a:sym typeface="Courier New"/>
              </a:rPr>
              <a:t>// Bit 6 of Port A is wired to the LED2</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LED_PIN3        (1U&lt;&lt;7)        </a:t>
            </a:r>
            <a:r>
              <a:rPr lang="en" sz="1100">
                <a:solidFill>
                  <a:srgbClr val="3F7F59"/>
                </a:solidFill>
                <a:highlight>
                  <a:srgbClr val="FFFFFF"/>
                </a:highlight>
                <a:latin typeface="Courier New"/>
                <a:ea typeface="Courier New"/>
                <a:cs typeface="Courier New"/>
                <a:sym typeface="Courier New"/>
              </a:rPr>
              <a:t>// Bit 6 of Port A is wired to the LED3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RCC-&gt;IOPENR |= GPIOAEN;            </a:t>
            </a:r>
            <a:r>
              <a:rPr lang="en" sz="1100">
                <a:solidFill>
                  <a:srgbClr val="3F7F59"/>
                </a:solidFill>
                <a:highlight>
                  <a:srgbClr val="FFFFFF"/>
                </a:highlight>
                <a:latin typeface="Courier New"/>
                <a:ea typeface="Courier New"/>
                <a:cs typeface="Courier New"/>
                <a:sym typeface="Courier New"/>
              </a:rPr>
              <a:t>// 1. Enable clock access to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2. Configure PA5, 6, 7 as output pin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 (1U&lt;&lt;10) | (1U&lt;&lt;12) | (1U&lt;&lt; 14);</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&amp;= ~(1U&lt;&lt;11) &amp; ~(1U&lt;&lt;13) &amp; ~(1U&lt;&lt;15);</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(GPIOA-&gt;ODR &amp; ~LED_PIN3) | LED_PIN1; </a:t>
            </a:r>
            <a:r>
              <a:rPr lang="en" sz="1100">
                <a:solidFill>
                  <a:srgbClr val="3F7F59"/>
                </a:solidFill>
                <a:highlight>
                  <a:srgbClr val="FFFFFF"/>
                </a:highlight>
                <a:latin typeface="Courier New"/>
                <a:ea typeface="Courier New"/>
                <a:cs typeface="Courier New"/>
                <a:sym typeface="Courier New"/>
              </a:rPr>
              <a:t>// switch to LED1</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delay_ms(1000); 			</a:t>
            </a:r>
            <a:r>
              <a:rPr lang="en" sz="1100">
                <a:solidFill>
                  <a:srgbClr val="3F7F59"/>
                </a:solidFill>
                <a:highlight>
                  <a:schemeClr val="lt1"/>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(GPIOA-&gt;ODR &amp; ~LED_PIN1) | LED_PIN2; </a:t>
            </a:r>
            <a:r>
              <a:rPr lang="en" sz="1100">
                <a:solidFill>
                  <a:srgbClr val="3F7F59"/>
                </a:solidFill>
                <a:highlight>
                  <a:srgbClr val="FFFFFF"/>
                </a:highlight>
                <a:latin typeface="Courier New"/>
                <a:ea typeface="Courier New"/>
                <a:cs typeface="Courier New"/>
                <a:sym typeface="Courier New"/>
              </a:rPr>
              <a:t>// switch to LED2</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delay_ms(1000); 			</a:t>
            </a:r>
            <a:r>
              <a:rPr lang="en" sz="1100">
                <a:solidFill>
                  <a:srgbClr val="3F7F59"/>
                </a:solidFill>
                <a:highlight>
                  <a:schemeClr val="lt1"/>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(GPIOA-&gt;ODR &amp; ~LED_PIN2) | LED_PIN3; </a:t>
            </a:r>
            <a:r>
              <a:rPr lang="en" sz="1100">
                <a:solidFill>
                  <a:srgbClr val="3F7F59"/>
                </a:solidFill>
                <a:highlight>
                  <a:srgbClr val="FFFFFF"/>
                </a:highlight>
                <a:latin typeface="Courier New"/>
                <a:ea typeface="Courier New"/>
                <a:cs typeface="Courier New"/>
                <a:sym typeface="Courier New"/>
              </a:rPr>
              <a:t>// switch to LED3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delay_ms(1000); 			</a:t>
            </a:r>
            <a:r>
              <a:rPr lang="en" sz="1100">
                <a:solidFill>
                  <a:srgbClr val="3F7F59"/>
                </a:solidFill>
                <a:highlight>
                  <a:schemeClr val="lt1"/>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lang="en" sz="1100">
                <a:solidFill>
                  <a:schemeClr val="dk1"/>
                </a:solidFill>
                <a:highlight>
                  <a:srgbClr val="FFFFFF"/>
                </a:highlight>
                <a:latin typeface="Courier New"/>
                <a:ea typeface="Courier New"/>
                <a:cs typeface="Courier New"/>
                <a:sym typeface="Courier New"/>
              </a:rPr>
              <a:t> 0;                    </a:t>
            </a:r>
            <a:r>
              <a:rPr lang="en" sz="1100">
                <a:solidFill>
                  <a:srgbClr val="3F7F59"/>
                </a:solidFill>
                <a:highlight>
                  <a:srgbClr val="FFFFFF"/>
                </a:highlight>
                <a:latin typeface="Courier New"/>
                <a:ea typeface="Courier New"/>
                <a:cs typeface="Courier New"/>
                <a:sym typeface="Courier New"/>
              </a:rPr>
              <a:t>// never reached</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7F0055"/>
              </a:solidFill>
              <a:highlight>
                <a:srgbClr val="FFFFFF"/>
              </a:highlight>
              <a:latin typeface="Courier New"/>
              <a:ea typeface="Courier New"/>
              <a:cs typeface="Courier New"/>
              <a:sym typeface="Courier New"/>
            </a:endParaRPr>
          </a:p>
        </p:txBody>
      </p:sp>
      <p:sp>
        <p:nvSpPr>
          <p:cNvPr id="582" name="Google Shape;582;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6" name="Shape 586"/>
        <p:cNvGrpSpPr/>
        <p:nvPr/>
      </p:nvGrpSpPr>
      <p:grpSpPr>
        <a:xfrm>
          <a:off x="0" y="0"/>
          <a:ext cx="0" cy="0"/>
          <a:chOff x="0" y="0"/>
          <a:chExt cx="0" cy="0"/>
        </a:xfrm>
      </p:grpSpPr>
      <p:sp>
        <p:nvSpPr>
          <p:cNvPr id="587" name="Google Shape;587;p70"/>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r>
              <a:rPr lang="en" sz="1800">
                <a:solidFill>
                  <a:schemeClr val="dk2"/>
                </a:solidFill>
              </a:rPr>
              <a:t>blinkyCNT.c: create a counter</a:t>
            </a:r>
            <a:endParaRPr/>
          </a:p>
          <a:p>
            <a:pPr indent="0" lvl="0" marL="0" rtl="0" algn="l">
              <a:spcBef>
                <a:spcPts val="0"/>
              </a:spcBef>
              <a:spcAft>
                <a:spcPts val="0"/>
              </a:spcAft>
              <a:buNone/>
            </a:pPr>
            <a:r>
              <a:t/>
            </a:r>
            <a:endParaRPr/>
          </a:p>
        </p:txBody>
      </p:sp>
      <p:sp>
        <p:nvSpPr>
          <p:cNvPr id="588" name="Google Shape;588;p70"/>
          <p:cNvSpPr txBox="1"/>
          <p:nvPr>
            <p:ph idx="1" type="body"/>
          </p:nvPr>
        </p:nvSpPr>
        <p:spPr>
          <a:xfrm>
            <a:off x="311700" y="1151400"/>
            <a:ext cx="85206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#include </a:t>
            </a:r>
            <a:r>
              <a:rPr lang="en" sz="1100">
                <a:solidFill>
                  <a:srgbClr val="2A00FF"/>
                </a:solidFill>
                <a:highlight>
                  <a:srgbClr val="FFFFFF"/>
                </a:highlight>
                <a:latin typeface="Courier New"/>
                <a:ea typeface="Courier New"/>
                <a:cs typeface="Courier New"/>
                <a:sym typeface="Courier New"/>
              </a:rPr>
              <a:t>"</a:t>
            </a:r>
            <a:r>
              <a:rPr lang="en" sz="1100">
                <a:solidFill>
                  <a:srgbClr val="3F3FBF"/>
                </a:solidFill>
                <a:highlight>
                  <a:srgbClr val="FFFFFF"/>
                </a:highlight>
                <a:latin typeface="Courier New"/>
                <a:ea typeface="Courier New"/>
                <a:cs typeface="Courier New"/>
                <a:sym typeface="Courier New"/>
              </a:rPr>
              <a:t>ES28.h</a:t>
            </a:r>
            <a:r>
              <a:rPr lang="en" sz="1100">
                <a:solidFill>
                  <a:srgbClr val="2A00FF"/>
                </a:solidFill>
                <a:highlight>
                  <a:srgbClr val="FFFFFF"/>
                </a:highlight>
                <a:latin typeface="Courier New"/>
                <a:ea typeface="Courier New"/>
                <a:cs typeface="Courier New"/>
                <a:sym typeface="Courier New"/>
              </a:rPr>
              <a:t>"</a:t>
            </a:r>
            <a:r>
              <a:rPr lang="en" sz="1100">
                <a:solidFill>
                  <a:srgbClr val="7F0055"/>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All the port definitions are here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GPIOAEN        (1U&lt;&lt;0)        </a:t>
            </a:r>
            <a:r>
              <a:rPr lang="en" sz="1100">
                <a:solidFill>
                  <a:srgbClr val="3F7F59"/>
                </a:solidFill>
                <a:highlight>
                  <a:srgbClr val="FFFFFF"/>
                </a:highlight>
                <a:latin typeface="Courier New"/>
                <a:ea typeface="Courier New"/>
                <a:cs typeface="Courier New"/>
                <a:sym typeface="Courier New"/>
              </a:rPr>
              <a:t>// bit 0 enables clock for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3F7F59"/>
                </a:solidFill>
                <a:highlight>
                  <a:srgbClr val="FFFFFF"/>
                </a:highlight>
                <a:latin typeface="Courier New"/>
                <a:ea typeface="Courier New"/>
                <a:cs typeface="Courier New"/>
                <a:sym typeface="Courier New"/>
              </a:rPr>
              <a:t>// LEDs on D13, D12, D11 (PA 5, 6, 7)</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LED1_BIT        5</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LED_PIN1        (1U&lt;&lt;LED1_BIT)        	 </a:t>
            </a:r>
            <a:r>
              <a:rPr lang="en" sz="1100">
                <a:solidFill>
                  <a:srgbClr val="3F7F59"/>
                </a:solidFill>
                <a:highlight>
                  <a:srgbClr val="FFFFFF"/>
                </a:highlight>
                <a:latin typeface="Courier New"/>
                <a:ea typeface="Courier New"/>
                <a:cs typeface="Courier New"/>
                <a:sym typeface="Courier New"/>
              </a:rPr>
              <a:t>// Bit 5 of Port A is wired to the LED1</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LED_PIN2        (1U&lt;&lt;(LED1_BIT+1))        </a:t>
            </a:r>
            <a:r>
              <a:rPr lang="en" sz="1100">
                <a:solidFill>
                  <a:srgbClr val="3F7F59"/>
                </a:solidFill>
                <a:highlight>
                  <a:srgbClr val="FFFFFF"/>
                </a:highlight>
                <a:latin typeface="Courier New"/>
                <a:ea typeface="Courier New"/>
                <a:cs typeface="Courier New"/>
                <a:sym typeface="Courier New"/>
              </a:rPr>
              <a:t>// Bit 6 of Port A is wired to the LED2</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LED_PIN3        (1U&lt;&lt;(LED1_BIT+2))        </a:t>
            </a:r>
            <a:r>
              <a:rPr lang="en" sz="1100">
                <a:solidFill>
                  <a:srgbClr val="3F7F59"/>
                </a:solidFill>
                <a:highlight>
                  <a:srgbClr val="FFFFFF"/>
                </a:highlight>
                <a:latin typeface="Courier New"/>
                <a:ea typeface="Courier New"/>
                <a:cs typeface="Courier New"/>
                <a:sym typeface="Courier New"/>
              </a:rPr>
              <a:t>// Bit 6 of Port A is wired to the LED3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rgbClr val="7F0055"/>
                </a:solidFill>
                <a:highlight>
                  <a:srgbClr val="FFFFFF"/>
                </a:highlight>
                <a:latin typeface="Courier New"/>
                <a:ea typeface="Courier New"/>
                <a:cs typeface="Courier New"/>
                <a:sym typeface="Courier New"/>
              </a:rPr>
              <a:t>#define LED_ALL         (LED_PIN1 | LED_PIN2 | LED_PIN3)</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RCC-&gt;IOPENR |= GPIOAEN;        			</a:t>
            </a:r>
            <a:r>
              <a:rPr lang="en" sz="1100">
                <a:solidFill>
                  <a:srgbClr val="3F7F59"/>
                </a:solidFill>
                <a:highlight>
                  <a:srgbClr val="FFFFFF"/>
                </a:highlight>
                <a:latin typeface="Courier New"/>
                <a:ea typeface="Courier New"/>
                <a:cs typeface="Courier New"/>
                <a:sym typeface="Courier New"/>
              </a:rPr>
              <a:t>// Enable clock access to GPIOA</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Configure PA5, 6, 7 as output pin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 (1U&lt;&lt;10) | (1U&lt;&lt;12) | (1U&lt;&lt; 14);</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GPIOA-&gt;MODER &amp;= ~(1U&lt;&lt;11) &amp; ~(1U&lt;&lt;13) &amp; ~(1U&lt;&lt;15);</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for</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lang="en" sz="1100">
                <a:solidFill>
                  <a:schemeClr val="dk1"/>
                </a:solidFill>
                <a:highlight>
                  <a:srgbClr val="FFFFFF"/>
                </a:highlight>
                <a:latin typeface="Courier New"/>
                <a:ea typeface="Courier New"/>
                <a:cs typeface="Courier New"/>
                <a:sym typeface="Courier New"/>
              </a:rPr>
              <a:t> count = 0; count&lt;8; count++){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//turn all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count&lt;&lt;LED1_BIT;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delay_ms(1000); 				</a:t>
            </a:r>
            <a:r>
              <a:rPr lang="en" sz="1100">
                <a:solidFill>
                  <a:srgbClr val="3F7F59"/>
                </a:solidFill>
                <a:highlight>
                  <a:schemeClr val="lt1"/>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lang="en" sz="1100">
                <a:solidFill>
                  <a:schemeClr val="dk1"/>
                </a:solidFill>
                <a:highlight>
                  <a:srgbClr val="FFFFFF"/>
                </a:highlight>
                <a:latin typeface="Courier New"/>
                <a:ea typeface="Courier New"/>
                <a:cs typeface="Courier New"/>
                <a:sym typeface="Courier New"/>
              </a:rPr>
              <a:t> 0;                   				 </a:t>
            </a:r>
            <a:r>
              <a:rPr lang="en" sz="1100">
                <a:solidFill>
                  <a:srgbClr val="3F7F59"/>
                </a:solidFill>
                <a:highlight>
                  <a:srgbClr val="FFFFFF"/>
                </a:highlight>
                <a:latin typeface="Courier New"/>
                <a:ea typeface="Courier New"/>
                <a:cs typeface="Courier New"/>
                <a:sym typeface="Courier New"/>
              </a:rPr>
              <a:t>// never reached</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highlight>
                <a:srgbClr val="FFFFFF"/>
              </a:highlight>
            </a:endParaRPr>
          </a:p>
          <a:p>
            <a:pPr indent="0" lvl="0" marL="0" rtl="0" algn="l">
              <a:lnSpc>
                <a:spcPct val="100000"/>
              </a:lnSpc>
              <a:spcBef>
                <a:spcPts val="0"/>
              </a:spcBef>
              <a:spcAft>
                <a:spcPts val="0"/>
              </a:spcAft>
              <a:buNone/>
            </a:pPr>
            <a:r>
              <a:t/>
            </a:r>
            <a:endParaRPr sz="1100">
              <a:solidFill>
                <a:srgbClr val="7F0055"/>
              </a:solidFill>
              <a:highlight>
                <a:srgbClr val="FFFFFF"/>
              </a:highlight>
              <a:latin typeface="Courier New"/>
              <a:ea typeface="Courier New"/>
              <a:cs typeface="Courier New"/>
              <a:sym typeface="Courier New"/>
            </a:endParaRPr>
          </a:p>
        </p:txBody>
      </p:sp>
      <p:sp>
        <p:nvSpPr>
          <p:cNvPr id="589" name="Google Shape;589;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