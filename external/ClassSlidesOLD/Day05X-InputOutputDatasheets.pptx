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9144000"/>
  <p:notesSz cx="6858000" cy="9144000"/>
  <p:embeddedFontLst>
    <p:embeddedFont>
      <p:font typeface="Helvetica Neue"/>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HelveticaNeue-regular.fntdata"/><Relationship Id="rId11" Type="http://schemas.openxmlformats.org/officeDocument/2006/relationships/slide" Target="slides/slide7.xml"/><Relationship Id="rId22" Type="http://schemas.openxmlformats.org/officeDocument/2006/relationships/font" Target="fonts/HelveticaNeue-italic.fntdata"/><Relationship Id="rId10" Type="http://schemas.openxmlformats.org/officeDocument/2006/relationships/slide" Target="slides/slide6.xml"/><Relationship Id="rId21" Type="http://schemas.openxmlformats.org/officeDocument/2006/relationships/font" Target="fonts/HelveticaNeue-bold.fntdata"/><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font" Target="fonts/HelveticaNeue-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09jjnZt3cRDWa39WyZQnE8f4yMVMaPOXCAFd1Bw1uCw/edit?usp=sharing"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86852e49e1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86852e49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9f863f1d89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9f863f1d8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9f863f1d89_0_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9f863f1d8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Inputs measure things in the physical world. The interface converts these inputs into numbers that can be processed by the core processor. These then are converted via the right-hand interface to physical signals that are necessary to drive the output.</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Already talked about switches. Data stream could be something coming in on the UART. Sensors coming up (such as temperature, force, etc)</a:t>
            </a:r>
            <a:endParaRPr sz="1500"/>
          </a:p>
          <a:p>
            <a:pPr indent="0" lvl="0" marL="0" rtl="0" algn="l">
              <a:spcBef>
                <a:spcPts val="0"/>
              </a:spcBef>
              <a:spcAft>
                <a:spcPts val="0"/>
              </a:spcAft>
              <a:buNone/>
            </a:pPr>
            <a:r>
              <a:rPr lang="en" sz="1500"/>
              <a:t>Interface: could be UART, gpio register; inside core processor you have device drivers that get data into the processor and push it out.</a:t>
            </a:r>
            <a:endParaRPr sz="1500"/>
          </a:p>
          <a:p>
            <a:pPr indent="0" lvl="0" marL="0" rtl="0" algn="l">
              <a:spcBef>
                <a:spcPts val="0"/>
              </a:spcBef>
              <a:spcAft>
                <a:spcPts val="0"/>
              </a:spcAft>
              <a:buNone/>
            </a:pPr>
            <a:r>
              <a:rPr lang="en" sz="1500"/>
              <a:t>Actuators could be motors; displays could be 7-segment display like at a gas pump, data stream could be UART, etc.</a:t>
            </a:r>
            <a:endParaRPr sz="15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9f863f1d89_0_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9f863f1d8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Don't need to know the details of how the sensor works. The datasheet gives you everything you need to know. It's your programmer's interface to the sensor.</a:t>
            </a:r>
            <a:endParaRPr sz="1500"/>
          </a:p>
          <a:p>
            <a:pPr indent="0" lvl="0" marL="0" rtl="0" algn="l">
              <a:spcBef>
                <a:spcPts val="0"/>
              </a:spcBef>
              <a:spcAft>
                <a:spcPts val="0"/>
              </a:spcAft>
              <a:buNone/>
            </a:pPr>
            <a:r>
              <a:t/>
            </a:r>
            <a:endParaRPr/>
          </a:p>
          <a:p>
            <a:pPr indent="0" lvl="0" marL="0" rtl="0" algn="l">
              <a:spcBef>
                <a:spcPts val="0"/>
              </a:spcBef>
              <a:spcAft>
                <a:spcPts val="0"/>
              </a:spcAft>
              <a:buNone/>
            </a:pPr>
            <a:r>
              <a:rPr lang="en"/>
              <a:t>Next week's lab (lab 4): You may have noticed while reading the datasheet that the TMP235 is packaged exclusively as a surface </a:t>
            </a:r>
            <a:endParaRPr/>
          </a:p>
          <a:p>
            <a:pPr indent="0" lvl="0" marL="0" rtl="0" algn="l">
              <a:spcBef>
                <a:spcPts val="0"/>
              </a:spcBef>
              <a:spcAft>
                <a:spcPts val="0"/>
              </a:spcAft>
              <a:buNone/>
            </a:pPr>
            <a:r>
              <a:rPr lang="en"/>
              <a:t>mount device (SMD).  Since we cannot place any SMD components on a breadboard, we are using a small </a:t>
            </a:r>
            <a:endParaRPr/>
          </a:p>
          <a:p>
            <a:pPr indent="0" lvl="0" marL="0" rtl="0" algn="l">
              <a:spcBef>
                <a:spcPts val="0"/>
              </a:spcBef>
              <a:spcAft>
                <a:spcPts val="0"/>
              </a:spcAft>
              <a:buNone/>
            </a:pPr>
            <a:r>
              <a:rPr lang="en"/>
              <a:t>module (circuit board) which contains the TMP235, and some decoupling capacitance.  It also uses a small </a:t>
            </a:r>
            <a:endParaRPr/>
          </a:p>
          <a:p>
            <a:pPr indent="0" lvl="0" marL="0" rtl="0" algn="l">
              <a:spcBef>
                <a:spcPts val="0"/>
              </a:spcBef>
              <a:spcAft>
                <a:spcPts val="0"/>
              </a:spcAft>
              <a:buNone/>
            </a:pPr>
            <a:r>
              <a:rPr lang="en"/>
              <a:t>connector for easy access to the IO of the device (Vdd, GND, and Vout). Details of this module can be found in </a:t>
            </a:r>
            <a:endParaRPr/>
          </a:p>
          <a:p>
            <a:pPr indent="0" lvl="0" marL="0" rtl="0" algn="l">
              <a:spcBef>
                <a:spcPts val="0"/>
              </a:spcBef>
              <a:spcAft>
                <a:spcPts val="0"/>
              </a:spcAft>
              <a:buNone/>
            </a:pPr>
            <a:r>
              <a:rPr lang="en"/>
              <a:t>Figure 1 and Figure 2.  The connector is keyed, which means it can only be inserted in one orientation.  In our </a:t>
            </a:r>
            <a:endParaRPr/>
          </a:p>
          <a:p>
            <a:pPr indent="0" lvl="0" marL="0" rtl="0" algn="l">
              <a:spcBef>
                <a:spcPts val="0"/>
              </a:spcBef>
              <a:spcAft>
                <a:spcPts val="0"/>
              </a:spcAft>
              <a:buNone/>
            </a:pPr>
            <a:r>
              <a:rPr lang="en"/>
              <a:t>case, the Red wire connects to +5V, the Black wire connects to GND, and the White wire is the analog signal.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a0cf918934_0_2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a0cf91893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9f863f1d89_0_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9f863f1d89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You don't just take a sensor and plug it into your microcontroller. There are some additional steps involved. That's called the sensor signal chain.</a:t>
            </a:r>
            <a:endParaRPr sz="1500"/>
          </a:p>
          <a:p>
            <a:pPr indent="0" lvl="0" marL="0" rtl="0" algn="l">
              <a:spcBef>
                <a:spcPts val="0"/>
              </a:spcBef>
              <a:spcAft>
                <a:spcPts val="0"/>
              </a:spcAft>
              <a:buNone/>
            </a:pPr>
            <a:r>
              <a:rPr lang="en" sz="1500"/>
              <a:t>Some physical quantity you wish to measure (temperature, pressure, illumination, etc). Sensor converts the quantity to voltage. Analog front end conditions this voltage to make it compatible with the input of the analog-to-digital converter (scale, etc). ADC converts voltage to a number (voltage to 8-bit integer, voltage to 10-bit integer, etc).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How all this happens really varies. All steps happen, but where and how depends on the situation. Voltage coming out of sensor might be super feeble (for example on the order of mV)  and needs to be boosted up so that it lives in the range (eg 0-3.3V) of the ADC. AFE also removes noise voltage that might be superimposed on the signal.</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Bare sensor take physical quantity and make it into voltage - don't contain any AFE, etc. </a:t>
            </a:r>
            <a:endParaRPr sz="15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9f863f1d89_0_1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9f863f1d89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9f863f1d89_0_1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9f863f1d89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06e62f0a8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b06e62f0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b06e62f0a8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b06e62f0a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a0cf918934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a0cf91893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a136b8eec6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a136b8eec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https://docs.google.com/presentation/d/109jjnZt3cRDWa39WyZQnE8f4yMVMaPOXCAFd1Bw1uCw/edit?usp=sharing</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a14c224bd0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a14c224bd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a0cf918934_0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a0cf91893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52" name="Google Shape;52;p13"/>
          <p:cNvSpPr txBox="1"/>
          <p:nvPr>
            <p:ph idx="1" type="body"/>
          </p:nvPr>
        </p:nvSpPr>
        <p:spPr>
          <a:xfrm>
            <a:off x="533400" y="990600"/>
            <a:ext cx="8153400" cy="5105400"/>
          </a:xfrm>
          <a:prstGeom prst="rect">
            <a:avLst/>
          </a:prstGeom>
          <a:noFill/>
          <a:ln>
            <a:noFill/>
          </a:ln>
        </p:spPr>
        <p:txBody>
          <a:bodyPr anchorCtr="0" anchor="t" bIns="45700" lIns="91425" spcFirstLastPara="1" rIns="91425" wrap="square" tIns="45700">
            <a:noAutofit/>
          </a:bodyPr>
          <a:lstStyle>
            <a:lvl1pPr indent="-228600" lvl="0" marL="457200" rtl="0" algn="l">
              <a:spcBef>
                <a:spcPts val="360"/>
              </a:spcBef>
              <a:spcAft>
                <a:spcPts val="0"/>
              </a:spcAft>
              <a:buSzPts val="1800"/>
              <a:buNone/>
              <a:defRPr/>
            </a:lvl1pPr>
            <a:lvl2pPr indent="-228600" lvl="1" marL="914400" rtl="0" algn="l">
              <a:spcBef>
                <a:spcPts val="360"/>
              </a:spcBef>
              <a:spcAft>
                <a:spcPts val="0"/>
              </a:spcAft>
              <a:buSzPts val="1400"/>
              <a:buNone/>
              <a:defRPr/>
            </a:lvl2pPr>
            <a:lvl3pPr indent="-228600" lvl="2" marL="1371600" rtl="0" algn="l">
              <a:spcBef>
                <a:spcPts val="360"/>
              </a:spcBef>
              <a:spcAft>
                <a:spcPts val="0"/>
              </a:spcAft>
              <a:buSzPts val="1400"/>
              <a:buNone/>
              <a:defRPr/>
            </a:lvl3pPr>
            <a:lvl4pPr indent="-228600" lvl="3" marL="1828800" rtl="0" algn="l">
              <a:spcBef>
                <a:spcPts val="360"/>
              </a:spcBef>
              <a:spcAft>
                <a:spcPts val="0"/>
              </a:spcAft>
              <a:buSzPts val="1400"/>
              <a:buNone/>
              <a:defRPr/>
            </a:lvl4pPr>
            <a:lvl5pPr indent="-228600" lvl="4" marL="2286000" rtl="0" algn="l">
              <a:spcBef>
                <a:spcPts val="360"/>
              </a:spcBef>
              <a:spcAft>
                <a:spcPts val="0"/>
              </a:spcAft>
              <a:buSzPts val="1400"/>
              <a:buNone/>
              <a:defRPr/>
            </a:lvl5pPr>
            <a:lvl6pPr indent="-228600" lvl="5" marL="2743200" rtl="0" algn="l">
              <a:spcBef>
                <a:spcPts val="360"/>
              </a:spcBef>
              <a:spcAft>
                <a:spcPts val="0"/>
              </a:spcAft>
              <a:buSzPts val="1400"/>
              <a:buNone/>
              <a:defRPr/>
            </a:lvl6pPr>
            <a:lvl7pPr indent="-228600" lvl="6" marL="3200400" rtl="0" algn="l">
              <a:spcBef>
                <a:spcPts val="360"/>
              </a:spcBef>
              <a:spcAft>
                <a:spcPts val="0"/>
              </a:spcAft>
              <a:buSzPts val="1400"/>
              <a:buNone/>
              <a:defRPr/>
            </a:lvl7pPr>
            <a:lvl8pPr indent="-228600" lvl="7" marL="3657600" rtl="0" algn="l">
              <a:spcBef>
                <a:spcPts val="360"/>
              </a:spcBef>
              <a:spcAft>
                <a:spcPts val="0"/>
              </a:spcAft>
              <a:buSzPts val="1400"/>
              <a:buNone/>
              <a:defRPr/>
            </a:lvl8pPr>
            <a:lvl9pPr indent="-228600" lvl="8" marL="4114800" rtl="0" algn="l">
              <a:spcBef>
                <a:spcPts val="360"/>
              </a:spcBef>
              <a:spcAft>
                <a:spcPts val="0"/>
              </a:spcAft>
              <a:buSzPts val="1400"/>
              <a:buNone/>
              <a:defRPr/>
            </a:lvl9pPr>
          </a:lstStyle>
          <a:p/>
        </p:txBody>
      </p:sp>
      <p:sp>
        <p:nvSpPr>
          <p:cNvPr id="53" name="Google Shape;53;p13"/>
          <p:cNvSpPr txBox="1"/>
          <p:nvPr>
            <p:ph idx="10" type="dt"/>
          </p:nvPr>
        </p:nvSpPr>
        <p:spPr>
          <a:xfrm>
            <a:off x="533400" y="6248400"/>
            <a:ext cx="1905000" cy="3048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600"/>
              </a:spcBef>
              <a:spcAft>
                <a:spcPts val="0"/>
              </a:spcAft>
              <a:buSzPts val="1400"/>
              <a:buNone/>
              <a:defRPr i="1" sz="1200">
                <a:solidFill>
                  <a:schemeClr val="lt2"/>
                </a:solidFill>
                <a:latin typeface="Helvetica Neue"/>
                <a:ea typeface="Helvetica Neue"/>
                <a:cs typeface="Helvetica Neue"/>
                <a:sym typeface="Helvetica Neu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4" name="Google Shape;54;p13"/>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i="0" sz="100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13.png"/><Relationship Id="rId8"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docs.google.com/presentation/d/109jjnZt3cRDWa39WyZQnE8f4yMVMaPOXCAFd1Bw1uCw/edit?usp=sharin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60" name="Google Shape;60;p14"/>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5x</a:t>
            </a:r>
            <a:endParaRPr sz="2800">
              <a:solidFill>
                <a:srgbClr val="595959"/>
              </a:solidFill>
              <a:latin typeface="Comic Sans MS"/>
              <a:ea typeface="Comic Sans MS"/>
              <a:cs typeface="Comic Sans MS"/>
              <a:sym typeface="Comic Sans MS"/>
            </a:endParaRPr>
          </a:p>
        </p:txBody>
      </p:sp>
      <p:pic>
        <p:nvPicPr>
          <p:cNvPr id="61" name="Google Shape;61;p14"/>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62" name="Google Shape;62;p14"/>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Pick a name for your table group!</a:t>
            </a:r>
            <a:endParaRPr sz="4000"/>
          </a:p>
        </p:txBody>
      </p:sp>
      <p:sp>
        <p:nvSpPr>
          <p:cNvPr id="68" name="Google Shape;68;p15"/>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p>
            <a:pPr indent="-228600" lvl="0" marL="457200" rtl="0" algn="ctr">
              <a:spcBef>
                <a:spcPts val="0"/>
              </a:spcBef>
              <a:spcAft>
                <a:spcPts val="0"/>
              </a:spcAft>
              <a:buSzPts val="2700"/>
              <a:buNone/>
            </a:pPr>
            <a:r>
              <a:rPr lang="en" sz="2700"/>
              <a:t>Brainstorm a team name</a:t>
            </a:r>
            <a:endParaRPr sz="2700"/>
          </a:p>
          <a:p>
            <a:pPr indent="-228600" lvl="0" marL="457200" rtl="0" algn="ctr">
              <a:spcBef>
                <a:spcPts val="0"/>
              </a:spcBef>
              <a:spcAft>
                <a:spcPts val="0"/>
              </a:spcAft>
              <a:buSzPts val="2700"/>
              <a:buNone/>
            </a:pPr>
            <a:r>
              <a:rPr lang="en" sz="2700"/>
              <a:t>Let your LF know your group name</a:t>
            </a:r>
            <a:endParaRPr sz="2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2226050"/>
            <a:ext cx="8520600" cy="16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Inputs and Outputs to an </a:t>
            </a:r>
            <a:endParaRPr/>
          </a:p>
          <a:p>
            <a:pPr indent="0" lvl="0" marL="0" rtl="0" algn="ctr">
              <a:spcBef>
                <a:spcPts val="0"/>
              </a:spcBef>
              <a:spcAft>
                <a:spcPts val="0"/>
              </a:spcAft>
              <a:buNone/>
            </a:pPr>
            <a:r>
              <a:rPr lang="en"/>
              <a:t>Embedded System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Top-level embedded system view</a:t>
            </a:r>
            <a:endParaRPr/>
          </a:p>
        </p:txBody>
      </p:sp>
      <p:pic>
        <p:nvPicPr>
          <p:cNvPr id="79" name="Google Shape;79;p17"/>
          <p:cNvPicPr preferRelativeResize="0"/>
          <p:nvPr/>
        </p:nvPicPr>
        <p:blipFill>
          <a:blip r:embed="rId3">
            <a:alphaModFix/>
          </a:blip>
          <a:stretch>
            <a:fillRect/>
          </a:stretch>
        </p:blipFill>
        <p:spPr>
          <a:xfrm>
            <a:off x="19050" y="1985950"/>
            <a:ext cx="9105900" cy="2886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8"/>
          <p:cNvPicPr preferRelativeResize="0"/>
          <p:nvPr/>
        </p:nvPicPr>
        <p:blipFill>
          <a:blip r:embed="rId3">
            <a:alphaModFix/>
          </a:blip>
          <a:stretch>
            <a:fillRect/>
          </a:stretch>
        </p:blipFill>
        <p:spPr>
          <a:xfrm>
            <a:off x="845451" y="1356874"/>
            <a:ext cx="2078826" cy="2078826"/>
          </a:xfrm>
          <a:prstGeom prst="rect">
            <a:avLst/>
          </a:prstGeom>
          <a:noFill/>
          <a:ln>
            <a:noFill/>
          </a:ln>
        </p:spPr>
      </p:pic>
      <p:sp>
        <p:nvSpPr>
          <p:cNvPr id="85" name="Google Shape;85;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Input</a:t>
            </a:r>
            <a:r>
              <a:rPr lang="en"/>
              <a:t> Component Examples </a:t>
            </a:r>
            <a:endParaRPr/>
          </a:p>
        </p:txBody>
      </p:sp>
      <p:pic>
        <p:nvPicPr>
          <p:cNvPr id="86" name="Google Shape;86;p18"/>
          <p:cNvPicPr preferRelativeResize="0"/>
          <p:nvPr/>
        </p:nvPicPr>
        <p:blipFill>
          <a:blip r:embed="rId4">
            <a:alphaModFix/>
          </a:blip>
          <a:stretch>
            <a:fillRect/>
          </a:stretch>
        </p:blipFill>
        <p:spPr>
          <a:xfrm>
            <a:off x="0" y="3530425"/>
            <a:ext cx="2509675" cy="2207524"/>
          </a:xfrm>
          <a:prstGeom prst="rect">
            <a:avLst/>
          </a:prstGeom>
          <a:noFill/>
          <a:ln>
            <a:noFill/>
          </a:ln>
        </p:spPr>
      </p:pic>
      <p:pic>
        <p:nvPicPr>
          <p:cNvPr id="87" name="Google Shape;87;p18"/>
          <p:cNvPicPr preferRelativeResize="0"/>
          <p:nvPr/>
        </p:nvPicPr>
        <p:blipFill>
          <a:blip r:embed="rId5">
            <a:alphaModFix/>
          </a:blip>
          <a:stretch>
            <a:fillRect/>
          </a:stretch>
        </p:blipFill>
        <p:spPr>
          <a:xfrm>
            <a:off x="3701150" y="1356875"/>
            <a:ext cx="2427350" cy="2427350"/>
          </a:xfrm>
          <a:prstGeom prst="rect">
            <a:avLst/>
          </a:prstGeom>
          <a:noFill/>
          <a:ln>
            <a:noFill/>
          </a:ln>
        </p:spPr>
      </p:pic>
      <p:pic>
        <p:nvPicPr>
          <p:cNvPr id="88" name="Google Shape;88;p18"/>
          <p:cNvPicPr preferRelativeResize="0"/>
          <p:nvPr/>
        </p:nvPicPr>
        <p:blipFill>
          <a:blip r:embed="rId6">
            <a:alphaModFix/>
          </a:blip>
          <a:stretch>
            <a:fillRect/>
          </a:stretch>
        </p:blipFill>
        <p:spPr>
          <a:xfrm>
            <a:off x="5939475" y="257817"/>
            <a:ext cx="2644925" cy="2644925"/>
          </a:xfrm>
          <a:prstGeom prst="rect">
            <a:avLst/>
          </a:prstGeom>
          <a:noFill/>
          <a:ln>
            <a:noFill/>
          </a:ln>
        </p:spPr>
      </p:pic>
      <p:sp>
        <p:nvSpPr>
          <p:cNvPr id="89" name="Google Shape;89;p18"/>
          <p:cNvSpPr txBox="1"/>
          <p:nvPr/>
        </p:nvSpPr>
        <p:spPr>
          <a:xfrm>
            <a:off x="1805875" y="3315025"/>
            <a:ext cx="1606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Temperature sensor tmp235</a:t>
            </a:r>
            <a:endParaRPr/>
          </a:p>
        </p:txBody>
      </p:sp>
      <p:sp>
        <p:nvSpPr>
          <p:cNvPr id="90" name="Google Shape;90;p18"/>
          <p:cNvSpPr txBox="1"/>
          <p:nvPr/>
        </p:nvSpPr>
        <p:spPr>
          <a:xfrm>
            <a:off x="7423725" y="1060475"/>
            <a:ext cx="1606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Temperature sensor tmp36</a:t>
            </a:r>
            <a:endParaRPr/>
          </a:p>
        </p:txBody>
      </p:sp>
      <p:sp>
        <p:nvSpPr>
          <p:cNvPr id="91" name="Google Shape;91;p18"/>
          <p:cNvSpPr txBox="1"/>
          <p:nvPr/>
        </p:nvSpPr>
        <p:spPr>
          <a:xfrm>
            <a:off x="4566375" y="3130225"/>
            <a:ext cx="1373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CdS photocell</a:t>
            </a:r>
            <a:endParaRPr/>
          </a:p>
        </p:txBody>
      </p:sp>
      <p:pic>
        <p:nvPicPr>
          <p:cNvPr id="92" name="Google Shape;92;p18"/>
          <p:cNvPicPr preferRelativeResize="0"/>
          <p:nvPr/>
        </p:nvPicPr>
        <p:blipFill rotWithShape="1">
          <a:blip r:embed="rId7">
            <a:alphaModFix/>
          </a:blip>
          <a:srcRect b="22922" l="18530" r="16949" t="23994"/>
          <a:stretch/>
        </p:blipFill>
        <p:spPr>
          <a:xfrm>
            <a:off x="5939475" y="3930637"/>
            <a:ext cx="2154450" cy="1772675"/>
          </a:xfrm>
          <a:prstGeom prst="rect">
            <a:avLst/>
          </a:prstGeom>
          <a:noFill/>
          <a:ln>
            <a:noFill/>
          </a:ln>
        </p:spPr>
      </p:pic>
      <p:sp>
        <p:nvSpPr>
          <p:cNvPr id="93" name="Google Shape;93;p18"/>
          <p:cNvSpPr txBox="1"/>
          <p:nvPr/>
        </p:nvSpPr>
        <p:spPr>
          <a:xfrm>
            <a:off x="6385338" y="5816550"/>
            <a:ext cx="1753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Accelerometer LSM303AGR</a:t>
            </a:r>
            <a:endParaRPr/>
          </a:p>
        </p:txBody>
      </p:sp>
      <p:pic>
        <p:nvPicPr>
          <p:cNvPr id="94" name="Google Shape;94;p18"/>
          <p:cNvPicPr preferRelativeResize="0"/>
          <p:nvPr/>
        </p:nvPicPr>
        <p:blipFill>
          <a:blip r:embed="rId8">
            <a:alphaModFix/>
          </a:blip>
          <a:stretch>
            <a:fillRect/>
          </a:stretch>
        </p:blipFill>
        <p:spPr>
          <a:xfrm>
            <a:off x="1865462" y="5144212"/>
            <a:ext cx="1753275" cy="1420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Output Component Examples</a:t>
            </a:r>
            <a:endParaRPr/>
          </a:p>
        </p:txBody>
      </p:sp>
      <p:pic>
        <p:nvPicPr>
          <p:cNvPr id="100" name="Google Shape;100;p19"/>
          <p:cNvPicPr preferRelativeResize="0"/>
          <p:nvPr/>
        </p:nvPicPr>
        <p:blipFill rotWithShape="1">
          <a:blip r:embed="rId3">
            <a:alphaModFix/>
          </a:blip>
          <a:srcRect b="19347" l="20518" r="21685" t="19870"/>
          <a:stretch/>
        </p:blipFill>
        <p:spPr>
          <a:xfrm>
            <a:off x="507325" y="1280850"/>
            <a:ext cx="3172526" cy="2504100"/>
          </a:xfrm>
          <a:prstGeom prst="rect">
            <a:avLst/>
          </a:prstGeom>
          <a:noFill/>
          <a:ln>
            <a:noFill/>
          </a:ln>
        </p:spPr>
      </p:pic>
      <p:pic>
        <p:nvPicPr>
          <p:cNvPr id="101" name="Google Shape;101;p19"/>
          <p:cNvPicPr preferRelativeResize="0"/>
          <p:nvPr/>
        </p:nvPicPr>
        <p:blipFill rotWithShape="1">
          <a:blip r:embed="rId4">
            <a:alphaModFix/>
          </a:blip>
          <a:srcRect b="16710" l="6485" r="5765" t="14834"/>
          <a:stretch/>
        </p:blipFill>
        <p:spPr>
          <a:xfrm>
            <a:off x="5545775" y="151875"/>
            <a:ext cx="3172526" cy="2474925"/>
          </a:xfrm>
          <a:prstGeom prst="rect">
            <a:avLst/>
          </a:prstGeom>
          <a:noFill/>
          <a:ln>
            <a:noFill/>
          </a:ln>
        </p:spPr>
      </p:pic>
      <p:sp>
        <p:nvSpPr>
          <p:cNvPr id="102" name="Google Shape;102;p19"/>
          <p:cNvSpPr txBox="1"/>
          <p:nvPr/>
        </p:nvSpPr>
        <p:spPr>
          <a:xfrm>
            <a:off x="1117225" y="3784950"/>
            <a:ext cx="1952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LED Matrix Driver Backpack HT16K33</a:t>
            </a:r>
            <a:endParaRPr>
              <a:solidFill>
                <a:schemeClr val="dk1"/>
              </a:solidFill>
            </a:endParaRPr>
          </a:p>
        </p:txBody>
      </p:sp>
      <p:pic>
        <p:nvPicPr>
          <p:cNvPr id="103" name="Google Shape;103;p19"/>
          <p:cNvPicPr preferRelativeResize="0"/>
          <p:nvPr/>
        </p:nvPicPr>
        <p:blipFill>
          <a:blip r:embed="rId5">
            <a:alphaModFix/>
          </a:blip>
          <a:stretch>
            <a:fillRect/>
          </a:stretch>
        </p:blipFill>
        <p:spPr>
          <a:xfrm>
            <a:off x="6680751" y="3310850"/>
            <a:ext cx="2151543" cy="2878825"/>
          </a:xfrm>
          <a:prstGeom prst="rect">
            <a:avLst/>
          </a:prstGeom>
          <a:noFill/>
          <a:ln>
            <a:noFill/>
          </a:ln>
        </p:spPr>
      </p:pic>
      <p:pic>
        <p:nvPicPr>
          <p:cNvPr id="104" name="Google Shape;104;p19"/>
          <p:cNvPicPr preferRelativeResize="0"/>
          <p:nvPr/>
        </p:nvPicPr>
        <p:blipFill rotWithShape="1">
          <a:blip r:embed="rId6">
            <a:alphaModFix/>
          </a:blip>
          <a:srcRect b="16828" l="0" r="0" t="19861"/>
          <a:stretch/>
        </p:blipFill>
        <p:spPr>
          <a:xfrm>
            <a:off x="2981450" y="4506675"/>
            <a:ext cx="2193075" cy="2101450"/>
          </a:xfrm>
          <a:prstGeom prst="rect">
            <a:avLst/>
          </a:prstGeom>
          <a:noFill/>
          <a:ln>
            <a:noFill/>
          </a:ln>
        </p:spPr>
      </p:pic>
      <p:sp>
        <p:nvSpPr>
          <p:cNvPr id="105" name="Google Shape;105;p19"/>
          <p:cNvSpPr txBox="1"/>
          <p:nvPr/>
        </p:nvSpPr>
        <p:spPr>
          <a:xfrm>
            <a:off x="7067103" y="2104225"/>
            <a:ext cx="1765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Motor Driver  TB6612FNG</a:t>
            </a:r>
            <a:endParaRPr>
              <a:solidFill>
                <a:schemeClr val="dk1"/>
              </a:solidFill>
            </a:endParaRPr>
          </a:p>
        </p:txBody>
      </p:sp>
      <p:sp>
        <p:nvSpPr>
          <p:cNvPr id="106" name="Google Shape;106;p19"/>
          <p:cNvSpPr txBox="1"/>
          <p:nvPr/>
        </p:nvSpPr>
        <p:spPr>
          <a:xfrm>
            <a:off x="4084944" y="6189675"/>
            <a:ext cx="97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DC motor</a:t>
            </a:r>
            <a:endParaRPr>
              <a:solidFill>
                <a:schemeClr val="dk1"/>
              </a:solidFill>
            </a:endParaRPr>
          </a:p>
        </p:txBody>
      </p:sp>
      <p:sp>
        <p:nvSpPr>
          <p:cNvPr id="107" name="Google Shape;107;p19"/>
          <p:cNvSpPr txBox="1"/>
          <p:nvPr/>
        </p:nvSpPr>
        <p:spPr>
          <a:xfrm>
            <a:off x="7585202" y="5863400"/>
            <a:ext cx="124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Servo</a:t>
            </a:r>
            <a:r>
              <a:rPr lang="en">
                <a:solidFill>
                  <a:schemeClr val="dk1"/>
                </a:solidFill>
              </a:rPr>
              <a:t>motor</a:t>
            </a:r>
            <a:endParaRPr>
              <a:solidFill>
                <a:schemeClr val="dk1"/>
              </a:solidFill>
            </a:endParaRPr>
          </a:p>
        </p:txBody>
      </p:sp>
      <p:pic>
        <p:nvPicPr>
          <p:cNvPr id="108" name="Google Shape;108;p19"/>
          <p:cNvPicPr preferRelativeResize="0"/>
          <p:nvPr/>
        </p:nvPicPr>
        <p:blipFill>
          <a:blip r:embed="rId7">
            <a:alphaModFix/>
          </a:blip>
          <a:stretch>
            <a:fillRect/>
          </a:stretch>
        </p:blipFill>
        <p:spPr>
          <a:xfrm>
            <a:off x="415325" y="4554575"/>
            <a:ext cx="1810200" cy="1810200"/>
          </a:xfrm>
          <a:prstGeom prst="rect">
            <a:avLst/>
          </a:prstGeom>
          <a:noFill/>
          <a:ln>
            <a:noFill/>
          </a:ln>
        </p:spPr>
      </p:pic>
      <p:sp>
        <p:nvSpPr>
          <p:cNvPr id="109" name="Google Shape;109;p19"/>
          <p:cNvSpPr txBox="1"/>
          <p:nvPr/>
        </p:nvSpPr>
        <p:spPr>
          <a:xfrm>
            <a:off x="586625" y="5564375"/>
            <a:ext cx="1638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LED 	</a:t>
            </a:r>
            <a:endParaRPr>
              <a:solidFill>
                <a:schemeClr val="dk1"/>
              </a:solidFill>
            </a:endParaRPr>
          </a:p>
          <a:p>
            <a:pPr indent="0" lvl="0" marL="0" rtl="0" algn="l">
              <a:spcBef>
                <a:spcPts val="0"/>
              </a:spcBef>
              <a:spcAft>
                <a:spcPts val="0"/>
              </a:spcAft>
              <a:buNone/>
            </a:pPr>
            <a:r>
              <a:rPr lang="en">
                <a:solidFill>
                  <a:schemeClr val="dk1"/>
                </a:solidFill>
              </a:rPr>
              <a:t>L513SRD-C</a:t>
            </a:r>
            <a:endParaRPr>
              <a:solidFill>
                <a:schemeClr val="dk1"/>
              </a:solidFill>
            </a:endParaRPr>
          </a:p>
        </p:txBody>
      </p:sp>
      <p:sp>
        <p:nvSpPr>
          <p:cNvPr id="110" name="Google Shape;110;p19"/>
          <p:cNvSpPr txBox="1"/>
          <p:nvPr/>
        </p:nvSpPr>
        <p:spPr>
          <a:xfrm>
            <a:off x="4501450" y="3258938"/>
            <a:ext cx="1952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7-segment display YSD-160AR4B-8</a:t>
            </a:r>
            <a:endParaRPr>
              <a:solidFill>
                <a:schemeClr val="dk1"/>
              </a:solidFill>
            </a:endParaRPr>
          </a:p>
        </p:txBody>
      </p:sp>
      <p:pic>
        <p:nvPicPr>
          <p:cNvPr id="111" name="Google Shape;111;p19"/>
          <p:cNvPicPr preferRelativeResize="0"/>
          <p:nvPr/>
        </p:nvPicPr>
        <p:blipFill rotWithShape="1">
          <a:blip r:embed="rId8">
            <a:alphaModFix/>
          </a:blip>
          <a:srcRect b="15493" l="15167" r="11915" t="12414"/>
          <a:stretch/>
        </p:blipFill>
        <p:spPr>
          <a:xfrm>
            <a:off x="4158798" y="1722711"/>
            <a:ext cx="1638900" cy="16203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p:nvPr/>
        </p:nvSpPr>
        <p:spPr>
          <a:xfrm>
            <a:off x="468500" y="2018175"/>
            <a:ext cx="882468" cy="66873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0"/>
          <p:cNvSpPr txBox="1"/>
          <p:nvPr>
            <p:ph type="title"/>
          </p:nvPr>
        </p:nvSpPr>
        <p:spPr>
          <a:xfrm>
            <a:off x="311700" y="6034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Typical sensor signal chain</a:t>
            </a:r>
            <a:endParaRPr/>
          </a:p>
        </p:txBody>
      </p:sp>
      <p:sp>
        <p:nvSpPr>
          <p:cNvPr id="118" name="Google Shape;118;p20"/>
          <p:cNvSpPr/>
          <p:nvPr/>
        </p:nvSpPr>
        <p:spPr>
          <a:xfrm>
            <a:off x="2129004" y="1967525"/>
            <a:ext cx="1073700" cy="6687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0"/>
          <p:cNvSpPr/>
          <p:nvPr/>
        </p:nvSpPr>
        <p:spPr>
          <a:xfrm>
            <a:off x="3980744" y="1967525"/>
            <a:ext cx="1073700" cy="6687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0"/>
          <p:cNvSpPr/>
          <p:nvPr/>
        </p:nvSpPr>
        <p:spPr>
          <a:xfrm>
            <a:off x="5832485" y="1967525"/>
            <a:ext cx="1073700" cy="6687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0"/>
          <p:cNvSpPr/>
          <p:nvPr/>
        </p:nvSpPr>
        <p:spPr>
          <a:xfrm>
            <a:off x="7684225" y="1967525"/>
            <a:ext cx="1073700" cy="6687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0"/>
          <p:cNvSpPr txBox="1"/>
          <p:nvPr/>
        </p:nvSpPr>
        <p:spPr>
          <a:xfrm>
            <a:off x="2204904" y="2114525"/>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t>Sensor</a:t>
            </a:r>
            <a:endParaRPr sz="1600"/>
          </a:p>
        </p:txBody>
      </p:sp>
      <p:sp>
        <p:nvSpPr>
          <p:cNvPr id="123" name="Google Shape;123;p20"/>
          <p:cNvSpPr txBox="1"/>
          <p:nvPr/>
        </p:nvSpPr>
        <p:spPr>
          <a:xfrm>
            <a:off x="4056644" y="2114525"/>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t>AFE</a:t>
            </a:r>
            <a:endParaRPr sz="1600"/>
          </a:p>
        </p:txBody>
      </p:sp>
      <p:sp>
        <p:nvSpPr>
          <p:cNvPr id="124" name="Google Shape;124;p20"/>
          <p:cNvSpPr txBox="1"/>
          <p:nvPr/>
        </p:nvSpPr>
        <p:spPr>
          <a:xfrm>
            <a:off x="5908385" y="2114525"/>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t>ADC</a:t>
            </a:r>
            <a:endParaRPr sz="1600"/>
          </a:p>
        </p:txBody>
      </p:sp>
      <p:sp>
        <p:nvSpPr>
          <p:cNvPr id="125" name="Google Shape;125;p20"/>
          <p:cNvSpPr txBox="1"/>
          <p:nvPr/>
        </p:nvSpPr>
        <p:spPr>
          <a:xfrm>
            <a:off x="7760125" y="2114525"/>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t>MCU</a:t>
            </a:r>
            <a:endParaRPr sz="1600"/>
          </a:p>
        </p:txBody>
      </p:sp>
      <p:cxnSp>
        <p:nvCxnSpPr>
          <p:cNvPr id="126" name="Google Shape;126;p20"/>
          <p:cNvCxnSpPr>
            <a:stCxn id="127" idx="3"/>
            <a:endCxn id="118" idx="1"/>
          </p:cNvCxnSpPr>
          <p:nvPr/>
        </p:nvCxnSpPr>
        <p:spPr>
          <a:xfrm>
            <a:off x="1350954" y="2301875"/>
            <a:ext cx="778200" cy="0"/>
          </a:xfrm>
          <a:prstGeom prst="straightConnector1">
            <a:avLst/>
          </a:prstGeom>
          <a:noFill/>
          <a:ln cap="flat" cmpd="sng" w="19050">
            <a:solidFill>
              <a:schemeClr val="dk2"/>
            </a:solidFill>
            <a:prstDash val="solid"/>
            <a:round/>
            <a:headEnd len="med" w="med" type="none"/>
            <a:tailEnd len="med" w="med" type="triangle"/>
          </a:ln>
        </p:spPr>
      </p:cxnSp>
      <p:cxnSp>
        <p:nvCxnSpPr>
          <p:cNvPr id="128" name="Google Shape;128;p20"/>
          <p:cNvCxnSpPr>
            <a:endCxn id="119" idx="1"/>
          </p:cNvCxnSpPr>
          <p:nvPr/>
        </p:nvCxnSpPr>
        <p:spPr>
          <a:xfrm flipH="1" rot="10800000">
            <a:off x="3202844" y="2301875"/>
            <a:ext cx="777900" cy="10200"/>
          </a:xfrm>
          <a:prstGeom prst="straightConnector1">
            <a:avLst/>
          </a:prstGeom>
          <a:noFill/>
          <a:ln cap="flat" cmpd="sng" w="19050">
            <a:solidFill>
              <a:schemeClr val="dk2"/>
            </a:solidFill>
            <a:prstDash val="solid"/>
            <a:round/>
            <a:headEnd len="med" w="med" type="none"/>
            <a:tailEnd len="med" w="med" type="triangle"/>
          </a:ln>
        </p:spPr>
      </p:cxnSp>
      <p:cxnSp>
        <p:nvCxnSpPr>
          <p:cNvPr id="129" name="Google Shape;129;p20"/>
          <p:cNvCxnSpPr/>
          <p:nvPr/>
        </p:nvCxnSpPr>
        <p:spPr>
          <a:xfrm flipH="1" rot="10800000">
            <a:off x="5054507" y="2296775"/>
            <a:ext cx="777900" cy="10200"/>
          </a:xfrm>
          <a:prstGeom prst="straightConnector1">
            <a:avLst/>
          </a:prstGeom>
          <a:noFill/>
          <a:ln cap="flat" cmpd="sng" w="19050">
            <a:solidFill>
              <a:schemeClr val="dk2"/>
            </a:solidFill>
            <a:prstDash val="solid"/>
            <a:round/>
            <a:headEnd len="med" w="med" type="none"/>
            <a:tailEnd len="med" w="med" type="triangle"/>
          </a:ln>
        </p:spPr>
      </p:cxnSp>
      <p:cxnSp>
        <p:nvCxnSpPr>
          <p:cNvPr id="130" name="Google Shape;130;p20"/>
          <p:cNvCxnSpPr/>
          <p:nvPr/>
        </p:nvCxnSpPr>
        <p:spPr>
          <a:xfrm flipH="1" rot="10800000">
            <a:off x="6906182" y="2296775"/>
            <a:ext cx="777900" cy="10200"/>
          </a:xfrm>
          <a:prstGeom prst="straightConnector1">
            <a:avLst/>
          </a:prstGeom>
          <a:noFill/>
          <a:ln cap="flat" cmpd="sng" w="19050">
            <a:solidFill>
              <a:schemeClr val="dk2"/>
            </a:solidFill>
            <a:prstDash val="solid"/>
            <a:round/>
            <a:headEnd len="med" w="med" type="none"/>
            <a:tailEnd len="med" w="med" type="triangle"/>
          </a:ln>
        </p:spPr>
      </p:cxnSp>
      <p:sp>
        <p:nvSpPr>
          <p:cNvPr id="127" name="Google Shape;127;p20"/>
          <p:cNvSpPr txBox="1"/>
          <p:nvPr/>
        </p:nvSpPr>
        <p:spPr>
          <a:xfrm>
            <a:off x="429054" y="2114525"/>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t>World</a:t>
            </a:r>
            <a:endParaRPr sz="1600"/>
          </a:p>
        </p:txBody>
      </p:sp>
      <p:sp>
        <p:nvSpPr>
          <p:cNvPr id="131" name="Google Shape;131;p20"/>
          <p:cNvSpPr txBox="1"/>
          <p:nvPr/>
        </p:nvSpPr>
        <p:spPr>
          <a:xfrm>
            <a:off x="1289000" y="1247375"/>
            <a:ext cx="840000" cy="68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physical</a:t>
            </a:r>
            <a:endParaRPr/>
          </a:p>
          <a:p>
            <a:pPr indent="0" lvl="0" marL="0" rtl="0" algn="ctr">
              <a:spcBef>
                <a:spcPts val="0"/>
              </a:spcBef>
              <a:spcAft>
                <a:spcPts val="0"/>
              </a:spcAft>
              <a:buNone/>
            </a:pPr>
            <a:r>
              <a:rPr lang="en"/>
              <a:t>quantity</a:t>
            </a:r>
            <a:endParaRPr/>
          </a:p>
        </p:txBody>
      </p:sp>
      <p:sp>
        <p:nvSpPr>
          <p:cNvPr id="132" name="Google Shape;132;p20"/>
          <p:cNvSpPr txBox="1"/>
          <p:nvPr/>
        </p:nvSpPr>
        <p:spPr>
          <a:xfrm>
            <a:off x="3126650" y="1247375"/>
            <a:ext cx="840000" cy="68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voltage</a:t>
            </a:r>
            <a:endParaRPr/>
          </a:p>
        </p:txBody>
      </p:sp>
      <p:sp>
        <p:nvSpPr>
          <p:cNvPr id="133" name="Google Shape;133;p20"/>
          <p:cNvSpPr txBox="1"/>
          <p:nvPr/>
        </p:nvSpPr>
        <p:spPr>
          <a:xfrm>
            <a:off x="5023450" y="1247375"/>
            <a:ext cx="840000" cy="68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voltage</a:t>
            </a:r>
            <a:endParaRPr/>
          </a:p>
        </p:txBody>
      </p:sp>
      <p:sp>
        <p:nvSpPr>
          <p:cNvPr id="134" name="Google Shape;134;p20"/>
          <p:cNvSpPr txBox="1"/>
          <p:nvPr/>
        </p:nvSpPr>
        <p:spPr>
          <a:xfrm>
            <a:off x="6875125" y="1247375"/>
            <a:ext cx="840000" cy="68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integers</a:t>
            </a:r>
            <a:endParaRPr/>
          </a:p>
        </p:txBody>
      </p:sp>
      <p:sp>
        <p:nvSpPr>
          <p:cNvPr id="135" name="Google Shape;135;p20"/>
          <p:cNvSpPr txBox="1"/>
          <p:nvPr/>
        </p:nvSpPr>
        <p:spPr>
          <a:xfrm>
            <a:off x="640725" y="2857625"/>
            <a:ext cx="8117100" cy="39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t>Sensor = Mechanism that translates one physical variable into another</a:t>
            </a:r>
            <a:endParaRPr sz="1600"/>
          </a:p>
          <a:p>
            <a:pPr indent="0" lvl="0" marL="0" rtl="0" algn="l">
              <a:spcBef>
                <a:spcPts val="1000"/>
              </a:spcBef>
              <a:spcAft>
                <a:spcPts val="0"/>
              </a:spcAft>
              <a:buNone/>
            </a:pPr>
            <a:r>
              <a:rPr lang="en" sz="1600"/>
              <a:t>AFE = Analog front end:  Amplify, reduce noise (a.k.a. signal conditioning)</a:t>
            </a:r>
            <a:endParaRPr sz="1600"/>
          </a:p>
          <a:p>
            <a:pPr indent="0" lvl="0" marL="0" rtl="0" algn="l">
              <a:spcBef>
                <a:spcPts val="1000"/>
              </a:spcBef>
              <a:spcAft>
                <a:spcPts val="0"/>
              </a:spcAft>
              <a:buNone/>
            </a:pPr>
            <a:r>
              <a:rPr lang="en" sz="1600"/>
              <a:t>ADC = Analog to digital converter</a:t>
            </a:r>
            <a:endParaRPr sz="1600"/>
          </a:p>
          <a:p>
            <a:pPr indent="0" lvl="0" marL="0" rtl="0" algn="l">
              <a:spcBef>
                <a:spcPts val="1000"/>
              </a:spcBef>
              <a:spcAft>
                <a:spcPts val="0"/>
              </a:spcAft>
              <a:buNone/>
            </a:pPr>
            <a:r>
              <a:rPr lang="en" sz="1600"/>
              <a:t>MCU = Microcontroller unit (i.e., our </a:t>
            </a:r>
            <a:r>
              <a:rPr lang="en" sz="1600"/>
              <a:t>STM32C031C6</a:t>
            </a:r>
            <a:r>
              <a:rPr lang="en" sz="1600"/>
              <a:t>)</a:t>
            </a:r>
            <a:endParaRPr sz="1600"/>
          </a:p>
          <a:p>
            <a:pPr indent="0" lvl="0" marL="0" rtl="0" algn="l">
              <a:spcBef>
                <a:spcPts val="1000"/>
              </a:spcBef>
              <a:spcAft>
                <a:spcPts val="0"/>
              </a:spcAft>
              <a:buNone/>
            </a:pPr>
            <a:r>
              <a:t/>
            </a:r>
            <a:endParaRPr sz="1600"/>
          </a:p>
          <a:p>
            <a:pPr indent="0" lvl="0" marL="0" rtl="0" algn="l">
              <a:spcBef>
                <a:spcPts val="1000"/>
              </a:spcBef>
              <a:spcAft>
                <a:spcPts val="0"/>
              </a:spcAft>
              <a:buNone/>
            </a:pPr>
            <a:r>
              <a:rPr lang="en" sz="1600"/>
              <a:t>Many sensors are “bare” (example: thermocouple, phototransistor, force-sensitive resistor)</a:t>
            </a:r>
            <a:endParaRPr sz="1600"/>
          </a:p>
          <a:p>
            <a:pPr indent="0" lvl="0" marL="0" rtl="0" algn="l">
              <a:spcBef>
                <a:spcPts val="1000"/>
              </a:spcBef>
              <a:spcAft>
                <a:spcPts val="0"/>
              </a:spcAft>
              <a:buNone/>
            </a:pPr>
            <a:r>
              <a:rPr lang="en" sz="1600"/>
              <a:t>Often, the sensor you buy has the AFE built in (example: TMP235 temperature sensor)</a:t>
            </a:r>
            <a:endParaRPr sz="1600"/>
          </a:p>
          <a:p>
            <a:pPr indent="0" lvl="0" marL="0" rtl="0" algn="l">
              <a:spcBef>
                <a:spcPts val="1000"/>
              </a:spcBef>
              <a:spcAft>
                <a:spcPts val="0"/>
              </a:spcAft>
              <a:buNone/>
            </a:pPr>
            <a:r>
              <a:rPr lang="en" sz="1600"/>
              <a:t>Often, the sensor you buy has the AFE and the ADC built in, and a serial communication interface.  (example: LSM303AGR accelerometer / magnetometer) </a:t>
            </a:r>
            <a:endParaRPr sz="1600"/>
          </a:p>
          <a:p>
            <a:pPr indent="0" lvl="0" marL="0" rtl="0" algn="l">
              <a:spcBef>
                <a:spcPts val="1000"/>
              </a:spcBef>
              <a:spcAft>
                <a:spcPts val="1000"/>
              </a:spcAft>
              <a:buNone/>
            </a:pPr>
            <a:r>
              <a:rPr lang="en" sz="1600"/>
              <a:t>Usually, the MCU has an ADC built in (ours does).</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311700" y="1237950"/>
            <a:ext cx="8520600" cy="201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Interfacing </a:t>
            </a:r>
            <a:r>
              <a:rPr lang="en"/>
              <a:t>with</a:t>
            </a:r>
            <a:r>
              <a:rPr lang="en"/>
              <a:t> Input and Output Components</a:t>
            </a:r>
            <a:endParaRPr/>
          </a:p>
          <a:p>
            <a:pPr indent="0" lvl="0" marL="0" rtl="0" algn="ctr">
              <a:spcBef>
                <a:spcPts val="0"/>
              </a:spcBef>
              <a:spcAft>
                <a:spcPts val="0"/>
              </a:spcAft>
              <a:buNone/>
            </a:pPr>
            <a:r>
              <a:rPr lang="en"/>
              <a:t>Aka Reading a Data Sheet</a:t>
            </a:r>
            <a:endParaRPr/>
          </a:p>
        </p:txBody>
      </p:sp>
      <p:sp>
        <p:nvSpPr>
          <p:cNvPr id="141" name="Google Shape;141;p21"/>
          <p:cNvSpPr txBox="1"/>
          <p:nvPr/>
        </p:nvSpPr>
        <p:spPr>
          <a:xfrm>
            <a:off x="906450" y="3848225"/>
            <a:ext cx="7331100" cy="2493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2500">
                <a:solidFill>
                  <a:srgbClr val="0000FF"/>
                </a:solidFill>
              </a:rPr>
              <a:t>Note: Microcontrollers, such as our STM32C031C6, also have datasheets. That's where we found the registers for the USART module! </a:t>
            </a:r>
            <a:endParaRPr i="1" sz="2500">
              <a:solidFill>
                <a:srgbClr val="0000FF"/>
              </a:solidFill>
            </a:endParaRPr>
          </a:p>
          <a:p>
            <a:pPr indent="0" lvl="0" marL="0" rtl="0" algn="ctr">
              <a:spcBef>
                <a:spcPts val="0"/>
              </a:spcBef>
              <a:spcAft>
                <a:spcPts val="0"/>
              </a:spcAft>
              <a:buNone/>
            </a:pPr>
            <a:r>
              <a:t/>
            </a:r>
            <a:endParaRPr i="1" sz="2500">
              <a:solidFill>
                <a:srgbClr val="0000FF"/>
              </a:solidFill>
            </a:endParaRPr>
          </a:p>
          <a:p>
            <a:pPr indent="0" lvl="0" marL="0" rtl="0" algn="ctr">
              <a:spcBef>
                <a:spcPts val="0"/>
              </a:spcBef>
              <a:spcAft>
                <a:spcPts val="0"/>
              </a:spcAft>
              <a:buNone/>
            </a:pPr>
            <a:r>
              <a:rPr i="1" lang="en" sz="2500">
                <a:solidFill>
                  <a:srgbClr val="0000FF"/>
                </a:solidFill>
              </a:rPr>
              <a:t>Here, we'll focus on sensors and actuators.</a:t>
            </a:r>
            <a:endParaRPr i="1" sz="2500">
              <a:solidFill>
                <a:srgbClr val="0000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Datasheets</a:t>
            </a:r>
            <a:endParaRPr/>
          </a:p>
        </p:txBody>
      </p:sp>
      <p:sp>
        <p:nvSpPr>
          <p:cNvPr id="147" name="Google Shape;147;p22"/>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Datasheets are the roadmap to a sensor or an actuator (or a chip for that matter).</a:t>
            </a:r>
            <a:endParaRPr/>
          </a:p>
          <a:p>
            <a:pPr indent="-342900" lvl="0" marL="457200" rtl="0" algn="l">
              <a:spcBef>
                <a:spcPts val="0"/>
              </a:spcBef>
              <a:spcAft>
                <a:spcPts val="0"/>
              </a:spcAft>
              <a:buSzPts val="1800"/>
              <a:buChar char="●"/>
            </a:pPr>
            <a:r>
              <a:rPr lang="en"/>
              <a:t>Every circuit part has a data sheet (even a resistor!)</a:t>
            </a:r>
            <a:endParaRPr/>
          </a:p>
          <a:p>
            <a:pPr indent="-342900" lvl="0" marL="457200" rtl="0" algn="l">
              <a:spcBef>
                <a:spcPts val="0"/>
              </a:spcBef>
              <a:spcAft>
                <a:spcPts val="0"/>
              </a:spcAft>
              <a:buSzPts val="1800"/>
              <a:buChar char="●"/>
            </a:pPr>
            <a:r>
              <a:rPr lang="en"/>
              <a:t>Datasheets are packed densely with information.</a:t>
            </a:r>
            <a:endParaRPr/>
          </a:p>
          <a:p>
            <a:pPr indent="-342900" lvl="0" marL="457200" rtl="0" algn="l">
              <a:spcBef>
                <a:spcPts val="0"/>
              </a:spcBef>
              <a:spcAft>
                <a:spcPts val="0"/>
              </a:spcAft>
              <a:buSzPts val="1800"/>
              <a:buChar char="●"/>
            </a:pPr>
            <a:r>
              <a:rPr lang="en"/>
              <a:t>Datasheets can be intimidating. </a:t>
            </a:r>
            <a:endParaRPr/>
          </a:p>
          <a:p>
            <a:pPr indent="-342900" lvl="0" marL="457200" rtl="0" algn="l">
              <a:spcBef>
                <a:spcPts val="0"/>
              </a:spcBef>
              <a:spcAft>
                <a:spcPts val="0"/>
              </a:spcAft>
              <a:buSzPts val="1800"/>
              <a:buChar char="●"/>
            </a:pPr>
            <a:r>
              <a:rPr lang="en"/>
              <a:t>Reading datasheets requires patience. </a:t>
            </a:r>
            <a:endParaRPr/>
          </a:p>
          <a:p>
            <a:pPr indent="-342900" lvl="0" marL="457200" rtl="0" algn="l">
              <a:spcBef>
                <a:spcPts val="0"/>
              </a:spcBef>
              <a:spcAft>
                <a:spcPts val="0"/>
              </a:spcAft>
              <a:buSzPts val="1800"/>
              <a:buChar char="●"/>
            </a:pPr>
            <a:r>
              <a:rPr lang="en"/>
              <a:t>Datasheets vary </a:t>
            </a:r>
            <a:r>
              <a:rPr lang="en"/>
              <a:t>between</a:t>
            </a:r>
            <a:r>
              <a:rPr lang="en"/>
              <a:t> component types and manufacturers.</a:t>
            </a:r>
            <a:endParaRPr/>
          </a:p>
          <a:p>
            <a:pPr indent="0" lvl="0" marL="0" rtl="0" algn="l">
              <a:spcBef>
                <a:spcPts val="1600"/>
              </a:spcBef>
              <a:spcAft>
                <a:spcPts val="0"/>
              </a:spcAft>
              <a:buNone/>
            </a:pPr>
            <a:r>
              <a:t/>
            </a:r>
            <a:endParaRPr/>
          </a:p>
          <a:p>
            <a:pPr indent="0" lvl="0" marL="0" rtl="0" algn="ctr">
              <a:spcBef>
                <a:spcPts val="1600"/>
              </a:spcBef>
              <a:spcAft>
                <a:spcPts val="1600"/>
              </a:spcAft>
              <a:buNone/>
            </a:pPr>
            <a:r>
              <a:rPr i="1" lang="en">
                <a:solidFill>
                  <a:srgbClr val="0000FF"/>
                </a:solidFill>
              </a:rPr>
              <a:t>"In some ways, reading a datasheet is like coming into the middle of a technical conversation."</a:t>
            </a:r>
            <a:r>
              <a:rPr lang="en"/>
              <a:t> (Elicia White, Embedded Software Engineer)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Datasheet HiTA Activity</a:t>
            </a:r>
            <a:endParaRPr/>
          </a:p>
        </p:txBody>
      </p:sp>
      <p:sp>
        <p:nvSpPr>
          <p:cNvPr id="153" name="Google Shape;153;p23"/>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a table group, please complete the "Learn to read datasheets" activity in HiTA. HiTA will pick one of these datasheets for your activity: </a:t>
            </a:r>
            <a:endParaRPr/>
          </a:p>
          <a:p>
            <a:pPr indent="-342900" lvl="0" marL="457200" rtl="0" algn="l">
              <a:spcBef>
                <a:spcPts val="1600"/>
              </a:spcBef>
              <a:spcAft>
                <a:spcPts val="0"/>
              </a:spcAft>
              <a:buSzPts val="1800"/>
              <a:buChar char="●"/>
            </a:pPr>
            <a:r>
              <a:rPr lang="en"/>
              <a:t>Accelerometer</a:t>
            </a:r>
            <a:endParaRPr/>
          </a:p>
          <a:p>
            <a:pPr indent="-342900" lvl="0" marL="457200" rtl="0" algn="l">
              <a:spcBef>
                <a:spcPts val="0"/>
              </a:spcBef>
              <a:spcAft>
                <a:spcPts val="0"/>
              </a:spcAft>
              <a:buSzPts val="1800"/>
              <a:buChar char="●"/>
            </a:pPr>
            <a:r>
              <a:rPr lang="en"/>
              <a:t>Temperature sensor</a:t>
            </a:r>
            <a:endParaRPr/>
          </a:p>
          <a:p>
            <a:pPr indent="-342900" lvl="0" marL="457200" rtl="0" algn="l">
              <a:spcBef>
                <a:spcPts val="0"/>
              </a:spcBef>
              <a:spcAft>
                <a:spcPts val="0"/>
              </a:spcAft>
              <a:buSzPts val="1800"/>
              <a:buChar char="●"/>
            </a:pPr>
            <a:r>
              <a:rPr lang="en"/>
              <a:t>Real Time Clock</a:t>
            </a:r>
            <a:endParaRPr/>
          </a:p>
          <a:p>
            <a:pPr indent="-342900" lvl="0" marL="457200" rtl="0" algn="l">
              <a:spcBef>
                <a:spcPts val="0"/>
              </a:spcBef>
              <a:spcAft>
                <a:spcPts val="0"/>
              </a:spcAft>
              <a:buSzPts val="1800"/>
              <a:buChar char="●"/>
            </a:pPr>
            <a:r>
              <a:rPr lang="en"/>
              <a:t>Hall Effect</a:t>
            </a:r>
            <a:endParaRPr/>
          </a:p>
          <a:p>
            <a:pPr indent="-342900" lvl="0" marL="457200" rtl="0" algn="l">
              <a:spcBef>
                <a:spcPts val="0"/>
              </a:spcBef>
              <a:spcAft>
                <a:spcPts val="0"/>
              </a:spcAft>
              <a:buSzPts val="1800"/>
              <a:buChar char="●"/>
            </a:pPr>
            <a:r>
              <a:rPr lang="en"/>
              <a:t>Humidity sensor</a:t>
            </a:r>
            <a:endParaRPr/>
          </a:p>
          <a:p>
            <a:pPr indent="0" lvl="0" marL="0" rtl="0" algn="l">
              <a:spcBef>
                <a:spcPts val="1600"/>
              </a:spcBef>
              <a:spcAft>
                <a:spcPts val="1600"/>
              </a:spcAft>
              <a:buNone/>
            </a:pPr>
            <a:r>
              <a:rPr lang="en"/>
              <a:t>After HiTA tells you which datasheet you'll be working with, open it up and display it on your projector. There are links to all datasheets on our Canvas front page.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311700" y="440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 Datasheets: The Hardware Side</a:t>
            </a:r>
            <a:endParaRPr/>
          </a:p>
        </p:txBody>
      </p:sp>
      <p:sp>
        <p:nvSpPr>
          <p:cNvPr id="159" name="Google Shape;159;p24"/>
          <p:cNvSpPr txBox="1"/>
          <p:nvPr>
            <p:ph idx="1" type="body"/>
          </p:nvPr>
        </p:nvSpPr>
        <p:spPr>
          <a:xfrm>
            <a:off x="311700" y="1384225"/>
            <a:ext cx="8520600" cy="187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page typically shows at least:</a:t>
            </a:r>
            <a:endParaRPr/>
          </a:p>
          <a:p>
            <a:pPr indent="-342900" lvl="0" marL="457200" rtl="0" algn="l">
              <a:spcBef>
                <a:spcPts val="1600"/>
              </a:spcBef>
              <a:spcAft>
                <a:spcPts val="0"/>
              </a:spcAft>
              <a:buSzPts val="1800"/>
              <a:buChar char="●"/>
            </a:pPr>
            <a:r>
              <a:rPr lang="en"/>
              <a:t>Features</a:t>
            </a:r>
            <a:endParaRPr/>
          </a:p>
          <a:p>
            <a:pPr indent="-342900" lvl="0" marL="457200" rtl="0" algn="l">
              <a:spcBef>
                <a:spcPts val="0"/>
              </a:spcBef>
              <a:spcAft>
                <a:spcPts val="0"/>
              </a:spcAft>
              <a:buSzPts val="1800"/>
              <a:buChar char="●"/>
            </a:pPr>
            <a:r>
              <a:rPr lang="en"/>
              <a:t>Description - ALWAYS READ THIS</a:t>
            </a:r>
            <a:endParaRPr/>
          </a:p>
          <a:p>
            <a:pPr indent="0" lvl="0" marL="0" rtl="0" algn="l">
              <a:spcBef>
                <a:spcPts val="1600"/>
              </a:spcBef>
              <a:spcAft>
                <a:spcPts val="1600"/>
              </a:spcAft>
              <a:buNone/>
            </a:pPr>
            <a:r>
              <a:rPr lang="en"/>
              <a:t>Most parts then have:</a:t>
            </a:r>
            <a:endParaRPr/>
          </a:p>
        </p:txBody>
      </p:sp>
      <p:sp>
        <p:nvSpPr>
          <p:cNvPr id="160" name="Google Shape;160;p24"/>
          <p:cNvSpPr txBox="1"/>
          <p:nvPr/>
        </p:nvSpPr>
        <p:spPr>
          <a:xfrm>
            <a:off x="4895500" y="2723000"/>
            <a:ext cx="3612300" cy="16752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0000"/>
                </a:solidFill>
              </a:rPr>
              <a:t>If a pin has a star next to it or a line over the name, it means that the pin is active low.</a:t>
            </a:r>
            <a:endParaRPr sz="1800">
              <a:solidFill>
                <a:srgbClr val="FF0000"/>
              </a:solidFill>
            </a:endParaRPr>
          </a:p>
          <a:p>
            <a:pPr indent="0" lvl="0" marL="0" rtl="0" algn="l">
              <a:spcBef>
                <a:spcPts val="0"/>
              </a:spcBef>
              <a:spcAft>
                <a:spcPts val="0"/>
              </a:spcAft>
              <a:buNone/>
            </a:pPr>
            <a:r>
              <a:rPr lang="en" sz="1800">
                <a:solidFill>
                  <a:srgbClr val="FF0000"/>
                </a:solidFill>
              </a:rPr>
              <a:t>You'll pull the pin low (0V) to activate it, rather than high (VCC)</a:t>
            </a:r>
            <a:endParaRPr sz="1800">
              <a:solidFill>
                <a:srgbClr val="FF0000"/>
              </a:solidFill>
            </a:endParaRPr>
          </a:p>
        </p:txBody>
      </p:sp>
      <p:sp>
        <p:nvSpPr>
          <p:cNvPr id="161" name="Google Shape;161;p24"/>
          <p:cNvSpPr txBox="1"/>
          <p:nvPr>
            <p:ph idx="1" type="body"/>
          </p:nvPr>
        </p:nvSpPr>
        <p:spPr>
          <a:xfrm>
            <a:off x="311700" y="3255025"/>
            <a:ext cx="8520600" cy="485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Pinout</a:t>
            </a:r>
            <a:endParaRPr/>
          </a:p>
        </p:txBody>
      </p:sp>
      <p:sp>
        <p:nvSpPr>
          <p:cNvPr id="162" name="Google Shape;162;p24"/>
          <p:cNvSpPr txBox="1"/>
          <p:nvPr>
            <p:ph idx="1" type="body"/>
          </p:nvPr>
        </p:nvSpPr>
        <p:spPr>
          <a:xfrm>
            <a:off x="311700" y="3567875"/>
            <a:ext cx="8520600" cy="2825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Electrical characteristics</a:t>
            </a:r>
            <a:endParaRPr/>
          </a:p>
          <a:p>
            <a:pPr indent="-342900" lvl="0" marL="457200" rtl="0" algn="l">
              <a:spcBef>
                <a:spcPts val="0"/>
              </a:spcBef>
              <a:spcAft>
                <a:spcPts val="0"/>
              </a:spcAft>
              <a:buSzPts val="1800"/>
              <a:buChar char="●"/>
            </a:pPr>
            <a:r>
              <a:rPr lang="en"/>
              <a:t>Absolute maximum ratings</a:t>
            </a:r>
            <a:endParaRPr/>
          </a:p>
          <a:p>
            <a:pPr indent="-342900" lvl="0" marL="457200" rtl="0" algn="l">
              <a:spcBef>
                <a:spcPts val="0"/>
              </a:spcBef>
              <a:spcAft>
                <a:spcPts val="0"/>
              </a:spcAft>
              <a:buSzPts val="1800"/>
              <a:buChar char="●"/>
            </a:pPr>
            <a:r>
              <a:rPr lang="en"/>
              <a:t>Packaging information</a:t>
            </a:r>
            <a:endParaRPr/>
          </a:p>
          <a:p>
            <a:pPr indent="-342900" lvl="0" marL="457200" rtl="0" algn="l">
              <a:spcBef>
                <a:spcPts val="0"/>
              </a:spcBef>
              <a:spcAft>
                <a:spcPts val="0"/>
              </a:spcAft>
              <a:buSzPts val="1800"/>
              <a:buChar char="●"/>
            </a:pPr>
            <a:r>
              <a:rPr lang="en"/>
              <a:t>Recommended operating conditions</a:t>
            </a:r>
            <a:endParaRPr/>
          </a:p>
          <a:p>
            <a:pPr indent="0" lvl="0" marL="0" rtl="0" algn="l">
              <a:spcBef>
                <a:spcPts val="1600"/>
              </a:spcBef>
              <a:spcAft>
                <a:spcPts val="0"/>
              </a:spcAft>
              <a:buNone/>
            </a:pPr>
            <a:r>
              <a:rPr lang="en"/>
              <a:t>Some parts follow with performance characteristics, timing diagrams, example schematics.</a:t>
            </a:r>
            <a:endParaRPr/>
          </a:p>
          <a:p>
            <a:pPr indent="0" lvl="0" marL="0" rtl="0" algn="l">
              <a:spcBef>
                <a:spcPts val="1600"/>
              </a:spcBef>
              <a:spcAft>
                <a:spcPts val="1600"/>
              </a:spcAft>
              <a:buNone/>
            </a:pPr>
            <a:r>
              <a:rPr lang="en"/>
              <a:t>At the end of many datasheets is packaging information (dimensions of the packages a part is available in).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Datasheets: Interfacing W</a:t>
            </a:r>
            <a:r>
              <a:rPr lang="en"/>
              <a:t>ith</a:t>
            </a:r>
            <a:r>
              <a:rPr lang="en"/>
              <a:t> The Component</a:t>
            </a:r>
            <a:endParaRPr/>
          </a:p>
        </p:txBody>
      </p:sp>
      <p:sp>
        <p:nvSpPr>
          <p:cNvPr id="168" name="Google Shape;168;p25"/>
          <p:cNvSpPr txBox="1"/>
          <p:nvPr>
            <p:ph idx="1" type="body"/>
          </p:nvPr>
        </p:nvSpPr>
        <p:spPr>
          <a:xfrm>
            <a:off x="311700" y="1536625"/>
            <a:ext cx="8520600" cy="51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Look for a section "Application Information" or "Theory of Operation" or "Detailed Description" or some such thing about halfway through the datasheet.</a:t>
            </a:r>
            <a:endParaRPr/>
          </a:p>
          <a:p>
            <a:pPr indent="-342900" lvl="0" marL="457200" rtl="0" algn="l">
              <a:spcBef>
                <a:spcPts val="1600"/>
              </a:spcBef>
              <a:spcAft>
                <a:spcPts val="0"/>
              </a:spcAft>
              <a:buSzPts val="1800"/>
              <a:buChar char="●"/>
            </a:pPr>
            <a:r>
              <a:rPr lang="en"/>
              <a:t>Read this section carefully.</a:t>
            </a:r>
            <a:endParaRPr/>
          </a:p>
          <a:p>
            <a:pPr indent="-342900" lvl="0" marL="457200" rtl="0" algn="l">
              <a:spcBef>
                <a:spcPts val="0"/>
              </a:spcBef>
              <a:spcAft>
                <a:spcPts val="0"/>
              </a:spcAft>
              <a:buSzPts val="1800"/>
              <a:buChar char="●"/>
            </a:pPr>
            <a:r>
              <a:rPr lang="en"/>
              <a:t>Mark areas that may be relevant for your code.</a:t>
            </a:r>
            <a:endParaRPr/>
          </a:p>
          <a:p>
            <a:pPr indent="-317500" lvl="1" marL="914400" rtl="0" algn="l">
              <a:spcBef>
                <a:spcPts val="0"/>
              </a:spcBef>
              <a:spcAft>
                <a:spcPts val="0"/>
              </a:spcAft>
              <a:buSzPts val="1400"/>
              <a:buChar char="○"/>
            </a:pPr>
            <a:r>
              <a:rPr lang="en"/>
              <a:t>Analog sensors will output a voltage that you'll need to interpret.</a:t>
            </a:r>
            <a:endParaRPr/>
          </a:p>
          <a:p>
            <a:pPr indent="-317500" lvl="1" marL="914400" rtl="0" algn="l">
              <a:spcBef>
                <a:spcPts val="0"/>
              </a:spcBef>
              <a:spcAft>
                <a:spcPts val="0"/>
              </a:spcAft>
              <a:buSzPts val="1400"/>
              <a:buChar char="○"/>
            </a:pPr>
            <a:r>
              <a:rPr lang="en"/>
              <a:t>Digital sensors will communicate, via a protocol, some information that you'll need to read and interpret.</a:t>
            </a:r>
            <a:endParaRPr/>
          </a:p>
          <a:p>
            <a:pPr indent="-317500" lvl="1" marL="914400" rtl="0" algn="l">
              <a:spcBef>
                <a:spcPts val="0"/>
              </a:spcBef>
              <a:spcAft>
                <a:spcPts val="0"/>
              </a:spcAft>
              <a:buSzPts val="1400"/>
              <a:buChar char="○"/>
            </a:pPr>
            <a:r>
              <a:rPr lang="en"/>
              <a:t>Analog actuators need to be sent a specific voltage in order to perform a specific task.</a:t>
            </a:r>
            <a:endParaRPr/>
          </a:p>
          <a:p>
            <a:pPr indent="-317500" lvl="1" marL="914400" rtl="0" algn="l">
              <a:spcBef>
                <a:spcPts val="0"/>
              </a:spcBef>
              <a:spcAft>
                <a:spcPts val="0"/>
              </a:spcAft>
              <a:buSzPts val="1400"/>
              <a:buChar char="○"/>
            </a:pPr>
            <a:r>
              <a:rPr lang="en"/>
              <a:t>Digital actuators need to receive information, via a protocol, with instructions.</a:t>
            </a:r>
            <a:endParaRPr/>
          </a:p>
          <a:p>
            <a:pPr indent="-342900" lvl="0" marL="457200" rtl="0" algn="l">
              <a:spcBef>
                <a:spcPts val="0"/>
              </a:spcBef>
              <a:spcAft>
                <a:spcPts val="0"/>
              </a:spcAft>
              <a:buSzPts val="1800"/>
              <a:buChar char="●"/>
            </a:pPr>
            <a:r>
              <a:rPr lang="en">
                <a:solidFill>
                  <a:srgbClr val="0000FF"/>
                </a:solidFill>
              </a:rPr>
              <a:t>Pay particular attention to: </a:t>
            </a:r>
            <a:endParaRPr>
              <a:solidFill>
                <a:srgbClr val="0000FF"/>
              </a:solidFill>
            </a:endParaRPr>
          </a:p>
          <a:p>
            <a:pPr indent="-342900" lvl="0" marL="914400" rtl="0" algn="l">
              <a:spcBef>
                <a:spcPts val="0"/>
              </a:spcBef>
              <a:spcAft>
                <a:spcPts val="0"/>
              </a:spcAft>
              <a:buClr>
                <a:srgbClr val="0000FF"/>
              </a:buClr>
              <a:buSzPts val="1800"/>
              <a:buChar char="●"/>
            </a:pPr>
            <a:r>
              <a:rPr lang="en">
                <a:solidFill>
                  <a:srgbClr val="0000FF"/>
                </a:solidFill>
              </a:rPr>
              <a:t>H</a:t>
            </a:r>
            <a:r>
              <a:rPr lang="en">
                <a:solidFill>
                  <a:srgbClr val="0000FF"/>
                </a:solidFill>
              </a:rPr>
              <a:t>ow to connect your component to a microcontroller</a:t>
            </a:r>
            <a:endParaRPr>
              <a:solidFill>
                <a:srgbClr val="0000FF"/>
              </a:solidFill>
            </a:endParaRPr>
          </a:p>
          <a:p>
            <a:pPr indent="-342900" lvl="0" marL="914400" rtl="0" algn="l">
              <a:spcBef>
                <a:spcPts val="0"/>
              </a:spcBef>
              <a:spcAft>
                <a:spcPts val="0"/>
              </a:spcAft>
              <a:buClr>
                <a:srgbClr val="0000FF"/>
              </a:buClr>
              <a:buSzPts val="1800"/>
              <a:buChar char="●"/>
            </a:pPr>
            <a:r>
              <a:rPr lang="en">
                <a:solidFill>
                  <a:srgbClr val="0000FF"/>
                </a:solidFill>
              </a:rPr>
              <a:t>How to read its output, or send signals to it </a:t>
            </a:r>
            <a:endParaRPr>
              <a:solidFill>
                <a:srgbClr val="0000FF"/>
              </a:solidFill>
            </a:endParaRPr>
          </a:p>
          <a:p>
            <a:pPr indent="-342900" lvl="0" marL="914400" rtl="0" algn="l">
              <a:spcBef>
                <a:spcPts val="0"/>
              </a:spcBef>
              <a:spcAft>
                <a:spcPts val="0"/>
              </a:spcAft>
              <a:buClr>
                <a:srgbClr val="0000FF"/>
              </a:buClr>
              <a:buSzPts val="1800"/>
              <a:buChar char="●"/>
            </a:pPr>
            <a:r>
              <a:rPr lang="en">
                <a:solidFill>
                  <a:srgbClr val="0000FF"/>
                </a:solidFill>
              </a:rPr>
              <a:t>How to calibrate it, etc.</a:t>
            </a:r>
            <a:endParaRPr>
              <a:solidFill>
                <a:srgbClr val="0000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 one slide for your</a:t>
            </a:r>
            <a:r>
              <a:rPr lang="en"/>
              <a:t> component</a:t>
            </a:r>
            <a:endParaRPr/>
          </a:p>
        </p:txBody>
      </p:sp>
      <p:sp>
        <p:nvSpPr>
          <p:cNvPr id="174" name="Google Shape;174;p26"/>
          <p:cNvSpPr txBox="1"/>
          <p:nvPr>
            <p:ph idx="1" type="body"/>
          </p:nvPr>
        </p:nvSpPr>
        <p:spPr>
          <a:xfrm>
            <a:off x="311700" y="1536625"/>
            <a:ext cx="8520600" cy="51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Include on your slide:</a:t>
            </a:r>
            <a:endParaRPr/>
          </a:p>
          <a:p>
            <a:pPr indent="-342900" lvl="0" marL="457200" rtl="0" algn="l">
              <a:spcBef>
                <a:spcPts val="1600"/>
              </a:spcBef>
              <a:spcAft>
                <a:spcPts val="0"/>
              </a:spcAft>
              <a:buSzPts val="1800"/>
              <a:buChar char="●"/>
            </a:pPr>
            <a:r>
              <a:rPr lang="en"/>
              <a:t>Your component's name, model number and manufacturer</a:t>
            </a:r>
            <a:endParaRPr/>
          </a:p>
          <a:p>
            <a:pPr indent="-342900" lvl="0" marL="457200" rtl="0" algn="l">
              <a:spcBef>
                <a:spcPts val="0"/>
              </a:spcBef>
              <a:spcAft>
                <a:spcPts val="0"/>
              </a:spcAft>
              <a:buSzPts val="1800"/>
              <a:buChar char="●"/>
            </a:pPr>
            <a:r>
              <a:rPr lang="en"/>
              <a:t>A brief description of your </a:t>
            </a:r>
            <a:r>
              <a:rPr lang="en"/>
              <a:t>component</a:t>
            </a:r>
            <a:endParaRPr/>
          </a:p>
          <a:p>
            <a:pPr indent="-342900" lvl="0" marL="457200" rtl="0" algn="l">
              <a:spcBef>
                <a:spcPts val="0"/>
              </a:spcBef>
              <a:spcAft>
                <a:spcPts val="0"/>
              </a:spcAft>
              <a:buSzPts val="1800"/>
              <a:buChar char="●"/>
            </a:pPr>
            <a:r>
              <a:rPr lang="en"/>
              <a:t>How to connect your component to a microcontroller</a:t>
            </a:r>
            <a:endParaRPr/>
          </a:p>
          <a:p>
            <a:pPr indent="-342900" lvl="0" marL="457200" rtl="0" algn="l">
              <a:spcBef>
                <a:spcPts val="0"/>
              </a:spcBef>
              <a:spcAft>
                <a:spcPts val="0"/>
              </a:spcAft>
              <a:buSzPts val="1800"/>
              <a:buChar char="●"/>
            </a:pPr>
            <a:r>
              <a:rPr lang="en"/>
              <a:t>How to communicate with your component </a:t>
            </a:r>
            <a:endParaRPr/>
          </a:p>
          <a:p>
            <a:pPr indent="-342900" lvl="0" marL="457200" rtl="0" algn="l">
              <a:spcBef>
                <a:spcPts val="0"/>
              </a:spcBef>
              <a:spcAft>
                <a:spcPts val="0"/>
              </a:spcAft>
              <a:buSzPts val="1800"/>
              <a:buChar char="●"/>
            </a:pPr>
            <a:r>
              <a:rPr lang="en"/>
              <a:t>Anything else that seems crucial to include</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Put your group's slide </a:t>
            </a:r>
            <a:r>
              <a:rPr lang="en" u="sng">
                <a:solidFill>
                  <a:schemeClr val="hlink"/>
                </a:solidFill>
                <a:hlinkClick r:id="rId3"/>
              </a:rPr>
              <a:t>here</a:t>
            </a:r>
            <a:r>
              <a:rPr lang="en"/>
              <a: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7"/>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Find a Datasheet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 the datasheet for the device your table is given.</a:t>
            </a:r>
            <a:endParaRPr/>
          </a:p>
        </p:txBody>
      </p:sp>
      <p:pic>
        <p:nvPicPr>
          <p:cNvPr id="185" name="Google Shape;185;p28"/>
          <p:cNvPicPr preferRelativeResize="0"/>
          <p:nvPr/>
        </p:nvPicPr>
        <p:blipFill>
          <a:blip r:embed="rId3">
            <a:alphaModFix/>
          </a:blip>
          <a:stretch>
            <a:fillRect/>
          </a:stretch>
        </p:blipFill>
        <p:spPr>
          <a:xfrm>
            <a:off x="1285875" y="1536625"/>
            <a:ext cx="5715000" cy="4410075"/>
          </a:xfrm>
          <a:prstGeom prst="rect">
            <a:avLst/>
          </a:prstGeom>
          <a:noFill/>
          <a:ln>
            <a:noFill/>
          </a:ln>
        </p:spPr>
      </p:pic>
      <p:sp>
        <p:nvSpPr>
          <p:cNvPr id="186" name="Google Shape;186;p28"/>
          <p:cNvSpPr txBox="1"/>
          <p:nvPr/>
        </p:nvSpPr>
        <p:spPr>
          <a:xfrm>
            <a:off x="1285875" y="5881700"/>
            <a:ext cx="6858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What is the absolute maximum power supply voltage (VDD or VCC) that can be applied to the part?</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