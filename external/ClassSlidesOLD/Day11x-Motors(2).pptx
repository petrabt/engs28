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6858000" cx="9144000"/>
  <p:notesSz cx="6858000" cy="9144000"/>
  <p:embeddedFontLst>
    <p:embeddedFont>
      <p:font typeface="Helvetica Neue"/>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8C800F7-66B3-483B-B4C4-346F78A485B3}">
  <a:tblStyle styleId="{98C800F7-66B3-483B-B4C4-346F78A485B3}"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HelveticaNeue-bold.fntdata"/><Relationship Id="rId27" Type="http://schemas.openxmlformats.org/officeDocument/2006/relationships/font" Target="fonts/HelveticaNeue-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HelveticaNeue-italic.fntdata"/><Relationship Id="rId7" Type="http://schemas.openxmlformats.org/officeDocument/2006/relationships/slide" Target="slides/slide2.xml"/><Relationship Id="rId8" Type="http://schemas.openxmlformats.org/officeDocument/2006/relationships/slide" Target="slides/slide3.xml"/><Relationship Id="rId30" Type="http://schemas.openxmlformats.org/officeDocument/2006/relationships/font" Target="fonts/HelveticaNeue-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4e32faedb7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4e32faedb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111e2377659_0_43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111e2377659_0_4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111e2377659_0_54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111e2377659_0_5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111e2377659_0_79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111e2377659_0_7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voltage regulator's job is to drop down the voltage coming in from the wall wart which is too high for our motor.</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2b732fc939d_0_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2b732fc939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2f52eedeb05_0_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2f52eedeb05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2b732fc939d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2b732fc939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11376a8bc79_0_41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11376a8bc79_0_4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Demo code uses Timer 1 PWM which is different from Timers 0 and 2 PWM. Recall that Timer 1 is the 16-bit timer.</a:t>
            </a:r>
            <a:endParaRPr sz="1400"/>
          </a:p>
          <a:p>
            <a:pPr indent="0" lvl="0" marL="0" rtl="0" algn="l">
              <a:spcBef>
                <a:spcPts val="0"/>
              </a:spcBef>
              <a:spcAft>
                <a:spcPts val="0"/>
              </a:spcAft>
              <a:buNone/>
            </a:pPr>
            <a:r>
              <a:rPr lang="en" sz="1400"/>
              <a:t>Timer 1 PWM has an additional feature.</a:t>
            </a:r>
            <a:endParaRPr sz="1400"/>
          </a:p>
          <a:p>
            <a:pPr indent="0" lvl="0" marL="0" rtl="0" algn="l">
              <a:spcBef>
                <a:spcPts val="0"/>
              </a:spcBef>
              <a:spcAft>
                <a:spcPts val="0"/>
              </a:spcAft>
              <a:buNone/>
            </a:pPr>
            <a:r>
              <a:rPr lang="en" sz="1400"/>
              <a:t>Period is always the same, amount of time the signal is high changes to adjust the motor speed. Ratio of THIGH/TPERID is called the duty cycle. Multiplied by motor voltage this gives you the average voltage that drives the motor.</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First need to set the period. Period depends on how long it takes the timer to count all the way to the top and reset.</a:t>
            </a:r>
            <a:endParaRPr sz="1400"/>
          </a:p>
          <a:p>
            <a:pPr indent="0" lvl="0" marL="0" rtl="0" algn="l">
              <a:spcBef>
                <a:spcPts val="0"/>
              </a:spcBef>
              <a:spcAft>
                <a:spcPts val="0"/>
              </a:spcAft>
              <a:buNone/>
            </a:pPr>
            <a:r>
              <a:rPr lang="en" sz="1400"/>
              <a:t>With timer 1  you have control over that top value. Timers 0 and 2 always count to 255 and there is </a:t>
            </a:r>
            <a:r>
              <a:rPr lang="en" sz="1400"/>
              <a:t>nothing</a:t>
            </a:r>
            <a:r>
              <a:rPr lang="en" sz="1400"/>
              <a:t> you can do about that. The top </a:t>
            </a:r>
            <a:r>
              <a:rPr lang="en" sz="1400"/>
              <a:t>value</a:t>
            </a:r>
            <a:r>
              <a:rPr lang="en" sz="1400"/>
              <a:t> for timer 1 is stored in ICR1 and determines the period.</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The duty cycle is then set by putting a value into OCR1A. The counter will continuously count from 0 to ICR1. When these match, the counter resets and starts over, so this establishes the pulse period of the PWM.</a:t>
            </a:r>
            <a:endParaRPr sz="1400"/>
          </a:p>
          <a:p>
            <a:pPr indent="0" lvl="0" marL="0" rtl="0" algn="l">
              <a:spcBef>
                <a:spcPts val="0"/>
              </a:spcBef>
              <a:spcAft>
                <a:spcPts val="0"/>
              </a:spcAft>
              <a:buNone/>
            </a:pPr>
            <a:r>
              <a:rPr lang="en" sz="1400"/>
              <a:t>While the counter is counting up it </a:t>
            </a:r>
            <a:r>
              <a:rPr lang="en" sz="1400"/>
              <a:t>continuously</a:t>
            </a:r>
            <a:r>
              <a:rPr lang="en" sz="1400"/>
              <a:t> compares with OCR1A. As long as the counter value is less than this register the output at the PWM will be high. When the counter reaches the OCR1A value the output goes low.</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So if you want to change the duty cycle in your program you'd simply write a new value to OCR1A like this: OCR1A =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Same with Timer 0 and 2, except you have no control over the period.</a:t>
            </a:r>
            <a:endParaRPr sz="1400"/>
          </a:p>
          <a:p>
            <a:pPr indent="0" lvl="0" marL="0" rtl="0" algn="l">
              <a:spcBef>
                <a:spcPts val="0"/>
              </a:spcBef>
              <a:spcAft>
                <a:spcPts val="0"/>
              </a:spcAft>
              <a:buNone/>
            </a:pPr>
            <a:r>
              <a:t/>
            </a:r>
            <a:endParaRPr sz="1400"/>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2f63f0dee55_0_2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2f63f0dee55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11376a8bc79_0_31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11376a8bc79_0_3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206157e4748_0_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206157e4748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2f63f0dee55_0_9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2f63f0dee55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2f63f0dee55_0_11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2f63f0dee55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11376a8bc79_0_31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11376a8bc79_0_3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I ever detect the motor is going to change direction I force it to brake before applying the reverse current. Read the code and you'll see how it goes.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11376a8bc79_0_32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11376a8bc79_0_3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you look at the ramp code in detail (for Thursday!) you'll see why the abs is necessary (can't put a negative number into the counter). Abs lives in the standard C-library.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Need to study this for lab 6. </a:t>
            </a:r>
            <a:r>
              <a:rPr lang="en"/>
              <a:t>Hopefully</a:t>
            </a:r>
            <a:r>
              <a:rPr lang="en"/>
              <a:t> have given you an idea of what the major points are.</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11376a8bc79_0_456: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Summary of resolution of PWM</a:t>
            </a:r>
            <a:endParaRPr sz="1400"/>
          </a:p>
        </p:txBody>
      </p:sp>
      <p:sp>
        <p:nvSpPr>
          <p:cNvPr id="250" name="Google Shape;250;g11376a8bc79_0_4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11376a8bc79_0_32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11376a8bc79_0_3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11376a8bc79_0_23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11376a8bc79_0_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There are much more complicated ways (quadrature sensors). We'll use this. There is a nice video at the adafruit site.</a:t>
            </a:r>
            <a:endParaRPr/>
          </a:p>
          <a:p>
            <a:pPr indent="0" lvl="0" marL="0" rtl="0" algn="l">
              <a:spcBef>
                <a:spcPts val="0"/>
              </a:spcBef>
              <a:spcAft>
                <a:spcPts val="0"/>
              </a:spcAft>
              <a:buNone/>
            </a:pPr>
            <a:r>
              <a:rPr lang="en"/>
              <a:t>LED on one side, photosensor on the other side.</a:t>
            </a:r>
            <a:endParaRPr/>
          </a:p>
          <a:p>
            <a:pPr indent="0" lvl="0" marL="0" rtl="0" algn="l">
              <a:spcBef>
                <a:spcPts val="0"/>
              </a:spcBef>
              <a:spcAft>
                <a:spcPts val="0"/>
              </a:spcAft>
              <a:buNone/>
            </a:pPr>
            <a:r>
              <a:rPr lang="en"/>
              <a:t>This is built into your motor setup.</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b24e739ccf_0_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3b24e739ccf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https://youtu.be/VH0-zO2LpDc</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2af90e343c4_0_5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2af90e343c4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11376a8bc79_0_36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11376a8bc79_0_3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Need to take pulse train and turn into velocity information.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Idea: count number of pulses in a fixed amount of time, then convert that to a velocity.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Tomorrow in class: Use voltmeter / oscilloscope to understand PWM signal better for changing the motor speed. </a:t>
            </a:r>
            <a:endParaRPr/>
          </a:p>
          <a:p>
            <a:pPr indent="0" lvl="0" marL="0" rtl="0" algn="l">
              <a:spcBef>
                <a:spcPts val="0"/>
              </a:spcBef>
              <a:spcAft>
                <a:spcPts val="0"/>
              </a:spcAft>
              <a:buNone/>
            </a:pPr>
            <a:r>
              <a:rPr lang="en"/>
              <a:t>Then wire up the photointerruptor. Put that on oscilloscope and watch the pulses go by. Next wire this into the microcontroller. How do you detect them? How do you count them? How do you convert to an rpm? Then display on 7-seg display.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How do you get the number into the PWM to determine speed? Use potentiometer to drive the motor. Now you have a throttle! And a sensor that tells you how fast it's going.</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992767"/>
            <a:ext cx="8520600" cy="27369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3778833"/>
            <a:ext cx="8520600" cy="10569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740800"/>
            <a:ext cx="2808000" cy="1007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852800"/>
            <a:ext cx="2808000" cy="4239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600200"/>
            <a:ext cx="6367800" cy="54543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644233"/>
            <a:ext cx="4045200" cy="19764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3737433"/>
            <a:ext cx="4045200" cy="1646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965433"/>
            <a:ext cx="3837000" cy="49269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5640767"/>
            <a:ext cx="5998800" cy="8067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4202967"/>
            <a:ext cx="8520600" cy="17343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 name="Shape 50"/>
        <p:cNvGrpSpPr/>
        <p:nvPr/>
      </p:nvGrpSpPr>
      <p:grpSpPr>
        <a:xfrm>
          <a:off x="0" y="0"/>
          <a:ext cx="0" cy="0"/>
          <a:chOff x="0" y="0"/>
          <a:chExt cx="0" cy="0"/>
        </a:xfrm>
      </p:grpSpPr>
      <p:sp>
        <p:nvSpPr>
          <p:cNvPr id="51" name="Google Shape;51;p13"/>
          <p:cNvSpPr txBox="1"/>
          <p:nvPr>
            <p:ph type="title"/>
          </p:nvPr>
        </p:nvSpPr>
        <p:spPr>
          <a:xfrm>
            <a:off x="533400" y="457200"/>
            <a:ext cx="7543800" cy="381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2800"/>
              <a:buNone/>
              <a:defRPr/>
            </a:lvl1pPr>
            <a:lvl2pPr lvl="1" algn="l">
              <a:spcBef>
                <a:spcPts val="0"/>
              </a:spcBef>
              <a:spcAft>
                <a:spcPts val="0"/>
              </a:spcAft>
              <a:buSzPts val="2800"/>
              <a:buNone/>
              <a:defRPr/>
            </a:lvl2pPr>
            <a:lvl3pPr lvl="2" algn="l">
              <a:spcBef>
                <a:spcPts val="0"/>
              </a:spcBef>
              <a:spcAft>
                <a:spcPts val="0"/>
              </a:spcAft>
              <a:buSzPts val="2800"/>
              <a:buNone/>
              <a:defRPr/>
            </a:lvl3pPr>
            <a:lvl4pPr lvl="3" algn="l">
              <a:spcBef>
                <a:spcPts val="0"/>
              </a:spcBef>
              <a:spcAft>
                <a:spcPts val="0"/>
              </a:spcAft>
              <a:buSzPts val="2800"/>
              <a:buNone/>
              <a:defRPr/>
            </a:lvl4pPr>
            <a:lvl5pPr lvl="4" algn="l">
              <a:spcBef>
                <a:spcPts val="0"/>
              </a:spcBef>
              <a:spcAft>
                <a:spcPts val="0"/>
              </a:spcAft>
              <a:buSzPts val="2800"/>
              <a:buNone/>
              <a:defRPr/>
            </a:lvl5pPr>
            <a:lvl6pPr lvl="5" algn="l">
              <a:spcBef>
                <a:spcPts val="0"/>
              </a:spcBef>
              <a:spcAft>
                <a:spcPts val="0"/>
              </a:spcAft>
              <a:buSzPts val="2800"/>
              <a:buNone/>
              <a:defRPr/>
            </a:lvl6pPr>
            <a:lvl7pPr lvl="6" algn="l">
              <a:spcBef>
                <a:spcPts val="0"/>
              </a:spcBef>
              <a:spcAft>
                <a:spcPts val="0"/>
              </a:spcAft>
              <a:buSzPts val="2800"/>
              <a:buNone/>
              <a:defRPr/>
            </a:lvl7pPr>
            <a:lvl8pPr lvl="7" algn="l">
              <a:spcBef>
                <a:spcPts val="0"/>
              </a:spcBef>
              <a:spcAft>
                <a:spcPts val="0"/>
              </a:spcAft>
              <a:buSzPts val="2800"/>
              <a:buNone/>
              <a:defRPr/>
            </a:lvl8pPr>
            <a:lvl9pPr lvl="8" algn="l">
              <a:spcBef>
                <a:spcPts val="0"/>
              </a:spcBef>
              <a:spcAft>
                <a:spcPts val="0"/>
              </a:spcAft>
              <a:buSzPts val="2800"/>
              <a:buNone/>
              <a:defRPr/>
            </a:lvl9pPr>
          </a:lstStyle>
          <a:p/>
        </p:txBody>
      </p:sp>
      <p:sp>
        <p:nvSpPr>
          <p:cNvPr id="52" name="Google Shape;52;p13"/>
          <p:cNvSpPr txBox="1"/>
          <p:nvPr>
            <p:ph idx="1" type="body"/>
          </p:nvPr>
        </p:nvSpPr>
        <p:spPr>
          <a:xfrm>
            <a:off x="533400" y="990600"/>
            <a:ext cx="8153400" cy="5105400"/>
          </a:xfrm>
          <a:prstGeom prst="rect">
            <a:avLst/>
          </a:prstGeom>
          <a:noFill/>
          <a:ln>
            <a:noFill/>
          </a:ln>
        </p:spPr>
        <p:txBody>
          <a:bodyPr anchorCtr="0" anchor="t" bIns="45700" lIns="91425" spcFirstLastPara="1" rIns="91425" wrap="square" tIns="45700">
            <a:noAutofit/>
          </a:bodyPr>
          <a:lstStyle>
            <a:lvl1pPr indent="-228600" lvl="0" marL="457200" algn="l">
              <a:spcBef>
                <a:spcPts val="360"/>
              </a:spcBef>
              <a:spcAft>
                <a:spcPts val="0"/>
              </a:spcAft>
              <a:buSzPts val="1800"/>
              <a:buNone/>
              <a:defRPr/>
            </a:lvl1pPr>
            <a:lvl2pPr indent="-228600" lvl="1" marL="914400" algn="l">
              <a:spcBef>
                <a:spcPts val="360"/>
              </a:spcBef>
              <a:spcAft>
                <a:spcPts val="0"/>
              </a:spcAft>
              <a:buSzPts val="1400"/>
              <a:buNone/>
              <a:defRPr/>
            </a:lvl2pPr>
            <a:lvl3pPr indent="-228600" lvl="2" marL="1371600" algn="l">
              <a:spcBef>
                <a:spcPts val="360"/>
              </a:spcBef>
              <a:spcAft>
                <a:spcPts val="0"/>
              </a:spcAft>
              <a:buSzPts val="1400"/>
              <a:buNone/>
              <a:defRPr/>
            </a:lvl3pPr>
            <a:lvl4pPr indent="-228600" lvl="3" marL="1828800" algn="l">
              <a:spcBef>
                <a:spcPts val="360"/>
              </a:spcBef>
              <a:spcAft>
                <a:spcPts val="0"/>
              </a:spcAft>
              <a:buSzPts val="1400"/>
              <a:buNone/>
              <a:defRPr/>
            </a:lvl4pPr>
            <a:lvl5pPr indent="-228600" lvl="4" marL="2286000" algn="l">
              <a:spcBef>
                <a:spcPts val="360"/>
              </a:spcBef>
              <a:spcAft>
                <a:spcPts val="0"/>
              </a:spcAft>
              <a:buSzPts val="1400"/>
              <a:buNone/>
              <a:defRPr/>
            </a:lvl5pPr>
            <a:lvl6pPr indent="-228600" lvl="5" marL="2743200" algn="l">
              <a:spcBef>
                <a:spcPts val="360"/>
              </a:spcBef>
              <a:spcAft>
                <a:spcPts val="0"/>
              </a:spcAft>
              <a:buSzPts val="1400"/>
              <a:buNone/>
              <a:defRPr/>
            </a:lvl6pPr>
            <a:lvl7pPr indent="-228600" lvl="6" marL="3200400" algn="l">
              <a:spcBef>
                <a:spcPts val="360"/>
              </a:spcBef>
              <a:spcAft>
                <a:spcPts val="0"/>
              </a:spcAft>
              <a:buSzPts val="1400"/>
              <a:buNone/>
              <a:defRPr/>
            </a:lvl7pPr>
            <a:lvl8pPr indent="-228600" lvl="7" marL="3657600" algn="l">
              <a:spcBef>
                <a:spcPts val="360"/>
              </a:spcBef>
              <a:spcAft>
                <a:spcPts val="0"/>
              </a:spcAft>
              <a:buSzPts val="1400"/>
              <a:buNone/>
              <a:defRPr/>
            </a:lvl8pPr>
            <a:lvl9pPr indent="-228600" lvl="8" marL="4114800" algn="l">
              <a:spcBef>
                <a:spcPts val="360"/>
              </a:spcBef>
              <a:spcAft>
                <a:spcPts val="0"/>
              </a:spcAft>
              <a:buSzPts val="1400"/>
              <a:buNone/>
              <a:defRPr/>
            </a:lvl9pPr>
          </a:lstStyle>
          <a:p/>
        </p:txBody>
      </p:sp>
      <p:sp>
        <p:nvSpPr>
          <p:cNvPr id="53" name="Google Shape;53;p13"/>
          <p:cNvSpPr txBox="1"/>
          <p:nvPr>
            <p:ph idx="10" type="dt"/>
          </p:nvPr>
        </p:nvSpPr>
        <p:spPr>
          <a:xfrm>
            <a:off x="533400" y="6248400"/>
            <a:ext cx="1905000" cy="304800"/>
          </a:xfrm>
          <a:prstGeom prst="rect">
            <a:avLst/>
          </a:prstGeom>
          <a:noFill/>
          <a:ln>
            <a:noFill/>
          </a:ln>
        </p:spPr>
        <p:txBody>
          <a:bodyPr anchorCtr="0" anchor="t" bIns="45700" lIns="91425" spcFirstLastPara="1" rIns="91425" wrap="square" tIns="45700">
            <a:noAutofit/>
          </a:bodyPr>
          <a:lstStyle>
            <a:lvl1pPr lvl="0" algn="l">
              <a:spcBef>
                <a:spcPts val="60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3"/>
          <p:cNvSpPr txBox="1"/>
          <p:nvPr>
            <p:ph idx="12" type="sldNum"/>
          </p:nvPr>
        </p:nvSpPr>
        <p:spPr>
          <a:xfrm>
            <a:off x="6781800" y="6248400"/>
            <a:ext cx="1905000" cy="3048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1pPr>
            <a:lvl2pPr indent="0" lvl="1"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2pPr>
            <a:lvl3pPr indent="0" lvl="2"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3pPr>
            <a:lvl4pPr indent="0" lvl="3"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4pPr>
            <a:lvl5pPr indent="0" lvl="4"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5pPr>
            <a:lvl6pPr indent="0" lvl="5"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6pPr>
            <a:lvl7pPr indent="0" lvl="6"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7pPr>
            <a:lvl8pPr indent="0" lvl="7"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8pPr>
            <a:lvl9pPr indent="0" lvl="8"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9pPr>
          </a:lstStyle>
          <a:p>
            <a:pPr indent="0" lvl="0" marL="0" rtl="0" algn="r">
              <a:spcBef>
                <a:spcPts val="0"/>
              </a:spcBef>
              <a:spcAft>
                <a:spcPts val="0"/>
              </a:spcAft>
              <a:buNone/>
            </a:pPr>
            <a:r>
              <a:rPr lang="en"/>
              <a:t>23.</a:t>
            </a: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18.png"/><Relationship Id="rId5"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2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2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9.png"/><Relationship Id="rId4" Type="http://schemas.openxmlformats.org/officeDocument/2006/relationships/image" Target="../media/image24.png"/><Relationship Id="rId5"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2.png"/><Relationship Id="rId4" Type="http://schemas.openxmlformats.org/officeDocument/2006/relationships/image" Target="../media/image17.png"/><Relationship Id="rId5" Type="http://schemas.openxmlformats.org/officeDocument/2006/relationships/image" Target="../media/image11.png"/><Relationship Id="rId6" Type="http://schemas.openxmlformats.org/officeDocument/2006/relationships/image" Target="../media/image6.png"/><Relationship Id="rId7" Type="http://schemas.openxmlformats.org/officeDocument/2006/relationships/image" Target="../media/image13.png"/><Relationship Id="rId8"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6.jpg"/><Relationship Id="rId4" Type="http://schemas.openxmlformats.org/officeDocument/2006/relationships/image" Target="../media/image9.jpg"/><Relationship Id="rId5" Type="http://schemas.openxmlformats.org/officeDocument/2006/relationships/image" Target="../media/image22.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hyperlink" Target="http://www.youtube.com/watch?v=VH0-zO2LpDc" TargetMode="External"/><Relationship Id="rId4" Type="http://schemas.openxmlformats.org/officeDocument/2006/relationships/image" Target="../media/image15.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nvSpPr>
        <p:spPr>
          <a:xfrm>
            <a:off x="311708" y="992767"/>
            <a:ext cx="8520600" cy="27369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3000">
                <a:solidFill>
                  <a:srgbClr val="000000"/>
                </a:solidFill>
                <a:latin typeface="Comic Sans MS"/>
                <a:ea typeface="Comic Sans MS"/>
                <a:cs typeface="Comic Sans MS"/>
                <a:sym typeface="Comic Sans MS"/>
              </a:rPr>
              <a:t>Engs </a:t>
            </a:r>
            <a:r>
              <a:rPr lang="en" sz="3000">
                <a:latin typeface="Comic Sans MS"/>
                <a:ea typeface="Comic Sans MS"/>
                <a:cs typeface="Comic Sans MS"/>
                <a:sym typeface="Comic Sans MS"/>
              </a:rPr>
              <a:t>28</a:t>
            </a:r>
            <a:endParaRPr sz="3000">
              <a:solidFill>
                <a:srgbClr val="000000"/>
              </a:solidFill>
              <a:latin typeface="Comic Sans MS"/>
              <a:ea typeface="Comic Sans MS"/>
              <a:cs typeface="Comic Sans MS"/>
              <a:sym typeface="Comic Sans MS"/>
            </a:endParaRPr>
          </a:p>
          <a:p>
            <a:pPr indent="0" lvl="0" marL="0" rtl="0" algn="ctr">
              <a:spcBef>
                <a:spcPts val="0"/>
              </a:spcBef>
              <a:spcAft>
                <a:spcPts val="0"/>
              </a:spcAft>
              <a:buNone/>
            </a:pPr>
            <a:r>
              <a:rPr lang="en" sz="5200">
                <a:solidFill>
                  <a:srgbClr val="000000"/>
                </a:solidFill>
                <a:latin typeface="Comic Sans MS"/>
                <a:ea typeface="Comic Sans MS"/>
                <a:cs typeface="Comic Sans MS"/>
                <a:sym typeface="Comic Sans MS"/>
              </a:rPr>
              <a:t>Embedded Systems</a:t>
            </a:r>
            <a:endParaRPr sz="5200">
              <a:solidFill>
                <a:srgbClr val="000000"/>
              </a:solidFill>
              <a:latin typeface="Comic Sans MS"/>
              <a:ea typeface="Comic Sans MS"/>
              <a:cs typeface="Comic Sans MS"/>
              <a:sym typeface="Comic Sans MS"/>
            </a:endParaRPr>
          </a:p>
        </p:txBody>
      </p:sp>
      <p:sp>
        <p:nvSpPr>
          <p:cNvPr id="60" name="Google Shape;60;p14"/>
          <p:cNvSpPr txBox="1"/>
          <p:nvPr/>
        </p:nvSpPr>
        <p:spPr>
          <a:xfrm>
            <a:off x="311700" y="4128267"/>
            <a:ext cx="8520600" cy="105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800">
                <a:solidFill>
                  <a:srgbClr val="595959"/>
                </a:solidFill>
                <a:latin typeface="Comic Sans MS"/>
                <a:ea typeface="Comic Sans MS"/>
                <a:cs typeface="Comic Sans MS"/>
                <a:sym typeface="Comic Sans MS"/>
              </a:rPr>
              <a:t>Day 11x</a:t>
            </a:r>
            <a:endParaRPr sz="2800">
              <a:solidFill>
                <a:srgbClr val="595959"/>
              </a:solidFill>
              <a:latin typeface="Comic Sans MS"/>
              <a:ea typeface="Comic Sans MS"/>
              <a:cs typeface="Comic Sans MS"/>
              <a:sym typeface="Comic Sans MS"/>
            </a:endParaRPr>
          </a:p>
        </p:txBody>
      </p:sp>
      <p:pic>
        <p:nvPicPr>
          <p:cNvPr id="61" name="Google Shape;61;p14"/>
          <p:cNvPicPr preferRelativeResize="0"/>
          <p:nvPr/>
        </p:nvPicPr>
        <p:blipFill>
          <a:blip r:embed="rId3">
            <a:alphaModFix/>
          </a:blip>
          <a:stretch>
            <a:fillRect/>
          </a:stretch>
        </p:blipFill>
        <p:spPr>
          <a:xfrm>
            <a:off x="525637" y="395688"/>
            <a:ext cx="1103550" cy="1334750"/>
          </a:xfrm>
          <a:prstGeom prst="rect">
            <a:avLst/>
          </a:prstGeom>
          <a:noFill/>
          <a:ln>
            <a:noFill/>
          </a:ln>
        </p:spPr>
      </p:pic>
      <p:pic>
        <p:nvPicPr>
          <p:cNvPr id="62" name="Google Shape;62;p14"/>
          <p:cNvPicPr preferRelativeResize="0"/>
          <p:nvPr/>
        </p:nvPicPr>
        <p:blipFill rotWithShape="1">
          <a:blip r:embed="rId4">
            <a:alphaModFix/>
          </a:blip>
          <a:srcRect b="0" l="0" r="0" t="0"/>
          <a:stretch/>
        </p:blipFill>
        <p:spPr>
          <a:xfrm>
            <a:off x="7600125" y="0"/>
            <a:ext cx="1543875" cy="21261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1953400"/>
            <a:ext cx="8520600" cy="1122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Review:  Basic DC motor control</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a:t>
            </a:r>
            <a:r>
              <a:rPr lang="en"/>
              <a:t>oltage ➞ motor speed</a:t>
            </a:r>
            <a:endParaRPr/>
          </a:p>
        </p:txBody>
      </p:sp>
      <p:sp>
        <p:nvSpPr>
          <p:cNvPr id="73" name="Google Shape;73;p16"/>
          <p:cNvSpPr txBox="1"/>
          <p:nvPr/>
        </p:nvSpPr>
        <p:spPr>
          <a:xfrm>
            <a:off x="483700" y="2675800"/>
            <a:ext cx="8473500" cy="950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600"/>
              <a:t>H-bridge</a:t>
            </a:r>
            <a:r>
              <a:rPr lang="en" sz="1600"/>
              <a:t> circuit controls direction of rotation.</a:t>
            </a:r>
            <a:endParaRPr sz="1600"/>
          </a:p>
          <a:p>
            <a:pPr indent="0" lvl="0" marL="0" rtl="0" algn="l">
              <a:lnSpc>
                <a:spcPct val="115000"/>
              </a:lnSpc>
              <a:spcBef>
                <a:spcPts val="1000"/>
              </a:spcBef>
              <a:spcAft>
                <a:spcPts val="0"/>
              </a:spcAft>
              <a:buNone/>
            </a:pPr>
            <a:r>
              <a:rPr b="1" lang="en" sz="1600"/>
              <a:t>Pulse-width modulation</a:t>
            </a:r>
            <a:r>
              <a:rPr lang="en" sz="1600"/>
              <a:t> of the active switches controls the speed of rotation.</a:t>
            </a:r>
            <a:endParaRPr sz="1600"/>
          </a:p>
          <a:p>
            <a:pPr indent="0" lvl="0" marL="0" rtl="0" algn="l">
              <a:lnSpc>
                <a:spcPct val="115000"/>
              </a:lnSpc>
              <a:spcBef>
                <a:spcPts val="1000"/>
              </a:spcBef>
              <a:spcAft>
                <a:spcPts val="0"/>
              </a:spcAft>
              <a:buNone/>
            </a:pPr>
            <a:r>
              <a:t/>
            </a:r>
            <a:endParaRPr sz="1600"/>
          </a:p>
          <a:p>
            <a:pPr indent="0" lvl="0" marL="0" rtl="0" algn="l">
              <a:lnSpc>
                <a:spcPct val="115000"/>
              </a:lnSpc>
              <a:spcBef>
                <a:spcPts val="0"/>
              </a:spcBef>
              <a:spcAft>
                <a:spcPts val="0"/>
              </a:spcAft>
              <a:buNone/>
            </a:pPr>
            <a:r>
              <a:t/>
            </a:r>
            <a:endParaRPr sz="1600"/>
          </a:p>
          <a:p>
            <a:pPr indent="0" lvl="0" marL="0" rtl="0" algn="l">
              <a:lnSpc>
                <a:spcPct val="115000"/>
              </a:lnSpc>
              <a:spcBef>
                <a:spcPts val="0"/>
              </a:spcBef>
              <a:spcAft>
                <a:spcPts val="0"/>
              </a:spcAft>
              <a:buNone/>
            </a:pPr>
            <a:r>
              <a:t/>
            </a:r>
            <a:endParaRPr sz="1600"/>
          </a:p>
          <a:p>
            <a:pPr indent="0" lvl="0" marL="0" rtl="0" algn="ctr">
              <a:lnSpc>
                <a:spcPct val="115000"/>
              </a:lnSpc>
              <a:spcBef>
                <a:spcPts val="0"/>
              </a:spcBef>
              <a:spcAft>
                <a:spcPts val="0"/>
              </a:spcAft>
              <a:buNone/>
            </a:pPr>
            <a:r>
              <a:rPr lang="en" sz="1600"/>
              <a:t>  </a:t>
            </a:r>
            <a:endParaRPr sz="1600"/>
          </a:p>
          <a:p>
            <a:pPr indent="0" lvl="0" marL="0" rtl="0" algn="l">
              <a:lnSpc>
                <a:spcPct val="115000"/>
              </a:lnSpc>
              <a:spcBef>
                <a:spcPts val="0"/>
              </a:spcBef>
              <a:spcAft>
                <a:spcPts val="1000"/>
              </a:spcAft>
              <a:buNone/>
            </a:pPr>
            <a:r>
              <a:t/>
            </a:r>
            <a:endParaRPr sz="1600"/>
          </a:p>
        </p:txBody>
      </p:sp>
      <p:pic>
        <p:nvPicPr>
          <p:cNvPr id="74" name="Google Shape;74;p16"/>
          <p:cNvPicPr preferRelativeResize="0"/>
          <p:nvPr/>
        </p:nvPicPr>
        <p:blipFill>
          <a:blip r:embed="rId3">
            <a:alphaModFix/>
          </a:blip>
          <a:stretch>
            <a:fillRect/>
          </a:stretch>
        </p:blipFill>
        <p:spPr>
          <a:xfrm>
            <a:off x="1522975" y="1159225"/>
            <a:ext cx="3028950" cy="1295400"/>
          </a:xfrm>
          <a:prstGeom prst="rect">
            <a:avLst/>
          </a:prstGeom>
          <a:noFill/>
          <a:ln>
            <a:noFill/>
          </a:ln>
        </p:spPr>
      </p:pic>
      <p:pic>
        <p:nvPicPr>
          <p:cNvPr id="75" name="Google Shape;75;p16"/>
          <p:cNvPicPr preferRelativeResize="0"/>
          <p:nvPr/>
        </p:nvPicPr>
        <p:blipFill>
          <a:blip r:embed="rId4">
            <a:alphaModFix/>
          </a:blip>
          <a:stretch>
            <a:fillRect/>
          </a:stretch>
        </p:blipFill>
        <p:spPr>
          <a:xfrm>
            <a:off x="2968900" y="3670125"/>
            <a:ext cx="2878425" cy="3090174"/>
          </a:xfrm>
          <a:prstGeom prst="rect">
            <a:avLst/>
          </a:prstGeom>
          <a:noFill/>
          <a:ln>
            <a:noFill/>
          </a:ln>
        </p:spPr>
      </p:pic>
      <p:pic>
        <p:nvPicPr>
          <p:cNvPr id="76" name="Google Shape;76;p16"/>
          <p:cNvPicPr preferRelativeResize="0"/>
          <p:nvPr/>
        </p:nvPicPr>
        <p:blipFill>
          <a:blip r:embed="rId5">
            <a:alphaModFix/>
          </a:blip>
          <a:stretch>
            <a:fillRect/>
          </a:stretch>
        </p:blipFill>
        <p:spPr>
          <a:xfrm>
            <a:off x="5041475" y="1647250"/>
            <a:ext cx="1714500" cy="542925"/>
          </a:xfrm>
          <a:prstGeom prst="rect">
            <a:avLst/>
          </a:prstGeom>
          <a:noFill/>
          <a:ln cap="flat" cmpd="sng" w="28575">
            <a:solidFill>
              <a:srgbClr val="F1C232"/>
            </a:solidFill>
            <a:prstDash val="solid"/>
            <a:round/>
            <a:headEnd len="sm" w="sm" type="none"/>
            <a:tailEnd len="sm" w="sm" type="none"/>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pic>
        <p:nvPicPr>
          <p:cNvPr id="81" name="Google Shape;81;p17"/>
          <p:cNvPicPr preferRelativeResize="0"/>
          <p:nvPr/>
        </p:nvPicPr>
        <p:blipFill rotWithShape="1">
          <a:blip r:embed="rId3">
            <a:alphaModFix/>
          </a:blip>
          <a:srcRect b="2937" l="0" r="0" t="2928"/>
          <a:stretch/>
        </p:blipFill>
        <p:spPr>
          <a:xfrm>
            <a:off x="806063" y="155475"/>
            <a:ext cx="7168621" cy="6624992"/>
          </a:xfrm>
          <a:prstGeom prst="rect">
            <a:avLst/>
          </a:prstGeom>
          <a:noFill/>
          <a:ln>
            <a:noFill/>
          </a:ln>
        </p:spPr>
      </p:pic>
      <p:sp>
        <p:nvSpPr>
          <p:cNvPr id="82" name="Google Shape;82;p17"/>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motor controller setup</a:t>
            </a:r>
            <a:endParaRPr/>
          </a:p>
        </p:txBody>
      </p:sp>
      <p:sp>
        <p:nvSpPr>
          <p:cNvPr id="83" name="Google Shape;83;p17"/>
          <p:cNvSpPr txBox="1"/>
          <p:nvPr/>
        </p:nvSpPr>
        <p:spPr>
          <a:xfrm>
            <a:off x="1737800" y="4417850"/>
            <a:ext cx="3285600" cy="401400"/>
          </a:xfrm>
          <a:prstGeom prst="rect">
            <a:avLst/>
          </a:prstGeom>
          <a:solidFill>
            <a:schemeClr val="lt1"/>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 sz="1600">
                <a:solidFill>
                  <a:srgbClr val="FF00FF"/>
                </a:solidFill>
              </a:rPr>
              <a:t>TB6612 H-bridge breakout board</a:t>
            </a:r>
            <a:endParaRPr i="1" sz="1600">
              <a:solidFill>
                <a:srgbClr val="FF00FF"/>
              </a:solidFill>
            </a:endParaRPr>
          </a:p>
        </p:txBody>
      </p:sp>
      <p:cxnSp>
        <p:nvCxnSpPr>
          <p:cNvPr id="84" name="Google Shape;84;p17"/>
          <p:cNvCxnSpPr>
            <a:stCxn id="83" idx="3"/>
          </p:cNvCxnSpPr>
          <p:nvPr/>
        </p:nvCxnSpPr>
        <p:spPr>
          <a:xfrm flipH="1" rot="10800000">
            <a:off x="5023400" y="4287950"/>
            <a:ext cx="1063500" cy="330600"/>
          </a:xfrm>
          <a:prstGeom prst="straightConnector1">
            <a:avLst/>
          </a:prstGeom>
          <a:noFill/>
          <a:ln cap="flat" cmpd="sng" w="19050">
            <a:solidFill>
              <a:srgbClr val="FF00FF"/>
            </a:solidFill>
            <a:prstDash val="solid"/>
            <a:round/>
            <a:headEnd len="med" w="med" type="none"/>
            <a:tailEnd len="med" w="med" type="triangle"/>
          </a:ln>
        </p:spPr>
      </p:cxnSp>
      <p:sp>
        <p:nvSpPr>
          <p:cNvPr id="85" name="Google Shape;85;p17"/>
          <p:cNvSpPr/>
          <p:nvPr/>
        </p:nvSpPr>
        <p:spPr>
          <a:xfrm>
            <a:off x="6703800" y="3233700"/>
            <a:ext cx="195900" cy="425400"/>
          </a:xfrm>
          <a:prstGeom prst="ellipse">
            <a:avLst/>
          </a:prstGeom>
          <a:noFill/>
          <a:ln cap="flat" cmpd="sng" w="19050">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6" name="Google Shape;86;p17"/>
          <p:cNvCxnSpPr>
            <a:stCxn id="87" idx="3"/>
            <a:endCxn id="85" idx="2"/>
          </p:cNvCxnSpPr>
          <p:nvPr/>
        </p:nvCxnSpPr>
        <p:spPr>
          <a:xfrm>
            <a:off x="3008900" y="1534625"/>
            <a:ext cx="3694800" cy="1911900"/>
          </a:xfrm>
          <a:prstGeom prst="straightConnector1">
            <a:avLst/>
          </a:prstGeom>
          <a:noFill/>
          <a:ln cap="flat" cmpd="sng" w="19050">
            <a:solidFill>
              <a:srgbClr val="FF00FF"/>
            </a:solidFill>
            <a:prstDash val="solid"/>
            <a:round/>
            <a:headEnd len="med" w="med" type="none"/>
            <a:tailEnd len="med" w="med" type="triangle"/>
          </a:ln>
        </p:spPr>
      </p:cxnSp>
      <p:sp>
        <p:nvSpPr>
          <p:cNvPr id="88" name="Google Shape;88;p17"/>
          <p:cNvSpPr txBox="1"/>
          <p:nvPr/>
        </p:nvSpPr>
        <p:spPr>
          <a:xfrm>
            <a:off x="1828500" y="1795750"/>
            <a:ext cx="1271100" cy="355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i="1" lang="en">
                <a:solidFill>
                  <a:srgbClr val="FF00FF"/>
                </a:solidFill>
              </a:rPr>
              <a:t>Motor</a:t>
            </a:r>
            <a:r>
              <a:rPr i="1" lang="en">
                <a:solidFill>
                  <a:srgbClr val="FF00FF"/>
                </a:solidFill>
              </a:rPr>
              <a:t> power</a:t>
            </a:r>
            <a:endParaRPr i="1">
              <a:solidFill>
                <a:srgbClr val="FF00FF"/>
              </a:solidFill>
            </a:endParaRPr>
          </a:p>
        </p:txBody>
      </p:sp>
      <p:sp>
        <p:nvSpPr>
          <p:cNvPr id="89" name="Google Shape;89;p17"/>
          <p:cNvSpPr/>
          <p:nvPr/>
        </p:nvSpPr>
        <p:spPr>
          <a:xfrm>
            <a:off x="6803975" y="3642200"/>
            <a:ext cx="566700" cy="182700"/>
          </a:xfrm>
          <a:prstGeom prst="ellipse">
            <a:avLst/>
          </a:prstGeom>
          <a:noFill/>
          <a:ln cap="flat" cmpd="sng" w="19050">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0" name="Google Shape;90;p17"/>
          <p:cNvCxnSpPr>
            <a:stCxn id="88" idx="3"/>
            <a:endCxn id="89" idx="2"/>
          </p:cNvCxnSpPr>
          <p:nvPr/>
        </p:nvCxnSpPr>
        <p:spPr>
          <a:xfrm>
            <a:off x="3099600" y="1973500"/>
            <a:ext cx="3704400" cy="1760100"/>
          </a:xfrm>
          <a:prstGeom prst="straightConnector1">
            <a:avLst/>
          </a:prstGeom>
          <a:noFill/>
          <a:ln cap="flat" cmpd="sng" w="19050">
            <a:solidFill>
              <a:srgbClr val="FF00FF"/>
            </a:solidFill>
            <a:prstDash val="solid"/>
            <a:round/>
            <a:headEnd len="med" w="med" type="none"/>
            <a:tailEnd len="med" w="med" type="triangle"/>
          </a:ln>
        </p:spPr>
      </p:cxnSp>
      <p:sp>
        <p:nvSpPr>
          <p:cNvPr id="91" name="Google Shape;91;p17"/>
          <p:cNvSpPr/>
          <p:nvPr/>
        </p:nvSpPr>
        <p:spPr>
          <a:xfrm>
            <a:off x="5881125" y="3502875"/>
            <a:ext cx="365400" cy="182700"/>
          </a:xfrm>
          <a:prstGeom prst="ellipse">
            <a:avLst/>
          </a:prstGeom>
          <a:noFill/>
          <a:ln cap="flat" cmpd="sng" w="19050">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7"/>
          <p:cNvSpPr txBox="1"/>
          <p:nvPr/>
        </p:nvSpPr>
        <p:spPr>
          <a:xfrm>
            <a:off x="563000" y="2134650"/>
            <a:ext cx="2445900" cy="355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i="1" lang="en">
                <a:solidFill>
                  <a:srgbClr val="FF00FF"/>
                </a:solidFill>
              </a:rPr>
              <a:t>Direction / PWM controls</a:t>
            </a:r>
            <a:endParaRPr i="1">
              <a:solidFill>
                <a:srgbClr val="FF00FF"/>
              </a:solidFill>
            </a:endParaRPr>
          </a:p>
        </p:txBody>
      </p:sp>
      <p:cxnSp>
        <p:nvCxnSpPr>
          <p:cNvPr id="93" name="Google Shape;93;p17"/>
          <p:cNvCxnSpPr>
            <a:stCxn id="92" idx="3"/>
            <a:endCxn id="91" idx="2"/>
          </p:cNvCxnSpPr>
          <p:nvPr/>
        </p:nvCxnSpPr>
        <p:spPr>
          <a:xfrm>
            <a:off x="3008900" y="2312400"/>
            <a:ext cx="2872200" cy="1281900"/>
          </a:xfrm>
          <a:prstGeom prst="straightConnector1">
            <a:avLst/>
          </a:prstGeom>
          <a:noFill/>
          <a:ln cap="flat" cmpd="sng" w="19050">
            <a:solidFill>
              <a:srgbClr val="FF00FF"/>
            </a:solidFill>
            <a:prstDash val="solid"/>
            <a:round/>
            <a:headEnd len="med" w="med" type="none"/>
            <a:tailEnd len="med" w="med" type="triangle"/>
          </a:ln>
        </p:spPr>
      </p:cxnSp>
      <p:pic>
        <p:nvPicPr>
          <p:cNvPr id="94" name="Google Shape;94;p17"/>
          <p:cNvPicPr preferRelativeResize="0"/>
          <p:nvPr/>
        </p:nvPicPr>
        <p:blipFill>
          <a:blip r:embed="rId4">
            <a:alphaModFix/>
          </a:blip>
          <a:stretch>
            <a:fillRect/>
          </a:stretch>
        </p:blipFill>
        <p:spPr>
          <a:xfrm rot="-5400000">
            <a:off x="7526988" y="3097637"/>
            <a:ext cx="997050" cy="2172926"/>
          </a:xfrm>
          <a:prstGeom prst="rect">
            <a:avLst/>
          </a:prstGeom>
          <a:noFill/>
          <a:ln>
            <a:noFill/>
          </a:ln>
        </p:spPr>
      </p:pic>
      <p:sp>
        <p:nvSpPr>
          <p:cNvPr id="87" name="Google Shape;87;p17"/>
          <p:cNvSpPr txBox="1"/>
          <p:nvPr/>
        </p:nvSpPr>
        <p:spPr>
          <a:xfrm>
            <a:off x="1737800" y="1356875"/>
            <a:ext cx="1271100" cy="355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i="1" lang="en">
                <a:solidFill>
                  <a:srgbClr val="FF00FF"/>
                </a:solidFill>
              </a:rPr>
              <a:t>Logic power</a:t>
            </a:r>
            <a:endParaRPr i="1">
              <a:solidFill>
                <a:srgbClr val="FF00FF"/>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8"/>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Writing code for PWM</a:t>
            </a:r>
            <a:endParaRPr/>
          </a:p>
        </p:txBody>
      </p:sp>
      <p:sp>
        <p:nvSpPr>
          <p:cNvPr id="100" name="Google Shape;100;p18"/>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that we wired up the circuit we wish to write code to control the motor speed with PWM. Please answer the following questions with your table group:</a:t>
            </a:r>
            <a:endParaRPr/>
          </a:p>
          <a:p>
            <a:pPr indent="-342900" lvl="0" marL="457200" rtl="0" algn="l">
              <a:spcBef>
                <a:spcPts val="1600"/>
              </a:spcBef>
              <a:spcAft>
                <a:spcPts val="0"/>
              </a:spcAft>
              <a:buSzPts val="1800"/>
              <a:buChar char="●"/>
            </a:pPr>
            <a:r>
              <a:rPr lang="en"/>
              <a:t>Which data sheet do we need to dig into?</a:t>
            </a:r>
            <a:endParaRPr/>
          </a:p>
          <a:p>
            <a:pPr indent="-342900" lvl="0" marL="457200" rtl="0" algn="l">
              <a:spcBef>
                <a:spcPts val="0"/>
              </a:spcBef>
              <a:spcAft>
                <a:spcPts val="0"/>
              </a:spcAft>
              <a:buSzPts val="1800"/>
              <a:buChar char="●"/>
            </a:pPr>
            <a:r>
              <a:rPr lang="en"/>
              <a:t>Let's use timer 14 and pin PA7.  </a:t>
            </a:r>
            <a:r>
              <a:rPr lang="en"/>
              <a:t>What registers do we need to modify to:</a:t>
            </a:r>
            <a:endParaRPr/>
          </a:p>
          <a:p>
            <a:pPr indent="-317500" lvl="1" marL="914400" rtl="0" algn="l">
              <a:spcBef>
                <a:spcPts val="0"/>
              </a:spcBef>
              <a:spcAft>
                <a:spcPts val="0"/>
              </a:spcAft>
              <a:buSzPts val="1400"/>
              <a:buChar char="○"/>
            </a:pPr>
            <a:r>
              <a:rPr lang="en"/>
              <a:t>Enable clock access to the pin?</a:t>
            </a:r>
            <a:endParaRPr/>
          </a:p>
          <a:p>
            <a:pPr indent="-317500" lvl="1" marL="914400" rtl="0" algn="l">
              <a:spcBef>
                <a:spcPts val="0"/>
              </a:spcBef>
              <a:spcAft>
                <a:spcPts val="0"/>
              </a:spcAft>
              <a:buSzPts val="1400"/>
              <a:buChar char="○"/>
            </a:pPr>
            <a:r>
              <a:rPr lang="en"/>
              <a:t>Make the pin a pwm pin?</a:t>
            </a:r>
            <a:endParaRPr/>
          </a:p>
          <a:p>
            <a:pPr indent="-317500" lvl="1" marL="914400" rtl="0" algn="l">
              <a:spcBef>
                <a:spcPts val="0"/>
              </a:spcBef>
              <a:spcAft>
                <a:spcPts val="0"/>
              </a:spcAft>
              <a:buSzPts val="1400"/>
              <a:buChar char="○"/>
            </a:pPr>
            <a:r>
              <a:rPr lang="en"/>
              <a:t>Enable clock access to Timer 14?</a:t>
            </a:r>
            <a:endParaRPr/>
          </a:p>
          <a:p>
            <a:pPr indent="-317500" lvl="1" marL="914400" rtl="0" algn="l">
              <a:spcBef>
                <a:spcPts val="0"/>
              </a:spcBef>
              <a:spcAft>
                <a:spcPts val="0"/>
              </a:spcAft>
              <a:buSzPts val="1400"/>
              <a:buChar char="○"/>
            </a:pPr>
            <a:r>
              <a:rPr lang="en"/>
              <a:t>Set the prescaler?</a:t>
            </a:r>
            <a:endParaRPr/>
          </a:p>
          <a:p>
            <a:pPr indent="-317500" lvl="1" marL="914400" rtl="0" algn="l">
              <a:spcBef>
                <a:spcPts val="0"/>
              </a:spcBef>
              <a:spcAft>
                <a:spcPts val="0"/>
              </a:spcAft>
              <a:buSzPts val="1400"/>
              <a:buChar char="○"/>
            </a:pPr>
            <a:r>
              <a:rPr lang="en"/>
              <a:t>Set the top (autoreload) value of the counter?</a:t>
            </a:r>
            <a:endParaRPr/>
          </a:p>
          <a:p>
            <a:pPr indent="-317500" lvl="1" marL="914400" rtl="0" algn="l">
              <a:spcBef>
                <a:spcPts val="0"/>
              </a:spcBef>
              <a:spcAft>
                <a:spcPts val="0"/>
              </a:spcAft>
              <a:buSzPts val="1400"/>
              <a:buChar char="○"/>
            </a:pPr>
            <a:r>
              <a:rPr lang="en"/>
              <a:t>Set pwm mode on the timer, having the pin switch from </a:t>
            </a:r>
            <a:br>
              <a:rPr lang="en"/>
            </a:br>
            <a:r>
              <a:rPr lang="en"/>
              <a:t>high to low on compare match?</a:t>
            </a:r>
            <a:endParaRPr/>
          </a:p>
          <a:p>
            <a:pPr indent="-317500" lvl="1" marL="914400" rtl="0" algn="l">
              <a:spcBef>
                <a:spcPts val="0"/>
              </a:spcBef>
              <a:spcAft>
                <a:spcPts val="0"/>
              </a:spcAft>
              <a:buSzPts val="1400"/>
              <a:buChar char="○"/>
            </a:pPr>
            <a:r>
              <a:rPr lang="en"/>
              <a:t>Enable the TIM14_CH1 in output mode?</a:t>
            </a:r>
            <a:endParaRPr/>
          </a:p>
          <a:p>
            <a:pPr indent="-317500" lvl="1" marL="914400" rtl="0" algn="l">
              <a:spcBef>
                <a:spcPts val="0"/>
              </a:spcBef>
              <a:spcAft>
                <a:spcPts val="0"/>
              </a:spcAft>
              <a:buSzPts val="1400"/>
              <a:buChar char="○"/>
            </a:pPr>
            <a:r>
              <a:rPr lang="en"/>
              <a:t>Enable the timer?</a:t>
            </a:r>
            <a:endParaRPr/>
          </a:p>
          <a:p>
            <a:pPr indent="-342900" lvl="0" marL="457200" rtl="0" algn="l">
              <a:spcBef>
                <a:spcPts val="0"/>
              </a:spcBef>
              <a:spcAft>
                <a:spcPts val="0"/>
              </a:spcAft>
              <a:buSzPts val="1800"/>
              <a:buChar char="●"/>
            </a:pPr>
            <a:r>
              <a:rPr lang="en"/>
              <a:t>Once all these initializations are in place, </a:t>
            </a:r>
            <a:br>
              <a:rPr lang="en"/>
            </a:br>
            <a:r>
              <a:rPr lang="en"/>
              <a:t>what register controls the speed of the motor?</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4" name="Shape 104"/>
        <p:cNvGrpSpPr/>
        <p:nvPr/>
      </p:nvGrpSpPr>
      <p:grpSpPr>
        <a:xfrm>
          <a:off x="0" y="0"/>
          <a:ext cx="0" cy="0"/>
          <a:chOff x="0" y="0"/>
          <a:chExt cx="0" cy="0"/>
        </a:xfrm>
      </p:grpSpPr>
      <p:sp>
        <p:nvSpPr>
          <p:cNvPr id="105" name="Google Shape;105;p19"/>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Writing code for PWM</a:t>
            </a:r>
            <a:endParaRPr/>
          </a:p>
        </p:txBody>
      </p:sp>
      <p:sp>
        <p:nvSpPr>
          <p:cNvPr id="106" name="Google Shape;106;p19"/>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that we wired up the circuit we wish to write code to control the motor speed with PWM. Please answer the following questions with your table group:</a:t>
            </a:r>
            <a:endParaRPr/>
          </a:p>
          <a:p>
            <a:pPr indent="-342900" lvl="0" marL="457200" rtl="0" algn="l">
              <a:spcBef>
                <a:spcPts val="1600"/>
              </a:spcBef>
              <a:spcAft>
                <a:spcPts val="0"/>
              </a:spcAft>
              <a:buSzPts val="1800"/>
              <a:buChar char="●"/>
            </a:pPr>
            <a:r>
              <a:rPr lang="en"/>
              <a:t>Which data sheet do we need to dig into? </a:t>
            </a:r>
            <a:r>
              <a:rPr lang="en">
                <a:solidFill>
                  <a:srgbClr val="0000FF"/>
                </a:solidFill>
              </a:rPr>
              <a:t>Reference Manual</a:t>
            </a:r>
            <a:endParaRPr>
              <a:solidFill>
                <a:srgbClr val="0000FF"/>
              </a:solidFill>
            </a:endParaRPr>
          </a:p>
          <a:p>
            <a:pPr indent="-342900" lvl="0" marL="457200" rtl="0" algn="l">
              <a:spcBef>
                <a:spcPts val="0"/>
              </a:spcBef>
              <a:spcAft>
                <a:spcPts val="0"/>
              </a:spcAft>
              <a:buSzPts val="1800"/>
              <a:buChar char="●"/>
            </a:pPr>
            <a:r>
              <a:rPr lang="en"/>
              <a:t>Let's use timer 14 and pin PA7.  What registers do we need to modify to:</a:t>
            </a:r>
            <a:endParaRPr/>
          </a:p>
          <a:p>
            <a:pPr indent="-317500" lvl="1" marL="914400" rtl="0" algn="l">
              <a:spcBef>
                <a:spcPts val="0"/>
              </a:spcBef>
              <a:spcAft>
                <a:spcPts val="0"/>
              </a:spcAft>
              <a:buSzPts val="1400"/>
              <a:buChar char="○"/>
            </a:pPr>
            <a:r>
              <a:rPr lang="en"/>
              <a:t>Enable clock access to the pin? </a:t>
            </a:r>
            <a:r>
              <a:rPr lang="en">
                <a:solidFill>
                  <a:srgbClr val="0000FF"/>
                </a:solidFill>
              </a:rPr>
              <a:t>RCC_IOPENR</a:t>
            </a:r>
            <a:endParaRPr>
              <a:solidFill>
                <a:srgbClr val="0000FF"/>
              </a:solidFill>
            </a:endParaRPr>
          </a:p>
          <a:p>
            <a:pPr indent="-317500" lvl="1" marL="914400" rtl="0" algn="l">
              <a:spcBef>
                <a:spcPts val="0"/>
              </a:spcBef>
              <a:spcAft>
                <a:spcPts val="0"/>
              </a:spcAft>
              <a:buSzPts val="1400"/>
              <a:buChar char="○"/>
            </a:pPr>
            <a:r>
              <a:rPr lang="en"/>
              <a:t>Make the pin a pwm pin? </a:t>
            </a:r>
            <a:r>
              <a:rPr lang="en">
                <a:solidFill>
                  <a:srgbClr val="0000FF"/>
                </a:solidFill>
              </a:rPr>
              <a:t>GPIOA_MODER, GPIOA_AFR[0]</a:t>
            </a:r>
            <a:endParaRPr>
              <a:solidFill>
                <a:srgbClr val="0000FF"/>
              </a:solidFill>
            </a:endParaRPr>
          </a:p>
          <a:p>
            <a:pPr indent="-317500" lvl="1" marL="914400" rtl="0" algn="l">
              <a:spcBef>
                <a:spcPts val="0"/>
              </a:spcBef>
              <a:spcAft>
                <a:spcPts val="0"/>
              </a:spcAft>
              <a:buSzPts val="1400"/>
              <a:buChar char="○"/>
            </a:pPr>
            <a:r>
              <a:rPr lang="en"/>
              <a:t>Enable clock access to Timer 14? </a:t>
            </a:r>
            <a:r>
              <a:rPr lang="en">
                <a:solidFill>
                  <a:srgbClr val="0000FF"/>
                </a:solidFill>
              </a:rPr>
              <a:t>RCC_APBENR2</a:t>
            </a:r>
            <a:endParaRPr>
              <a:solidFill>
                <a:srgbClr val="0000FF"/>
              </a:solidFill>
            </a:endParaRPr>
          </a:p>
          <a:p>
            <a:pPr indent="-317500" lvl="1" marL="914400" rtl="0" algn="l">
              <a:spcBef>
                <a:spcPts val="0"/>
              </a:spcBef>
              <a:spcAft>
                <a:spcPts val="0"/>
              </a:spcAft>
              <a:buSzPts val="1400"/>
              <a:buChar char="○"/>
            </a:pPr>
            <a:r>
              <a:rPr lang="en"/>
              <a:t>Set the prescaler? </a:t>
            </a:r>
            <a:r>
              <a:rPr lang="en">
                <a:solidFill>
                  <a:srgbClr val="0000FF"/>
                </a:solidFill>
              </a:rPr>
              <a:t>TIM14_PSC</a:t>
            </a:r>
            <a:endParaRPr>
              <a:solidFill>
                <a:srgbClr val="0000FF"/>
              </a:solidFill>
            </a:endParaRPr>
          </a:p>
          <a:p>
            <a:pPr indent="-317500" lvl="1" marL="914400" rtl="0" algn="l">
              <a:spcBef>
                <a:spcPts val="0"/>
              </a:spcBef>
              <a:spcAft>
                <a:spcPts val="0"/>
              </a:spcAft>
              <a:buSzPts val="1400"/>
              <a:buChar char="○"/>
            </a:pPr>
            <a:r>
              <a:rPr lang="en"/>
              <a:t>Set the top (autoreload) value of the counter? </a:t>
            </a:r>
            <a:r>
              <a:rPr lang="en">
                <a:solidFill>
                  <a:srgbClr val="0000FF"/>
                </a:solidFill>
              </a:rPr>
              <a:t>TIM14_ARR</a:t>
            </a:r>
            <a:endParaRPr>
              <a:solidFill>
                <a:srgbClr val="0000FF"/>
              </a:solidFill>
            </a:endParaRPr>
          </a:p>
          <a:p>
            <a:pPr indent="-317500" lvl="1" marL="914400" rtl="0" algn="l">
              <a:spcBef>
                <a:spcPts val="0"/>
              </a:spcBef>
              <a:spcAft>
                <a:spcPts val="0"/>
              </a:spcAft>
              <a:buSzPts val="1400"/>
              <a:buChar char="○"/>
            </a:pPr>
            <a:r>
              <a:rPr lang="en"/>
              <a:t>Set pwm mode on the timer, having the pin switch from high to low on compare match? </a:t>
            </a:r>
            <a:r>
              <a:rPr lang="en">
                <a:solidFill>
                  <a:srgbClr val="0000FF"/>
                </a:solidFill>
              </a:rPr>
              <a:t>TIM14_CCMR1</a:t>
            </a:r>
            <a:endParaRPr>
              <a:solidFill>
                <a:srgbClr val="0000FF"/>
              </a:solidFill>
            </a:endParaRPr>
          </a:p>
          <a:p>
            <a:pPr indent="-317500" lvl="1" marL="914400" rtl="0" algn="l">
              <a:spcBef>
                <a:spcPts val="0"/>
              </a:spcBef>
              <a:spcAft>
                <a:spcPts val="0"/>
              </a:spcAft>
              <a:buSzPts val="1400"/>
              <a:buChar char="○"/>
            </a:pPr>
            <a:r>
              <a:rPr lang="en"/>
              <a:t>Enable the TIM14_CH1 in output mode? </a:t>
            </a:r>
            <a:r>
              <a:rPr lang="en">
                <a:solidFill>
                  <a:srgbClr val="0000FF"/>
                </a:solidFill>
              </a:rPr>
              <a:t>TIM14_CCER</a:t>
            </a:r>
            <a:endParaRPr>
              <a:solidFill>
                <a:srgbClr val="0000FF"/>
              </a:solidFill>
            </a:endParaRPr>
          </a:p>
          <a:p>
            <a:pPr indent="-317500" lvl="1" marL="914400" rtl="0" algn="l">
              <a:spcBef>
                <a:spcPts val="0"/>
              </a:spcBef>
              <a:spcAft>
                <a:spcPts val="0"/>
              </a:spcAft>
              <a:buSzPts val="1400"/>
              <a:buChar char="○"/>
            </a:pPr>
            <a:r>
              <a:rPr lang="en"/>
              <a:t>Enable the timer? </a:t>
            </a:r>
            <a:r>
              <a:rPr lang="en">
                <a:solidFill>
                  <a:srgbClr val="0000FF"/>
                </a:solidFill>
              </a:rPr>
              <a:t>TIM14_CR1</a:t>
            </a:r>
            <a:endParaRPr>
              <a:solidFill>
                <a:srgbClr val="0000FF"/>
              </a:solidFill>
            </a:endParaRPr>
          </a:p>
          <a:p>
            <a:pPr indent="-342900" lvl="0" marL="457200" rtl="0" algn="l">
              <a:spcBef>
                <a:spcPts val="0"/>
              </a:spcBef>
              <a:spcAft>
                <a:spcPts val="0"/>
              </a:spcAft>
              <a:buSzPts val="1800"/>
              <a:buChar char="●"/>
            </a:pPr>
            <a:r>
              <a:rPr lang="en"/>
              <a:t>Once all these initializations are in place, what register controls the speed of the motor? </a:t>
            </a:r>
            <a:r>
              <a:rPr lang="en">
                <a:solidFill>
                  <a:srgbClr val="0000FF"/>
                </a:solidFill>
              </a:rPr>
              <a:t>TIM14_CCR1</a:t>
            </a:r>
            <a:endParaRPr>
              <a:solidFill>
                <a:srgbClr val="0000FF"/>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0"/>
          <p:cNvSpPr txBox="1"/>
          <p:nvPr>
            <p:ph type="title"/>
          </p:nvPr>
        </p:nvSpPr>
        <p:spPr>
          <a:xfrm>
            <a:off x="311700" y="1953400"/>
            <a:ext cx="8520600" cy="1122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Writing code for PWM</a:t>
            </a:r>
            <a:endParaRPr/>
          </a:p>
        </p:txBody>
      </p:sp>
      <p:sp>
        <p:nvSpPr>
          <p:cNvPr id="112" name="Google Shape;112;p20"/>
          <p:cNvSpPr txBox="1"/>
          <p:nvPr/>
        </p:nvSpPr>
        <p:spPr>
          <a:xfrm>
            <a:off x="2539350" y="3075700"/>
            <a:ext cx="5877900" cy="198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t>References: </a:t>
            </a:r>
            <a:endParaRPr sz="1800"/>
          </a:p>
          <a:p>
            <a:pPr indent="-342900" lvl="0" marL="457200" rtl="0" algn="l">
              <a:spcBef>
                <a:spcPts val="1000"/>
              </a:spcBef>
              <a:spcAft>
                <a:spcPts val="0"/>
              </a:spcAft>
              <a:buClr>
                <a:schemeClr val="dk1"/>
              </a:buClr>
              <a:buSzPts val="1800"/>
              <a:buChar char="●"/>
            </a:pPr>
            <a:r>
              <a:rPr lang="en" sz="1800">
                <a:solidFill>
                  <a:schemeClr val="dk1"/>
                </a:solidFill>
              </a:rPr>
              <a:t>Williams, Chapter 10, pp 199-206 (start of chapter up to "Initializing Timers")</a:t>
            </a:r>
            <a:endParaRPr sz="1800">
              <a:solidFill>
                <a:schemeClr val="dk1"/>
              </a:solidFill>
            </a:endParaRPr>
          </a:p>
          <a:p>
            <a:pPr indent="-342900" lvl="0" marL="457200" rtl="0" algn="l">
              <a:spcBef>
                <a:spcPts val="1000"/>
              </a:spcBef>
              <a:spcAft>
                <a:spcPts val="1000"/>
              </a:spcAft>
              <a:buClr>
                <a:schemeClr val="dk1"/>
              </a:buClr>
              <a:buSzPts val="1800"/>
              <a:buChar char="●"/>
            </a:pPr>
            <a:r>
              <a:rPr lang="en" sz="1800">
                <a:solidFill>
                  <a:schemeClr val="dk1"/>
                </a:solidFill>
              </a:rPr>
              <a:t>Reference Manual, Section 17.3.8</a:t>
            </a:r>
            <a:endParaRPr sz="18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pic>
        <p:nvPicPr>
          <p:cNvPr id="117" name="Google Shape;117;p21"/>
          <p:cNvPicPr preferRelativeResize="0"/>
          <p:nvPr/>
        </p:nvPicPr>
        <p:blipFill>
          <a:blip r:embed="rId3">
            <a:alphaModFix/>
          </a:blip>
          <a:stretch>
            <a:fillRect/>
          </a:stretch>
        </p:blipFill>
        <p:spPr>
          <a:xfrm>
            <a:off x="0" y="1661747"/>
            <a:ext cx="9123849" cy="5024504"/>
          </a:xfrm>
          <a:prstGeom prst="rect">
            <a:avLst/>
          </a:prstGeom>
          <a:noFill/>
          <a:ln>
            <a:noFill/>
          </a:ln>
        </p:spPr>
      </p:pic>
      <p:sp>
        <p:nvSpPr>
          <p:cNvPr id="118" name="Google Shape;118;p21"/>
          <p:cNvSpPr/>
          <p:nvPr/>
        </p:nvSpPr>
        <p:spPr>
          <a:xfrm>
            <a:off x="191750" y="3053475"/>
            <a:ext cx="2781300" cy="2436300"/>
          </a:xfrm>
          <a:prstGeom prst="rect">
            <a:avLst/>
          </a:prstGeom>
          <a:solidFill>
            <a:srgbClr val="FFFFFF">
              <a:alpha val="89999"/>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 name="Google Shape;119;p21"/>
          <p:cNvSpPr txBox="1"/>
          <p:nvPr>
            <p:ph type="title"/>
          </p:nvPr>
        </p:nvSpPr>
        <p:spPr>
          <a:xfrm>
            <a:off x="533400" y="457200"/>
            <a:ext cx="7543800" cy="381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a:t>Timer 14 PWM Ch 1</a:t>
            </a:r>
            <a:endParaRPr/>
          </a:p>
        </p:txBody>
      </p:sp>
      <p:sp>
        <p:nvSpPr>
          <p:cNvPr id="120" name="Google Shape;120;p21"/>
          <p:cNvSpPr txBox="1"/>
          <p:nvPr/>
        </p:nvSpPr>
        <p:spPr>
          <a:xfrm>
            <a:off x="727075" y="4720150"/>
            <a:ext cx="2165400" cy="424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i="1" lang="en">
                <a:solidFill>
                  <a:srgbClr val="CC0000"/>
                </a:solidFill>
              </a:rPr>
              <a:t> CCR1 determines </a:t>
            </a:r>
            <a:r>
              <a:rPr b="1" i="1" lang="en">
                <a:solidFill>
                  <a:srgbClr val="CC0000"/>
                </a:solidFill>
              </a:rPr>
              <a:t>T</a:t>
            </a:r>
            <a:r>
              <a:rPr b="1" baseline="-25000" i="1" lang="en">
                <a:solidFill>
                  <a:srgbClr val="CC0000"/>
                </a:solidFill>
              </a:rPr>
              <a:t>HIGH</a:t>
            </a:r>
            <a:endParaRPr b="1" baseline="-25000" i="1">
              <a:solidFill>
                <a:srgbClr val="CC0000"/>
              </a:solidFill>
            </a:endParaRPr>
          </a:p>
        </p:txBody>
      </p:sp>
      <p:sp>
        <p:nvSpPr>
          <p:cNvPr id="121" name="Google Shape;121;p21"/>
          <p:cNvSpPr txBox="1"/>
          <p:nvPr/>
        </p:nvSpPr>
        <p:spPr>
          <a:xfrm>
            <a:off x="2041600" y="5595675"/>
            <a:ext cx="862800" cy="424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i="1" lang="en">
                <a:solidFill>
                  <a:srgbClr val="CC0000"/>
                </a:solidFill>
              </a:rPr>
              <a:t>Counter</a:t>
            </a:r>
            <a:endParaRPr i="1">
              <a:solidFill>
                <a:srgbClr val="CC0000"/>
              </a:solidFill>
            </a:endParaRPr>
          </a:p>
        </p:txBody>
      </p:sp>
      <p:sp>
        <p:nvSpPr>
          <p:cNvPr id="122" name="Google Shape;122;p21"/>
          <p:cNvSpPr/>
          <p:nvPr/>
        </p:nvSpPr>
        <p:spPr>
          <a:xfrm>
            <a:off x="6068625" y="5422175"/>
            <a:ext cx="2165400" cy="757800"/>
          </a:xfrm>
          <a:prstGeom prst="rect">
            <a:avLst/>
          </a:prstGeom>
          <a:noFill/>
          <a:ln cap="flat" cmpd="sng" w="1905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21"/>
          <p:cNvSpPr txBox="1"/>
          <p:nvPr/>
        </p:nvSpPr>
        <p:spPr>
          <a:xfrm>
            <a:off x="7207675" y="5617275"/>
            <a:ext cx="9186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CC0000"/>
                </a:solidFill>
              </a:rPr>
              <a:t>To </a:t>
            </a:r>
            <a:r>
              <a:rPr i="1" lang="en">
                <a:solidFill>
                  <a:srgbClr val="CC0000"/>
                </a:solidFill>
              </a:rPr>
              <a:t>PWM</a:t>
            </a:r>
            <a:endParaRPr i="1">
              <a:solidFill>
                <a:srgbClr val="CC0000"/>
              </a:solidFill>
            </a:endParaRPr>
          </a:p>
        </p:txBody>
      </p:sp>
      <p:sp>
        <p:nvSpPr>
          <p:cNvPr id="124" name="Google Shape;124;p21"/>
          <p:cNvSpPr/>
          <p:nvPr/>
        </p:nvSpPr>
        <p:spPr>
          <a:xfrm>
            <a:off x="6589250" y="3586925"/>
            <a:ext cx="2378100" cy="1835400"/>
          </a:xfrm>
          <a:prstGeom prst="rect">
            <a:avLst/>
          </a:prstGeom>
          <a:noFill/>
          <a:ln cap="flat" cmpd="sng" w="1905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21"/>
          <p:cNvSpPr txBox="1"/>
          <p:nvPr/>
        </p:nvSpPr>
        <p:spPr>
          <a:xfrm>
            <a:off x="6701625" y="3645000"/>
            <a:ext cx="1476000" cy="424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i="1" lang="en">
                <a:solidFill>
                  <a:srgbClr val="CC0000"/>
                </a:solidFill>
              </a:rPr>
              <a:t>Output Mode</a:t>
            </a:r>
            <a:endParaRPr b="1" baseline="-25000" i="1">
              <a:solidFill>
                <a:srgbClr val="CC0000"/>
              </a:solidFill>
            </a:endParaRPr>
          </a:p>
        </p:txBody>
      </p:sp>
      <p:grpSp>
        <p:nvGrpSpPr>
          <p:cNvPr id="126" name="Google Shape;126;p21"/>
          <p:cNvGrpSpPr/>
          <p:nvPr/>
        </p:nvGrpSpPr>
        <p:grpSpPr>
          <a:xfrm>
            <a:off x="4829875" y="335950"/>
            <a:ext cx="3073225" cy="1521925"/>
            <a:chOff x="4829875" y="183550"/>
            <a:chExt cx="3073225" cy="1521925"/>
          </a:xfrm>
        </p:grpSpPr>
        <p:sp>
          <p:nvSpPr>
            <p:cNvPr id="127" name="Google Shape;127;p21"/>
            <p:cNvSpPr/>
            <p:nvPr/>
          </p:nvSpPr>
          <p:spPr>
            <a:xfrm>
              <a:off x="4829875" y="805900"/>
              <a:ext cx="3073225" cy="408750"/>
            </a:xfrm>
            <a:custGeom>
              <a:rect b="b" l="l" r="r" t="t"/>
              <a:pathLst>
                <a:path extrusionOk="0" h="16350" w="122929">
                  <a:moveTo>
                    <a:pt x="0" y="15442"/>
                  </a:moveTo>
                  <a:lnTo>
                    <a:pt x="8781" y="15442"/>
                  </a:lnTo>
                  <a:lnTo>
                    <a:pt x="8781" y="303"/>
                  </a:lnTo>
                  <a:lnTo>
                    <a:pt x="21800" y="303"/>
                  </a:lnTo>
                  <a:lnTo>
                    <a:pt x="21800" y="15442"/>
                  </a:lnTo>
                  <a:lnTo>
                    <a:pt x="81448" y="15442"/>
                  </a:lnTo>
                  <a:lnTo>
                    <a:pt x="81448" y="0"/>
                  </a:lnTo>
                  <a:lnTo>
                    <a:pt x="98404" y="0"/>
                  </a:lnTo>
                  <a:lnTo>
                    <a:pt x="98101" y="16350"/>
                  </a:lnTo>
                  <a:lnTo>
                    <a:pt x="122929" y="16350"/>
                  </a:lnTo>
                </a:path>
              </a:pathLst>
            </a:custGeom>
            <a:noFill/>
            <a:ln cap="flat" cmpd="sng" w="28575">
              <a:solidFill>
                <a:schemeClr val="dk2"/>
              </a:solidFill>
              <a:prstDash val="solid"/>
              <a:round/>
              <a:headEnd len="med" w="med" type="none"/>
              <a:tailEnd len="med" w="med" type="none"/>
            </a:ln>
          </p:spPr>
        </p:sp>
        <p:cxnSp>
          <p:nvCxnSpPr>
            <p:cNvPr id="128" name="Google Shape;128;p21"/>
            <p:cNvCxnSpPr/>
            <p:nvPr/>
          </p:nvCxnSpPr>
          <p:spPr>
            <a:xfrm>
              <a:off x="5056467" y="638895"/>
              <a:ext cx="348000" cy="0"/>
            </a:xfrm>
            <a:prstGeom prst="straightConnector1">
              <a:avLst/>
            </a:prstGeom>
            <a:noFill/>
            <a:ln cap="flat" cmpd="sng" w="19050">
              <a:solidFill>
                <a:srgbClr val="CC0000"/>
              </a:solidFill>
              <a:prstDash val="solid"/>
              <a:round/>
              <a:headEnd len="med" w="med" type="none"/>
              <a:tailEnd len="med" w="med" type="stealth"/>
            </a:ln>
          </p:spPr>
        </p:cxnSp>
        <p:cxnSp>
          <p:nvCxnSpPr>
            <p:cNvPr id="129" name="Google Shape;129;p21"/>
            <p:cNvCxnSpPr/>
            <p:nvPr/>
          </p:nvCxnSpPr>
          <p:spPr>
            <a:xfrm>
              <a:off x="5056450" y="1357475"/>
              <a:ext cx="1809000" cy="0"/>
            </a:xfrm>
            <a:prstGeom prst="straightConnector1">
              <a:avLst/>
            </a:prstGeom>
            <a:noFill/>
            <a:ln cap="flat" cmpd="sng" w="19050">
              <a:solidFill>
                <a:srgbClr val="CC0000"/>
              </a:solidFill>
              <a:prstDash val="solid"/>
              <a:round/>
              <a:headEnd len="med" w="med" type="none"/>
              <a:tailEnd len="med" w="med" type="stealth"/>
            </a:ln>
          </p:spPr>
        </p:cxnSp>
        <p:sp>
          <p:nvSpPr>
            <p:cNvPr id="130" name="Google Shape;130;p21"/>
            <p:cNvSpPr txBox="1"/>
            <p:nvPr/>
          </p:nvSpPr>
          <p:spPr>
            <a:xfrm>
              <a:off x="4835825" y="183550"/>
              <a:ext cx="789300" cy="424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i="1" lang="en">
                  <a:solidFill>
                    <a:srgbClr val="CC0000"/>
                  </a:solidFill>
                </a:rPr>
                <a:t>T</a:t>
              </a:r>
              <a:r>
                <a:rPr b="1" baseline="-25000" i="1" lang="en">
                  <a:solidFill>
                    <a:srgbClr val="CC0000"/>
                  </a:solidFill>
                </a:rPr>
                <a:t>HIGH</a:t>
              </a:r>
              <a:endParaRPr b="1" baseline="-25000" i="1">
                <a:solidFill>
                  <a:srgbClr val="CC0000"/>
                </a:solidFill>
              </a:endParaRPr>
            </a:p>
          </p:txBody>
        </p:sp>
        <p:sp>
          <p:nvSpPr>
            <p:cNvPr id="131" name="Google Shape;131;p21"/>
            <p:cNvSpPr txBox="1"/>
            <p:nvPr/>
          </p:nvSpPr>
          <p:spPr>
            <a:xfrm>
              <a:off x="5433400" y="1281275"/>
              <a:ext cx="1055100" cy="424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i="1" lang="en">
                  <a:solidFill>
                    <a:srgbClr val="CC0000"/>
                  </a:solidFill>
                </a:rPr>
                <a:t>T</a:t>
              </a:r>
              <a:r>
                <a:rPr b="1" baseline="-25000" i="1" lang="en">
                  <a:solidFill>
                    <a:srgbClr val="CC0000"/>
                  </a:solidFill>
                </a:rPr>
                <a:t>PERIOD</a:t>
              </a:r>
              <a:endParaRPr b="1" baseline="-25000" i="1">
                <a:solidFill>
                  <a:srgbClr val="CC0000"/>
                </a:solidFill>
              </a:endParaRPr>
            </a:p>
          </p:txBody>
        </p:sp>
        <p:cxnSp>
          <p:nvCxnSpPr>
            <p:cNvPr id="132" name="Google Shape;132;p21"/>
            <p:cNvCxnSpPr/>
            <p:nvPr/>
          </p:nvCxnSpPr>
          <p:spPr>
            <a:xfrm flipH="1" rot="10800000">
              <a:off x="6857492" y="661520"/>
              <a:ext cx="454800" cy="600"/>
            </a:xfrm>
            <a:prstGeom prst="straightConnector1">
              <a:avLst/>
            </a:prstGeom>
            <a:noFill/>
            <a:ln cap="flat" cmpd="sng" w="19050">
              <a:solidFill>
                <a:srgbClr val="CC0000"/>
              </a:solidFill>
              <a:prstDash val="solid"/>
              <a:round/>
              <a:headEnd len="med" w="med" type="none"/>
              <a:tailEnd len="med" w="med" type="stealth"/>
            </a:ln>
          </p:spPr>
        </p:cxnSp>
        <p:sp>
          <p:nvSpPr>
            <p:cNvPr id="133" name="Google Shape;133;p21"/>
            <p:cNvSpPr txBox="1"/>
            <p:nvPr/>
          </p:nvSpPr>
          <p:spPr>
            <a:xfrm>
              <a:off x="6636850" y="206775"/>
              <a:ext cx="789300" cy="424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i="1" lang="en">
                  <a:solidFill>
                    <a:srgbClr val="CC0000"/>
                  </a:solidFill>
                </a:rPr>
                <a:t>T</a:t>
              </a:r>
              <a:r>
                <a:rPr b="1" baseline="-25000" i="1" lang="en">
                  <a:solidFill>
                    <a:srgbClr val="CC0000"/>
                  </a:solidFill>
                </a:rPr>
                <a:t>HIGH</a:t>
              </a:r>
              <a:endParaRPr b="1" baseline="-25000" i="1">
                <a:solidFill>
                  <a:srgbClr val="CC0000"/>
                </a:solidFill>
              </a:endParaRPr>
            </a:p>
          </p:txBody>
        </p:sp>
      </p:grpSp>
      <p:sp>
        <p:nvSpPr>
          <p:cNvPr id="134" name="Google Shape;134;p21"/>
          <p:cNvSpPr txBox="1"/>
          <p:nvPr/>
        </p:nvSpPr>
        <p:spPr>
          <a:xfrm>
            <a:off x="675175" y="1196675"/>
            <a:ext cx="2535900" cy="508800"/>
          </a:xfrm>
          <a:prstGeom prst="rect">
            <a:avLst/>
          </a:prstGeom>
          <a:noFill/>
          <a:ln cap="flat" cmpd="sng" w="19050">
            <a:solidFill>
              <a:srgbClr val="CC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CC0000"/>
                </a:solidFill>
              </a:rPr>
              <a:t>V</a:t>
            </a:r>
            <a:r>
              <a:rPr baseline="-25000" lang="en" sz="1600">
                <a:solidFill>
                  <a:srgbClr val="CC0000"/>
                </a:solidFill>
              </a:rPr>
              <a:t>avg</a:t>
            </a:r>
            <a:r>
              <a:rPr lang="en" sz="1600">
                <a:solidFill>
                  <a:srgbClr val="CC0000"/>
                </a:solidFill>
              </a:rPr>
              <a:t> = V</a:t>
            </a:r>
            <a:r>
              <a:rPr baseline="-25000" lang="en" sz="1600">
                <a:solidFill>
                  <a:srgbClr val="CC0000"/>
                </a:solidFill>
              </a:rPr>
              <a:t>M</a:t>
            </a:r>
            <a:r>
              <a:rPr lang="en" sz="1600">
                <a:solidFill>
                  <a:srgbClr val="CC0000"/>
                </a:solidFill>
              </a:rPr>
              <a:t> × T</a:t>
            </a:r>
            <a:r>
              <a:rPr baseline="-25000" lang="en" sz="1600">
                <a:solidFill>
                  <a:srgbClr val="CC0000"/>
                </a:solidFill>
              </a:rPr>
              <a:t>HIGH</a:t>
            </a:r>
            <a:r>
              <a:rPr lang="en" sz="1600">
                <a:solidFill>
                  <a:srgbClr val="CC0000"/>
                </a:solidFill>
              </a:rPr>
              <a:t> / T</a:t>
            </a:r>
            <a:r>
              <a:rPr baseline="-25000" lang="en" sz="1600">
                <a:solidFill>
                  <a:srgbClr val="CC0000"/>
                </a:solidFill>
              </a:rPr>
              <a:t>PERIOD</a:t>
            </a:r>
            <a:endParaRPr baseline="-25000" sz="1600">
              <a:solidFill>
                <a:srgbClr val="CC0000"/>
              </a:solidFill>
            </a:endParaRPr>
          </a:p>
        </p:txBody>
      </p:sp>
      <p:sp>
        <p:nvSpPr>
          <p:cNvPr id="135" name="Google Shape;135;p21"/>
          <p:cNvSpPr/>
          <p:nvPr/>
        </p:nvSpPr>
        <p:spPr>
          <a:xfrm>
            <a:off x="2973050" y="4139700"/>
            <a:ext cx="1031100" cy="580500"/>
          </a:xfrm>
          <a:prstGeom prst="rect">
            <a:avLst/>
          </a:prstGeom>
          <a:solidFill>
            <a:srgbClr val="FFFFFF">
              <a:alpha val="89999"/>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6" name="Google Shape;136;p21"/>
          <p:cNvSpPr/>
          <p:nvPr/>
        </p:nvSpPr>
        <p:spPr>
          <a:xfrm>
            <a:off x="3035200" y="5070400"/>
            <a:ext cx="1031100" cy="580500"/>
          </a:xfrm>
          <a:prstGeom prst="rect">
            <a:avLst/>
          </a:prstGeom>
          <a:solidFill>
            <a:srgbClr val="FFFFFF">
              <a:alpha val="89999"/>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7" name="Google Shape;137;p21"/>
          <p:cNvSpPr/>
          <p:nvPr/>
        </p:nvSpPr>
        <p:spPr>
          <a:xfrm>
            <a:off x="808825" y="4659775"/>
            <a:ext cx="4667100" cy="473700"/>
          </a:xfrm>
          <a:prstGeom prst="rect">
            <a:avLst/>
          </a:prstGeom>
          <a:noFill/>
          <a:ln cap="flat" cmpd="sng" w="1905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21"/>
          <p:cNvSpPr/>
          <p:nvPr/>
        </p:nvSpPr>
        <p:spPr>
          <a:xfrm>
            <a:off x="2041600" y="5570925"/>
            <a:ext cx="3434400" cy="473700"/>
          </a:xfrm>
          <a:prstGeom prst="rect">
            <a:avLst/>
          </a:prstGeom>
          <a:noFill/>
          <a:ln cap="flat" cmpd="sng" w="1905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21"/>
          <p:cNvSpPr txBox="1"/>
          <p:nvPr/>
        </p:nvSpPr>
        <p:spPr>
          <a:xfrm>
            <a:off x="191750" y="5375850"/>
            <a:ext cx="1274700" cy="831300"/>
          </a:xfrm>
          <a:prstGeom prst="rect">
            <a:avLst/>
          </a:prstGeom>
          <a:noFill/>
          <a:ln cap="flat" cmpd="sng" w="19050">
            <a:solidFill>
              <a:srgbClr val="CC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CC0000"/>
                </a:solidFill>
              </a:rPr>
              <a:t>TIM14_ARR determines </a:t>
            </a:r>
            <a:r>
              <a:rPr b="1" i="1" lang="en">
                <a:solidFill>
                  <a:srgbClr val="CC0000"/>
                </a:solidFill>
              </a:rPr>
              <a:t>T</a:t>
            </a:r>
            <a:r>
              <a:rPr b="1" baseline="-25000" i="1" lang="en">
                <a:solidFill>
                  <a:srgbClr val="CC0000"/>
                </a:solidFill>
              </a:rPr>
              <a:t>PERIOD</a:t>
            </a:r>
            <a:endParaRPr>
              <a:solidFill>
                <a:srgbClr val="CC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2"/>
          <p:cNvSpPr txBox="1"/>
          <p:nvPr>
            <p:ph type="title"/>
          </p:nvPr>
        </p:nvSpPr>
        <p:spPr>
          <a:xfrm>
            <a:off x="533400" y="457200"/>
            <a:ext cx="7543800" cy="381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a:t>Timer 14 PWM Ch 1</a:t>
            </a:r>
            <a:endParaRPr/>
          </a:p>
        </p:txBody>
      </p:sp>
      <p:grpSp>
        <p:nvGrpSpPr>
          <p:cNvPr id="145" name="Google Shape;145;p22"/>
          <p:cNvGrpSpPr/>
          <p:nvPr/>
        </p:nvGrpSpPr>
        <p:grpSpPr>
          <a:xfrm>
            <a:off x="4829875" y="335950"/>
            <a:ext cx="3073225" cy="1521925"/>
            <a:chOff x="4829875" y="183550"/>
            <a:chExt cx="3073225" cy="1521925"/>
          </a:xfrm>
        </p:grpSpPr>
        <p:sp>
          <p:nvSpPr>
            <p:cNvPr id="146" name="Google Shape;146;p22"/>
            <p:cNvSpPr/>
            <p:nvPr/>
          </p:nvSpPr>
          <p:spPr>
            <a:xfrm>
              <a:off x="4829875" y="805900"/>
              <a:ext cx="3073225" cy="408750"/>
            </a:xfrm>
            <a:custGeom>
              <a:rect b="b" l="l" r="r" t="t"/>
              <a:pathLst>
                <a:path extrusionOk="0" h="16350" w="122929">
                  <a:moveTo>
                    <a:pt x="0" y="15442"/>
                  </a:moveTo>
                  <a:lnTo>
                    <a:pt x="8781" y="15442"/>
                  </a:lnTo>
                  <a:lnTo>
                    <a:pt x="8781" y="303"/>
                  </a:lnTo>
                  <a:lnTo>
                    <a:pt x="21800" y="303"/>
                  </a:lnTo>
                  <a:lnTo>
                    <a:pt x="21800" y="15442"/>
                  </a:lnTo>
                  <a:lnTo>
                    <a:pt x="81448" y="15442"/>
                  </a:lnTo>
                  <a:lnTo>
                    <a:pt x="81448" y="0"/>
                  </a:lnTo>
                  <a:lnTo>
                    <a:pt x="98404" y="0"/>
                  </a:lnTo>
                  <a:lnTo>
                    <a:pt x="98101" y="16350"/>
                  </a:lnTo>
                  <a:lnTo>
                    <a:pt x="122929" y="16350"/>
                  </a:lnTo>
                </a:path>
              </a:pathLst>
            </a:custGeom>
            <a:noFill/>
            <a:ln cap="flat" cmpd="sng" w="28575">
              <a:solidFill>
                <a:schemeClr val="dk2"/>
              </a:solidFill>
              <a:prstDash val="solid"/>
              <a:round/>
              <a:headEnd len="med" w="med" type="none"/>
              <a:tailEnd len="med" w="med" type="none"/>
            </a:ln>
          </p:spPr>
        </p:sp>
        <p:cxnSp>
          <p:nvCxnSpPr>
            <p:cNvPr id="147" name="Google Shape;147;p22"/>
            <p:cNvCxnSpPr/>
            <p:nvPr/>
          </p:nvCxnSpPr>
          <p:spPr>
            <a:xfrm>
              <a:off x="5056467" y="638895"/>
              <a:ext cx="348000" cy="0"/>
            </a:xfrm>
            <a:prstGeom prst="straightConnector1">
              <a:avLst/>
            </a:prstGeom>
            <a:noFill/>
            <a:ln cap="flat" cmpd="sng" w="19050">
              <a:solidFill>
                <a:srgbClr val="CC0000"/>
              </a:solidFill>
              <a:prstDash val="solid"/>
              <a:round/>
              <a:headEnd len="med" w="med" type="none"/>
              <a:tailEnd len="med" w="med" type="stealth"/>
            </a:ln>
          </p:spPr>
        </p:cxnSp>
        <p:cxnSp>
          <p:nvCxnSpPr>
            <p:cNvPr id="148" name="Google Shape;148;p22"/>
            <p:cNvCxnSpPr/>
            <p:nvPr/>
          </p:nvCxnSpPr>
          <p:spPr>
            <a:xfrm>
              <a:off x="5056450" y="1357475"/>
              <a:ext cx="1809000" cy="0"/>
            </a:xfrm>
            <a:prstGeom prst="straightConnector1">
              <a:avLst/>
            </a:prstGeom>
            <a:noFill/>
            <a:ln cap="flat" cmpd="sng" w="19050">
              <a:solidFill>
                <a:srgbClr val="CC0000"/>
              </a:solidFill>
              <a:prstDash val="solid"/>
              <a:round/>
              <a:headEnd len="med" w="med" type="none"/>
              <a:tailEnd len="med" w="med" type="stealth"/>
            </a:ln>
          </p:spPr>
        </p:cxnSp>
        <p:sp>
          <p:nvSpPr>
            <p:cNvPr id="149" name="Google Shape;149;p22"/>
            <p:cNvSpPr txBox="1"/>
            <p:nvPr/>
          </p:nvSpPr>
          <p:spPr>
            <a:xfrm>
              <a:off x="4835825" y="183550"/>
              <a:ext cx="789300" cy="424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i="1" lang="en">
                  <a:solidFill>
                    <a:srgbClr val="CC0000"/>
                  </a:solidFill>
                </a:rPr>
                <a:t>T</a:t>
              </a:r>
              <a:r>
                <a:rPr b="1" baseline="-25000" i="1" lang="en">
                  <a:solidFill>
                    <a:srgbClr val="CC0000"/>
                  </a:solidFill>
                </a:rPr>
                <a:t>HIGH</a:t>
              </a:r>
              <a:endParaRPr b="1" baseline="-25000" i="1">
                <a:solidFill>
                  <a:srgbClr val="CC0000"/>
                </a:solidFill>
              </a:endParaRPr>
            </a:p>
          </p:txBody>
        </p:sp>
        <p:sp>
          <p:nvSpPr>
            <p:cNvPr id="150" name="Google Shape;150;p22"/>
            <p:cNvSpPr txBox="1"/>
            <p:nvPr/>
          </p:nvSpPr>
          <p:spPr>
            <a:xfrm>
              <a:off x="5433400" y="1281275"/>
              <a:ext cx="1055100" cy="424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i="1" lang="en">
                  <a:solidFill>
                    <a:srgbClr val="CC0000"/>
                  </a:solidFill>
                </a:rPr>
                <a:t>T</a:t>
              </a:r>
              <a:r>
                <a:rPr b="1" baseline="-25000" i="1" lang="en">
                  <a:solidFill>
                    <a:srgbClr val="CC0000"/>
                  </a:solidFill>
                </a:rPr>
                <a:t>PERIOD</a:t>
              </a:r>
              <a:endParaRPr b="1" baseline="-25000" i="1">
                <a:solidFill>
                  <a:srgbClr val="CC0000"/>
                </a:solidFill>
              </a:endParaRPr>
            </a:p>
          </p:txBody>
        </p:sp>
        <p:cxnSp>
          <p:nvCxnSpPr>
            <p:cNvPr id="151" name="Google Shape;151;p22"/>
            <p:cNvCxnSpPr/>
            <p:nvPr/>
          </p:nvCxnSpPr>
          <p:spPr>
            <a:xfrm flipH="1" rot="10800000">
              <a:off x="6857492" y="661520"/>
              <a:ext cx="454800" cy="600"/>
            </a:xfrm>
            <a:prstGeom prst="straightConnector1">
              <a:avLst/>
            </a:prstGeom>
            <a:noFill/>
            <a:ln cap="flat" cmpd="sng" w="19050">
              <a:solidFill>
                <a:srgbClr val="CC0000"/>
              </a:solidFill>
              <a:prstDash val="solid"/>
              <a:round/>
              <a:headEnd len="med" w="med" type="none"/>
              <a:tailEnd len="med" w="med" type="stealth"/>
            </a:ln>
          </p:spPr>
        </p:cxnSp>
        <p:sp>
          <p:nvSpPr>
            <p:cNvPr id="152" name="Google Shape;152;p22"/>
            <p:cNvSpPr txBox="1"/>
            <p:nvPr/>
          </p:nvSpPr>
          <p:spPr>
            <a:xfrm>
              <a:off x="6636850" y="206775"/>
              <a:ext cx="789300" cy="424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i="1" lang="en">
                  <a:solidFill>
                    <a:srgbClr val="CC0000"/>
                  </a:solidFill>
                </a:rPr>
                <a:t>T</a:t>
              </a:r>
              <a:r>
                <a:rPr b="1" baseline="-25000" i="1" lang="en">
                  <a:solidFill>
                    <a:srgbClr val="CC0000"/>
                  </a:solidFill>
                </a:rPr>
                <a:t>HIGH</a:t>
              </a:r>
              <a:endParaRPr b="1" baseline="-25000" i="1">
                <a:solidFill>
                  <a:srgbClr val="CC0000"/>
                </a:solidFill>
              </a:endParaRPr>
            </a:p>
          </p:txBody>
        </p:sp>
      </p:grpSp>
      <p:sp>
        <p:nvSpPr>
          <p:cNvPr id="153" name="Google Shape;153;p22"/>
          <p:cNvSpPr txBox="1"/>
          <p:nvPr/>
        </p:nvSpPr>
        <p:spPr>
          <a:xfrm>
            <a:off x="675175" y="1196675"/>
            <a:ext cx="2535900" cy="508800"/>
          </a:xfrm>
          <a:prstGeom prst="rect">
            <a:avLst/>
          </a:prstGeom>
          <a:noFill/>
          <a:ln cap="flat" cmpd="sng" w="19050">
            <a:solidFill>
              <a:srgbClr val="CC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CC0000"/>
                </a:solidFill>
              </a:rPr>
              <a:t>V</a:t>
            </a:r>
            <a:r>
              <a:rPr baseline="-25000" lang="en" sz="1600">
                <a:solidFill>
                  <a:srgbClr val="CC0000"/>
                </a:solidFill>
              </a:rPr>
              <a:t>avg</a:t>
            </a:r>
            <a:r>
              <a:rPr lang="en" sz="1600">
                <a:solidFill>
                  <a:srgbClr val="CC0000"/>
                </a:solidFill>
              </a:rPr>
              <a:t> = V</a:t>
            </a:r>
            <a:r>
              <a:rPr baseline="-25000" lang="en" sz="1600">
                <a:solidFill>
                  <a:srgbClr val="CC0000"/>
                </a:solidFill>
              </a:rPr>
              <a:t>M</a:t>
            </a:r>
            <a:r>
              <a:rPr lang="en" sz="1600">
                <a:solidFill>
                  <a:srgbClr val="CC0000"/>
                </a:solidFill>
              </a:rPr>
              <a:t> × T</a:t>
            </a:r>
            <a:r>
              <a:rPr baseline="-25000" lang="en" sz="1600">
                <a:solidFill>
                  <a:srgbClr val="CC0000"/>
                </a:solidFill>
              </a:rPr>
              <a:t>HIGH</a:t>
            </a:r>
            <a:r>
              <a:rPr lang="en" sz="1600">
                <a:solidFill>
                  <a:srgbClr val="CC0000"/>
                </a:solidFill>
              </a:rPr>
              <a:t> / T</a:t>
            </a:r>
            <a:r>
              <a:rPr baseline="-25000" lang="en" sz="1600">
                <a:solidFill>
                  <a:srgbClr val="CC0000"/>
                </a:solidFill>
              </a:rPr>
              <a:t>PERIOD</a:t>
            </a:r>
            <a:endParaRPr baseline="-25000" sz="1600">
              <a:solidFill>
                <a:srgbClr val="CC0000"/>
              </a:solidFill>
            </a:endParaRPr>
          </a:p>
        </p:txBody>
      </p:sp>
      <p:pic>
        <p:nvPicPr>
          <p:cNvPr id="154" name="Google Shape;154;p22"/>
          <p:cNvPicPr preferRelativeResize="0"/>
          <p:nvPr/>
        </p:nvPicPr>
        <p:blipFill>
          <a:blip r:embed="rId3">
            <a:alphaModFix/>
          </a:blip>
          <a:stretch>
            <a:fillRect/>
          </a:stretch>
        </p:blipFill>
        <p:spPr>
          <a:xfrm>
            <a:off x="0" y="2114508"/>
            <a:ext cx="9144000" cy="3898042"/>
          </a:xfrm>
          <a:prstGeom prst="rect">
            <a:avLst/>
          </a:prstGeom>
          <a:noFill/>
          <a:ln>
            <a:noFill/>
          </a:ln>
        </p:spPr>
      </p:pic>
      <p:sp>
        <p:nvSpPr>
          <p:cNvPr id="155" name="Google Shape;155;p22"/>
          <p:cNvSpPr/>
          <p:nvPr/>
        </p:nvSpPr>
        <p:spPr>
          <a:xfrm>
            <a:off x="4602075" y="4610050"/>
            <a:ext cx="1009800" cy="1198800"/>
          </a:xfrm>
          <a:prstGeom prst="rect">
            <a:avLst/>
          </a:prstGeom>
          <a:noFill/>
          <a:ln cap="flat" cmpd="sng" w="1905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22"/>
          <p:cNvSpPr txBox="1"/>
          <p:nvPr/>
        </p:nvSpPr>
        <p:spPr>
          <a:xfrm>
            <a:off x="4631625" y="5159425"/>
            <a:ext cx="950700" cy="50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CC0000"/>
                </a:solidFill>
              </a:rPr>
              <a:t>Output enable</a:t>
            </a:r>
            <a:endParaRPr i="1">
              <a:solidFill>
                <a:srgbClr val="CC0000"/>
              </a:solidFill>
            </a:endParaRPr>
          </a:p>
        </p:txBody>
      </p:sp>
      <p:sp>
        <p:nvSpPr>
          <p:cNvPr id="157" name="Google Shape;157;p22"/>
          <p:cNvSpPr/>
          <p:nvPr/>
        </p:nvSpPr>
        <p:spPr>
          <a:xfrm>
            <a:off x="259425" y="3303625"/>
            <a:ext cx="1455000" cy="1138800"/>
          </a:xfrm>
          <a:prstGeom prst="rect">
            <a:avLst/>
          </a:prstGeom>
          <a:noFill/>
          <a:ln cap="flat" cmpd="sng" w="1905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22"/>
          <p:cNvSpPr txBox="1"/>
          <p:nvPr/>
        </p:nvSpPr>
        <p:spPr>
          <a:xfrm>
            <a:off x="203025" y="3303625"/>
            <a:ext cx="17823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CC0000"/>
                </a:solidFill>
              </a:rPr>
              <a:t>From previous pg</a:t>
            </a:r>
            <a:endParaRPr i="1">
              <a:solidFill>
                <a:srgbClr val="CC0000"/>
              </a:solidFill>
            </a:endParaRPr>
          </a:p>
        </p:txBody>
      </p:sp>
      <p:sp>
        <p:nvSpPr>
          <p:cNvPr id="159" name="Google Shape;159;p22"/>
          <p:cNvSpPr/>
          <p:nvPr/>
        </p:nvSpPr>
        <p:spPr>
          <a:xfrm>
            <a:off x="7670325" y="3572325"/>
            <a:ext cx="1319400" cy="757800"/>
          </a:xfrm>
          <a:prstGeom prst="rect">
            <a:avLst/>
          </a:prstGeom>
          <a:noFill/>
          <a:ln cap="flat" cmpd="sng" w="1905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22"/>
          <p:cNvSpPr txBox="1"/>
          <p:nvPr/>
        </p:nvSpPr>
        <p:spPr>
          <a:xfrm>
            <a:off x="8392025" y="3760725"/>
            <a:ext cx="9186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CC0000"/>
                </a:solidFill>
              </a:rPr>
              <a:t>PWM</a:t>
            </a:r>
            <a:endParaRPr i="1">
              <a:solidFill>
                <a:srgbClr val="CC00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3"/>
          <p:cNvSpPr txBox="1"/>
          <p:nvPr>
            <p:ph type="title"/>
          </p:nvPr>
        </p:nvSpPr>
        <p:spPr>
          <a:xfrm>
            <a:off x="172450" y="163925"/>
            <a:ext cx="7543800" cy="381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a:t>Example code: TTmotor_ramp.c</a:t>
            </a:r>
            <a:endParaRPr/>
          </a:p>
        </p:txBody>
      </p:sp>
      <p:sp>
        <p:nvSpPr>
          <p:cNvPr id="166" name="Google Shape;166;p23"/>
          <p:cNvSpPr txBox="1"/>
          <p:nvPr>
            <p:ph idx="1" type="body"/>
          </p:nvPr>
        </p:nvSpPr>
        <p:spPr>
          <a:xfrm>
            <a:off x="172450" y="661500"/>
            <a:ext cx="8747400" cy="2361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 sz="1400"/>
              <a:t>These are the core PWM functions.  Everything else is creating the ramp signal and managing the direction bits.  Consult the reference manual, section </a:t>
            </a:r>
            <a:r>
              <a:rPr lang="en" sz="1400">
                <a:solidFill>
                  <a:schemeClr val="dk1"/>
                </a:solidFill>
              </a:rPr>
              <a:t>17.3.8 (PWM mode)</a:t>
            </a:r>
            <a:r>
              <a:rPr lang="en" sz="1400">
                <a:solidFill>
                  <a:schemeClr val="dk1"/>
                </a:solidFill>
              </a:rPr>
              <a:t>, 17.4 (TIM14 registers)</a:t>
            </a:r>
            <a:r>
              <a:rPr i="1" lang="en" sz="1400">
                <a:solidFill>
                  <a:schemeClr val="dk1"/>
                </a:solidFill>
              </a:rPr>
              <a:t>, </a:t>
            </a:r>
            <a:r>
              <a:rPr lang="en" sz="1400"/>
              <a:t>for details.</a:t>
            </a:r>
            <a:endParaRPr sz="1400"/>
          </a:p>
          <a:p>
            <a:pPr indent="0" lvl="0" marL="0" rtl="0" algn="l">
              <a:spcBef>
                <a:spcPts val="0"/>
              </a:spcBef>
              <a:spcAft>
                <a:spcPts val="0"/>
              </a:spcAft>
              <a:buNone/>
            </a:pPr>
            <a:r>
              <a:t/>
            </a:r>
            <a:endParaRPr sz="1200">
              <a:latin typeface="Courier New"/>
              <a:ea typeface="Courier New"/>
              <a:cs typeface="Courier New"/>
              <a:sym typeface="Courier New"/>
            </a:endParaRPr>
          </a:p>
        </p:txBody>
      </p:sp>
      <p:sp>
        <p:nvSpPr>
          <p:cNvPr id="167" name="Google Shape;167;p23"/>
          <p:cNvSpPr txBox="1"/>
          <p:nvPr/>
        </p:nvSpPr>
        <p:spPr>
          <a:xfrm>
            <a:off x="91125" y="1401600"/>
            <a:ext cx="4209600" cy="3481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200">
                <a:solidFill>
                  <a:schemeClr val="dk2"/>
                </a:solidFill>
                <a:latin typeface="Courier New"/>
                <a:ea typeface="Courier New"/>
                <a:cs typeface="Courier New"/>
                <a:sym typeface="Courier New"/>
              </a:rPr>
              <a:t>#define PSC_FACTOR	6 // 12 MHz / 6 = 2 MHz</a:t>
            </a:r>
            <a:endParaRPr b="1" sz="1200">
              <a:solidFill>
                <a:schemeClr val="dk2"/>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1200">
                <a:solidFill>
                  <a:schemeClr val="dk2"/>
                </a:solidFill>
                <a:latin typeface="Courier New"/>
                <a:ea typeface="Courier New"/>
                <a:cs typeface="Courier New"/>
                <a:sym typeface="Courier New"/>
              </a:rPr>
              <a:t>#define PWM_TIMER_MAX 1250 // 2/1250=1.6kHz</a:t>
            </a:r>
            <a:endParaRPr b="1" sz="1200">
              <a:solidFill>
                <a:schemeClr val="dk2"/>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2"/>
                </a:solidFill>
                <a:latin typeface="Courier New"/>
                <a:ea typeface="Courier New"/>
                <a:cs typeface="Courier New"/>
                <a:sym typeface="Courier New"/>
              </a:rPr>
              <a:t>v</a:t>
            </a:r>
            <a:r>
              <a:rPr b="1" lang="en" sz="1200">
                <a:solidFill>
                  <a:schemeClr val="dk2"/>
                </a:solidFill>
                <a:latin typeface="Courier New"/>
                <a:ea typeface="Courier New"/>
                <a:cs typeface="Courier New"/>
                <a:sym typeface="Courier New"/>
              </a:rPr>
              <a:t>oid tim14_pa7_pwm_init(void) {</a:t>
            </a:r>
            <a:endParaRPr b="1" sz="1200">
              <a:solidFill>
                <a:schemeClr val="dk2"/>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1200">
                <a:solidFill>
                  <a:schemeClr val="dk2"/>
                </a:solidFill>
                <a:latin typeface="Courier New"/>
                <a:ea typeface="Courier New"/>
                <a:cs typeface="Courier New"/>
                <a:sym typeface="Courier New"/>
              </a:rPr>
              <a:t>	</a:t>
            </a:r>
            <a:r>
              <a:rPr b="1" lang="en" sz="1200">
                <a:solidFill>
                  <a:srgbClr val="0000FF"/>
                </a:solidFill>
                <a:latin typeface="Courier New"/>
                <a:ea typeface="Courier New"/>
                <a:cs typeface="Courier New"/>
                <a:sym typeface="Courier New"/>
              </a:rPr>
              <a:t>// GPIO pin configuration</a:t>
            </a:r>
            <a:endParaRPr b="1" sz="1200">
              <a:solidFill>
                <a:srgbClr val="0000FF"/>
              </a:solidFill>
              <a:latin typeface="Courier New"/>
              <a:ea typeface="Courier New"/>
              <a:cs typeface="Courier New"/>
              <a:sym typeface="Courier New"/>
            </a:endParaRPr>
          </a:p>
          <a:p>
            <a:pPr indent="457200" lvl="0" marL="0" rtl="0" algn="l">
              <a:lnSpc>
                <a:spcPct val="115000"/>
              </a:lnSpc>
              <a:spcBef>
                <a:spcPts val="0"/>
              </a:spcBef>
              <a:spcAft>
                <a:spcPts val="0"/>
              </a:spcAft>
              <a:buClr>
                <a:schemeClr val="dk1"/>
              </a:buClr>
              <a:buSzPts val="1100"/>
              <a:buFont typeface="Arial"/>
              <a:buNone/>
            </a:pPr>
            <a:r>
              <a:rPr b="1" lang="en" sz="1200">
                <a:solidFill>
                  <a:schemeClr val="dk2"/>
                </a:solidFill>
                <a:latin typeface="Courier New"/>
                <a:ea typeface="Courier New"/>
                <a:cs typeface="Courier New"/>
                <a:sym typeface="Courier New"/>
              </a:rPr>
              <a:t>// Enable clock access to GPIOA</a:t>
            </a:r>
            <a:endParaRPr b="1" sz="1200">
              <a:solidFill>
                <a:schemeClr val="dk2"/>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2"/>
                </a:solidFill>
                <a:latin typeface="Courier New"/>
                <a:ea typeface="Courier New"/>
                <a:cs typeface="Courier New"/>
                <a:sym typeface="Courier New"/>
              </a:rPr>
              <a:t>	RCC-&gt;IOPENR |=  RCC_IOPENR_GPIOAEN;</a:t>
            </a:r>
            <a:endParaRPr b="1" sz="1200">
              <a:solidFill>
                <a:schemeClr val="dk2"/>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t/>
            </a:r>
            <a:endParaRPr b="1" sz="1200">
              <a:solidFill>
                <a:schemeClr val="dk2"/>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2"/>
                </a:solidFill>
                <a:latin typeface="Courier New"/>
                <a:ea typeface="Courier New"/>
                <a:cs typeface="Courier New"/>
                <a:sym typeface="Courier New"/>
              </a:rPr>
              <a:t>	// PA7 alternate function mode (10)</a:t>
            </a:r>
            <a:endParaRPr b="1" sz="1200">
              <a:solidFill>
                <a:schemeClr val="dk2"/>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2"/>
                </a:solidFill>
                <a:latin typeface="Courier New"/>
                <a:ea typeface="Courier New"/>
                <a:cs typeface="Courier New"/>
                <a:sym typeface="Courier New"/>
              </a:rPr>
              <a:t>	GPIOA-&gt;MODER &amp;= ~GPIO_MODER_MODE7_Msk;</a:t>
            </a:r>
            <a:endParaRPr b="1" sz="1200">
              <a:solidFill>
                <a:schemeClr val="dk2"/>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2"/>
                </a:solidFill>
                <a:latin typeface="Courier New"/>
                <a:ea typeface="Courier New"/>
                <a:cs typeface="Courier New"/>
                <a:sym typeface="Courier New"/>
              </a:rPr>
              <a:t>	GPIOA-&gt;MODER |= GPIO_ALTERNATE &lt;&lt; </a:t>
            </a:r>
            <a:endParaRPr b="1" sz="1200">
              <a:solidFill>
                <a:schemeClr val="dk2"/>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2"/>
                </a:solidFill>
                <a:latin typeface="Courier New"/>
                <a:ea typeface="Courier New"/>
                <a:cs typeface="Courier New"/>
                <a:sym typeface="Courier New"/>
              </a:rPr>
              <a:t>                     GPIO_MODER_MODE7_Pos;</a:t>
            </a:r>
            <a:endParaRPr b="1" sz="1200">
              <a:solidFill>
                <a:schemeClr val="dk2"/>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t/>
            </a:r>
            <a:endParaRPr b="1" sz="1200">
              <a:solidFill>
                <a:schemeClr val="dk2"/>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2"/>
                </a:solidFill>
                <a:latin typeface="Courier New"/>
                <a:ea typeface="Courier New"/>
                <a:cs typeface="Courier New"/>
                <a:sym typeface="Courier New"/>
              </a:rPr>
              <a:t>	// PA7 alt. function type (AF4, 0100)</a:t>
            </a:r>
            <a:endParaRPr b="1" sz="1200">
              <a:solidFill>
                <a:schemeClr val="dk2"/>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2"/>
                </a:solidFill>
                <a:latin typeface="Courier New"/>
                <a:ea typeface="Courier New"/>
                <a:cs typeface="Courier New"/>
                <a:sym typeface="Courier New"/>
              </a:rPr>
              <a:t>	GPIOA-&gt;AFR[0] &amp;= ~GPIO_AFRL_AFSEL7_Msk;</a:t>
            </a:r>
            <a:endParaRPr b="1" sz="1200">
              <a:solidFill>
                <a:schemeClr val="dk2"/>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2"/>
                </a:solidFill>
                <a:latin typeface="Courier New"/>
                <a:ea typeface="Courier New"/>
                <a:cs typeface="Courier New"/>
                <a:sym typeface="Courier New"/>
              </a:rPr>
              <a:t>	GPIOA-&gt;AFR[0] |= GPIO_AF4 &lt;&lt; </a:t>
            </a:r>
            <a:endParaRPr b="1" sz="1200">
              <a:solidFill>
                <a:schemeClr val="dk2"/>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2"/>
                </a:solidFill>
                <a:latin typeface="Courier New"/>
                <a:ea typeface="Courier New"/>
                <a:cs typeface="Courier New"/>
                <a:sym typeface="Courier New"/>
              </a:rPr>
              <a:t>                      GPIO_AFRL_AFSEL7_Pos;</a:t>
            </a:r>
            <a:endParaRPr b="1" sz="1200">
              <a:solidFill>
                <a:schemeClr val="dk2"/>
              </a:solidFill>
              <a:latin typeface="Courier New"/>
              <a:ea typeface="Courier New"/>
              <a:cs typeface="Courier New"/>
              <a:sym typeface="Courier New"/>
            </a:endParaRPr>
          </a:p>
        </p:txBody>
      </p:sp>
      <p:sp>
        <p:nvSpPr>
          <p:cNvPr id="168" name="Google Shape;168;p23"/>
          <p:cNvSpPr txBox="1"/>
          <p:nvPr/>
        </p:nvSpPr>
        <p:spPr>
          <a:xfrm>
            <a:off x="4300725" y="1248000"/>
            <a:ext cx="4887000" cy="561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200">
                <a:solidFill>
                  <a:schemeClr val="dk2"/>
                </a:solidFill>
                <a:latin typeface="Courier New"/>
                <a:ea typeface="Courier New"/>
                <a:cs typeface="Courier New"/>
                <a:sym typeface="Courier New"/>
              </a:rPr>
              <a:t>// </a:t>
            </a:r>
            <a:r>
              <a:rPr b="1" lang="en" sz="1200">
                <a:solidFill>
                  <a:schemeClr val="dk2"/>
                </a:solidFill>
                <a:latin typeface="Courier New"/>
                <a:ea typeface="Courier New"/>
                <a:cs typeface="Courier New"/>
                <a:sym typeface="Courier New"/>
              </a:rPr>
              <a:t>tim14_pa7_pwm_init, continued:</a:t>
            </a:r>
            <a:endParaRPr b="1" sz="1200">
              <a:solidFill>
                <a:srgbClr val="0000FF"/>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1200">
                <a:solidFill>
                  <a:srgbClr val="0000FF"/>
                </a:solidFill>
                <a:latin typeface="Courier New"/>
                <a:ea typeface="Courier New"/>
                <a:cs typeface="Courier New"/>
                <a:sym typeface="Courier New"/>
              </a:rPr>
              <a:t>// Timer configuration</a:t>
            </a:r>
            <a:endParaRPr b="1" sz="1200">
              <a:solidFill>
                <a:srgbClr val="0000FF"/>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1200">
                <a:solidFill>
                  <a:schemeClr val="dk2"/>
                </a:solidFill>
                <a:latin typeface="Courier New"/>
                <a:ea typeface="Courier New"/>
                <a:cs typeface="Courier New"/>
                <a:sym typeface="Courier New"/>
              </a:rPr>
              <a:t>// Clock access, prescaler, autoreload</a:t>
            </a:r>
            <a:endParaRPr b="1" sz="1200">
              <a:solidFill>
                <a:schemeClr val="dk2"/>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1200">
                <a:solidFill>
                  <a:schemeClr val="dk2"/>
                </a:solidFill>
                <a:latin typeface="Courier New"/>
                <a:ea typeface="Courier New"/>
                <a:cs typeface="Courier New"/>
                <a:sym typeface="Courier New"/>
              </a:rPr>
              <a:t>RCC-&gt;APBENR2 |= RCC_APBENR2_TIM14EN;</a:t>
            </a:r>
            <a:endParaRPr b="1" sz="1200">
              <a:solidFill>
                <a:schemeClr val="dk2"/>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1200">
                <a:solidFill>
                  <a:srgbClr val="CC0000"/>
                </a:solidFill>
                <a:latin typeface="Courier New"/>
                <a:ea typeface="Courier New"/>
                <a:cs typeface="Courier New"/>
                <a:sym typeface="Courier New"/>
              </a:rPr>
              <a:t>TIM14-&gt;PSC</a:t>
            </a:r>
            <a:r>
              <a:rPr b="1" lang="en" sz="1200">
                <a:solidFill>
                  <a:schemeClr val="dk2"/>
                </a:solidFill>
                <a:latin typeface="Courier New"/>
                <a:ea typeface="Courier New"/>
                <a:cs typeface="Courier New"/>
                <a:sym typeface="Courier New"/>
              </a:rPr>
              <a:t> = PSC_FACTOR-1;</a:t>
            </a:r>
            <a:endParaRPr b="1" sz="1200">
              <a:solidFill>
                <a:schemeClr val="dk2"/>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1200">
                <a:solidFill>
                  <a:srgbClr val="CC0000"/>
                </a:solidFill>
                <a:latin typeface="Courier New"/>
                <a:ea typeface="Courier New"/>
                <a:cs typeface="Courier New"/>
                <a:sym typeface="Courier New"/>
              </a:rPr>
              <a:t>TIM14-&gt;ARR</a:t>
            </a:r>
            <a:r>
              <a:rPr b="1" lang="en" sz="1200">
                <a:solidFill>
                  <a:schemeClr val="dk2"/>
                </a:solidFill>
                <a:latin typeface="Courier New"/>
                <a:ea typeface="Courier New"/>
                <a:cs typeface="Courier New"/>
                <a:sym typeface="Courier New"/>
              </a:rPr>
              <a:t> = PWM_TIMER_MAX-1;</a:t>
            </a:r>
            <a:endParaRPr b="1" sz="1200">
              <a:solidFill>
                <a:schemeClr val="dk2"/>
              </a:solidFill>
              <a:latin typeface="Courier New"/>
              <a:ea typeface="Courier New"/>
              <a:cs typeface="Courier New"/>
              <a:sym typeface="Courier New"/>
            </a:endParaRPr>
          </a:p>
          <a:p>
            <a:pPr indent="0" lvl="0" marL="0" rtl="0" algn="l">
              <a:lnSpc>
                <a:spcPct val="115000"/>
              </a:lnSpc>
              <a:spcBef>
                <a:spcPts val="0"/>
              </a:spcBef>
              <a:spcAft>
                <a:spcPts val="0"/>
              </a:spcAft>
              <a:buNone/>
            </a:pPr>
            <a:r>
              <a:t/>
            </a:r>
            <a:endParaRPr b="1" sz="1200">
              <a:solidFill>
                <a:schemeClr val="dk2"/>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1200">
                <a:solidFill>
                  <a:schemeClr val="dk2"/>
                </a:solidFill>
                <a:latin typeface="Courier New"/>
                <a:ea typeface="Courier New"/>
                <a:cs typeface="Courier New"/>
                <a:sym typeface="Courier New"/>
              </a:rPr>
              <a:t>// Initialize compare register value - speed of 0</a:t>
            </a:r>
            <a:endParaRPr b="1" sz="1200">
              <a:solidFill>
                <a:schemeClr val="dk2"/>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1200">
                <a:solidFill>
                  <a:srgbClr val="CC0000"/>
                </a:solidFill>
                <a:latin typeface="Courier New"/>
                <a:ea typeface="Courier New"/>
                <a:cs typeface="Courier New"/>
                <a:sym typeface="Courier New"/>
              </a:rPr>
              <a:t>TIM14-&gt;CCR1</a:t>
            </a:r>
            <a:r>
              <a:rPr b="1" lang="en" sz="1200">
                <a:solidFill>
                  <a:schemeClr val="dk2"/>
                </a:solidFill>
                <a:latin typeface="Courier New"/>
                <a:ea typeface="Courier New"/>
                <a:cs typeface="Courier New"/>
                <a:sym typeface="Courier New"/>
              </a:rPr>
              <a:t> = 0;</a:t>
            </a:r>
            <a:endParaRPr b="1" sz="1200">
              <a:solidFill>
                <a:schemeClr val="dk2"/>
              </a:solidFill>
              <a:latin typeface="Courier New"/>
              <a:ea typeface="Courier New"/>
              <a:cs typeface="Courier New"/>
              <a:sym typeface="Courier New"/>
            </a:endParaRPr>
          </a:p>
          <a:p>
            <a:pPr indent="0" lvl="0" marL="0" rtl="0" algn="l">
              <a:lnSpc>
                <a:spcPct val="115000"/>
              </a:lnSpc>
              <a:spcBef>
                <a:spcPts val="0"/>
              </a:spcBef>
              <a:spcAft>
                <a:spcPts val="0"/>
              </a:spcAft>
              <a:buNone/>
            </a:pPr>
            <a:r>
              <a:t/>
            </a:r>
            <a:endParaRPr b="1" sz="1200">
              <a:solidFill>
                <a:schemeClr val="dk2"/>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1200">
                <a:solidFill>
                  <a:schemeClr val="dk2"/>
                </a:solidFill>
                <a:latin typeface="Courier New"/>
                <a:ea typeface="Courier New"/>
                <a:cs typeface="Courier New"/>
                <a:sym typeface="Courier New"/>
              </a:rPr>
              <a:t>// Set pwm mode 1 (0110)</a:t>
            </a:r>
            <a:endParaRPr b="1" sz="1200">
              <a:solidFill>
                <a:schemeClr val="dk2"/>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1200">
                <a:solidFill>
                  <a:srgbClr val="0000FF"/>
                </a:solidFill>
                <a:latin typeface="Courier New"/>
                <a:ea typeface="Courier New"/>
                <a:cs typeface="Courier New"/>
                <a:sym typeface="Courier New"/>
              </a:rPr>
              <a:t>TIM14-&gt;CCMR1</a:t>
            </a:r>
            <a:r>
              <a:rPr b="1" lang="en" sz="1200">
                <a:solidFill>
                  <a:schemeClr val="dk2"/>
                </a:solidFill>
                <a:latin typeface="Courier New"/>
                <a:ea typeface="Courier New"/>
                <a:cs typeface="Courier New"/>
                <a:sym typeface="Courier New"/>
              </a:rPr>
              <a:t> &amp;= </a:t>
            </a:r>
            <a:r>
              <a:rPr b="1" lang="en" sz="1200">
                <a:solidFill>
                  <a:schemeClr val="dk2"/>
                </a:solidFill>
                <a:latin typeface="Courier New"/>
                <a:ea typeface="Courier New"/>
                <a:cs typeface="Courier New"/>
                <a:sym typeface="Courier New"/>
              </a:rPr>
              <a:t>~TIM_CCMR1_OC1M_Msk;</a:t>
            </a:r>
            <a:endParaRPr b="1" sz="1200">
              <a:solidFill>
                <a:schemeClr val="dk2"/>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1200">
                <a:solidFill>
                  <a:srgbClr val="0000FF"/>
                </a:solidFill>
                <a:latin typeface="Courier New"/>
                <a:ea typeface="Courier New"/>
                <a:cs typeface="Courier New"/>
                <a:sym typeface="Courier New"/>
              </a:rPr>
              <a:t>TIM14-&gt;CCMR1</a:t>
            </a:r>
            <a:r>
              <a:rPr b="1" lang="en" sz="1200">
                <a:solidFill>
                  <a:schemeClr val="dk2"/>
                </a:solidFill>
                <a:latin typeface="Courier New"/>
                <a:ea typeface="Courier New"/>
                <a:cs typeface="Courier New"/>
                <a:sym typeface="Courier New"/>
              </a:rPr>
              <a:t> |= </a:t>
            </a:r>
            <a:r>
              <a:rPr b="1" lang="en" sz="1200">
                <a:solidFill>
                  <a:schemeClr val="dk2"/>
                </a:solidFill>
                <a:latin typeface="Courier New"/>
                <a:ea typeface="Courier New"/>
                <a:cs typeface="Courier New"/>
                <a:sym typeface="Courier New"/>
              </a:rPr>
              <a:t>TIM_OC1_PWM1&lt;&lt;TIM_CCMR1_OC1M_Pos;</a:t>
            </a:r>
            <a:endParaRPr b="1" sz="1200">
              <a:solidFill>
                <a:schemeClr val="dk2"/>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1200">
                <a:solidFill>
                  <a:schemeClr val="dk2"/>
                </a:solidFill>
                <a:latin typeface="Courier New"/>
                <a:ea typeface="Courier New"/>
                <a:cs typeface="Courier New"/>
                <a:sym typeface="Courier New"/>
              </a:rPr>
              <a:t>	</a:t>
            </a:r>
            <a:endParaRPr b="1" sz="1200">
              <a:solidFill>
                <a:schemeClr val="dk2"/>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2"/>
                </a:solidFill>
                <a:latin typeface="Courier New"/>
                <a:ea typeface="Courier New"/>
                <a:cs typeface="Courier New"/>
                <a:sym typeface="Courier New"/>
              </a:rPr>
              <a:t>// Make sure timer is in output mode	</a:t>
            </a:r>
            <a:endParaRPr b="1" sz="1200">
              <a:solidFill>
                <a:schemeClr val="dk2"/>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200">
                <a:solidFill>
                  <a:srgbClr val="0000FF"/>
                </a:solidFill>
                <a:latin typeface="Courier New"/>
                <a:ea typeface="Courier New"/>
                <a:cs typeface="Courier New"/>
                <a:sym typeface="Courier New"/>
              </a:rPr>
              <a:t>TIM14-&gt;CCMR1</a:t>
            </a:r>
            <a:r>
              <a:rPr b="1" lang="en" sz="1200">
                <a:solidFill>
                  <a:schemeClr val="dk2"/>
                </a:solidFill>
                <a:latin typeface="Courier New"/>
                <a:ea typeface="Courier New"/>
                <a:cs typeface="Courier New"/>
                <a:sym typeface="Courier New"/>
              </a:rPr>
              <a:t> &amp;= ~TIM_CCMR1_CC1S_Msk;</a:t>
            </a:r>
            <a:endParaRPr b="1" sz="1200">
              <a:solidFill>
                <a:schemeClr val="dk2"/>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200">
                <a:solidFill>
                  <a:srgbClr val="0000FF"/>
                </a:solidFill>
                <a:latin typeface="Courier New"/>
                <a:ea typeface="Courier New"/>
                <a:cs typeface="Courier New"/>
                <a:sym typeface="Courier New"/>
              </a:rPr>
              <a:t>TIM14-&gt;CCMR1</a:t>
            </a:r>
            <a:r>
              <a:rPr b="1" lang="en" sz="1200">
                <a:solidFill>
                  <a:schemeClr val="dk2"/>
                </a:solidFill>
                <a:latin typeface="Courier New"/>
                <a:ea typeface="Courier New"/>
                <a:cs typeface="Courier New"/>
                <a:sym typeface="Courier New"/>
              </a:rPr>
              <a:t> |= TIM_CC1_OUTPUT&lt;&lt;TIM_CCMR1_CC1S_Pos;</a:t>
            </a:r>
            <a:endParaRPr b="1" sz="1200">
              <a:solidFill>
                <a:schemeClr val="dk2"/>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1200">
                <a:solidFill>
                  <a:schemeClr val="dk2"/>
                </a:solidFill>
                <a:latin typeface="Courier New"/>
                <a:ea typeface="Courier New"/>
                <a:cs typeface="Courier New"/>
                <a:sym typeface="Courier New"/>
              </a:rPr>
              <a:t>// Enable TIM14_CH1 in output mode</a:t>
            </a:r>
            <a:endParaRPr b="1" sz="1200">
              <a:solidFill>
                <a:schemeClr val="dk2"/>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1200">
                <a:solidFill>
                  <a:srgbClr val="0000FF"/>
                </a:solidFill>
                <a:latin typeface="Courier New"/>
                <a:ea typeface="Courier New"/>
                <a:cs typeface="Courier New"/>
                <a:sym typeface="Courier New"/>
              </a:rPr>
              <a:t>TIM14-&gt;CCER</a:t>
            </a:r>
            <a:r>
              <a:rPr b="1" lang="en" sz="1200">
                <a:solidFill>
                  <a:schemeClr val="dk2"/>
                </a:solidFill>
                <a:latin typeface="Courier New"/>
                <a:ea typeface="Courier New"/>
                <a:cs typeface="Courier New"/>
                <a:sym typeface="Courier New"/>
              </a:rPr>
              <a:t> |= TIM_CCER_CC1E;</a:t>
            </a:r>
            <a:endParaRPr b="1" sz="1200">
              <a:solidFill>
                <a:schemeClr val="dk2"/>
              </a:solidFill>
              <a:latin typeface="Courier New"/>
              <a:ea typeface="Courier New"/>
              <a:cs typeface="Courier New"/>
              <a:sym typeface="Courier New"/>
            </a:endParaRPr>
          </a:p>
          <a:p>
            <a:pPr indent="0" lvl="0" marL="0" rtl="0" algn="l">
              <a:lnSpc>
                <a:spcPct val="115000"/>
              </a:lnSpc>
              <a:spcBef>
                <a:spcPts val="0"/>
              </a:spcBef>
              <a:spcAft>
                <a:spcPts val="0"/>
              </a:spcAft>
              <a:buNone/>
            </a:pPr>
            <a:r>
              <a:t/>
            </a:r>
            <a:endParaRPr b="1" sz="1200">
              <a:solidFill>
                <a:schemeClr val="dk2"/>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1200">
                <a:solidFill>
                  <a:schemeClr val="dk2"/>
                </a:solidFill>
                <a:latin typeface="Courier New"/>
                <a:ea typeface="Courier New"/>
                <a:cs typeface="Courier New"/>
                <a:sym typeface="Courier New"/>
              </a:rPr>
              <a:t>// Generate update event (registers, counter,..)</a:t>
            </a:r>
            <a:endParaRPr b="1" sz="1200">
              <a:solidFill>
                <a:schemeClr val="dk2"/>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1200">
                <a:solidFill>
                  <a:srgbClr val="0000FF"/>
                </a:solidFill>
                <a:latin typeface="Courier New"/>
                <a:ea typeface="Courier New"/>
                <a:cs typeface="Courier New"/>
                <a:sym typeface="Courier New"/>
              </a:rPr>
              <a:t>TIM14-&gt;EGR |= TIM_EGR_UG;</a:t>
            </a:r>
            <a:endParaRPr b="1" sz="1200">
              <a:solidFill>
                <a:srgbClr val="0000FF"/>
              </a:solidFill>
              <a:latin typeface="Courier New"/>
              <a:ea typeface="Courier New"/>
              <a:cs typeface="Courier New"/>
              <a:sym typeface="Courier New"/>
            </a:endParaRPr>
          </a:p>
          <a:p>
            <a:pPr indent="0" lvl="0" marL="0" rtl="0" algn="l">
              <a:lnSpc>
                <a:spcPct val="115000"/>
              </a:lnSpc>
              <a:spcBef>
                <a:spcPts val="0"/>
              </a:spcBef>
              <a:spcAft>
                <a:spcPts val="0"/>
              </a:spcAft>
              <a:buNone/>
            </a:pPr>
            <a:r>
              <a:t/>
            </a:r>
            <a:endParaRPr b="1" sz="1200">
              <a:solidFill>
                <a:srgbClr val="0000FF"/>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1200">
                <a:solidFill>
                  <a:schemeClr val="dk2"/>
                </a:solidFill>
                <a:latin typeface="Courier New"/>
                <a:ea typeface="Courier New"/>
                <a:cs typeface="Courier New"/>
                <a:sym typeface="Courier New"/>
              </a:rPr>
              <a:t>// Enable timer</a:t>
            </a:r>
            <a:endParaRPr b="1" sz="1200">
              <a:solidFill>
                <a:schemeClr val="dk2"/>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1200">
                <a:solidFill>
                  <a:srgbClr val="0000FF"/>
                </a:solidFill>
                <a:latin typeface="Courier New"/>
                <a:ea typeface="Courier New"/>
                <a:cs typeface="Courier New"/>
                <a:sym typeface="Courier New"/>
              </a:rPr>
              <a:t>TIM14-&gt;CR1</a:t>
            </a:r>
            <a:r>
              <a:rPr b="1" lang="en" sz="1200">
                <a:solidFill>
                  <a:schemeClr val="dk2"/>
                </a:solidFill>
                <a:latin typeface="Courier New"/>
                <a:ea typeface="Courier New"/>
                <a:cs typeface="Courier New"/>
                <a:sym typeface="Courier New"/>
              </a:rPr>
              <a:t> |= TIM_CR1_CEN;</a:t>
            </a:r>
            <a:endParaRPr b="1" sz="1200">
              <a:solidFill>
                <a:schemeClr val="dk2"/>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1200">
                <a:solidFill>
                  <a:schemeClr val="dk2"/>
                </a:solidFill>
                <a:latin typeface="Courier New"/>
                <a:ea typeface="Courier New"/>
                <a:cs typeface="Courier New"/>
                <a:sym typeface="Courier New"/>
              </a:rPr>
              <a:t>}</a:t>
            </a:r>
            <a:endParaRPr sz="1800">
              <a:solidFill>
                <a:schemeClr val="dk2"/>
              </a:solidFill>
            </a:endParaRPr>
          </a:p>
        </p:txBody>
      </p:sp>
      <p:sp>
        <p:nvSpPr>
          <p:cNvPr id="169" name="Google Shape;169;p23"/>
          <p:cNvSpPr txBox="1"/>
          <p:nvPr/>
        </p:nvSpPr>
        <p:spPr>
          <a:xfrm>
            <a:off x="136250" y="5171875"/>
            <a:ext cx="3655800" cy="1555500"/>
          </a:xfrm>
          <a:prstGeom prst="rect">
            <a:avLst/>
          </a:prstGeom>
          <a:noFill/>
          <a:ln cap="flat" cmpd="sng" w="28575">
            <a:solidFill>
              <a:srgbClr val="FF00FF"/>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200">
                <a:solidFill>
                  <a:schemeClr val="dk2"/>
                </a:solidFill>
                <a:latin typeface="Courier New"/>
                <a:ea typeface="Courier New"/>
                <a:cs typeface="Courier New"/>
                <a:sym typeface="Courier New"/>
              </a:rPr>
              <a:t>void tim14_pwm_set(uint16_t value) {</a:t>
            </a:r>
            <a:endParaRPr b="1" sz="1200">
              <a:solidFill>
                <a:schemeClr val="dk2"/>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1200">
                <a:solidFill>
                  <a:schemeClr val="dk2"/>
                </a:solidFill>
                <a:latin typeface="Courier New"/>
                <a:ea typeface="Courier New"/>
                <a:cs typeface="Courier New"/>
                <a:sym typeface="Courier New"/>
              </a:rPr>
              <a:t>	if (value&gt;PWM_TIMER_MAX-1)</a:t>
            </a:r>
            <a:endParaRPr b="1" sz="1200">
              <a:solidFill>
                <a:schemeClr val="dk2"/>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1200">
                <a:solidFill>
                  <a:schemeClr val="dk2"/>
                </a:solidFill>
                <a:latin typeface="Courier New"/>
                <a:ea typeface="Courier New"/>
                <a:cs typeface="Courier New"/>
                <a:sym typeface="Courier New"/>
              </a:rPr>
              <a:t>		value = PWM_TIMER_MAX-1;</a:t>
            </a:r>
            <a:endParaRPr b="1" sz="1200">
              <a:solidFill>
                <a:schemeClr val="dk2"/>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1200">
                <a:solidFill>
                  <a:schemeClr val="dk2"/>
                </a:solidFill>
                <a:latin typeface="Courier New"/>
                <a:ea typeface="Courier New"/>
                <a:cs typeface="Courier New"/>
                <a:sym typeface="Courier New"/>
              </a:rPr>
              <a:t>	else if (value &lt; 0)</a:t>
            </a:r>
            <a:endParaRPr b="1" sz="1200">
              <a:solidFill>
                <a:schemeClr val="dk2"/>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1200">
                <a:solidFill>
                  <a:schemeClr val="dk2"/>
                </a:solidFill>
                <a:latin typeface="Courier New"/>
                <a:ea typeface="Courier New"/>
                <a:cs typeface="Courier New"/>
                <a:sym typeface="Courier New"/>
              </a:rPr>
              <a:t>		value = 0;</a:t>
            </a:r>
            <a:endParaRPr b="1" sz="1200">
              <a:solidFill>
                <a:schemeClr val="dk2"/>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1200">
                <a:solidFill>
                  <a:schemeClr val="dk2"/>
                </a:solidFill>
                <a:latin typeface="Courier New"/>
                <a:ea typeface="Courier New"/>
                <a:cs typeface="Courier New"/>
                <a:sym typeface="Courier New"/>
              </a:rPr>
              <a:t>	</a:t>
            </a:r>
            <a:r>
              <a:rPr b="1" lang="en" sz="1200">
                <a:solidFill>
                  <a:srgbClr val="CC0000"/>
                </a:solidFill>
                <a:latin typeface="Courier New"/>
                <a:ea typeface="Courier New"/>
                <a:cs typeface="Courier New"/>
                <a:sym typeface="Courier New"/>
              </a:rPr>
              <a:t>TIM14-&gt;CCR1</a:t>
            </a:r>
            <a:r>
              <a:rPr b="1" lang="en" sz="1200">
                <a:solidFill>
                  <a:schemeClr val="dk2"/>
                </a:solidFill>
                <a:latin typeface="Courier New"/>
                <a:ea typeface="Courier New"/>
                <a:cs typeface="Courier New"/>
                <a:sym typeface="Courier New"/>
              </a:rPr>
              <a:t> = value;</a:t>
            </a:r>
            <a:endParaRPr b="1" sz="1200">
              <a:solidFill>
                <a:schemeClr val="dk2"/>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1200">
                <a:solidFill>
                  <a:schemeClr val="dk2"/>
                </a:solidFill>
                <a:latin typeface="Courier New"/>
                <a:ea typeface="Courier New"/>
                <a:cs typeface="Courier New"/>
                <a:sym typeface="Courier New"/>
              </a:rPr>
              <a:t>}</a:t>
            </a:r>
            <a:endParaRPr b="1" sz="1200">
              <a:solidFill>
                <a:schemeClr val="dk2"/>
              </a:solidFill>
              <a:latin typeface="Courier New"/>
              <a:ea typeface="Courier New"/>
              <a:cs typeface="Courier New"/>
              <a:sym typeface="Courier New"/>
            </a:endParaRPr>
          </a:p>
        </p:txBody>
      </p:sp>
      <p:cxnSp>
        <p:nvCxnSpPr>
          <p:cNvPr id="170" name="Google Shape;170;p23"/>
          <p:cNvCxnSpPr/>
          <p:nvPr/>
        </p:nvCxnSpPr>
        <p:spPr>
          <a:xfrm>
            <a:off x="4303275" y="1283025"/>
            <a:ext cx="4791600" cy="0"/>
          </a:xfrm>
          <a:prstGeom prst="straightConnector1">
            <a:avLst/>
          </a:prstGeom>
          <a:noFill/>
          <a:ln cap="flat" cmpd="sng" w="28575">
            <a:solidFill>
              <a:srgbClr val="0000FF"/>
            </a:solidFill>
            <a:prstDash val="solid"/>
            <a:round/>
            <a:headEnd len="med" w="med" type="none"/>
            <a:tailEnd len="med" w="med" type="none"/>
          </a:ln>
        </p:spPr>
      </p:cxnSp>
      <p:cxnSp>
        <p:nvCxnSpPr>
          <p:cNvPr id="171" name="Google Shape;171;p23"/>
          <p:cNvCxnSpPr/>
          <p:nvPr/>
        </p:nvCxnSpPr>
        <p:spPr>
          <a:xfrm flipH="1" rot="10800000">
            <a:off x="113550" y="5098225"/>
            <a:ext cx="4076100" cy="5400"/>
          </a:xfrm>
          <a:prstGeom prst="straightConnector1">
            <a:avLst/>
          </a:prstGeom>
          <a:noFill/>
          <a:ln cap="flat" cmpd="sng" w="28575">
            <a:solidFill>
              <a:srgbClr val="0000FF"/>
            </a:solidFill>
            <a:prstDash val="solid"/>
            <a:round/>
            <a:headEnd len="med" w="med" type="none"/>
            <a:tailEnd len="med" w="med" type="none"/>
          </a:ln>
        </p:spPr>
      </p:cxnSp>
      <p:cxnSp>
        <p:nvCxnSpPr>
          <p:cNvPr id="172" name="Google Shape;172;p23"/>
          <p:cNvCxnSpPr/>
          <p:nvPr/>
        </p:nvCxnSpPr>
        <p:spPr>
          <a:xfrm flipH="1">
            <a:off x="124850" y="1930225"/>
            <a:ext cx="11400" cy="3179400"/>
          </a:xfrm>
          <a:prstGeom prst="straightConnector1">
            <a:avLst/>
          </a:prstGeom>
          <a:noFill/>
          <a:ln cap="flat" cmpd="sng" w="28575">
            <a:solidFill>
              <a:srgbClr val="0000FF"/>
            </a:solidFill>
            <a:prstDash val="solid"/>
            <a:round/>
            <a:headEnd len="med" w="med" type="none"/>
            <a:tailEnd len="med" w="med" type="none"/>
          </a:ln>
        </p:spPr>
      </p:cxnSp>
      <p:cxnSp>
        <p:nvCxnSpPr>
          <p:cNvPr id="173" name="Google Shape;173;p23"/>
          <p:cNvCxnSpPr/>
          <p:nvPr/>
        </p:nvCxnSpPr>
        <p:spPr>
          <a:xfrm>
            <a:off x="9094950" y="1271675"/>
            <a:ext cx="11100" cy="5529600"/>
          </a:xfrm>
          <a:prstGeom prst="straightConnector1">
            <a:avLst/>
          </a:prstGeom>
          <a:noFill/>
          <a:ln cap="flat" cmpd="sng" w="28575">
            <a:solidFill>
              <a:srgbClr val="0000FF"/>
            </a:solidFill>
            <a:prstDash val="solid"/>
            <a:round/>
            <a:headEnd len="med" w="med" type="none"/>
            <a:tailEnd len="med" w="med" type="none"/>
          </a:ln>
        </p:spPr>
      </p:cxnSp>
      <p:cxnSp>
        <p:nvCxnSpPr>
          <p:cNvPr id="174" name="Google Shape;174;p23"/>
          <p:cNvCxnSpPr/>
          <p:nvPr/>
        </p:nvCxnSpPr>
        <p:spPr>
          <a:xfrm flipH="1">
            <a:off x="4155625" y="5098075"/>
            <a:ext cx="11400" cy="1703100"/>
          </a:xfrm>
          <a:prstGeom prst="straightConnector1">
            <a:avLst/>
          </a:prstGeom>
          <a:noFill/>
          <a:ln cap="flat" cmpd="sng" w="28575">
            <a:solidFill>
              <a:srgbClr val="0000FF"/>
            </a:solidFill>
            <a:prstDash val="solid"/>
            <a:round/>
            <a:headEnd len="med" w="med" type="none"/>
            <a:tailEnd len="med" w="med" type="none"/>
          </a:ln>
        </p:spPr>
      </p:cxnSp>
      <p:cxnSp>
        <p:nvCxnSpPr>
          <p:cNvPr id="175" name="Google Shape;175;p23"/>
          <p:cNvCxnSpPr/>
          <p:nvPr/>
        </p:nvCxnSpPr>
        <p:spPr>
          <a:xfrm flipH="1" rot="10800000">
            <a:off x="4132975" y="6812525"/>
            <a:ext cx="4984800" cy="11400"/>
          </a:xfrm>
          <a:prstGeom prst="straightConnector1">
            <a:avLst/>
          </a:prstGeom>
          <a:noFill/>
          <a:ln cap="flat" cmpd="sng" w="28575">
            <a:solidFill>
              <a:srgbClr val="0000FF"/>
            </a:solidFill>
            <a:prstDash val="solid"/>
            <a:round/>
            <a:headEnd len="med" w="med" type="none"/>
            <a:tailEnd len="med" w="med" type="none"/>
          </a:ln>
        </p:spPr>
      </p:cxnSp>
      <p:cxnSp>
        <p:nvCxnSpPr>
          <p:cNvPr id="176" name="Google Shape;176;p23"/>
          <p:cNvCxnSpPr/>
          <p:nvPr/>
        </p:nvCxnSpPr>
        <p:spPr>
          <a:xfrm>
            <a:off x="136075" y="1927675"/>
            <a:ext cx="4178700" cy="14100"/>
          </a:xfrm>
          <a:prstGeom prst="straightConnector1">
            <a:avLst/>
          </a:prstGeom>
          <a:noFill/>
          <a:ln cap="flat" cmpd="sng" w="28575">
            <a:solidFill>
              <a:srgbClr val="0000FF"/>
            </a:solidFill>
            <a:prstDash val="solid"/>
            <a:round/>
            <a:headEnd len="med" w="med" type="none"/>
            <a:tailEnd len="med" w="med" type="none"/>
          </a:ln>
        </p:spPr>
      </p:cxnSp>
      <p:cxnSp>
        <p:nvCxnSpPr>
          <p:cNvPr id="177" name="Google Shape;177;p23"/>
          <p:cNvCxnSpPr/>
          <p:nvPr/>
        </p:nvCxnSpPr>
        <p:spPr>
          <a:xfrm flipH="1">
            <a:off x="4303225" y="1281350"/>
            <a:ext cx="5700" cy="657600"/>
          </a:xfrm>
          <a:prstGeom prst="straightConnector1">
            <a:avLst/>
          </a:prstGeom>
          <a:noFill/>
          <a:ln cap="flat" cmpd="sng" w="28575">
            <a:solidFill>
              <a:srgbClr val="0000FF"/>
            </a:solidFill>
            <a:prstDash val="solid"/>
            <a:round/>
            <a:headEnd len="med" w="med" type="none"/>
            <a:tailEnd len="med" w="med" type="non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4"/>
          <p:cNvSpPr txBox="1"/>
          <p:nvPr>
            <p:ph type="title"/>
          </p:nvPr>
        </p:nvSpPr>
        <p:spPr>
          <a:xfrm>
            <a:off x="6823825" y="83500"/>
            <a:ext cx="2262900" cy="110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Timer 14 Registers</a:t>
            </a:r>
            <a:endParaRPr/>
          </a:p>
        </p:txBody>
      </p:sp>
      <p:pic>
        <p:nvPicPr>
          <p:cNvPr id="183" name="Google Shape;183;p24"/>
          <p:cNvPicPr preferRelativeResize="0"/>
          <p:nvPr/>
        </p:nvPicPr>
        <p:blipFill>
          <a:blip r:embed="rId3">
            <a:alphaModFix/>
          </a:blip>
          <a:stretch>
            <a:fillRect/>
          </a:stretch>
        </p:blipFill>
        <p:spPr>
          <a:xfrm>
            <a:off x="63113" y="436874"/>
            <a:ext cx="6663525" cy="1307125"/>
          </a:xfrm>
          <a:prstGeom prst="rect">
            <a:avLst/>
          </a:prstGeom>
          <a:noFill/>
          <a:ln>
            <a:noFill/>
          </a:ln>
        </p:spPr>
      </p:pic>
      <p:sp>
        <p:nvSpPr>
          <p:cNvPr id="184" name="Google Shape;184;p24"/>
          <p:cNvSpPr txBox="1"/>
          <p:nvPr/>
        </p:nvSpPr>
        <p:spPr>
          <a:xfrm>
            <a:off x="164738" y="98500"/>
            <a:ext cx="65619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2"/>
                </a:solidFill>
              </a:rPr>
              <a:t>TIM14 capture/compare mode register 1 (</a:t>
            </a:r>
            <a:r>
              <a:rPr b="1" lang="en" sz="1200">
                <a:solidFill>
                  <a:schemeClr val="dk2"/>
                </a:solidFill>
                <a:highlight>
                  <a:srgbClr val="FFFF00"/>
                </a:highlight>
              </a:rPr>
              <a:t>TIM14_CCMR1</a:t>
            </a:r>
            <a:r>
              <a:rPr b="1" lang="en" sz="1200">
                <a:solidFill>
                  <a:schemeClr val="dk2"/>
                </a:solidFill>
              </a:rPr>
              <a:t>) in Output Compare Mode</a:t>
            </a:r>
            <a:endParaRPr b="1" sz="1200">
              <a:solidFill>
                <a:schemeClr val="dk2"/>
              </a:solidFill>
            </a:endParaRPr>
          </a:p>
        </p:txBody>
      </p:sp>
      <p:pic>
        <p:nvPicPr>
          <p:cNvPr id="185" name="Google Shape;185;p24"/>
          <p:cNvPicPr preferRelativeResize="0"/>
          <p:nvPr/>
        </p:nvPicPr>
        <p:blipFill>
          <a:blip r:embed="rId4">
            <a:alphaModFix/>
          </a:blip>
          <a:stretch>
            <a:fillRect/>
          </a:stretch>
        </p:blipFill>
        <p:spPr>
          <a:xfrm>
            <a:off x="0" y="1806800"/>
            <a:ext cx="7205749" cy="3481650"/>
          </a:xfrm>
          <a:prstGeom prst="rect">
            <a:avLst/>
          </a:prstGeom>
          <a:noFill/>
          <a:ln>
            <a:noFill/>
          </a:ln>
        </p:spPr>
      </p:pic>
      <p:pic>
        <p:nvPicPr>
          <p:cNvPr id="186" name="Google Shape;186;p24"/>
          <p:cNvPicPr preferRelativeResize="0"/>
          <p:nvPr/>
        </p:nvPicPr>
        <p:blipFill>
          <a:blip r:embed="rId5">
            <a:alphaModFix/>
          </a:blip>
          <a:stretch>
            <a:fillRect/>
          </a:stretch>
        </p:blipFill>
        <p:spPr>
          <a:xfrm>
            <a:off x="164738" y="5351250"/>
            <a:ext cx="7145575" cy="1359025"/>
          </a:xfrm>
          <a:prstGeom prst="rect">
            <a:avLst/>
          </a:prstGeom>
          <a:noFill/>
          <a:ln>
            <a:noFill/>
          </a:ln>
        </p:spPr>
      </p:pic>
      <p:sp>
        <p:nvSpPr>
          <p:cNvPr id="187" name="Google Shape;187;p24"/>
          <p:cNvSpPr/>
          <p:nvPr/>
        </p:nvSpPr>
        <p:spPr>
          <a:xfrm>
            <a:off x="6218500" y="467800"/>
            <a:ext cx="457200" cy="648600"/>
          </a:xfrm>
          <a:prstGeom prst="rect">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24"/>
          <p:cNvSpPr/>
          <p:nvPr/>
        </p:nvSpPr>
        <p:spPr>
          <a:xfrm>
            <a:off x="3807700" y="1116450"/>
            <a:ext cx="1216200" cy="559200"/>
          </a:xfrm>
          <a:prstGeom prst="rect">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24"/>
          <p:cNvSpPr/>
          <p:nvPr/>
        </p:nvSpPr>
        <p:spPr>
          <a:xfrm>
            <a:off x="951825" y="4634250"/>
            <a:ext cx="6129900" cy="309900"/>
          </a:xfrm>
          <a:prstGeom prst="rect">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24"/>
          <p:cNvSpPr/>
          <p:nvPr/>
        </p:nvSpPr>
        <p:spPr>
          <a:xfrm rot="10800000">
            <a:off x="979725" y="5837025"/>
            <a:ext cx="2984700" cy="280500"/>
          </a:xfrm>
          <a:prstGeom prst="rect">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24"/>
          <p:cNvSpPr txBox="1"/>
          <p:nvPr/>
        </p:nvSpPr>
        <p:spPr>
          <a:xfrm>
            <a:off x="5309050" y="3417500"/>
            <a:ext cx="3346200" cy="921900"/>
          </a:xfrm>
          <a:prstGeom prst="rect">
            <a:avLst/>
          </a:prstGeom>
          <a:solidFill>
            <a:srgbClr val="CFE2F3"/>
          </a:solidFill>
          <a:ln cap="flat" cmpd="sng" w="28575">
            <a:solidFill>
              <a:srgbClr val="0000FF"/>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100">
                <a:solidFill>
                  <a:schemeClr val="dk2"/>
                </a:solidFill>
                <a:latin typeface="Courier New"/>
                <a:ea typeface="Courier New"/>
                <a:cs typeface="Courier New"/>
                <a:sym typeface="Courier New"/>
              </a:rPr>
              <a:t>// Set pwm mode 1 (0110)</a:t>
            </a:r>
            <a:endParaRPr b="1" sz="1100">
              <a:solidFill>
                <a:schemeClr val="dk2"/>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rgbClr val="0000FF"/>
                </a:solidFill>
                <a:latin typeface="Courier New"/>
                <a:ea typeface="Courier New"/>
                <a:cs typeface="Courier New"/>
                <a:sym typeface="Courier New"/>
              </a:rPr>
              <a:t>TIM14-&gt;CCMR1</a:t>
            </a:r>
            <a:r>
              <a:rPr b="1" lang="en" sz="1100">
                <a:solidFill>
                  <a:schemeClr val="dk2"/>
                </a:solidFill>
                <a:latin typeface="Courier New"/>
                <a:ea typeface="Courier New"/>
                <a:cs typeface="Courier New"/>
                <a:sym typeface="Courier New"/>
              </a:rPr>
              <a:t> &amp;= ~TIM_CCMR1_OC1M_Msk;</a:t>
            </a:r>
            <a:endParaRPr b="1" sz="1100">
              <a:solidFill>
                <a:schemeClr val="dk2"/>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1100">
                <a:solidFill>
                  <a:srgbClr val="0000FF"/>
                </a:solidFill>
                <a:latin typeface="Courier New"/>
                <a:ea typeface="Courier New"/>
                <a:cs typeface="Courier New"/>
                <a:sym typeface="Courier New"/>
              </a:rPr>
              <a:t>TIM14-&gt;CCMR1</a:t>
            </a:r>
            <a:r>
              <a:rPr b="1" lang="en" sz="1100">
                <a:solidFill>
                  <a:schemeClr val="dk2"/>
                </a:solidFill>
                <a:latin typeface="Courier New"/>
                <a:ea typeface="Courier New"/>
                <a:cs typeface="Courier New"/>
                <a:sym typeface="Courier New"/>
              </a:rPr>
              <a:t> |= (TIM_OC1_PWM1 &lt;&lt; </a:t>
            </a:r>
            <a:endParaRPr b="1" sz="1100">
              <a:solidFill>
                <a:schemeClr val="dk2"/>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2"/>
                </a:solidFill>
                <a:latin typeface="Courier New"/>
                <a:ea typeface="Courier New"/>
                <a:cs typeface="Courier New"/>
                <a:sym typeface="Courier New"/>
              </a:rPr>
              <a:t>                 TIM_CCMR1_OC1M_Pos);</a:t>
            </a:r>
            <a:endParaRPr b="1" sz="1700">
              <a:solidFill>
                <a:schemeClr val="dk2"/>
              </a:solidFill>
            </a:endParaRPr>
          </a:p>
        </p:txBody>
      </p:sp>
      <p:sp>
        <p:nvSpPr>
          <p:cNvPr id="192" name="Google Shape;192;p24"/>
          <p:cNvSpPr txBox="1"/>
          <p:nvPr/>
        </p:nvSpPr>
        <p:spPr>
          <a:xfrm>
            <a:off x="5309050" y="5788375"/>
            <a:ext cx="3346200" cy="921900"/>
          </a:xfrm>
          <a:prstGeom prst="rect">
            <a:avLst/>
          </a:prstGeom>
          <a:solidFill>
            <a:srgbClr val="EAD1DC"/>
          </a:solidFill>
          <a:ln cap="flat" cmpd="sng" w="28575">
            <a:solidFill>
              <a:srgbClr val="FF00FF"/>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100">
                <a:solidFill>
                  <a:schemeClr val="dk2"/>
                </a:solidFill>
                <a:latin typeface="Courier New"/>
                <a:ea typeface="Courier New"/>
                <a:cs typeface="Courier New"/>
                <a:sym typeface="Courier New"/>
              </a:rPr>
              <a:t>// Set pwm mode 1 (0110)</a:t>
            </a:r>
            <a:endParaRPr b="1" sz="1100">
              <a:solidFill>
                <a:schemeClr val="dk2"/>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1100">
                <a:solidFill>
                  <a:srgbClr val="0000FF"/>
                </a:solidFill>
                <a:latin typeface="Courier New"/>
                <a:ea typeface="Courier New"/>
                <a:cs typeface="Courier New"/>
                <a:sym typeface="Courier New"/>
              </a:rPr>
              <a:t>TIM14-&gt;CCMR1</a:t>
            </a:r>
            <a:r>
              <a:rPr b="1" lang="en" sz="1100">
                <a:solidFill>
                  <a:schemeClr val="dk2"/>
                </a:solidFill>
                <a:latin typeface="Courier New"/>
                <a:ea typeface="Courier New"/>
                <a:cs typeface="Courier New"/>
                <a:sym typeface="Courier New"/>
              </a:rPr>
              <a:t> &amp;= </a:t>
            </a:r>
            <a:r>
              <a:rPr b="1" lang="en" sz="1100">
                <a:solidFill>
                  <a:schemeClr val="dk2"/>
                </a:solidFill>
                <a:latin typeface="Courier New"/>
                <a:ea typeface="Courier New"/>
                <a:cs typeface="Courier New"/>
                <a:sym typeface="Courier New"/>
              </a:rPr>
              <a:t>~TIM_CCMR1_CC1S_Msk;</a:t>
            </a:r>
            <a:endParaRPr b="1" sz="1100">
              <a:solidFill>
                <a:schemeClr val="dk2"/>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1100">
                <a:solidFill>
                  <a:srgbClr val="0000FF"/>
                </a:solidFill>
                <a:latin typeface="Courier New"/>
                <a:ea typeface="Courier New"/>
                <a:cs typeface="Courier New"/>
                <a:sym typeface="Courier New"/>
              </a:rPr>
              <a:t>TIM14-&gt;CCMR1</a:t>
            </a:r>
            <a:r>
              <a:rPr b="1" lang="en" sz="1100">
                <a:solidFill>
                  <a:schemeClr val="dk2"/>
                </a:solidFill>
                <a:latin typeface="Courier New"/>
                <a:ea typeface="Courier New"/>
                <a:cs typeface="Courier New"/>
                <a:sym typeface="Courier New"/>
              </a:rPr>
              <a:t> |= </a:t>
            </a:r>
            <a:r>
              <a:rPr b="1" lang="en" sz="1100">
                <a:solidFill>
                  <a:schemeClr val="dk2"/>
                </a:solidFill>
                <a:latin typeface="Courier New"/>
                <a:ea typeface="Courier New"/>
                <a:cs typeface="Courier New"/>
                <a:sym typeface="Courier New"/>
              </a:rPr>
              <a:t>TIM_CC1_OUTPUT &lt;&lt; </a:t>
            </a:r>
            <a:endParaRPr b="1" sz="1100">
              <a:solidFill>
                <a:schemeClr val="dk2"/>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1100">
                <a:solidFill>
                  <a:schemeClr val="dk2"/>
                </a:solidFill>
                <a:latin typeface="Courier New"/>
                <a:ea typeface="Courier New"/>
                <a:cs typeface="Courier New"/>
                <a:sym typeface="Courier New"/>
              </a:rPr>
              <a:t>                 TIM_CCMR1_CC1S_Pos;</a:t>
            </a:r>
            <a:endParaRPr b="1" sz="1700">
              <a:solidFill>
                <a:schemeClr val="dk2"/>
              </a:solidFill>
            </a:endParaRPr>
          </a:p>
        </p:txBody>
      </p:sp>
      <p:sp>
        <p:nvSpPr>
          <p:cNvPr id="193" name="Google Shape;193;p24"/>
          <p:cNvSpPr/>
          <p:nvPr/>
        </p:nvSpPr>
        <p:spPr>
          <a:xfrm>
            <a:off x="5824400" y="1184800"/>
            <a:ext cx="851400" cy="490800"/>
          </a:xfrm>
          <a:prstGeom prst="rect">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pic>
        <p:nvPicPr>
          <p:cNvPr id="198" name="Google Shape;198;p25"/>
          <p:cNvPicPr preferRelativeResize="0"/>
          <p:nvPr/>
        </p:nvPicPr>
        <p:blipFill>
          <a:blip r:embed="rId3">
            <a:alphaModFix/>
          </a:blip>
          <a:stretch>
            <a:fillRect/>
          </a:stretch>
        </p:blipFill>
        <p:spPr>
          <a:xfrm>
            <a:off x="220750" y="2394617"/>
            <a:ext cx="6475576" cy="789558"/>
          </a:xfrm>
          <a:prstGeom prst="rect">
            <a:avLst/>
          </a:prstGeom>
          <a:noFill/>
          <a:ln>
            <a:noFill/>
          </a:ln>
        </p:spPr>
      </p:pic>
      <p:pic>
        <p:nvPicPr>
          <p:cNvPr id="199" name="Google Shape;199;p25"/>
          <p:cNvPicPr preferRelativeResize="0"/>
          <p:nvPr/>
        </p:nvPicPr>
        <p:blipFill>
          <a:blip r:embed="rId4">
            <a:alphaModFix/>
          </a:blip>
          <a:stretch>
            <a:fillRect/>
          </a:stretch>
        </p:blipFill>
        <p:spPr>
          <a:xfrm>
            <a:off x="448600" y="3215375"/>
            <a:ext cx="7604151" cy="1255875"/>
          </a:xfrm>
          <a:prstGeom prst="rect">
            <a:avLst/>
          </a:prstGeom>
          <a:noFill/>
          <a:ln>
            <a:noFill/>
          </a:ln>
        </p:spPr>
      </p:pic>
      <p:pic>
        <p:nvPicPr>
          <p:cNvPr id="200" name="Google Shape;200;p25"/>
          <p:cNvPicPr preferRelativeResize="0"/>
          <p:nvPr/>
        </p:nvPicPr>
        <p:blipFill>
          <a:blip r:embed="rId5">
            <a:alphaModFix/>
          </a:blip>
          <a:stretch>
            <a:fillRect/>
          </a:stretch>
        </p:blipFill>
        <p:spPr>
          <a:xfrm>
            <a:off x="448600" y="1103900"/>
            <a:ext cx="7708100" cy="942775"/>
          </a:xfrm>
          <a:prstGeom prst="rect">
            <a:avLst/>
          </a:prstGeom>
          <a:noFill/>
          <a:ln>
            <a:noFill/>
          </a:ln>
        </p:spPr>
      </p:pic>
      <p:pic>
        <p:nvPicPr>
          <p:cNvPr id="201" name="Google Shape;201;p25"/>
          <p:cNvPicPr preferRelativeResize="0"/>
          <p:nvPr/>
        </p:nvPicPr>
        <p:blipFill>
          <a:blip r:embed="rId6">
            <a:alphaModFix/>
          </a:blip>
          <a:stretch>
            <a:fillRect/>
          </a:stretch>
        </p:blipFill>
        <p:spPr>
          <a:xfrm>
            <a:off x="164750" y="319475"/>
            <a:ext cx="6475581" cy="717000"/>
          </a:xfrm>
          <a:prstGeom prst="rect">
            <a:avLst/>
          </a:prstGeom>
          <a:noFill/>
          <a:ln>
            <a:noFill/>
          </a:ln>
        </p:spPr>
      </p:pic>
      <p:sp>
        <p:nvSpPr>
          <p:cNvPr id="202" name="Google Shape;202;p25"/>
          <p:cNvSpPr txBox="1"/>
          <p:nvPr>
            <p:ph type="title"/>
          </p:nvPr>
        </p:nvSpPr>
        <p:spPr>
          <a:xfrm>
            <a:off x="6823825" y="83500"/>
            <a:ext cx="2262900" cy="110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Timer 14 Registers</a:t>
            </a:r>
            <a:endParaRPr/>
          </a:p>
        </p:txBody>
      </p:sp>
      <p:sp>
        <p:nvSpPr>
          <p:cNvPr id="203" name="Google Shape;203;p25"/>
          <p:cNvSpPr txBox="1"/>
          <p:nvPr/>
        </p:nvSpPr>
        <p:spPr>
          <a:xfrm>
            <a:off x="164745" y="98500"/>
            <a:ext cx="4164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2"/>
                </a:solidFill>
              </a:rPr>
              <a:t>TIM14 capture/compare enable register (</a:t>
            </a:r>
            <a:r>
              <a:rPr b="1" lang="en" sz="1200">
                <a:solidFill>
                  <a:schemeClr val="dk2"/>
                </a:solidFill>
                <a:highlight>
                  <a:srgbClr val="FFFF00"/>
                </a:highlight>
              </a:rPr>
              <a:t>TIM14_CCER</a:t>
            </a:r>
            <a:r>
              <a:rPr b="1" lang="en" sz="1200">
                <a:solidFill>
                  <a:schemeClr val="dk2"/>
                </a:solidFill>
              </a:rPr>
              <a:t>)</a:t>
            </a:r>
            <a:endParaRPr b="1" sz="1200">
              <a:solidFill>
                <a:schemeClr val="dk2"/>
              </a:solidFill>
            </a:endParaRPr>
          </a:p>
        </p:txBody>
      </p:sp>
      <p:sp>
        <p:nvSpPr>
          <p:cNvPr id="204" name="Google Shape;204;p25"/>
          <p:cNvSpPr/>
          <p:nvPr/>
        </p:nvSpPr>
        <p:spPr>
          <a:xfrm>
            <a:off x="6115950" y="378725"/>
            <a:ext cx="457200" cy="559200"/>
          </a:xfrm>
          <a:prstGeom prst="rect">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25"/>
          <p:cNvSpPr/>
          <p:nvPr/>
        </p:nvSpPr>
        <p:spPr>
          <a:xfrm>
            <a:off x="6222800" y="2452550"/>
            <a:ext cx="417600" cy="559200"/>
          </a:xfrm>
          <a:prstGeom prst="rect">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25"/>
          <p:cNvSpPr/>
          <p:nvPr/>
        </p:nvSpPr>
        <p:spPr>
          <a:xfrm>
            <a:off x="1100675" y="1663725"/>
            <a:ext cx="7056000" cy="309900"/>
          </a:xfrm>
          <a:prstGeom prst="rect">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25"/>
          <p:cNvSpPr/>
          <p:nvPr/>
        </p:nvSpPr>
        <p:spPr>
          <a:xfrm rot="10800000">
            <a:off x="1048025" y="3909975"/>
            <a:ext cx="6926400" cy="504300"/>
          </a:xfrm>
          <a:prstGeom prst="rect">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5"/>
          <p:cNvSpPr txBox="1"/>
          <p:nvPr/>
        </p:nvSpPr>
        <p:spPr>
          <a:xfrm>
            <a:off x="164745" y="2163925"/>
            <a:ext cx="4164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2"/>
                </a:solidFill>
              </a:rPr>
              <a:t>TIM14 event generation register (</a:t>
            </a:r>
            <a:r>
              <a:rPr b="1" lang="en" sz="1200">
                <a:solidFill>
                  <a:schemeClr val="dk2"/>
                </a:solidFill>
                <a:highlight>
                  <a:srgbClr val="FFFF00"/>
                </a:highlight>
              </a:rPr>
              <a:t>TIM14_EGR</a:t>
            </a:r>
            <a:r>
              <a:rPr b="1" lang="en" sz="1200">
                <a:solidFill>
                  <a:schemeClr val="dk2"/>
                </a:solidFill>
              </a:rPr>
              <a:t>)</a:t>
            </a:r>
            <a:endParaRPr b="1" sz="1200">
              <a:solidFill>
                <a:schemeClr val="dk2"/>
              </a:solidFill>
            </a:endParaRPr>
          </a:p>
        </p:txBody>
      </p:sp>
      <p:pic>
        <p:nvPicPr>
          <p:cNvPr id="209" name="Google Shape;209;p25"/>
          <p:cNvPicPr preferRelativeResize="0"/>
          <p:nvPr/>
        </p:nvPicPr>
        <p:blipFill>
          <a:blip r:embed="rId7">
            <a:alphaModFix/>
          </a:blip>
          <a:stretch>
            <a:fillRect/>
          </a:stretch>
        </p:blipFill>
        <p:spPr>
          <a:xfrm>
            <a:off x="152400" y="4917091"/>
            <a:ext cx="6543926" cy="836610"/>
          </a:xfrm>
          <a:prstGeom prst="rect">
            <a:avLst/>
          </a:prstGeom>
          <a:noFill/>
          <a:ln>
            <a:noFill/>
          </a:ln>
        </p:spPr>
      </p:pic>
      <p:sp>
        <p:nvSpPr>
          <p:cNvPr id="210" name="Google Shape;210;p25"/>
          <p:cNvSpPr txBox="1"/>
          <p:nvPr/>
        </p:nvSpPr>
        <p:spPr>
          <a:xfrm>
            <a:off x="220745" y="4608225"/>
            <a:ext cx="4164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2"/>
                </a:solidFill>
              </a:rPr>
              <a:t>TIM14 control register 1 (</a:t>
            </a:r>
            <a:r>
              <a:rPr b="1" lang="en" sz="1200">
                <a:solidFill>
                  <a:schemeClr val="dk2"/>
                </a:solidFill>
                <a:highlight>
                  <a:srgbClr val="FFFF00"/>
                </a:highlight>
              </a:rPr>
              <a:t>TIM14_CR1</a:t>
            </a:r>
            <a:r>
              <a:rPr b="1" lang="en" sz="1200">
                <a:solidFill>
                  <a:schemeClr val="dk2"/>
                </a:solidFill>
              </a:rPr>
              <a:t>)</a:t>
            </a:r>
            <a:endParaRPr b="1" sz="1200">
              <a:solidFill>
                <a:schemeClr val="dk2"/>
              </a:solidFill>
            </a:endParaRPr>
          </a:p>
        </p:txBody>
      </p:sp>
      <p:sp>
        <p:nvSpPr>
          <p:cNvPr id="211" name="Google Shape;211;p25"/>
          <p:cNvSpPr/>
          <p:nvPr/>
        </p:nvSpPr>
        <p:spPr>
          <a:xfrm>
            <a:off x="6222800" y="4977525"/>
            <a:ext cx="417600" cy="650100"/>
          </a:xfrm>
          <a:prstGeom prst="rect">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2" name="Google Shape;212;p25"/>
          <p:cNvPicPr preferRelativeResize="0"/>
          <p:nvPr/>
        </p:nvPicPr>
        <p:blipFill>
          <a:blip r:embed="rId8">
            <a:alphaModFix/>
          </a:blip>
          <a:stretch>
            <a:fillRect/>
          </a:stretch>
        </p:blipFill>
        <p:spPr>
          <a:xfrm>
            <a:off x="448600" y="5839050"/>
            <a:ext cx="1875289" cy="650100"/>
          </a:xfrm>
          <a:prstGeom prst="rect">
            <a:avLst/>
          </a:prstGeom>
          <a:noFill/>
          <a:ln>
            <a:noFill/>
          </a:ln>
        </p:spPr>
      </p:pic>
      <p:sp>
        <p:nvSpPr>
          <p:cNvPr id="213" name="Google Shape;213;p25"/>
          <p:cNvSpPr/>
          <p:nvPr/>
        </p:nvSpPr>
        <p:spPr>
          <a:xfrm rot="10800000">
            <a:off x="995325" y="6242950"/>
            <a:ext cx="1248900" cy="261900"/>
          </a:xfrm>
          <a:prstGeom prst="rect">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pic>
        <p:nvPicPr>
          <p:cNvPr id="218" name="Google Shape;218;p26"/>
          <p:cNvPicPr preferRelativeResize="0"/>
          <p:nvPr/>
        </p:nvPicPr>
        <p:blipFill>
          <a:blip r:embed="rId3">
            <a:alphaModFix/>
          </a:blip>
          <a:stretch>
            <a:fillRect/>
          </a:stretch>
        </p:blipFill>
        <p:spPr>
          <a:xfrm>
            <a:off x="155588" y="2054625"/>
            <a:ext cx="8832826" cy="4699575"/>
          </a:xfrm>
          <a:prstGeom prst="rect">
            <a:avLst/>
          </a:prstGeom>
          <a:noFill/>
          <a:ln>
            <a:noFill/>
          </a:ln>
        </p:spPr>
      </p:pic>
      <p:sp>
        <p:nvSpPr>
          <p:cNvPr id="219" name="Google Shape;219;p26"/>
          <p:cNvSpPr txBox="1"/>
          <p:nvPr>
            <p:ph type="title"/>
          </p:nvPr>
        </p:nvSpPr>
        <p:spPr>
          <a:xfrm>
            <a:off x="6823825" y="83500"/>
            <a:ext cx="2262900" cy="110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Timer 14 Registers</a:t>
            </a:r>
            <a:endParaRPr/>
          </a:p>
        </p:txBody>
      </p:sp>
      <p:sp>
        <p:nvSpPr>
          <p:cNvPr id="220" name="Google Shape;220;p26"/>
          <p:cNvSpPr/>
          <p:nvPr/>
        </p:nvSpPr>
        <p:spPr>
          <a:xfrm>
            <a:off x="5010975" y="2054625"/>
            <a:ext cx="3920400" cy="985800"/>
          </a:xfrm>
          <a:prstGeom prst="rect">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6"/>
          <p:cNvSpPr/>
          <p:nvPr/>
        </p:nvSpPr>
        <p:spPr>
          <a:xfrm>
            <a:off x="5016650" y="3080300"/>
            <a:ext cx="3920400" cy="843000"/>
          </a:xfrm>
          <a:prstGeom prst="rect">
            <a:avLst/>
          </a:prstGeom>
          <a:noFill/>
          <a:ln cap="flat" cmpd="sng" w="2857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6"/>
          <p:cNvSpPr/>
          <p:nvPr/>
        </p:nvSpPr>
        <p:spPr>
          <a:xfrm>
            <a:off x="5010975" y="5331225"/>
            <a:ext cx="3920400" cy="843000"/>
          </a:xfrm>
          <a:prstGeom prst="rect">
            <a:avLst/>
          </a:prstGeom>
          <a:noFill/>
          <a:ln cap="flat" cmpd="sng" w="2857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26"/>
          <p:cNvSpPr/>
          <p:nvPr/>
        </p:nvSpPr>
        <p:spPr>
          <a:xfrm rot="10800000">
            <a:off x="5010950" y="3963175"/>
            <a:ext cx="3931800" cy="843000"/>
          </a:xfrm>
          <a:prstGeom prst="rect">
            <a:avLst/>
          </a:prstGeom>
          <a:noFill/>
          <a:ln cap="flat" cmpd="sng" w="2857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4" name="Google Shape;224;p26"/>
          <p:cNvGrpSpPr/>
          <p:nvPr/>
        </p:nvGrpSpPr>
        <p:grpSpPr>
          <a:xfrm>
            <a:off x="3314750" y="256225"/>
            <a:ext cx="3073225" cy="1521925"/>
            <a:chOff x="4829875" y="183550"/>
            <a:chExt cx="3073225" cy="1521925"/>
          </a:xfrm>
        </p:grpSpPr>
        <p:sp>
          <p:nvSpPr>
            <p:cNvPr id="225" name="Google Shape;225;p26"/>
            <p:cNvSpPr/>
            <p:nvPr/>
          </p:nvSpPr>
          <p:spPr>
            <a:xfrm>
              <a:off x="4829875" y="805900"/>
              <a:ext cx="3073225" cy="408750"/>
            </a:xfrm>
            <a:custGeom>
              <a:rect b="b" l="l" r="r" t="t"/>
              <a:pathLst>
                <a:path extrusionOk="0" h="16350" w="122929">
                  <a:moveTo>
                    <a:pt x="0" y="15442"/>
                  </a:moveTo>
                  <a:lnTo>
                    <a:pt x="8781" y="15442"/>
                  </a:lnTo>
                  <a:lnTo>
                    <a:pt x="8781" y="303"/>
                  </a:lnTo>
                  <a:lnTo>
                    <a:pt x="21800" y="303"/>
                  </a:lnTo>
                  <a:lnTo>
                    <a:pt x="21800" y="15442"/>
                  </a:lnTo>
                  <a:lnTo>
                    <a:pt x="81448" y="15442"/>
                  </a:lnTo>
                  <a:lnTo>
                    <a:pt x="81448" y="0"/>
                  </a:lnTo>
                  <a:lnTo>
                    <a:pt x="98404" y="0"/>
                  </a:lnTo>
                  <a:lnTo>
                    <a:pt x="98101" y="16350"/>
                  </a:lnTo>
                  <a:lnTo>
                    <a:pt x="122929" y="16350"/>
                  </a:lnTo>
                </a:path>
              </a:pathLst>
            </a:custGeom>
            <a:noFill/>
            <a:ln cap="flat" cmpd="sng" w="28575">
              <a:solidFill>
                <a:schemeClr val="dk2"/>
              </a:solidFill>
              <a:prstDash val="solid"/>
              <a:round/>
              <a:headEnd len="med" w="med" type="none"/>
              <a:tailEnd len="med" w="med" type="none"/>
            </a:ln>
          </p:spPr>
        </p:sp>
        <p:cxnSp>
          <p:nvCxnSpPr>
            <p:cNvPr id="226" name="Google Shape;226;p26"/>
            <p:cNvCxnSpPr/>
            <p:nvPr/>
          </p:nvCxnSpPr>
          <p:spPr>
            <a:xfrm>
              <a:off x="5056467" y="638895"/>
              <a:ext cx="348000" cy="0"/>
            </a:xfrm>
            <a:prstGeom prst="straightConnector1">
              <a:avLst/>
            </a:prstGeom>
            <a:noFill/>
            <a:ln cap="flat" cmpd="sng" w="19050">
              <a:solidFill>
                <a:srgbClr val="CC0000"/>
              </a:solidFill>
              <a:prstDash val="solid"/>
              <a:round/>
              <a:headEnd len="med" w="med" type="none"/>
              <a:tailEnd len="med" w="med" type="stealth"/>
            </a:ln>
          </p:spPr>
        </p:cxnSp>
        <p:cxnSp>
          <p:nvCxnSpPr>
            <p:cNvPr id="227" name="Google Shape;227;p26"/>
            <p:cNvCxnSpPr/>
            <p:nvPr/>
          </p:nvCxnSpPr>
          <p:spPr>
            <a:xfrm>
              <a:off x="5056450" y="1357475"/>
              <a:ext cx="1809000" cy="0"/>
            </a:xfrm>
            <a:prstGeom prst="straightConnector1">
              <a:avLst/>
            </a:prstGeom>
            <a:noFill/>
            <a:ln cap="flat" cmpd="sng" w="19050">
              <a:solidFill>
                <a:srgbClr val="CC0000"/>
              </a:solidFill>
              <a:prstDash val="solid"/>
              <a:round/>
              <a:headEnd len="med" w="med" type="none"/>
              <a:tailEnd len="med" w="med" type="stealth"/>
            </a:ln>
          </p:spPr>
        </p:cxnSp>
        <p:sp>
          <p:nvSpPr>
            <p:cNvPr id="228" name="Google Shape;228;p26"/>
            <p:cNvSpPr txBox="1"/>
            <p:nvPr/>
          </p:nvSpPr>
          <p:spPr>
            <a:xfrm>
              <a:off x="4835825" y="183550"/>
              <a:ext cx="789300" cy="424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i="1" lang="en">
                  <a:solidFill>
                    <a:srgbClr val="CC0000"/>
                  </a:solidFill>
                </a:rPr>
                <a:t>T</a:t>
              </a:r>
              <a:r>
                <a:rPr b="1" baseline="-25000" i="1" lang="en">
                  <a:solidFill>
                    <a:srgbClr val="CC0000"/>
                  </a:solidFill>
                </a:rPr>
                <a:t>HIGH</a:t>
              </a:r>
              <a:endParaRPr b="1" baseline="-25000" i="1">
                <a:solidFill>
                  <a:srgbClr val="CC0000"/>
                </a:solidFill>
              </a:endParaRPr>
            </a:p>
          </p:txBody>
        </p:sp>
        <p:sp>
          <p:nvSpPr>
            <p:cNvPr id="229" name="Google Shape;229;p26"/>
            <p:cNvSpPr txBox="1"/>
            <p:nvPr/>
          </p:nvSpPr>
          <p:spPr>
            <a:xfrm>
              <a:off x="5433400" y="1281275"/>
              <a:ext cx="1055100" cy="424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i="1" lang="en">
                  <a:solidFill>
                    <a:srgbClr val="CC0000"/>
                  </a:solidFill>
                </a:rPr>
                <a:t>T</a:t>
              </a:r>
              <a:r>
                <a:rPr b="1" baseline="-25000" i="1" lang="en">
                  <a:solidFill>
                    <a:srgbClr val="CC0000"/>
                  </a:solidFill>
                </a:rPr>
                <a:t>PERIOD</a:t>
              </a:r>
              <a:endParaRPr b="1" baseline="-25000" i="1">
                <a:solidFill>
                  <a:srgbClr val="CC0000"/>
                </a:solidFill>
              </a:endParaRPr>
            </a:p>
          </p:txBody>
        </p:sp>
        <p:cxnSp>
          <p:nvCxnSpPr>
            <p:cNvPr id="230" name="Google Shape;230;p26"/>
            <p:cNvCxnSpPr/>
            <p:nvPr/>
          </p:nvCxnSpPr>
          <p:spPr>
            <a:xfrm flipH="1" rot="10800000">
              <a:off x="6857492" y="661520"/>
              <a:ext cx="454800" cy="600"/>
            </a:xfrm>
            <a:prstGeom prst="straightConnector1">
              <a:avLst/>
            </a:prstGeom>
            <a:noFill/>
            <a:ln cap="flat" cmpd="sng" w="19050">
              <a:solidFill>
                <a:srgbClr val="CC0000"/>
              </a:solidFill>
              <a:prstDash val="solid"/>
              <a:round/>
              <a:headEnd len="med" w="med" type="none"/>
              <a:tailEnd len="med" w="med" type="stealth"/>
            </a:ln>
          </p:spPr>
        </p:cxnSp>
        <p:sp>
          <p:nvSpPr>
            <p:cNvPr id="231" name="Google Shape;231;p26"/>
            <p:cNvSpPr txBox="1"/>
            <p:nvPr/>
          </p:nvSpPr>
          <p:spPr>
            <a:xfrm>
              <a:off x="6636850" y="206775"/>
              <a:ext cx="789300" cy="424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i="1" lang="en">
                  <a:solidFill>
                    <a:srgbClr val="CC0000"/>
                  </a:solidFill>
                </a:rPr>
                <a:t>T</a:t>
              </a:r>
              <a:r>
                <a:rPr b="1" baseline="-25000" i="1" lang="en">
                  <a:solidFill>
                    <a:srgbClr val="CC0000"/>
                  </a:solidFill>
                </a:rPr>
                <a:t>HIGH</a:t>
              </a:r>
              <a:endParaRPr b="1" baseline="-25000" i="1">
                <a:solidFill>
                  <a:srgbClr val="CC0000"/>
                </a:solidFill>
              </a:endParaRPr>
            </a:p>
          </p:txBody>
        </p:sp>
      </p:grpSp>
      <p:sp>
        <p:nvSpPr>
          <p:cNvPr id="232" name="Google Shape;232;p26"/>
          <p:cNvSpPr txBox="1"/>
          <p:nvPr/>
        </p:nvSpPr>
        <p:spPr>
          <a:xfrm>
            <a:off x="230875" y="335950"/>
            <a:ext cx="2535900" cy="508800"/>
          </a:xfrm>
          <a:prstGeom prst="rect">
            <a:avLst/>
          </a:prstGeom>
          <a:noFill/>
          <a:ln cap="flat" cmpd="sng" w="19050">
            <a:solidFill>
              <a:srgbClr val="CC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CC0000"/>
                </a:solidFill>
              </a:rPr>
              <a:t>V</a:t>
            </a:r>
            <a:r>
              <a:rPr baseline="-25000" lang="en" sz="1600">
                <a:solidFill>
                  <a:srgbClr val="CC0000"/>
                </a:solidFill>
              </a:rPr>
              <a:t>avg</a:t>
            </a:r>
            <a:r>
              <a:rPr lang="en" sz="1600">
                <a:solidFill>
                  <a:srgbClr val="CC0000"/>
                </a:solidFill>
              </a:rPr>
              <a:t> = V</a:t>
            </a:r>
            <a:r>
              <a:rPr baseline="-25000" lang="en" sz="1600">
                <a:solidFill>
                  <a:srgbClr val="CC0000"/>
                </a:solidFill>
              </a:rPr>
              <a:t>M</a:t>
            </a:r>
            <a:r>
              <a:rPr lang="en" sz="1600">
                <a:solidFill>
                  <a:srgbClr val="CC0000"/>
                </a:solidFill>
              </a:rPr>
              <a:t> × T</a:t>
            </a:r>
            <a:r>
              <a:rPr baseline="-25000" lang="en" sz="1600">
                <a:solidFill>
                  <a:srgbClr val="CC0000"/>
                </a:solidFill>
              </a:rPr>
              <a:t>HIGH</a:t>
            </a:r>
            <a:r>
              <a:rPr lang="en" sz="1600">
                <a:solidFill>
                  <a:srgbClr val="CC0000"/>
                </a:solidFill>
              </a:rPr>
              <a:t> / T</a:t>
            </a:r>
            <a:r>
              <a:rPr baseline="-25000" lang="en" sz="1600">
                <a:solidFill>
                  <a:srgbClr val="CC0000"/>
                </a:solidFill>
              </a:rPr>
              <a:t>PERIOD</a:t>
            </a:r>
            <a:endParaRPr baseline="-25000" sz="1600">
              <a:solidFill>
                <a:srgbClr val="CC0000"/>
              </a:solidFill>
            </a:endParaRPr>
          </a:p>
        </p:txBody>
      </p:sp>
      <p:sp>
        <p:nvSpPr>
          <p:cNvPr id="233" name="Google Shape;233;p26"/>
          <p:cNvSpPr txBox="1"/>
          <p:nvPr/>
        </p:nvSpPr>
        <p:spPr>
          <a:xfrm>
            <a:off x="2470150" y="4034350"/>
            <a:ext cx="1733400" cy="400200"/>
          </a:xfrm>
          <a:prstGeom prst="rect">
            <a:avLst/>
          </a:prstGeom>
          <a:solidFill>
            <a:schemeClr val="lt1"/>
          </a:solidFill>
          <a:ln cap="flat" cmpd="sng" w="19050">
            <a:solidFill>
              <a:srgbClr val="CC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CC0000"/>
                </a:solidFill>
              </a:rPr>
              <a:t>determines </a:t>
            </a:r>
            <a:r>
              <a:rPr b="1" i="1" lang="en">
                <a:solidFill>
                  <a:srgbClr val="CC0000"/>
                </a:solidFill>
              </a:rPr>
              <a:t>T</a:t>
            </a:r>
            <a:r>
              <a:rPr b="1" baseline="-25000" i="1" lang="en">
                <a:solidFill>
                  <a:srgbClr val="CC0000"/>
                </a:solidFill>
              </a:rPr>
              <a:t>PERIOD</a:t>
            </a:r>
            <a:endParaRPr>
              <a:solidFill>
                <a:srgbClr val="CC0000"/>
              </a:solidFill>
            </a:endParaRPr>
          </a:p>
        </p:txBody>
      </p:sp>
      <p:sp>
        <p:nvSpPr>
          <p:cNvPr id="234" name="Google Shape;234;p26"/>
          <p:cNvSpPr txBox="1"/>
          <p:nvPr/>
        </p:nvSpPr>
        <p:spPr>
          <a:xfrm>
            <a:off x="2470150" y="5405700"/>
            <a:ext cx="1733400" cy="400200"/>
          </a:xfrm>
          <a:prstGeom prst="rect">
            <a:avLst/>
          </a:prstGeom>
          <a:solidFill>
            <a:schemeClr val="lt1"/>
          </a:solidFill>
          <a:ln cap="flat" cmpd="sng" w="19050">
            <a:solidFill>
              <a:srgbClr val="CC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CC0000"/>
                </a:solidFill>
              </a:rPr>
              <a:t>determines </a:t>
            </a:r>
            <a:r>
              <a:rPr b="1" i="1" lang="en">
                <a:solidFill>
                  <a:srgbClr val="CC0000"/>
                </a:solidFill>
              </a:rPr>
              <a:t>T</a:t>
            </a:r>
            <a:r>
              <a:rPr b="1" baseline="-25000" i="1" lang="en">
                <a:solidFill>
                  <a:srgbClr val="CC0000"/>
                </a:solidFill>
              </a:rPr>
              <a:t>HIGH</a:t>
            </a:r>
            <a:endParaRPr>
              <a:solidFill>
                <a:srgbClr val="CC0000"/>
              </a:solidFill>
            </a:endParaRPr>
          </a:p>
        </p:txBody>
      </p:sp>
      <p:sp>
        <p:nvSpPr>
          <p:cNvPr id="235" name="Google Shape;235;p26"/>
          <p:cNvSpPr txBox="1"/>
          <p:nvPr/>
        </p:nvSpPr>
        <p:spPr>
          <a:xfrm>
            <a:off x="2232850" y="3154375"/>
            <a:ext cx="2488800" cy="400200"/>
          </a:xfrm>
          <a:prstGeom prst="rect">
            <a:avLst/>
          </a:prstGeom>
          <a:solidFill>
            <a:schemeClr val="lt1"/>
          </a:solidFill>
          <a:ln cap="flat" cmpd="sng" w="19050">
            <a:solidFill>
              <a:srgbClr val="CC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CC0000"/>
                </a:solidFill>
              </a:rPr>
              <a:t>Prescaler - counting rate</a:t>
            </a:r>
            <a:endParaRPr>
              <a:solidFill>
                <a:srgbClr val="CC000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7"/>
          <p:cNvSpPr txBox="1"/>
          <p:nvPr>
            <p:ph type="title"/>
          </p:nvPr>
        </p:nvSpPr>
        <p:spPr>
          <a:xfrm>
            <a:off x="533400" y="457200"/>
            <a:ext cx="7543800" cy="381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a:t>Example code: TTmotor_ramp.c (2)</a:t>
            </a:r>
            <a:endParaRPr/>
          </a:p>
        </p:txBody>
      </p:sp>
      <p:sp>
        <p:nvSpPr>
          <p:cNvPr id="241" name="Google Shape;241;p27"/>
          <p:cNvSpPr txBox="1"/>
          <p:nvPr>
            <p:ph idx="1" type="body"/>
          </p:nvPr>
        </p:nvSpPr>
        <p:spPr>
          <a:xfrm>
            <a:off x="533400" y="990600"/>
            <a:ext cx="8153400" cy="5105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 sz="1400"/>
              <a:t>If it is detected that the motor will change direction, force it to brake first.</a:t>
            </a:r>
            <a:endParaRPr sz="1400"/>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b="1" lang="en" sz="1200">
                <a:latin typeface="Courier New"/>
                <a:ea typeface="Courier New"/>
                <a:cs typeface="Courier New"/>
                <a:sym typeface="Courier New"/>
              </a:rPr>
              <a:t>// First set direction</a:t>
            </a:r>
            <a:endParaRPr b="1" sz="1200">
              <a:latin typeface="Courier New"/>
              <a:ea typeface="Courier New"/>
              <a:cs typeface="Courier New"/>
              <a:sym typeface="Courier New"/>
            </a:endParaRPr>
          </a:p>
          <a:p>
            <a:pPr indent="0" lvl="0" marL="0" rtl="0" algn="l">
              <a:spcBef>
                <a:spcPts val="0"/>
              </a:spcBef>
              <a:spcAft>
                <a:spcPts val="0"/>
              </a:spcAft>
              <a:buNone/>
            </a:pPr>
            <a:r>
              <a:rPr b="1" lang="en" sz="1200">
                <a:latin typeface="Courier New"/>
                <a:ea typeface="Courier New"/>
                <a:cs typeface="Courier New"/>
                <a:sym typeface="Courier New"/>
              </a:rPr>
              <a:t>   	 if(counter_new &gt; 0) {</a:t>
            </a:r>
            <a:endParaRPr b="1" sz="1200">
              <a:latin typeface="Courier New"/>
              <a:ea typeface="Courier New"/>
              <a:cs typeface="Courier New"/>
              <a:sym typeface="Courier New"/>
            </a:endParaRPr>
          </a:p>
          <a:p>
            <a:pPr indent="0" lvl="0" marL="0" rtl="0" algn="l">
              <a:spcBef>
                <a:spcPts val="0"/>
              </a:spcBef>
              <a:spcAft>
                <a:spcPts val="0"/>
              </a:spcAft>
              <a:buNone/>
            </a:pPr>
            <a:r>
              <a:rPr b="1" lang="en" sz="1200">
                <a:latin typeface="Courier New"/>
                <a:ea typeface="Courier New"/>
                <a:cs typeface="Courier New"/>
                <a:sym typeface="Courier New"/>
              </a:rPr>
              <a:t>   		 if (counter_old &lt; 0) {   		 // changing direction</a:t>
            </a:r>
            <a:endParaRPr b="1" sz="1200">
              <a:latin typeface="Courier New"/>
              <a:ea typeface="Courier New"/>
              <a:cs typeface="Courier New"/>
              <a:sym typeface="Courier New"/>
            </a:endParaRPr>
          </a:p>
          <a:p>
            <a:pPr indent="0" lvl="0" marL="0" rtl="0" algn="l">
              <a:spcBef>
                <a:spcPts val="0"/>
              </a:spcBef>
              <a:spcAft>
                <a:spcPts val="0"/>
              </a:spcAft>
              <a:buNone/>
            </a:pPr>
            <a:r>
              <a:rPr b="1" lang="en" sz="1200">
                <a:latin typeface="Courier New"/>
                <a:ea typeface="Courier New"/>
                <a:cs typeface="Courier New"/>
                <a:sym typeface="Courier New"/>
              </a:rPr>
              <a:t>   			 TB6612_AIN1 = 1;</a:t>
            </a:r>
            <a:endParaRPr b="1" sz="1200">
              <a:latin typeface="Courier New"/>
              <a:ea typeface="Courier New"/>
              <a:cs typeface="Courier New"/>
              <a:sym typeface="Courier New"/>
            </a:endParaRPr>
          </a:p>
          <a:p>
            <a:pPr indent="0" lvl="0" marL="0" rtl="0" algn="l">
              <a:spcBef>
                <a:spcPts val="0"/>
              </a:spcBef>
              <a:spcAft>
                <a:spcPts val="0"/>
              </a:spcAft>
              <a:buNone/>
            </a:pPr>
            <a:r>
              <a:rPr b="1" lang="en" sz="1200">
                <a:latin typeface="Courier New"/>
                <a:ea typeface="Courier New"/>
                <a:cs typeface="Courier New"/>
                <a:sym typeface="Courier New"/>
              </a:rPr>
              <a:t>   			 TB6612_AIN2 = 1;   		 // short brake</a:t>
            </a:r>
            <a:endParaRPr b="1" sz="1200">
              <a:latin typeface="Courier New"/>
              <a:ea typeface="Courier New"/>
              <a:cs typeface="Courier New"/>
              <a:sym typeface="Courier New"/>
            </a:endParaRPr>
          </a:p>
          <a:p>
            <a:pPr indent="0" lvl="0" marL="0" rtl="0" algn="l">
              <a:spcBef>
                <a:spcPts val="0"/>
              </a:spcBef>
              <a:spcAft>
                <a:spcPts val="0"/>
              </a:spcAft>
              <a:buNone/>
            </a:pPr>
            <a:r>
              <a:rPr b="1" lang="en" sz="1200">
                <a:latin typeface="Courier New"/>
                <a:ea typeface="Courier New"/>
                <a:cs typeface="Courier New"/>
                <a:sym typeface="Courier New"/>
              </a:rPr>
              <a:t>   		 } else {</a:t>
            </a:r>
            <a:endParaRPr b="1" sz="1200">
              <a:latin typeface="Courier New"/>
              <a:ea typeface="Courier New"/>
              <a:cs typeface="Courier New"/>
              <a:sym typeface="Courier New"/>
            </a:endParaRPr>
          </a:p>
          <a:p>
            <a:pPr indent="0" lvl="0" marL="0" rtl="0" algn="l">
              <a:spcBef>
                <a:spcPts val="0"/>
              </a:spcBef>
              <a:spcAft>
                <a:spcPts val="0"/>
              </a:spcAft>
              <a:buNone/>
            </a:pPr>
            <a:r>
              <a:rPr b="1" lang="en" sz="1200">
                <a:latin typeface="Courier New"/>
                <a:ea typeface="Courier New"/>
                <a:cs typeface="Courier New"/>
                <a:sym typeface="Courier New"/>
              </a:rPr>
              <a:t>   			 TB6612_AIN1 = 1;</a:t>
            </a:r>
            <a:endParaRPr b="1" sz="1200">
              <a:latin typeface="Courier New"/>
              <a:ea typeface="Courier New"/>
              <a:cs typeface="Courier New"/>
              <a:sym typeface="Courier New"/>
            </a:endParaRPr>
          </a:p>
          <a:p>
            <a:pPr indent="0" lvl="0" marL="0" rtl="0" algn="l">
              <a:spcBef>
                <a:spcPts val="0"/>
              </a:spcBef>
              <a:spcAft>
                <a:spcPts val="0"/>
              </a:spcAft>
              <a:buNone/>
            </a:pPr>
            <a:r>
              <a:rPr b="1" lang="en" sz="1200">
                <a:latin typeface="Courier New"/>
                <a:ea typeface="Courier New"/>
                <a:cs typeface="Courier New"/>
                <a:sym typeface="Courier New"/>
              </a:rPr>
              <a:t>   			 TB6612_AIN2 = 0;   		 // CW</a:t>
            </a:r>
            <a:endParaRPr b="1" sz="1200">
              <a:latin typeface="Courier New"/>
              <a:ea typeface="Courier New"/>
              <a:cs typeface="Courier New"/>
              <a:sym typeface="Courier New"/>
            </a:endParaRPr>
          </a:p>
          <a:p>
            <a:pPr indent="0" lvl="0" marL="0" rtl="0" algn="l">
              <a:spcBef>
                <a:spcPts val="0"/>
              </a:spcBef>
              <a:spcAft>
                <a:spcPts val="0"/>
              </a:spcAft>
              <a:buNone/>
            </a:pPr>
            <a:r>
              <a:rPr b="1" lang="en" sz="1200">
                <a:latin typeface="Courier New"/>
                <a:ea typeface="Courier New"/>
                <a:cs typeface="Courier New"/>
                <a:sym typeface="Courier New"/>
              </a:rPr>
              <a:t>   		 }</a:t>
            </a:r>
            <a:endParaRPr b="1" sz="1200">
              <a:latin typeface="Courier New"/>
              <a:ea typeface="Courier New"/>
              <a:cs typeface="Courier New"/>
              <a:sym typeface="Courier New"/>
            </a:endParaRPr>
          </a:p>
          <a:p>
            <a:pPr indent="0" lvl="0" marL="0" rtl="0" algn="l">
              <a:spcBef>
                <a:spcPts val="0"/>
              </a:spcBef>
              <a:spcAft>
                <a:spcPts val="0"/>
              </a:spcAft>
              <a:buNone/>
            </a:pPr>
            <a:r>
              <a:rPr b="1" lang="en" sz="1200">
                <a:latin typeface="Courier New"/>
                <a:ea typeface="Courier New"/>
                <a:cs typeface="Courier New"/>
                <a:sym typeface="Courier New"/>
              </a:rPr>
              <a:t>   	 } else {</a:t>
            </a:r>
            <a:endParaRPr b="1" sz="1200">
              <a:latin typeface="Courier New"/>
              <a:ea typeface="Courier New"/>
              <a:cs typeface="Courier New"/>
              <a:sym typeface="Courier New"/>
            </a:endParaRPr>
          </a:p>
          <a:p>
            <a:pPr indent="0" lvl="0" marL="0" rtl="0" algn="l">
              <a:spcBef>
                <a:spcPts val="0"/>
              </a:spcBef>
              <a:spcAft>
                <a:spcPts val="0"/>
              </a:spcAft>
              <a:buNone/>
            </a:pPr>
            <a:r>
              <a:rPr b="1" lang="en" sz="1200">
                <a:latin typeface="Courier New"/>
                <a:ea typeface="Courier New"/>
                <a:cs typeface="Courier New"/>
                <a:sym typeface="Courier New"/>
              </a:rPr>
              <a:t>   		 if (counter_old &gt; 0) {   		 // changing direction</a:t>
            </a:r>
            <a:endParaRPr b="1" sz="1200">
              <a:latin typeface="Courier New"/>
              <a:ea typeface="Courier New"/>
              <a:cs typeface="Courier New"/>
              <a:sym typeface="Courier New"/>
            </a:endParaRPr>
          </a:p>
          <a:p>
            <a:pPr indent="0" lvl="0" marL="0" rtl="0" algn="l">
              <a:spcBef>
                <a:spcPts val="0"/>
              </a:spcBef>
              <a:spcAft>
                <a:spcPts val="0"/>
              </a:spcAft>
              <a:buNone/>
            </a:pPr>
            <a:r>
              <a:rPr b="1" lang="en" sz="1200">
                <a:latin typeface="Courier New"/>
                <a:ea typeface="Courier New"/>
                <a:cs typeface="Courier New"/>
                <a:sym typeface="Courier New"/>
              </a:rPr>
              <a:t>   			 TB6612_AIN1 = 1;</a:t>
            </a:r>
            <a:endParaRPr b="1" sz="1200">
              <a:latin typeface="Courier New"/>
              <a:ea typeface="Courier New"/>
              <a:cs typeface="Courier New"/>
              <a:sym typeface="Courier New"/>
            </a:endParaRPr>
          </a:p>
          <a:p>
            <a:pPr indent="0" lvl="0" marL="0" rtl="0" algn="l">
              <a:spcBef>
                <a:spcPts val="0"/>
              </a:spcBef>
              <a:spcAft>
                <a:spcPts val="0"/>
              </a:spcAft>
              <a:buNone/>
            </a:pPr>
            <a:r>
              <a:rPr b="1" lang="en" sz="1200">
                <a:latin typeface="Courier New"/>
                <a:ea typeface="Courier New"/>
                <a:cs typeface="Courier New"/>
                <a:sym typeface="Courier New"/>
              </a:rPr>
              <a:t>   			 TB6612_AIN2 = 1;   		 // short brake</a:t>
            </a:r>
            <a:endParaRPr b="1" sz="1200">
              <a:latin typeface="Courier New"/>
              <a:ea typeface="Courier New"/>
              <a:cs typeface="Courier New"/>
              <a:sym typeface="Courier New"/>
            </a:endParaRPr>
          </a:p>
          <a:p>
            <a:pPr indent="0" lvl="0" marL="0" rtl="0" algn="l">
              <a:spcBef>
                <a:spcPts val="0"/>
              </a:spcBef>
              <a:spcAft>
                <a:spcPts val="0"/>
              </a:spcAft>
              <a:buNone/>
            </a:pPr>
            <a:r>
              <a:rPr b="1" lang="en" sz="1200">
                <a:latin typeface="Courier New"/>
                <a:ea typeface="Courier New"/>
                <a:cs typeface="Courier New"/>
                <a:sym typeface="Courier New"/>
              </a:rPr>
              <a:t>   		 } else {</a:t>
            </a:r>
            <a:endParaRPr b="1" sz="1200">
              <a:latin typeface="Courier New"/>
              <a:ea typeface="Courier New"/>
              <a:cs typeface="Courier New"/>
              <a:sym typeface="Courier New"/>
            </a:endParaRPr>
          </a:p>
          <a:p>
            <a:pPr indent="0" lvl="0" marL="0" rtl="0" algn="l">
              <a:spcBef>
                <a:spcPts val="0"/>
              </a:spcBef>
              <a:spcAft>
                <a:spcPts val="0"/>
              </a:spcAft>
              <a:buNone/>
            </a:pPr>
            <a:r>
              <a:rPr b="1" lang="en" sz="1200">
                <a:latin typeface="Courier New"/>
                <a:ea typeface="Courier New"/>
                <a:cs typeface="Courier New"/>
                <a:sym typeface="Courier New"/>
              </a:rPr>
              <a:t>   			 TB6612_AIN1 = 0;</a:t>
            </a:r>
            <a:endParaRPr b="1" sz="1200">
              <a:latin typeface="Courier New"/>
              <a:ea typeface="Courier New"/>
              <a:cs typeface="Courier New"/>
              <a:sym typeface="Courier New"/>
            </a:endParaRPr>
          </a:p>
          <a:p>
            <a:pPr indent="0" lvl="0" marL="0" rtl="0" algn="l">
              <a:spcBef>
                <a:spcPts val="0"/>
              </a:spcBef>
              <a:spcAft>
                <a:spcPts val="0"/>
              </a:spcAft>
              <a:buNone/>
            </a:pPr>
            <a:r>
              <a:rPr b="1" lang="en" sz="1200">
                <a:latin typeface="Courier New"/>
                <a:ea typeface="Courier New"/>
                <a:cs typeface="Courier New"/>
                <a:sym typeface="Courier New"/>
              </a:rPr>
              <a:t>   			 TB6612_AIN2 = 1;   		 // CCW</a:t>
            </a:r>
            <a:endParaRPr b="1" sz="1200">
              <a:latin typeface="Courier New"/>
              <a:ea typeface="Courier New"/>
              <a:cs typeface="Courier New"/>
              <a:sym typeface="Courier New"/>
            </a:endParaRPr>
          </a:p>
          <a:p>
            <a:pPr indent="0" lvl="0" marL="0" rtl="0" algn="l">
              <a:spcBef>
                <a:spcPts val="0"/>
              </a:spcBef>
              <a:spcAft>
                <a:spcPts val="0"/>
              </a:spcAft>
              <a:buNone/>
            </a:pPr>
            <a:r>
              <a:rPr b="1" lang="en" sz="1200">
                <a:latin typeface="Courier New"/>
                <a:ea typeface="Courier New"/>
                <a:cs typeface="Courier New"/>
                <a:sym typeface="Courier New"/>
              </a:rPr>
              <a:t>   		 }</a:t>
            </a:r>
            <a:endParaRPr b="1" sz="1200">
              <a:latin typeface="Courier New"/>
              <a:ea typeface="Courier New"/>
              <a:cs typeface="Courier New"/>
              <a:sym typeface="Courier New"/>
            </a:endParaRPr>
          </a:p>
          <a:p>
            <a:pPr indent="0" lvl="0" marL="0" rtl="0" algn="l">
              <a:spcBef>
                <a:spcPts val="0"/>
              </a:spcBef>
              <a:spcAft>
                <a:spcPts val="0"/>
              </a:spcAft>
              <a:buNone/>
            </a:pPr>
            <a:r>
              <a:rPr b="1" lang="en" sz="1200">
                <a:latin typeface="Courier New"/>
                <a:ea typeface="Courier New"/>
                <a:cs typeface="Courier New"/>
                <a:sym typeface="Courier New"/>
              </a:rPr>
              <a:t>   	 }</a:t>
            </a:r>
            <a:endParaRPr b="1" sz="1200">
              <a:latin typeface="Courier New"/>
              <a:ea typeface="Courier New"/>
              <a:cs typeface="Courier New"/>
              <a:sym typeface="Courier New"/>
            </a:endParaRPr>
          </a:p>
          <a:p>
            <a:pPr indent="0" lvl="0" marL="0" rtl="0" algn="l">
              <a:spcBef>
                <a:spcPts val="0"/>
              </a:spcBef>
              <a:spcAft>
                <a:spcPts val="0"/>
              </a:spcAft>
              <a:buNone/>
            </a:pPr>
            <a:r>
              <a:t/>
            </a:r>
            <a:endParaRPr b="1" sz="1200">
              <a:latin typeface="Courier New"/>
              <a:ea typeface="Courier New"/>
              <a:cs typeface="Courier New"/>
              <a:sym typeface="Courier New"/>
            </a:endParaRPr>
          </a:p>
          <a:p>
            <a:pPr indent="0" lvl="0" marL="457200" rtl="0" algn="l">
              <a:spcBef>
                <a:spcPts val="0"/>
              </a:spcBef>
              <a:spcAft>
                <a:spcPts val="0"/>
              </a:spcAft>
              <a:buClr>
                <a:schemeClr val="dk1"/>
              </a:buClr>
              <a:buSzPts val="1100"/>
              <a:buFont typeface="Arial"/>
              <a:buNone/>
            </a:pPr>
            <a:r>
              <a:rPr b="1" lang="en" sz="1200">
                <a:latin typeface="Courier New"/>
                <a:ea typeface="Courier New"/>
                <a:cs typeface="Courier New"/>
                <a:sym typeface="Courier New"/>
              </a:rPr>
              <a:t>GPIOA-&gt;ODR = (GPIOA-&gt;ODR &amp; ~GPIO_ODR_OD5_Msk) | (TB6612_AIN1 &lt;&lt; GPIO_ODR_OD5_Pos);</a:t>
            </a:r>
            <a:endParaRPr b="1"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200">
                <a:latin typeface="Courier New"/>
                <a:ea typeface="Courier New"/>
                <a:cs typeface="Courier New"/>
                <a:sym typeface="Courier New"/>
              </a:rPr>
              <a:t>	GPIOA-&gt;ODR = (GPIOA-&gt;ODR &amp; ~GPIO_ODR_OD6_Msk) | (TB6612_AIN2 &lt;&lt; GPIO_ODR_OD6_Pos);</a:t>
            </a:r>
            <a:endParaRPr b="1"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1200">
              <a:latin typeface="Courier New"/>
              <a:ea typeface="Courier New"/>
              <a:cs typeface="Courier New"/>
              <a:sym typeface="Courier New"/>
            </a:endParaRPr>
          </a:p>
          <a:p>
            <a:pPr indent="0" lvl="0" marL="0" rtl="0" algn="l">
              <a:spcBef>
                <a:spcPts val="0"/>
              </a:spcBef>
              <a:spcAft>
                <a:spcPts val="0"/>
              </a:spcAft>
              <a:buNone/>
            </a:pPr>
            <a:r>
              <a:t/>
            </a:r>
            <a:endParaRPr b="1" sz="1200">
              <a:latin typeface="Courier New"/>
              <a:ea typeface="Courier New"/>
              <a:cs typeface="Courier New"/>
              <a:sym typeface="Courier New"/>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28"/>
          <p:cNvSpPr txBox="1"/>
          <p:nvPr>
            <p:ph type="title"/>
          </p:nvPr>
        </p:nvSpPr>
        <p:spPr>
          <a:xfrm>
            <a:off x="533400" y="457200"/>
            <a:ext cx="7543800" cy="381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a:t>Example code: TTmotor_ramp.c (3)</a:t>
            </a:r>
            <a:endParaRPr/>
          </a:p>
        </p:txBody>
      </p:sp>
      <p:sp>
        <p:nvSpPr>
          <p:cNvPr id="247" name="Google Shape;247;p28"/>
          <p:cNvSpPr txBox="1"/>
          <p:nvPr>
            <p:ph idx="1" type="body"/>
          </p:nvPr>
        </p:nvSpPr>
        <p:spPr>
          <a:xfrm>
            <a:off x="533400" y="990600"/>
            <a:ext cx="8153400" cy="5105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 sz="1400"/>
              <a:t>The</a:t>
            </a:r>
            <a:r>
              <a:rPr lang="en" sz="1400"/>
              <a:t> ramp signal is bipolar, so take absolute value before passing to PWMtimer1_set().</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b="1" lang="en" sz="1500">
                <a:latin typeface="Courier New"/>
                <a:ea typeface="Courier New"/>
                <a:cs typeface="Courier New"/>
                <a:sym typeface="Courier New"/>
              </a:rPr>
              <a:t>// Now set the magnitude</a:t>
            </a:r>
            <a:endParaRPr b="1" sz="1500">
              <a:latin typeface="Courier New"/>
              <a:ea typeface="Courier New"/>
              <a:cs typeface="Courier New"/>
              <a:sym typeface="Courier New"/>
            </a:endParaRPr>
          </a:p>
          <a:p>
            <a:pPr indent="0" lvl="0" marL="0" rtl="0" algn="l">
              <a:spcBef>
                <a:spcPts val="0"/>
              </a:spcBef>
              <a:spcAft>
                <a:spcPts val="0"/>
              </a:spcAft>
              <a:buNone/>
            </a:pPr>
            <a:r>
              <a:rPr b="1" lang="en" sz="1500">
                <a:latin typeface="Courier New"/>
                <a:ea typeface="Courier New"/>
                <a:cs typeface="Courier New"/>
                <a:sym typeface="Courier New"/>
              </a:rPr>
              <a:t>   	 TB6612_PWMA = abs(counter_new);     // magnitude (speed)</a:t>
            </a:r>
            <a:endParaRPr b="1" sz="1500">
              <a:latin typeface="Courier New"/>
              <a:ea typeface="Courier New"/>
              <a:cs typeface="Courier New"/>
              <a:sym typeface="Courier New"/>
            </a:endParaRPr>
          </a:p>
          <a:p>
            <a:pPr indent="0" lvl="0" marL="0" rtl="0" algn="l">
              <a:spcBef>
                <a:spcPts val="0"/>
              </a:spcBef>
              <a:spcAft>
                <a:spcPts val="0"/>
              </a:spcAft>
              <a:buNone/>
            </a:pPr>
            <a:r>
              <a:rPr b="1" lang="en" sz="1500">
                <a:latin typeface="Courier New"/>
                <a:ea typeface="Courier New"/>
                <a:cs typeface="Courier New"/>
                <a:sym typeface="Courier New"/>
              </a:rPr>
              <a:t>   			 </a:t>
            </a:r>
            <a:endParaRPr b="1" sz="1500">
              <a:latin typeface="Courier New"/>
              <a:ea typeface="Courier New"/>
              <a:cs typeface="Courier New"/>
              <a:sym typeface="Courier New"/>
            </a:endParaRPr>
          </a:p>
          <a:p>
            <a:pPr indent="0" lvl="0" marL="0" rtl="0" algn="l">
              <a:spcBef>
                <a:spcPts val="0"/>
              </a:spcBef>
              <a:spcAft>
                <a:spcPts val="0"/>
              </a:spcAft>
              <a:buNone/>
            </a:pPr>
            <a:r>
              <a:rPr b="1" lang="en" sz="1500">
                <a:latin typeface="Courier New"/>
                <a:ea typeface="Courier New"/>
                <a:cs typeface="Courier New"/>
                <a:sym typeface="Courier New"/>
              </a:rPr>
              <a:t>   	 </a:t>
            </a:r>
            <a:r>
              <a:rPr b="1" lang="en" sz="1500">
                <a:latin typeface="Courier New"/>
                <a:ea typeface="Courier New"/>
                <a:cs typeface="Courier New"/>
                <a:sym typeface="Courier New"/>
              </a:rPr>
              <a:t>tim14_pwm_set(TB6612_PWMA);</a:t>
            </a:r>
            <a:r>
              <a:rPr b="1" lang="en" sz="1500">
                <a:latin typeface="Courier New"/>
                <a:ea typeface="Courier New"/>
                <a:cs typeface="Courier New"/>
                <a:sym typeface="Courier New"/>
              </a:rPr>
              <a:t>   	  // Update the PWM</a:t>
            </a:r>
            <a:endParaRPr b="1" sz="1500">
              <a:latin typeface="Courier New"/>
              <a:ea typeface="Courier New"/>
              <a:cs typeface="Courier New"/>
              <a:sym typeface="Courier New"/>
            </a:endParaRPr>
          </a:p>
          <a:p>
            <a:pPr indent="0" lvl="0" marL="0" rtl="0" algn="l">
              <a:spcBef>
                <a:spcPts val="0"/>
              </a:spcBef>
              <a:spcAft>
                <a:spcPts val="0"/>
              </a:spcAft>
              <a:buNone/>
            </a:pPr>
            <a:r>
              <a:t/>
            </a:r>
            <a:endParaRPr b="1" sz="1500">
              <a:latin typeface="Courier New"/>
              <a:ea typeface="Courier New"/>
              <a:cs typeface="Courier New"/>
              <a:sym typeface="Courier New"/>
            </a:endParaRPr>
          </a:p>
          <a:p>
            <a:pPr indent="0" lvl="0" marL="0" rtl="0" algn="l">
              <a:spcBef>
                <a:spcPts val="0"/>
              </a:spcBef>
              <a:spcAft>
                <a:spcPts val="0"/>
              </a:spcAft>
              <a:buNone/>
            </a:pPr>
            <a:r>
              <a:t/>
            </a:r>
            <a:endParaRPr sz="1500">
              <a:latin typeface="Courier New"/>
              <a:ea typeface="Courier New"/>
              <a:cs typeface="Courier New"/>
              <a:sym typeface="Courier New"/>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9"/>
          <p:cNvSpPr txBox="1"/>
          <p:nvPr>
            <p:ph type="title"/>
          </p:nvPr>
        </p:nvSpPr>
        <p:spPr>
          <a:xfrm>
            <a:off x="533400" y="457200"/>
            <a:ext cx="7543800" cy="381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
              <a:t>PWM design</a:t>
            </a:r>
            <a:endParaRPr/>
          </a:p>
        </p:txBody>
      </p:sp>
      <p:sp>
        <p:nvSpPr>
          <p:cNvPr id="253" name="Google Shape;253;p29"/>
          <p:cNvSpPr txBox="1"/>
          <p:nvPr>
            <p:ph idx="12" type="sldNum"/>
          </p:nvPr>
        </p:nvSpPr>
        <p:spPr>
          <a:xfrm>
            <a:off x="6781800" y="6248400"/>
            <a:ext cx="1905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
              <a:t>23.</a:t>
            </a:r>
            <a:fld id="{00000000-1234-1234-1234-123412341234}" type="slidenum">
              <a:rPr lang="en"/>
              <a:t>‹#›</a:t>
            </a:fld>
            <a:endParaRPr/>
          </a:p>
        </p:txBody>
      </p:sp>
      <p:pic>
        <p:nvPicPr>
          <p:cNvPr descr="PWM-2.pdf" id="254" name="Google Shape;254;p29"/>
          <p:cNvPicPr preferRelativeResize="0"/>
          <p:nvPr/>
        </p:nvPicPr>
        <p:blipFill rotWithShape="1">
          <a:blip r:embed="rId3">
            <a:alphaModFix/>
          </a:blip>
          <a:srcRect b="0" l="0" r="0" t="0"/>
          <a:stretch/>
        </p:blipFill>
        <p:spPr>
          <a:xfrm>
            <a:off x="606425" y="1077913"/>
            <a:ext cx="8080376" cy="2446337"/>
          </a:xfrm>
          <a:prstGeom prst="rect">
            <a:avLst/>
          </a:prstGeom>
          <a:noFill/>
          <a:ln>
            <a:noFill/>
          </a:ln>
        </p:spPr>
      </p:pic>
      <p:sp>
        <p:nvSpPr>
          <p:cNvPr id="255" name="Google Shape;255;p29"/>
          <p:cNvSpPr txBox="1"/>
          <p:nvPr/>
        </p:nvSpPr>
        <p:spPr>
          <a:xfrm>
            <a:off x="2022063" y="1217375"/>
            <a:ext cx="5249100" cy="369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rPr i="0" lang="en" sz="1600" u="none" cap="none" strike="noStrike">
                <a:solidFill>
                  <a:schemeClr val="dk1"/>
                </a:solidFill>
              </a:rPr>
              <a:t>Minimum pulse width, </a:t>
            </a:r>
            <a:r>
              <a:rPr i="1" lang="en" sz="1600" u="none" cap="none" strike="noStrike">
                <a:solidFill>
                  <a:schemeClr val="dk1"/>
                </a:solidFill>
              </a:rPr>
              <a:t>T</a:t>
            </a:r>
            <a:r>
              <a:rPr baseline="-25000" i="0" lang="en" sz="1600" u="none" cap="none" strike="noStrike">
                <a:solidFill>
                  <a:schemeClr val="dk1"/>
                </a:solidFill>
              </a:rPr>
              <a:t>0 </a:t>
            </a:r>
            <a:r>
              <a:rPr i="0" lang="en" sz="1600" u="none" cap="none" strike="noStrike">
                <a:solidFill>
                  <a:schemeClr val="dk1"/>
                </a:solidFill>
              </a:rPr>
              <a:t> = </a:t>
            </a:r>
            <a:r>
              <a:rPr i="1" lang="en" sz="1600" u="none" cap="none" strike="noStrike">
                <a:solidFill>
                  <a:schemeClr val="dk1"/>
                </a:solidFill>
              </a:rPr>
              <a:t>T</a:t>
            </a:r>
            <a:r>
              <a:rPr baseline="-25000" i="0" lang="en" sz="1600" u="none" cap="none" strike="noStrike">
                <a:solidFill>
                  <a:schemeClr val="dk1"/>
                </a:solidFill>
              </a:rPr>
              <a:t>p</a:t>
            </a:r>
            <a:r>
              <a:rPr i="0" lang="en" sz="1600" u="none" cap="none" strike="noStrike">
                <a:solidFill>
                  <a:schemeClr val="dk1"/>
                </a:solidFill>
              </a:rPr>
              <a:t>/</a:t>
            </a:r>
            <a:r>
              <a:rPr lang="en" sz="1600">
                <a:solidFill>
                  <a:schemeClr val="dk1"/>
                </a:solidFill>
              </a:rPr>
              <a:t> </a:t>
            </a:r>
            <a:r>
              <a:rPr lang="en" sz="1600">
                <a:solidFill>
                  <a:schemeClr val="dk1"/>
                </a:solidFill>
              </a:rPr>
              <a:t>PWM_TIMER_MAX</a:t>
            </a:r>
            <a:endParaRPr sz="1600"/>
          </a:p>
        </p:txBody>
      </p:sp>
      <p:sp>
        <p:nvSpPr>
          <p:cNvPr id="256" name="Google Shape;256;p29"/>
          <p:cNvSpPr txBox="1"/>
          <p:nvPr/>
        </p:nvSpPr>
        <p:spPr>
          <a:xfrm>
            <a:off x="1912938" y="3211513"/>
            <a:ext cx="1821000" cy="369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rPr i="0" lang="en" sz="1600" u="none" cap="none" strike="noStrike">
                <a:solidFill>
                  <a:schemeClr val="dk1"/>
                </a:solidFill>
              </a:rPr>
              <a:t>Pulse period, </a:t>
            </a:r>
            <a:r>
              <a:rPr i="1" lang="en" sz="1600" u="none" cap="none" strike="noStrike">
                <a:solidFill>
                  <a:schemeClr val="dk1"/>
                </a:solidFill>
              </a:rPr>
              <a:t>T</a:t>
            </a:r>
            <a:r>
              <a:rPr baseline="-25000" i="0" lang="en" sz="1600" u="none" cap="none" strike="noStrike">
                <a:solidFill>
                  <a:schemeClr val="dk1"/>
                </a:solidFill>
              </a:rPr>
              <a:t>p</a:t>
            </a:r>
            <a:endParaRPr sz="1600"/>
          </a:p>
        </p:txBody>
      </p:sp>
      <p:graphicFrame>
        <p:nvGraphicFramePr>
          <p:cNvPr id="257" name="Google Shape;257;p29"/>
          <p:cNvGraphicFramePr/>
          <p:nvPr/>
        </p:nvGraphicFramePr>
        <p:xfrm>
          <a:off x="533425" y="3974180"/>
          <a:ext cx="3000000" cy="3000000"/>
        </p:xfrm>
        <a:graphic>
          <a:graphicData uri="http://schemas.openxmlformats.org/drawingml/2006/table">
            <a:tbl>
              <a:tblPr>
                <a:noFill/>
                <a:tableStyleId>{98C800F7-66B3-483B-B4C4-346F78A485B3}</a:tableStyleId>
              </a:tblPr>
              <a:tblGrid>
                <a:gridCol w="2184575"/>
                <a:gridCol w="3280275"/>
                <a:gridCol w="2389600"/>
              </a:tblGrid>
              <a:tr h="393950">
                <a:tc>
                  <a:txBody>
                    <a:bodyPr/>
                    <a:lstStyle/>
                    <a:p>
                      <a:pPr indent="0" lvl="0" marL="0" rtl="0" algn="ctr">
                        <a:spcBef>
                          <a:spcPts val="0"/>
                        </a:spcBef>
                        <a:spcAft>
                          <a:spcPts val="0"/>
                        </a:spcAft>
                        <a:buNone/>
                      </a:pPr>
                      <a:r>
                        <a:rPr lang="en"/>
                        <a:t>Parameter</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t>Calculated from</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t>Set by</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06075">
                <a:tc>
                  <a:txBody>
                    <a:bodyPr/>
                    <a:lstStyle/>
                    <a:p>
                      <a:pPr indent="0" lvl="0" marL="0" rtl="0" algn="l">
                        <a:spcBef>
                          <a:spcPts val="0"/>
                        </a:spcBef>
                        <a:spcAft>
                          <a:spcPts val="0"/>
                        </a:spcAft>
                        <a:buNone/>
                      </a:pPr>
                      <a:r>
                        <a:rPr lang="en"/>
                        <a:t>PWM resolution (#steps)</a:t>
                      </a:r>
                      <a:endParaRPr baseline="-25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solidFill>
                            <a:srgbClr val="FF0000"/>
                          </a:solidFill>
                        </a:rPr>
                        <a:t>PWM_TIMER_MAX</a:t>
                      </a:r>
                      <a:r>
                        <a:rPr lang="en"/>
                        <a:t> ≤ 2</a:t>
                      </a:r>
                      <a:r>
                        <a:rPr baseline="30000" lang="en"/>
                        <a:t>16</a:t>
                      </a:r>
                      <a:r>
                        <a:rPr lang="en"/>
                        <a:t>–1</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TIMx_ARR</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18875">
                <a:tc>
                  <a:txBody>
                    <a:bodyPr/>
                    <a:lstStyle/>
                    <a:p>
                      <a:pPr indent="0" lvl="0" marL="0" rtl="0" algn="l">
                        <a:spcBef>
                          <a:spcPts val="0"/>
                        </a:spcBef>
                        <a:spcAft>
                          <a:spcPts val="0"/>
                        </a:spcAft>
                        <a:buNone/>
                      </a:pPr>
                      <a:r>
                        <a:rPr lang="en"/>
                        <a:t>PWM frequency (1/T</a:t>
                      </a:r>
                      <a:r>
                        <a:rPr baseline="-25000" lang="en"/>
                        <a:t>p</a:t>
                      </a:r>
                      <a:r>
                        <a:rPr lang="en"/>
                        <a:t>)</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solidFill>
                            <a:srgbClr val="FF0000"/>
                          </a:solidFill>
                        </a:rPr>
                        <a:t>Timer clock freq</a:t>
                      </a:r>
                      <a:r>
                        <a:rPr lang="en"/>
                        <a:t> / </a:t>
                      </a:r>
                      <a:r>
                        <a:rPr lang="en"/>
                        <a:t>PSC_FACTOR</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TIMx_PSC</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18875">
                <a:tc>
                  <a:txBody>
                    <a:bodyPr/>
                    <a:lstStyle/>
                    <a:p>
                      <a:pPr indent="0" lvl="0" marL="0" rtl="0" algn="l">
                        <a:spcBef>
                          <a:spcPts val="0"/>
                        </a:spcBef>
                        <a:spcAft>
                          <a:spcPts val="0"/>
                        </a:spcAft>
                        <a:buNone/>
                      </a:pPr>
                      <a:r>
                        <a:rPr lang="en"/>
                        <a:t>PWM duty cycle (≤ 1)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solidFill>
                            <a:srgbClr val="FF0000"/>
                          </a:solidFill>
                        </a:rPr>
                        <a:t>N</a:t>
                      </a:r>
                      <a:r>
                        <a:rPr lang="en"/>
                        <a:t> / </a:t>
                      </a:r>
                      <a:r>
                        <a:rPr lang="en"/>
                        <a:t>PWM_TIMER_MAX</a:t>
                      </a:r>
                      <a:r>
                        <a:rPr lang="en"/>
                        <a:t>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N: TIMx_CCR1</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18875">
                <a:tc>
                  <a:txBody>
                    <a:bodyPr/>
                    <a:lstStyle/>
                    <a:p>
                      <a:pPr indent="0" lvl="0" marL="0" rtl="0" algn="l">
                        <a:spcBef>
                          <a:spcPts val="0"/>
                        </a:spcBef>
                        <a:spcAft>
                          <a:spcPts val="0"/>
                        </a:spcAft>
                        <a:buNone/>
                      </a:pPr>
                      <a:r>
                        <a:rPr lang="en"/>
                        <a:t>Pulse width</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Duty cycle × T</a:t>
                      </a:r>
                      <a:r>
                        <a:rPr baseline="-25000" lang="en"/>
                        <a:t>p</a:t>
                      </a:r>
                      <a:endParaRPr baseline="-25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a:solidFill>
                            <a:schemeClr val="dk1"/>
                          </a:solidFill>
                        </a:rPr>
                        <a:t>N: </a:t>
                      </a:r>
                      <a:r>
                        <a:rPr lang="en">
                          <a:solidFill>
                            <a:schemeClr val="dk1"/>
                          </a:solidFill>
                        </a:rPr>
                        <a:t>TIMx_CCR1</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transition spd="slow">
    <p:fade thruBlk="1"/>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0"/>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Motor speed sensing</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1"/>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will use an optical incremental sensor </a:t>
            </a:r>
            <a:endParaRPr/>
          </a:p>
        </p:txBody>
      </p:sp>
      <p:sp>
        <p:nvSpPr>
          <p:cNvPr id="268" name="Google Shape;268;p31"/>
          <p:cNvSpPr txBox="1"/>
          <p:nvPr/>
        </p:nvSpPr>
        <p:spPr>
          <a:xfrm>
            <a:off x="6102100" y="6335150"/>
            <a:ext cx="2778000" cy="318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i="1" lang="en" sz="1000"/>
              <a:t>https://www.adafruit.com/product/3985</a:t>
            </a:r>
            <a:endParaRPr i="1" sz="1000"/>
          </a:p>
        </p:txBody>
      </p:sp>
      <p:pic>
        <p:nvPicPr>
          <p:cNvPr id="269" name="Google Shape;269;p31"/>
          <p:cNvPicPr preferRelativeResize="0"/>
          <p:nvPr/>
        </p:nvPicPr>
        <p:blipFill>
          <a:blip r:embed="rId3">
            <a:alphaModFix/>
          </a:blip>
          <a:stretch>
            <a:fillRect/>
          </a:stretch>
        </p:blipFill>
        <p:spPr>
          <a:xfrm>
            <a:off x="424925" y="1663275"/>
            <a:ext cx="2706300" cy="2031125"/>
          </a:xfrm>
          <a:prstGeom prst="rect">
            <a:avLst/>
          </a:prstGeom>
          <a:noFill/>
          <a:ln>
            <a:noFill/>
          </a:ln>
        </p:spPr>
      </p:pic>
      <p:pic>
        <p:nvPicPr>
          <p:cNvPr id="270" name="Google Shape;270;p31"/>
          <p:cNvPicPr preferRelativeResize="0"/>
          <p:nvPr/>
        </p:nvPicPr>
        <p:blipFill>
          <a:blip r:embed="rId4">
            <a:alphaModFix/>
          </a:blip>
          <a:stretch>
            <a:fillRect/>
          </a:stretch>
        </p:blipFill>
        <p:spPr>
          <a:xfrm>
            <a:off x="424925" y="4310135"/>
            <a:ext cx="2706300" cy="2031115"/>
          </a:xfrm>
          <a:prstGeom prst="rect">
            <a:avLst/>
          </a:prstGeom>
          <a:noFill/>
          <a:ln>
            <a:noFill/>
          </a:ln>
        </p:spPr>
      </p:pic>
      <p:sp>
        <p:nvSpPr>
          <p:cNvPr id="271" name="Google Shape;271;p31"/>
          <p:cNvSpPr txBox="1"/>
          <p:nvPr/>
        </p:nvSpPr>
        <p:spPr>
          <a:xfrm>
            <a:off x="353225" y="3690050"/>
            <a:ext cx="2778000" cy="318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i="1" lang="en" sz="1000"/>
              <a:t>https://www.adafruit.com/product/3985</a:t>
            </a:r>
            <a:endParaRPr i="1" sz="1000"/>
          </a:p>
        </p:txBody>
      </p:sp>
      <p:sp>
        <p:nvSpPr>
          <p:cNvPr id="272" name="Google Shape;272;p31"/>
          <p:cNvSpPr txBox="1"/>
          <p:nvPr/>
        </p:nvSpPr>
        <p:spPr>
          <a:xfrm>
            <a:off x="625625" y="6341250"/>
            <a:ext cx="2505600" cy="318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i="1" lang="en" sz="1000"/>
              <a:t>https://www.adafruit.com/product/3782</a:t>
            </a:r>
            <a:endParaRPr i="1" sz="1000"/>
          </a:p>
        </p:txBody>
      </p:sp>
      <p:sp>
        <p:nvSpPr>
          <p:cNvPr id="273" name="Google Shape;273;p31"/>
          <p:cNvSpPr txBox="1"/>
          <p:nvPr/>
        </p:nvSpPr>
        <p:spPr>
          <a:xfrm>
            <a:off x="3995700" y="1657725"/>
            <a:ext cx="4884300" cy="10296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SzPts val="1400"/>
              <a:buChar char="●"/>
            </a:pPr>
            <a:r>
              <a:rPr lang="en"/>
              <a:t>LED + photosensor → series of pulses as slotted wheel interrupts the beam.</a:t>
            </a:r>
            <a:endParaRPr/>
          </a:p>
          <a:p>
            <a:pPr indent="-317500" lvl="0" marL="457200" rtl="0" algn="l">
              <a:lnSpc>
                <a:spcPct val="115000"/>
              </a:lnSpc>
              <a:spcBef>
                <a:spcPts val="1000"/>
              </a:spcBef>
              <a:spcAft>
                <a:spcPts val="1000"/>
              </a:spcAft>
              <a:buSzPts val="1400"/>
              <a:buChar char="●"/>
            </a:pPr>
            <a:r>
              <a:rPr lang="en"/>
              <a:t>Detect and count the pulses in the MCU.</a:t>
            </a:r>
            <a:endParaRPr/>
          </a:p>
        </p:txBody>
      </p:sp>
      <p:pic>
        <p:nvPicPr>
          <p:cNvPr id="274" name="Google Shape;274;p31"/>
          <p:cNvPicPr preferRelativeResize="0"/>
          <p:nvPr/>
        </p:nvPicPr>
        <p:blipFill>
          <a:blip r:embed="rId5">
            <a:alphaModFix/>
          </a:blip>
          <a:stretch>
            <a:fillRect/>
          </a:stretch>
        </p:blipFill>
        <p:spPr>
          <a:xfrm>
            <a:off x="4198025" y="2932649"/>
            <a:ext cx="4544801" cy="340860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2"/>
          <p:cNvSpPr txBox="1"/>
          <p:nvPr>
            <p:ph type="title"/>
          </p:nvPr>
        </p:nvSpPr>
        <p:spPr>
          <a:xfrm>
            <a:off x="311700" y="108225"/>
            <a:ext cx="8520600" cy="1176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Photointerrupter on the oscilloscope: Motor speed increasing from 30 RPM to 180 RPM</a:t>
            </a:r>
            <a:endParaRPr/>
          </a:p>
          <a:p>
            <a:pPr indent="0" lvl="0" marL="0" rtl="0" algn="l">
              <a:spcBef>
                <a:spcPts val="0"/>
              </a:spcBef>
              <a:spcAft>
                <a:spcPts val="0"/>
              </a:spcAft>
              <a:buNone/>
            </a:pPr>
            <a:r>
              <a:t/>
            </a:r>
            <a:endParaRPr/>
          </a:p>
        </p:txBody>
      </p:sp>
      <p:pic>
        <p:nvPicPr>
          <p:cNvPr id="280" name="Google Shape;280;p32" title="PhotoInterrupter">
            <a:hlinkClick r:id="rId3"/>
          </p:cNvPr>
          <p:cNvPicPr preferRelativeResize="0"/>
          <p:nvPr/>
        </p:nvPicPr>
        <p:blipFill>
          <a:blip r:embed="rId4">
            <a:alphaModFix/>
          </a:blip>
          <a:stretch>
            <a:fillRect/>
          </a:stretch>
        </p:blipFill>
        <p:spPr>
          <a:xfrm>
            <a:off x="0" y="1369994"/>
            <a:ext cx="9144000" cy="514348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
                                        </p:tgtEl>
                                        <p:attrNameLst>
                                          <p:attrName>style.visibility</p:attrName>
                                        </p:attrNameLst>
                                      </p:cBhvr>
                                      <p:to>
                                        <p:strVal val="visible"/>
                                      </p:to>
                                    </p:set>
                                    <p:animEffect filter="fade" transition="in">
                                      <p:cBhvr>
                                        <p:cTn dur="1000"/>
                                        <p:tgtEl>
                                          <p:spTgt spid="2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3"/>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With your table group, discuss:</a:t>
            </a:r>
            <a:endParaRPr/>
          </a:p>
        </p:txBody>
      </p:sp>
      <p:sp>
        <p:nvSpPr>
          <p:cNvPr id="286" name="Google Shape;286;p33"/>
          <p:cNvSpPr txBox="1"/>
          <p:nvPr>
            <p:ph idx="4294967295" type="body"/>
          </p:nvPr>
        </p:nvSpPr>
        <p:spPr>
          <a:xfrm>
            <a:off x="311700" y="1536633"/>
            <a:ext cx="8520600" cy="4555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Remember how to detect falling/rising edge of the pulse?</a:t>
            </a:r>
            <a:br>
              <a:rPr lang="en"/>
            </a:br>
            <a:endParaRPr/>
          </a:p>
          <a:p>
            <a:pPr indent="-342900" lvl="0" marL="457200" rtl="0" algn="l">
              <a:spcBef>
                <a:spcPts val="0"/>
              </a:spcBef>
              <a:spcAft>
                <a:spcPts val="0"/>
              </a:spcAft>
              <a:buSzPts val="1800"/>
              <a:buChar char="●"/>
            </a:pPr>
            <a:r>
              <a:rPr lang="en"/>
              <a:t>Once you can detect those, how do you use that signal to find the speed of the motor (in rpm)?</a:t>
            </a:r>
            <a:br>
              <a:rPr lang="en"/>
            </a:br>
            <a:endParaRPr/>
          </a:p>
          <a:p>
            <a:pPr indent="-342900" lvl="0" marL="457200" rtl="0" algn="l">
              <a:spcBef>
                <a:spcPts val="0"/>
              </a:spcBef>
              <a:spcAft>
                <a:spcPts val="0"/>
              </a:spcAft>
              <a:buSzPts val="1800"/>
              <a:buChar char="●"/>
            </a:pPr>
            <a:r>
              <a:rPr lang="en"/>
              <a:t>Is it possible to tell the direction in which the motor turns from the signal?</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34"/>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Decoding shaft position from sensor output</a:t>
            </a:r>
            <a:endParaRPr/>
          </a:p>
        </p:txBody>
      </p:sp>
      <p:sp>
        <p:nvSpPr>
          <p:cNvPr id="292" name="Google Shape;292;p34"/>
          <p:cNvSpPr txBox="1"/>
          <p:nvPr>
            <p:ph idx="1" type="body"/>
          </p:nvPr>
        </p:nvSpPr>
        <p:spPr>
          <a:xfrm>
            <a:off x="311700" y="1536625"/>
            <a:ext cx="8465700" cy="412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Regardless of technology (mechanical, optical, magnetic), must translate pulse train into position / velocity information.</a:t>
            </a:r>
            <a:endParaRPr sz="1600"/>
          </a:p>
          <a:p>
            <a:pPr indent="-330200" lvl="0" marL="457200" rtl="0" algn="l">
              <a:spcBef>
                <a:spcPts val="1000"/>
              </a:spcBef>
              <a:spcAft>
                <a:spcPts val="0"/>
              </a:spcAft>
              <a:buSzPts val="1600"/>
              <a:buChar char="●"/>
            </a:pPr>
            <a:r>
              <a:rPr lang="en" sz="1600"/>
              <a:t>Decode by counting pulses (rising or falling edges):</a:t>
            </a:r>
            <a:endParaRPr sz="1600"/>
          </a:p>
          <a:p>
            <a:pPr indent="-330200" lvl="1" marL="914400" rtl="0" algn="l">
              <a:spcBef>
                <a:spcPts val="1000"/>
              </a:spcBef>
              <a:spcAft>
                <a:spcPts val="0"/>
              </a:spcAft>
              <a:buSzPts val="1600"/>
              <a:buChar char="○"/>
            </a:pPr>
            <a:r>
              <a:rPr i="1" lang="en" sz="1600"/>
              <a:t>pulse_count</a:t>
            </a:r>
            <a:r>
              <a:rPr lang="en" sz="1600"/>
              <a:t> × ∆𝜃 = angular position (relative to zero)</a:t>
            </a:r>
            <a:endParaRPr sz="1600"/>
          </a:p>
          <a:p>
            <a:pPr indent="-330200" lvl="1" marL="914400" rtl="0" algn="l">
              <a:spcBef>
                <a:spcPts val="1000"/>
              </a:spcBef>
              <a:spcAft>
                <a:spcPts val="0"/>
              </a:spcAft>
              <a:buSzPts val="1600"/>
              <a:buChar char="○"/>
            </a:pPr>
            <a:r>
              <a:rPr i="1" lang="en" sz="1600"/>
              <a:t>pulse_count</a:t>
            </a:r>
            <a:r>
              <a:rPr lang="en" sz="1600"/>
              <a:t> / </a:t>
            </a:r>
            <a:r>
              <a:rPr i="1" lang="en" sz="1600"/>
              <a:t>time</a:t>
            </a:r>
            <a:r>
              <a:rPr lang="en" sz="1600"/>
              <a:t>  × ∆𝜃 = avg angular speed over interval of length </a:t>
            </a:r>
            <a:r>
              <a:rPr i="1" lang="en" sz="1600"/>
              <a:t>time</a:t>
            </a:r>
            <a:endParaRPr i="1" sz="1600"/>
          </a:p>
          <a:p>
            <a:pPr indent="-330200" lvl="1" marL="914400" rtl="0" algn="l">
              <a:spcBef>
                <a:spcPts val="1000"/>
              </a:spcBef>
              <a:spcAft>
                <a:spcPts val="0"/>
              </a:spcAft>
              <a:buSzPts val="1600"/>
              <a:buChar char="○"/>
            </a:pPr>
            <a:r>
              <a:rPr lang="en" sz="1600"/>
              <a:t>∆𝜃 = 2𝜋 / </a:t>
            </a:r>
            <a:r>
              <a:rPr i="1" lang="en" sz="1600"/>
              <a:t>#slots </a:t>
            </a:r>
            <a:r>
              <a:rPr lang="en" sz="1600"/>
              <a:t>(radians)</a:t>
            </a:r>
            <a:r>
              <a:rPr i="1" lang="en" sz="1600"/>
              <a:t>, </a:t>
            </a:r>
            <a:r>
              <a:rPr lang="en" sz="1600"/>
              <a:t>360 / </a:t>
            </a:r>
            <a:r>
              <a:rPr i="1" lang="en" sz="1600"/>
              <a:t>#slots </a:t>
            </a:r>
            <a:r>
              <a:rPr lang="en" sz="1600"/>
              <a:t>(degrees), 1 / </a:t>
            </a:r>
            <a:r>
              <a:rPr i="1" lang="en" sz="1600"/>
              <a:t>#slots </a:t>
            </a:r>
            <a:r>
              <a:rPr lang="en" sz="1600"/>
              <a:t>(revolutions)</a:t>
            </a:r>
            <a:endParaRPr sz="1600"/>
          </a:p>
          <a:p>
            <a:pPr indent="-330200" lvl="0" marL="457200" rtl="0" algn="l">
              <a:spcBef>
                <a:spcPts val="1000"/>
              </a:spcBef>
              <a:spcAft>
                <a:spcPts val="0"/>
              </a:spcAft>
              <a:buSzPts val="1600"/>
              <a:buChar char="●"/>
            </a:pPr>
            <a:r>
              <a:rPr lang="en" sz="1600"/>
              <a:t>With a quadrature encoder (we are not using one), you can count with an up-down counter, can get direction as well as position or speed.</a:t>
            </a:r>
            <a:endParaRPr sz="1600"/>
          </a:p>
          <a:p>
            <a:pPr indent="-330200" lvl="0" marL="457200" rtl="0" algn="l">
              <a:spcBef>
                <a:spcPts val="1000"/>
              </a:spcBef>
              <a:spcAft>
                <a:spcPts val="0"/>
              </a:spcAft>
              <a:buSzPts val="1600"/>
              <a:buChar char="●"/>
            </a:pPr>
            <a:r>
              <a:rPr lang="en" sz="1600"/>
              <a:t>Some sensors do the decoding in hardware, present a result, e.g., via I</a:t>
            </a:r>
            <a:r>
              <a:rPr baseline="30000" lang="en" sz="1600"/>
              <a:t>2</a:t>
            </a:r>
            <a:r>
              <a:rPr lang="en" sz="1600"/>
              <a:t>C.</a:t>
            </a:r>
            <a:endParaRPr sz="1600"/>
          </a:p>
          <a:p>
            <a:pPr indent="0" lvl="0" marL="0" rtl="0" algn="l">
              <a:spcBef>
                <a:spcPts val="1000"/>
              </a:spcBef>
              <a:spcAft>
                <a:spcPts val="1000"/>
              </a:spcAft>
              <a:buNone/>
            </a:pPr>
            <a:r>
              <a:t/>
            </a:r>
            <a:endParaRPr sz="160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