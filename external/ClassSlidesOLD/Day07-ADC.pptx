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FDF27EE-1424-4DF1-ACC0-C2F21EC9F338}">
  <a:tblStyle styleId="{0FDF27EE-1424-4DF1-ACC0-C2F21EC9F33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91e0f3f686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91e0f3f68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bb47959fcc_0_6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bb47959fcc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bb47959fcc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bb47959fc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Several of you used malloc to allocate memory for structures in your games.  While this is a pretty standard way of doing things in ES20, embedded code generally avoids malloc for the simple reason that there is no “graceful” way to exit if the malloc fails.  Couple that with the fact that there isn’t any real memory management on embedded processors and it becomes much more practical to use statically allocated variables.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ae72daf30d_0_26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ae72daf30d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10f465b6bf9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10f465b6b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ae72daf30d_0_26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ae72daf30d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System view of the ADC.</a:t>
            </a:r>
            <a:endParaRPr/>
          </a:p>
          <a:p>
            <a:pPr indent="0" lvl="0" marL="0" rtl="0" algn="l">
              <a:spcBef>
                <a:spcPts val="0"/>
              </a:spcBef>
              <a:spcAft>
                <a:spcPts val="0"/>
              </a:spcAft>
              <a:buNone/>
            </a:pPr>
            <a:r>
              <a:rPr lang="en"/>
              <a:t>Drawn like this as a five-sided figure. Pointy end is the analog end, where the voltage goes in. Flat end is the digital end, where a bundle of wires comes out.</a:t>
            </a:r>
            <a:endParaRPr/>
          </a:p>
          <a:p>
            <a:pPr indent="0" lvl="0" marL="0" rtl="0" algn="l">
              <a:spcBef>
                <a:spcPts val="0"/>
              </a:spcBef>
              <a:spcAft>
                <a:spcPts val="0"/>
              </a:spcAft>
              <a:buNone/>
            </a:pPr>
            <a:r>
              <a:rPr lang="en"/>
              <a:t>Input can be 0-3.3V. Digital output is (if B = 12), a 12-bit integer. There are 2^12 voltage steps between 0 and 3.3 and the analog voltage is converted to the nearest integer to that value.</a:t>
            </a:r>
            <a:endParaRPr/>
          </a:p>
          <a:p>
            <a:pPr indent="0" lvl="0" marL="0" rtl="0" algn="l">
              <a:spcBef>
                <a:spcPts val="0"/>
              </a:spcBef>
              <a:spcAft>
                <a:spcPts val="0"/>
              </a:spcAft>
              <a:buNone/>
            </a:pPr>
            <a:r>
              <a:rPr lang="en"/>
              <a:t>0 is converted to 0, 3.3V to 4096, others in between. </a:t>
            </a:r>
            <a:endParaRPr/>
          </a:p>
          <a:p>
            <a:pPr indent="0" lvl="0" marL="0" rtl="0" algn="l">
              <a:spcBef>
                <a:spcPts val="0"/>
              </a:spcBef>
              <a:spcAft>
                <a:spcPts val="0"/>
              </a:spcAft>
              <a:buNone/>
            </a:pPr>
            <a:r>
              <a:rPr lang="en"/>
              <a:t>The resolution of the ADC, how well it can represent that voltage, is the stepsize, so Vmax/2^B.</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bb47959fcc_0_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bb47959fc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System view of the ADC.</a:t>
            </a:r>
            <a:endParaRPr/>
          </a:p>
          <a:p>
            <a:pPr indent="0" lvl="0" marL="0" rtl="0" algn="l">
              <a:spcBef>
                <a:spcPts val="0"/>
              </a:spcBef>
              <a:spcAft>
                <a:spcPts val="0"/>
              </a:spcAft>
              <a:buNone/>
            </a:pPr>
            <a:r>
              <a:rPr lang="en"/>
              <a:t>Drawn like this as a five-sided figure. Pointy end is the analog end, where the voltage goes in. Flat end is the digital end, where a bundle of wires comes out.</a:t>
            </a:r>
            <a:endParaRPr/>
          </a:p>
          <a:p>
            <a:pPr indent="0" lvl="0" marL="0" rtl="0" algn="l">
              <a:spcBef>
                <a:spcPts val="0"/>
              </a:spcBef>
              <a:spcAft>
                <a:spcPts val="0"/>
              </a:spcAft>
              <a:buNone/>
            </a:pPr>
            <a:r>
              <a:rPr lang="en"/>
              <a:t>Input can be 0-3.3V. Digital output is (if B = 12), a 12-bit integer. There are 2^12 voltage steps between 0 and 3.3 and the analog voltage is converted to the nearest integer to that value.</a:t>
            </a:r>
            <a:endParaRPr/>
          </a:p>
          <a:p>
            <a:pPr indent="0" lvl="0" marL="0" rtl="0" algn="l">
              <a:spcBef>
                <a:spcPts val="0"/>
              </a:spcBef>
              <a:spcAft>
                <a:spcPts val="0"/>
              </a:spcAft>
              <a:buNone/>
            </a:pPr>
            <a:r>
              <a:rPr lang="en"/>
              <a:t>0 is converted to 0, 3.3V to 4096, others in between. </a:t>
            </a:r>
            <a:endParaRPr/>
          </a:p>
          <a:p>
            <a:pPr indent="0" lvl="0" marL="0" rtl="0" algn="l">
              <a:spcBef>
                <a:spcPts val="0"/>
              </a:spcBef>
              <a:spcAft>
                <a:spcPts val="0"/>
              </a:spcAft>
              <a:buNone/>
            </a:pPr>
            <a:r>
              <a:rPr lang="en"/>
              <a:t>The resolution of the ADC, how well it can represent that voltage, is the stepsize, so Vmax/2^B.</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d85e17961e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d85e1796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System view of the ADC.</a:t>
            </a:r>
            <a:endParaRPr/>
          </a:p>
          <a:p>
            <a:pPr indent="0" lvl="0" marL="0" rtl="0" algn="l">
              <a:spcBef>
                <a:spcPts val="0"/>
              </a:spcBef>
              <a:spcAft>
                <a:spcPts val="0"/>
              </a:spcAft>
              <a:buNone/>
            </a:pPr>
            <a:r>
              <a:rPr lang="en"/>
              <a:t>Drawn like this as a five-sided figure. Pointy end is the analog end, where the voltage goes in. Flat end is the digital end, where a bundle of wires comes out.</a:t>
            </a:r>
            <a:endParaRPr/>
          </a:p>
          <a:p>
            <a:pPr indent="0" lvl="0" marL="0" rtl="0" algn="l">
              <a:spcBef>
                <a:spcPts val="0"/>
              </a:spcBef>
              <a:spcAft>
                <a:spcPts val="0"/>
              </a:spcAft>
              <a:buNone/>
            </a:pPr>
            <a:r>
              <a:rPr lang="en"/>
              <a:t>Input can be 0-3.3V. Digital output is (if B = 12), a 12-bit integer. There are 2^12 voltage steps between 0 and 3.3 and the analog voltage is converted to the nearest integer to that value.</a:t>
            </a:r>
            <a:endParaRPr/>
          </a:p>
          <a:p>
            <a:pPr indent="0" lvl="0" marL="0" rtl="0" algn="l">
              <a:spcBef>
                <a:spcPts val="0"/>
              </a:spcBef>
              <a:spcAft>
                <a:spcPts val="0"/>
              </a:spcAft>
              <a:buNone/>
            </a:pPr>
            <a:r>
              <a:rPr lang="en"/>
              <a:t>0 is converted to 0, 3.3V to 4096, others in between. </a:t>
            </a:r>
            <a:endParaRPr/>
          </a:p>
          <a:p>
            <a:pPr indent="0" lvl="0" marL="0" rtl="0" algn="l">
              <a:spcBef>
                <a:spcPts val="0"/>
              </a:spcBef>
              <a:spcAft>
                <a:spcPts val="0"/>
              </a:spcAft>
              <a:buNone/>
            </a:pPr>
            <a:r>
              <a:rPr lang="en"/>
              <a:t>The resolution of the ADC, how well it can represent that voltage, is the stepsize, so Vmax/2^B.</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ae72daf30d_0_28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ae72daf30d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ef2284624f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ef2284624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0f465b6bf9_0_36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0f465b6bf9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10f465b6bf9_0_38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10f465b6bf9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ae72daf30d_0_30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ae72daf30d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0f465b6bf9_0_39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10f465b6bf9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ef2284624f_0_4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2ef2284624f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ADC is enabled in APBENR2 because that bit gates the APB bus interface, not the ADC’s conversion clock.</a:t>
            </a:r>
            <a:endParaRPr/>
          </a:p>
          <a:p>
            <a:pPr indent="0" lvl="0" marL="0" rtl="0" algn="l">
              <a:spcBef>
                <a:spcPts val="0"/>
              </a:spcBef>
              <a:spcAft>
                <a:spcPts val="0"/>
              </a:spcAft>
              <a:buClr>
                <a:schemeClr val="dk1"/>
              </a:buClr>
              <a:buSzPts val="1100"/>
              <a:buFont typeface="Arial"/>
              <a:buNone/>
            </a:pPr>
            <a:r>
              <a:rPr lang="en"/>
              <a:t>The ADC core runs on an independent clock, but the CPU still needs a bus clock to configure and read it.</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ef2284624f_0_6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2ef2284624f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There are up to 23 multiplexed channels:</a:t>
            </a:r>
            <a:endParaRPr/>
          </a:p>
          <a:p>
            <a:pPr indent="0" lvl="0" marL="0" rtl="0" algn="l">
              <a:spcBef>
                <a:spcPts val="0"/>
              </a:spcBef>
              <a:spcAft>
                <a:spcPts val="0"/>
              </a:spcAft>
              <a:buClr>
                <a:schemeClr val="dk1"/>
              </a:buClr>
              <a:buSzPts val="1100"/>
              <a:buFont typeface="Arial"/>
              <a:buNone/>
            </a:pPr>
            <a:r>
              <a:rPr lang="en"/>
              <a:t>• Up to 19 analog inputs from GPIO pins (ADC_INx) (11 of those can be accessed on Arduino header pins)</a:t>
            </a:r>
            <a:endParaRPr/>
          </a:p>
          <a:p>
            <a:pPr indent="0" lvl="0" marL="0" rtl="0" algn="l">
              <a:spcBef>
                <a:spcPts val="0"/>
              </a:spcBef>
              <a:spcAft>
                <a:spcPts val="0"/>
              </a:spcAft>
              <a:buClr>
                <a:schemeClr val="dk1"/>
              </a:buClr>
              <a:buSzPts val="1100"/>
              <a:buFont typeface="Arial"/>
              <a:buNone/>
            </a:pPr>
            <a:r>
              <a:rPr lang="en"/>
              <a:t>• 4 internal analog inputs (temperature sensor, internal reference voltage, analog supply</a:t>
            </a:r>
            <a:endParaRPr/>
          </a:p>
          <a:p>
            <a:pPr indent="0" lvl="0" marL="0" rtl="0" algn="l">
              <a:spcBef>
                <a:spcPts val="0"/>
              </a:spcBef>
              <a:spcAft>
                <a:spcPts val="0"/>
              </a:spcAft>
              <a:buClr>
                <a:schemeClr val="dk1"/>
              </a:buClr>
              <a:buSzPts val="1100"/>
              <a:buFont typeface="Arial"/>
              <a:buNone/>
            </a:pPr>
            <a:r>
              <a:rPr lang="en"/>
              <a:t>and analog ground)</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ef7d45e05f_0_8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2ef7d45e05f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ef2284624f_0_8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ef2284624f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bb47959fcc_0_4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bb47959fcc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93a97b07e0_0_7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93a97b07e0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93a97b07e0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93a97b07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93a97b07e0_0_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93a97b07e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93a97b07e0_0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93a97b07e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ae72daf30d_0_33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ae72daf30d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10f465b6bf9_0_40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10f465b6bf9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ae72daf30d_0_35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ae72daf30d_0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2ef2284624f_0_12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2ef2284624f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10f465b6bf9_0_12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10f465b6bf9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10f465b6bf9_0_12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10f465b6bf9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We've seen the 2 control/status registers and the data register; the programmer's interface to the ADC.</a:t>
            </a:r>
            <a:endParaRPr/>
          </a:p>
          <a:p>
            <a:pPr indent="0" lvl="0" marL="0" rtl="0" algn="l">
              <a:spcBef>
                <a:spcPts val="0"/>
              </a:spcBef>
              <a:spcAft>
                <a:spcPts val="0"/>
              </a:spcAft>
              <a:buNone/>
            </a:pPr>
            <a:r>
              <a:rPr lang="en"/>
              <a:t>We saw that there are different wires going in and out of the different pieces of the ADC. Now we'll study the pieces individually.</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bb919ccdd0_0_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bb919ccdd0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Demonstrate</a:t>
            </a:r>
            <a:r>
              <a:rPr lang="en"/>
              <a:t> with guessing game: think of a number between 0 and 15 - let's say 7 for example.</a:t>
            </a:r>
            <a:endParaRPr/>
          </a:p>
          <a:p>
            <a:pPr indent="-298450" lvl="0" marL="457200" rtl="0" algn="l">
              <a:spcBef>
                <a:spcPts val="0"/>
              </a:spcBef>
              <a:spcAft>
                <a:spcPts val="0"/>
              </a:spcAft>
              <a:buSzPts val="1100"/>
              <a:buAutoNum type="arabicPeriod"/>
            </a:pPr>
            <a:r>
              <a:rPr lang="en"/>
              <a:t>SAR = 1000 Is your number less than 8? Yes</a:t>
            </a:r>
            <a:endParaRPr/>
          </a:p>
          <a:p>
            <a:pPr indent="-298450" lvl="0" marL="457200" rtl="0" algn="l">
              <a:spcBef>
                <a:spcPts val="0"/>
              </a:spcBef>
              <a:spcAft>
                <a:spcPts val="0"/>
              </a:spcAft>
              <a:buSzPts val="1100"/>
              <a:buAutoNum type="arabicPeriod"/>
            </a:pPr>
            <a:r>
              <a:rPr lang="en"/>
              <a:t>SAR = 0100 Is your number less than 4? No</a:t>
            </a:r>
            <a:endParaRPr/>
          </a:p>
          <a:p>
            <a:pPr indent="-298450" lvl="0" marL="457200" rtl="0" algn="l">
              <a:spcBef>
                <a:spcPts val="0"/>
              </a:spcBef>
              <a:spcAft>
                <a:spcPts val="0"/>
              </a:spcAft>
              <a:buSzPts val="1100"/>
              <a:buAutoNum type="arabicPeriod"/>
            </a:pPr>
            <a:r>
              <a:rPr lang="en"/>
              <a:t>SAR = 0110 Is your number less than 6? No</a:t>
            </a:r>
            <a:endParaRPr/>
          </a:p>
          <a:p>
            <a:pPr indent="-298450" lvl="0" marL="457200" rtl="0" algn="l">
              <a:spcBef>
                <a:spcPts val="0"/>
              </a:spcBef>
              <a:spcAft>
                <a:spcPts val="0"/>
              </a:spcAft>
              <a:buSzPts val="1100"/>
              <a:buAutoNum type="arabicPeriod"/>
            </a:pPr>
            <a:r>
              <a:rPr lang="en"/>
              <a:t>SAR = 0111 = 7.</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bb47959fcc_0_5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bb47959fc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10f465b6bf9_0_13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10f465b6bf9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 main pieces of the ADC core hardware:</a:t>
            </a:r>
            <a:endParaRPr/>
          </a:p>
          <a:p>
            <a:pPr indent="0" lvl="0" marL="0" rtl="0" algn="l">
              <a:spcBef>
                <a:spcPts val="0"/>
              </a:spcBef>
              <a:spcAft>
                <a:spcPts val="0"/>
              </a:spcAft>
              <a:buNone/>
            </a:pPr>
            <a:r>
              <a:rPr lang="en"/>
              <a:t>Voltage selection, analog input selection and converter itself.</a:t>
            </a:r>
            <a:endParaRPr/>
          </a:p>
          <a:p>
            <a:pPr indent="0" lvl="0" marL="0" rtl="0" algn="l">
              <a:spcBef>
                <a:spcPts val="0"/>
              </a:spcBef>
              <a:spcAft>
                <a:spcPts val="0"/>
              </a:spcAft>
              <a:buNone/>
            </a:pPr>
            <a:r>
              <a:rPr lang="en"/>
              <a:t>Already talked about reference voltage selection and input selection. Will focus on A/D converter itself.</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10f465b6bf9_0_18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10f465b6bf9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timing of how the A/D converter works. Each </a:t>
            </a:r>
            <a:r>
              <a:rPr lang="en"/>
              <a:t>conversion</a:t>
            </a:r>
            <a:r>
              <a:rPr lang="en"/>
              <a:t> takes a minimum of 14 ADC clock cycles.</a:t>
            </a:r>
            <a:endParaRPr/>
          </a:p>
          <a:p>
            <a:pPr indent="0" lvl="0" marL="0" rtl="0" algn="l">
              <a:spcBef>
                <a:spcPts val="0"/>
              </a:spcBef>
              <a:spcAft>
                <a:spcPts val="0"/>
              </a:spcAft>
              <a:buNone/>
            </a:pPr>
            <a:r>
              <a:rPr lang="en"/>
              <a:t>When you are done, ADC output register contains the result.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Length of </a:t>
            </a:r>
            <a:r>
              <a:rPr lang="en"/>
              <a:t>conversion</a:t>
            </a:r>
            <a:r>
              <a:rPr lang="en"/>
              <a:t> at 12MHz: 14/(12*10^6) = 1.2*10^-6 seconds = 1.2 us</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10f465b6bf9_0_4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10f465b6bf9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23.png"/><Relationship Id="rId5" Type="http://schemas.openxmlformats.org/officeDocument/2006/relationships/image" Target="../media/image8.png"/><Relationship Id="rId6" Type="http://schemas.openxmlformats.org/officeDocument/2006/relationships/image" Target="../media/image3.png"/><Relationship Id="rId7" Type="http://schemas.openxmlformats.org/officeDocument/2006/relationships/image" Target="../media/image10.png"/><Relationship Id="rId8"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9.jp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0.png"/><Relationship Id="rId4" Type="http://schemas.openxmlformats.org/officeDocument/2006/relationships/image" Target="../media/image4.png"/><Relationship Id="rId5"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5.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8.pn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24.png"/><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26.png"/><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311708" y="992767"/>
            <a:ext cx="8520600" cy="2736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3000">
                <a:solidFill>
                  <a:srgbClr val="000000"/>
                </a:solidFill>
                <a:latin typeface="Comic Sans MS"/>
                <a:ea typeface="Comic Sans MS"/>
                <a:cs typeface="Comic Sans MS"/>
                <a:sym typeface="Comic Sans MS"/>
              </a:rPr>
              <a:t>Engs </a:t>
            </a:r>
            <a:r>
              <a:rPr lang="en" sz="3000">
                <a:latin typeface="Comic Sans MS"/>
                <a:ea typeface="Comic Sans MS"/>
                <a:cs typeface="Comic Sans MS"/>
                <a:sym typeface="Comic Sans MS"/>
              </a:rPr>
              <a:t>28</a:t>
            </a:r>
            <a:endParaRPr sz="3000">
              <a:solidFill>
                <a:srgbClr val="000000"/>
              </a:solidFill>
              <a:latin typeface="Comic Sans MS"/>
              <a:ea typeface="Comic Sans MS"/>
              <a:cs typeface="Comic Sans MS"/>
              <a:sym typeface="Comic Sans MS"/>
            </a:endParaRPr>
          </a:p>
          <a:p>
            <a:pPr indent="0" lvl="0" marL="0" rtl="0" algn="ctr">
              <a:spcBef>
                <a:spcPts val="0"/>
              </a:spcBef>
              <a:spcAft>
                <a:spcPts val="0"/>
              </a:spcAft>
              <a:buNone/>
            </a:pPr>
            <a:r>
              <a:rPr lang="en" sz="5200">
                <a:solidFill>
                  <a:srgbClr val="000000"/>
                </a:solidFill>
                <a:latin typeface="Comic Sans MS"/>
                <a:ea typeface="Comic Sans MS"/>
                <a:cs typeface="Comic Sans MS"/>
                <a:sym typeface="Comic Sans MS"/>
              </a:rPr>
              <a:t>Embedded Systems</a:t>
            </a:r>
            <a:endParaRPr sz="5200">
              <a:solidFill>
                <a:srgbClr val="000000"/>
              </a:solidFill>
              <a:latin typeface="Comic Sans MS"/>
              <a:ea typeface="Comic Sans MS"/>
              <a:cs typeface="Comic Sans MS"/>
              <a:sym typeface="Comic Sans MS"/>
            </a:endParaRPr>
          </a:p>
        </p:txBody>
      </p:sp>
      <p:sp>
        <p:nvSpPr>
          <p:cNvPr id="55" name="Google Shape;55;p13"/>
          <p:cNvSpPr txBox="1"/>
          <p:nvPr/>
        </p:nvSpPr>
        <p:spPr>
          <a:xfrm>
            <a:off x="311700" y="4128267"/>
            <a:ext cx="8520600" cy="105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rgbClr val="595959"/>
                </a:solidFill>
                <a:latin typeface="Comic Sans MS"/>
                <a:ea typeface="Comic Sans MS"/>
                <a:cs typeface="Comic Sans MS"/>
                <a:sym typeface="Comic Sans MS"/>
              </a:rPr>
              <a:t>Day 7</a:t>
            </a:r>
            <a:endParaRPr sz="2800">
              <a:solidFill>
                <a:srgbClr val="595959"/>
              </a:solidFill>
              <a:latin typeface="Comic Sans MS"/>
              <a:ea typeface="Comic Sans MS"/>
              <a:cs typeface="Comic Sans MS"/>
              <a:sym typeface="Comic Sans MS"/>
            </a:endParaRPr>
          </a:p>
        </p:txBody>
      </p:sp>
      <p:pic>
        <p:nvPicPr>
          <p:cNvPr id="56" name="Google Shape;56;p13"/>
          <p:cNvPicPr preferRelativeResize="0"/>
          <p:nvPr/>
        </p:nvPicPr>
        <p:blipFill>
          <a:blip r:embed="rId3">
            <a:alphaModFix/>
          </a:blip>
          <a:stretch>
            <a:fillRect/>
          </a:stretch>
        </p:blipFill>
        <p:spPr>
          <a:xfrm>
            <a:off x="525637" y="395688"/>
            <a:ext cx="1103550" cy="1334750"/>
          </a:xfrm>
          <a:prstGeom prst="rect">
            <a:avLst/>
          </a:prstGeom>
          <a:noFill/>
          <a:ln>
            <a:noFill/>
          </a:ln>
        </p:spPr>
      </p:pic>
      <p:pic>
        <p:nvPicPr>
          <p:cNvPr id="57" name="Google Shape;57;p13"/>
          <p:cNvPicPr preferRelativeResize="0"/>
          <p:nvPr/>
        </p:nvPicPr>
        <p:blipFill rotWithShape="1">
          <a:blip r:embed="rId4">
            <a:alphaModFix/>
          </a:blip>
          <a:srcRect b="0" l="0" r="0" t="0"/>
          <a:stretch/>
        </p:blipFill>
        <p:spPr>
          <a:xfrm>
            <a:off x="7600125" y="0"/>
            <a:ext cx="1543875" cy="2126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Instructor Notes</a:t>
            </a:r>
            <a:endParaRPr/>
          </a:p>
        </p:txBody>
      </p:sp>
      <p:sp>
        <p:nvSpPr>
          <p:cNvPr id="63" name="Google Shape;63;p1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Multiple students connected their power rail to NRST instead of 3.3v (they are adjacent)  The symptoms are a libusb error when trying to connect to the debugger.</a:t>
            </a:r>
            <a:endParaRPr/>
          </a:p>
          <a:p>
            <a:pPr indent="-342900" lvl="0" marL="457200" rtl="0" algn="l">
              <a:spcBef>
                <a:spcPts val="0"/>
              </a:spcBef>
              <a:spcAft>
                <a:spcPts val="0"/>
              </a:spcAft>
              <a:buSzPts val="1800"/>
              <a:buChar char="●"/>
            </a:pPr>
            <a:r>
              <a:rPr lang="en"/>
              <a:t>One student had a corrupted project which was actually building blinky and running it (symptoms were no printouts).  Discovered the issue by starting under the debugger - there is probably another way.  Ultimately, I think the issue was a copy of blinky in the template project.  Required some filesystem cleanup and start stop start etc of the IDE.</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Today:</a:t>
            </a:r>
            <a:endParaRPr/>
          </a:p>
        </p:txBody>
      </p:sp>
      <p:sp>
        <p:nvSpPr>
          <p:cNvPr id="69" name="Google Shape;69;p15"/>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Announcements</a:t>
            </a:r>
            <a:endParaRPr/>
          </a:p>
          <a:p>
            <a:pPr indent="-317500" lvl="1" marL="914400" rtl="0" algn="l">
              <a:spcBef>
                <a:spcPts val="0"/>
              </a:spcBef>
              <a:spcAft>
                <a:spcPts val="0"/>
              </a:spcAft>
              <a:buSzPts val="1400"/>
              <a:buChar char="○"/>
            </a:pPr>
            <a:r>
              <a:rPr lang="en"/>
              <a:t>Mid-Course Survey: Group work etc</a:t>
            </a:r>
            <a:endParaRPr/>
          </a:p>
          <a:p>
            <a:pPr indent="-317500" lvl="1" marL="914400" rtl="0" algn="l">
              <a:spcBef>
                <a:spcPts val="0"/>
              </a:spcBef>
              <a:spcAft>
                <a:spcPts val="0"/>
              </a:spcAft>
              <a:buSzPts val="1400"/>
              <a:buChar char="○"/>
            </a:pPr>
            <a:r>
              <a:rPr lang="en"/>
              <a:t>Monday quizzes: Mondays, 12:01 am-11:59 pm </a:t>
            </a:r>
            <a:endParaRPr/>
          </a:p>
          <a:p>
            <a:pPr indent="-342900" lvl="0" marL="457200" rtl="0" algn="l">
              <a:spcBef>
                <a:spcPts val="0"/>
              </a:spcBef>
              <a:spcAft>
                <a:spcPts val="0"/>
              </a:spcAft>
              <a:buSzPts val="1800"/>
              <a:buChar char="●"/>
            </a:pPr>
            <a:r>
              <a:rPr lang="en"/>
              <a:t>A quick note on the use of malloc()</a:t>
            </a:r>
            <a:endParaRPr/>
          </a:p>
          <a:p>
            <a:pPr indent="-342900" lvl="0" marL="457200" rtl="0" algn="l">
              <a:spcBef>
                <a:spcPts val="0"/>
              </a:spcBef>
              <a:spcAft>
                <a:spcPts val="0"/>
              </a:spcAft>
              <a:buSzPts val="1800"/>
              <a:buChar char="●"/>
            </a:pPr>
            <a:r>
              <a:rPr lang="en"/>
              <a:t>Analog to digital conversion</a:t>
            </a:r>
            <a:endParaRPr/>
          </a:p>
          <a:p>
            <a:pPr indent="0" lvl="0" marL="0" rtl="0" algn="l">
              <a:spcBef>
                <a:spcPts val="16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note on memory allocation in embedded coding</a:t>
            </a:r>
            <a:endParaRPr/>
          </a:p>
        </p:txBody>
      </p:sp>
      <p:sp>
        <p:nvSpPr>
          <p:cNvPr id="75" name="Google Shape;75;p16"/>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t>A few students used malloc() in lab 2 to allocate memory for structures in their game.</a:t>
            </a:r>
            <a:endParaRPr sz="2000"/>
          </a:p>
          <a:p>
            <a:pPr indent="-330200" lvl="1" marL="914400" rtl="0" algn="l">
              <a:spcBef>
                <a:spcPts val="0"/>
              </a:spcBef>
              <a:spcAft>
                <a:spcPts val="0"/>
              </a:spcAft>
              <a:buSzPts val="1600"/>
              <a:buChar char="○"/>
            </a:pPr>
            <a:r>
              <a:rPr lang="en" sz="1600"/>
              <a:t>p</a:t>
            </a:r>
            <a:r>
              <a:rPr lang="en" sz="1600"/>
              <a:t>retty standard way of doing things in ES20  </a:t>
            </a:r>
            <a:r>
              <a:rPr b="1" lang="en" sz="1600">
                <a:solidFill>
                  <a:srgbClr val="FB0007"/>
                </a:solidFill>
              </a:rPr>
              <a:t>but…</a:t>
            </a:r>
            <a:endParaRPr b="1" sz="1600">
              <a:solidFill>
                <a:srgbClr val="FB0007"/>
              </a:solidFill>
            </a:endParaRPr>
          </a:p>
          <a:p>
            <a:pPr indent="-355600" lvl="0" marL="457200" rtl="0" algn="l">
              <a:spcBef>
                <a:spcPts val="0"/>
              </a:spcBef>
              <a:spcAft>
                <a:spcPts val="0"/>
              </a:spcAft>
              <a:buSzPts val="2000"/>
              <a:buChar char="●"/>
            </a:pPr>
            <a:r>
              <a:rPr lang="en" sz="2000"/>
              <a:t>Embedded code generally avoids malloc(). Two (of many) reasons:</a:t>
            </a:r>
            <a:endParaRPr sz="2000"/>
          </a:p>
          <a:p>
            <a:pPr indent="-330200" lvl="1" marL="914400" rtl="0" algn="l">
              <a:spcBef>
                <a:spcPts val="0"/>
              </a:spcBef>
              <a:spcAft>
                <a:spcPts val="0"/>
              </a:spcAft>
              <a:buSzPts val="1600"/>
              <a:buChar char="○"/>
            </a:pPr>
            <a:r>
              <a:rPr lang="en" sz="1600"/>
              <a:t>There is no “graceful” way to exit if malloc() fails (there is no OS to clean up the mess)</a:t>
            </a:r>
            <a:endParaRPr sz="1600"/>
          </a:p>
          <a:p>
            <a:pPr indent="-330200" lvl="1" marL="914400" rtl="0" algn="l">
              <a:spcBef>
                <a:spcPts val="0"/>
              </a:spcBef>
              <a:spcAft>
                <a:spcPts val="0"/>
              </a:spcAft>
              <a:buSzPts val="1600"/>
              <a:buChar char="○"/>
            </a:pPr>
            <a:r>
              <a:rPr lang="en" sz="1600"/>
              <a:t>Embedded processors don't have any real memory management </a:t>
            </a:r>
            <a:endParaRPr sz="1600"/>
          </a:p>
          <a:p>
            <a:pPr indent="-330200" lvl="2" marL="1371600" rtl="0" algn="l">
              <a:spcBef>
                <a:spcPts val="0"/>
              </a:spcBef>
              <a:spcAft>
                <a:spcPts val="0"/>
              </a:spcAft>
              <a:buSzPts val="1600"/>
              <a:buChar char="■"/>
            </a:pPr>
            <a:r>
              <a:rPr lang="en" sz="1600"/>
              <a:t>Heap fragmentation: small RAM and alloc/free over time leads to sufficient memory existing but not so contiguously -&gt; malloc() fails even though code ran just fine before</a:t>
            </a:r>
            <a:endParaRPr sz="1600"/>
          </a:p>
          <a:p>
            <a:pPr indent="-330200" lvl="2" marL="1371600" rtl="0" algn="l">
              <a:spcBef>
                <a:spcPts val="0"/>
              </a:spcBef>
              <a:spcAft>
                <a:spcPts val="0"/>
              </a:spcAft>
              <a:buSzPts val="1600"/>
              <a:buChar char="■"/>
            </a:pPr>
            <a:r>
              <a:rPr lang="en" sz="1600"/>
              <a:t>Memory allocation time varies -&gt; unpredictable timing</a:t>
            </a:r>
            <a:endParaRPr sz="1600"/>
          </a:p>
          <a:p>
            <a:pPr indent="-355600" lvl="0" marL="457200" rtl="0" algn="l">
              <a:spcBef>
                <a:spcPts val="0"/>
              </a:spcBef>
              <a:spcAft>
                <a:spcPts val="0"/>
              </a:spcAft>
              <a:buSzPts val="2000"/>
              <a:buChar char="●"/>
            </a:pPr>
            <a:r>
              <a:rPr lang="en" sz="2000"/>
              <a:t>Much more practical: to use statically allocated variables.</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Analog to digital conversion</a:t>
            </a:r>
            <a:endParaRPr/>
          </a:p>
          <a:p>
            <a:pPr indent="0" lvl="0" marL="0" rtl="0" algn="ctr">
              <a:spcBef>
                <a:spcPts val="0"/>
              </a:spcBef>
              <a:spcAft>
                <a:spcPts val="0"/>
              </a:spcAft>
              <a:buNone/>
            </a:pPr>
            <a:r>
              <a:rPr lang="en" sz="2000"/>
              <a:t>How to convert voltages (from sensors) to numbers (for processing)</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p:nvPr/>
        </p:nvSpPr>
        <p:spPr>
          <a:xfrm>
            <a:off x="468500" y="2018175"/>
            <a:ext cx="882468" cy="668736"/>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8"/>
          <p:cNvSpPr txBox="1"/>
          <p:nvPr>
            <p:ph type="title"/>
          </p:nvPr>
        </p:nvSpPr>
        <p:spPr>
          <a:xfrm>
            <a:off x="311700" y="6034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Typical sensor signal chain</a:t>
            </a:r>
            <a:endParaRPr/>
          </a:p>
        </p:txBody>
      </p:sp>
      <p:sp>
        <p:nvSpPr>
          <p:cNvPr id="87" name="Google Shape;87;p18"/>
          <p:cNvSpPr/>
          <p:nvPr/>
        </p:nvSpPr>
        <p:spPr>
          <a:xfrm>
            <a:off x="2129004" y="1967525"/>
            <a:ext cx="1073700" cy="6687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8"/>
          <p:cNvSpPr/>
          <p:nvPr/>
        </p:nvSpPr>
        <p:spPr>
          <a:xfrm>
            <a:off x="3980744" y="1967525"/>
            <a:ext cx="1073700" cy="6687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8"/>
          <p:cNvSpPr/>
          <p:nvPr/>
        </p:nvSpPr>
        <p:spPr>
          <a:xfrm>
            <a:off x="5832485" y="1967525"/>
            <a:ext cx="1073700" cy="668700"/>
          </a:xfrm>
          <a:prstGeom prst="rect">
            <a:avLst/>
          </a:prstGeom>
          <a:solidFill>
            <a:schemeClr val="lt2"/>
          </a:solid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8"/>
          <p:cNvSpPr/>
          <p:nvPr/>
        </p:nvSpPr>
        <p:spPr>
          <a:xfrm>
            <a:off x="7684225" y="1967525"/>
            <a:ext cx="1073700" cy="6687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8"/>
          <p:cNvSpPr txBox="1"/>
          <p:nvPr/>
        </p:nvSpPr>
        <p:spPr>
          <a:xfrm>
            <a:off x="2204904" y="2114525"/>
            <a:ext cx="921900" cy="37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t>Sensor</a:t>
            </a:r>
            <a:endParaRPr sz="1600"/>
          </a:p>
        </p:txBody>
      </p:sp>
      <p:sp>
        <p:nvSpPr>
          <p:cNvPr id="92" name="Google Shape;92;p18"/>
          <p:cNvSpPr txBox="1"/>
          <p:nvPr/>
        </p:nvSpPr>
        <p:spPr>
          <a:xfrm>
            <a:off x="4056644" y="2114525"/>
            <a:ext cx="921900" cy="37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t>AFE</a:t>
            </a:r>
            <a:endParaRPr sz="1600"/>
          </a:p>
        </p:txBody>
      </p:sp>
      <p:sp>
        <p:nvSpPr>
          <p:cNvPr id="93" name="Google Shape;93;p18"/>
          <p:cNvSpPr txBox="1"/>
          <p:nvPr/>
        </p:nvSpPr>
        <p:spPr>
          <a:xfrm>
            <a:off x="5908385" y="2114525"/>
            <a:ext cx="921900" cy="37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0000FF"/>
                </a:solidFill>
              </a:rPr>
              <a:t>ADC</a:t>
            </a:r>
            <a:endParaRPr sz="1600">
              <a:solidFill>
                <a:srgbClr val="0000FF"/>
              </a:solidFill>
            </a:endParaRPr>
          </a:p>
        </p:txBody>
      </p:sp>
      <p:sp>
        <p:nvSpPr>
          <p:cNvPr id="94" name="Google Shape;94;p18"/>
          <p:cNvSpPr txBox="1"/>
          <p:nvPr/>
        </p:nvSpPr>
        <p:spPr>
          <a:xfrm>
            <a:off x="7760125" y="2114525"/>
            <a:ext cx="921900" cy="37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t>MCU</a:t>
            </a:r>
            <a:endParaRPr sz="1600"/>
          </a:p>
        </p:txBody>
      </p:sp>
      <p:cxnSp>
        <p:nvCxnSpPr>
          <p:cNvPr id="95" name="Google Shape;95;p18"/>
          <p:cNvCxnSpPr>
            <a:stCxn id="96" idx="3"/>
            <a:endCxn id="87" idx="1"/>
          </p:cNvCxnSpPr>
          <p:nvPr/>
        </p:nvCxnSpPr>
        <p:spPr>
          <a:xfrm>
            <a:off x="1350954" y="2301875"/>
            <a:ext cx="778200" cy="0"/>
          </a:xfrm>
          <a:prstGeom prst="straightConnector1">
            <a:avLst/>
          </a:prstGeom>
          <a:noFill/>
          <a:ln cap="flat" cmpd="sng" w="19050">
            <a:solidFill>
              <a:schemeClr val="dk2"/>
            </a:solidFill>
            <a:prstDash val="solid"/>
            <a:round/>
            <a:headEnd len="med" w="med" type="none"/>
            <a:tailEnd len="med" w="med" type="triangle"/>
          </a:ln>
        </p:spPr>
      </p:cxnSp>
      <p:cxnSp>
        <p:nvCxnSpPr>
          <p:cNvPr id="97" name="Google Shape;97;p18"/>
          <p:cNvCxnSpPr>
            <a:endCxn id="88" idx="1"/>
          </p:cNvCxnSpPr>
          <p:nvPr/>
        </p:nvCxnSpPr>
        <p:spPr>
          <a:xfrm flipH="1" rot="10800000">
            <a:off x="3202844" y="2301875"/>
            <a:ext cx="777900" cy="10200"/>
          </a:xfrm>
          <a:prstGeom prst="straightConnector1">
            <a:avLst/>
          </a:prstGeom>
          <a:noFill/>
          <a:ln cap="flat" cmpd="sng" w="19050">
            <a:solidFill>
              <a:schemeClr val="dk2"/>
            </a:solidFill>
            <a:prstDash val="solid"/>
            <a:round/>
            <a:headEnd len="med" w="med" type="none"/>
            <a:tailEnd len="med" w="med" type="triangle"/>
          </a:ln>
        </p:spPr>
      </p:cxnSp>
      <p:cxnSp>
        <p:nvCxnSpPr>
          <p:cNvPr id="98" name="Google Shape;98;p18"/>
          <p:cNvCxnSpPr/>
          <p:nvPr/>
        </p:nvCxnSpPr>
        <p:spPr>
          <a:xfrm flipH="1" rot="10800000">
            <a:off x="5054507" y="2296775"/>
            <a:ext cx="777900" cy="10200"/>
          </a:xfrm>
          <a:prstGeom prst="straightConnector1">
            <a:avLst/>
          </a:prstGeom>
          <a:noFill/>
          <a:ln cap="flat" cmpd="sng" w="19050">
            <a:solidFill>
              <a:schemeClr val="dk2"/>
            </a:solidFill>
            <a:prstDash val="solid"/>
            <a:round/>
            <a:headEnd len="med" w="med" type="none"/>
            <a:tailEnd len="med" w="med" type="triangle"/>
          </a:ln>
        </p:spPr>
      </p:cxnSp>
      <p:cxnSp>
        <p:nvCxnSpPr>
          <p:cNvPr id="99" name="Google Shape;99;p18"/>
          <p:cNvCxnSpPr/>
          <p:nvPr/>
        </p:nvCxnSpPr>
        <p:spPr>
          <a:xfrm flipH="1" rot="10800000">
            <a:off x="6906182" y="2296775"/>
            <a:ext cx="777900" cy="10200"/>
          </a:xfrm>
          <a:prstGeom prst="straightConnector1">
            <a:avLst/>
          </a:prstGeom>
          <a:noFill/>
          <a:ln cap="flat" cmpd="sng" w="19050">
            <a:solidFill>
              <a:schemeClr val="dk2"/>
            </a:solidFill>
            <a:prstDash val="solid"/>
            <a:round/>
            <a:headEnd len="med" w="med" type="none"/>
            <a:tailEnd len="med" w="med" type="triangle"/>
          </a:ln>
        </p:spPr>
      </p:cxnSp>
      <p:sp>
        <p:nvSpPr>
          <p:cNvPr id="96" name="Google Shape;96;p18"/>
          <p:cNvSpPr txBox="1"/>
          <p:nvPr/>
        </p:nvSpPr>
        <p:spPr>
          <a:xfrm>
            <a:off x="429054" y="2114525"/>
            <a:ext cx="921900" cy="37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t>World</a:t>
            </a:r>
            <a:endParaRPr sz="1600"/>
          </a:p>
        </p:txBody>
      </p:sp>
      <p:sp>
        <p:nvSpPr>
          <p:cNvPr id="100" name="Google Shape;100;p18"/>
          <p:cNvSpPr txBox="1"/>
          <p:nvPr/>
        </p:nvSpPr>
        <p:spPr>
          <a:xfrm>
            <a:off x="1289000" y="1247375"/>
            <a:ext cx="840000" cy="68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physical</a:t>
            </a:r>
            <a:endParaRPr/>
          </a:p>
          <a:p>
            <a:pPr indent="0" lvl="0" marL="0" rtl="0" algn="ctr">
              <a:spcBef>
                <a:spcPts val="0"/>
              </a:spcBef>
              <a:spcAft>
                <a:spcPts val="0"/>
              </a:spcAft>
              <a:buNone/>
            </a:pPr>
            <a:r>
              <a:rPr lang="en"/>
              <a:t>quantity</a:t>
            </a:r>
            <a:endParaRPr/>
          </a:p>
        </p:txBody>
      </p:sp>
      <p:sp>
        <p:nvSpPr>
          <p:cNvPr id="101" name="Google Shape;101;p18"/>
          <p:cNvSpPr txBox="1"/>
          <p:nvPr/>
        </p:nvSpPr>
        <p:spPr>
          <a:xfrm>
            <a:off x="3126650" y="1247375"/>
            <a:ext cx="840000" cy="68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voltage</a:t>
            </a:r>
            <a:endParaRPr/>
          </a:p>
        </p:txBody>
      </p:sp>
      <p:sp>
        <p:nvSpPr>
          <p:cNvPr id="102" name="Google Shape;102;p18"/>
          <p:cNvSpPr txBox="1"/>
          <p:nvPr/>
        </p:nvSpPr>
        <p:spPr>
          <a:xfrm>
            <a:off x="5023450" y="1247375"/>
            <a:ext cx="840000" cy="68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voltage</a:t>
            </a:r>
            <a:endParaRPr/>
          </a:p>
        </p:txBody>
      </p:sp>
      <p:sp>
        <p:nvSpPr>
          <p:cNvPr id="103" name="Google Shape;103;p18"/>
          <p:cNvSpPr txBox="1"/>
          <p:nvPr/>
        </p:nvSpPr>
        <p:spPr>
          <a:xfrm>
            <a:off x="6875125" y="1247375"/>
            <a:ext cx="840000" cy="68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integers</a:t>
            </a:r>
            <a:endParaRPr/>
          </a:p>
        </p:txBody>
      </p:sp>
      <p:sp>
        <p:nvSpPr>
          <p:cNvPr id="104" name="Google Shape;104;p18"/>
          <p:cNvSpPr txBox="1"/>
          <p:nvPr/>
        </p:nvSpPr>
        <p:spPr>
          <a:xfrm>
            <a:off x="640725" y="2857625"/>
            <a:ext cx="8117100" cy="39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t>Sensor = Device that translates one physical variable into another</a:t>
            </a:r>
            <a:endParaRPr sz="1600"/>
          </a:p>
          <a:p>
            <a:pPr indent="0" lvl="0" marL="0" rtl="0" algn="l">
              <a:spcBef>
                <a:spcPts val="1000"/>
              </a:spcBef>
              <a:spcAft>
                <a:spcPts val="0"/>
              </a:spcAft>
              <a:buNone/>
            </a:pPr>
            <a:r>
              <a:rPr lang="en" sz="1600"/>
              <a:t>AFE = Analog front end:  Amplify, reduce noise (a.k.a. signal conditioning)</a:t>
            </a:r>
            <a:endParaRPr sz="1600"/>
          </a:p>
          <a:p>
            <a:pPr indent="0" lvl="0" marL="0" rtl="0" algn="l">
              <a:spcBef>
                <a:spcPts val="1000"/>
              </a:spcBef>
              <a:spcAft>
                <a:spcPts val="0"/>
              </a:spcAft>
              <a:buNone/>
            </a:pPr>
            <a:r>
              <a:rPr lang="en" sz="1600">
                <a:solidFill>
                  <a:srgbClr val="0000FF"/>
                </a:solidFill>
              </a:rPr>
              <a:t>ADC = Analog to digital converter</a:t>
            </a:r>
            <a:endParaRPr sz="1600">
              <a:solidFill>
                <a:srgbClr val="0000FF"/>
              </a:solidFill>
            </a:endParaRPr>
          </a:p>
          <a:p>
            <a:pPr indent="0" lvl="0" marL="0" rtl="0" algn="l">
              <a:spcBef>
                <a:spcPts val="1000"/>
              </a:spcBef>
              <a:spcAft>
                <a:spcPts val="0"/>
              </a:spcAft>
              <a:buNone/>
            </a:pPr>
            <a:r>
              <a:rPr lang="en" sz="1600"/>
              <a:t>MCU = Microcontroller unit (i.e., our STM32C031C6)</a:t>
            </a:r>
            <a:endParaRPr sz="1600"/>
          </a:p>
          <a:p>
            <a:pPr indent="0" lvl="0" marL="0" rtl="0" algn="l">
              <a:spcBef>
                <a:spcPts val="1000"/>
              </a:spcBef>
              <a:spcAft>
                <a:spcPts val="1000"/>
              </a:spcAft>
              <a:buNone/>
            </a:pPr>
            <a:r>
              <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txBox="1"/>
          <p:nvPr>
            <p:ph type="title"/>
          </p:nvPr>
        </p:nvSpPr>
        <p:spPr>
          <a:xfrm>
            <a:off x="311700" y="1943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a:t>
            </a:r>
            <a:r>
              <a:rPr lang="en"/>
              <a:t>Analog-to-Digital Conversion?</a:t>
            </a:r>
            <a:endParaRPr/>
          </a:p>
        </p:txBody>
      </p:sp>
      <p:pic>
        <p:nvPicPr>
          <p:cNvPr id="110" name="Google Shape;110;p19"/>
          <p:cNvPicPr preferRelativeResize="0"/>
          <p:nvPr/>
        </p:nvPicPr>
        <p:blipFill>
          <a:blip r:embed="rId3">
            <a:alphaModFix/>
          </a:blip>
          <a:stretch>
            <a:fillRect/>
          </a:stretch>
        </p:blipFill>
        <p:spPr>
          <a:xfrm>
            <a:off x="0" y="962133"/>
            <a:ext cx="9144000" cy="3377516"/>
          </a:xfrm>
          <a:prstGeom prst="rect">
            <a:avLst/>
          </a:prstGeom>
          <a:noFill/>
          <a:ln>
            <a:noFill/>
          </a:ln>
        </p:spPr>
      </p:pic>
      <p:sp>
        <p:nvSpPr>
          <p:cNvPr id="111" name="Google Shape;111;p19"/>
          <p:cNvSpPr/>
          <p:nvPr/>
        </p:nvSpPr>
        <p:spPr>
          <a:xfrm>
            <a:off x="3956500" y="3390050"/>
            <a:ext cx="646800" cy="702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19"/>
          <p:cNvSpPr txBox="1"/>
          <p:nvPr/>
        </p:nvSpPr>
        <p:spPr>
          <a:xfrm>
            <a:off x="258150" y="4526625"/>
            <a:ext cx="8627700" cy="2124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Char char="●"/>
            </a:pPr>
            <a:r>
              <a:rPr lang="en" sz="1800">
                <a:solidFill>
                  <a:schemeClr val="dk2"/>
                </a:solidFill>
              </a:rPr>
              <a:t>Converts continuous analog signals into discrete digital values.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Key steps:</a:t>
            </a:r>
            <a:endParaRPr sz="1800">
              <a:solidFill>
                <a:schemeClr val="dk2"/>
              </a:solidFill>
            </a:endParaRPr>
          </a:p>
          <a:p>
            <a:pPr indent="-342900" lvl="1" marL="914400" rtl="0" algn="l">
              <a:spcBef>
                <a:spcPts val="0"/>
              </a:spcBef>
              <a:spcAft>
                <a:spcPts val="0"/>
              </a:spcAft>
              <a:buClr>
                <a:schemeClr val="dk2"/>
              </a:buClr>
              <a:buSzPts val="1800"/>
              <a:buChar char="○"/>
            </a:pPr>
            <a:r>
              <a:rPr lang="en" sz="1800">
                <a:solidFill>
                  <a:schemeClr val="dk2"/>
                </a:solidFill>
              </a:rPr>
              <a:t>Sampling - capturing discrete points from an analog signal</a:t>
            </a:r>
            <a:endParaRPr sz="1800">
              <a:solidFill>
                <a:schemeClr val="dk2"/>
              </a:solidFill>
            </a:endParaRPr>
          </a:p>
          <a:p>
            <a:pPr indent="-342900" lvl="1" marL="914400" rtl="0" algn="l">
              <a:spcBef>
                <a:spcPts val="0"/>
              </a:spcBef>
              <a:spcAft>
                <a:spcPts val="0"/>
              </a:spcAft>
              <a:buClr>
                <a:schemeClr val="dk2"/>
              </a:buClr>
              <a:buSzPts val="1800"/>
              <a:buChar char="○"/>
            </a:pPr>
            <a:r>
              <a:rPr lang="en" sz="1800">
                <a:solidFill>
                  <a:schemeClr val="dk2"/>
                </a:solidFill>
              </a:rPr>
              <a:t>Quantization - Assigning numerical values to sampled points</a:t>
            </a:r>
            <a:endParaRPr sz="1800">
              <a:solidFill>
                <a:schemeClr val="dk2"/>
              </a:solidFill>
            </a:endParaRPr>
          </a:p>
          <a:p>
            <a:pPr indent="-342900" lvl="1" marL="914400" rtl="0" algn="l">
              <a:spcBef>
                <a:spcPts val="0"/>
              </a:spcBef>
              <a:spcAft>
                <a:spcPts val="0"/>
              </a:spcAft>
              <a:buClr>
                <a:schemeClr val="dk2"/>
              </a:buClr>
              <a:buSzPts val="1800"/>
              <a:buChar char="○"/>
            </a:pPr>
            <a:r>
              <a:rPr lang="en" sz="1800">
                <a:solidFill>
                  <a:schemeClr val="dk2"/>
                </a:solidFill>
              </a:rPr>
              <a:t>Encoding - Converting values into a digital formal</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Resolution: How well can the ADC represent a voltage (what interval of voltages gets mapped to the same digital value).</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311700" y="1943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Analog-to-digital converter, system view</a:t>
            </a:r>
            <a:endParaRPr/>
          </a:p>
        </p:txBody>
      </p:sp>
      <p:sp>
        <p:nvSpPr>
          <p:cNvPr id="118" name="Google Shape;118;p20"/>
          <p:cNvSpPr/>
          <p:nvPr/>
        </p:nvSpPr>
        <p:spPr>
          <a:xfrm>
            <a:off x="3506125" y="1458500"/>
            <a:ext cx="1689425" cy="940859"/>
          </a:xfrm>
          <a:custGeom>
            <a:rect b="b" l="l" r="r" t="t"/>
            <a:pathLst>
              <a:path extrusionOk="0" h="39977" w="67577">
                <a:moveTo>
                  <a:pt x="0" y="19235"/>
                </a:moveTo>
                <a:lnTo>
                  <a:pt x="19236" y="0"/>
                </a:lnTo>
                <a:lnTo>
                  <a:pt x="67577" y="0"/>
                </a:lnTo>
                <a:lnTo>
                  <a:pt x="67577" y="39977"/>
                </a:lnTo>
                <a:lnTo>
                  <a:pt x="18400" y="39977"/>
                </a:lnTo>
                <a:close/>
              </a:path>
            </a:pathLst>
          </a:custGeom>
          <a:solidFill>
            <a:schemeClr val="lt2"/>
          </a:solidFill>
          <a:ln cap="flat" cmpd="sng" w="19050">
            <a:solidFill>
              <a:srgbClr val="000000"/>
            </a:solidFill>
            <a:prstDash val="solid"/>
            <a:round/>
            <a:headEnd len="med" w="med" type="none"/>
            <a:tailEnd len="med" w="med" type="none"/>
          </a:ln>
        </p:spPr>
      </p:sp>
      <p:sp>
        <p:nvSpPr>
          <p:cNvPr id="119" name="Google Shape;119;p20"/>
          <p:cNvSpPr txBox="1"/>
          <p:nvPr/>
        </p:nvSpPr>
        <p:spPr>
          <a:xfrm>
            <a:off x="4007925" y="1757475"/>
            <a:ext cx="861600" cy="34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ADC</a:t>
            </a:r>
            <a:endParaRPr sz="1800"/>
          </a:p>
        </p:txBody>
      </p:sp>
      <p:cxnSp>
        <p:nvCxnSpPr>
          <p:cNvPr id="120" name="Google Shape;120;p20"/>
          <p:cNvCxnSpPr/>
          <p:nvPr/>
        </p:nvCxnSpPr>
        <p:spPr>
          <a:xfrm>
            <a:off x="2586150" y="1914175"/>
            <a:ext cx="936600" cy="0"/>
          </a:xfrm>
          <a:prstGeom prst="straightConnector1">
            <a:avLst/>
          </a:prstGeom>
          <a:noFill/>
          <a:ln cap="flat" cmpd="sng" w="19050">
            <a:solidFill>
              <a:schemeClr val="dk2"/>
            </a:solidFill>
            <a:prstDash val="solid"/>
            <a:round/>
            <a:headEnd len="med" w="med" type="none"/>
            <a:tailEnd len="med" w="med" type="none"/>
          </a:ln>
        </p:spPr>
      </p:cxnSp>
      <p:cxnSp>
        <p:nvCxnSpPr>
          <p:cNvPr id="121" name="Google Shape;121;p20"/>
          <p:cNvCxnSpPr/>
          <p:nvPr/>
        </p:nvCxnSpPr>
        <p:spPr>
          <a:xfrm>
            <a:off x="5184900" y="1840838"/>
            <a:ext cx="560700" cy="4800"/>
          </a:xfrm>
          <a:prstGeom prst="straightConnector1">
            <a:avLst/>
          </a:prstGeom>
          <a:noFill/>
          <a:ln cap="flat" cmpd="sng" w="19050">
            <a:solidFill>
              <a:schemeClr val="dk2"/>
            </a:solidFill>
            <a:prstDash val="solid"/>
            <a:round/>
            <a:headEnd len="med" w="med" type="none"/>
            <a:tailEnd len="med" w="med" type="none"/>
          </a:ln>
        </p:spPr>
      </p:cxnSp>
      <p:sp>
        <p:nvSpPr>
          <p:cNvPr id="122" name="Google Shape;122;p20"/>
          <p:cNvSpPr txBox="1"/>
          <p:nvPr/>
        </p:nvSpPr>
        <p:spPr>
          <a:xfrm>
            <a:off x="533400" y="1655025"/>
            <a:ext cx="2100900" cy="56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Analog signal in</a:t>
            </a:r>
            <a:endParaRPr sz="1800"/>
          </a:p>
          <a:p>
            <a:pPr indent="0" lvl="0" marL="0" rtl="0" algn="ctr">
              <a:spcBef>
                <a:spcPts val="0"/>
              </a:spcBef>
              <a:spcAft>
                <a:spcPts val="1000"/>
              </a:spcAft>
              <a:buNone/>
            </a:pPr>
            <a:r>
              <a:rPr lang="en" sz="1800"/>
              <a:t>0 to </a:t>
            </a:r>
            <a:r>
              <a:rPr i="1" lang="en" sz="1800"/>
              <a:t>V</a:t>
            </a:r>
            <a:r>
              <a:rPr baseline="-25000" lang="en" sz="1800"/>
              <a:t>max</a:t>
            </a:r>
            <a:endParaRPr sz="1800"/>
          </a:p>
        </p:txBody>
      </p:sp>
      <p:sp>
        <p:nvSpPr>
          <p:cNvPr id="123" name="Google Shape;123;p20"/>
          <p:cNvSpPr txBox="1"/>
          <p:nvPr/>
        </p:nvSpPr>
        <p:spPr>
          <a:xfrm>
            <a:off x="6095050" y="1633975"/>
            <a:ext cx="2147400" cy="56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1800"/>
              <a:t>B</a:t>
            </a:r>
            <a:r>
              <a:rPr lang="en" sz="1800"/>
              <a:t>-bit integer out</a:t>
            </a:r>
            <a:endParaRPr sz="1800"/>
          </a:p>
          <a:p>
            <a:pPr indent="0" lvl="0" marL="0" rtl="0" algn="ctr">
              <a:spcBef>
                <a:spcPts val="0"/>
              </a:spcBef>
              <a:spcAft>
                <a:spcPts val="0"/>
              </a:spcAft>
              <a:buNone/>
            </a:pPr>
            <a:r>
              <a:rPr lang="en" sz="1800"/>
              <a:t>0 to 2</a:t>
            </a:r>
            <a:r>
              <a:rPr baseline="30000" i="1" lang="en" sz="1800"/>
              <a:t>B</a:t>
            </a:r>
            <a:r>
              <a:rPr lang="en" sz="1800"/>
              <a:t> – 1</a:t>
            </a:r>
            <a:endParaRPr sz="1800"/>
          </a:p>
        </p:txBody>
      </p:sp>
      <p:sp>
        <p:nvSpPr>
          <p:cNvPr id="124" name="Google Shape;124;p20"/>
          <p:cNvSpPr txBox="1"/>
          <p:nvPr/>
        </p:nvSpPr>
        <p:spPr>
          <a:xfrm>
            <a:off x="5145725" y="775025"/>
            <a:ext cx="1868400" cy="4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t>Bundle of B wires</a:t>
            </a:r>
            <a:endParaRPr i="1"/>
          </a:p>
        </p:txBody>
      </p:sp>
      <p:cxnSp>
        <p:nvCxnSpPr>
          <p:cNvPr id="125" name="Google Shape;125;p20"/>
          <p:cNvCxnSpPr/>
          <p:nvPr/>
        </p:nvCxnSpPr>
        <p:spPr>
          <a:xfrm flipH="1">
            <a:off x="5504450" y="1122950"/>
            <a:ext cx="381000" cy="260700"/>
          </a:xfrm>
          <a:prstGeom prst="straightConnector1">
            <a:avLst/>
          </a:prstGeom>
          <a:noFill/>
          <a:ln cap="flat" cmpd="sng" w="9525">
            <a:solidFill>
              <a:schemeClr val="dk2"/>
            </a:solidFill>
            <a:prstDash val="solid"/>
            <a:round/>
            <a:headEnd len="med" w="med" type="none"/>
            <a:tailEnd len="med" w="med" type="triangle"/>
          </a:ln>
        </p:spPr>
      </p:cxnSp>
      <p:sp>
        <p:nvSpPr>
          <p:cNvPr id="126" name="Google Shape;126;p20"/>
          <p:cNvSpPr txBox="1"/>
          <p:nvPr/>
        </p:nvSpPr>
        <p:spPr>
          <a:xfrm>
            <a:off x="176325" y="2497425"/>
            <a:ext cx="17955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On STM32C031C6, </a:t>
            </a:r>
            <a:r>
              <a:rPr i="1" lang="en">
                <a:solidFill>
                  <a:srgbClr val="0000FF"/>
                </a:solidFill>
              </a:rPr>
              <a:t>V</a:t>
            </a:r>
            <a:r>
              <a:rPr baseline="-25000" lang="en">
                <a:solidFill>
                  <a:srgbClr val="0000FF"/>
                </a:solidFill>
              </a:rPr>
              <a:t>max</a:t>
            </a:r>
            <a:r>
              <a:rPr lang="en">
                <a:solidFill>
                  <a:srgbClr val="0000FF"/>
                </a:solidFill>
              </a:rPr>
              <a:t> = 3.3V (usually)</a:t>
            </a:r>
            <a:endParaRPr>
              <a:solidFill>
                <a:srgbClr val="0000FF"/>
              </a:solidFill>
            </a:endParaRPr>
          </a:p>
        </p:txBody>
      </p:sp>
      <p:cxnSp>
        <p:nvCxnSpPr>
          <p:cNvPr id="127" name="Google Shape;127;p20"/>
          <p:cNvCxnSpPr>
            <a:stCxn id="126" idx="0"/>
            <a:endCxn id="122" idx="2"/>
          </p:cNvCxnSpPr>
          <p:nvPr/>
        </p:nvCxnSpPr>
        <p:spPr>
          <a:xfrm flipH="1" rot="10800000">
            <a:off x="1074075" y="2215425"/>
            <a:ext cx="509700" cy="282000"/>
          </a:xfrm>
          <a:prstGeom prst="straightConnector1">
            <a:avLst/>
          </a:prstGeom>
          <a:noFill/>
          <a:ln cap="flat" cmpd="sng" w="9525">
            <a:solidFill>
              <a:srgbClr val="0000FF"/>
            </a:solidFill>
            <a:prstDash val="solid"/>
            <a:round/>
            <a:headEnd len="med" w="med" type="none"/>
            <a:tailEnd len="med" w="med" type="triangle"/>
          </a:ln>
        </p:spPr>
      </p:cxnSp>
      <p:sp>
        <p:nvSpPr>
          <p:cNvPr id="128" name="Google Shape;128;p20"/>
          <p:cNvSpPr txBox="1"/>
          <p:nvPr/>
        </p:nvSpPr>
        <p:spPr>
          <a:xfrm>
            <a:off x="7117825" y="2434025"/>
            <a:ext cx="1868400" cy="66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On STM32C031C6, </a:t>
            </a:r>
            <a:br>
              <a:rPr lang="en">
                <a:solidFill>
                  <a:srgbClr val="0000FF"/>
                </a:solidFill>
              </a:rPr>
            </a:br>
            <a:r>
              <a:rPr i="1" lang="en">
                <a:solidFill>
                  <a:srgbClr val="0000FF"/>
                </a:solidFill>
              </a:rPr>
              <a:t>B</a:t>
            </a:r>
            <a:r>
              <a:rPr lang="en">
                <a:solidFill>
                  <a:srgbClr val="0000FF"/>
                </a:solidFill>
              </a:rPr>
              <a:t> = 6, 8, 10 or 12</a:t>
            </a:r>
            <a:endParaRPr>
              <a:solidFill>
                <a:srgbClr val="0000FF"/>
              </a:solidFill>
            </a:endParaRPr>
          </a:p>
        </p:txBody>
      </p:sp>
      <p:cxnSp>
        <p:nvCxnSpPr>
          <p:cNvPr id="129" name="Google Shape;129;p20"/>
          <p:cNvCxnSpPr>
            <a:stCxn id="128" idx="0"/>
            <a:endCxn id="123" idx="2"/>
          </p:cNvCxnSpPr>
          <p:nvPr/>
        </p:nvCxnSpPr>
        <p:spPr>
          <a:xfrm rot="10800000">
            <a:off x="7168825" y="2194325"/>
            <a:ext cx="883200" cy="239700"/>
          </a:xfrm>
          <a:prstGeom prst="straightConnector1">
            <a:avLst/>
          </a:prstGeom>
          <a:noFill/>
          <a:ln cap="flat" cmpd="sng" w="9525">
            <a:solidFill>
              <a:srgbClr val="0000FF"/>
            </a:solidFill>
            <a:prstDash val="solid"/>
            <a:round/>
            <a:headEnd len="med" w="med" type="none"/>
            <a:tailEnd len="med" w="med" type="triangle"/>
          </a:ln>
        </p:spPr>
      </p:cxnSp>
      <p:cxnSp>
        <p:nvCxnSpPr>
          <p:cNvPr id="130" name="Google Shape;130;p20"/>
          <p:cNvCxnSpPr/>
          <p:nvPr/>
        </p:nvCxnSpPr>
        <p:spPr>
          <a:xfrm>
            <a:off x="5201938" y="1974100"/>
            <a:ext cx="560700" cy="4800"/>
          </a:xfrm>
          <a:prstGeom prst="straightConnector1">
            <a:avLst/>
          </a:prstGeom>
          <a:noFill/>
          <a:ln cap="flat" cmpd="sng" w="19050">
            <a:solidFill>
              <a:schemeClr val="dk2"/>
            </a:solidFill>
            <a:prstDash val="solid"/>
            <a:round/>
            <a:headEnd len="med" w="med" type="none"/>
            <a:tailEnd len="med" w="med" type="none"/>
          </a:ln>
        </p:spPr>
      </p:cxnSp>
      <p:cxnSp>
        <p:nvCxnSpPr>
          <p:cNvPr id="131" name="Google Shape;131;p20"/>
          <p:cNvCxnSpPr/>
          <p:nvPr/>
        </p:nvCxnSpPr>
        <p:spPr>
          <a:xfrm>
            <a:off x="5201925" y="2105338"/>
            <a:ext cx="560700" cy="4800"/>
          </a:xfrm>
          <a:prstGeom prst="straightConnector1">
            <a:avLst/>
          </a:prstGeom>
          <a:noFill/>
          <a:ln cap="flat" cmpd="sng" w="19050">
            <a:solidFill>
              <a:schemeClr val="dk2"/>
            </a:solidFill>
            <a:prstDash val="solid"/>
            <a:round/>
            <a:headEnd len="med" w="med" type="none"/>
            <a:tailEnd len="med" w="med" type="none"/>
          </a:ln>
        </p:spPr>
      </p:cxnSp>
      <p:cxnSp>
        <p:nvCxnSpPr>
          <p:cNvPr id="132" name="Google Shape;132;p20"/>
          <p:cNvCxnSpPr/>
          <p:nvPr/>
        </p:nvCxnSpPr>
        <p:spPr>
          <a:xfrm>
            <a:off x="5201950" y="1478275"/>
            <a:ext cx="560700" cy="4800"/>
          </a:xfrm>
          <a:prstGeom prst="straightConnector1">
            <a:avLst/>
          </a:prstGeom>
          <a:noFill/>
          <a:ln cap="flat" cmpd="sng" w="19050">
            <a:solidFill>
              <a:schemeClr val="dk2"/>
            </a:solidFill>
            <a:prstDash val="solid"/>
            <a:round/>
            <a:headEnd len="med" w="med" type="none"/>
            <a:tailEnd len="med" w="med" type="none"/>
          </a:ln>
        </p:spPr>
      </p:cxnSp>
      <p:cxnSp>
        <p:nvCxnSpPr>
          <p:cNvPr id="133" name="Google Shape;133;p20"/>
          <p:cNvCxnSpPr/>
          <p:nvPr/>
        </p:nvCxnSpPr>
        <p:spPr>
          <a:xfrm>
            <a:off x="5201950" y="2233725"/>
            <a:ext cx="560700" cy="4800"/>
          </a:xfrm>
          <a:prstGeom prst="straightConnector1">
            <a:avLst/>
          </a:prstGeom>
          <a:noFill/>
          <a:ln cap="flat" cmpd="sng" w="19050">
            <a:solidFill>
              <a:schemeClr val="dk2"/>
            </a:solidFill>
            <a:prstDash val="solid"/>
            <a:round/>
            <a:headEnd len="med" w="med" type="none"/>
            <a:tailEnd len="med" w="med" type="none"/>
          </a:ln>
        </p:spPr>
      </p:cxnSp>
      <p:cxnSp>
        <p:nvCxnSpPr>
          <p:cNvPr id="134" name="Google Shape;134;p20"/>
          <p:cNvCxnSpPr/>
          <p:nvPr/>
        </p:nvCxnSpPr>
        <p:spPr>
          <a:xfrm>
            <a:off x="5201950" y="2354675"/>
            <a:ext cx="560700" cy="4800"/>
          </a:xfrm>
          <a:prstGeom prst="straightConnector1">
            <a:avLst/>
          </a:prstGeom>
          <a:noFill/>
          <a:ln cap="flat" cmpd="sng" w="19050">
            <a:solidFill>
              <a:schemeClr val="dk2"/>
            </a:solidFill>
            <a:prstDash val="solid"/>
            <a:round/>
            <a:headEnd len="med" w="med" type="none"/>
            <a:tailEnd len="med" w="med" type="none"/>
          </a:ln>
        </p:spPr>
      </p:cxnSp>
      <p:sp>
        <p:nvSpPr>
          <p:cNvPr id="135" name="Google Shape;135;p20"/>
          <p:cNvSpPr/>
          <p:nvPr/>
        </p:nvSpPr>
        <p:spPr>
          <a:xfrm>
            <a:off x="5431750" y="1561600"/>
            <a:ext cx="32700" cy="3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0"/>
          <p:cNvSpPr/>
          <p:nvPr/>
        </p:nvSpPr>
        <p:spPr>
          <a:xfrm>
            <a:off x="5431750" y="1637800"/>
            <a:ext cx="32700" cy="3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0"/>
          <p:cNvSpPr/>
          <p:nvPr/>
        </p:nvSpPr>
        <p:spPr>
          <a:xfrm>
            <a:off x="5431750" y="1714000"/>
            <a:ext cx="32700" cy="3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0"/>
          <p:cNvSpPr txBox="1"/>
          <p:nvPr/>
        </p:nvSpPr>
        <p:spPr>
          <a:xfrm>
            <a:off x="5701575" y="2187725"/>
            <a:ext cx="355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D</a:t>
            </a:r>
            <a:r>
              <a:rPr baseline="-25000" lang="en" sz="1000"/>
              <a:t>0</a:t>
            </a:r>
            <a:endParaRPr baseline="-25000" sz="1000"/>
          </a:p>
        </p:txBody>
      </p:sp>
      <p:sp>
        <p:nvSpPr>
          <p:cNvPr id="139" name="Google Shape;139;p20"/>
          <p:cNvSpPr txBox="1"/>
          <p:nvPr/>
        </p:nvSpPr>
        <p:spPr>
          <a:xfrm>
            <a:off x="5701575" y="2075225"/>
            <a:ext cx="355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D</a:t>
            </a:r>
            <a:r>
              <a:rPr baseline="-25000" lang="en" sz="1000"/>
              <a:t>1</a:t>
            </a:r>
            <a:endParaRPr baseline="-25000" sz="1000"/>
          </a:p>
        </p:txBody>
      </p:sp>
      <p:sp>
        <p:nvSpPr>
          <p:cNvPr id="140" name="Google Shape;140;p20"/>
          <p:cNvSpPr txBox="1"/>
          <p:nvPr/>
        </p:nvSpPr>
        <p:spPr>
          <a:xfrm>
            <a:off x="5701575" y="1938388"/>
            <a:ext cx="355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D</a:t>
            </a:r>
            <a:r>
              <a:rPr baseline="-25000" lang="en" sz="1000"/>
              <a:t>2</a:t>
            </a:r>
            <a:endParaRPr baseline="-25000" sz="1000"/>
          </a:p>
        </p:txBody>
      </p:sp>
      <p:sp>
        <p:nvSpPr>
          <p:cNvPr id="141" name="Google Shape;141;p20"/>
          <p:cNvSpPr txBox="1"/>
          <p:nvPr/>
        </p:nvSpPr>
        <p:spPr>
          <a:xfrm>
            <a:off x="5700650" y="1305425"/>
            <a:ext cx="464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D</a:t>
            </a:r>
            <a:r>
              <a:rPr baseline="-25000" lang="en" sz="1000"/>
              <a:t>B-1</a:t>
            </a:r>
            <a:endParaRPr baseline="-25000" sz="1000"/>
          </a:p>
        </p:txBody>
      </p:sp>
      <p:pic>
        <p:nvPicPr>
          <p:cNvPr id="142" name="Google Shape;142;p20"/>
          <p:cNvPicPr preferRelativeResize="0"/>
          <p:nvPr/>
        </p:nvPicPr>
        <p:blipFill>
          <a:blip r:embed="rId3">
            <a:alphaModFix/>
          </a:blip>
          <a:stretch>
            <a:fillRect/>
          </a:stretch>
        </p:blipFill>
        <p:spPr>
          <a:xfrm>
            <a:off x="2024562" y="2604010"/>
            <a:ext cx="4828325" cy="4227440"/>
          </a:xfrm>
          <a:prstGeom prst="rect">
            <a:avLst/>
          </a:prstGeom>
          <a:noFill/>
          <a:ln>
            <a:noFill/>
          </a:ln>
        </p:spPr>
      </p:pic>
      <p:sp>
        <p:nvSpPr>
          <p:cNvPr id="143" name="Google Shape;143;p20"/>
          <p:cNvSpPr txBox="1"/>
          <p:nvPr/>
        </p:nvSpPr>
        <p:spPr>
          <a:xfrm>
            <a:off x="3057362" y="3006075"/>
            <a:ext cx="2762700" cy="461700"/>
          </a:xfrm>
          <a:prstGeom prst="rect">
            <a:avLst/>
          </a:prstGeom>
          <a:solidFill>
            <a:schemeClr val="lt1"/>
          </a:solidFill>
          <a:ln cap="flat" cmpd="sng" w="952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0000FF"/>
                </a:solidFill>
              </a:rPr>
              <a:t>D</a:t>
            </a:r>
            <a:r>
              <a:rPr b="1" baseline="-25000" lang="en" sz="1800">
                <a:solidFill>
                  <a:srgbClr val="0000FF"/>
                </a:solidFill>
              </a:rPr>
              <a:t>out</a:t>
            </a:r>
            <a:r>
              <a:rPr b="1" lang="en" sz="1800">
                <a:solidFill>
                  <a:srgbClr val="0000FF"/>
                </a:solidFill>
              </a:rPr>
              <a:t> = floor[4096*V</a:t>
            </a:r>
            <a:r>
              <a:rPr b="1" baseline="-25000" lang="en" sz="1800">
                <a:solidFill>
                  <a:srgbClr val="0000FF"/>
                </a:solidFill>
              </a:rPr>
              <a:t>in</a:t>
            </a:r>
            <a:r>
              <a:rPr b="1" lang="en" sz="1800">
                <a:solidFill>
                  <a:srgbClr val="0000FF"/>
                </a:solidFill>
              </a:rPr>
              <a:t>/3.3]</a:t>
            </a:r>
            <a:endParaRPr b="1" sz="1800">
              <a:solidFill>
                <a:srgbClr val="0000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1"/>
          <p:cNvSpPr txBox="1"/>
          <p:nvPr>
            <p:ph type="title"/>
          </p:nvPr>
        </p:nvSpPr>
        <p:spPr>
          <a:xfrm>
            <a:off x="311700" y="1943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Analog-to-digital converter, system view</a:t>
            </a:r>
            <a:endParaRPr/>
          </a:p>
        </p:txBody>
      </p:sp>
      <p:sp>
        <p:nvSpPr>
          <p:cNvPr id="149" name="Google Shape;149;p21"/>
          <p:cNvSpPr/>
          <p:nvPr/>
        </p:nvSpPr>
        <p:spPr>
          <a:xfrm>
            <a:off x="3506125" y="1458500"/>
            <a:ext cx="1689425" cy="940859"/>
          </a:xfrm>
          <a:custGeom>
            <a:rect b="b" l="l" r="r" t="t"/>
            <a:pathLst>
              <a:path extrusionOk="0" h="39977" w="67577">
                <a:moveTo>
                  <a:pt x="0" y="19235"/>
                </a:moveTo>
                <a:lnTo>
                  <a:pt x="19236" y="0"/>
                </a:lnTo>
                <a:lnTo>
                  <a:pt x="67577" y="0"/>
                </a:lnTo>
                <a:lnTo>
                  <a:pt x="67577" y="39977"/>
                </a:lnTo>
                <a:lnTo>
                  <a:pt x="18400" y="39977"/>
                </a:lnTo>
                <a:close/>
              </a:path>
            </a:pathLst>
          </a:custGeom>
          <a:solidFill>
            <a:schemeClr val="lt2"/>
          </a:solidFill>
          <a:ln cap="flat" cmpd="sng" w="19050">
            <a:solidFill>
              <a:srgbClr val="000000"/>
            </a:solidFill>
            <a:prstDash val="solid"/>
            <a:round/>
            <a:headEnd len="med" w="med" type="none"/>
            <a:tailEnd len="med" w="med" type="none"/>
          </a:ln>
        </p:spPr>
      </p:sp>
      <p:sp>
        <p:nvSpPr>
          <p:cNvPr id="150" name="Google Shape;150;p21"/>
          <p:cNvSpPr txBox="1"/>
          <p:nvPr/>
        </p:nvSpPr>
        <p:spPr>
          <a:xfrm>
            <a:off x="4007925" y="1757475"/>
            <a:ext cx="861600" cy="34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ADC</a:t>
            </a:r>
            <a:endParaRPr sz="1800"/>
          </a:p>
        </p:txBody>
      </p:sp>
      <p:cxnSp>
        <p:nvCxnSpPr>
          <p:cNvPr id="151" name="Google Shape;151;p21"/>
          <p:cNvCxnSpPr/>
          <p:nvPr/>
        </p:nvCxnSpPr>
        <p:spPr>
          <a:xfrm>
            <a:off x="2586150" y="1914175"/>
            <a:ext cx="936600" cy="0"/>
          </a:xfrm>
          <a:prstGeom prst="straightConnector1">
            <a:avLst/>
          </a:prstGeom>
          <a:noFill/>
          <a:ln cap="flat" cmpd="sng" w="19050">
            <a:solidFill>
              <a:schemeClr val="dk2"/>
            </a:solidFill>
            <a:prstDash val="solid"/>
            <a:round/>
            <a:headEnd len="med" w="med" type="none"/>
            <a:tailEnd len="med" w="med" type="none"/>
          </a:ln>
        </p:spPr>
      </p:cxnSp>
      <p:cxnSp>
        <p:nvCxnSpPr>
          <p:cNvPr id="152" name="Google Shape;152;p21"/>
          <p:cNvCxnSpPr/>
          <p:nvPr/>
        </p:nvCxnSpPr>
        <p:spPr>
          <a:xfrm>
            <a:off x="5184900" y="1840838"/>
            <a:ext cx="560700" cy="4800"/>
          </a:xfrm>
          <a:prstGeom prst="straightConnector1">
            <a:avLst/>
          </a:prstGeom>
          <a:noFill/>
          <a:ln cap="flat" cmpd="sng" w="19050">
            <a:solidFill>
              <a:schemeClr val="dk2"/>
            </a:solidFill>
            <a:prstDash val="solid"/>
            <a:round/>
            <a:headEnd len="med" w="med" type="none"/>
            <a:tailEnd len="med" w="med" type="none"/>
          </a:ln>
        </p:spPr>
      </p:cxnSp>
      <p:sp>
        <p:nvSpPr>
          <p:cNvPr id="153" name="Google Shape;153;p21"/>
          <p:cNvSpPr txBox="1"/>
          <p:nvPr/>
        </p:nvSpPr>
        <p:spPr>
          <a:xfrm>
            <a:off x="533400" y="1655025"/>
            <a:ext cx="2100900" cy="56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Analog signal in</a:t>
            </a:r>
            <a:endParaRPr sz="1800"/>
          </a:p>
          <a:p>
            <a:pPr indent="0" lvl="0" marL="0" rtl="0" algn="ctr">
              <a:spcBef>
                <a:spcPts val="0"/>
              </a:spcBef>
              <a:spcAft>
                <a:spcPts val="1000"/>
              </a:spcAft>
              <a:buNone/>
            </a:pPr>
            <a:r>
              <a:rPr lang="en" sz="1800"/>
              <a:t>0 to </a:t>
            </a:r>
            <a:r>
              <a:rPr i="1" lang="en" sz="1800"/>
              <a:t>V</a:t>
            </a:r>
            <a:r>
              <a:rPr baseline="-25000" lang="en" sz="1800"/>
              <a:t>max</a:t>
            </a:r>
            <a:endParaRPr sz="1800"/>
          </a:p>
        </p:txBody>
      </p:sp>
      <p:sp>
        <p:nvSpPr>
          <p:cNvPr id="154" name="Google Shape;154;p21"/>
          <p:cNvSpPr txBox="1"/>
          <p:nvPr/>
        </p:nvSpPr>
        <p:spPr>
          <a:xfrm>
            <a:off x="6095050" y="1633975"/>
            <a:ext cx="2147400" cy="56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1800"/>
              <a:t>B</a:t>
            </a:r>
            <a:r>
              <a:rPr lang="en" sz="1800"/>
              <a:t>-bit integer out</a:t>
            </a:r>
            <a:endParaRPr sz="1800"/>
          </a:p>
          <a:p>
            <a:pPr indent="0" lvl="0" marL="0" rtl="0" algn="ctr">
              <a:spcBef>
                <a:spcPts val="0"/>
              </a:spcBef>
              <a:spcAft>
                <a:spcPts val="0"/>
              </a:spcAft>
              <a:buNone/>
            </a:pPr>
            <a:r>
              <a:rPr lang="en" sz="1800"/>
              <a:t>0 to 2</a:t>
            </a:r>
            <a:r>
              <a:rPr baseline="30000" i="1" lang="en" sz="1800"/>
              <a:t>B</a:t>
            </a:r>
            <a:r>
              <a:rPr lang="en" sz="1800"/>
              <a:t> – 1</a:t>
            </a:r>
            <a:endParaRPr sz="1800"/>
          </a:p>
        </p:txBody>
      </p:sp>
      <p:sp>
        <p:nvSpPr>
          <p:cNvPr id="155" name="Google Shape;155;p21"/>
          <p:cNvSpPr txBox="1"/>
          <p:nvPr/>
        </p:nvSpPr>
        <p:spPr>
          <a:xfrm>
            <a:off x="5145725" y="775025"/>
            <a:ext cx="1868400" cy="4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t>Bundle of B wires</a:t>
            </a:r>
            <a:endParaRPr i="1"/>
          </a:p>
        </p:txBody>
      </p:sp>
      <p:cxnSp>
        <p:nvCxnSpPr>
          <p:cNvPr id="156" name="Google Shape;156;p21"/>
          <p:cNvCxnSpPr/>
          <p:nvPr/>
        </p:nvCxnSpPr>
        <p:spPr>
          <a:xfrm flipH="1">
            <a:off x="5504450" y="1122950"/>
            <a:ext cx="381000" cy="260700"/>
          </a:xfrm>
          <a:prstGeom prst="straightConnector1">
            <a:avLst/>
          </a:prstGeom>
          <a:noFill/>
          <a:ln cap="flat" cmpd="sng" w="9525">
            <a:solidFill>
              <a:schemeClr val="dk2"/>
            </a:solidFill>
            <a:prstDash val="solid"/>
            <a:round/>
            <a:headEnd len="med" w="med" type="none"/>
            <a:tailEnd len="med" w="med" type="triangle"/>
          </a:ln>
        </p:spPr>
      </p:cxnSp>
      <p:sp>
        <p:nvSpPr>
          <p:cNvPr id="157" name="Google Shape;157;p21"/>
          <p:cNvSpPr txBox="1"/>
          <p:nvPr/>
        </p:nvSpPr>
        <p:spPr>
          <a:xfrm>
            <a:off x="385050" y="3304325"/>
            <a:ext cx="8373900" cy="34890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Char char="●"/>
            </a:pPr>
            <a:r>
              <a:rPr lang="en" sz="1600"/>
              <a:t>Digital output of the ADC conversion of input voltage v</a:t>
            </a:r>
            <a:r>
              <a:rPr baseline="-25000" lang="en" sz="1600"/>
              <a:t>in</a:t>
            </a:r>
            <a:r>
              <a:rPr lang="en" sz="1600"/>
              <a:t>:  </a:t>
            </a:r>
            <a:br>
              <a:rPr lang="en" sz="1600"/>
            </a:br>
            <a:r>
              <a:rPr lang="en" sz="1600"/>
              <a:t>		</a:t>
            </a:r>
            <a:br>
              <a:rPr lang="en" sz="1600"/>
            </a:br>
            <a:r>
              <a:rPr lang="en" sz="1600"/>
              <a:t>		</a:t>
            </a:r>
            <a:r>
              <a:rPr i="1" lang="en" sz="1600">
                <a:solidFill>
                  <a:srgbClr val="0000FF"/>
                </a:solidFill>
              </a:rPr>
              <a:t>y</a:t>
            </a:r>
            <a:r>
              <a:rPr lang="en" sz="1600">
                <a:solidFill>
                  <a:srgbClr val="0000FF"/>
                </a:solidFill>
              </a:rPr>
              <a:t> = floor[ (</a:t>
            </a:r>
            <a:r>
              <a:rPr i="1" lang="en" sz="1600">
                <a:solidFill>
                  <a:srgbClr val="0000FF"/>
                </a:solidFill>
              </a:rPr>
              <a:t>v</a:t>
            </a:r>
            <a:r>
              <a:rPr baseline="-25000" lang="en" sz="1600">
                <a:solidFill>
                  <a:srgbClr val="0000FF"/>
                </a:solidFill>
              </a:rPr>
              <a:t>in</a:t>
            </a:r>
            <a:r>
              <a:rPr lang="en" sz="1600">
                <a:solidFill>
                  <a:srgbClr val="0000FF"/>
                </a:solidFill>
              </a:rPr>
              <a:t> / </a:t>
            </a:r>
            <a:r>
              <a:rPr i="1" lang="en" sz="1600">
                <a:solidFill>
                  <a:srgbClr val="0000FF"/>
                </a:solidFill>
              </a:rPr>
              <a:t>V</a:t>
            </a:r>
            <a:r>
              <a:rPr baseline="-25000" lang="en" sz="1600">
                <a:solidFill>
                  <a:srgbClr val="0000FF"/>
                </a:solidFill>
              </a:rPr>
              <a:t>max</a:t>
            </a:r>
            <a:r>
              <a:rPr lang="en" sz="1600">
                <a:solidFill>
                  <a:srgbClr val="0000FF"/>
                </a:solidFill>
              </a:rPr>
              <a:t>) × 2</a:t>
            </a:r>
            <a:r>
              <a:rPr baseline="30000" i="1" lang="en" sz="1600">
                <a:solidFill>
                  <a:srgbClr val="0000FF"/>
                </a:solidFill>
              </a:rPr>
              <a:t>B</a:t>
            </a:r>
            <a:r>
              <a:rPr i="1" lang="en" sz="1600">
                <a:solidFill>
                  <a:srgbClr val="0000FF"/>
                </a:solidFill>
              </a:rPr>
              <a:t> </a:t>
            </a:r>
            <a:r>
              <a:rPr lang="en" sz="1600">
                <a:solidFill>
                  <a:srgbClr val="0000FF"/>
                </a:solidFill>
              </a:rPr>
              <a:t>] </a:t>
            </a:r>
            <a:endParaRPr sz="1600">
              <a:solidFill>
                <a:srgbClr val="0000FF"/>
              </a:solidFill>
            </a:endParaRPr>
          </a:p>
          <a:p>
            <a:pPr indent="0" lvl="0" marL="0" rtl="0" algn="l">
              <a:spcBef>
                <a:spcPts val="1000"/>
              </a:spcBef>
              <a:spcAft>
                <a:spcPts val="0"/>
              </a:spcAft>
              <a:buNone/>
            </a:pPr>
            <a:r>
              <a:rPr lang="en" sz="1600">
                <a:solidFill>
                  <a:srgbClr val="0000FF"/>
                </a:solidFill>
              </a:rPr>
              <a:t>                           = floor[ </a:t>
            </a:r>
            <a:r>
              <a:rPr i="1" lang="en" sz="1600">
                <a:solidFill>
                  <a:srgbClr val="0000FF"/>
                </a:solidFill>
              </a:rPr>
              <a:t>v</a:t>
            </a:r>
            <a:r>
              <a:rPr baseline="-25000" lang="en" sz="1600">
                <a:solidFill>
                  <a:srgbClr val="0000FF"/>
                </a:solidFill>
              </a:rPr>
              <a:t>in</a:t>
            </a:r>
            <a:r>
              <a:rPr lang="en" sz="1600">
                <a:solidFill>
                  <a:srgbClr val="0000FF"/>
                </a:solidFill>
              </a:rPr>
              <a:t> / ∆</a:t>
            </a:r>
            <a:r>
              <a:rPr i="1" lang="en" sz="1600">
                <a:solidFill>
                  <a:srgbClr val="0000FF"/>
                </a:solidFill>
              </a:rPr>
              <a:t>v </a:t>
            </a:r>
            <a:r>
              <a:rPr lang="en" sz="1600">
                <a:solidFill>
                  <a:srgbClr val="0000FF"/>
                </a:solidFill>
              </a:rPr>
              <a:t>],  where ∆</a:t>
            </a:r>
            <a:r>
              <a:rPr i="1" lang="en" sz="1600">
                <a:solidFill>
                  <a:srgbClr val="0000FF"/>
                </a:solidFill>
              </a:rPr>
              <a:t>v = V</a:t>
            </a:r>
            <a:r>
              <a:rPr baseline="-25000" lang="en" sz="1600">
                <a:solidFill>
                  <a:srgbClr val="0000FF"/>
                </a:solidFill>
              </a:rPr>
              <a:t>max</a:t>
            </a:r>
            <a:r>
              <a:rPr lang="en" sz="1600">
                <a:solidFill>
                  <a:srgbClr val="0000FF"/>
                </a:solidFill>
              </a:rPr>
              <a:t>/ 2</a:t>
            </a:r>
            <a:r>
              <a:rPr baseline="30000" i="1" lang="en" sz="1600">
                <a:solidFill>
                  <a:srgbClr val="0000FF"/>
                </a:solidFill>
              </a:rPr>
              <a:t>B</a:t>
            </a:r>
            <a:endParaRPr sz="1600">
              <a:solidFill>
                <a:srgbClr val="0000FF"/>
              </a:solidFill>
            </a:endParaRPr>
          </a:p>
          <a:p>
            <a:pPr indent="0" lvl="0" marL="0" rtl="0" algn="l">
              <a:spcBef>
                <a:spcPts val="0"/>
              </a:spcBef>
              <a:spcAft>
                <a:spcPts val="0"/>
              </a:spcAft>
              <a:buNone/>
            </a:pPr>
            <a:r>
              <a:t/>
            </a:r>
            <a:endParaRPr sz="1600">
              <a:solidFill>
                <a:srgbClr val="0000FF"/>
              </a:solidFill>
            </a:endParaRPr>
          </a:p>
          <a:p>
            <a:pPr indent="-330200" lvl="0" marL="457200" rtl="0" algn="l">
              <a:spcBef>
                <a:spcPts val="0"/>
              </a:spcBef>
              <a:spcAft>
                <a:spcPts val="0"/>
              </a:spcAft>
              <a:buSzPts val="1600"/>
              <a:buChar char="●"/>
            </a:pPr>
            <a:r>
              <a:rPr lang="en" sz="1600"/>
              <a:t>ADC's voltage resolution: </a:t>
            </a:r>
            <a:br>
              <a:rPr lang="en" sz="1600"/>
            </a:br>
            <a:r>
              <a:rPr lang="en" sz="1600"/>
              <a:t>		</a:t>
            </a:r>
            <a:endParaRPr sz="1600"/>
          </a:p>
          <a:p>
            <a:pPr indent="457200" lvl="0" marL="914400" rtl="0" algn="l">
              <a:spcBef>
                <a:spcPts val="0"/>
              </a:spcBef>
              <a:spcAft>
                <a:spcPts val="0"/>
              </a:spcAft>
              <a:buNone/>
            </a:pPr>
            <a:r>
              <a:rPr lang="en" sz="1600">
                <a:solidFill>
                  <a:srgbClr val="0000FF"/>
                </a:solidFill>
              </a:rPr>
              <a:t>∆</a:t>
            </a:r>
            <a:r>
              <a:rPr i="1" lang="en" sz="1600">
                <a:solidFill>
                  <a:srgbClr val="0000FF"/>
                </a:solidFill>
              </a:rPr>
              <a:t>v = V</a:t>
            </a:r>
            <a:r>
              <a:rPr baseline="-25000" lang="en" sz="1600">
                <a:solidFill>
                  <a:srgbClr val="0000FF"/>
                </a:solidFill>
              </a:rPr>
              <a:t>max</a:t>
            </a:r>
            <a:r>
              <a:rPr lang="en" sz="1600">
                <a:solidFill>
                  <a:srgbClr val="0000FF"/>
                </a:solidFill>
              </a:rPr>
              <a:t>/ 2</a:t>
            </a:r>
            <a:r>
              <a:rPr baseline="30000" i="1" lang="en" sz="1600">
                <a:solidFill>
                  <a:srgbClr val="0000FF"/>
                </a:solidFill>
              </a:rPr>
              <a:t>B</a:t>
            </a:r>
            <a:r>
              <a:rPr lang="en" sz="1600">
                <a:solidFill>
                  <a:srgbClr val="0000FF"/>
                </a:solidFill>
              </a:rPr>
              <a:t> </a:t>
            </a:r>
            <a:br>
              <a:rPr lang="en" sz="1600">
                <a:solidFill>
                  <a:schemeClr val="dk1"/>
                </a:solidFill>
              </a:rPr>
            </a:br>
            <a:endParaRPr baseline="30000" sz="1600">
              <a:solidFill>
                <a:schemeClr val="dk1"/>
              </a:solidFill>
            </a:endParaRPr>
          </a:p>
          <a:p>
            <a:pPr indent="-330200" lvl="0" marL="457200" rtl="0" algn="l">
              <a:spcBef>
                <a:spcPts val="0"/>
              </a:spcBef>
              <a:spcAft>
                <a:spcPts val="0"/>
              </a:spcAft>
              <a:buSzPts val="1600"/>
              <a:buChar char="●"/>
            </a:pPr>
            <a:r>
              <a:rPr lang="en" sz="1600"/>
              <a:t>To convert </a:t>
            </a:r>
            <a:r>
              <a:rPr i="1" lang="en" sz="1600"/>
              <a:t>y</a:t>
            </a:r>
            <a:r>
              <a:rPr lang="en" sz="1600"/>
              <a:t> back to a voltage: </a:t>
            </a:r>
            <a:endParaRPr sz="1600"/>
          </a:p>
          <a:p>
            <a:pPr indent="457200" lvl="0" marL="914400" rtl="0" algn="l">
              <a:spcBef>
                <a:spcPts val="0"/>
              </a:spcBef>
              <a:spcAft>
                <a:spcPts val="0"/>
              </a:spcAft>
              <a:buNone/>
            </a:pPr>
            <a:br>
              <a:rPr i="1" lang="en" sz="1600">
                <a:solidFill>
                  <a:srgbClr val="0000FF"/>
                </a:solidFill>
              </a:rPr>
            </a:br>
            <a:r>
              <a:rPr i="1" lang="en" sz="1600">
                <a:solidFill>
                  <a:srgbClr val="0000FF"/>
                </a:solidFill>
              </a:rPr>
              <a:t>	v</a:t>
            </a:r>
            <a:r>
              <a:rPr lang="en" sz="1600">
                <a:solidFill>
                  <a:srgbClr val="0000FF"/>
                </a:solidFill>
              </a:rPr>
              <a:t> = </a:t>
            </a:r>
            <a:r>
              <a:rPr i="1" lang="en" sz="1600">
                <a:solidFill>
                  <a:srgbClr val="0000FF"/>
                </a:solidFill>
              </a:rPr>
              <a:t>y</a:t>
            </a:r>
            <a:r>
              <a:rPr lang="en" sz="1600">
                <a:solidFill>
                  <a:srgbClr val="0000FF"/>
                </a:solidFill>
              </a:rPr>
              <a:t> </a:t>
            </a:r>
            <a:r>
              <a:rPr lang="en" sz="1600">
                <a:solidFill>
                  <a:srgbClr val="0000FF"/>
                </a:solidFill>
              </a:rPr>
              <a:t>∆</a:t>
            </a:r>
            <a:r>
              <a:rPr i="1" lang="en" sz="1600">
                <a:solidFill>
                  <a:srgbClr val="0000FF"/>
                </a:solidFill>
              </a:rPr>
              <a:t>v = y </a:t>
            </a:r>
            <a:r>
              <a:rPr lang="en" sz="1600">
                <a:solidFill>
                  <a:srgbClr val="0000FF"/>
                </a:solidFill>
              </a:rPr>
              <a:t>× </a:t>
            </a:r>
            <a:r>
              <a:rPr i="1" lang="en" sz="1600">
                <a:solidFill>
                  <a:srgbClr val="0000FF"/>
                </a:solidFill>
              </a:rPr>
              <a:t>V</a:t>
            </a:r>
            <a:r>
              <a:rPr baseline="-25000" lang="en" sz="1600">
                <a:solidFill>
                  <a:srgbClr val="0000FF"/>
                </a:solidFill>
              </a:rPr>
              <a:t>max</a:t>
            </a:r>
            <a:r>
              <a:rPr lang="en" sz="1600">
                <a:solidFill>
                  <a:srgbClr val="0000FF"/>
                </a:solidFill>
              </a:rPr>
              <a:t> / 2</a:t>
            </a:r>
            <a:r>
              <a:rPr baseline="30000" i="1" lang="en" sz="1600">
                <a:solidFill>
                  <a:srgbClr val="0000FF"/>
                </a:solidFill>
              </a:rPr>
              <a:t>B</a:t>
            </a:r>
            <a:endParaRPr sz="1600">
              <a:solidFill>
                <a:srgbClr val="0000FF"/>
              </a:solidFill>
            </a:endParaRPr>
          </a:p>
        </p:txBody>
      </p:sp>
      <p:sp>
        <p:nvSpPr>
          <p:cNvPr id="158" name="Google Shape;158;p21"/>
          <p:cNvSpPr txBox="1"/>
          <p:nvPr/>
        </p:nvSpPr>
        <p:spPr>
          <a:xfrm>
            <a:off x="686100" y="2497425"/>
            <a:ext cx="17955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On STM32C031C6, </a:t>
            </a:r>
            <a:r>
              <a:rPr i="1" lang="en">
                <a:solidFill>
                  <a:srgbClr val="0000FF"/>
                </a:solidFill>
              </a:rPr>
              <a:t>V</a:t>
            </a:r>
            <a:r>
              <a:rPr baseline="-25000" lang="en">
                <a:solidFill>
                  <a:srgbClr val="0000FF"/>
                </a:solidFill>
              </a:rPr>
              <a:t>max</a:t>
            </a:r>
            <a:r>
              <a:rPr lang="en">
                <a:solidFill>
                  <a:srgbClr val="0000FF"/>
                </a:solidFill>
              </a:rPr>
              <a:t> = 3.3V (usually)</a:t>
            </a:r>
            <a:endParaRPr>
              <a:solidFill>
                <a:srgbClr val="0000FF"/>
              </a:solidFill>
            </a:endParaRPr>
          </a:p>
        </p:txBody>
      </p:sp>
      <p:cxnSp>
        <p:nvCxnSpPr>
          <p:cNvPr id="159" name="Google Shape;159;p21"/>
          <p:cNvCxnSpPr>
            <a:stCxn id="158" idx="0"/>
            <a:endCxn id="153" idx="2"/>
          </p:cNvCxnSpPr>
          <p:nvPr/>
        </p:nvCxnSpPr>
        <p:spPr>
          <a:xfrm rot="10800000">
            <a:off x="1583850" y="2215425"/>
            <a:ext cx="0" cy="282000"/>
          </a:xfrm>
          <a:prstGeom prst="straightConnector1">
            <a:avLst/>
          </a:prstGeom>
          <a:noFill/>
          <a:ln cap="flat" cmpd="sng" w="9525">
            <a:solidFill>
              <a:srgbClr val="0000FF"/>
            </a:solidFill>
            <a:prstDash val="solid"/>
            <a:round/>
            <a:headEnd len="med" w="med" type="none"/>
            <a:tailEnd len="med" w="med" type="triangle"/>
          </a:ln>
        </p:spPr>
      </p:cxnSp>
      <p:sp>
        <p:nvSpPr>
          <p:cNvPr id="160" name="Google Shape;160;p21"/>
          <p:cNvSpPr txBox="1"/>
          <p:nvPr/>
        </p:nvSpPr>
        <p:spPr>
          <a:xfrm>
            <a:off x="6057375" y="2643525"/>
            <a:ext cx="1868400" cy="66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On STM32C031C6, </a:t>
            </a:r>
            <a:br>
              <a:rPr lang="en">
                <a:solidFill>
                  <a:srgbClr val="0000FF"/>
                </a:solidFill>
              </a:rPr>
            </a:br>
            <a:r>
              <a:rPr i="1" lang="en">
                <a:solidFill>
                  <a:srgbClr val="0000FF"/>
                </a:solidFill>
              </a:rPr>
              <a:t>B</a:t>
            </a:r>
            <a:r>
              <a:rPr lang="en">
                <a:solidFill>
                  <a:srgbClr val="0000FF"/>
                </a:solidFill>
              </a:rPr>
              <a:t> = 6, 8, 10 or 12</a:t>
            </a:r>
            <a:endParaRPr>
              <a:solidFill>
                <a:srgbClr val="0000FF"/>
              </a:solidFill>
            </a:endParaRPr>
          </a:p>
        </p:txBody>
      </p:sp>
      <p:cxnSp>
        <p:nvCxnSpPr>
          <p:cNvPr id="161" name="Google Shape;161;p21"/>
          <p:cNvCxnSpPr/>
          <p:nvPr/>
        </p:nvCxnSpPr>
        <p:spPr>
          <a:xfrm rot="10800000">
            <a:off x="6437375" y="1933550"/>
            <a:ext cx="54000" cy="701100"/>
          </a:xfrm>
          <a:prstGeom prst="straightConnector1">
            <a:avLst/>
          </a:prstGeom>
          <a:noFill/>
          <a:ln cap="flat" cmpd="sng" w="9525">
            <a:solidFill>
              <a:srgbClr val="0000FF"/>
            </a:solidFill>
            <a:prstDash val="solid"/>
            <a:round/>
            <a:headEnd len="med" w="med" type="none"/>
            <a:tailEnd len="med" w="med" type="triangle"/>
          </a:ln>
        </p:spPr>
      </p:cxnSp>
      <p:cxnSp>
        <p:nvCxnSpPr>
          <p:cNvPr id="162" name="Google Shape;162;p21"/>
          <p:cNvCxnSpPr/>
          <p:nvPr/>
        </p:nvCxnSpPr>
        <p:spPr>
          <a:xfrm>
            <a:off x="5201938" y="1974100"/>
            <a:ext cx="560700" cy="4800"/>
          </a:xfrm>
          <a:prstGeom prst="straightConnector1">
            <a:avLst/>
          </a:prstGeom>
          <a:noFill/>
          <a:ln cap="flat" cmpd="sng" w="19050">
            <a:solidFill>
              <a:schemeClr val="dk2"/>
            </a:solidFill>
            <a:prstDash val="solid"/>
            <a:round/>
            <a:headEnd len="med" w="med" type="none"/>
            <a:tailEnd len="med" w="med" type="none"/>
          </a:ln>
        </p:spPr>
      </p:cxnSp>
      <p:cxnSp>
        <p:nvCxnSpPr>
          <p:cNvPr id="163" name="Google Shape;163;p21"/>
          <p:cNvCxnSpPr/>
          <p:nvPr/>
        </p:nvCxnSpPr>
        <p:spPr>
          <a:xfrm>
            <a:off x="5201925" y="2105338"/>
            <a:ext cx="560700" cy="4800"/>
          </a:xfrm>
          <a:prstGeom prst="straightConnector1">
            <a:avLst/>
          </a:prstGeom>
          <a:noFill/>
          <a:ln cap="flat" cmpd="sng" w="19050">
            <a:solidFill>
              <a:schemeClr val="dk2"/>
            </a:solidFill>
            <a:prstDash val="solid"/>
            <a:round/>
            <a:headEnd len="med" w="med" type="none"/>
            <a:tailEnd len="med" w="med" type="none"/>
          </a:ln>
        </p:spPr>
      </p:cxnSp>
      <p:cxnSp>
        <p:nvCxnSpPr>
          <p:cNvPr id="164" name="Google Shape;164;p21"/>
          <p:cNvCxnSpPr/>
          <p:nvPr/>
        </p:nvCxnSpPr>
        <p:spPr>
          <a:xfrm>
            <a:off x="5201950" y="1478275"/>
            <a:ext cx="560700" cy="4800"/>
          </a:xfrm>
          <a:prstGeom prst="straightConnector1">
            <a:avLst/>
          </a:prstGeom>
          <a:noFill/>
          <a:ln cap="flat" cmpd="sng" w="19050">
            <a:solidFill>
              <a:schemeClr val="dk2"/>
            </a:solidFill>
            <a:prstDash val="solid"/>
            <a:round/>
            <a:headEnd len="med" w="med" type="none"/>
            <a:tailEnd len="med" w="med" type="none"/>
          </a:ln>
        </p:spPr>
      </p:cxnSp>
      <p:cxnSp>
        <p:nvCxnSpPr>
          <p:cNvPr id="165" name="Google Shape;165;p21"/>
          <p:cNvCxnSpPr/>
          <p:nvPr/>
        </p:nvCxnSpPr>
        <p:spPr>
          <a:xfrm>
            <a:off x="5201950" y="2233725"/>
            <a:ext cx="560700" cy="4800"/>
          </a:xfrm>
          <a:prstGeom prst="straightConnector1">
            <a:avLst/>
          </a:prstGeom>
          <a:noFill/>
          <a:ln cap="flat" cmpd="sng" w="19050">
            <a:solidFill>
              <a:schemeClr val="dk2"/>
            </a:solidFill>
            <a:prstDash val="solid"/>
            <a:round/>
            <a:headEnd len="med" w="med" type="none"/>
            <a:tailEnd len="med" w="med" type="none"/>
          </a:ln>
        </p:spPr>
      </p:cxnSp>
      <p:cxnSp>
        <p:nvCxnSpPr>
          <p:cNvPr id="166" name="Google Shape;166;p21"/>
          <p:cNvCxnSpPr/>
          <p:nvPr/>
        </p:nvCxnSpPr>
        <p:spPr>
          <a:xfrm>
            <a:off x="5201950" y="2354675"/>
            <a:ext cx="560700" cy="4800"/>
          </a:xfrm>
          <a:prstGeom prst="straightConnector1">
            <a:avLst/>
          </a:prstGeom>
          <a:noFill/>
          <a:ln cap="flat" cmpd="sng" w="19050">
            <a:solidFill>
              <a:schemeClr val="dk2"/>
            </a:solidFill>
            <a:prstDash val="solid"/>
            <a:round/>
            <a:headEnd len="med" w="med" type="none"/>
            <a:tailEnd len="med" w="med" type="none"/>
          </a:ln>
        </p:spPr>
      </p:cxnSp>
      <p:sp>
        <p:nvSpPr>
          <p:cNvPr id="167" name="Google Shape;167;p21"/>
          <p:cNvSpPr/>
          <p:nvPr/>
        </p:nvSpPr>
        <p:spPr>
          <a:xfrm>
            <a:off x="5431750" y="1561600"/>
            <a:ext cx="32700" cy="3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1"/>
          <p:cNvSpPr/>
          <p:nvPr/>
        </p:nvSpPr>
        <p:spPr>
          <a:xfrm>
            <a:off x="5431750" y="1637800"/>
            <a:ext cx="32700" cy="3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1"/>
          <p:cNvSpPr/>
          <p:nvPr/>
        </p:nvSpPr>
        <p:spPr>
          <a:xfrm>
            <a:off x="5431750" y="1714000"/>
            <a:ext cx="32700" cy="3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1"/>
          <p:cNvSpPr txBox="1"/>
          <p:nvPr/>
        </p:nvSpPr>
        <p:spPr>
          <a:xfrm>
            <a:off x="5701575" y="2187725"/>
            <a:ext cx="355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D</a:t>
            </a:r>
            <a:r>
              <a:rPr baseline="-25000" lang="en" sz="1000"/>
              <a:t>0</a:t>
            </a:r>
            <a:endParaRPr baseline="-25000" sz="1000"/>
          </a:p>
        </p:txBody>
      </p:sp>
      <p:sp>
        <p:nvSpPr>
          <p:cNvPr id="171" name="Google Shape;171;p21"/>
          <p:cNvSpPr txBox="1"/>
          <p:nvPr/>
        </p:nvSpPr>
        <p:spPr>
          <a:xfrm>
            <a:off x="5701575" y="2075225"/>
            <a:ext cx="355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D</a:t>
            </a:r>
            <a:r>
              <a:rPr baseline="-25000" lang="en" sz="1000"/>
              <a:t>1</a:t>
            </a:r>
            <a:endParaRPr baseline="-25000" sz="1000"/>
          </a:p>
        </p:txBody>
      </p:sp>
      <p:sp>
        <p:nvSpPr>
          <p:cNvPr id="172" name="Google Shape;172;p21"/>
          <p:cNvSpPr txBox="1"/>
          <p:nvPr/>
        </p:nvSpPr>
        <p:spPr>
          <a:xfrm>
            <a:off x="5701575" y="1938388"/>
            <a:ext cx="355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D</a:t>
            </a:r>
            <a:r>
              <a:rPr baseline="-25000" lang="en" sz="1000"/>
              <a:t>2</a:t>
            </a:r>
            <a:endParaRPr baseline="-25000" sz="1000"/>
          </a:p>
        </p:txBody>
      </p:sp>
      <p:sp>
        <p:nvSpPr>
          <p:cNvPr id="173" name="Google Shape;173;p21"/>
          <p:cNvSpPr txBox="1"/>
          <p:nvPr/>
        </p:nvSpPr>
        <p:spPr>
          <a:xfrm>
            <a:off x="5700650" y="1305425"/>
            <a:ext cx="464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D</a:t>
            </a:r>
            <a:r>
              <a:rPr baseline="-25000" lang="en" sz="1000"/>
              <a:t>B-1</a:t>
            </a:r>
            <a:endParaRPr baseline="-25000" sz="1000"/>
          </a:p>
        </p:txBody>
      </p:sp>
      <p:sp>
        <p:nvSpPr>
          <p:cNvPr id="174" name="Google Shape;174;p21"/>
          <p:cNvSpPr txBox="1"/>
          <p:nvPr/>
        </p:nvSpPr>
        <p:spPr>
          <a:xfrm>
            <a:off x="4263675" y="5043025"/>
            <a:ext cx="3483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600">
                <a:solidFill>
                  <a:srgbClr val="38761D"/>
                </a:solidFill>
              </a:rPr>
              <a:t>Example: </a:t>
            </a:r>
            <a:br>
              <a:rPr lang="en" sz="1600">
                <a:solidFill>
                  <a:srgbClr val="38761D"/>
                </a:solidFill>
              </a:rPr>
            </a:br>
            <a:r>
              <a:rPr lang="en" sz="1600">
                <a:solidFill>
                  <a:srgbClr val="38761D"/>
                </a:solidFill>
              </a:rPr>
              <a:t>3.3V / 2</a:t>
            </a:r>
            <a:r>
              <a:rPr baseline="30000" lang="en" sz="1600">
                <a:solidFill>
                  <a:srgbClr val="38761D"/>
                </a:solidFill>
              </a:rPr>
              <a:t>12</a:t>
            </a:r>
            <a:r>
              <a:rPr lang="en" sz="1600">
                <a:solidFill>
                  <a:srgbClr val="38761D"/>
                </a:solidFill>
              </a:rPr>
              <a:t> = 3.3V / 4096 = 0.806mV</a:t>
            </a:r>
            <a:endParaRPr sz="1800">
              <a:solidFill>
                <a:srgbClr val="38761D"/>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id="179" name="Google Shape;179;p22"/>
          <p:cNvPicPr preferRelativeResize="0"/>
          <p:nvPr/>
        </p:nvPicPr>
        <p:blipFill>
          <a:blip r:embed="rId3">
            <a:alphaModFix/>
          </a:blip>
          <a:stretch>
            <a:fillRect/>
          </a:stretch>
        </p:blipFill>
        <p:spPr>
          <a:xfrm>
            <a:off x="2325081" y="930625"/>
            <a:ext cx="6818919" cy="5844749"/>
          </a:xfrm>
          <a:prstGeom prst="rect">
            <a:avLst/>
          </a:prstGeom>
          <a:noFill/>
          <a:ln>
            <a:noFill/>
          </a:ln>
        </p:spPr>
      </p:pic>
      <p:sp>
        <p:nvSpPr>
          <p:cNvPr id="180" name="Google Shape;180;p22"/>
          <p:cNvSpPr txBox="1"/>
          <p:nvPr>
            <p:ph type="title"/>
          </p:nvPr>
        </p:nvSpPr>
        <p:spPr>
          <a:xfrm>
            <a:off x="311700" y="973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Analog inputs on the Nucleo</a:t>
            </a:r>
            <a:endParaRPr/>
          </a:p>
        </p:txBody>
      </p:sp>
      <p:sp>
        <p:nvSpPr>
          <p:cNvPr id="181" name="Google Shape;181;p22"/>
          <p:cNvSpPr/>
          <p:nvPr/>
        </p:nvSpPr>
        <p:spPr>
          <a:xfrm>
            <a:off x="2382050" y="5338325"/>
            <a:ext cx="2943600" cy="1291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2"/>
          <p:cNvSpPr txBox="1"/>
          <p:nvPr/>
        </p:nvSpPr>
        <p:spPr>
          <a:xfrm>
            <a:off x="178250" y="1013250"/>
            <a:ext cx="2943600" cy="40635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Char char="●"/>
            </a:pPr>
            <a:r>
              <a:rPr lang="en" sz="1800">
                <a:solidFill>
                  <a:schemeClr val="dk2"/>
                </a:solidFill>
              </a:rPr>
              <a:t>The STM32C031C6 has one analog-to-digital converter.</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It can be accessed from 19 different pins.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11 of those are accessible via the Arduino headers.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The "traditional" Arduino analog input pins are those highlighted in the image.</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3"/>
          <p:cNvSpPr txBox="1"/>
          <p:nvPr>
            <p:ph type="title"/>
          </p:nvPr>
        </p:nvSpPr>
        <p:spPr>
          <a:xfrm>
            <a:off x="311700" y="560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do you know which pins can do analog?</a:t>
            </a:r>
            <a:endParaRPr/>
          </a:p>
        </p:txBody>
      </p:sp>
      <p:pic>
        <p:nvPicPr>
          <p:cNvPr id="188" name="Google Shape;188;p23"/>
          <p:cNvPicPr preferRelativeResize="0"/>
          <p:nvPr/>
        </p:nvPicPr>
        <p:blipFill>
          <a:blip r:embed="rId3">
            <a:alphaModFix/>
          </a:blip>
          <a:stretch>
            <a:fillRect/>
          </a:stretch>
        </p:blipFill>
        <p:spPr>
          <a:xfrm>
            <a:off x="152400" y="602600"/>
            <a:ext cx="3168775" cy="1643775"/>
          </a:xfrm>
          <a:prstGeom prst="rect">
            <a:avLst/>
          </a:prstGeom>
          <a:noFill/>
          <a:ln>
            <a:noFill/>
          </a:ln>
        </p:spPr>
      </p:pic>
      <p:pic>
        <p:nvPicPr>
          <p:cNvPr id="189" name="Google Shape;189;p23"/>
          <p:cNvPicPr preferRelativeResize="0"/>
          <p:nvPr/>
        </p:nvPicPr>
        <p:blipFill rotWithShape="1">
          <a:blip r:embed="rId4">
            <a:alphaModFix/>
          </a:blip>
          <a:srcRect b="0" l="0" r="0" t="23751"/>
          <a:stretch/>
        </p:blipFill>
        <p:spPr>
          <a:xfrm>
            <a:off x="190150" y="2227550"/>
            <a:ext cx="3131026" cy="2967749"/>
          </a:xfrm>
          <a:prstGeom prst="rect">
            <a:avLst/>
          </a:prstGeom>
          <a:noFill/>
          <a:ln>
            <a:noFill/>
          </a:ln>
        </p:spPr>
      </p:pic>
      <p:pic>
        <p:nvPicPr>
          <p:cNvPr id="190" name="Google Shape;190;p23"/>
          <p:cNvPicPr preferRelativeResize="0"/>
          <p:nvPr/>
        </p:nvPicPr>
        <p:blipFill rotWithShape="1">
          <a:blip r:embed="rId5">
            <a:alphaModFix/>
          </a:blip>
          <a:srcRect b="44196" l="0" r="0" t="0"/>
          <a:stretch/>
        </p:blipFill>
        <p:spPr>
          <a:xfrm>
            <a:off x="190150" y="5175475"/>
            <a:ext cx="3143600" cy="1592875"/>
          </a:xfrm>
          <a:prstGeom prst="rect">
            <a:avLst/>
          </a:prstGeom>
          <a:noFill/>
          <a:ln>
            <a:noFill/>
          </a:ln>
        </p:spPr>
      </p:pic>
      <p:sp>
        <p:nvSpPr>
          <p:cNvPr id="191" name="Google Shape;191;p23"/>
          <p:cNvSpPr/>
          <p:nvPr/>
        </p:nvSpPr>
        <p:spPr>
          <a:xfrm>
            <a:off x="2652625" y="4129900"/>
            <a:ext cx="668700" cy="2638500"/>
          </a:xfrm>
          <a:prstGeom prst="rect">
            <a:avLst/>
          </a:prstGeom>
          <a:no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23"/>
          <p:cNvSpPr/>
          <p:nvPr/>
        </p:nvSpPr>
        <p:spPr>
          <a:xfrm>
            <a:off x="907225" y="4129900"/>
            <a:ext cx="332700" cy="2638500"/>
          </a:xfrm>
          <a:prstGeom prst="rect">
            <a:avLst/>
          </a:prstGeom>
          <a:no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3" name="Google Shape;193;p23"/>
          <p:cNvPicPr preferRelativeResize="0"/>
          <p:nvPr/>
        </p:nvPicPr>
        <p:blipFill>
          <a:blip r:embed="rId6">
            <a:alphaModFix/>
          </a:blip>
          <a:stretch>
            <a:fillRect/>
          </a:stretch>
        </p:blipFill>
        <p:spPr>
          <a:xfrm>
            <a:off x="4480700" y="1647330"/>
            <a:ext cx="3168775" cy="1233896"/>
          </a:xfrm>
          <a:prstGeom prst="rect">
            <a:avLst/>
          </a:prstGeom>
          <a:noFill/>
          <a:ln>
            <a:noFill/>
          </a:ln>
        </p:spPr>
      </p:pic>
      <p:pic>
        <p:nvPicPr>
          <p:cNvPr id="194" name="Google Shape;194;p23"/>
          <p:cNvPicPr preferRelativeResize="0"/>
          <p:nvPr/>
        </p:nvPicPr>
        <p:blipFill>
          <a:blip r:embed="rId7">
            <a:alphaModFix/>
          </a:blip>
          <a:stretch>
            <a:fillRect/>
          </a:stretch>
        </p:blipFill>
        <p:spPr>
          <a:xfrm>
            <a:off x="4480700" y="2859525"/>
            <a:ext cx="3143600" cy="3157912"/>
          </a:xfrm>
          <a:prstGeom prst="rect">
            <a:avLst/>
          </a:prstGeom>
          <a:noFill/>
          <a:ln>
            <a:noFill/>
          </a:ln>
        </p:spPr>
      </p:pic>
      <p:pic>
        <p:nvPicPr>
          <p:cNvPr id="195" name="Google Shape;195;p23"/>
          <p:cNvPicPr preferRelativeResize="0"/>
          <p:nvPr/>
        </p:nvPicPr>
        <p:blipFill rotWithShape="1">
          <a:blip r:embed="rId8">
            <a:alphaModFix/>
          </a:blip>
          <a:srcRect b="72263" l="0" r="0" t="0"/>
          <a:stretch/>
        </p:blipFill>
        <p:spPr>
          <a:xfrm>
            <a:off x="4487000" y="6017428"/>
            <a:ext cx="3131000" cy="763500"/>
          </a:xfrm>
          <a:prstGeom prst="rect">
            <a:avLst/>
          </a:prstGeom>
          <a:noFill/>
          <a:ln>
            <a:noFill/>
          </a:ln>
        </p:spPr>
      </p:pic>
      <p:sp>
        <p:nvSpPr>
          <p:cNvPr id="196" name="Google Shape;196;p23"/>
          <p:cNvSpPr/>
          <p:nvPr/>
        </p:nvSpPr>
        <p:spPr>
          <a:xfrm>
            <a:off x="6955600" y="1647325"/>
            <a:ext cx="668700" cy="886800"/>
          </a:xfrm>
          <a:prstGeom prst="rect">
            <a:avLst/>
          </a:prstGeom>
          <a:no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23"/>
          <p:cNvSpPr/>
          <p:nvPr/>
        </p:nvSpPr>
        <p:spPr>
          <a:xfrm>
            <a:off x="6955600" y="2859525"/>
            <a:ext cx="668700" cy="547800"/>
          </a:xfrm>
          <a:prstGeom prst="rect">
            <a:avLst/>
          </a:prstGeom>
          <a:no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23"/>
          <p:cNvSpPr/>
          <p:nvPr/>
        </p:nvSpPr>
        <p:spPr>
          <a:xfrm>
            <a:off x="6955600" y="4173425"/>
            <a:ext cx="668700" cy="1185600"/>
          </a:xfrm>
          <a:prstGeom prst="rect">
            <a:avLst/>
          </a:prstGeom>
          <a:no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23"/>
          <p:cNvSpPr/>
          <p:nvPr/>
        </p:nvSpPr>
        <p:spPr>
          <a:xfrm>
            <a:off x="5220975" y="1647325"/>
            <a:ext cx="332700" cy="886800"/>
          </a:xfrm>
          <a:prstGeom prst="rect">
            <a:avLst/>
          </a:prstGeom>
          <a:no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 name="Google Shape;200;p23"/>
          <p:cNvSpPr/>
          <p:nvPr/>
        </p:nvSpPr>
        <p:spPr>
          <a:xfrm>
            <a:off x="5220975" y="2859525"/>
            <a:ext cx="332700" cy="547800"/>
          </a:xfrm>
          <a:prstGeom prst="rect">
            <a:avLst/>
          </a:prstGeom>
          <a:no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 name="Google Shape;201;p23"/>
          <p:cNvSpPr/>
          <p:nvPr/>
        </p:nvSpPr>
        <p:spPr>
          <a:xfrm>
            <a:off x="5220975" y="4173425"/>
            <a:ext cx="332700" cy="1185600"/>
          </a:xfrm>
          <a:prstGeom prst="rect">
            <a:avLst/>
          </a:prstGeom>
          <a:no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 name="Google Shape;202;p23"/>
          <p:cNvSpPr txBox="1"/>
          <p:nvPr/>
        </p:nvSpPr>
        <p:spPr>
          <a:xfrm>
            <a:off x="3441600" y="884225"/>
            <a:ext cx="5702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F69FF"/>
                </a:solidFill>
              </a:rPr>
              <a:t>Datasheet, Table 12, Pin assignment and description</a:t>
            </a:r>
            <a:endParaRPr sz="1800">
              <a:solidFill>
                <a:srgbClr val="0F69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4"/>
          <p:cNvSpPr txBox="1"/>
          <p:nvPr>
            <p:ph type="title"/>
          </p:nvPr>
        </p:nvSpPr>
        <p:spPr>
          <a:xfrm>
            <a:off x="311700" y="960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 circuit</a:t>
            </a:r>
            <a:endParaRPr/>
          </a:p>
        </p:txBody>
      </p:sp>
      <p:sp>
        <p:nvSpPr>
          <p:cNvPr id="208" name="Google Shape;208;p24"/>
          <p:cNvSpPr txBox="1"/>
          <p:nvPr>
            <p:ph idx="1" type="body"/>
          </p:nvPr>
        </p:nvSpPr>
        <p:spPr>
          <a:xfrm>
            <a:off x="193100" y="673425"/>
            <a:ext cx="4142400" cy="541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Set up this circuit on your breadboard. (This setup is the foundation of Lab 4).  </a:t>
            </a:r>
            <a:endParaRPr sz="1600"/>
          </a:p>
          <a:p>
            <a:pPr indent="0" lvl="0" marL="0" rtl="0" algn="l">
              <a:spcBef>
                <a:spcPts val="1600"/>
              </a:spcBef>
              <a:spcAft>
                <a:spcPts val="0"/>
              </a:spcAft>
              <a:buNone/>
            </a:pPr>
            <a:r>
              <a:rPr lang="en" sz="1600"/>
              <a:t>You may be able to push (hard) the pot’s pins right into the breadboard.  Or, you can use three of the pin-to-clip jumpers.</a:t>
            </a:r>
            <a:endParaRPr sz="1600"/>
          </a:p>
          <a:p>
            <a:pPr indent="0" lvl="0" marL="0" rtl="0" algn="l">
              <a:spcBef>
                <a:spcPts val="1600"/>
              </a:spcBef>
              <a:spcAft>
                <a:spcPts val="0"/>
              </a:spcAft>
              <a:buNone/>
            </a:pPr>
            <a:r>
              <a:rPr lang="en" sz="1600"/>
              <a:t>The pot is a </a:t>
            </a:r>
            <a:r>
              <a:rPr b="1" lang="en" sz="1600"/>
              <a:t>variable voltage divider</a:t>
            </a:r>
            <a:r>
              <a:rPr lang="en" sz="1600"/>
              <a:t> (review Lab 1 prelab).  Wire power and ground so that as the knob is turned clockwise, </a:t>
            </a:r>
            <a:r>
              <a:rPr lang="en" sz="1600"/>
              <a:t>the</a:t>
            </a:r>
            <a:r>
              <a:rPr lang="en" sz="1600"/>
              <a:t> voltage at the center terminal increases.  </a:t>
            </a:r>
            <a:endParaRPr sz="1600"/>
          </a:p>
          <a:p>
            <a:pPr indent="0" lvl="0" marL="0" rtl="0" algn="l">
              <a:spcBef>
                <a:spcPts val="1600"/>
              </a:spcBef>
              <a:spcAft>
                <a:spcPts val="0"/>
              </a:spcAft>
              <a:buNone/>
            </a:pPr>
            <a:r>
              <a:rPr lang="en" sz="1600"/>
              <a:t>Make a copy of your TemplateProject and name the copy ADCpot. </a:t>
            </a:r>
            <a:r>
              <a:rPr lang="en" sz="1600"/>
              <a:t>Download the program ADCpot.c from Canvas, paste it into the Src folder in your ADCpot project, compile and run it.</a:t>
            </a:r>
            <a:endParaRPr sz="1600"/>
          </a:p>
          <a:p>
            <a:pPr indent="0" lvl="0" marL="0" rtl="0" algn="l">
              <a:spcBef>
                <a:spcPts val="1600"/>
              </a:spcBef>
              <a:spcAft>
                <a:spcPts val="0"/>
              </a:spcAft>
              <a:buNone/>
            </a:pPr>
            <a:r>
              <a:rPr lang="en" sz="1600"/>
              <a:t>Observe the maximum and minimum values of the ADC output.</a:t>
            </a:r>
            <a:endParaRPr sz="1600">
              <a:solidFill>
                <a:srgbClr val="0000FF"/>
              </a:solidFill>
            </a:endParaRPr>
          </a:p>
          <a:p>
            <a:pPr indent="0" lvl="0" marL="0" rtl="0" algn="l">
              <a:spcBef>
                <a:spcPts val="1600"/>
              </a:spcBef>
              <a:spcAft>
                <a:spcPts val="0"/>
              </a:spcAft>
              <a:buNone/>
            </a:pPr>
            <a:r>
              <a:rPr lang="en" sz="1600">
                <a:solidFill>
                  <a:srgbClr val="0000FF"/>
                </a:solidFill>
              </a:rPr>
              <a:t>You'll need to run CoolTerm.</a:t>
            </a:r>
            <a:endParaRPr sz="1600">
              <a:solidFill>
                <a:srgbClr val="0000FF"/>
              </a:solidFill>
            </a:endParaRPr>
          </a:p>
          <a:p>
            <a:pPr indent="0" lvl="0" marL="0" rtl="0" algn="l">
              <a:spcBef>
                <a:spcPts val="1600"/>
              </a:spcBef>
              <a:spcAft>
                <a:spcPts val="1600"/>
              </a:spcAft>
              <a:buNone/>
            </a:pPr>
            <a:r>
              <a:rPr lang="en"/>
              <a:t> </a:t>
            </a:r>
            <a:endParaRPr/>
          </a:p>
        </p:txBody>
      </p:sp>
      <p:grpSp>
        <p:nvGrpSpPr>
          <p:cNvPr id="209" name="Google Shape;209;p24"/>
          <p:cNvGrpSpPr/>
          <p:nvPr/>
        </p:nvGrpSpPr>
        <p:grpSpPr>
          <a:xfrm>
            <a:off x="4112413" y="4803100"/>
            <a:ext cx="1830900" cy="1832300"/>
            <a:chOff x="3502813" y="4574500"/>
            <a:chExt cx="1830900" cy="1832300"/>
          </a:xfrm>
        </p:grpSpPr>
        <p:sp>
          <p:nvSpPr>
            <p:cNvPr id="210" name="Google Shape;210;p24"/>
            <p:cNvSpPr txBox="1"/>
            <p:nvPr/>
          </p:nvSpPr>
          <p:spPr>
            <a:xfrm>
              <a:off x="3502813" y="4574500"/>
              <a:ext cx="1830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t>10K potentiometer</a:t>
              </a:r>
              <a:endParaRPr sz="1200"/>
            </a:p>
          </p:txBody>
        </p:sp>
        <p:pic>
          <p:nvPicPr>
            <p:cNvPr id="211" name="Google Shape;211;p24"/>
            <p:cNvPicPr preferRelativeResize="0"/>
            <p:nvPr/>
          </p:nvPicPr>
          <p:blipFill>
            <a:blip r:embed="rId3">
              <a:alphaModFix/>
            </a:blip>
            <a:stretch>
              <a:fillRect/>
            </a:stretch>
          </p:blipFill>
          <p:spPr>
            <a:xfrm>
              <a:off x="3912674" y="4898500"/>
              <a:ext cx="1011176" cy="1192875"/>
            </a:xfrm>
            <a:prstGeom prst="rect">
              <a:avLst/>
            </a:prstGeom>
            <a:noFill/>
            <a:ln>
              <a:noFill/>
            </a:ln>
          </p:spPr>
        </p:pic>
        <p:sp>
          <p:nvSpPr>
            <p:cNvPr id="212" name="Google Shape;212;p24"/>
            <p:cNvSpPr txBox="1"/>
            <p:nvPr/>
          </p:nvSpPr>
          <p:spPr>
            <a:xfrm>
              <a:off x="3763575" y="6037500"/>
              <a:ext cx="1251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t>GND  A0   3.3V</a:t>
              </a:r>
              <a:endParaRPr sz="1200"/>
            </a:p>
          </p:txBody>
        </p:sp>
      </p:grpSp>
      <p:sp>
        <p:nvSpPr>
          <p:cNvPr id="213" name="Google Shape;213;p24"/>
          <p:cNvSpPr/>
          <p:nvPr/>
        </p:nvSpPr>
        <p:spPr>
          <a:xfrm>
            <a:off x="2408800" y="6091425"/>
            <a:ext cx="711900" cy="763500"/>
          </a:xfrm>
          <a:prstGeom prst="arc">
            <a:avLst>
              <a:gd fmla="val 16200000" name="adj1"/>
              <a:gd fmla="val 2336282" name="adj2"/>
            </a:avLst>
          </a:prstGeom>
          <a:noFill/>
          <a:ln cap="flat" cmpd="sng" w="28575">
            <a:solidFill>
              <a:srgbClr val="0000FF"/>
            </a:solidFill>
            <a:prstDash val="solid"/>
            <a:round/>
            <a:headEnd len="sm" w="sm" type="stealth"/>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4" name="Google Shape;214;p24" title="Potentiometer_bb.png"/>
          <p:cNvPicPr preferRelativeResize="0"/>
          <p:nvPr/>
        </p:nvPicPr>
        <p:blipFill>
          <a:blip r:embed="rId4">
            <a:alphaModFix/>
          </a:blip>
          <a:stretch>
            <a:fillRect/>
          </a:stretch>
        </p:blipFill>
        <p:spPr>
          <a:xfrm>
            <a:off x="5727262" y="1071367"/>
            <a:ext cx="2895889" cy="482105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5"/>
          <p:cNvSpPr txBox="1"/>
          <p:nvPr>
            <p:ph type="title"/>
          </p:nvPr>
        </p:nvSpPr>
        <p:spPr>
          <a:xfrm>
            <a:off x="6264925" y="194400"/>
            <a:ext cx="25674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ADCpot.c</a:t>
            </a:r>
            <a:endParaRPr/>
          </a:p>
        </p:txBody>
      </p:sp>
      <p:sp>
        <p:nvSpPr>
          <p:cNvPr id="220" name="Google Shape;220;p25"/>
          <p:cNvSpPr txBox="1"/>
          <p:nvPr/>
        </p:nvSpPr>
        <p:spPr>
          <a:xfrm>
            <a:off x="72425" y="129400"/>
            <a:ext cx="5553000" cy="6003000"/>
          </a:xfrm>
          <a:prstGeom prst="rect">
            <a:avLst/>
          </a:prstGeom>
          <a:no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Clr>
                <a:schemeClr val="dk1"/>
              </a:buClr>
              <a:buSzPts val="1100"/>
              <a:buFont typeface="Arial"/>
              <a:buNone/>
            </a:pPr>
            <a:r>
              <a:rPr b="1" lang="en" sz="1000">
                <a:solidFill>
                  <a:srgbClr val="3F7F5F"/>
                </a:solidFill>
                <a:highlight>
                  <a:srgbClr val="FFFFFF"/>
                </a:highlight>
                <a:latin typeface="Courier New"/>
                <a:ea typeface="Courier New"/>
                <a:cs typeface="Courier New"/>
                <a:sym typeface="Courier New"/>
              </a:rPr>
              <a:t>/* Use a potentiometer as a variable voltage source to explore the ADC</a:t>
            </a:r>
            <a:endParaRPr b="1" sz="10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rgbClr val="3F7F5F"/>
                </a:solidFill>
                <a:highlight>
                  <a:srgbClr val="FFFFFF"/>
                </a:highlight>
                <a:latin typeface="Courier New"/>
                <a:ea typeface="Courier New"/>
                <a:cs typeface="Courier New"/>
                <a:sym typeface="Courier New"/>
              </a:rPr>
              <a:t>* </a:t>
            </a:r>
            <a:r>
              <a:rPr b="1" lang="en" sz="1000" u="sng">
                <a:solidFill>
                  <a:srgbClr val="3F7F5F"/>
                </a:solidFill>
                <a:highlight>
                  <a:srgbClr val="FFFFFF"/>
                </a:highlight>
                <a:latin typeface="Courier New"/>
                <a:ea typeface="Courier New"/>
                <a:cs typeface="Courier New"/>
                <a:sym typeface="Courier New"/>
              </a:rPr>
              <a:t>Engs</a:t>
            </a:r>
            <a:r>
              <a:rPr b="1" lang="en" sz="1000">
                <a:solidFill>
                  <a:srgbClr val="3F7F5F"/>
                </a:solidFill>
                <a:highlight>
                  <a:srgbClr val="FFFFFF"/>
                </a:highlight>
                <a:latin typeface="Courier New"/>
                <a:ea typeface="Courier New"/>
                <a:cs typeface="Courier New"/>
                <a:sym typeface="Courier New"/>
              </a:rPr>
              <a:t> 28</a:t>
            </a:r>
            <a:endParaRPr b="1" sz="10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rgbClr val="3F7F5F"/>
                </a:solidFill>
                <a:highlight>
                  <a:srgbClr val="FFFFFF"/>
                </a:highlight>
                <a:latin typeface="Courier New"/>
                <a:ea typeface="Courier New"/>
                <a:cs typeface="Courier New"/>
                <a:sym typeface="Courier New"/>
              </a:rPr>
              <a:t>*</a:t>
            </a:r>
            <a:endParaRPr b="1" sz="10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rgbClr val="3F7F5F"/>
                </a:solidFill>
                <a:highlight>
                  <a:srgbClr val="FFFFFF"/>
                </a:highlight>
                <a:latin typeface="Courier New"/>
                <a:ea typeface="Courier New"/>
                <a:cs typeface="Courier New"/>
                <a:sym typeface="Courier New"/>
              </a:rPr>
              <a:t>* Pot is wired to pin PA0</a:t>
            </a:r>
            <a:endParaRPr b="1" sz="10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rgbClr val="3F7F5F"/>
                </a:solidFill>
                <a:highlight>
                  <a:srgbClr val="FFFFFF"/>
                </a:highlight>
                <a:latin typeface="Courier New"/>
                <a:ea typeface="Courier New"/>
                <a:cs typeface="Courier New"/>
                <a:sym typeface="Courier New"/>
              </a:rPr>
              <a:t>*/</a:t>
            </a:r>
            <a:endParaRPr b="1" sz="10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0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rgbClr val="7F0055"/>
                </a:solidFill>
                <a:highlight>
                  <a:srgbClr val="FFFFFF"/>
                </a:highlight>
                <a:latin typeface="Courier New"/>
                <a:ea typeface="Courier New"/>
                <a:cs typeface="Courier New"/>
                <a:sym typeface="Courier New"/>
              </a:rPr>
              <a:t>#include</a:t>
            </a:r>
            <a:r>
              <a:rPr b="1" lang="en" sz="1000">
                <a:solidFill>
                  <a:schemeClr val="dk1"/>
                </a:solidFill>
                <a:highlight>
                  <a:srgbClr val="FFFFFF"/>
                </a:highlight>
                <a:latin typeface="Courier New"/>
                <a:ea typeface="Courier New"/>
                <a:cs typeface="Courier New"/>
                <a:sym typeface="Courier New"/>
              </a:rPr>
              <a:t> </a:t>
            </a:r>
            <a:r>
              <a:rPr b="1" lang="en" sz="1000">
                <a:solidFill>
                  <a:srgbClr val="2A00FF"/>
                </a:solidFill>
                <a:highlight>
                  <a:srgbClr val="FFFFFF"/>
                </a:highlight>
                <a:latin typeface="Courier New"/>
                <a:ea typeface="Courier New"/>
                <a:cs typeface="Courier New"/>
                <a:sym typeface="Courier New"/>
              </a:rPr>
              <a:t>&lt;stdio.h&gt;</a:t>
            </a:r>
            <a:endParaRPr b="1" sz="10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rgbClr val="7F0055"/>
                </a:solidFill>
                <a:highlight>
                  <a:srgbClr val="FFFFFF"/>
                </a:highlight>
                <a:latin typeface="Courier New"/>
                <a:ea typeface="Courier New"/>
                <a:cs typeface="Courier New"/>
                <a:sym typeface="Courier New"/>
              </a:rPr>
              <a:t>#include</a:t>
            </a:r>
            <a:r>
              <a:rPr b="1" lang="en" sz="1000">
                <a:solidFill>
                  <a:schemeClr val="dk1"/>
                </a:solidFill>
                <a:highlight>
                  <a:srgbClr val="FFFFFF"/>
                </a:highlight>
                <a:latin typeface="Courier New"/>
                <a:ea typeface="Courier New"/>
                <a:cs typeface="Courier New"/>
                <a:sym typeface="Courier New"/>
              </a:rPr>
              <a:t> </a:t>
            </a:r>
            <a:r>
              <a:rPr b="1" lang="en" sz="1000">
                <a:solidFill>
                  <a:srgbClr val="2A00FF"/>
                </a:solidFill>
                <a:highlight>
                  <a:srgbClr val="FFFFFF"/>
                </a:highlight>
                <a:latin typeface="Courier New"/>
                <a:ea typeface="Courier New"/>
                <a:cs typeface="Courier New"/>
                <a:sym typeface="Courier New"/>
              </a:rPr>
              <a:t>"ES28.h"</a:t>
            </a:r>
            <a:endParaRPr b="1" sz="10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rgbClr val="7F0055"/>
                </a:solidFill>
                <a:highlight>
                  <a:srgbClr val="FFFFFF"/>
                </a:highlight>
                <a:latin typeface="Courier New"/>
                <a:ea typeface="Courier New"/>
                <a:cs typeface="Courier New"/>
                <a:sym typeface="Courier New"/>
              </a:rPr>
              <a:t>#include</a:t>
            </a:r>
            <a:r>
              <a:rPr b="1" lang="en" sz="1000">
                <a:solidFill>
                  <a:schemeClr val="dk1"/>
                </a:solidFill>
                <a:highlight>
                  <a:srgbClr val="FFFFFF"/>
                </a:highlight>
                <a:latin typeface="Courier New"/>
                <a:ea typeface="Courier New"/>
                <a:cs typeface="Courier New"/>
                <a:sym typeface="Courier New"/>
              </a:rPr>
              <a:t> </a:t>
            </a:r>
            <a:r>
              <a:rPr b="1" lang="en" sz="1000">
                <a:solidFill>
                  <a:srgbClr val="2A00FF"/>
                </a:solidFill>
                <a:highlight>
                  <a:srgbClr val="FFFFFF"/>
                </a:highlight>
                <a:latin typeface="Courier New"/>
                <a:ea typeface="Courier New"/>
                <a:cs typeface="Courier New"/>
                <a:sym typeface="Courier New"/>
              </a:rPr>
              <a:t>"uart.h"</a:t>
            </a:r>
            <a:endParaRPr b="1" sz="10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0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rgbClr val="7F0055"/>
                </a:solidFill>
                <a:highlight>
                  <a:srgbClr val="FFFFFF"/>
                </a:highlight>
                <a:latin typeface="Courier New"/>
                <a:ea typeface="Courier New"/>
                <a:cs typeface="Courier New"/>
                <a:sym typeface="Courier New"/>
              </a:rPr>
              <a:t>void</a:t>
            </a:r>
            <a:r>
              <a:rPr b="1" lang="en" sz="1000">
                <a:solidFill>
                  <a:schemeClr val="dk1"/>
                </a:solidFill>
                <a:highlight>
                  <a:srgbClr val="FFFFFF"/>
                </a:highlight>
                <a:latin typeface="Courier New"/>
                <a:ea typeface="Courier New"/>
                <a:cs typeface="Courier New"/>
                <a:sym typeface="Courier New"/>
              </a:rPr>
              <a:t> pa0_adc_init(</a:t>
            </a:r>
            <a:r>
              <a:rPr b="1" lang="en" sz="1000">
                <a:solidFill>
                  <a:srgbClr val="7F0055"/>
                </a:solidFill>
                <a:highlight>
                  <a:srgbClr val="FFFFFF"/>
                </a:highlight>
                <a:latin typeface="Courier New"/>
                <a:ea typeface="Courier New"/>
                <a:cs typeface="Courier New"/>
                <a:sym typeface="Courier New"/>
              </a:rPr>
              <a:t>void</a:t>
            </a:r>
            <a:r>
              <a:rPr b="1" lang="en" sz="1000">
                <a:solidFill>
                  <a:schemeClr val="dk1"/>
                </a:solidFill>
                <a:highlight>
                  <a:srgbClr val="FFFFFF"/>
                </a:highlight>
                <a:latin typeface="Courier New"/>
                <a:ea typeface="Courier New"/>
                <a:cs typeface="Courier New"/>
                <a:sym typeface="Courier New"/>
              </a:rPr>
              <a:t>);</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rgbClr val="7F0055"/>
                </a:solidFill>
                <a:highlight>
                  <a:srgbClr val="FFFFFF"/>
                </a:highlight>
                <a:latin typeface="Courier New"/>
                <a:ea typeface="Courier New"/>
                <a:cs typeface="Courier New"/>
                <a:sym typeface="Courier New"/>
              </a:rPr>
              <a:t>void</a:t>
            </a:r>
            <a:r>
              <a:rPr b="1" lang="en" sz="1000">
                <a:solidFill>
                  <a:schemeClr val="dk1"/>
                </a:solidFill>
                <a:highlight>
                  <a:srgbClr val="FFFFFF"/>
                </a:highlight>
                <a:latin typeface="Courier New"/>
                <a:ea typeface="Courier New"/>
                <a:cs typeface="Courier New"/>
                <a:sym typeface="Courier New"/>
              </a:rPr>
              <a:t> start_conversion(</a:t>
            </a:r>
            <a:r>
              <a:rPr b="1" lang="en" sz="1000">
                <a:solidFill>
                  <a:srgbClr val="7F0055"/>
                </a:solidFill>
                <a:highlight>
                  <a:srgbClr val="FFFFFF"/>
                </a:highlight>
                <a:latin typeface="Courier New"/>
                <a:ea typeface="Courier New"/>
                <a:cs typeface="Courier New"/>
                <a:sym typeface="Courier New"/>
              </a:rPr>
              <a:t>void</a:t>
            </a:r>
            <a:r>
              <a:rPr b="1" lang="en" sz="1000">
                <a:solidFill>
                  <a:schemeClr val="dk1"/>
                </a:solidFill>
                <a:highlight>
                  <a:srgbClr val="FFFFFF"/>
                </a:highlight>
                <a:latin typeface="Courier New"/>
                <a:ea typeface="Courier New"/>
                <a:cs typeface="Courier New"/>
                <a:sym typeface="Courier New"/>
              </a:rPr>
              <a:t>);</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rgbClr val="005032"/>
                </a:solidFill>
                <a:highlight>
                  <a:srgbClr val="FFFFFF"/>
                </a:highlight>
                <a:latin typeface="Courier New"/>
                <a:ea typeface="Courier New"/>
                <a:cs typeface="Courier New"/>
                <a:sym typeface="Courier New"/>
              </a:rPr>
              <a:t>uint16_t</a:t>
            </a:r>
            <a:r>
              <a:rPr b="1" lang="en" sz="1000">
                <a:solidFill>
                  <a:schemeClr val="dk1"/>
                </a:solidFill>
                <a:highlight>
                  <a:srgbClr val="FFFFFF"/>
                </a:highlight>
                <a:latin typeface="Courier New"/>
                <a:ea typeface="Courier New"/>
                <a:cs typeface="Courier New"/>
                <a:sym typeface="Courier New"/>
              </a:rPr>
              <a:t> adc_read(</a:t>
            </a:r>
            <a:r>
              <a:rPr b="1" lang="en" sz="1000">
                <a:solidFill>
                  <a:srgbClr val="7F0055"/>
                </a:solidFill>
                <a:highlight>
                  <a:srgbClr val="FFFFFF"/>
                </a:highlight>
                <a:latin typeface="Courier New"/>
                <a:ea typeface="Courier New"/>
                <a:cs typeface="Courier New"/>
                <a:sym typeface="Courier New"/>
              </a:rPr>
              <a:t>void</a:t>
            </a:r>
            <a:r>
              <a:rPr b="1" lang="en" sz="1000">
                <a:solidFill>
                  <a:schemeClr val="dk1"/>
                </a:solidFill>
                <a:highlight>
                  <a:srgbClr val="FFFFFF"/>
                </a:highlight>
                <a:latin typeface="Courier New"/>
                <a:ea typeface="Courier New"/>
                <a:cs typeface="Courier New"/>
                <a:sym typeface="Courier New"/>
              </a:rPr>
              <a:t>);</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0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rgbClr val="7F0055"/>
                </a:solidFill>
                <a:highlight>
                  <a:srgbClr val="FFFFFF"/>
                </a:highlight>
                <a:latin typeface="Courier New"/>
                <a:ea typeface="Courier New"/>
                <a:cs typeface="Courier New"/>
                <a:sym typeface="Courier New"/>
              </a:rPr>
              <a:t>int</a:t>
            </a:r>
            <a:r>
              <a:rPr b="1" lang="en" sz="1000">
                <a:solidFill>
                  <a:schemeClr val="dk1"/>
                </a:solidFill>
                <a:highlight>
                  <a:srgbClr val="FFFFFF"/>
                </a:highlight>
                <a:latin typeface="Courier New"/>
                <a:ea typeface="Courier New"/>
                <a:cs typeface="Courier New"/>
                <a:sym typeface="Courier New"/>
              </a:rPr>
              <a:t> main(</a:t>
            </a:r>
            <a:r>
              <a:rPr b="1" lang="en" sz="1000">
                <a:solidFill>
                  <a:srgbClr val="7F0055"/>
                </a:solidFill>
                <a:highlight>
                  <a:srgbClr val="FFFFFF"/>
                </a:highlight>
                <a:latin typeface="Courier New"/>
                <a:ea typeface="Courier New"/>
                <a:cs typeface="Courier New"/>
                <a:sym typeface="Courier New"/>
              </a:rPr>
              <a:t>void</a:t>
            </a:r>
            <a:r>
              <a:rPr b="1" lang="en" sz="1000">
                <a:solidFill>
                  <a:schemeClr val="dk1"/>
                </a:solidFill>
                <a:highlight>
                  <a:srgbClr val="FFFFFF"/>
                </a:highlight>
                <a:latin typeface="Courier New"/>
                <a:ea typeface="Courier New"/>
                <a:cs typeface="Courier New"/>
                <a:sym typeface="Courier New"/>
              </a:rPr>
              <a:t>) {</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r>
              <a:rPr b="1" lang="en" sz="1000">
                <a:solidFill>
                  <a:srgbClr val="005032"/>
                </a:solidFill>
                <a:highlight>
                  <a:srgbClr val="FFFFFF"/>
                </a:highlight>
                <a:latin typeface="Courier New"/>
                <a:ea typeface="Courier New"/>
                <a:cs typeface="Courier New"/>
                <a:sym typeface="Courier New"/>
              </a:rPr>
              <a:t>uint16_t</a:t>
            </a:r>
            <a:r>
              <a:rPr b="1" lang="en" sz="1000">
                <a:solidFill>
                  <a:schemeClr val="dk1"/>
                </a:solidFill>
                <a:highlight>
                  <a:srgbClr val="FFFFFF"/>
                </a:highlight>
                <a:latin typeface="Courier New"/>
                <a:ea typeface="Courier New"/>
                <a:cs typeface="Courier New"/>
                <a:sym typeface="Courier New"/>
              </a:rPr>
              <a:t> sensor_value;</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uart2_init();</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000">
                <a:solidFill>
                  <a:schemeClr val="dk1"/>
                </a:solidFill>
                <a:highlight>
                  <a:srgbClr val="FFFFFF"/>
                </a:highlight>
                <a:latin typeface="Courier New"/>
                <a:ea typeface="Courier New"/>
                <a:cs typeface="Courier New"/>
                <a:sym typeface="Courier New"/>
              </a:rPr>
              <a:t>	</a:t>
            </a:r>
            <a:r>
              <a:rPr b="1" lang="en" sz="1000">
                <a:solidFill>
                  <a:srgbClr val="3F7F5F"/>
                </a:solidFill>
                <a:highlight>
                  <a:srgbClr val="FFFFFF"/>
                </a:highlight>
                <a:latin typeface="Courier New"/>
                <a:ea typeface="Courier New"/>
                <a:cs typeface="Courier New"/>
                <a:sym typeface="Courier New"/>
              </a:rPr>
              <a:t>// A little "hello"</a:t>
            </a:r>
            <a:endParaRPr b="1" sz="10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r>
              <a:rPr b="1" lang="en" sz="1000">
                <a:solidFill>
                  <a:srgbClr val="642880"/>
                </a:solidFill>
                <a:highlight>
                  <a:srgbClr val="FFFFFF"/>
                </a:highlight>
                <a:latin typeface="Courier New"/>
                <a:ea typeface="Courier New"/>
                <a:cs typeface="Courier New"/>
                <a:sym typeface="Courier New"/>
              </a:rPr>
              <a:t>printf</a:t>
            </a:r>
            <a:r>
              <a:rPr b="1" lang="en" sz="1000">
                <a:solidFill>
                  <a:schemeClr val="dk1"/>
                </a:solidFill>
                <a:highlight>
                  <a:srgbClr val="FFFFFF"/>
                </a:highlight>
                <a:latin typeface="Courier New"/>
                <a:ea typeface="Courier New"/>
                <a:cs typeface="Courier New"/>
                <a:sym typeface="Courier New"/>
              </a:rPr>
              <a:t>(</a:t>
            </a:r>
            <a:r>
              <a:rPr b="1" lang="en" sz="1000">
                <a:solidFill>
                  <a:srgbClr val="2A00FF"/>
                </a:solidFill>
                <a:highlight>
                  <a:srgbClr val="FFFFFF"/>
                </a:highlight>
                <a:latin typeface="Courier New"/>
                <a:ea typeface="Courier New"/>
                <a:cs typeface="Courier New"/>
                <a:sym typeface="Courier New"/>
              </a:rPr>
              <a:t>"\n\rHello from STM32C0!\r\n"</a:t>
            </a:r>
            <a:r>
              <a:rPr b="1" lang="en" sz="1000">
                <a:solidFill>
                  <a:schemeClr val="dk1"/>
                </a:solidFill>
                <a:highlight>
                  <a:srgbClr val="FFFFFF"/>
                </a:highlight>
                <a:latin typeface="Courier New"/>
                <a:ea typeface="Courier New"/>
                <a:cs typeface="Courier New"/>
                <a:sym typeface="Courier New"/>
              </a:rPr>
              <a:t>);</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r>
              <a:rPr b="1" lang="en" sz="1000">
                <a:solidFill>
                  <a:srgbClr val="642880"/>
                </a:solidFill>
                <a:highlight>
                  <a:srgbClr val="FFFFFF"/>
                </a:highlight>
                <a:latin typeface="Courier New"/>
                <a:ea typeface="Courier New"/>
                <a:cs typeface="Courier New"/>
                <a:sym typeface="Courier New"/>
              </a:rPr>
              <a:t>printf</a:t>
            </a:r>
            <a:r>
              <a:rPr b="1" lang="en" sz="1000">
                <a:solidFill>
                  <a:schemeClr val="dk1"/>
                </a:solidFill>
                <a:highlight>
                  <a:srgbClr val="FFFFFF"/>
                </a:highlight>
                <a:latin typeface="Courier New"/>
                <a:ea typeface="Courier New"/>
                <a:cs typeface="Courier New"/>
                <a:sym typeface="Courier New"/>
              </a:rPr>
              <a:t>(</a:t>
            </a:r>
            <a:r>
              <a:rPr b="1" lang="en" sz="1000">
                <a:solidFill>
                  <a:srgbClr val="2A00FF"/>
                </a:solidFill>
                <a:highlight>
                  <a:srgbClr val="FFFFFF"/>
                </a:highlight>
                <a:latin typeface="Courier New"/>
                <a:ea typeface="Courier New"/>
                <a:cs typeface="Courier New"/>
                <a:sym typeface="Courier New"/>
              </a:rPr>
              <a:t>"Single conversion ADC test\r\n"</a:t>
            </a:r>
            <a:r>
              <a:rPr b="1" lang="en" sz="1000">
                <a:solidFill>
                  <a:schemeClr val="dk1"/>
                </a:solidFill>
                <a:highlight>
                  <a:srgbClr val="FFFFFF"/>
                </a:highlight>
                <a:latin typeface="Courier New"/>
                <a:ea typeface="Courier New"/>
                <a:cs typeface="Courier New"/>
                <a:sym typeface="Courier New"/>
              </a:rPr>
              <a:t>);</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pa0_adc_init();</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r>
              <a:rPr b="1" lang="en" sz="1000">
                <a:solidFill>
                  <a:srgbClr val="7F0055"/>
                </a:solidFill>
                <a:highlight>
                  <a:srgbClr val="FFFFFF"/>
                </a:highlight>
                <a:latin typeface="Courier New"/>
                <a:ea typeface="Courier New"/>
                <a:cs typeface="Courier New"/>
                <a:sym typeface="Courier New"/>
              </a:rPr>
              <a:t>while</a:t>
            </a:r>
            <a:r>
              <a:rPr b="1" lang="en" sz="1000">
                <a:solidFill>
                  <a:schemeClr val="dk1"/>
                </a:solidFill>
                <a:highlight>
                  <a:srgbClr val="FFFFFF"/>
                </a:highlight>
                <a:latin typeface="Courier New"/>
                <a:ea typeface="Courier New"/>
                <a:cs typeface="Courier New"/>
                <a:sym typeface="Courier New"/>
              </a:rPr>
              <a:t>(1) {</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start_conversion();</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sensor_value = adc_read();</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r>
              <a:rPr b="1" lang="en" sz="1000">
                <a:solidFill>
                  <a:srgbClr val="642880"/>
                </a:solidFill>
                <a:highlight>
                  <a:srgbClr val="FFFFFF"/>
                </a:highlight>
                <a:latin typeface="Courier New"/>
                <a:ea typeface="Courier New"/>
                <a:cs typeface="Courier New"/>
                <a:sym typeface="Courier New"/>
              </a:rPr>
              <a:t>printf</a:t>
            </a:r>
            <a:r>
              <a:rPr b="1" lang="en" sz="1000">
                <a:solidFill>
                  <a:schemeClr val="dk1"/>
                </a:solidFill>
                <a:highlight>
                  <a:srgbClr val="FFFFFF"/>
                </a:highlight>
                <a:latin typeface="Courier New"/>
                <a:ea typeface="Courier New"/>
                <a:cs typeface="Courier New"/>
                <a:sym typeface="Courier New"/>
              </a:rPr>
              <a:t>(</a:t>
            </a:r>
            <a:r>
              <a:rPr b="1" lang="en" sz="1000">
                <a:solidFill>
                  <a:srgbClr val="2A00FF"/>
                </a:solidFill>
                <a:highlight>
                  <a:srgbClr val="FFFFFF"/>
                </a:highlight>
                <a:latin typeface="Courier New"/>
                <a:ea typeface="Courier New"/>
                <a:cs typeface="Courier New"/>
                <a:sym typeface="Courier New"/>
              </a:rPr>
              <a:t>"Sensor value: %d\r\n"</a:t>
            </a:r>
            <a:r>
              <a:rPr b="1" lang="en" sz="1000">
                <a:solidFill>
                  <a:schemeClr val="dk1"/>
                </a:solidFill>
                <a:highlight>
                  <a:srgbClr val="FFFFFF"/>
                </a:highlight>
                <a:latin typeface="Courier New"/>
                <a:ea typeface="Courier New"/>
                <a:cs typeface="Courier New"/>
                <a:sym typeface="Courier New"/>
              </a:rPr>
              <a:t>, sensor_value);</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r>
              <a:rPr b="1" lang="en" sz="1000">
                <a:solidFill>
                  <a:schemeClr val="dk1"/>
                </a:solidFill>
                <a:highlight>
                  <a:schemeClr val="lt1"/>
                </a:highlight>
                <a:latin typeface="Courier New"/>
                <a:ea typeface="Courier New"/>
                <a:cs typeface="Courier New"/>
                <a:sym typeface="Courier New"/>
              </a:rPr>
              <a:t>delay_ms(1000);</a:t>
            </a:r>
            <a:r>
              <a:rPr b="1" lang="en" sz="1000">
                <a:solidFill>
                  <a:schemeClr val="dk1"/>
                </a:solidFill>
                <a:highlight>
                  <a:srgbClr val="FFFFFF"/>
                </a:highlight>
                <a:latin typeface="Courier New"/>
                <a:ea typeface="Courier New"/>
                <a:cs typeface="Courier New"/>
                <a:sym typeface="Courier New"/>
              </a:rPr>
              <a:t>	</a:t>
            </a:r>
            <a:r>
              <a:rPr b="1" lang="en" sz="1000">
                <a:solidFill>
                  <a:srgbClr val="3F7F5F"/>
                </a:solidFill>
                <a:highlight>
                  <a:srgbClr val="FFFFFF"/>
                </a:highlight>
                <a:latin typeface="Courier New"/>
                <a:ea typeface="Courier New"/>
                <a:cs typeface="Courier New"/>
                <a:sym typeface="Courier New"/>
              </a:rPr>
              <a:t>// Delay</a:t>
            </a:r>
            <a:endParaRPr b="1" sz="10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a:t>
            </a:r>
            <a:endParaRPr b="1" sz="10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000">
              <a:latin typeface="Courier New"/>
              <a:ea typeface="Courier New"/>
              <a:cs typeface="Courier New"/>
              <a:sym typeface="Courier New"/>
            </a:endParaRPr>
          </a:p>
        </p:txBody>
      </p:sp>
      <p:sp>
        <p:nvSpPr>
          <p:cNvPr id="221" name="Google Shape;221;p25"/>
          <p:cNvSpPr txBox="1"/>
          <p:nvPr/>
        </p:nvSpPr>
        <p:spPr>
          <a:xfrm>
            <a:off x="4316575" y="957900"/>
            <a:ext cx="4669500" cy="5826000"/>
          </a:xfrm>
          <a:prstGeom prst="rect">
            <a:avLst/>
          </a:prstGeom>
          <a:no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Clr>
                <a:schemeClr val="dk1"/>
              </a:buClr>
              <a:buSzPts val="1100"/>
              <a:buFont typeface="Arial"/>
              <a:buNone/>
            </a:pPr>
            <a:r>
              <a:rPr b="1" lang="en" sz="1000">
                <a:solidFill>
                  <a:srgbClr val="7F0055"/>
                </a:solidFill>
                <a:highlight>
                  <a:srgbClr val="FFFFFF"/>
                </a:highlight>
                <a:latin typeface="Courier New"/>
                <a:ea typeface="Courier New"/>
                <a:cs typeface="Courier New"/>
                <a:sym typeface="Courier New"/>
              </a:rPr>
              <a:t>void</a:t>
            </a:r>
            <a:r>
              <a:rPr b="1" lang="en" sz="1000">
                <a:solidFill>
                  <a:schemeClr val="dk1"/>
                </a:solidFill>
                <a:highlight>
                  <a:srgbClr val="FFFFFF"/>
                </a:highlight>
                <a:latin typeface="Courier New"/>
                <a:ea typeface="Courier New"/>
                <a:cs typeface="Courier New"/>
                <a:sym typeface="Courier New"/>
              </a:rPr>
              <a:t> pa0_adc_init(</a:t>
            </a:r>
            <a:r>
              <a:rPr b="1" lang="en" sz="1000">
                <a:solidFill>
                  <a:srgbClr val="7F0055"/>
                </a:solidFill>
                <a:highlight>
                  <a:srgbClr val="FFFFFF"/>
                </a:highlight>
                <a:latin typeface="Courier New"/>
                <a:ea typeface="Courier New"/>
                <a:cs typeface="Courier New"/>
                <a:sym typeface="Courier New"/>
              </a:rPr>
              <a:t>void</a:t>
            </a:r>
            <a:r>
              <a:rPr b="1" lang="en" sz="1000">
                <a:solidFill>
                  <a:schemeClr val="dk1"/>
                </a:solidFill>
                <a:highlight>
                  <a:srgbClr val="FFFFFF"/>
                </a:highlight>
                <a:latin typeface="Courier New"/>
                <a:ea typeface="Courier New"/>
                <a:cs typeface="Courier New"/>
                <a:sym typeface="Courier New"/>
              </a:rPr>
              <a:t>) {</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r>
              <a:rPr b="1" lang="en" sz="1000">
                <a:solidFill>
                  <a:srgbClr val="3F7F5F"/>
                </a:solidFill>
                <a:highlight>
                  <a:srgbClr val="FFFFFF"/>
                </a:highlight>
                <a:latin typeface="Courier New"/>
                <a:ea typeface="Courier New"/>
                <a:cs typeface="Courier New"/>
                <a:sym typeface="Courier New"/>
              </a:rPr>
              <a:t>// Configure analog input pin</a:t>
            </a:r>
            <a:endParaRPr b="1" sz="10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RCC-&gt;</a:t>
            </a:r>
            <a:r>
              <a:rPr b="1" lang="en" sz="1000">
                <a:solidFill>
                  <a:srgbClr val="0000C0"/>
                </a:solidFill>
                <a:highlight>
                  <a:srgbClr val="FFFFFF"/>
                </a:highlight>
                <a:latin typeface="Courier New"/>
                <a:ea typeface="Courier New"/>
                <a:cs typeface="Courier New"/>
                <a:sym typeface="Courier New"/>
              </a:rPr>
              <a:t>IOPENR</a:t>
            </a:r>
            <a:r>
              <a:rPr b="1" lang="en" sz="1000">
                <a:solidFill>
                  <a:schemeClr val="dk1"/>
                </a:solidFill>
                <a:highlight>
                  <a:srgbClr val="FFFFFF"/>
                </a:highlight>
                <a:latin typeface="Courier New"/>
                <a:ea typeface="Courier New"/>
                <a:cs typeface="Courier New"/>
                <a:sym typeface="Courier New"/>
              </a:rPr>
              <a:t> |=  RCC_IOPENR_GPIOAEN;  </a:t>
            </a:r>
            <a:r>
              <a:rPr b="1" lang="en" sz="1000">
                <a:solidFill>
                  <a:srgbClr val="3F7F5F"/>
                </a:solidFill>
                <a:highlight>
                  <a:srgbClr val="FFFFFF"/>
                </a:highlight>
                <a:latin typeface="Courier New"/>
                <a:ea typeface="Courier New"/>
                <a:cs typeface="Courier New"/>
                <a:sym typeface="Courier New"/>
              </a:rPr>
              <a:t>// clock access </a:t>
            </a:r>
            <a:endParaRPr b="1" sz="10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GPIOA-&gt;</a:t>
            </a:r>
            <a:r>
              <a:rPr b="1" lang="en" sz="1000">
                <a:solidFill>
                  <a:srgbClr val="0000C0"/>
                </a:solidFill>
                <a:highlight>
                  <a:srgbClr val="FFFFFF"/>
                </a:highlight>
                <a:latin typeface="Courier New"/>
                <a:ea typeface="Courier New"/>
                <a:cs typeface="Courier New"/>
                <a:sym typeface="Courier New"/>
              </a:rPr>
              <a:t>MODER</a:t>
            </a:r>
            <a:r>
              <a:rPr b="1" lang="en" sz="1000">
                <a:solidFill>
                  <a:schemeClr val="dk1"/>
                </a:solidFill>
                <a:highlight>
                  <a:srgbClr val="FFFFFF"/>
                </a:highlight>
                <a:latin typeface="Courier New"/>
                <a:ea typeface="Courier New"/>
                <a:cs typeface="Courier New"/>
                <a:sym typeface="Courier New"/>
              </a:rPr>
              <a:t> &amp;= ~GPIO_MODER_MODE0_Msk; </a:t>
            </a:r>
            <a:r>
              <a:rPr b="1" lang="en" sz="1000">
                <a:solidFill>
                  <a:srgbClr val="3F7F5F"/>
                </a:solidFill>
                <a:highlight>
                  <a:srgbClr val="FFFFFF"/>
                </a:highlight>
                <a:latin typeface="Courier New"/>
                <a:ea typeface="Courier New"/>
                <a:cs typeface="Courier New"/>
                <a:sym typeface="Courier New"/>
              </a:rPr>
              <a:t>// analog</a:t>
            </a:r>
            <a:r>
              <a:rPr b="1" lang="en" sz="1000">
                <a:solidFill>
                  <a:srgbClr val="3F7F5F"/>
                </a:solidFill>
                <a:highlight>
                  <a:srgbClr val="FFFFFF"/>
                </a:highlight>
                <a:latin typeface="Courier New"/>
                <a:ea typeface="Courier New"/>
                <a:cs typeface="Courier New"/>
                <a:sym typeface="Courier New"/>
              </a:rPr>
              <a:t> mode </a:t>
            </a:r>
            <a:endParaRPr b="1" sz="10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GPIOA-&gt;</a:t>
            </a:r>
            <a:r>
              <a:rPr b="1" lang="en" sz="1000">
                <a:solidFill>
                  <a:srgbClr val="0000C0"/>
                </a:solidFill>
                <a:highlight>
                  <a:srgbClr val="FFFFFF"/>
                </a:highlight>
                <a:latin typeface="Courier New"/>
                <a:ea typeface="Courier New"/>
                <a:cs typeface="Courier New"/>
                <a:sym typeface="Courier New"/>
              </a:rPr>
              <a:t>MODER</a:t>
            </a:r>
            <a:r>
              <a:rPr b="1" lang="en" sz="1000">
                <a:solidFill>
                  <a:schemeClr val="dk1"/>
                </a:solidFill>
                <a:highlight>
                  <a:srgbClr val="FFFFFF"/>
                </a:highlight>
                <a:latin typeface="Courier New"/>
                <a:ea typeface="Courier New"/>
                <a:cs typeface="Courier New"/>
                <a:sym typeface="Courier New"/>
              </a:rPr>
              <a:t> |= (GPIO_ANALOG &lt;&lt; GPIO_MODER_MODE0_Pos);  </a:t>
            </a:r>
            <a:endParaRPr b="1" sz="10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r>
              <a:rPr b="1" lang="en" sz="1000">
                <a:solidFill>
                  <a:srgbClr val="3F7F5F"/>
                </a:solidFill>
                <a:highlight>
                  <a:srgbClr val="FFFFFF"/>
                </a:highlight>
                <a:latin typeface="Courier New"/>
                <a:ea typeface="Courier New"/>
                <a:cs typeface="Courier New"/>
                <a:sym typeface="Courier New"/>
              </a:rPr>
              <a:t>// Configure ADC module</a:t>
            </a:r>
            <a:endParaRPr b="1" sz="10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RCC-&gt;</a:t>
            </a:r>
            <a:r>
              <a:rPr b="1" lang="en" sz="1000">
                <a:solidFill>
                  <a:srgbClr val="0000C0"/>
                </a:solidFill>
                <a:highlight>
                  <a:srgbClr val="FFFFFF"/>
                </a:highlight>
                <a:latin typeface="Courier New"/>
                <a:ea typeface="Courier New"/>
                <a:cs typeface="Courier New"/>
                <a:sym typeface="Courier New"/>
              </a:rPr>
              <a:t>APBENR2</a:t>
            </a:r>
            <a:r>
              <a:rPr b="1" lang="en" sz="1000">
                <a:solidFill>
                  <a:schemeClr val="dk1"/>
                </a:solidFill>
                <a:highlight>
                  <a:srgbClr val="FFFFFF"/>
                </a:highlight>
                <a:latin typeface="Courier New"/>
                <a:ea typeface="Courier New"/>
                <a:cs typeface="Courier New"/>
                <a:sym typeface="Courier New"/>
              </a:rPr>
              <a:t> |= RCC_APBENR2_ADCEN;  </a:t>
            </a:r>
            <a:r>
              <a:rPr b="1" lang="en" sz="1000">
                <a:solidFill>
                  <a:srgbClr val="3F7F5F"/>
                </a:solidFill>
                <a:highlight>
                  <a:srgbClr val="FFFFFF"/>
                </a:highlight>
                <a:latin typeface="Courier New"/>
                <a:ea typeface="Courier New"/>
                <a:cs typeface="Courier New"/>
                <a:sym typeface="Courier New"/>
              </a:rPr>
              <a:t>// clock access</a:t>
            </a:r>
            <a:endParaRPr b="1" sz="10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000">
                <a:solidFill>
                  <a:schemeClr val="dk1"/>
                </a:solidFill>
                <a:highlight>
                  <a:srgbClr val="FFFFFF"/>
                </a:highlight>
                <a:latin typeface="Courier New"/>
                <a:ea typeface="Courier New"/>
                <a:cs typeface="Courier New"/>
                <a:sym typeface="Courier New"/>
              </a:rPr>
              <a:t>  ADC1-&gt;</a:t>
            </a:r>
            <a:r>
              <a:rPr b="1" lang="en" sz="1000">
                <a:solidFill>
                  <a:srgbClr val="0000C0"/>
                </a:solidFill>
                <a:highlight>
                  <a:srgbClr val="FFFFFF"/>
                </a:highlight>
                <a:latin typeface="Courier New"/>
                <a:ea typeface="Courier New"/>
                <a:cs typeface="Courier New"/>
                <a:sym typeface="Courier New"/>
              </a:rPr>
              <a:t>CHSELR</a:t>
            </a:r>
            <a:r>
              <a:rPr b="1" lang="en" sz="1000">
                <a:solidFill>
                  <a:schemeClr val="dk1"/>
                </a:solidFill>
                <a:highlight>
                  <a:srgbClr val="FFFFFF"/>
                </a:highlight>
                <a:latin typeface="Courier New"/>
                <a:ea typeface="Courier New"/>
                <a:cs typeface="Courier New"/>
                <a:sym typeface="Courier New"/>
              </a:rPr>
              <a:t> |= ADC_CHSELR_CHSEL0;  </a:t>
            </a:r>
            <a:r>
              <a:rPr b="1" lang="en" sz="1000">
                <a:solidFill>
                  <a:srgbClr val="3F7F5F"/>
                </a:solidFill>
                <a:highlight>
                  <a:srgbClr val="FFFFFF"/>
                </a:highlight>
                <a:latin typeface="Courier New"/>
                <a:ea typeface="Courier New"/>
                <a:cs typeface="Courier New"/>
                <a:sym typeface="Courier New"/>
              </a:rPr>
              <a:t>// Select channel 0</a:t>
            </a:r>
            <a:endParaRPr b="1" sz="10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r>
              <a:rPr b="1" lang="en" sz="1000">
                <a:solidFill>
                  <a:srgbClr val="3F7F5F"/>
                </a:solidFill>
                <a:highlight>
                  <a:srgbClr val="FFFFFF"/>
                </a:highlight>
                <a:latin typeface="Courier New"/>
                <a:ea typeface="Courier New"/>
                <a:cs typeface="Courier New"/>
                <a:sym typeface="Courier New"/>
              </a:rPr>
              <a:t>// Enable ADC module</a:t>
            </a:r>
            <a:endParaRPr b="1" sz="10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ADC1-&gt;</a:t>
            </a:r>
            <a:r>
              <a:rPr b="1" lang="en" sz="1000">
                <a:solidFill>
                  <a:srgbClr val="0000C0"/>
                </a:solidFill>
                <a:highlight>
                  <a:srgbClr val="FFFFFF"/>
                </a:highlight>
                <a:latin typeface="Courier New"/>
                <a:ea typeface="Courier New"/>
                <a:cs typeface="Courier New"/>
                <a:sym typeface="Courier New"/>
              </a:rPr>
              <a:t>ISR</a:t>
            </a:r>
            <a:r>
              <a:rPr b="1" lang="en" sz="1000">
                <a:solidFill>
                  <a:schemeClr val="dk1"/>
                </a:solidFill>
                <a:highlight>
                  <a:srgbClr val="FFFFFF"/>
                </a:highlight>
                <a:latin typeface="Courier New"/>
                <a:ea typeface="Courier New"/>
                <a:cs typeface="Courier New"/>
                <a:sym typeface="Courier New"/>
              </a:rPr>
              <a:t> = ADC_ISR_ADRDY;	 </a:t>
            </a:r>
            <a:r>
              <a:rPr b="1" lang="en" sz="1000">
                <a:solidFill>
                  <a:srgbClr val="3F7F5F"/>
                </a:solidFill>
                <a:highlight>
                  <a:srgbClr val="FFFFFF"/>
                </a:highlight>
                <a:latin typeface="Courier New"/>
                <a:ea typeface="Courier New"/>
                <a:cs typeface="Courier New"/>
                <a:sym typeface="Courier New"/>
              </a:rPr>
              <a:t>// Clear the ready bit</a:t>
            </a:r>
            <a:endParaRPr b="1" sz="10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ADC1-&gt;</a:t>
            </a:r>
            <a:r>
              <a:rPr b="1" lang="en" sz="1000">
                <a:solidFill>
                  <a:srgbClr val="0000C0"/>
                </a:solidFill>
                <a:highlight>
                  <a:srgbClr val="FFFFFF"/>
                </a:highlight>
                <a:latin typeface="Courier New"/>
                <a:ea typeface="Courier New"/>
                <a:cs typeface="Courier New"/>
                <a:sym typeface="Courier New"/>
              </a:rPr>
              <a:t>CR</a:t>
            </a:r>
            <a:r>
              <a:rPr b="1" lang="en" sz="1000">
                <a:solidFill>
                  <a:schemeClr val="dk1"/>
                </a:solidFill>
                <a:highlight>
                  <a:srgbClr val="FFFFFF"/>
                </a:highlight>
                <a:latin typeface="Courier New"/>
                <a:ea typeface="Courier New"/>
                <a:cs typeface="Courier New"/>
                <a:sym typeface="Courier New"/>
              </a:rPr>
              <a:t> |= ADC_CR_ADEN;	 </a:t>
            </a:r>
            <a:r>
              <a:rPr b="1" lang="en" sz="1000">
                <a:solidFill>
                  <a:srgbClr val="3F7F5F"/>
                </a:solidFill>
                <a:highlight>
                  <a:srgbClr val="FFFFFF"/>
                </a:highlight>
                <a:latin typeface="Courier New"/>
                <a:ea typeface="Courier New"/>
                <a:cs typeface="Courier New"/>
                <a:sym typeface="Courier New"/>
              </a:rPr>
              <a:t>// Set the ADC enable bit</a:t>
            </a:r>
            <a:endParaRPr b="1" sz="10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000">
                <a:solidFill>
                  <a:schemeClr val="dk1"/>
                </a:solidFill>
                <a:highlight>
                  <a:srgbClr val="FFFFFF"/>
                </a:highlight>
                <a:latin typeface="Courier New"/>
                <a:ea typeface="Courier New"/>
                <a:cs typeface="Courier New"/>
                <a:sym typeface="Courier New"/>
              </a:rPr>
              <a:t>}</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000">
                <a:solidFill>
                  <a:srgbClr val="7F0055"/>
                </a:solidFill>
                <a:highlight>
                  <a:srgbClr val="FFFFFF"/>
                </a:highlight>
                <a:latin typeface="Courier New"/>
                <a:ea typeface="Courier New"/>
                <a:cs typeface="Courier New"/>
                <a:sym typeface="Courier New"/>
              </a:rPr>
              <a:t>void</a:t>
            </a:r>
            <a:r>
              <a:rPr b="1" lang="en" sz="1000">
                <a:solidFill>
                  <a:schemeClr val="dk1"/>
                </a:solidFill>
                <a:highlight>
                  <a:srgbClr val="FFFFFF"/>
                </a:highlight>
                <a:latin typeface="Courier New"/>
                <a:ea typeface="Courier New"/>
                <a:cs typeface="Courier New"/>
                <a:sym typeface="Courier New"/>
              </a:rPr>
              <a:t> start_conversion(</a:t>
            </a:r>
            <a:r>
              <a:rPr b="1" lang="en" sz="1000">
                <a:solidFill>
                  <a:srgbClr val="7F0055"/>
                </a:solidFill>
                <a:highlight>
                  <a:srgbClr val="FFFFFF"/>
                </a:highlight>
                <a:latin typeface="Courier New"/>
                <a:ea typeface="Courier New"/>
                <a:cs typeface="Courier New"/>
                <a:sym typeface="Courier New"/>
              </a:rPr>
              <a:t>void</a:t>
            </a:r>
            <a:r>
              <a:rPr b="1" lang="en" sz="1000">
                <a:solidFill>
                  <a:schemeClr val="dk1"/>
                </a:solidFill>
                <a:highlight>
                  <a:srgbClr val="FFFFFF"/>
                </a:highlight>
                <a:latin typeface="Courier New"/>
                <a:ea typeface="Courier New"/>
                <a:cs typeface="Courier New"/>
                <a:sym typeface="Courier New"/>
              </a:rPr>
              <a:t>) {</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rgbClr val="3F7F5F"/>
                </a:solidFill>
                <a:highlight>
                  <a:srgbClr val="FFFFFF"/>
                </a:highlight>
                <a:latin typeface="Courier New"/>
                <a:ea typeface="Courier New"/>
                <a:cs typeface="Courier New"/>
                <a:sym typeface="Courier New"/>
              </a:rPr>
              <a:t>  </a:t>
            </a:r>
            <a:r>
              <a:rPr b="1" lang="en" sz="1000">
                <a:solidFill>
                  <a:srgbClr val="3F7F5F"/>
                </a:solidFill>
                <a:highlight>
                  <a:srgbClr val="FFFFFF"/>
                </a:highlight>
                <a:latin typeface="Courier New"/>
                <a:ea typeface="Courier New"/>
                <a:cs typeface="Courier New"/>
                <a:sym typeface="Courier New"/>
              </a:rPr>
              <a:t>// Wait for ADC to be ready</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000">
                <a:solidFill>
                  <a:schemeClr val="dk1"/>
                </a:solidFill>
                <a:highlight>
                  <a:srgbClr val="FFFFFF"/>
                </a:highlight>
                <a:latin typeface="Courier New"/>
                <a:ea typeface="Courier New"/>
                <a:cs typeface="Courier New"/>
                <a:sym typeface="Courier New"/>
              </a:rPr>
              <a:t>  </a:t>
            </a:r>
            <a:r>
              <a:rPr b="1" lang="en" sz="1000">
                <a:solidFill>
                  <a:srgbClr val="7F0055"/>
                </a:solidFill>
                <a:highlight>
                  <a:srgbClr val="FFFFFF"/>
                </a:highlight>
                <a:latin typeface="Courier New"/>
                <a:ea typeface="Courier New"/>
                <a:cs typeface="Courier New"/>
                <a:sym typeface="Courier New"/>
              </a:rPr>
              <a:t>while</a:t>
            </a:r>
            <a:r>
              <a:rPr b="1" lang="en" sz="1000">
                <a:solidFill>
                  <a:schemeClr val="dk1"/>
                </a:solidFill>
                <a:highlight>
                  <a:srgbClr val="FFFFFF"/>
                </a:highlight>
                <a:latin typeface="Courier New"/>
                <a:ea typeface="Courier New"/>
                <a:cs typeface="Courier New"/>
                <a:sym typeface="Courier New"/>
              </a:rPr>
              <a:t>( (ADC1-&gt;</a:t>
            </a:r>
            <a:r>
              <a:rPr b="1" lang="en" sz="1000">
                <a:solidFill>
                  <a:srgbClr val="0000C0"/>
                </a:solidFill>
                <a:highlight>
                  <a:srgbClr val="FFFFFF"/>
                </a:highlight>
                <a:latin typeface="Courier New"/>
                <a:ea typeface="Courier New"/>
                <a:cs typeface="Courier New"/>
                <a:sym typeface="Courier New"/>
              </a:rPr>
              <a:t>ISR</a:t>
            </a:r>
            <a:r>
              <a:rPr b="1" lang="en" sz="1000">
                <a:solidFill>
                  <a:schemeClr val="dk1"/>
                </a:solidFill>
                <a:highlight>
                  <a:srgbClr val="FFFFFF"/>
                </a:highlight>
                <a:latin typeface="Courier New"/>
                <a:ea typeface="Courier New"/>
                <a:cs typeface="Courier New"/>
                <a:sym typeface="Courier New"/>
              </a:rPr>
              <a:t> &amp; ADC_ISR_ADRDY ) == 0){}</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0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000">
                <a:solidFill>
                  <a:srgbClr val="3F7F5F"/>
                </a:solidFill>
                <a:highlight>
                  <a:srgbClr val="FFFFFF"/>
                </a:highlight>
                <a:latin typeface="Courier New"/>
                <a:ea typeface="Courier New"/>
                <a:cs typeface="Courier New"/>
                <a:sym typeface="Courier New"/>
              </a:rPr>
              <a:t>  </a:t>
            </a:r>
            <a:r>
              <a:rPr b="1" lang="en" sz="1000">
                <a:solidFill>
                  <a:srgbClr val="3F7F5F"/>
                </a:solidFill>
                <a:highlight>
                  <a:srgbClr val="FFFFFF"/>
                </a:highlight>
                <a:latin typeface="Courier New"/>
                <a:ea typeface="Courier New"/>
                <a:cs typeface="Courier New"/>
                <a:sym typeface="Courier New"/>
              </a:rPr>
              <a:t>// Start single conversion</a:t>
            </a:r>
            <a:r>
              <a:rPr b="1" lang="en" sz="1000">
                <a:solidFill>
                  <a:schemeClr val="dk1"/>
                </a:solidFill>
                <a:highlight>
                  <a:srgbClr val="FFFFFF"/>
                </a:highlight>
                <a:latin typeface="Courier New"/>
                <a:ea typeface="Courier New"/>
                <a:cs typeface="Courier New"/>
                <a:sym typeface="Courier New"/>
              </a:rPr>
              <a:t>	  </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ADC1-&gt;</a:t>
            </a:r>
            <a:r>
              <a:rPr b="1" lang="en" sz="1000">
                <a:solidFill>
                  <a:srgbClr val="0000C0"/>
                </a:solidFill>
                <a:highlight>
                  <a:srgbClr val="FFFFFF"/>
                </a:highlight>
                <a:latin typeface="Courier New"/>
                <a:ea typeface="Courier New"/>
                <a:cs typeface="Courier New"/>
                <a:sym typeface="Courier New"/>
              </a:rPr>
              <a:t>CR</a:t>
            </a:r>
            <a:r>
              <a:rPr b="1" lang="en" sz="1000">
                <a:solidFill>
                  <a:schemeClr val="dk1"/>
                </a:solidFill>
                <a:highlight>
                  <a:srgbClr val="FFFFFF"/>
                </a:highlight>
                <a:latin typeface="Courier New"/>
                <a:ea typeface="Courier New"/>
                <a:cs typeface="Courier New"/>
                <a:sym typeface="Courier New"/>
              </a:rPr>
              <a:t> |= ADC_CR_ADSTART;	</a:t>
            </a:r>
            <a:endParaRPr b="1" sz="10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000">
                <a:solidFill>
                  <a:schemeClr val="dk1"/>
                </a:solidFill>
                <a:highlight>
                  <a:srgbClr val="FFFFFF"/>
                </a:highlight>
                <a:latin typeface="Courier New"/>
                <a:ea typeface="Courier New"/>
                <a:cs typeface="Courier New"/>
                <a:sym typeface="Courier New"/>
              </a:rPr>
              <a:t>}</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rgbClr val="005032"/>
                </a:solidFill>
                <a:highlight>
                  <a:srgbClr val="FFFFFF"/>
                </a:highlight>
                <a:latin typeface="Courier New"/>
                <a:ea typeface="Courier New"/>
                <a:cs typeface="Courier New"/>
                <a:sym typeface="Courier New"/>
              </a:rPr>
              <a:t>uint16_t</a:t>
            </a:r>
            <a:r>
              <a:rPr b="1" lang="en" sz="1000">
                <a:solidFill>
                  <a:schemeClr val="dk1"/>
                </a:solidFill>
                <a:highlight>
                  <a:srgbClr val="FFFFFF"/>
                </a:highlight>
                <a:latin typeface="Courier New"/>
                <a:ea typeface="Courier New"/>
                <a:cs typeface="Courier New"/>
                <a:sym typeface="Courier New"/>
              </a:rPr>
              <a:t> adc_read(</a:t>
            </a:r>
            <a:r>
              <a:rPr b="1" lang="en" sz="1000">
                <a:solidFill>
                  <a:srgbClr val="7F0055"/>
                </a:solidFill>
                <a:highlight>
                  <a:srgbClr val="FFFFFF"/>
                </a:highlight>
                <a:latin typeface="Courier New"/>
                <a:ea typeface="Courier New"/>
                <a:cs typeface="Courier New"/>
                <a:sym typeface="Courier New"/>
              </a:rPr>
              <a:t>void</a:t>
            </a:r>
            <a:r>
              <a:rPr b="1" lang="en" sz="1000">
                <a:solidFill>
                  <a:schemeClr val="dk1"/>
                </a:solidFill>
                <a:highlight>
                  <a:srgbClr val="FFFFFF"/>
                </a:highlight>
                <a:latin typeface="Courier New"/>
                <a:ea typeface="Courier New"/>
                <a:cs typeface="Courier New"/>
                <a:sym typeface="Courier New"/>
              </a:rPr>
              <a:t>) {</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r>
              <a:rPr b="1" lang="en" sz="1000">
                <a:solidFill>
                  <a:srgbClr val="3F7F5F"/>
                </a:solidFill>
                <a:highlight>
                  <a:srgbClr val="FFFFFF"/>
                </a:highlight>
                <a:latin typeface="Courier New"/>
                <a:ea typeface="Courier New"/>
                <a:cs typeface="Courier New"/>
                <a:sym typeface="Courier New"/>
              </a:rPr>
              <a:t>// Wait for conversion to finish</a:t>
            </a:r>
            <a:endParaRPr b="1" sz="10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r>
              <a:rPr b="1" lang="en" sz="1000">
                <a:solidFill>
                  <a:srgbClr val="7F0055"/>
                </a:solidFill>
                <a:highlight>
                  <a:srgbClr val="FFFFFF"/>
                </a:highlight>
                <a:latin typeface="Courier New"/>
                <a:ea typeface="Courier New"/>
                <a:cs typeface="Courier New"/>
                <a:sym typeface="Courier New"/>
              </a:rPr>
              <a:t>while</a:t>
            </a:r>
            <a:r>
              <a:rPr b="1" lang="en" sz="1000">
                <a:solidFill>
                  <a:schemeClr val="dk1"/>
                </a:solidFill>
                <a:highlight>
                  <a:srgbClr val="FFFFFF"/>
                </a:highlight>
                <a:latin typeface="Courier New"/>
                <a:ea typeface="Courier New"/>
                <a:cs typeface="Courier New"/>
                <a:sym typeface="Courier New"/>
              </a:rPr>
              <a:t>( (ADC1-&gt;</a:t>
            </a:r>
            <a:r>
              <a:rPr b="1" lang="en" sz="1000">
                <a:solidFill>
                  <a:srgbClr val="0000C0"/>
                </a:solidFill>
                <a:highlight>
                  <a:srgbClr val="FFFFFF"/>
                </a:highlight>
                <a:latin typeface="Courier New"/>
                <a:ea typeface="Courier New"/>
                <a:cs typeface="Courier New"/>
                <a:sym typeface="Courier New"/>
              </a:rPr>
              <a:t>ISR</a:t>
            </a:r>
            <a:r>
              <a:rPr b="1" lang="en" sz="1000">
                <a:solidFill>
                  <a:schemeClr val="dk1"/>
                </a:solidFill>
                <a:highlight>
                  <a:srgbClr val="FFFFFF"/>
                </a:highlight>
                <a:latin typeface="Courier New"/>
                <a:ea typeface="Courier New"/>
                <a:cs typeface="Courier New"/>
                <a:sym typeface="Courier New"/>
              </a:rPr>
              <a:t> &amp; ADC_ISR_EOC) == 0 ){} </a:t>
            </a:r>
            <a:r>
              <a:rPr b="1" lang="en" sz="1000">
                <a:solidFill>
                  <a:srgbClr val="3F7F5F"/>
                </a:solidFill>
                <a:highlight>
                  <a:srgbClr val="FFFFFF"/>
                </a:highlight>
                <a:latin typeface="Courier New"/>
                <a:ea typeface="Courier New"/>
                <a:cs typeface="Courier New"/>
                <a:sym typeface="Courier New"/>
              </a:rPr>
              <a:t>// Blocking</a:t>
            </a:r>
            <a:endParaRPr b="1" sz="10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000">
                <a:solidFill>
                  <a:schemeClr val="dk1"/>
                </a:solidFill>
                <a:highlight>
                  <a:srgbClr val="FFFFFF"/>
                </a:highlight>
                <a:latin typeface="Courier New"/>
                <a:ea typeface="Courier New"/>
                <a:cs typeface="Courier New"/>
                <a:sym typeface="Courier New"/>
              </a:rPr>
              <a:t> </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r>
              <a:rPr b="1" lang="en" sz="1000">
                <a:solidFill>
                  <a:srgbClr val="3F7F5F"/>
                </a:solidFill>
                <a:highlight>
                  <a:srgbClr val="FFFFFF"/>
                </a:highlight>
                <a:latin typeface="Courier New"/>
                <a:ea typeface="Courier New"/>
                <a:cs typeface="Courier New"/>
                <a:sym typeface="Courier New"/>
              </a:rPr>
              <a:t>// Read converted value</a:t>
            </a:r>
            <a:endParaRPr b="1" sz="10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r>
              <a:rPr b="1" lang="en" sz="1000">
                <a:solidFill>
                  <a:srgbClr val="7F0055"/>
                </a:solidFill>
                <a:highlight>
                  <a:srgbClr val="FFFFFF"/>
                </a:highlight>
                <a:latin typeface="Courier New"/>
                <a:ea typeface="Courier New"/>
                <a:cs typeface="Courier New"/>
                <a:sym typeface="Courier New"/>
              </a:rPr>
              <a:t>return</a:t>
            </a:r>
            <a:r>
              <a:rPr b="1" lang="en" sz="1000">
                <a:solidFill>
                  <a:schemeClr val="dk1"/>
                </a:solidFill>
                <a:highlight>
                  <a:srgbClr val="FFFFFF"/>
                </a:highlight>
                <a:latin typeface="Courier New"/>
                <a:ea typeface="Courier New"/>
                <a:cs typeface="Courier New"/>
                <a:sym typeface="Courier New"/>
              </a:rPr>
              <a:t> (</a:t>
            </a:r>
            <a:r>
              <a:rPr b="1" lang="en" sz="1000">
                <a:solidFill>
                  <a:srgbClr val="005032"/>
                </a:solidFill>
                <a:highlight>
                  <a:srgbClr val="FFFFFF"/>
                </a:highlight>
                <a:latin typeface="Courier New"/>
                <a:ea typeface="Courier New"/>
                <a:cs typeface="Courier New"/>
                <a:sym typeface="Courier New"/>
              </a:rPr>
              <a:t>uint16_t</a:t>
            </a:r>
            <a:r>
              <a:rPr b="1" lang="en" sz="1000">
                <a:solidFill>
                  <a:schemeClr val="dk1"/>
                </a:solidFill>
                <a:highlight>
                  <a:srgbClr val="FFFFFF"/>
                </a:highlight>
                <a:latin typeface="Courier New"/>
                <a:ea typeface="Courier New"/>
                <a:cs typeface="Courier New"/>
                <a:sym typeface="Courier New"/>
              </a:rPr>
              <a:t>) ADC1-&gt;</a:t>
            </a:r>
            <a:r>
              <a:rPr b="1" lang="en" sz="1000">
                <a:solidFill>
                  <a:srgbClr val="0000C0"/>
                </a:solidFill>
                <a:highlight>
                  <a:srgbClr val="FFFFFF"/>
                </a:highlight>
                <a:latin typeface="Courier New"/>
                <a:ea typeface="Courier New"/>
                <a:cs typeface="Courier New"/>
                <a:sym typeface="Courier New"/>
              </a:rPr>
              <a:t>DR</a:t>
            </a:r>
            <a:r>
              <a:rPr b="1" lang="en" sz="1000">
                <a:solidFill>
                  <a:schemeClr val="dk1"/>
                </a:solidFill>
                <a:highlight>
                  <a:srgbClr val="FFFFFF"/>
                </a:highlight>
                <a:latin typeface="Courier New"/>
                <a:ea typeface="Courier New"/>
                <a:cs typeface="Courier New"/>
                <a:sym typeface="Courier New"/>
              </a:rPr>
              <a:t>;</a:t>
            </a:r>
            <a:endParaRPr b="1" sz="1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a:t>
            </a:r>
            <a:endParaRPr b="1" sz="10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000">
              <a:solidFill>
                <a:srgbClr val="0000FF"/>
              </a:solidFill>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6"/>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ADC Initialization</a:t>
            </a:r>
            <a:endParaRPr/>
          </a:p>
        </p:txBody>
      </p:sp>
      <p:sp>
        <p:nvSpPr>
          <p:cNvPr id="227" name="Google Shape;227;p26"/>
          <p:cNvSpPr txBox="1"/>
          <p:nvPr/>
        </p:nvSpPr>
        <p:spPr>
          <a:xfrm>
            <a:off x="2801050" y="3990100"/>
            <a:ext cx="3662400" cy="4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Perform once, before you start using ADC.</a:t>
            </a:r>
            <a:endParaRPr>
              <a:solidFill>
                <a:srgbClr val="0000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7"/>
          <p:cNvSpPr txBox="1"/>
          <p:nvPr>
            <p:ph type="title"/>
          </p:nvPr>
        </p:nvSpPr>
        <p:spPr>
          <a:xfrm>
            <a:off x="225225" y="1620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Function pa0_adc_init()</a:t>
            </a:r>
            <a:endParaRPr/>
          </a:p>
        </p:txBody>
      </p:sp>
      <p:sp>
        <p:nvSpPr>
          <p:cNvPr id="233" name="Google Shape;233;p27"/>
          <p:cNvSpPr txBox="1"/>
          <p:nvPr/>
        </p:nvSpPr>
        <p:spPr>
          <a:xfrm>
            <a:off x="342000" y="1162050"/>
            <a:ext cx="5847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00">
              <a:latin typeface="Courier New"/>
              <a:ea typeface="Courier New"/>
              <a:cs typeface="Courier New"/>
              <a:sym typeface="Courier New"/>
            </a:endParaRPr>
          </a:p>
        </p:txBody>
      </p:sp>
      <p:sp>
        <p:nvSpPr>
          <p:cNvPr id="234" name="Google Shape;234;p27"/>
          <p:cNvSpPr txBox="1"/>
          <p:nvPr/>
        </p:nvSpPr>
        <p:spPr>
          <a:xfrm>
            <a:off x="225225" y="806950"/>
            <a:ext cx="8918700" cy="500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500">
                <a:solidFill>
                  <a:schemeClr val="dk1"/>
                </a:solidFill>
                <a:latin typeface="Courier New"/>
                <a:ea typeface="Courier New"/>
                <a:cs typeface="Courier New"/>
                <a:sym typeface="Courier New"/>
              </a:rPr>
              <a:t>// Sampling ADC Channel 0 (which maps to PA0)</a:t>
            </a:r>
            <a:endParaRPr sz="1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00">
                <a:solidFill>
                  <a:schemeClr val="dk1"/>
                </a:solidFill>
                <a:latin typeface="Courier New"/>
                <a:ea typeface="Courier New"/>
                <a:cs typeface="Courier New"/>
                <a:sym typeface="Courier New"/>
              </a:rPr>
              <a:t>void pa0_adc_init(void) {</a:t>
            </a:r>
            <a:endParaRPr b="1" sz="1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00">
                <a:solidFill>
                  <a:schemeClr val="dk1"/>
                </a:solidFill>
                <a:latin typeface="Courier New"/>
                <a:ea typeface="Courier New"/>
                <a:cs typeface="Courier New"/>
                <a:sym typeface="Courier New"/>
              </a:rPr>
              <a:t>	</a:t>
            </a:r>
            <a:r>
              <a:rPr lang="en" sz="1500">
                <a:solidFill>
                  <a:schemeClr val="dk1"/>
                </a:solidFill>
                <a:latin typeface="Courier New"/>
                <a:ea typeface="Courier New"/>
                <a:cs typeface="Courier New"/>
                <a:sym typeface="Courier New"/>
              </a:rPr>
              <a:t>// Configure PA0 as analog input pin</a:t>
            </a:r>
            <a:endParaRPr sz="1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00">
                <a:solidFill>
                  <a:schemeClr val="dk1"/>
                </a:solidFill>
                <a:latin typeface="Courier New"/>
                <a:ea typeface="Courier New"/>
                <a:cs typeface="Courier New"/>
                <a:sym typeface="Courier New"/>
              </a:rPr>
              <a:t>	RCC-&gt;IOPENR |=  RCC_IOPENR_GPIOAEN;	</a:t>
            </a:r>
            <a:r>
              <a:rPr lang="en" sz="1500">
                <a:solidFill>
                  <a:schemeClr val="dk1"/>
                </a:solidFill>
                <a:latin typeface="Courier New"/>
                <a:ea typeface="Courier New"/>
                <a:cs typeface="Courier New"/>
                <a:sym typeface="Courier New"/>
              </a:rPr>
              <a:t>// Enable clock access to GPIOA</a:t>
            </a:r>
            <a:endParaRPr sz="1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00">
                <a:solidFill>
                  <a:schemeClr val="dk1"/>
                </a:solidFill>
                <a:latin typeface="Courier New"/>
                <a:ea typeface="Courier New"/>
                <a:cs typeface="Courier New"/>
                <a:sym typeface="Courier New"/>
              </a:rPr>
              <a:t>	GPIOA-&gt;MODER &amp;= ~GPIO_MODER_MODE0_Msk;  </a:t>
            </a:r>
            <a:r>
              <a:rPr lang="en" sz="1500">
                <a:solidFill>
                  <a:schemeClr val="dk1"/>
                </a:solidFill>
                <a:latin typeface="Courier New"/>
                <a:ea typeface="Courier New"/>
                <a:cs typeface="Courier New"/>
                <a:sym typeface="Courier New"/>
              </a:rPr>
              <a:t>// Set PA0 mode bits (0:1)</a:t>
            </a:r>
            <a:endParaRPr sz="1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00">
                <a:solidFill>
                  <a:schemeClr val="dk1"/>
                </a:solidFill>
                <a:latin typeface="Courier New"/>
                <a:ea typeface="Courier New"/>
                <a:cs typeface="Courier New"/>
                <a:sym typeface="Courier New"/>
              </a:rPr>
              <a:t>	GPIOA-&gt;MODER |= (GPIO_ANALOG &lt;&lt; GPIO_MODER_MODE0_Pos); </a:t>
            </a:r>
            <a:r>
              <a:rPr lang="en" sz="1500">
                <a:solidFill>
                  <a:schemeClr val="dk1"/>
                </a:solidFill>
                <a:latin typeface="Courier New"/>
                <a:ea typeface="Courier New"/>
                <a:cs typeface="Courier New"/>
                <a:sym typeface="Courier New"/>
              </a:rPr>
              <a:t>// to analog (11)</a:t>
            </a:r>
            <a:endParaRPr b="1" sz="1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00">
                <a:solidFill>
                  <a:schemeClr val="dk1"/>
                </a:solidFill>
                <a:latin typeface="Courier New"/>
                <a:ea typeface="Courier New"/>
                <a:cs typeface="Courier New"/>
                <a:sym typeface="Courier New"/>
              </a:rPr>
              <a:t>	</a:t>
            </a:r>
            <a:r>
              <a:rPr lang="en" sz="1500">
                <a:solidFill>
                  <a:schemeClr val="dk1"/>
                </a:solidFill>
                <a:latin typeface="Courier New"/>
                <a:ea typeface="Courier New"/>
                <a:cs typeface="Courier New"/>
                <a:sym typeface="Courier New"/>
              </a:rPr>
              <a:t>// Configure ADC module</a:t>
            </a:r>
            <a:endParaRPr sz="1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00">
                <a:solidFill>
                  <a:schemeClr val="dk1"/>
                </a:solidFill>
                <a:latin typeface="Courier New"/>
                <a:ea typeface="Courier New"/>
                <a:cs typeface="Courier New"/>
                <a:sym typeface="Courier New"/>
              </a:rPr>
              <a:t>	</a:t>
            </a:r>
            <a:r>
              <a:rPr b="1" lang="en" sz="1500">
                <a:solidFill>
                  <a:srgbClr val="FF0000"/>
                </a:solidFill>
                <a:latin typeface="Courier New"/>
                <a:ea typeface="Courier New"/>
                <a:cs typeface="Courier New"/>
                <a:sym typeface="Courier New"/>
              </a:rPr>
              <a:t>RCC-&gt;APBENR2</a:t>
            </a:r>
            <a:r>
              <a:rPr b="1" lang="en" sz="1500">
                <a:solidFill>
                  <a:schemeClr val="dk1"/>
                </a:solidFill>
                <a:latin typeface="Courier New"/>
                <a:ea typeface="Courier New"/>
                <a:cs typeface="Courier New"/>
                <a:sym typeface="Courier New"/>
              </a:rPr>
              <a:t> |= RCC_APBENR2_ADCEN;	</a:t>
            </a:r>
            <a:r>
              <a:rPr lang="en" sz="1500">
                <a:solidFill>
                  <a:schemeClr val="dk1"/>
                </a:solidFill>
                <a:latin typeface="Courier New"/>
                <a:ea typeface="Courier New"/>
                <a:cs typeface="Courier New"/>
                <a:sym typeface="Courier New"/>
              </a:rPr>
              <a:t>// Enable clock access to ADC module</a:t>
            </a:r>
            <a:endParaRPr sz="1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00">
                <a:solidFill>
                  <a:schemeClr val="dk1"/>
                </a:solidFill>
                <a:latin typeface="Courier New"/>
                <a:ea typeface="Courier New"/>
                <a:cs typeface="Courier New"/>
                <a:sym typeface="Courier New"/>
              </a:rPr>
              <a:t>	</a:t>
            </a:r>
            <a:r>
              <a:rPr b="1" lang="en" sz="1500">
                <a:solidFill>
                  <a:srgbClr val="FF0000"/>
                </a:solidFill>
                <a:latin typeface="Courier New"/>
                <a:ea typeface="Courier New"/>
                <a:cs typeface="Courier New"/>
                <a:sym typeface="Courier New"/>
              </a:rPr>
              <a:t>ADC1-&gt;CHSELR</a:t>
            </a:r>
            <a:r>
              <a:rPr b="1" lang="en" sz="1500">
                <a:solidFill>
                  <a:schemeClr val="dk1"/>
                </a:solidFill>
                <a:latin typeface="Courier New"/>
                <a:ea typeface="Courier New"/>
                <a:cs typeface="Courier New"/>
                <a:sym typeface="Courier New"/>
              </a:rPr>
              <a:t> |= ADC_CHSELR_CHSEL0;	</a:t>
            </a:r>
            <a:r>
              <a:rPr lang="en" sz="1500">
                <a:solidFill>
                  <a:schemeClr val="dk1"/>
                </a:solidFill>
                <a:latin typeface="Courier New"/>
                <a:ea typeface="Courier New"/>
                <a:cs typeface="Courier New"/>
                <a:sym typeface="Courier New"/>
              </a:rPr>
              <a:t>// Channel 0, CHSELRMOD=0 by default</a:t>
            </a:r>
            <a:endParaRPr sz="1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00">
                <a:solidFill>
                  <a:schemeClr val="dk1"/>
                </a:solidFill>
                <a:latin typeface="Courier New"/>
                <a:ea typeface="Courier New"/>
                <a:cs typeface="Courier New"/>
                <a:sym typeface="Courier New"/>
              </a:rPr>
              <a:t>	</a:t>
            </a:r>
            <a:r>
              <a:rPr lang="en" sz="1500">
                <a:solidFill>
                  <a:schemeClr val="dk1"/>
                </a:solidFill>
                <a:latin typeface="Courier New"/>
                <a:ea typeface="Courier New"/>
                <a:cs typeface="Courier New"/>
                <a:sym typeface="Courier New"/>
              </a:rPr>
              <a:t>// Enable ADC module</a:t>
            </a:r>
            <a:endParaRPr sz="1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500">
                <a:solidFill>
                  <a:schemeClr val="dk1"/>
                </a:solidFill>
                <a:latin typeface="Courier New"/>
                <a:ea typeface="Courier New"/>
                <a:cs typeface="Courier New"/>
                <a:sym typeface="Courier New"/>
              </a:rPr>
              <a:t>	</a:t>
            </a:r>
            <a:r>
              <a:rPr b="1" lang="en" sz="1500">
                <a:solidFill>
                  <a:srgbClr val="FB0007"/>
                </a:solidFill>
                <a:latin typeface="Courier New"/>
                <a:ea typeface="Courier New"/>
                <a:cs typeface="Courier New"/>
                <a:sym typeface="Courier New"/>
              </a:rPr>
              <a:t>ADC1-&gt;ISR</a:t>
            </a:r>
            <a:r>
              <a:rPr b="1" lang="en" sz="1500">
                <a:solidFill>
                  <a:schemeClr val="dk1"/>
                </a:solidFill>
                <a:latin typeface="Courier New"/>
                <a:ea typeface="Courier New"/>
                <a:cs typeface="Courier New"/>
                <a:sym typeface="Courier New"/>
              </a:rPr>
              <a:t> = ADC_ISR_ADRDY; </a:t>
            </a:r>
            <a:r>
              <a:rPr lang="en" sz="1500">
                <a:solidFill>
                  <a:schemeClr val="dk1"/>
                </a:solidFill>
                <a:latin typeface="Courier New"/>
                <a:ea typeface="Courier New"/>
                <a:cs typeface="Courier New"/>
                <a:sym typeface="Courier New"/>
              </a:rPr>
              <a:t>// Clear the ready bit by writing '1' to it</a:t>
            </a:r>
            <a:endParaRPr sz="1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00">
                <a:solidFill>
                  <a:schemeClr val="dk1"/>
                </a:solidFill>
                <a:latin typeface="Courier New"/>
                <a:ea typeface="Courier New"/>
                <a:cs typeface="Courier New"/>
                <a:sym typeface="Courier New"/>
              </a:rPr>
              <a:t>	</a:t>
            </a:r>
            <a:r>
              <a:rPr b="1" lang="en" sz="1500">
                <a:solidFill>
                  <a:srgbClr val="FF0000"/>
                </a:solidFill>
                <a:latin typeface="Courier New"/>
                <a:ea typeface="Courier New"/>
                <a:cs typeface="Courier New"/>
                <a:sym typeface="Courier New"/>
              </a:rPr>
              <a:t>ADC1-&gt;CR</a:t>
            </a:r>
            <a:r>
              <a:rPr b="1" lang="en" sz="1500">
                <a:solidFill>
                  <a:schemeClr val="dk1"/>
                </a:solidFill>
                <a:latin typeface="Courier New"/>
                <a:ea typeface="Courier New"/>
                <a:cs typeface="Courier New"/>
                <a:sym typeface="Courier New"/>
              </a:rPr>
              <a:t> |= ADC_CR_ADEN;    </a:t>
            </a:r>
            <a:r>
              <a:rPr lang="en" sz="1500">
                <a:solidFill>
                  <a:schemeClr val="dk1"/>
                </a:solidFill>
                <a:latin typeface="Courier New"/>
                <a:ea typeface="Courier New"/>
                <a:cs typeface="Courier New"/>
                <a:sym typeface="Courier New"/>
              </a:rPr>
              <a:t>// Set the ADC enable bit</a:t>
            </a:r>
            <a:endParaRPr sz="1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00">
                <a:solidFill>
                  <a:schemeClr val="dk1"/>
                </a:solidFill>
                <a:latin typeface="Courier New"/>
                <a:ea typeface="Courier New"/>
                <a:cs typeface="Courier New"/>
                <a:sym typeface="Courier New"/>
              </a:rPr>
              <a:t>}</a:t>
            </a:r>
            <a:endParaRPr b="1" sz="1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Courier New"/>
              <a:ea typeface="Courier New"/>
              <a:cs typeface="Courier New"/>
              <a:sym typeface="Courier New"/>
            </a:endParaRPr>
          </a:p>
          <a:p>
            <a:pPr indent="-349250" lvl="0" marL="457200" rtl="0" algn="l">
              <a:lnSpc>
                <a:spcPct val="115000"/>
              </a:lnSpc>
              <a:spcBef>
                <a:spcPts val="0"/>
              </a:spcBef>
              <a:spcAft>
                <a:spcPts val="0"/>
              </a:spcAft>
              <a:buClr>
                <a:srgbClr val="0000FF"/>
              </a:buClr>
              <a:buSzPts val="1900"/>
              <a:buChar char="●"/>
            </a:pPr>
            <a:r>
              <a:rPr lang="en" sz="1900">
                <a:solidFill>
                  <a:srgbClr val="0000FF"/>
                </a:solidFill>
              </a:rPr>
              <a:t>What is the clock source for the </a:t>
            </a:r>
            <a:r>
              <a:rPr lang="en" sz="1900">
                <a:solidFill>
                  <a:srgbClr val="0000FF"/>
                </a:solidFill>
              </a:rPr>
              <a:t>ADC? </a:t>
            </a:r>
            <a:endParaRPr sz="1900">
              <a:solidFill>
                <a:srgbClr val="0000FF"/>
              </a:solidFill>
            </a:endParaRPr>
          </a:p>
          <a:p>
            <a:pPr indent="-349250" lvl="0" marL="457200" rtl="0" algn="l">
              <a:lnSpc>
                <a:spcPct val="115000"/>
              </a:lnSpc>
              <a:spcBef>
                <a:spcPts val="0"/>
              </a:spcBef>
              <a:spcAft>
                <a:spcPts val="0"/>
              </a:spcAft>
              <a:buClr>
                <a:srgbClr val="0000FF"/>
              </a:buClr>
              <a:buSzPts val="1900"/>
              <a:buChar char="●"/>
            </a:pPr>
            <a:r>
              <a:rPr lang="en" sz="1900">
                <a:solidFill>
                  <a:srgbClr val="0000FF"/>
                </a:solidFill>
              </a:rPr>
              <a:t>How do you know what values to pick for ADC1-&gt;CHSELR, ADC1-&gt;CR, etc?</a:t>
            </a:r>
            <a:endParaRPr b="1">
              <a:solidFill>
                <a:schemeClr val="dk1"/>
              </a:solidFill>
            </a:endParaRPr>
          </a:p>
        </p:txBody>
      </p:sp>
      <p:sp>
        <p:nvSpPr>
          <p:cNvPr id="235" name="Google Shape;235;p27"/>
          <p:cNvSpPr txBox="1"/>
          <p:nvPr/>
        </p:nvSpPr>
        <p:spPr>
          <a:xfrm>
            <a:off x="354075" y="5685800"/>
            <a:ext cx="8661000" cy="105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rgbClr val="38761D"/>
                </a:solidFill>
              </a:rPr>
              <a:t>Note: While our chip only has one ADC module, there are chips that have multiple such modules. For software compatibility reasons we refer to our module as "ADC1".</a:t>
            </a:r>
            <a:endParaRPr i="1" sz="1800">
              <a:solidFill>
                <a:srgbClr val="38761D"/>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8"/>
          <p:cNvSpPr txBox="1"/>
          <p:nvPr>
            <p:ph type="title"/>
          </p:nvPr>
        </p:nvSpPr>
        <p:spPr>
          <a:xfrm>
            <a:off x="311700" y="1189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ADC Clock Source</a:t>
            </a:r>
            <a:endParaRPr/>
          </a:p>
        </p:txBody>
      </p:sp>
      <p:sp>
        <p:nvSpPr>
          <p:cNvPr id="241" name="Google Shape;241;p28"/>
          <p:cNvSpPr txBox="1"/>
          <p:nvPr>
            <p:ph idx="1" type="body"/>
          </p:nvPr>
        </p:nvSpPr>
        <p:spPr>
          <a:xfrm>
            <a:off x="311700" y="803382"/>
            <a:ext cx="8520600" cy="9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ADC has a dual clock-domain architecture, so that the ADC can be fed with a clock (ADC asynchronous clock) independent from the APB clock.</a:t>
            </a:r>
            <a:endParaRPr/>
          </a:p>
          <a:p>
            <a:pPr indent="0" lvl="0" marL="0" rtl="0" algn="l">
              <a:spcBef>
                <a:spcPts val="1600"/>
              </a:spcBef>
              <a:spcAft>
                <a:spcPts val="1600"/>
              </a:spcAft>
              <a:buNone/>
            </a:pPr>
            <a:r>
              <a:t/>
            </a:r>
            <a:endParaRPr/>
          </a:p>
        </p:txBody>
      </p:sp>
      <p:pic>
        <p:nvPicPr>
          <p:cNvPr id="242" name="Google Shape;242;p28"/>
          <p:cNvPicPr preferRelativeResize="0"/>
          <p:nvPr/>
        </p:nvPicPr>
        <p:blipFill>
          <a:blip r:embed="rId3">
            <a:alphaModFix/>
          </a:blip>
          <a:stretch>
            <a:fillRect/>
          </a:stretch>
        </p:blipFill>
        <p:spPr>
          <a:xfrm>
            <a:off x="3684550" y="1657313"/>
            <a:ext cx="4800975" cy="2441725"/>
          </a:xfrm>
          <a:prstGeom prst="rect">
            <a:avLst/>
          </a:prstGeom>
          <a:noFill/>
          <a:ln>
            <a:noFill/>
          </a:ln>
        </p:spPr>
      </p:pic>
      <p:sp>
        <p:nvSpPr>
          <p:cNvPr id="243" name="Google Shape;243;p28"/>
          <p:cNvSpPr txBox="1"/>
          <p:nvPr/>
        </p:nvSpPr>
        <p:spPr>
          <a:xfrm>
            <a:off x="311700" y="1677588"/>
            <a:ext cx="31494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We will only use the default ADC asynchronous clock. We still need the ADC registers to get a 'regular' clock signal,  enabled in RCC_APBENR2 (RCC APB peripheral clock enable register 2). </a:t>
            </a:r>
            <a:endParaRPr sz="1800">
              <a:solidFill>
                <a:srgbClr val="0000FF"/>
              </a:solidFill>
            </a:endParaRPr>
          </a:p>
        </p:txBody>
      </p:sp>
      <p:pic>
        <p:nvPicPr>
          <p:cNvPr id="244" name="Google Shape;244;p28"/>
          <p:cNvPicPr preferRelativeResize="0"/>
          <p:nvPr/>
        </p:nvPicPr>
        <p:blipFill>
          <a:blip r:embed="rId4">
            <a:alphaModFix/>
          </a:blip>
          <a:stretch>
            <a:fillRect/>
          </a:stretch>
        </p:blipFill>
        <p:spPr>
          <a:xfrm>
            <a:off x="1823024" y="4188125"/>
            <a:ext cx="7160249" cy="1730050"/>
          </a:xfrm>
          <a:prstGeom prst="rect">
            <a:avLst/>
          </a:prstGeom>
          <a:noFill/>
          <a:ln>
            <a:noFill/>
          </a:ln>
        </p:spPr>
      </p:pic>
      <p:sp>
        <p:nvSpPr>
          <p:cNvPr id="245" name="Google Shape;245;p28"/>
          <p:cNvSpPr txBox="1"/>
          <p:nvPr/>
        </p:nvSpPr>
        <p:spPr>
          <a:xfrm>
            <a:off x="117575" y="4434400"/>
            <a:ext cx="17487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FF0000"/>
                </a:solidFill>
              </a:rPr>
              <a:t>RCC_APBENR2:</a:t>
            </a:r>
            <a:endParaRPr sz="1500">
              <a:solidFill>
                <a:srgbClr val="FF0000"/>
              </a:solidFill>
            </a:endParaRPr>
          </a:p>
        </p:txBody>
      </p:sp>
      <p:sp>
        <p:nvSpPr>
          <p:cNvPr id="246" name="Google Shape;246;p28"/>
          <p:cNvSpPr/>
          <p:nvPr/>
        </p:nvSpPr>
        <p:spPr>
          <a:xfrm>
            <a:off x="6717825" y="4145000"/>
            <a:ext cx="431400" cy="852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endParaRPr>
          </a:p>
        </p:txBody>
      </p:sp>
      <p:sp>
        <p:nvSpPr>
          <p:cNvPr id="247" name="Google Shape;247;p28"/>
          <p:cNvSpPr txBox="1"/>
          <p:nvPr/>
        </p:nvSpPr>
        <p:spPr>
          <a:xfrm>
            <a:off x="311700" y="6128000"/>
            <a:ext cx="4209300" cy="415500"/>
          </a:xfrm>
          <a:prstGeom prst="rect">
            <a:avLst/>
          </a:prstGeom>
          <a:noFill/>
          <a:ln cap="flat" cmpd="sng" w="28575">
            <a:solidFill>
              <a:srgbClr val="2A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n" sz="1500">
                <a:solidFill>
                  <a:srgbClr val="FF0000"/>
                </a:solidFill>
                <a:latin typeface="Courier New"/>
                <a:ea typeface="Courier New"/>
                <a:cs typeface="Courier New"/>
                <a:sym typeface="Courier New"/>
              </a:rPr>
              <a:t>RCC-&gt;APBENR2</a:t>
            </a:r>
            <a:r>
              <a:rPr b="1" lang="en" sz="1500">
                <a:solidFill>
                  <a:schemeClr val="dk1"/>
                </a:solidFill>
                <a:latin typeface="Courier New"/>
                <a:ea typeface="Courier New"/>
                <a:cs typeface="Courier New"/>
                <a:sym typeface="Courier New"/>
              </a:rPr>
              <a:t> |= RCC_APBENR2_ADCEN;</a:t>
            </a:r>
            <a:endParaRPr sz="1800">
              <a:solidFill>
                <a:schemeClr val="dk2"/>
              </a:solidFill>
            </a:endParaRPr>
          </a:p>
        </p:txBody>
      </p:sp>
      <p:pic>
        <p:nvPicPr>
          <p:cNvPr id="248" name="Google Shape;248;p28" title="Screenshot 2026-01-26 at 11.44.51 AM.png"/>
          <p:cNvPicPr preferRelativeResize="0"/>
          <p:nvPr/>
        </p:nvPicPr>
        <p:blipFill rotWithShape="1">
          <a:blip r:embed="rId5">
            <a:alphaModFix/>
          </a:blip>
          <a:srcRect b="14603" l="8007" r="43614" t="44216"/>
          <a:stretch/>
        </p:blipFill>
        <p:spPr>
          <a:xfrm>
            <a:off x="4641775" y="5614900"/>
            <a:ext cx="4056350" cy="1149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p29"/>
          <p:cNvPicPr preferRelativeResize="0"/>
          <p:nvPr/>
        </p:nvPicPr>
        <p:blipFill>
          <a:blip r:embed="rId3">
            <a:alphaModFix/>
          </a:blip>
          <a:stretch>
            <a:fillRect/>
          </a:stretch>
        </p:blipFill>
        <p:spPr>
          <a:xfrm>
            <a:off x="454158" y="3752091"/>
            <a:ext cx="3034226" cy="2271200"/>
          </a:xfrm>
          <a:prstGeom prst="rect">
            <a:avLst/>
          </a:prstGeom>
          <a:noFill/>
          <a:ln>
            <a:noFill/>
          </a:ln>
        </p:spPr>
      </p:pic>
      <p:sp>
        <p:nvSpPr>
          <p:cNvPr id="254" name="Google Shape;254;p29"/>
          <p:cNvSpPr txBox="1"/>
          <p:nvPr>
            <p:ph type="title"/>
          </p:nvPr>
        </p:nvSpPr>
        <p:spPr>
          <a:xfrm>
            <a:off x="211675" y="151276"/>
            <a:ext cx="2200800" cy="150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ADC Channel Selection Register (ADC_CHSELR)</a:t>
            </a:r>
            <a:endParaRPr sz="2100"/>
          </a:p>
        </p:txBody>
      </p:sp>
      <p:pic>
        <p:nvPicPr>
          <p:cNvPr id="255" name="Google Shape;255;p29"/>
          <p:cNvPicPr preferRelativeResize="0"/>
          <p:nvPr/>
        </p:nvPicPr>
        <p:blipFill>
          <a:blip r:embed="rId4">
            <a:alphaModFix/>
          </a:blip>
          <a:stretch>
            <a:fillRect/>
          </a:stretch>
        </p:blipFill>
        <p:spPr>
          <a:xfrm>
            <a:off x="2412475" y="86550"/>
            <a:ext cx="6612900" cy="1444650"/>
          </a:xfrm>
          <a:prstGeom prst="rect">
            <a:avLst/>
          </a:prstGeom>
          <a:noFill/>
          <a:ln>
            <a:noFill/>
          </a:ln>
        </p:spPr>
      </p:pic>
      <p:pic>
        <p:nvPicPr>
          <p:cNvPr id="256" name="Google Shape;256;p29"/>
          <p:cNvPicPr preferRelativeResize="0"/>
          <p:nvPr/>
        </p:nvPicPr>
        <p:blipFill rotWithShape="1">
          <a:blip r:embed="rId5">
            <a:alphaModFix/>
          </a:blip>
          <a:srcRect b="0" l="0" r="0" t="10410"/>
          <a:stretch/>
        </p:blipFill>
        <p:spPr>
          <a:xfrm>
            <a:off x="4373719" y="1660575"/>
            <a:ext cx="4736256" cy="5154024"/>
          </a:xfrm>
          <a:prstGeom prst="rect">
            <a:avLst/>
          </a:prstGeom>
          <a:noFill/>
          <a:ln>
            <a:noFill/>
          </a:ln>
        </p:spPr>
      </p:pic>
      <p:sp>
        <p:nvSpPr>
          <p:cNvPr id="257" name="Google Shape;257;p29"/>
          <p:cNvSpPr txBox="1"/>
          <p:nvPr/>
        </p:nvSpPr>
        <p:spPr>
          <a:xfrm>
            <a:off x="255925" y="1660575"/>
            <a:ext cx="4011300" cy="206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Bits 22:0 </a:t>
            </a:r>
            <a:r>
              <a:rPr b="1" lang="en" sz="1200">
                <a:solidFill>
                  <a:schemeClr val="dk1"/>
                </a:solidFill>
              </a:rPr>
              <a:t>CHSEL[22:0]</a:t>
            </a:r>
            <a:r>
              <a:rPr lang="en" sz="1200">
                <a:solidFill>
                  <a:schemeClr val="dk1"/>
                </a:solidFill>
              </a:rPr>
              <a:t>: Channel-x selection</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These bits are written by software and define which channels are part of the sequence of channels</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to be converted.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0: Input Channel-x is not selected for conversion</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1: Input Channel-x is selected for conversion</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i="1" lang="en" sz="1200">
                <a:solidFill>
                  <a:schemeClr val="dk1"/>
                </a:solidFill>
              </a:rPr>
              <a:t>Note: The software is allowed to write this bit only when ADSTART= 0 (which ensures that no</a:t>
            </a:r>
            <a:endParaRPr i="1" sz="1200">
              <a:solidFill>
                <a:schemeClr val="dk1"/>
              </a:solidFill>
            </a:endParaRPr>
          </a:p>
          <a:p>
            <a:pPr indent="0" lvl="0" marL="0" rtl="0" algn="l">
              <a:lnSpc>
                <a:spcPct val="115000"/>
              </a:lnSpc>
              <a:spcBef>
                <a:spcPts val="0"/>
              </a:spcBef>
              <a:spcAft>
                <a:spcPts val="0"/>
              </a:spcAft>
              <a:buNone/>
            </a:pPr>
            <a:r>
              <a:rPr i="1" lang="en" sz="1200">
                <a:solidFill>
                  <a:schemeClr val="dk1"/>
                </a:solidFill>
              </a:rPr>
              <a:t>conversion is ongoing).</a:t>
            </a:r>
            <a:endParaRPr sz="2300">
              <a:solidFill>
                <a:schemeClr val="dk2"/>
              </a:solidFill>
            </a:endParaRPr>
          </a:p>
        </p:txBody>
      </p:sp>
      <p:sp>
        <p:nvSpPr>
          <p:cNvPr id="258" name="Google Shape;258;p29"/>
          <p:cNvSpPr/>
          <p:nvPr/>
        </p:nvSpPr>
        <p:spPr>
          <a:xfrm>
            <a:off x="5268200" y="1970236"/>
            <a:ext cx="312600" cy="138300"/>
          </a:xfrm>
          <a:prstGeom prst="roundRect">
            <a:avLst>
              <a:gd fmla="val 16667" name="adj"/>
            </a:avLst>
          </a:prstGeom>
          <a:solidFill>
            <a:srgbClr val="6AA84F"/>
          </a:solidFill>
          <a:ln cap="flat" cmpd="sng" w="9525">
            <a:solidFill>
              <a:srgbClr val="000000"/>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Clr>
                <a:srgbClr val="000000"/>
              </a:buClr>
              <a:buSzPts val="1100"/>
              <a:buFont typeface="Arial"/>
              <a:buNone/>
            </a:pPr>
            <a:r>
              <a:rPr lang="en" sz="800">
                <a:solidFill>
                  <a:srgbClr val="FFFFFF"/>
                </a:solidFill>
              </a:rPr>
              <a:t>PA0</a:t>
            </a:r>
            <a:endParaRPr/>
          </a:p>
        </p:txBody>
      </p:sp>
      <p:sp>
        <p:nvSpPr>
          <p:cNvPr id="259" name="Google Shape;259;p29"/>
          <p:cNvSpPr/>
          <p:nvPr/>
        </p:nvSpPr>
        <p:spPr>
          <a:xfrm>
            <a:off x="5268200" y="2156329"/>
            <a:ext cx="312600" cy="138300"/>
          </a:xfrm>
          <a:prstGeom prst="roundRect">
            <a:avLst>
              <a:gd fmla="val 16667" name="adj"/>
            </a:avLst>
          </a:prstGeom>
          <a:solidFill>
            <a:srgbClr val="6AA84F"/>
          </a:solidFill>
          <a:ln cap="flat" cmpd="sng" w="9525">
            <a:solidFill>
              <a:srgbClr val="000000"/>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Clr>
                <a:srgbClr val="000000"/>
              </a:buClr>
              <a:buSzPts val="1100"/>
              <a:buFont typeface="Arial"/>
              <a:buNone/>
            </a:pPr>
            <a:r>
              <a:rPr lang="en" sz="800">
                <a:solidFill>
                  <a:srgbClr val="FFFFFF"/>
                </a:solidFill>
              </a:rPr>
              <a:t>PA1</a:t>
            </a:r>
            <a:endParaRPr/>
          </a:p>
        </p:txBody>
      </p:sp>
      <p:sp>
        <p:nvSpPr>
          <p:cNvPr id="260" name="Google Shape;260;p29"/>
          <p:cNvSpPr/>
          <p:nvPr/>
        </p:nvSpPr>
        <p:spPr>
          <a:xfrm>
            <a:off x="5268200" y="2729871"/>
            <a:ext cx="312600" cy="138300"/>
          </a:xfrm>
          <a:prstGeom prst="roundRect">
            <a:avLst>
              <a:gd fmla="val 16667" name="adj"/>
            </a:avLst>
          </a:prstGeom>
          <a:solidFill>
            <a:srgbClr val="6AA84F"/>
          </a:solidFill>
          <a:ln cap="flat" cmpd="sng" w="9525">
            <a:solidFill>
              <a:srgbClr val="000000"/>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Clr>
                <a:srgbClr val="000000"/>
              </a:buClr>
              <a:buSzPts val="1100"/>
              <a:buFont typeface="Arial"/>
              <a:buNone/>
            </a:pPr>
            <a:r>
              <a:rPr lang="en" sz="800">
                <a:solidFill>
                  <a:srgbClr val="FFFFFF"/>
                </a:solidFill>
              </a:rPr>
              <a:t>PA4</a:t>
            </a:r>
            <a:endParaRPr/>
          </a:p>
        </p:txBody>
      </p:sp>
      <p:sp>
        <p:nvSpPr>
          <p:cNvPr id="261" name="Google Shape;261;p29"/>
          <p:cNvSpPr/>
          <p:nvPr/>
        </p:nvSpPr>
        <p:spPr>
          <a:xfrm>
            <a:off x="5289200" y="5459439"/>
            <a:ext cx="312600" cy="138300"/>
          </a:xfrm>
          <a:prstGeom prst="roundRect">
            <a:avLst>
              <a:gd fmla="val 16667" name="adj"/>
            </a:avLst>
          </a:prstGeom>
          <a:solidFill>
            <a:srgbClr val="6AA84F"/>
          </a:solidFill>
          <a:ln cap="flat" cmpd="sng" w="9525">
            <a:solidFill>
              <a:srgbClr val="000000"/>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Clr>
                <a:srgbClr val="000000"/>
              </a:buClr>
              <a:buSzPts val="1100"/>
              <a:buFont typeface="Arial"/>
              <a:buNone/>
            </a:pPr>
            <a:r>
              <a:rPr lang="en" sz="800">
                <a:solidFill>
                  <a:srgbClr val="FFFFFF"/>
                </a:solidFill>
              </a:rPr>
              <a:t>PB1</a:t>
            </a:r>
            <a:endParaRPr/>
          </a:p>
        </p:txBody>
      </p:sp>
      <p:sp>
        <p:nvSpPr>
          <p:cNvPr id="262" name="Google Shape;262;p29"/>
          <p:cNvSpPr/>
          <p:nvPr/>
        </p:nvSpPr>
        <p:spPr>
          <a:xfrm>
            <a:off x="5268200" y="4066857"/>
            <a:ext cx="312600" cy="138300"/>
          </a:xfrm>
          <a:prstGeom prst="roundRect">
            <a:avLst>
              <a:gd fmla="val 16667" name="adj"/>
            </a:avLst>
          </a:prstGeom>
          <a:solidFill>
            <a:srgbClr val="6AA84F"/>
          </a:solidFill>
          <a:ln cap="flat" cmpd="sng" w="9525">
            <a:solidFill>
              <a:srgbClr val="000000"/>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Clr>
                <a:srgbClr val="000000"/>
              </a:buClr>
              <a:buSzPts val="1100"/>
              <a:buFont typeface="Arial"/>
              <a:buNone/>
            </a:pPr>
            <a:r>
              <a:rPr lang="en" sz="800">
                <a:solidFill>
                  <a:srgbClr val="FFFFFF"/>
                </a:solidFill>
              </a:rPr>
              <a:t>PA11</a:t>
            </a:r>
            <a:endParaRPr/>
          </a:p>
        </p:txBody>
      </p:sp>
      <p:sp>
        <p:nvSpPr>
          <p:cNvPr id="263" name="Google Shape;263;p29"/>
          <p:cNvSpPr/>
          <p:nvPr/>
        </p:nvSpPr>
        <p:spPr>
          <a:xfrm>
            <a:off x="5268200" y="4267525"/>
            <a:ext cx="312600" cy="138300"/>
          </a:xfrm>
          <a:prstGeom prst="roundRect">
            <a:avLst>
              <a:gd fmla="val 16667" name="adj"/>
            </a:avLst>
          </a:prstGeom>
          <a:solidFill>
            <a:srgbClr val="6AA84F"/>
          </a:solidFill>
          <a:ln cap="flat" cmpd="sng" w="9525">
            <a:solidFill>
              <a:srgbClr val="000000"/>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Clr>
                <a:srgbClr val="000000"/>
              </a:buClr>
              <a:buSzPts val="1100"/>
              <a:buFont typeface="Arial"/>
              <a:buNone/>
            </a:pPr>
            <a:r>
              <a:rPr lang="en" sz="800">
                <a:solidFill>
                  <a:srgbClr val="FFFFFF"/>
                </a:solidFill>
              </a:rPr>
              <a:t>PA12</a:t>
            </a:r>
            <a:endParaRPr/>
          </a:p>
        </p:txBody>
      </p:sp>
      <p:sp>
        <p:nvSpPr>
          <p:cNvPr id="264" name="Google Shape;264;p29"/>
          <p:cNvSpPr/>
          <p:nvPr/>
        </p:nvSpPr>
        <p:spPr>
          <a:xfrm>
            <a:off x="1509850" y="5459452"/>
            <a:ext cx="824100" cy="563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9"/>
          <p:cNvSpPr txBox="1"/>
          <p:nvPr/>
        </p:nvSpPr>
        <p:spPr>
          <a:xfrm>
            <a:off x="255925" y="6209350"/>
            <a:ext cx="4117800" cy="4155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n" sz="1500">
                <a:solidFill>
                  <a:srgbClr val="FF0000"/>
                </a:solidFill>
                <a:latin typeface="Courier New"/>
                <a:ea typeface="Courier New"/>
                <a:cs typeface="Courier New"/>
                <a:sym typeface="Courier New"/>
              </a:rPr>
              <a:t>ADC1-&gt;CHSELR</a:t>
            </a:r>
            <a:r>
              <a:rPr b="1" lang="en" sz="1500">
                <a:solidFill>
                  <a:schemeClr val="dk1"/>
                </a:solidFill>
                <a:latin typeface="Courier New"/>
                <a:ea typeface="Courier New"/>
                <a:cs typeface="Courier New"/>
                <a:sym typeface="Courier New"/>
              </a:rPr>
              <a:t> |= ADC_CHSELR_CHSEL0;</a:t>
            </a:r>
            <a:endParaRPr sz="1800">
              <a:solidFill>
                <a:schemeClr val="dk2"/>
              </a:solidFill>
            </a:endParaRPr>
          </a:p>
        </p:txBody>
      </p:sp>
      <p:sp>
        <p:nvSpPr>
          <p:cNvPr id="266" name="Google Shape;266;p29"/>
          <p:cNvSpPr/>
          <p:nvPr/>
        </p:nvSpPr>
        <p:spPr>
          <a:xfrm>
            <a:off x="8517200" y="785350"/>
            <a:ext cx="409500" cy="66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0"/>
          <p:cNvSpPr txBox="1"/>
          <p:nvPr>
            <p:ph type="title"/>
          </p:nvPr>
        </p:nvSpPr>
        <p:spPr>
          <a:xfrm>
            <a:off x="311700" y="2222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ADC interrupt and status register (ADC_ISR)</a:t>
            </a:r>
            <a:endParaRPr/>
          </a:p>
        </p:txBody>
      </p:sp>
      <p:pic>
        <p:nvPicPr>
          <p:cNvPr id="272" name="Google Shape;272;p30"/>
          <p:cNvPicPr preferRelativeResize="0"/>
          <p:nvPr/>
        </p:nvPicPr>
        <p:blipFill>
          <a:blip r:embed="rId3">
            <a:alphaModFix/>
          </a:blip>
          <a:stretch>
            <a:fillRect/>
          </a:stretch>
        </p:blipFill>
        <p:spPr>
          <a:xfrm>
            <a:off x="247025" y="1010102"/>
            <a:ext cx="8649951" cy="1850675"/>
          </a:xfrm>
          <a:prstGeom prst="rect">
            <a:avLst/>
          </a:prstGeom>
          <a:noFill/>
          <a:ln>
            <a:noFill/>
          </a:ln>
        </p:spPr>
      </p:pic>
      <p:sp>
        <p:nvSpPr>
          <p:cNvPr id="273" name="Google Shape;273;p30"/>
          <p:cNvSpPr/>
          <p:nvPr/>
        </p:nvSpPr>
        <p:spPr>
          <a:xfrm>
            <a:off x="8275525" y="1921702"/>
            <a:ext cx="556800" cy="825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74" name="Google Shape;274;p30"/>
          <p:cNvPicPr preferRelativeResize="0"/>
          <p:nvPr/>
        </p:nvPicPr>
        <p:blipFill>
          <a:blip r:embed="rId4">
            <a:alphaModFix/>
          </a:blip>
          <a:stretch>
            <a:fillRect/>
          </a:stretch>
        </p:blipFill>
        <p:spPr>
          <a:xfrm>
            <a:off x="151800" y="3366100"/>
            <a:ext cx="6610934" cy="3266375"/>
          </a:xfrm>
          <a:prstGeom prst="rect">
            <a:avLst/>
          </a:prstGeom>
          <a:noFill/>
          <a:ln>
            <a:noFill/>
          </a:ln>
        </p:spPr>
      </p:pic>
      <p:sp>
        <p:nvSpPr>
          <p:cNvPr id="275" name="Google Shape;275;p30"/>
          <p:cNvSpPr txBox="1"/>
          <p:nvPr/>
        </p:nvSpPr>
        <p:spPr>
          <a:xfrm>
            <a:off x="5476050" y="3013013"/>
            <a:ext cx="3163500" cy="4155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n" sz="1500">
                <a:solidFill>
                  <a:srgbClr val="FB0007"/>
                </a:solidFill>
                <a:latin typeface="Courier New"/>
                <a:ea typeface="Courier New"/>
                <a:cs typeface="Courier New"/>
                <a:sym typeface="Courier New"/>
              </a:rPr>
              <a:t>ADC1-&gt;ISR</a:t>
            </a:r>
            <a:r>
              <a:rPr b="1" lang="en" sz="1500">
                <a:solidFill>
                  <a:schemeClr val="dk1"/>
                </a:solidFill>
                <a:latin typeface="Courier New"/>
                <a:ea typeface="Courier New"/>
                <a:cs typeface="Courier New"/>
                <a:sym typeface="Courier New"/>
              </a:rPr>
              <a:t> = ADC_ISR_ADRDY;</a:t>
            </a:r>
            <a:endParaRPr sz="1800">
              <a:solidFill>
                <a:schemeClr val="dk2"/>
              </a:solidFill>
            </a:endParaRPr>
          </a:p>
        </p:txBody>
      </p:sp>
      <p:sp>
        <p:nvSpPr>
          <p:cNvPr id="276" name="Google Shape;276;p30"/>
          <p:cNvSpPr/>
          <p:nvPr/>
        </p:nvSpPr>
        <p:spPr>
          <a:xfrm>
            <a:off x="496375" y="3675850"/>
            <a:ext cx="5084400" cy="2550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7" name="Google Shape;277;p30"/>
          <p:cNvSpPr/>
          <p:nvPr/>
        </p:nvSpPr>
        <p:spPr>
          <a:xfrm>
            <a:off x="496375" y="3930850"/>
            <a:ext cx="2964900" cy="2550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8" name="Google Shape;278;p30"/>
          <p:cNvSpPr txBox="1"/>
          <p:nvPr/>
        </p:nvSpPr>
        <p:spPr>
          <a:xfrm>
            <a:off x="6989450" y="3930850"/>
            <a:ext cx="1907400" cy="738900"/>
          </a:xfrm>
          <a:prstGeom prst="rect">
            <a:avLst/>
          </a:prstGeom>
          <a:noFill/>
          <a:ln cap="flat" cmpd="sng" w="19050">
            <a:solidFill>
              <a:srgbClr val="274E13"/>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274E13"/>
                </a:solidFill>
              </a:rPr>
              <a:t>Who finds this a bit strange?</a:t>
            </a:r>
            <a:endParaRPr sz="1800">
              <a:solidFill>
                <a:srgbClr val="274E13"/>
              </a:solidFill>
            </a:endParaRPr>
          </a:p>
        </p:txBody>
      </p:sp>
      <p:cxnSp>
        <p:nvCxnSpPr>
          <p:cNvPr id="279" name="Google Shape;279;p30"/>
          <p:cNvCxnSpPr>
            <a:stCxn id="278" idx="0"/>
            <a:endCxn id="276" idx="3"/>
          </p:cNvCxnSpPr>
          <p:nvPr/>
        </p:nvCxnSpPr>
        <p:spPr>
          <a:xfrm rot="10800000">
            <a:off x="5580650" y="3803350"/>
            <a:ext cx="2362500" cy="127500"/>
          </a:xfrm>
          <a:prstGeom prst="straightConnector1">
            <a:avLst/>
          </a:prstGeom>
          <a:noFill/>
          <a:ln cap="flat" cmpd="sng" w="19050">
            <a:solidFill>
              <a:srgbClr val="274E13"/>
            </a:solidFill>
            <a:prstDash val="solid"/>
            <a:round/>
            <a:headEnd len="med" w="med" type="none"/>
            <a:tailEnd len="med" w="med" type="stealth"/>
          </a:ln>
        </p:spPr>
      </p:cxnSp>
      <p:cxnSp>
        <p:nvCxnSpPr>
          <p:cNvPr id="280" name="Google Shape;280;p30"/>
          <p:cNvCxnSpPr>
            <a:stCxn id="278" idx="0"/>
            <a:endCxn id="275" idx="2"/>
          </p:cNvCxnSpPr>
          <p:nvPr/>
        </p:nvCxnSpPr>
        <p:spPr>
          <a:xfrm rot="10800000">
            <a:off x="7057850" y="3428650"/>
            <a:ext cx="885300" cy="502200"/>
          </a:xfrm>
          <a:prstGeom prst="straightConnector1">
            <a:avLst/>
          </a:prstGeom>
          <a:noFill/>
          <a:ln cap="flat" cmpd="sng" w="19050">
            <a:solidFill>
              <a:srgbClr val="274E13"/>
            </a:solidFill>
            <a:prstDash val="solid"/>
            <a:round/>
            <a:headEnd len="med" w="med" type="none"/>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1"/>
          <p:cNvSpPr txBox="1"/>
          <p:nvPr>
            <p:ph type="title"/>
          </p:nvPr>
        </p:nvSpPr>
        <p:spPr>
          <a:xfrm>
            <a:off x="311700" y="2615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ADC control register (ADC_CR)</a:t>
            </a:r>
            <a:endParaRPr/>
          </a:p>
        </p:txBody>
      </p:sp>
      <p:pic>
        <p:nvPicPr>
          <p:cNvPr id="286" name="Google Shape;286;p31"/>
          <p:cNvPicPr preferRelativeResize="0"/>
          <p:nvPr/>
        </p:nvPicPr>
        <p:blipFill>
          <a:blip r:embed="rId3">
            <a:alphaModFix/>
          </a:blip>
          <a:stretch>
            <a:fillRect/>
          </a:stretch>
        </p:blipFill>
        <p:spPr>
          <a:xfrm>
            <a:off x="439975" y="1025042"/>
            <a:ext cx="8153400" cy="1838325"/>
          </a:xfrm>
          <a:prstGeom prst="rect">
            <a:avLst/>
          </a:prstGeom>
          <a:noFill/>
          <a:ln>
            <a:noFill/>
          </a:ln>
        </p:spPr>
      </p:pic>
      <p:sp>
        <p:nvSpPr>
          <p:cNvPr id="287" name="Google Shape;287;p31"/>
          <p:cNvSpPr/>
          <p:nvPr/>
        </p:nvSpPr>
        <p:spPr>
          <a:xfrm>
            <a:off x="8019450" y="1924675"/>
            <a:ext cx="464400" cy="818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88" name="Google Shape;288;p31"/>
          <p:cNvPicPr preferRelativeResize="0"/>
          <p:nvPr/>
        </p:nvPicPr>
        <p:blipFill>
          <a:blip r:embed="rId4">
            <a:alphaModFix/>
          </a:blip>
          <a:stretch>
            <a:fillRect/>
          </a:stretch>
        </p:blipFill>
        <p:spPr>
          <a:xfrm>
            <a:off x="611425" y="2927292"/>
            <a:ext cx="7981950" cy="1876425"/>
          </a:xfrm>
          <a:prstGeom prst="rect">
            <a:avLst/>
          </a:prstGeom>
          <a:noFill/>
          <a:ln>
            <a:noFill/>
          </a:ln>
        </p:spPr>
      </p:pic>
      <p:sp>
        <p:nvSpPr>
          <p:cNvPr id="289" name="Google Shape;289;p31"/>
          <p:cNvSpPr txBox="1"/>
          <p:nvPr/>
        </p:nvSpPr>
        <p:spPr>
          <a:xfrm>
            <a:off x="2798525" y="5121375"/>
            <a:ext cx="3056100" cy="4155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n" sz="1500">
                <a:solidFill>
                  <a:srgbClr val="FF0000"/>
                </a:solidFill>
                <a:latin typeface="Courier New"/>
                <a:ea typeface="Courier New"/>
                <a:cs typeface="Courier New"/>
                <a:sym typeface="Courier New"/>
              </a:rPr>
              <a:t>ADC1-&gt;CR</a:t>
            </a:r>
            <a:r>
              <a:rPr b="1" lang="en" sz="1500">
                <a:solidFill>
                  <a:schemeClr val="dk1"/>
                </a:solidFill>
                <a:latin typeface="Courier New"/>
                <a:ea typeface="Courier New"/>
                <a:cs typeface="Courier New"/>
                <a:sym typeface="Courier New"/>
              </a:rPr>
              <a:t> |= ADC_CR_ADEN;</a:t>
            </a:r>
            <a:endParaRPr sz="1800">
              <a:solidFill>
                <a:schemeClr val="dk2"/>
              </a:solidFill>
            </a:endParaRPr>
          </a:p>
        </p:txBody>
      </p:sp>
      <p:sp>
        <p:nvSpPr>
          <p:cNvPr id="290" name="Google Shape;290;p31"/>
          <p:cNvSpPr/>
          <p:nvPr/>
        </p:nvSpPr>
        <p:spPr>
          <a:xfrm>
            <a:off x="1484300" y="4054325"/>
            <a:ext cx="2020200" cy="2610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2"/>
          <p:cNvSpPr txBox="1"/>
          <p:nvPr>
            <p:ph type="title"/>
          </p:nvPr>
        </p:nvSpPr>
        <p:spPr>
          <a:xfrm>
            <a:off x="311700" y="2222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ADC interrupt and status register (ADC_ISR)</a:t>
            </a:r>
            <a:endParaRPr/>
          </a:p>
        </p:txBody>
      </p:sp>
      <p:pic>
        <p:nvPicPr>
          <p:cNvPr id="296" name="Google Shape;296;p32"/>
          <p:cNvPicPr preferRelativeResize="0"/>
          <p:nvPr/>
        </p:nvPicPr>
        <p:blipFill>
          <a:blip r:embed="rId3">
            <a:alphaModFix/>
          </a:blip>
          <a:stretch>
            <a:fillRect/>
          </a:stretch>
        </p:blipFill>
        <p:spPr>
          <a:xfrm>
            <a:off x="247025" y="1010102"/>
            <a:ext cx="8649951" cy="1850675"/>
          </a:xfrm>
          <a:prstGeom prst="rect">
            <a:avLst/>
          </a:prstGeom>
          <a:noFill/>
          <a:ln>
            <a:noFill/>
          </a:ln>
        </p:spPr>
      </p:pic>
      <p:sp>
        <p:nvSpPr>
          <p:cNvPr id="297" name="Google Shape;297;p32"/>
          <p:cNvSpPr/>
          <p:nvPr/>
        </p:nvSpPr>
        <p:spPr>
          <a:xfrm>
            <a:off x="8275525" y="1921702"/>
            <a:ext cx="556800" cy="825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98" name="Google Shape;298;p32"/>
          <p:cNvPicPr preferRelativeResize="0"/>
          <p:nvPr/>
        </p:nvPicPr>
        <p:blipFill>
          <a:blip r:embed="rId4">
            <a:alphaModFix/>
          </a:blip>
          <a:stretch>
            <a:fillRect/>
          </a:stretch>
        </p:blipFill>
        <p:spPr>
          <a:xfrm>
            <a:off x="151800" y="3366100"/>
            <a:ext cx="6610934" cy="3266375"/>
          </a:xfrm>
          <a:prstGeom prst="rect">
            <a:avLst/>
          </a:prstGeom>
          <a:noFill/>
          <a:ln>
            <a:noFill/>
          </a:ln>
        </p:spPr>
      </p:pic>
      <p:sp>
        <p:nvSpPr>
          <p:cNvPr id="299" name="Google Shape;299;p32"/>
          <p:cNvSpPr txBox="1"/>
          <p:nvPr/>
        </p:nvSpPr>
        <p:spPr>
          <a:xfrm>
            <a:off x="3477125" y="2935000"/>
            <a:ext cx="5557500" cy="4311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n" sz="1600">
                <a:solidFill>
                  <a:schemeClr val="dk1"/>
                </a:solidFill>
                <a:latin typeface="Courier New"/>
                <a:ea typeface="Courier New"/>
                <a:cs typeface="Courier New"/>
                <a:sym typeface="Courier New"/>
              </a:rPr>
              <a:t>while( (</a:t>
            </a:r>
            <a:r>
              <a:rPr b="1" lang="en" sz="1600">
                <a:solidFill>
                  <a:srgbClr val="FF0000"/>
                </a:solidFill>
                <a:latin typeface="Courier New"/>
                <a:ea typeface="Courier New"/>
                <a:cs typeface="Courier New"/>
                <a:sym typeface="Courier New"/>
              </a:rPr>
              <a:t>ADC1-&gt;ISR</a:t>
            </a:r>
            <a:r>
              <a:rPr b="1" lang="en" sz="1600">
                <a:solidFill>
                  <a:schemeClr val="dk1"/>
                </a:solidFill>
                <a:latin typeface="Courier New"/>
                <a:ea typeface="Courier New"/>
                <a:cs typeface="Courier New"/>
                <a:sym typeface="Courier New"/>
              </a:rPr>
              <a:t> &amp; ADC_ISR_ADRDY ) == 0){}</a:t>
            </a:r>
            <a:endParaRPr sz="1800">
              <a:solidFill>
                <a:schemeClr val="dk2"/>
              </a:solidFill>
            </a:endParaRPr>
          </a:p>
        </p:txBody>
      </p:sp>
      <p:sp>
        <p:nvSpPr>
          <p:cNvPr id="300" name="Google Shape;300;p32"/>
          <p:cNvSpPr/>
          <p:nvPr/>
        </p:nvSpPr>
        <p:spPr>
          <a:xfrm>
            <a:off x="494775" y="4136800"/>
            <a:ext cx="6019800" cy="6048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p32"/>
          <p:cNvSpPr txBox="1"/>
          <p:nvPr/>
        </p:nvSpPr>
        <p:spPr>
          <a:xfrm>
            <a:off x="7328225" y="3792700"/>
            <a:ext cx="1706400" cy="12930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We'll do this every time we start a new sample.</a:t>
            </a:r>
            <a:endParaRPr sz="1800">
              <a:solidFill>
                <a:srgbClr val="0000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Quick aside…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Wait: WHAT?</a:t>
            </a:r>
            <a:endParaRPr/>
          </a:p>
        </p:txBody>
      </p:sp>
      <p:sp>
        <p:nvSpPr>
          <p:cNvPr id="312" name="Google Shape;312;p34"/>
          <p:cNvSpPr txBox="1"/>
          <p:nvPr>
            <p:ph idx="1" type="body"/>
          </p:nvPr>
        </p:nvSpPr>
        <p:spPr>
          <a:xfrm>
            <a:off x="311700" y="1536625"/>
            <a:ext cx="8520600" cy="471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do we 'normally' clear a bit in a register? Remember Blinky?</a:t>
            </a:r>
            <a:endParaRPr/>
          </a:p>
          <a:p>
            <a:pPr indent="0" lvl="0" marL="0" rtl="0" algn="l">
              <a:spcBef>
                <a:spcPts val="0"/>
              </a:spcBef>
              <a:spcAft>
                <a:spcPts val="0"/>
              </a:spcAft>
              <a:buNone/>
            </a:pPr>
            <a:r>
              <a:t/>
            </a:r>
            <a:endParaRPr/>
          </a:p>
          <a:p>
            <a:pPr indent="457200" lvl="0" marL="0" rtl="0" algn="l">
              <a:spcBef>
                <a:spcPts val="0"/>
              </a:spcBef>
              <a:spcAft>
                <a:spcPts val="0"/>
              </a:spcAft>
              <a:buNone/>
            </a:pPr>
            <a:r>
              <a:rPr b="1" lang="en" sz="1400">
                <a:latin typeface="Courier New"/>
                <a:ea typeface="Courier New"/>
                <a:cs typeface="Courier New"/>
                <a:sym typeface="Courier New"/>
              </a:rPr>
              <a:t>#define LED_PIN (1U&lt;&lt;5)	// 0b 0000 … 0001 0000</a:t>
            </a:r>
            <a:endParaRPr b="1" sz="1400">
              <a:latin typeface="Courier New"/>
              <a:ea typeface="Courier New"/>
              <a:cs typeface="Courier New"/>
              <a:sym typeface="Courier New"/>
            </a:endParaRPr>
          </a:p>
          <a:p>
            <a:pPr indent="457200" lvl="0" marL="0" rtl="0" algn="l">
              <a:spcBef>
                <a:spcPts val="0"/>
              </a:spcBef>
              <a:spcAft>
                <a:spcPts val="0"/>
              </a:spcAft>
              <a:buNone/>
            </a:pPr>
            <a:r>
              <a:rPr b="1" lang="en" sz="1400">
                <a:latin typeface="Courier New"/>
                <a:ea typeface="Courier New"/>
                <a:cs typeface="Courier New"/>
                <a:sym typeface="Courier New"/>
              </a:rPr>
              <a:t>(...)</a:t>
            </a:r>
            <a:endParaRPr b="1" sz="1400">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b="1" lang="en" sz="1400">
                <a:latin typeface="Courier New"/>
                <a:ea typeface="Courier New"/>
                <a:cs typeface="Courier New"/>
                <a:sym typeface="Courier New"/>
              </a:rPr>
              <a:t>GPIOA-&gt;ODR |= LED_PIN;	// set bit 5 to turn LED on</a:t>
            </a:r>
            <a:endParaRPr b="1" sz="1400">
              <a:latin typeface="Courier New"/>
              <a:ea typeface="Courier New"/>
              <a:cs typeface="Courier New"/>
              <a:sym typeface="Courier New"/>
            </a:endParaRPr>
          </a:p>
          <a:p>
            <a:pPr indent="0" lvl="0" marL="0" rtl="0" algn="l">
              <a:spcBef>
                <a:spcPts val="0"/>
              </a:spcBef>
              <a:spcAft>
                <a:spcPts val="0"/>
              </a:spcAft>
              <a:buNone/>
            </a:pPr>
            <a:r>
              <a:rPr b="1" lang="en" sz="1400">
                <a:latin typeface="Courier New"/>
                <a:ea typeface="Courier New"/>
                <a:cs typeface="Courier New"/>
                <a:sym typeface="Courier New"/>
              </a:rPr>
              <a:t>	(...)</a:t>
            </a:r>
            <a:endParaRPr b="1" sz="1400">
              <a:latin typeface="Courier New"/>
              <a:ea typeface="Courier New"/>
              <a:cs typeface="Courier New"/>
              <a:sym typeface="Courier New"/>
            </a:endParaRPr>
          </a:p>
          <a:p>
            <a:pPr indent="457200" lvl="0" marL="0" rtl="0" algn="l">
              <a:spcBef>
                <a:spcPts val="0"/>
              </a:spcBef>
              <a:spcAft>
                <a:spcPts val="0"/>
              </a:spcAft>
              <a:buNone/>
            </a:pPr>
            <a:r>
              <a:rPr b="1" lang="en" sz="1400">
                <a:latin typeface="Courier New"/>
                <a:ea typeface="Courier New"/>
                <a:cs typeface="Courier New"/>
                <a:sym typeface="Courier New"/>
              </a:rPr>
              <a:t>GPIOA-&gt;ODR </a:t>
            </a:r>
            <a:r>
              <a:rPr b="1" lang="en" sz="1400">
                <a:solidFill>
                  <a:srgbClr val="0000FF"/>
                </a:solidFill>
                <a:latin typeface="Courier New"/>
                <a:ea typeface="Courier New"/>
                <a:cs typeface="Courier New"/>
                <a:sym typeface="Courier New"/>
              </a:rPr>
              <a:t>&amp;= ~LED_PIN</a:t>
            </a:r>
            <a:r>
              <a:rPr b="1" lang="en" sz="1400">
                <a:latin typeface="Courier New"/>
                <a:ea typeface="Courier New"/>
                <a:cs typeface="Courier New"/>
                <a:sym typeface="Courier New"/>
              </a:rPr>
              <a:t>;	// </a:t>
            </a:r>
            <a:r>
              <a:rPr b="1" lang="en" sz="1400">
                <a:solidFill>
                  <a:srgbClr val="0000FF"/>
                </a:solidFill>
                <a:latin typeface="Courier New"/>
                <a:ea typeface="Courier New"/>
                <a:cs typeface="Courier New"/>
                <a:sym typeface="Courier New"/>
              </a:rPr>
              <a:t>clear bit 5</a:t>
            </a:r>
            <a:r>
              <a:rPr b="1" lang="en" sz="1400">
                <a:latin typeface="Courier New"/>
                <a:ea typeface="Courier New"/>
                <a:cs typeface="Courier New"/>
                <a:sym typeface="Courier New"/>
              </a:rPr>
              <a:t> to turn LED off</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So how does </a:t>
            </a:r>
            <a:endParaRPr/>
          </a:p>
          <a:p>
            <a:pPr indent="457200" lvl="0" marL="0" rtl="0" algn="l">
              <a:spcBef>
                <a:spcPts val="0"/>
              </a:spcBef>
              <a:spcAft>
                <a:spcPts val="0"/>
              </a:spcAft>
              <a:buNone/>
            </a:pPr>
            <a:r>
              <a:t/>
            </a:r>
            <a:endParaRPr sz="1400">
              <a:solidFill>
                <a:schemeClr val="dk1"/>
              </a:solidFill>
              <a:highlight>
                <a:schemeClr val="lt1"/>
              </a:highlight>
              <a:latin typeface="Courier New"/>
              <a:ea typeface="Courier New"/>
              <a:cs typeface="Courier New"/>
              <a:sym typeface="Courier New"/>
            </a:endParaRPr>
          </a:p>
          <a:p>
            <a:pPr indent="457200" lvl="0" marL="0" rtl="0" algn="l">
              <a:spcBef>
                <a:spcPts val="0"/>
              </a:spcBef>
              <a:spcAft>
                <a:spcPts val="0"/>
              </a:spcAft>
              <a:buNone/>
            </a:pPr>
            <a:r>
              <a:rPr b="1" lang="en" sz="1400">
                <a:solidFill>
                  <a:schemeClr val="dk1"/>
                </a:solidFill>
                <a:highlight>
                  <a:schemeClr val="lt1"/>
                </a:highlight>
                <a:latin typeface="Courier New"/>
                <a:ea typeface="Courier New"/>
                <a:cs typeface="Courier New"/>
                <a:sym typeface="Courier New"/>
              </a:rPr>
              <a:t>ADC1</a:t>
            </a:r>
            <a:r>
              <a:rPr b="1" lang="en" sz="1400">
                <a:solidFill>
                  <a:schemeClr val="dk1"/>
                </a:solidFill>
                <a:highlight>
                  <a:schemeClr val="lt1"/>
                </a:highlight>
                <a:latin typeface="Courier New"/>
                <a:ea typeface="Courier New"/>
                <a:cs typeface="Courier New"/>
                <a:sym typeface="Courier New"/>
              </a:rPr>
              <a:t>-&gt;ISR </a:t>
            </a:r>
            <a:r>
              <a:rPr b="1" lang="en" sz="1400">
                <a:solidFill>
                  <a:srgbClr val="0000FF"/>
                </a:solidFill>
                <a:highlight>
                  <a:schemeClr val="lt1"/>
                </a:highlight>
                <a:latin typeface="Courier New"/>
                <a:ea typeface="Courier New"/>
                <a:cs typeface="Courier New"/>
                <a:sym typeface="Courier New"/>
              </a:rPr>
              <a:t>= ADC_ISR_ADRDY</a:t>
            </a:r>
            <a:r>
              <a:rPr b="1" lang="en" sz="1400">
                <a:solidFill>
                  <a:schemeClr val="dk1"/>
                </a:solidFill>
                <a:highlight>
                  <a:schemeClr val="lt1"/>
                </a:highlight>
                <a:latin typeface="Courier New"/>
                <a:ea typeface="Courier New"/>
                <a:cs typeface="Courier New"/>
                <a:sym typeface="Courier New"/>
              </a:rPr>
              <a:t>;</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clear the ADRDY bit?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Answer: The hardware behind the ADC1-&gt;CR register differs from that behind the GPIO registers.</a:t>
            </a:r>
            <a:endParaRPr/>
          </a:p>
        </p:txBody>
      </p:sp>
      <p:pic>
        <p:nvPicPr>
          <p:cNvPr id="313" name="Google Shape;313;p34"/>
          <p:cNvPicPr preferRelativeResize="0"/>
          <p:nvPr/>
        </p:nvPicPr>
        <p:blipFill rotWithShape="1">
          <a:blip r:embed="rId3">
            <a:alphaModFix/>
          </a:blip>
          <a:srcRect b="82599" l="0" r="17979" t="0"/>
          <a:stretch/>
        </p:blipFill>
        <p:spPr>
          <a:xfrm>
            <a:off x="3539833" y="169207"/>
            <a:ext cx="5422150" cy="568375"/>
          </a:xfrm>
          <a:prstGeom prst="rect">
            <a:avLst/>
          </a:prstGeom>
          <a:noFill/>
          <a:ln>
            <a:noFill/>
          </a:ln>
        </p:spPr>
      </p:pic>
      <p:sp>
        <p:nvSpPr>
          <p:cNvPr id="314" name="Google Shape;314;p34"/>
          <p:cNvSpPr/>
          <p:nvPr/>
        </p:nvSpPr>
        <p:spPr>
          <a:xfrm>
            <a:off x="3949283" y="519007"/>
            <a:ext cx="5012700" cy="310500"/>
          </a:xfrm>
          <a:prstGeom prst="rect">
            <a:avLst/>
          </a:prstGeom>
          <a:no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5"/>
          <p:cNvSpPr txBox="1"/>
          <p:nvPr>
            <p:ph type="title"/>
          </p:nvPr>
        </p:nvSpPr>
        <p:spPr>
          <a:xfrm>
            <a:off x="311700" y="2068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Atomic Register Access</a:t>
            </a:r>
            <a:endParaRPr/>
          </a:p>
        </p:txBody>
      </p:sp>
      <p:sp>
        <p:nvSpPr>
          <p:cNvPr id="320" name="Google Shape;320;p35"/>
          <p:cNvSpPr txBox="1"/>
          <p:nvPr>
            <p:ph idx="1" type="body"/>
          </p:nvPr>
        </p:nvSpPr>
        <p:spPr>
          <a:xfrm>
            <a:off x="311700" y="862973"/>
            <a:ext cx="8520600" cy="564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Most registers on our chip have to be accessed as 32-bit words, half-words or bytes. This makes</a:t>
            </a:r>
            <a:endParaRPr/>
          </a:p>
          <a:p>
            <a:pPr indent="457200" lvl="0" marL="0" rtl="0" algn="l">
              <a:spcBef>
                <a:spcPts val="1600"/>
              </a:spcBef>
              <a:spcAft>
                <a:spcPts val="0"/>
              </a:spcAft>
              <a:buNone/>
            </a:pPr>
            <a:r>
              <a:rPr b="1" lang="en" sz="1400">
                <a:latin typeface="Courier New"/>
                <a:ea typeface="Courier New"/>
                <a:cs typeface="Courier New"/>
                <a:sym typeface="Courier New"/>
              </a:rPr>
              <a:t>GPIOA-&gt;ODR </a:t>
            </a:r>
            <a:r>
              <a:rPr b="1" lang="en" sz="1400">
                <a:solidFill>
                  <a:srgbClr val="0000FF"/>
                </a:solidFill>
                <a:latin typeface="Courier New"/>
                <a:ea typeface="Courier New"/>
                <a:cs typeface="Courier New"/>
                <a:sym typeface="Courier New"/>
              </a:rPr>
              <a:t>&amp;= ~LED_PIN</a:t>
            </a:r>
            <a:r>
              <a:rPr b="1" lang="en" sz="1400">
                <a:latin typeface="Courier New"/>
                <a:ea typeface="Courier New"/>
                <a:cs typeface="Courier New"/>
                <a:sym typeface="Courier New"/>
              </a:rPr>
              <a:t>;</a:t>
            </a:r>
            <a:endParaRPr b="1" sz="1400">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t/>
            </a:r>
            <a:endParaRPr sz="1400">
              <a:latin typeface="Courier New"/>
              <a:ea typeface="Courier New"/>
              <a:cs typeface="Courier New"/>
              <a:sym typeface="Courier New"/>
            </a:endParaRPr>
          </a:p>
          <a:p>
            <a:pPr indent="0" lvl="0" marL="0" rtl="0" algn="l">
              <a:spcBef>
                <a:spcPts val="0"/>
              </a:spcBef>
              <a:spcAft>
                <a:spcPts val="0"/>
              </a:spcAft>
              <a:buNone/>
            </a:pPr>
            <a:r>
              <a:rPr lang="en"/>
              <a:t>into a multi-step operation:</a:t>
            </a:r>
            <a:endParaRPr/>
          </a:p>
          <a:p>
            <a:pPr indent="-342900" lvl="0" marL="457200" rtl="0" algn="l">
              <a:spcBef>
                <a:spcPts val="1600"/>
              </a:spcBef>
              <a:spcAft>
                <a:spcPts val="0"/>
              </a:spcAft>
              <a:buSzPts val="1800"/>
              <a:buChar char="●"/>
            </a:pPr>
            <a:r>
              <a:rPr lang="en"/>
              <a:t>Load the entire register into memory</a:t>
            </a:r>
            <a:endParaRPr/>
          </a:p>
          <a:p>
            <a:pPr indent="-342900" lvl="0" marL="457200" rtl="0" algn="l">
              <a:spcBef>
                <a:spcPts val="0"/>
              </a:spcBef>
              <a:spcAft>
                <a:spcPts val="0"/>
              </a:spcAft>
              <a:buSzPts val="1800"/>
              <a:buChar char="●"/>
            </a:pPr>
            <a:r>
              <a:rPr lang="en"/>
              <a:t>'</a:t>
            </a:r>
            <a:r>
              <a:rPr lang="en">
                <a:solidFill>
                  <a:srgbClr val="0000FF"/>
                </a:solidFill>
              </a:rPr>
              <a:t>And</a:t>
            </a:r>
            <a:r>
              <a:rPr lang="en"/>
              <a:t>' with </a:t>
            </a:r>
            <a:r>
              <a:rPr b="1" lang="en" sz="1400">
                <a:solidFill>
                  <a:srgbClr val="0000FF"/>
                </a:solidFill>
                <a:latin typeface="Courier New"/>
                <a:ea typeface="Courier New"/>
                <a:cs typeface="Courier New"/>
                <a:sym typeface="Courier New"/>
              </a:rPr>
              <a:t>0b 1111 … 1101 1111</a:t>
            </a:r>
            <a:endParaRPr b="1" sz="1400">
              <a:solidFill>
                <a:srgbClr val="0000FF"/>
              </a:solidFill>
              <a:latin typeface="Courier New"/>
              <a:ea typeface="Courier New"/>
              <a:cs typeface="Courier New"/>
              <a:sym typeface="Courier New"/>
            </a:endParaRPr>
          </a:p>
          <a:p>
            <a:pPr indent="-342900" lvl="0" marL="457200" rtl="0" algn="l">
              <a:spcBef>
                <a:spcPts val="0"/>
              </a:spcBef>
              <a:spcAft>
                <a:spcPts val="0"/>
              </a:spcAft>
              <a:buSzPts val="1800"/>
              <a:buChar char="●"/>
            </a:pPr>
            <a:r>
              <a:rPr lang="en"/>
              <a:t>Write the entire (modified) register value back to the register. Note that </a:t>
            </a:r>
            <a:r>
              <a:rPr b="1" lang="en"/>
              <a:t>ALL 32 bits are REWRITTEN</a:t>
            </a:r>
            <a:r>
              <a:rPr lang="en"/>
              <a:t>.</a:t>
            </a:r>
            <a:endParaRPr/>
          </a:p>
          <a:p>
            <a:pPr indent="0" lvl="0" marL="0" rtl="0" algn="l">
              <a:spcBef>
                <a:spcPts val="1600"/>
              </a:spcBef>
              <a:spcAft>
                <a:spcPts val="0"/>
              </a:spcAft>
              <a:buNone/>
            </a:pPr>
            <a:r>
              <a:rPr lang="en"/>
              <a:t>If an interrupt occurs halfway through that modifies (different bits) of the same register then things can get messy.</a:t>
            </a:r>
            <a:endParaRPr/>
          </a:p>
          <a:p>
            <a:pPr indent="0" lvl="0" marL="0" rtl="0" algn="l">
              <a:spcBef>
                <a:spcPts val="1600"/>
              </a:spcBef>
              <a:spcAft>
                <a:spcPts val="0"/>
              </a:spcAft>
              <a:buNone/>
            </a:pPr>
            <a:r>
              <a:rPr lang="en"/>
              <a:t>Certain registers (such as ADC1-&gt;ADRDY) have different hardware that allows modifying </a:t>
            </a:r>
            <a:r>
              <a:rPr b="1" lang="en"/>
              <a:t>one bit at a time</a:t>
            </a:r>
            <a:r>
              <a:rPr lang="en"/>
              <a:t>. This is more costly on the hardware side and thus only implemented for crucial registers, such as interrupt and status registers.</a:t>
            </a:r>
            <a:endParaRPr sz="550">
              <a:solidFill>
                <a:schemeClr val="dk1"/>
              </a:solidFill>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6"/>
          <p:cNvSpPr txBox="1"/>
          <p:nvPr>
            <p:ph type="title"/>
          </p:nvPr>
        </p:nvSpPr>
        <p:spPr>
          <a:xfrm>
            <a:off x="311700" y="2791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Atomic Register Access</a:t>
            </a:r>
            <a:endParaRPr/>
          </a:p>
        </p:txBody>
      </p:sp>
      <p:pic>
        <p:nvPicPr>
          <p:cNvPr id="326" name="Google Shape;326;p36"/>
          <p:cNvPicPr preferRelativeResize="0"/>
          <p:nvPr/>
        </p:nvPicPr>
        <p:blipFill rotWithShape="1">
          <a:blip r:embed="rId3">
            <a:alphaModFix/>
          </a:blip>
          <a:srcRect b="0" l="0" r="0" t="19923"/>
          <a:stretch/>
        </p:blipFill>
        <p:spPr>
          <a:xfrm>
            <a:off x="0" y="3729277"/>
            <a:ext cx="9144001" cy="478525"/>
          </a:xfrm>
          <a:prstGeom prst="rect">
            <a:avLst/>
          </a:prstGeom>
          <a:noFill/>
          <a:ln cap="flat" cmpd="sng" w="28575">
            <a:solidFill>
              <a:srgbClr val="990000"/>
            </a:solidFill>
            <a:prstDash val="solid"/>
            <a:round/>
            <a:headEnd len="sm" w="sm" type="none"/>
            <a:tailEnd len="sm" w="sm" type="none"/>
          </a:ln>
        </p:spPr>
      </p:pic>
      <p:sp>
        <p:nvSpPr>
          <p:cNvPr id="327" name="Google Shape;327;p36"/>
          <p:cNvSpPr txBox="1"/>
          <p:nvPr/>
        </p:nvSpPr>
        <p:spPr>
          <a:xfrm>
            <a:off x="311700" y="1042638"/>
            <a:ext cx="7509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ADC interrupt and status register (ADC_ISR)</a:t>
            </a:r>
            <a:endParaRPr b="1" sz="1800">
              <a:solidFill>
                <a:schemeClr val="dk2"/>
              </a:solidFill>
            </a:endParaRPr>
          </a:p>
        </p:txBody>
      </p:sp>
      <p:sp>
        <p:nvSpPr>
          <p:cNvPr id="328" name="Google Shape;328;p36"/>
          <p:cNvSpPr txBox="1"/>
          <p:nvPr/>
        </p:nvSpPr>
        <p:spPr>
          <a:xfrm>
            <a:off x="456275" y="4562775"/>
            <a:ext cx="7964100" cy="2062800"/>
          </a:xfrm>
          <a:prstGeom prst="rect">
            <a:avLst/>
          </a:prstGeom>
          <a:noFill/>
          <a:ln>
            <a:noFill/>
          </a:ln>
        </p:spPr>
        <p:txBody>
          <a:bodyPr anchorCtr="0" anchor="t" bIns="91425" lIns="91425" spcFirstLastPara="1" rIns="91425" wrap="square" tIns="91425">
            <a:noAutofit/>
          </a:bodyPr>
          <a:lstStyle/>
          <a:p>
            <a:pPr indent="457200" lvl="0" marL="0" rtl="0" algn="l">
              <a:lnSpc>
                <a:spcPct val="115000"/>
              </a:lnSpc>
              <a:spcBef>
                <a:spcPts val="0"/>
              </a:spcBef>
              <a:spcAft>
                <a:spcPts val="0"/>
              </a:spcAft>
              <a:buNone/>
            </a:pPr>
            <a:r>
              <a:rPr b="1" lang="en">
                <a:solidFill>
                  <a:srgbClr val="0000FF"/>
                </a:solidFill>
                <a:highlight>
                  <a:schemeClr val="lt1"/>
                </a:highlight>
                <a:latin typeface="Courier New"/>
                <a:ea typeface="Courier New"/>
                <a:cs typeface="Courier New"/>
                <a:sym typeface="Courier New"/>
              </a:rPr>
              <a:t>ADC1</a:t>
            </a:r>
            <a:r>
              <a:rPr b="1" lang="en">
                <a:solidFill>
                  <a:srgbClr val="0000FF"/>
                </a:solidFill>
                <a:highlight>
                  <a:schemeClr val="lt1"/>
                </a:highlight>
                <a:latin typeface="Courier New"/>
                <a:ea typeface="Courier New"/>
                <a:cs typeface="Courier New"/>
                <a:sym typeface="Courier New"/>
              </a:rPr>
              <a:t>-&gt;ISR = ADC_ISR_ADRDY</a:t>
            </a:r>
            <a:r>
              <a:rPr lang="en">
                <a:solidFill>
                  <a:srgbClr val="0000FF"/>
                </a:solidFill>
                <a:highlight>
                  <a:schemeClr val="lt1"/>
                </a:highlight>
                <a:latin typeface="Courier New"/>
                <a:ea typeface="Courier New"/>
                <a:cs typeface="Courier New"/>
                <a:sym typeface="Courier New"/>
              </a:rPr>
              <a:t>;</a:t>
            </a:r>
            <a:endParaRPr>
              <a:solidFill>
                <a:srgbClr val="0000FF"/>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sz="1600">
                <a:solidFill>
                  <a:schemeClr val="dk1"/>
                </a:solidFill>
                <a:highlight>
                  <a:schemeClr val="lt1"/>
                </a:highlight>
              </a:rPr>
              <a:t>appears to write 0's into all bits except bit 0 of ADC_ISR. But since writing 0 has no effect and writing 1 clears a bit, in reality this:</a:t>
            </a:r>
            <a:endParaRPr sz="1600">
              <a:solidFill>
                <a:schemeClr val="dk1"/>
              </a:solidFill>
              <a:highlight>
                <a:schemeClr val="lt1"/>
              </a:highlight>
            </a:endParaRPr>
          </a:p>
          <a:p>
            <a:pPr indent="-330200" lvl="0" marL="457200" rtl="0" algn="l">
              <a:lnSpc>
                <a:spcPct val="115000"/>
              </a:lnSpc>
              <a:spcBef>
                <a:spcPts val="0"/>
              </a:spcBef>
              <a:spcAft>
                <a:spcPts val="0"/>
              </a:spcAft>
              <a:buClr>
                <a:srgbClr val="0000FF"/>
              </a:buClr>
              <a:buSzPts val="1600"/>
              <a:buChar char="●"/>
            </a:pPr>
            <a:r>
              <a:rPr lang="en" sz="1600">
                <a:solidFill>
                  <a:srgbClr val="0000FF"/>
                </a:solidFill>
                <a:highlight>
                  <a:schemeClr val="lt1"/>
                </a:highlight>
              </a:rPr>
              <a:t>Clears bit 0 of ADC_ISR</a:t>
            </a:r>
            <a:endParaRPr sz="1600">
              <a:solidFill>
                <a:srgbClr val="0000FF"/>
              </a:solidFill>
              <a:highlight>
                <a:schemeClr val="lt1"/>
              </a:highlight>
            </a:endParaRPr>
          </a:p>
          <a:p>
            <a:pPr indent="-330200" lvl="0" marL="457200" rtl="0" algn="l">
              <a:lnSpc>
                <a:spcPct val="115000"/>
              </a:lnSpc>
              <a:spcBef>
                <a:spcPts val="0"/>
              </a:spcBef>
              <a:spcAft>
                <a:spcPts val="0"/>
              </a:spcAft>
              <a:buClr>
                <a:srgbClr val="0000FF"/>
              </a:buClr>
              <a:buSzPts val="1600"/>
              <a:buChar char="●"/>
            </a:pPr>
            <a:r>
              <a:rPr lang="en" sz="1600">
                <a:solidFill>
                  <a:srgbClr val="0000FF"/>
                </a:solidFill>
                <a:highlight>
                  <a:schemeClr val="lt1"/>
                </a:highlight>
              </a:rPr>
              <a:t>Leaves all other bits unchanged</a:t>
            </a:r>
            <a:endParaRPr sz="1600">
              <a:solidFill>
                <a:srgbClr val="0000FF"/>
              </a:solidFill>
              <a:highlight>
                <a:schemeClr val="lt1"/>
              </a:highlight>
            </a:endParaRPr>
          </a:p>
        </p:txBody>
      </p:sp>
      <p:pic>
        <p:nvPicPr>
          <p:cNvPr id="329" name="Google Shape;329;p36"/>
          <p:cNvPicPr preferRelativeResize="0"/>
          <p:nvPr/>
        </p:nvPicPr>
        <p:blipFill>
          <a:blip r:embed="rId4">
            <a:alphaModFix/>
          </a:blip>
          <a:stretch>
            <a:fillRect/>
          </a:stretch>
        </p:blipFill>
        <p:spPr>
          <a:xfrm>
            <a:off x="311700" y="1523627"/>
            <a:ext cx="8649951" cy="1850675"/>
          </a:xfrm>
          <a:prstGeom prst="rect">
            <a:avLst/>
          </a:prstGeom>
          <a:noFill/>
          <a:ln>
            <a:noFill/>
          </a:ln>
        </p:spPr>
      </p:pic>
      <p:sp>
        <p:nvSpPr>
          <p:cNvPr id="330" name="Google Shape;330;p36"/>
          <p:cNvSpPr/>
          <p:nvPr/>
        </p:nvSpPr>
        <p:spPr>
          <a:xfrm>
            <a:off x="456275" y="2975525"/>
            <a:ext cx="8437200" cy="290400"/>
          </a:xfrm>
          <a:prstGeom prst="rect">
            <a:avLst/>
          </a:prstGeom>
          <a:no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7"/>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ADC Sampling Process</a:t>
            </a:r>
            <a:endParaRPr/>
          </a:p>
        </p:txBody>
      </p:sp>
      <p:sp>
        <p:nvSpPr>
          <p:cNvPr id="336" name="Google Shape;336;p37"/>
          <p:cNvSpPr txBox="1"/>
          <p:nvPr/>
        </p:nvSpPr>
        <p:spPr>
          <a:xfrm>
            <a:off x="2801050" y="3990100"/>
            <a:ext cx="3969000" cy="4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Perform each time you want to take a sample.</a:t>
            </a:r>
            <a:endParaRPr>
              <a:solidFill>
                <a:srgbClr val="0000FF"/>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Functions </a:t>
            </a:r>
            <a:r>
              <a:rPr lang="en"/>
              <a:t>start_conversion() and adc_read() </a:t>
            </a:r>
            <a:endParaRPr/>
          </a:p>
        </p:txBody>
      </p:sp>
      <p:sp>
        <p:nvSpPr>
          <p:cNvPr id="342" name="Google Shape;342;p38"/>
          <p:cNvSpPr txBox="1"/>
          <p:nvPr/>
        </p:nvSpPr>
        <p:spPr>
          <a:xfrm>
            <a:off x="342000" y="1162050"/>
            <a:ext cx="5847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00">
              <a:latin typeface="Courier New"/>
              <a:ea typeface="Courier New"/>
              <a:cs typeface="Courier New"/>
              <a:sym typeface="Courier New"/>
            </a:endParaRPr>
          </a:p>
        </p:txBody>
      </p:sp>
      <p:sp>
        <p:nvSpPr>
          <p:cNvPr id="343" name="Google Shape;343;p38"/>
          <p:cNvSpPr txBox="1"/>
          <p:nvPr/>
        </p:nvSpPr>
        <p:spPr>
          <a:xfrm>
            <a:off x="238375" y="1587275"/>
            <a:ext cx="8802600" cy="411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n" sz="1600">
                <a:solidFill>
                  <a:schemeClr val="dk1"/>
                </a:solidFill>
                <a:latin typeface="Courier New"/>
                <a:ea typeface="Courier New"/>
                <a:cs typeface="Courier New"/>
                <a:sym typeface="Courier New"/>
              </a:rPr>
              <a:t>void start_conversion(void) {</a:t>
            </a:r>
            <a:endParaRPr b="1" sz="1600">
              <a:solidFill>
                <a:schemeClr val="dk1"/>
              </a:solidFill>
              <a:latin typeface="Courier New"/>
              <a:ea typeface="Courier New"/>
              <a:cs typeface="Courier New"/>
              <a:sym typeface="Courier New"/>
            </a:endParaRPr>
          </a:p>
          <a:p>
            <a:pPr indent="457200" lvl="0" marL="0" rtl="0" algn="l">
              <a:lnSpc>
                <a:spcPct val="115000"/>
              </a:lnSpc>
              <a:spcBef>
                <a:spcPts val="0"/>
              </a:spcBef>
              <a:spcAft>
                <a:spcPts val="0"/>
              </a:spcAft>
              <a:buNone/>
            </a:pPr>
            <a:r>
              <a:rPr lang="en" sz="1600">
                <a:solidFill>
                  <a:schemeClr val="dk1"/>
                </a:solidFill>
                <a:latin typeface="Courier New"/>
                <a:ea typeface="Courier New"/>
                <a:cs typeface="Courier New"/>
                <a:sym typeface="Courier New"/>
              </a:rPr>
              <a:t>// Wait for ADC to be ready</a:t>
            </a:r>
            <a:endParaRPr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600">
                <a:solidFill>
                  <a:schemeClr val="dk1"/>
                </a:solidFill>
                <a:latin typeface="Courier New"/>
                <a:ea typeface="Courier New"/>
                <a:cs typeface="Courier New"/>
                <a:sym typeface="Courier New"/>
              </a:rPr>
              <a:t>	while( (</a:t>
            </a:r>
            <a:r>
              <a:rPr b="1" lang="en" sz="1600">
                <a:solidFill>
                  <a:srgbClr val="FF0000"/>
                </a:solidFill>
                <a:latin typeface="Courier New"/>
                <a:ea typeface="Courier New"/>
                <a:cs typeface="Courier New"/>
                <a:sym typeface="Courier New"/>
              </a:rPr>
              <a:t>ADC1-&gt;ISR</a:t>
            </a:r>
            <a:r>
              <a:rPr b="1" lang="en" sz="1600">
                <a:solidFill>
                  <a:schemeClr val="dk1"/>
                </a:solidFill>
                <a:latin typeface="Courier New"/>
                <a:ea typeface="Courier New"/>
                <a:cs typeface="Courier New"/>
                <a:sym typeface="Courier New"/>
              </a:rPr>
              <a:t> &amp; ADC_ISR_ADRDY ) == 0){}	</a:t>
            </a:r>
            <a:endParaRPr b="1"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600">
                <a:solidFill>
                  <a:schemeClr val="dk1"/>
                </a:solidFill>
                <a:latin typeface="Courier New"/>
                <a:ea typeface="Courier New"/>
                <a:cs typeface="Courier New"/>
                <a:sym typeface="Courier New"/>
              </a:rPr>
              <a:t>	</a:t>
            </a:r>
            <a:r>
              <a:rPr b="1" lang="en" sz="1600">
                <a:solidFill>
                  <a:srgbClr val="FB0007"/>
                </a:solidFill>
                <a:latin typeface="Courier New"/>
                <a:ea typeface="Courier New"/>
                <a:cs typeface="Courier New"/>
                <a:sym typeface="Courier New"/>
              </a:rPr>
              <a:t>ADC1-&gt;CR</a:t>
            </a:r>
            <a:r>
              <a:rPr b="1" lang="en" sz="1600">
                <a:solidFill>
                  <a:schemeClr val="dk1"/>
                </a:solidFill>
                <a:latin typeface="Courier New"/>
                <a:ea typeface="Courier New"/>
                <a:cs typeface="Courier New"/>
                <a:sym typeface="Courier New"/>
              </a:rPr>
              <a:t> |= ADC_CR_ADSTART;	</a:t>
            </a:r>
            <a:r>
              <a:rPr lang="en" sz="1600">
                <a:solidFill>
                  <a:schemeClr val="dk1"/>
                </a:solidFill>
                <a:latin typeface="Courier New"/>
                <a:ea typeface="Courier New"/>
                <a:cs typeface="Courier New"/>
                <a:sym typeface="Courier New"/>
              </a:rPr>
              <a:t>// Start a single conversion</a:t>
            </a:r>
            <a:endParaRPr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600">
                <a:solidFill>
                  <a:schemeClr val="dk1"/>
                </a:solidFill>
                <a:latin typeface="Courier New"/>
                <a:ea typeface="Courier New"/>
                <a:cs typeface="Courier New"/>
                <a:sym typeface="Courier New"/>
              </a:rPr>
              <a:t>uint16_t adc_read(void) {</a:t>
            </a:r>
            <a:endParaRPr b="1"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600">
                <a:solidFill>
                  <a:schemeClr val="dk1"/>
                </a:solidFill>
                <a:latin typeface="Courier New"/>
                <a:ea typeface="Courier New"/>
                <a:cs typeface="Courier New"/>
                <a:sym typeface="Courier New"/>
              </a:rPr>
              <a:t>	</a:t>
            </a:r>
            <a:r>
              <a:rPr lang="en" sz="1600">
                <a:solidFill>
                  <a:schemeClr val="dk1"/>
                </a:solidFill>
                <a:latin typeface="Courier New"/>
                <a:ea typeface="Courier New"/>
                <a:cs typeface="Courier New"/>
                <a:sym typeface="Courier New"/>
              </a:rPr>
              <a:t>// Wait for conversion to finish</a:t>
            </a:r>
            <a:endParaRPr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600">
                <a:solidFill>
                  <a:schemeClr val="dk1"/>
                </a:solidFill>
                <a:latin typeface="Courier New"/>
                <a:ea typeface="Courier New"/>
                <a:cs typeface="Courier New"/>
                <a:sym typeface="Courier New"/>
              </a:rPr>
              <a:t>	while( (</a:t>
            </a:r>
            <a:r>
              <a:rPr b="1" lang="en" sz="1600">
                <a:solidFill>
                  <a:srgbClr val="FF0000"/>
                </a:solidFill>
                <a:latin typeface="Courier New"/>
                <a:ea typeface="Courier New"/>
                <a:cs typeface="Courier New"/>
                <a:sym typeface="Courier New"/>
              </a:rPr>
              <a:t>ADC1-&gt;ISR</a:t>
            </a:r>
            <a:r>
              <a:rPr b="1" lang="en" sz="1600">
                <a:solidFill>
                  <a:schemeClr val="dk1"/>
                </a:solidFill>
                <a:latin typeface="Courier New"/>
                <a:ea typeface="Courier New"/>
                <a:cs typeface="Courier New"/>
                <a:sym typeface="Courier New"/>
              </a:rPr>
              <a:t> &amp; ADC_ISR_EOC) == 0 ){}	</a:t>
            </a:r>
            <a:endParaRPr b="1"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600">
                <a:solidFill>
                  <a:schemeClr val="dk1"/>
                </a:solidFill>
                <a:latin typeface="Courier New"/>
                <a:ea typeface="Courier New"/>
                <a:cs typeface="Courier New"/>
                <a:sym typeface="Courier New"/>
              </a:rPr>
              <a:t>	</a:t>
            </a:r>
            <a:r>
              <a:rPr lang="en" sz="1600">
                <a:solidFill>
                  <a:schemeClr val="dk1"/>
                </a:solidFill>
                <a:latin typeface="Courier New"/>
                <a:ea typeface="Courier New"/>
                <a:cs typeface="Courier New"/>
                <a:sym typeface="Courier New"/>
              </a:rPr>
              <a:t>// Read converted value</a:t>
            </a:r>
            <a:endParaRPr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600">
                <a:solidFill>
                  <a:schemeClr val="dk1"/>
                </a:solidFill>
                <a:latin typeface="Courier New"/>
                <a:ea typeface="Courier New"/>
                <a:cs typeface="Courier New"/>
                <a:sym typeface="Courier New"/>
              </a:rPr>
              <a:t>	return (uint16_t) </a:t>
            </a:r>
            <a:r>
              <a:rPr b="1" lang="en" sz="1600">
                <a:solidFill>
                  <a:srgbClr val="FF0000"/>
                </a:solidFill>
                <a:latin typeface="Courier New"/>
                <a:ea typeface="Courier New"/>
                <a:cs typeface="Courier New"/>
                <a:sym typeface="Courier New"/>
              </a:rPr>
              <a:t>ADC1-&gt;DR</a:t>
            </a: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a:p>
            <a:pPr indent="0" lvl="0" marL="0" rtl="0" algn="l">
              <a:lnSpc>
                <a:spcPct val="200000"/>
              </a:lnSpc>
              <a:spcBef>
                <a:spcPts val="0"/>
              </a:spcBef>
              <a:spcAft>
                <a:spcPts val="0"/>
              </a:spcAft>
              <a:buNone/>
            </a:pPr>
            <a:r>
              <a:t/>
            </a:r>
            <a:endParaRPr b="1" sz="1600">
              <a:solidFill>
                <a:schemeClr val="dk1"/>
              </a:solidFill>
              <a:latin typeface="Courier New"/>
              <a:ea typeface="Courier New"/>
              <a:cs typeface="Courier New"/>
              <a:sym typeface="Courier New"/>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id="348" name="Google Shape;348;p39"/>
          <p:cNvPicPr preferRelativeResize="0"/>
          <p:nvPr/>
        </p:nvPicPr>
        <p:blipFill>
          <a:blip r:embed="rId3">
            <a:alphaModFix/>
          </a:blip>
          <a:stretch>
            <a:fillRect/>
          </a:stretch>
        </p:blipFill>
        <p:spPr>
          <a:xfrm>
            <a:off x="2580975" y="740672"/>
            <a:ext cx="6389751" cy="1368200"/>
          </a:xfrm>
          <a:prstGeom prst="rect">
            <a:avLst/>
          </a:prstGeom>
          <a:noFill/>
          <a:ln>
            <a:noFill/>
          </a:ln>
        </p:spPr>
      </p:pic>
      <p:pic>
        <p:nvPicPr>
          <p:cNvPr id="349" name="Google Shape;349;p39"/>
          <p:cNvPicPr preferRelativeResize="0"/>
          <p:nvPr/>
        </p:nvPicPr>
        <p:blipFill>
          <a:blip r:embed="rId4">
            <a:alphaModFix/>
          </a:blip>
          <a:stretch>
            <a:fillRect/>
          </a:stretch>
        </p:blipFill>
        <p:spPr>
          <a:xfrm>
            <a:off x="2523565" y="2185625"/>
            <a:ext cx="6343835" cy="1357275"/>
          </a:xfrm>
          <a:prstGeom prst="rect">
            <a:avLst/>
          </a:prstGeom>
          <a:noFill/>
          <a:ln>
            <a:noFill/>
          </a:ln>
        </p:spPr>
      </p:pic>
      <p:sp>
        <p:nvSpPr>
          <p:cNvPr id="350" name="Google Shape;350;p39"/>
          <p:cNvSpPr txBox="1"/>
          <p:nvPr>
            <p:ph type="title"/>
          </p:nvPr>
        </p:nvSpPr>
        <p:spPr>
          <a:xfrm>
            <a:off x="256375" y="82825"/>
            <a:ext cx="36150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On-demand sampling</a:t>
            </a:r>
            <a:endParaRPr/>
          </a:p>
        </p:txBody>
      </p:sp>
      <p:sp>
        <p:nvSpPr>
          <p:cNvPr id="351" name="Google Shape;351;p39"/>
          <p:cNvSpPr txBox="1"/>
          <p:nvPr/>
        </p:nvSpPr>
        <p:spPr>
          <a:xfrm>
            <a:off x="2416488" y="3659300"/>
            <a:ext cx="6558000" cy="29532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SzPts val="1600"/>
              <a:buAutoNum type="arabicPeriod"/>
            </a:pPr>
            <a:r>
              <a:rPr lang="en" sz="1600">
                <a:solidFill>
                  <a:schemeClr val="dk2"/>
                </a:solidFill>
              </a:rPr>
              <a:t>Wait for ADC to be ready (ISR_ADRDY bit)</a:t>
            </a:r>
            <a:br>
              <a:rPr lang="en" sz="1600">
                <a:solidFill>
                  <a:schemeClr val="dk2"/>
                </a:solidFill>
              </a:rPr>
            </a:br>
            <a:r>
              <a:rPr b="1" lang="en" sz="1600">
                <a:solidFill>
                  <a:schemeClr val="dk1"/>
                </a:solidFill>
                <a:latin typeface="Courier New"/>
                <a:ea typeface="Courier New"/>
                <a:cs typeface="Courier New"/>
                <a:sym typeface="Courier New"/>
              </a:rPr>
              <a:t>while( (</a:t>
            </a:r>
            <a:r>
              <a:rPr b="1" lang="en" sz="1600">
                <a:solidFill>
                  <a:srgbClr val="38761D"/>
                </a:solidFill>
                <a:latin typeface="Courier New"/>
                <a:ea typeface="Courier New"/>
                <a:cs typeface="Courier New"/>
                <a:sym typeface="Courier New"/>
              </a:rPr>
              <a:t>ADC1-&gt;ISR</a:t>
            </a:r>
            <a:r>
              <a:rPr b="1" lang="en" sz="1600">
                <a:solidFill>
                  <a:schemeClr val="dk1"/>
                </a:solidFill>
                <a:latin typeface="Courier New"/>
                <a:ea typeface="Courier New"/>
                <a:cs typeface="Courier New"/>
                <a:sym typeface="Courier New"/>
              </a:rPr>
              <a:t> &amp; </a:t>
            </a:r>
            <a:r>
              <a:rPr b="1" lang="en" sz="1600">
                <a:solidFill>
                  <a:srgbClr val="0000FF"/>
                </a:solidFill>
                <a:latin typeface="Courier New"/>
                <a:ea typeface="Courier New"/>
                <a:cs typeface="Courier New"/>
                <a:sym typeface="Courier New"/>
              </a:rPr>
              <a:t>ADC_ISR_ADRDY</a:t>
            </a:r>
            <a:r>
              <a:rPr b="1" lang="en" sz="1600">
                <a:solidFill>
                  <a:schemeClr val="dk1"/>
                </a:solidFill>
                <a:latin typeface="Courier New"/>
                <a:ea typeface="Courier New"/>
                <a:cs typeface="Courier New"/>
                <a:sym typeface="Courier New"/>
              </a:rPr>
              <a:t> ) == 0){}</a:t>
            </a:r>
            <a:endParaRPr sz="1600">
              <a:solidFill>
                <a:schemeClr val="dk2"/>
              </a:solidFill>
            </a:endParaRPr>
          </a:p>
          <a:p>
            <a:pPr indent="-330200" lvl="0" marL="457200" rtl="0" algn="l">
              <a:lnSpc>
                <a:spcPct val="115000"/>
              </a:lnSpc>
              <a:spcBef>
                <a:spcPts val="1000"/>
              </a:spcBef>
              <a:spcAft>
                <a:spcPts val="0"/>
              </a:spcAft>
              <a:buSzPts val="1600"/>
              <a:buAutoNum type="arabicPeriod"/>
            </a:pPr>
            <a:r>
              <a:rPr lang="en" sz="1600">
                <a:solidFill>
                  <a:schemeClr val="dk2"/>
                </a:solidFill>
              </a:rPr>
              <a:t>Start conversion (CR_ADSTART bit)</a:t>
            </a:r>
            <a:br>
              <a:rPr lang="en" sz="1600">
                <a:solidFill>
                  <a:schemeClr val="dk2"/>
                </a:solidFill>
              </a:rPr>
            </a:br>
            <a:r>
              <a:rPr b="1" lang="en" sz="1600">
                <a:solidFill>
                  <a:srgbClr val="FF00FF"/>
                </a:solidFill>
                <a:latin typeface="Courier New"/>
                <a:ea typeface="Courier New"/>
                <a:cs typeface="Courier New"/>
                <a:sym typeface="Courier New"/>
              </a:rPr>
              <a:t>ADC1-&gt;CR</a:t>
            </a:r>
            <a:r>
              <a:rPr b="1" lang="en" sz="1600">
                <a:solidFill>
                  <a:schemeClr val="dk1"/>
                </a:solidFill>
                <a:latin typeface="Courier New"/>
                <a:ea typeface="Courier New"/>
                <a:cs typeface="Courier New"/>
                <a:sym typeface="Courier New"/>
              </a:rPr>
              <a:t> |= </a:t>
            </a:r>
            <a:r>
              <a:rPr b="1" lang="en" sz="1600">
                <a:solidFill>
                  <a:srgbClr val="FF00FF"/>
                </a:solidFill>
                <a:latin typeface="Courier New"/>
                <a:ea typeface="Courier New"/>
                <a:cs typeface="Courier New"/>
                <a:sym typeface="Courier New"/>
              </a:rPr>
              <a:t>ADC_CR_ADSTART</a:t>
            </a: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a:p>
            <a:pPr indent="-330200" lvl="0" marL="457200" rtl="0" algn="l">
              <a:lnSpc>
                <a:spcPct val="115000"/>
              </a:lnSpc>
              <a:spcBef>
                <a:spcPts val="1000"/>
              </a:spcBef>
              <a:spcAft>
                <a:spcPts val="0"/>
              </a:spcAft>
              <a:buClr>
                <a:schemeClr val="dk1"/>
              </a:buClr>
              <a:buSzPts val="1600"/>
              <a:buAutoNum type="arabicPeriod"/>
            </a:pPr>
            <a:r>
              <a:rPr lang="en" sz="1600">
                <a:solidFill>
                  <a:schemeClr val="dk2"/>
                </a:solidFill>
              </a:rPr>
              <a:t>Wait for the conversion to finish (ISR_EOC bit)</a:t>
            </a:r>
            <a:br>
              <a:rPr lang="en" sz="1600">
                <a:solidFill>
                  <a:schemeClr val="dk2"/>
                </a:solidFill>
              </a:rPr>
            </a:br>
            <a:r>
              <a:rPr b="1" lang="en" sz="1600">
                <a:solidFill>
                  <a:schemeClr val="dk1"/>
                </a:solidFill>
                <a:latin typeface="Courier New"/>
                <a:ea typeface="Courier New"/>
                <a:cs typeface="Courier New"/>
                <a:sym typeface="Courier New"/>
              </a:rPr>
              <a:t>while( (</a:t>
            </a:r>
            <a:r>
              <a:rPr b="1" lang="en" sz="1600">
                <a:solidFill>
                  <a:srgbClr val="38761D"/>
                </a:solidFill>
                <a:latin typeface="Courier New"/>
                <a:ea typeface="Courier New"/>
                <a:cs typeface="Courier New"/>
                <a:sym typeface="Courier New"/>
              </a:rPr>
              <a:t>ADC1-&gt;ISR</a:t>
            </a:r>
            <a:r>
              <a:rPr b="1" lang="en" sz="1600">
                <a:solidFill>
                  <a:schemeClr val="dk1"/>
                </a:solidFill>
                <a:latin typeface="Courier New"/>
                <a:ea typeface="Courier New"/>
                <a:cs typeface="Courier New"/>
                <a:sym typeface="Courier New"/>
              </a:rPr>
              <a:t> &amp; </a:t>
            </a:r>
            <a:r>
              <a:rPr b="1" lang="en" sz="1600">
                <a:solidFill>
                  <a:srgbClr val="9900FF"/>
                </a:solidFill>
                <a:latin typeface="Courier New"/>
                <a:ea typeface="Courier New"/>
                <a:cs typeface="Courier New"/>
                <a:sym typeface="Courier New"/>
              </a:rPr>
              <a:t>ADC_ISR_EOC</a:t>
            </a:r>
            <a:r>
              <a:rPr b="1" lang="en" sz="1600">
                <a:solidFill>
                  <a:schemeClr val="dk1"/>
                </a:solidFill>
                <a:latin typeface="Courier New"/>
                <a:ea typeface="Courier New"/>
                <a:cs typeface="Courier New"/>
                <a:sym typeface="Courier New"/>
              </a:rPr>
              <a:t>) == 0 ){}</a:t>
            </a:r>
            <a:br>
              <a:rPr b="1" lang="en" sz="1600">
                <a:solidFill>
                  <a:schemeClr val="dk1"/>
                </a:solidFill>
                <a:latin typeface="Courier New"/>
                <a:ea typeface="Courier New"/>
                <a:cs typeface="Courier New"/>
                <a:sym typeface="Courier New"/>
              </a:rPr>
            </a:br>
            <a:endParaRPr sz="1600">
              <a:solidFill>
                <a:schemeClr val="dk2"/>
              </a:solidFill>
            </a:endParaRPr>
          </a:p>
          <a:p>
            <a:pPr indent="-330200" lvl="0" marL="457200" rtl="0" algn="l">
              <a:lnSpc>
                <a:spcPct val="115000"/>
              </a:lnSpc>
              <a:spcBef>
                <a:spcPts val="0"/>
              </a:spcBef>
              <a:spcAft>
                <a:spcPts val="0"/>
              </a:spcAft>
              <a:buClr>
                <a:schemeClr val="dk1"/>
              </a:buClr>
              <a:buSzPts val="1600"/>
              <a:buAutoNum type="arabicPeriod"/>
            </a:pPr>
            <a:r>
              <a:rPr lang="en" sz="1600">
                <a:solidFill>
                  <a:schemeClr val="dk2"/>
                </a:solidFill>
              </a:rPr>
              <a:t>Read the data register</a:t>
            </a:r>
            <a:br>
              <a:rPr lang="en" sz="1600">
                <a:solidFill>
                  <a:schemeClr val="dk2"/>
                </a:solidFill>
              </a:rPr>
            </a:br>
            <a:r>
              <a:rPr b="1" lang="en" sz="1600">
                <a:solidFill>
                  <a:schemeClr val="dk1"/>
                </a:solidFill>
                <a:latin typeface="Courier New"/>
                <a:ea typeface="Courier New"/>
                <a:cs typeface="Courier New"/>
                <a:sym typeface="Courier New"/>
              </a:rPr>
              <a:t>return (uint16_t) </a:t>
            </a:r>
            <a:r>
              <a:rPr b="1" lang="en" sz="1600">
                <a:solidFill>
                  <a:srgbClr val="FF0000"/>
                </a:solidFill>
                <a:latin typeface="Courier New"/>
                <a:ea typeface="Courier New"/>
                <a:cs typeface="Courier New"/>
                <a:sym typeface="Courier New"/>
              </a:rPr>
              <a:t>ADC1-&gt;DR</a:t>
            </a: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p:txBody>
      </p:sp>
      <p:sp>
        <p:nvSpPr>
          <p:cNvPr id="352" name="Google Shape;352;p39"/>
          <p:cNvSpPr/>
          <p:nvPr/>
        </p:nvSpPr>
        <p:spPr>
          <a:xfrm>
            <a:off x="8416125" y="2855075"/>
            <a:ext cx="388500" cy="6003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9"/>
          <p:cNvSpPr txBox="1"/>
          <p:nvPr/>
        </p:nvSpPr>
        <p:spPr>
          <a:xfrm>
            <a:off x="144850" y="1055325"/>
            <a:ext cx="2332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ADC control register (</a:t>
            </a:r>
            <a:r>
              <a:rPr lang="en" sz="1800">
                <a:solidFill>
                  <a:srgbClr val="FF00FF"/>
                </a:solidFill>
              </a:rPr>
              <a:t>ADC_CR</a:t>
            </a:r>
            <a:r>
              <a:rPr lang="en" sz="1800">
                <a:solidFill>
                  <a:schemeClr val="dk2"/>
                </a:solidFill>
              </a:rPr>
              <a:t>)</a:t>
            </a:r>
            <a:endParaRPr sz="1800">
              <a:solidFill>
                <a:schemeClr val="dk2"/>
              </a:solidFill>
            </a:endParaRPr>
          </a:p>
        </p:txBody>
      </p:sp>
      <p:sp>
        <p:nvSpPr>
          <p:cNvPr id="354" name="Google Shape;354;p39"/>
          <p:cNvSpPr txBox="1"/>
          <p:nvPr/>
        </p:nvSpPr>
        <p:spPr>
          <a:xfrm>
            <a:off x="144850" y="2439488"/>
            <a:ext cx="23328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95959"/>
                </a:solidFill>
              </a:rPr>
              <a:t>ADC interrupt and status register (</a:t>
            </a:r>
            <a:r>
              <a:rPr lang="en" sz="1800">
                <a:solidFill>
                  <a:srgbClr val="38761D"/>
                </a:solidFill>
              </a:rPr>
              <a:t>ADC_ISR</a:t>
            </a:r>
            <a:r>
              <a:rPr lang="en" sz="1800">
                <a:solidFill>
                  <a:srgbClr val="595959"/>
                </a:solidFill>
              </a:rPr>
              <a:t>)</a:t>
            </a:r>
            <a:endParaRPr sz="1800">
              <a:solidFill>
                <a:srgbClr val="595959"/>
              </a:solidFill>
            </a:endParaRPr>
          </a:p>
        </p:txBody>
      </p:sp>
      <p:sp>
        <p:nvSpPr>
          <p:cNvPr id="355" name="Google Shape;355;p39"/>
          <p:cNvSpPr/>
          <p:nvPr/>
        </p:nvSpPr>
        <p:spPr>
          <a:xfrm>
            <a:off x="7617250" y="2855075"/>
            <a:ext cx="388500" cy="600300"/>
          </a:xfrm>
          <a:prstGeom prst="rect">
            <a:avLst/>
          </a:prstGeom>
          <a:noFill/>
          <a:ln cap="flat" cmpd="sng" w="1905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9"/>
          <p:cNvSpPr/>
          <p:nvPr/>
        </p:nvSpPr>
        <p:spPr>
          <a:xfrm>
            <a:off x="7692225" y="1392525"/>
            <a:ext cx="388500" cy="6003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357" name="Google Shape;357;p39"/>
          <p:cNvSpPr txBox="1"/>
          <p:nvPr/>
        </p:nvSpPr>
        <p:spPr>
          <a:xfrm>
            <a:off x="329775" y="4733675"/>
            <a:ext cx="1755600" cy="65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Each time we'd like a sample:</a:t>
            </a:r>
            <a:endParaRPr sz="1800">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ADC Data Register (ADC_DR)</a:t>
            </a:r>
            <a:endParaRPr/>
          </a:p>
        </p:txBody>
      </p:sp>
      <p:pic>
        <p:nvPicPr>
          <p:cNvPr id="363" name="Google Shape;363;p40"/>
          <p:cNvPicPr preferRelativeResize="0"/>
          <p:nvPr/>
        </p:nvPicPr>
        <p:blipFill>
          <a:blip r:embed="rId3">
            <a:alphaModFix/>
          </a:blip>
          <a:stretch>
            <a:fillRect/>
          </a:stretch>
        </p:blipFill>
        <p:spPr>
          <a:xfrm>
            <a:off x="404800" y="1428588"/>
            <a:ext cx="8334375" cy="3381375"/>
          </a:xfrm>
          <a:prstGeom prst="rect">
            <a:avLst/>
          </a:prstGeom>
          <a:noFill/>
          <a:ln>
            <a:noFill/>
          </a:ln>
        </p:spPr>
      </p:pic>
      <p:sp>
        <p:nvSpPr>
          <p:cNvPr id="364" name="Google Shape;364;p40"/>
          <p:cNvSpPr txBox="1"/>
          <p:nvPr/>
        </p:nvSpPr>
        <p:spPr>
          <a:xfrm>
            <a:off x="608375" y="5663375"/>
            <a:ext cx="7809300" cy="461700"/>
          </a:xfrm>
          <a:prstGeom prst="rect">
            <a:avLst/>
          </a:prstGeom>
          <a:noFill/>
          <a:ln cap="flat" cmpd="sng" w="28575">
            <a:solidFill>
              <a:srgbClr val="99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For now, we'll use the default values: data right-aligned, no oversampling.</a:t>
            </a:r>
            <a:endParaRPr sz="1800">
              <a:solidFill>
                <a:schemeClr val="dk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1"/>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How the A/D converter works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pic>
        <p:nvPicPr>
          <p:cNvPr id="374" name="Google Shape;374;p42"/>
          <p:cNvPicPr preferRelativeResize="0"/>
          <p:nvPr/>
        </p:nvPicPr>
        <p:blipFill rotWithShape="1">
          <a:blip r:embed="rId3">
            <a:alphaModFix/>
          </a:blip>
          <a:srcRect b="5099" l="2637" r="2180" t="5599"/>
          <a:stretch/>
        </p:blipFill>
        <p:spPr>
          <a:xfrm>
            <a:off x="1714500" y="467600"/>
            <a:ext cx="6824600" cy="5956200"/>
          </a:xfrm>
          <a:prstGeom prst="rect">
            <a:avLst/>
          </a:prstGeom>
          <a:noFill/>
          <a:ln>
            <a:noFill/>
          </a:ln>
        </p:spPr>
      </p:pic>
      <p:sp>
        <p:nvSpPr>
          <p:cNvPr id="375" name="Google Shape;375;p42"/>
          <p:cNvSpPr txBox="1"/>
          <p:nvPr>
            <p:ph type="title"/>
          </p:nvPr>
        </p:nvSpPr>
        <p:spPr>
          <a:xfrm>
            <a:off x="311700" y="148050"/>
            <a:ext cx="34959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 section of MCU</a:t>
            </a:r>
            <a:endParaRPr/>
          </a:p>
        </p:txBody>
      </p:sp>
      <p:sp>
        <p:nvSpPr>
          <p:cNvPr id="376" name="Google Shape;376;p42"/>
          <p:cNvSpPr/>
          <p:nvPr/>
        </p:nvSpPr>
        <p:spPr>
          <a:xfrm>
            <a:off x="4622250" y="2527200"/>
            <a:ext cx="1144800" cy="1057500"/>
          </a:xfrm>
          <a:prstGeom prst="rect">
            <a:avLst/>
          </a:prstGeom>
          <a:noFill/>
          <a:ln cap="flat" cmpd="sng" w="28575">
            <a:solidFill>
              <a:srgbClr val="CC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42"/>
          <p:cNvSpPr txBox="1"/>
          <p:nvPr/>
        </p:nvSpPr>
        <p:spPr>
          <a:xfrm>
            <a:off x="2410300" y="6423800"/>
            <a:ext cx="5433000" cy="46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rgbClr val="CC0000"/>
                </a:solidFill>
              </a:rPr>
              <a:t>Focus on this part: Successive Approximation ADC</a:t>
            </a:r>
            <a:endParaRPr i="1" sz="1800">
              <a:solidFill>
                <a:srgbClr val="CC0000"/>
              </a:solidFill>
            </a:endParaRPr>
          </a:p>
        </p:txBody>
      </p:sp>
      <p:cxnSp>
        <p:nvCxnSpPr>
          <p:cNvPr id="378" name="Google Shape;378;p42"/>
          <p:cNvCxnSpPr>
            <a:stCxn id="377" idx="0"/>
            <a:endCxn id="376" idx="2"/>
          </p:cNvCxnSpPr>
          <p:nvPr/>
        </p:nvCxnSpPr>
        <p:spPr>
          <a:xfrm flipH="1" rot="10800000">
            <a:off x="5126800" y="3584600"/>
            <a:ext cx="67800" cy="2839200"/>
          </a:xfrm>
          <a:prstGeom prst="straightConnector1">
            <a:avLst/>
          </a:prstGeom>
          <a:noFill/>
          <a:ln cap="flat" cmpd="sng" w="28575">
            <a:solidFill>
              <a:srgbClr val="FF0000"/>
            </a:solidFill>
            <a:prstDash val="solid"/>
            <a:round/>
            <a:headEnd len="med" w="med" type="none"/>
            <a:tailEnd len="med" w="med" type="triangle"/>
          </a:ln>
        </p:spPr>
      </p:cxnSp>
      <p:sp>
        <p:nvSpPr>
          <p:cNvPr id="379" name="Google Shape;379;p42"/>
          <p:cNvSpPr/>
          <p:nvPr/>
        </p:nvSpPr>
        <p:spPr>
          <a:xfrm>
            <a:off x="4753850" y="467600"/>
            <a:ext cx="523200" cy="5232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0" name="Google Shape;380;p42"/>
          <p:cNvSpPr txBox="1"/>
          <p:nvPr/>
        </p:nvSpPr>
        <p:spPr>
          <a:xfrm>
            <a:off x="5385175" y="148050"/>
            <a:ext cx="2931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On the Nucleo board this is wired to VDD (3.3V).</a:t>
            </a:r>
            <a:endParaRPr sz="1800">
              <a:solidFill>
                <a:srgbClr val="0000FF"/>
              </a:solidFill>
            </a:endParaRPr>
          </a:p>
        </p:txBody>
      </p:sp>
      <p:sp>
        <p:nvSpPr>
          <p:cNvPr id="381" name="Google Shape;381;p42"/>
          <p:cNvSpPr/>
          <p:nvPr/>
        </p:nvSpPr>
        <p:spPr>
          <a:xfrm>
            <a:off x="1625425" y="2794350"/>
            <a:ext cx="876000" cy="523200"/>
          </a:xfrm>
          <a:prstGeom prst="rect">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2" name="Google Shape;382;p42"/>
          <p:cNvSpPr txBox="1"/>
          <p:nvPr/>
        </p:nvSpPr>
        <p:spPr>
          <a:xfrm>
            <a:off x="178125" y="3451125"/>
            <a:ext cx="2134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38761D"/>
                </a:solidFill>
              </a:rPr>
              <a:t>Analog input signal</a:t>
            </a:r>
            <a:endParaRPr sz="1800">
              <a:solidFill>
                <a:srgbClr val="38761D"/>
              </a:solidFill>
            </a:endParaRPr>
          </a:p>
        </p:txBody>
      </p:sp>
      <p:sp>
        <p:nvSpPr>
          <p:cNvPr id="383" name="Google Shape;383;p42"/>
          <p:cNvSpPr/>
          <p:nvPr/>
        </p:nvSpPr>
        <p:spPr>
          <a:xfrm>
            <a:off x="5685550" y="2145175"/>
            <a:ext cx="771600" cy="3819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4" name="Google Shape;384;p42"/>
          <p:cNvSpPr txBox="1"/>
          <p:nvPr/>
        </p:nvSpPr>
        <p:spPr>
          <a:xfrm>
            <a:off x="5726200" y="1683475"/>
            <a:ext cx="690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FF"/>
                </a:solidFill>
              </a:rPr>
              <a:t>Data</a:t>
            </a:r>
            <a:endParaRPr sz="1800">
              <a:solidFill>
                <a:srgbClr val="FF00F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3"/>
          <p:cNvSpPr txBox="1"/>
          <p:nvPr>
            <p:ph type="title"/>
          </p:nvPr>
        </p:nvSpPr>
        <p:spPr>
          <a:xfrm>
            <a:off x="77575" y="922676"/>
            <a:ext cx="2139600" cy="210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12-Bit Successive Approximation ADC</a:t>
            </a:r>
            <a:endParaRPr/>
          </a:p>
        </p:txBody>
      </p:sp>
      <p:sp>
        <p:nvSpPr>
          <p:cNvPr id="390" name="Google Shape;390;p43"/>
          <p:cNvSpPr txBox="1"/>
          <p:nvPr/>
        </p:nvSpPr>
        <p:spPr>
          <a:xfrm>
            <a:off x="476950" y="4498950"/>
            <a:ext cx="7783200" cy="2242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i="1" lang="en" sz="1800">
                <a:solidFill>
                  <a:srgbClr val="0000FF"/>
                </a:solidFill>
              </a:rPr>
              <a:t>Hardware implements this algorithm:</a:t>
            </a:r>
            <a:endParaRPr i="1" sz="1800">
              <a:solidFill>
                <a:srgbClr val="0000FF"/>
              </a:solidFill>
            </a:endParaRPr>
          </a:p>
          <a:p>
            <a:pPr indent="0" lvl="0" marL="457200" rtl="0" algn="l">
              <a:lnSpc>
                <a:spcPct val="115000"/>
              </a:lnSpc>
              <a:spcBef>
                <a:spcPts val="0"/>
              </a:spcBef>
              <a:spcAft>
                <a:spcPts val="0"/>
              </a:spcAft>
              <a:buNone/>
            </a:pPr>
            <a:r>
              <a:rPr lang="en" sz="1800"/>
              <a:t>SAR = 0;</a:t>
            </a:r>
            <a:endParaRPr sz="1800"/>
          </a:p>
          <a:p>
            <a:pPr indent="0" lvl="0" marL="457200" rtl="0" algn="l">
              <a:lnSpc>
                <a:spcPct val="115000"/>
              </a:lnSpc>
              <a:spcBef>
                <a:spcPts val="0"/>
              </a:spcBef>
              <a:spcAft>
                <a:spcPts val="0"/>
              </a:spcAft>
              <a:buNone/>
            </a:pPr>
            <a:r>
              <a:rPr lang="en" sz="1800"/>
              <a:t>for k = 11 downto 0,</a:t>
            </a:r>
            <a:endParaRPr sz="1800"/>
          </a:p>
          <a:p>
            <a:pPr indent="0" lvl="0" marL="457200" rtl="0" algn="l">
              <a:lnSpc>
                <a:spcPct val="115000"/>
              </a:lnSpc>
              <a:spcBef>
                <a:spcPts val="0"/>
              </a:spcBef>
              <a:spcAft>
                <a:spcPts val="0"/>
              </a:spcAft>
              <a:buNone/>
            </a:pPr>
            <a:r>
              <a:rPr lang="en" sz="1800"/>
              <a:t>	Set bit k in the SAR, DAC outputs SAR × V</a:t>
            </a:r>
            <a:r>
              <a:rPr baseline="-25000" lang="en" sz="1800"/>
              <a:t>REF</a:t>
            </a:r>
            <a:r>
              <a:rPr lang="en" sz="1800"/>
              <a:t>/4096</a:t>
            </a:r>
            <a:endParaRPr sz="1800"/>
          </a:p>
          <a:p>
            <a:pPr indent="0" lvl="0" marL="457200" rtl="0" algn="l">
              <a:lnSpc>
                <a:spcPct val="115000"/>
              </a:lnSpc>
              <a:spcBef>
                <a:spcPts val="0"/>
              </a:spcBef>
              <a:spcAft>
                <a:spcPts val="0"/>
              </a:spcAft>
              <a:buNone/>
            </a:pPr>
            <a:r>
              <a:rPr lang="en" sz="1800"/>
              <a:t>	if V</a:t>
            </a:r>
            <a:r>
              <a:rPr baseline="-25000" lang="en" sz="1800"/>
              <a:t>IN</a:t>
            </a:r>
            <a:r>
              <a:rPr lang="en" sz="1800"/>
              <a:t> ≥ V</a:t>
            </a:r>
            <a:r>
              <a:rPr baseline="-25000" lang="en" sz="1800"/>
              <a:t>DAC</a:t>
            </a:r>
            <a:r>
              <a:rPr lang="en" sz="1800"/>
              <a:t>, keep SAR value</a:t>
            </a:r>
            <a:endParaRPr sz="1800"/>
          </a:p>
          <a:p>
            <a:pPr indent="457200" lvl="0" marL="457200" rtl="0" algn="l">
              <a:lnSpc>
                <a:spcPct val="115000"/>
              </a:lnSpc>
              <a:spcBef>
                <a:spcPts val="0"/>
              </a:spcBef>
              <a:spcAft>
                <a:spcPts val="0"/>
              </a:spcAft>
              <a:buNone/>
            </a:pPr>
            <a:r>
              <a:rPr lang="en" sz="1800"/>
              <a:t>else clear bit k (back to previous SAR value)</a:t>
            </a:r>
            <a:endParaRPr sz="1800"/>
          </a:p>
          <a:p>
            <a:pPr indent="0" lvl="0" marL="457200" rtl="0" algn="l">
              <a:lnSpc>
                <a:spcPct val="115000"/>
              </a:lnSpc>
              <a:spcBef>
                <a:spcPts val="0"/>
              </a:spcBef>
              <a:spcAft>
                <a:spcPts val="0"/>
              </a:spcAft>
              <a:buNone/>
            </a:pPr>
            <a:r>
              <a:rPr lang="en" sz="1800"/>
              <a:t>end</a:t>
            </a:r>
            <a:endParaRPr sz="1800"/>
          </a:p>
          <a:p>
            <a:pPr indent="0" lvl="0" marL="0" rtl="0" algn="l">
              <a:lnSpc>
                <a:spcPct val="115000"/>
              </a:lnSpc>
              <a:spcBef>
                <a:spcPts val="0"/>
              </a:spcBef>
              <a:spcAft>
                <a:spcPts val="0"/>
              </a:spcAft>
              <a:buNone/>
            </a:pPr>
            <a:r>
              <a:t/>
            </a:r>
            <a:endParaRPr sz="1800"/>
          </a:p>
        </p:txBody>
      </p:sp>
      <p:sp>
        <p:nvSpPr>
          <p:cNvPr id="391" name="Google Shape;391;p43"/>
          <p:cNvSpPr/>
          <p:nvPr/>
        </p:nvSpPr>
        <p:spPr>
          <a:xfrm>
            <a:off x="6382775" y="922675"/>
            <a:ext cx="2602800" cy="261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392" name="Google Shape;392;p43"/>
          <p:cNvGrpSpPr/>
          <p:nvPr/>
        </p:nvGrpSpPr>
        <p:grpSpPr>
          <a:xfrm>
            <a:off x="2385398" y="324050"/>
            <a:ext cx="6505677" cy="3734225"/>
            <a:chOff x="2385398" y="737175"/>
            <a:chExt cx="6505677" cy="3734225"/>
          </a:xfrm>
        </p:grpSpPr>
        <p:grpSp>
          <p:nvGrpSpPr>
            <p:cNvPr id="393" name="Google Shape;393;p43"/>
            <p:cNvGrpSpPr/>
            <p:nvPr/>
          </p:nvGrpSpPr>
          <p:grpSpPr>
            <a:xfrm>
              <a:off x="2385398" y="737175"/>
              <a:ext cx="6505677" cy="3734225"/>
              <a:chOff x="2385398" y="737175"/>
              <a:chExt cx="6505677" cy="3734225"/>
            </a:xfrm>
          </p:grpSpPr>
          <p:grpSp>
            <p:nvGrpSpPr>
              <p:cNvPr id="394" name="Google Shape;394;p43"/>
              <p:cNvGrpSpPr/>
              <p:nvPr/>
            </p:nvGrpSpPr>
            <p:grpSpPr>
              <a:xfrm>
                <a:off x="2385398" y="737175"/>
                <a:ext cx="6505677" cy="3734225"/>
                <a:chOff x="2385398" y="737175"/>
                <a:chExt cx="6505677" cy="3734225"/>
              </a:xfrm>
            </p:grpSpPr>
            <p:pic>
              <p:nvPicPr>
                <p:cNvPr id="395" name="Google Shape;395;p43"/>
                <p:cNvPicPr preferRelativeResize="0"/>
                <p:nvPr/>
              </p:nvPicPr>
              <p:blipFill>
                <a:blip r:embed="rId3">
                  <a:alphaModFix/>
                </a:blip>
                <a:stretch>
                  <a:fillRect/>
                </a:stretch>
              </p:blipFill>
              <p:spPr>
                <a:xfrm>
                  <a:off x="2385398" y="737175"/>
                  <a:ext cx="6505677" cy="3734225"/>
                </a:xfrm>
                <a:prstGeom prst="rect">
                  <a:avLst/>
                </a:prstGeom>
                <a:noFill/>
                <a:ln>
                  <a:noFill/>
                </a:ln>
              </p:spPr>
            </p:pic>
            <p:sp>
              <p:nvSpPr>
                <p:cNvPr id="396" name="Google Shape;396;p43"/>
                <p:cNvSpPr txBox="1"/>
                <p:nvPr/>
              </p:nvSpPr>
              <p:spPr>
                <a:xfrm>
                  <a:off x="3595178" y="858505"/>
                  <a:ext cx="2693100" cy="785100"/>
                </a:xfrm>
                <a:prstGeom prst="rect">
                  <a:avLst/>
                </a:prstGeom>
                <a:solidFill>
                  <a:srgbClr val="E4F1EA"/>
                </a:solidFill>
                <a:ln>
                  <a:noFill/>
                </a:ln>
              </p:spPr>
              <p:txBody>
                <a:bodyPr anchorCtr="0" anchor="t" bIns="0" lIns="0" spcFirstLastPara="1" rIns="0" wrap="square" tIns="0">
                  <a:spAutoFit/>
                </a:bodyPr>
                <a:lstStyle/>
                <a:p>
                  <a:pPr indent="0" lvl="0" marL="0" rtl="0" algn="l">
                    <a:spcBef>
                      <a:spcPts val="0"/>
                    </a:spcBef>
                    <a:spcAft>
                      <a:spcPts val="0"/>
                    </a:spcAft>
                    <a:buNone/>
                  </a:pPr>
                  <a:r>
                    <a:t/>
                  </a:r>
                  <a:endParaRPr sz="1600">
                    <a:solidFill>
                      <a:schemeClr val="dk2"/>
                    </a:solidFill>
                  </a:endParaRPr>
                </a:p>
                <a:p>
                  <a:pPr indent="0" lvl="0" marL="0" rtl="0" algn="ctr">
                    <a:spcBef>
                      <a:spcPts val="0"/>
                    </a:spcBef>
                    <a:spcAft>
                      <a:spcPts val="0"/>
                    </a:spcAft>
                    <a:buNone/>
                  </a:pPr>
                  <a:r>
                    <a:rPr b="1" lang="en" sz="1900">
                      <a:solidFill>
                        <a:schemeClr val="dk2"/>
                      </a:solidFill>
                    </a:rPr>
                    <a:t>SAR 12-bit register</a:t>
                  </a:r>
                  <a:endParaRPr b="1" sz="1900">
                    <a:solidFill>
                      <a:schemeClr val="dk2"/>
                    </a:solidFill>
                  </a:endParaRPr>
                </a:p>
                <a:p>
                  <a:pPr indent="0" lvl="0" marL="0" rtl="0" algn="l">
                    <a:spcBef>
                      <a:spcPts val="0"/>
                    </a:spcBef>
                    <a:spcAft>
                      <a:spcPts val="0"/>
                    </a:spcAft>
                    <a:buNone/>
                  </a:pPr>
                  <a:r>
                    <a:t/>
                  </a:r>
                  <a:endParaRPr sz="1600">
                    <a:solidFill>
                      <a:schemeClr val="dk2"/>
                    </a:solidFill>
                  </a:endParaRPr>
                </a:p>
              </p:txBody>
            </p:sp>
            <p:sp>
              <p:nvSpPr>
                <p:cNvPr id="397" name="Google Shape;397;p43"/>
                <p:cNvSpPr txBox="1"/>
                <p:nvPr/>
              </p:nvSpPr>
              <p:spPr>
                <a:xfrm>
                  <a:off x="4010152" y="1946423"/>
                  <a:ext cx="324300" cy="193200"/>
                </a:xfrm>
                <a:prstGeom prst="rect">
                  <a:avLst/>
                </a:prstGeom>
                <a:solidFill>
                  <a:schemeClr val="lt1"/>
                </a:solidFill>
                <a:ln>
                  <a:noFill/>
                </a:ln>
              </p:spPr>
              <p:txBody>
                <a:bodyPr anchorCtr="0" anchor="t" bIns="0" lIns="0" spcFirstLastPara="1" rIns="0" wrap="square" tIns="0">
                  <a:noAutofit/>
                </a:bodyPr>
                <a:lstStyle/>
                <a:p>
                  <a:pPr indent="0" lvl="0" marL="0" rtl="0" algn="l">
                    <a:spcBef>
                      <a:spcPts val="0"/>
                    </a:spcBef>
                    <a:spcAft>
                      <a:spcPts val="0"/>
                    </a:spcAft>
                    <a:buNone/>
                  </a:pPr>
                  <a:r>
                    <a:rPr lang="en" sz="1200">
                      <a:solidFill>
                        <a:schemeClr val="dk2"/>
                      </a:solidFill>
                    </a:rPr>
                    <a:t>11</a:t>
                  </a:r>
                  <a:endParaRPr sz="1200">
                    <a:solidFill>
                      <a:schemeClr val="dk2"/>
                    </a:solidFill>
                  </a:endParaRPr>
                </a:p>
              </p:txBody>
            </p:sp>
          </p:grpSp>
          <p:sp>
            <p:nvSpPr>
              <p:cNvPr id="398" name="Google Shape;398;p43"/>
              <p:cNvSpPr/>
              <p:nvPr/>
            </p:nvSpPr>
            <p:spPr>
              <a:xfrm>
                <a:off x="6382775" y="922675"/>
                <a:ext cx="2499600" cy="261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99" name="Google Shape;399;p43"/>
            <p:cNvSpPr/>
            <p:nvPr/>
          </p:nvSpPr>
          <p:spPr>
            <a:xfrm>
              <a:off x="4507600" y="3621800"/>
              <a:ext cx="992700" cy="785100"/>
            </a:xfrm>
            <a:prstGeom prst="rect">
              <a:avLst/>
            </a:prstGeom>
            <a:solidFill>
              <a:srgbClr val="FFDF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t>Sample / Hold</a:t>
              </a:r>
              <a:endParaRPr b="1" sz="1500"/>
            </a:p>
          </p:txBody>
        </p:sp>
      </p:grpSp>
      <p:sp>
        <p:nvSpPr>
          <p:cNvPr id="400" name="Google Shape;400;p43"/>
          <p:cNvSpPr txBox="1"/>
          <p:nvPr/>
        </p:nvSpPr>
        <p:spPr>
          <a:xfrm>
            <a:off x="6288275" y="4241100"/>
            <a:ext cx="2602800" cy="1005600"/>
          </a:xfrm>
          <a:prstGeom prst="rect">
            <a:avLst/>
          </a:prstGeom>
          <a:solidFill>
            <a:srgbClr val="FFDFDF"/>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chemeClr val="dk1"/>
                </a:solidFill>
              </a:rPr>
              <a:t>S/H keeps steady input for conversion even if V</a:t>
            </a:r>
            <a:r>
              <a:rPr baseline="-25000" i="1" lang="en" sz="1800">
                <a:solidFill>
                  <a:schemeClr val="dk1"/>
                </a:solidFill>
              </a:rPr>
              <a:t>IN</a:t>
            </a:r>
            <a:r>
              <a:rPr i="1" lang="en" sz="1800">
                <a:solidFill>
                  <a:schemeClr val="dk1"/>
                </a:solidFill>
              </a:rPr>
              <a:t> is changing.</a:t>
            </a:r>
            <a:endParaRPr i="1" sz="1800">
              <a:solidFill>
                <a:schemeClr val="dk1"/>
              </a:solidFill>
            </a:endParaRPr>
          </a:p>
        </p:txBody>
      </p:sp>
      <p:sp>
        <p:nvSpPr>
          <p:cNvPr id="401" name="Google Shape;401;p43"/>
          <p:cNvSpPr txBox="1"/>
          <p:nvPr/>
        </p:nvSpPr>
        <p:spPr>
          <a:xfrm>
            <a:off x="3030850" y="6360450"/>
            <a:ext cx="6043800" cy="38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i="1" lang="en" sz="1800">
                <a:solidFill>
                  <a:srgbClr val="0000FF"/>
                </a:solidFill>
              </a:rPr>
              <a:t>THIS is why an ADC conversion takes many clock cycles.</a:t>
            </a:r>
            <a:endParaRPr i="1" sz="1800">
              <a:solidFill>
                <a:srgbClr val="0000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Successive Approximation Example</a:t>
            </a:r>
            <a:endParaRPr/>
          </a:p>
        </p:txBody>
      </p:sp>
      <p:sp>
        <p:nvSpPr>
          <p:cNvPr id="407" name="Google Shape;407;p4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say B = 4. This is how successive approximation logic works, taking out the voltage </a:t>
            </a:r>
            <a:r>
              <a:rPr lang="en"/>
              <a:t>conversion</a:t>
            </a:r>
            <a:r>
              <a:rPr lang="en"/>
              <a:t> for simplicity:</a:t>
            </a:r>
            <a:endParaRPr/>
          </a:p>
          <a:p>
            <a:pPr indent="0" lvl="0" marL="0" rtl="0" algn="l">
              <a:spcBef>
                <a:spcPts val="1600"/>
              </a:spcBef>
              <a:spcAft>
                <a:spcPts val="0"/>
              </a:spcAft>
              <a:buNone/>
            </a:pPr>
            <a:r>
              <a:rPr lang="en"/>
              <a:t>Think of a number between 0 and 15 - say 7, for example.</a:t>
            </a:r>
            <a:endParaRPr/>
          </a:p>
          <a:p>
            <a:pPr indent="-342900" lvl="0" marL="457200" rtl="0" algn="l">
              <a:spcBef>
                <a:spcPts val="1600"/>
              </a:spcBef>
              <a:spcAft>
                <a:spcPts val="0"/>
              </a:spcAft>
              <a:buSzPts val="1800"/>
              <a:buAutoNum type="arabicPeriod"/>
            </a:pPr>
            <a:r>
              <a:rPr lang="en"/>
              <a:t>SAR = 0b1000 (= 8 in decimal)</a:t>
            </a:r>
            <a:br>
              <a:rPr lang="en"/>
            </a:br>
            <a:r>
              <a:rPr lang="en"/>
              <a:t>Is your number ≥ 8? No. So:</a:t>
            </a:r>
            <a:endParaRPr/>
          </a:p>
          <a:p>
            <a:pPr indent="-342900" lvl="0" marL="457200" rtl="0" algn="l">
              <a:spcBef>
                <a:spcPts val="0"/>
              </a:spcBef>
              <a:spcAft>
                <a:spcPts val="0"/>
              </a:spcAft>
              <a:buSzPts val="1800"/>
              <a:buAutoNum type="arabicPeriod"/>
            </a:pPr>
            <a:r>
              <a:rPr lang="en"/>
              <a:t>SAR = 0b0100 (= 4 in decimal)</a:t>
            </a:r>
            <a:br>
              <a:rPr lang="en"/>
            </a:br>
            <a:r>
              <a:rPr lang="en"/>
              <a:t>Is your number ≥ 4? Yes. So:</a:t>
            </a:r>
            <a:endParaRPr/>
          </a:p>
          <a:p>
            <a:pPr indent="-342900" lvl="0" marL="457200" rtl="0" algn="l">
              <a:spcBef>
                <a:spcPts val="0"/>
              </a:spcBef>
              <a:spcAft>
                <a:spcPts val="0"/>
              </a:spcAft>
              <a:buSzPts val="1800"/>
              <a:buAutoNum type="arabicPeriod"/>
            </a:pPr>
            <a:r>
              <a:rPr lang="en"/>
              <a:t>SAR = 0b0110 (= 6 in decimal)</a:t>
            </a:r>
            <a:br>
              <a:rPr lang="en"/>
            </a:br>
            <a:r>
              <a:rPr lang="en"/>
              <a:t>Is your number </a:t>
            </a:r>
            <a:r>
              <a:rPr lang="en"/>
              <a:t>≥ 6? Yes. So:</a:t>
            </a:r>
            <a:endParaRPr/>
          </a:p>
          <a:p>
            <a:pPr indent="-342900" lvl="0" marL="457200" rtl="0" algn="l">
              <a:spcBef>
                <a:spcPts val="0"/>
              </a:spcBef>
              <a:spcAft>
                <a:spcPts val="0"/>
              </a:spcAft>
              <a:buSzPts val="1800"/>
              <a:buAutoNum type="arabicPeriod"/>
            </a:pPr>
            <a:r>
              <a:rPr lang="en"/>
              <a:t>SAR = 0b0111 (= 7 in decimal)</a:t>
            </a:r>
            <a:br>
              <a:rPr lang="en"/>
            </a:br>
            <a:r>
              <a:rPr lang="en"/>
              <a:t>I guessed your number!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pic>
        <p:nvPicPr>
          <p:cNvPr id="412" name="Google Shape;412;p45"/>
          <p:cNvPicPr preferRelativeResize="0"/>
          <p:nvPr/>
        </p:nvPicPr>
        <p:blipFill rotWithShape="1">
          <a:blip r:embed="rId3">
            <a:alphaModFix/>
          </a:blip>
          <a:srcRect b="32263" l="42413" r="0" t="0"/>
          <a:stretch/>
        </p:blipFill>
        <p:spPr>
          <a:xfrm>
            <a:off x="4406400" y="1153825"/>
            <a:ext cx="4725251" cy="4123275"/>
          </a:xfrm>
          <a:prstGeom prst="rect">
            <a:avLst/>
          </a:prstGeom>
          <a:noFill/>
          <a:ln>
            <a:noFill/>
          </a:ln>
        </p:spPr>
      </p:pic>
      <p:pic>
        <p:nvPicPr>
          <p:cNvPr id="413" name="Google Shape;413;p45"/>
          <p:cNvPicPr preferRelativeResize="0"/>
          <p:nvPr/>
        </p:nvPicPr>
        <p:blipFill rotWithShape="1">
          <a:blip r:embed="rId4">
            <a:alphaModFix/>
          </a:blip>
          <a:srcRect b="6570" l="3974" r="23373" t="13500"/>
          <a:stretch/>
        </p:blipFill>
        <p:spPr>
          <a:xfrm>
            <a:off x="311700" y="2893700"/>
            <a:ext cx="2850100" cy="3808424"/>
          </a:xfrm>
          <a:prstGeom prst="rect">
            <a:avLst/>
          </a:prstGeom>
          <a:noFill/>
          <a:ln>
            <a:noFill/>
          </a:ln>
        </p:spPr>
      </p:pic>
      <p:sp>
        <p:nvSpPr>
          <p:cNvPr id="414" name="Google Shape;414;p45"/>
          <p:cNvSpPr txBox="1"/>
          <p:nvPr>
            <p:ph type="title"/>
          </p:nvPr>
        </p:nvSpPr>
        <p:spPr>
          <a:xfrm>
            <a:off x="311700" y="-8"/>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Core A/D hardware</a:t>
            </a:r>
            <a:endParaRPr/>
          </a:p>
        </p:txBody>
      </p:sp>
      <p:sp>
        <p:nvSpPr>
          <p:cNvPr id="415" name="Google Shape;415;p45"/>
          <p:cNvSpPr/>
          <p:nvPr/>
        </p:nvSpPr>
        <p:spPr>
          <a:xfrm>
            <a:off x="311700" y="2847800"/>
            <a:ext cx="2939100" cy="38988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45"/>
          <p:cNvSpPr/>
          <p:nvPr/>
        </p:nvSpPr>
        <p:spPr>
          <a:xfrm>
            <a:off x="0" y="940850"/>
            <a:ext cx="4776000" cy="17025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45"/>
          <p:cNvSpPr/>
          <p:nvPr/>
        </p:nvSpPr>
        <p:spPr>
          <a:xfrm>
            <a:off x="4851775" y="940850"/>
            <a:ext cx="4110300" cy="2276700"/>
          </a:xfrm>
          <a:prstGeom prst="rect">
            <a:avLst/>
          </a:prstGeom>
          <a:noFill/>
          <a:ln cap="flat" cmpd="sng" w="28575">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274E13"/>
              </a:solidFill>
            </a:endParaRPr>
          </a:p>
        </p:txBody>
      </p:sp>
      <p:sp>
        <p:nvSpPr>
          <p:cNvPr id="418" name="Google Shape;418;p45"/>
          <p:cNvSpPr txBox="1"/>
          <p:nvPr/>
        </p:nvSpPr>
        <p:spPr>
          <a:xfrm>
            <a:off x="3318425" y="5827925"/>
            <a:ext cx="1635900" cy="76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rgbClr val="0000FF"/>
                </a:solidFill>
              </a:rPr>
              <a:t>Analog input selection</a:t>
            </a:r>
            <a:endParaRPr i="1" sz="1800">
              <a:solidFill>
                <a:srgbClr val="0000FF"/>
              </a:solidFill>
            </a:endParaRPr>
          </a:p>
        </p:txBody>
      </p:sp>
      <p:sp>
        <p:nvSpPr>
          <p:cNvPr id="419" name="Google Shape;419;p45"/>
          <p:cNvSpPr txBox="1"/>
          <p:nvPr/>
        </p:nvSpPr>
        <p:spPr>
          <a:xfrm>
            <a:off x="89050" y="566525"/>
            <a:ext cx="4419900" cy="51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1800">
                <a:solidFill>
                  <a:srgbClr val="CC0000"/>
                </a:solidFill>
              </a:rPr>
              <a:t>Reference voltage on the Nucleo board </a:t>
            </a:r>
            <a:endParaRPr i="1" sz="1800">
              <a:solidFill>
                <a:srgbClr val="CC0000"/>
              </a:solidFill>
            </a:endParaRPr>
          </a:p>
        </p:txBody>
      </p:sp>
      <p:sp>
        <p:nvSpPr>
          <p:cNvPr id="420" name="Google Shape;420;p45"/>
          <p:cNvSpPr txBox="1"/>
          <p:nvPr/>
        </p:nvSpPr>
        <p:spPr>
          <a:xfrm>
            <a:off x="5170675" y="377250"/>
            <a:ext cx="3912300" cy="51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rgbClr val="274E13"/>
                </a:solidFill>
              </a:rPr>
              <a:t>Successive approximation A/D</a:t>
            </a:r>
            <a:endParaRPr i="1" sz="1800">
              <a:solidFill>
                <a:srgbClr val="274E13"/>
              </a:solidFill>
            </a:endParaRPr>
          </a:p>
        </p:txBody>
      </p:sp>
      <p:cxnSp>
        <p:nvCxnSpPr>
          <p:cNvPr id="421" name="Google Shape;421;p45"/>
          <p:cNvCxnSpPr/>
          <p:nvPr/>
        </p:nvCxnSpPr>
        <p:spPr>
          <a:xfrm rot="10800000">
            <a:off x="3035850" y="4885225"/>
            <a:ext cx="3641400" cy="5400"/>
          </a:xfrm>
          <a:prstGeom prst="straightConnector1">
            <a:avLst/>
          </a:prstGeom>
          <a:noFill/>
          <a:ln cap="flat" cmpd="sng" w="19050">
            <a:solidFill>
              <a:srgbClr val="0000FF"/>
            </a:solidFill>
            <a:prstDash val="solid"/>
            <a:round/>
            <a:headEnd len="med" w="med" type="none"/>
            <a:tailEnd len="med" w="med" type="none"/>
          </a:ln>
        </p:spPr>
      </p:cxnSp>
      <p:graphicFrame>
        <p:nvGraphicFramePr>
          <p:cNvPr id="422" name="Google Shape;422;p45"/>
          <p:cNvGraphicFramePr/>
          <p:nvPr/>
        </p:nvGraphicFramePr>
        <p:xfrm>
          <a:off x="89050" y="1043638"/>
          <a:ext cx="3000000" cy="3000000"/>
        </p:xfrm>
        <a:graphic>
          <a:graphicData uri="http://schemas.openxmlformats.org/drawingml/2006/table">
            <a:tbl>
              <a:tblPr>
                <a:noFill/>
                <a:tableStyleId>{0FDF27EE-1424-4DF1-ACC0-C2F21EC9F338}</a:tableStyleId>
              </a:tblPr>
              <a:tblGrid>
                <a:gridCol w="588575"/>
                <a:gridCol w="645450"/>
                <a:gridCol w="543125"/>
                <a:gridCol w="2851925"/>
              </a:tblGrid>
              <a:tr h="381000">
                <a:tc rowSpan="2">
                  <a:txBody>
                    <a:bodyPr/>
                    <a:lstStyle/>
                    <a:p>
                      <a:pPr indent="0" lvl="0" marL="0" rtl="0" algn="l">
                        <a:spcBef>
                          <a:spcPts val="0"/>
                        </a:spcBef>
                        <a:spcAft>
                          <a:spcPts val="0"/>
                        </a:spcAft>
                        <a:buNone/>
                      </a:pPr>
                      <a:r>
                        <a:rPr lang="en" sz="1200"/>
                        <a:t>SB30</a:t>
                      </a:r>
                      <a:endParaRPr sz="1200"/>
                    </a:p>
                  </a:txBody>
                  <a:tcPr marT="91425" marB="91425" marR="91425" marL="91425"/>
                </a:tc>
                <a:tc rowSpan="2">
                  <a:txBody>
                    <a:bodyPr/>
                    <a:lstStyle/>
                    <a:p>
                      <a:pPr indent="0" lvl="0" marL="0" rtl="0" algn="l">
                        <a:spcBef>
                          <a:spcPts val="0"/>
                        </a:spcBef>
                        <a:spcAft>
                          <a:spcPts val="0"/>
                        </a:spcAft>
                        <a:buNone/>
                      </a:pPr>
                      <a:r>
                        <a:rPr lang="en" sz="1200"/>
                        <a:t>AVDD</a:t>
                      </a:r>
                      <a:endParaRPr sz="1200"/>
                    </a:p>
                  </a:txBody>
                  <a:tcPr marT="91425" marB="91425" marR="91425" marL="91425"/>
                </a:tc>
                <a:tc>
                  <a:txBody>
                    <a:bodyPr/>
                    <a:lstStyle/>
                    <a:p>
                      <a:pPr indent="0" lvl="0" marL="0" rtl="0" algn="l">
                        <a:spcBef>
                          <a:spcPts val="0"/>
                        </a:spcBef>
                        <a:spcAft>
                          <a:spcPts val="0"/>
                        </a:spcAft>
                        <a:buNone/>
                      </a:pPr>
                      <a:r>
                        <a:rPr b="1" lang="en" sz="1200"/>
                        <a:t>ON</a:t>
                      </a:r>
                      <a:endParaRPr b="1" sz="1200"/>
                    </a:p>
                  </a:txBody>
                  <a:tcPr marT="91425" marB="91425" marR="91425" marL="91425"/>
                </a:tc>
                <a:tc>
                  <a:txBody>
                    <a:bodyPr/>
                    <a:lstStyle/>
                    <a:p>
                      <a:pPr indent="0" lvl="0" marL="0" rtl="0" algn="l">
                        <a:spcBef>
                          <a:spcPts val="0"/>
                        </a:spcBef>
                        <a:spcAft>
                          <a:spcPts val="0"/>
                        </a:spcAft>
                        <a:buNone/>
                      </a:pPr>
                      <a:r>
                        <a:rPr b="1" lang="en" sz="1200">
                          <a:solidFill>
                            <a:srgbClr val="CC0000"/>
                          </a:solidFill>
                        </a:rPr>
                        <a:t>VDD provides power to AVDD.</a:t>
                      </a:r>
                      <a:endParaRPr b="1" sz="1200">
                        <a:solidFill>
                          <a:srgbClr val="CC0000"/>
                        </a:solidFill>
                      </a:endParaRPr>
                    </a:p>
                  </a:txBody>
                  <a:tcPr marT="91425" marB="91425" marR="91425" marL="91425"/>
                </a:tc>
              </a:tr>
              <a:tr h="381000">
                <a:tc vMerge="1"/>
                <a:tc vMerge="1"/>
                <a:tc>
                  <a:txBody>
                    <a:bodyPr/>
                    <a:lstStyle/>
                    <a:p>
                      <a:pPr indent="0" lvl="0" marL="0" rtl="0" algn="l">
                        <a:spcBef>
                          <a:spcPts val="0"/>
                        </a:spcBef>
                        <a:spcAft>
                          <a:spcPts val="0"/>
                        </a:spcAft>
                        <a:buNone/>
                      </a:pPr>
                      <a:r>
                        <a:rPr lang="en" sz="1200"/>
                        <a:t>OFF</a:t>
                      </a:r>
                      <a:endParaRPr sz="1200"/>
                    </a:p>
                  </a:txBody>
                  <a:tcPr marT="91425" marB="91425" marR="91425" marL="91425"/>
                </a:tc>
                <a:tc>
                  <a:txBody>
                    <a:bodyPr/>
                    <a:lstStyle/>
                    <a:p>
                      <a:pPr indent="0" lvl="0" marL="0" rtl="0" algn="l">
                        <a:spcBef>
                          <a:spcPts val="0"/>
                        </a:spcBef>
                        <a:spcAft>
                          <a:spcPts val="0"/>
                        </a:spcAft>
                        <a:buNone/>
                      </a:pPr>
                      <a:r>
                        <a:rPr lang="en" sz="1200"/>
                        <a:t>VDD does not provide power to AVDD.</a:t>
                      </a:r>
                      <a:endParaRPr sz="1200"/>
                    </a:p>
                  </a:txBody>
                  <a:tcPr marT="91425" marB="91425" marR="91425" marL="91425"/>
                </a:tc>
              </a:tr>
              <a:tr h="381000">
                <a:tc rowSpan="2">
                  <a:txBody>
                    <a:bodyPr/>
                    <a:lstStyle/>
                    <a:p>
                      <a:pPr indent="0" lvl="0" marL="0" rtl="0" algn="l">
                        <a:spcBef>
                          <a:spcPts val="0"/>
                        </a:spcBef>
                        <a:spcAft>
                          <a:spcPts val="0"/>
                        </a:spcAft>
                        <a:buNone/>
                      </a:pPr>
                      <a:r>
                        <a:rPr lang="en" sz="1200"/>
                        <a:t>SB28</a:t>
                      </a:r>
                      <a:endParaRPr sz="1200"/>
                    </a:p>
                  </a:txBody>
                  <a:tcPr marT="91425" marB="91425" marR="91425" marL="91425"/>
                </a:tc>
                <a:tc rowSpan="2">
                  <a:txBody>
                    <a:bodyPr/>
                    <a:lstStyle/>
                    <a:p>
                      <a:pPr indent="0" lvl="0" marL="0" rtl="0" algn="l">
                        <a:spcBef>
                          <a:spcPts val="0"/>
                        </a:spcBef>
                        <a:spcAft>
                          <a:spcPts val="0"/>
                        </a:spcAft>
                        <a:buNone/>
                      </a:pPr>
                      <a:r>
                        <a:rPr lang="en" sz="1200"/>
                        <a:t>AGND</a:t>
                      </a:r>
                      <a:endParaRPr sz="1200"/>
                    </a:p>
                  </a:txBody>
                  <a:tcPr marT="91425" marB="91425" marR="91425" marL="91425"/>
                </a:tc>
                <a:tc>
                  <a:txBody>
                    <a:bodyPr/>
                    <a:lstStyle/>
                    <a:p>
                      <a:pPr indent="0" lvl="0" marL="0" rtl="0" algn="l">
                        <a:spcBef>
                          <a:spcPts val="0"/>
                        </a:spcBef>
                        <a:spcAft>
                          <a:spcPts val="0"/>
                        </a:spcAft>
                        <a:buNone/>
                      </a:pPr>
                      <a:r>
                        <a:rPr b="1" lang="en" sz="1200"/>
                        <a:t>ON</a:t>
                      </a:r>
                      <a:endParaRPr b="1" sz="1200"/>
                    </a:p>
                  </a:txBody>
                  <a:tcPr marT="91425" marB="91425" marR="91425" marL="91425"/>
                </a:tc>
                <a:tc>
                  <a:txBody>
                    <a:bodyPr/>
                    <a:lstStyle/>
                    <a:p>
                      <a:pPr indent="0" lvl="0" marL="0" rtl="0" algn="l">
                        <a:spcBef>
                          <a:spcPts val="0"/>
                        </a:spcBef>
                        <a:spcAft>
                          <a:spcPts val="0"/>
                        </a:spcAft>
                        <a:buNone/>
                      </a:pPr>
                      <a:r>
                        <a:rPr b="1" lang="en" sz="1200">
                          <a:solidFill>
                            <a:srgbClr val="CC0000"/>
                          </a:solidFill>
                        </a:rPr>
                        <a:t>AGND is connected to GND.</a:t>
                      </a:r>
                      <a:endParaRPr b="1" sz="1200">
                        <a:solidFill>
                          <a:srgbClr val="CC0000"/>
                        </a:solidFill>
                      </a:endParaRPr>
                    </a:p>
                  </a:txBody>
                  <a:tcPr marT="91425" marB="91425" marR="91425" marL="91425"/>
                </a:tc>
              </a:tr>
              <a:tr h="381000">
                <a:tc vMerge="1"/>
                <a:tc vMerge="1"/>
                <a:tc>
                  <a:txBody>
                    <a:bodyPr/>
                    <a:lstStyle/>
                    <a:p>
                      <a:pPr indent="0" lvl="0" marL="0" rtl="0" algn="l">
                        <a:spcBef>
                          <a:spcPts val="0"/>
                        </a:spcBef>
                        <a:spcAft>
                          <a:spcPts val="0"/>
                        </a:spcAft>
                        <a:buNone/>
                      </a:pPr>
                      <a:r>
                        <a:rPr lang="en" sz="1200"/>
                        <a:t>OFF</a:t>
                      </a:r>
                      <a:endParaRPr sz="1200"/>
                    </a:p>
                  </a:txBody>
                  <a:tcPr marT="91425" marB="91425" marR="91425" marL="91425"/>
                </a:tc>
                <a:tc>
                  <a:txBody>
                    <a:bodyPr/>
                    <a:lstStyle/>
                    <a:p>
                      <a:pPr indent="0" lvl="0" marL="0" rtl="0" algn="l">
                        <a:spcBef>
                          <a:spcPts val="0"/>
                        </a:spcBef>
                        <a:spcAft>
                          <a:spcPts val="0"/>
                        </a:spcAft>
                        <a:buNone/>
                      </a:pPr>
                      <a:r>
                        <a:rPr lang="en" sz="1200"/>
                        <a:t>AGND is not connected to GND.</a:t>
                      </a:r>
                      <a:endParaRPr sz="1200"/>
                    </a:p>
                  </a:txBody>
                  <a:tcPr marT="91425" marB="91425" marR="91425" marL="91425"/>
                </a:tc>
              </a:tr>
            </a:tbl>
          </a:graphicData>
        </a:graphic>
      </p:graphicFrame>
      <p:sp>
        <p:nvSpPr>
          <p:cNvPr id="423" name="Google Shape;423;p45"/>
          <p:cNvSpPr/>
          <p:nvPr/>
        </p:nvSpPr>
        <p:spPr>
          <a:xfrm>
            <a:off x="677625" y="1093250"/>
            <a:ext cx="558300" cy="2649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4" name="Google Shape;424;p45"/>
          <p:cNvCxnSpPr>
            <a:stCxn id="423" idx="2"/>
          </p:cNvCxnSpPr>
          <p:nvPr/>
        </p:nvCxnSpPr>
        <p:spPr>
          <a:xfrm flipH="1">
            <a:off x="952575" y="1358150"/>
            <a:ext cx="4200" cy="1349100"/>
          </a:xfrm>
          <a:prstGeom prst="straightConnector1">
            <a:avLst/>
          </a:prstGeom>
          <a:noFill/>
          <a:ln cap="flat" cmpd="sng" w="19050">
            <a:solidFill>
              <a:srgbClr val="CC0000"/>
            </a:solidFill>
            <a:prstDash val="solid"/>
            <a:round/>
            <a:headEnd len="med" w="med" type="none"/>
            <a:tailEnd len="med" w="med" type="none"/>
          </a:ln>
        </p:spPr>
      </p:cxnSp>
      <p:cxnSp>
        <p:nvCxnSpPr>
          <p:cNvPr id="425" name="Google Shape;425;p45"/>
          <p:cNvCxnSpPr/>
          <p:nvPr/>
        </p:nvCxnSpPr>
        <p:spPr>
          <a:xfrm>
            <a:off x="957975" y="2709225"/>
            <a:ext cx="3960600" cy="3600"/>
          </a:xfrm>
          <a:prstGeom prst="straightConnector1">
            <a:avLst/>
          </a:prstGeom>
          <a:noFill/>
          <a:ln cap="flat" cmpd="sng" w="19050">
            <a:solidFill>
              <a:srgbClr val="CC0000"/>
            </a:solidFill>
            <a:prstDash val="solid"/>
            <a:round/>
            <a:headEnd len="med" w="med" type="none"/>
            <a:tailEnd len="med" w="med" type="triangle"/>
          </a:ln>
        </p:spPr>
      </p:cxnSp>
      <p:cxnSp>
        <p:nvCxnSpPr>
          <p:cNvPr id="426" name="Google Shape;426;p45"/>
          <p:cNvCxnSpPr/>
          <p:nvPr/>
        </p:nvCxnSpPr>
        <p:spPr>
          <a:xfrm>
            <a:off x="6677250" y="3021825"/>
            <a:ext cx="5700" cy="1868700"/>
          </a:xfrm>
          <a:prstGeom prst="straightConnector1">
            <a:avLst/>
          </a:prstGeom>
          <a:noFill/>
          <a:ln cap="flat" cmpd="sng" w="19050">
            <a:solidFill>
              <a:srgbClr val="0000FF"/>
            </a:solidFill>
            <a:prstDash val="solid"/>
            <a:round/>
            <a:headEnd len="med" w="med" type="none"/>
            <a:tailEnd len="med" w="med" type="none"/>
          </a:ln>
        </p:spPr>
      </p:cxnSp>
      <p:cxnSp>
        <p:nvCxnSpPr>
          <p:cNvPr id="427" name="Google Shape;427;p45"/>
          <p:cNvCxnSpPr/>
          <p:nvPr/>
        </p:nvCxnSpPr>
        <p:spPr>
          <a:xfrm>
            <a:off x="6680025" y="3019025"/>
            <a:ext cx="757500" cy="2700"/>
          </a:xfrm>
          <a:prstGeom prst="straightConnector1">
            <a:avLst/>
          </a:prstGeom>
          <a:noFill/>
          <a:ln cap="flat" cmpd="sng" w="19050">
            <a:solidFill>
              <a:srgbClr val="0000FF"/>
            </a:solidFill>
            <a:prstDash val="solid"/>
            <a:round/>
            <a:headEnd len="med" w="med" type="none"/>
            <a:tailEnd len="med" w="med" type="none"/>
          </a:ln>
        </p:spPr>
      </p:cxnSp>
      <p:sp>
        <p:nvSpPr>
          <p:cNvPr id="428" name="Google Shape;428;p45"/>
          <p:cNvSpPr txBox="1"/>
          <p:nvPr/>
        </p:nvSpPr>
        <p:spPr>
          <a:xfrm>
            <a:off x="5082075" y="2534025"/>
            <a:ext cx="979800" cy="3540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2"/>
                </a:solidFill>
              </a:rPr>
              <a:t>12 BIT DAC</a:t>
            </a:r>
            <a:endParaRPr b="1" sz="1100">
              <a:solidFill>
                <a:schemeClr val="dk2"/>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46"/>
          <p:cNvSpPr txBox="1"/>
          <p:nvPr>
            <p:ph type="title"/>
          </p:nvPr>
        </p:nvSpPr>
        <p:spPr>
          <a:xfrm>
            <a:off x="267150" y="292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 conversion timing</a:t>
            </a:r>
            <a:endParaRPr/>
          </a:p>
        </p:txBody>
      </p:sp>
      <p:pic>
        <p:nvPicPr>
          <p:cNvPr id="434" name="Google Shape;434;p46"/>
          <p:cNvPicPr preferRelativeResize="0"/>
          <p:nvPr/>
        </p:nvPicPr>
        <p:blipFill>
          <a:blip r:embed="rId3">
            <a:alphaModFix/>
          </a:blip>
          <a:stretch>
            <a:fillRect/>
          </a:stretch>
        </p:blipFill>
        <p:spPr>
          <a:xfrm>
            <a:off x="843400" y="4499950"/>
            <a:ext cx="7277100" cy="1562100"/>
          </a:xfrm>
          <a:prstGeom prst="rect">
            <a:avLst/>
          </a:prstGeom>
          <a:noFill/>
          <a:ln>
            <a:noFill/>
          </a:ln>
        </p:spPr>
      </p:pic>
      <p:pic>
        <p:nvPicPr>
          <p:cNvPr id="435" name="Google Shape;435;p46"/>
          <p:cNvPicPr preferRelativeResize="0"/>
          <p:nvPr/>
        </p:nvPicPr>
        <p:blipFill>
          <a:blip r:embed="rId4">
            <a:alphaModFix/>
          </a:blip>
          <a:stretch>
            <a:fillRect/>
          </a:stretch>
        </p:blipFill>
        <p:spPr>
          <a:xfrm>
            <a:off x="345150" y="927500"/>
            <a:ext cx="8273600" cy="3289500"/>
          </a:xfrm>
          <a:prstGeom prst="rect">
            <a:avLst/>
          </a:prstGeom>
          <a:noFill/>
          <a:ln>
            <a:noFill/>
          </a:ln>
        </p:spPr>
      </p:pic>
      <p:sp>
        <p:nvSpPr>
          <p:cNvPr id="436" name="Google Shape;436;p46"/>
          <p:cNvSpPr/>
          <p:nvPr/>
        </p:nvSpPr>
        <p:spPr>
          <a:xfrm>
            <a:off x="2894600" y="5343900"/>
            <a:ext cx="1447200" cy="289500"/>
          </a:xfrm>
          <a:prstGeom prst="rect">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7" name="Google Shape;437;p46"/>
          <p:cNvSpPr txBox="1"/>
          <p:nvPr/>
        </p:nvSpPr>
        <p:spPr>
          <a:xfrm>
            <a:off x="3642450" y="5002975"/>
            <a:ext cx="185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FF"/>
                </a:solidFill>
              </a:rPr>
              <a:t>14 ADC clock cycles</a:t>
            </a:r>
            <a:endParaRPr>
              <a:solidFill>
                <a:srgbClr val="0000FF"/>
              </a:solidFill>
            </a:endParaRPr>
          </a:p>
        </p:txBody>
      </p:sp>
      <p:sp>
        <p:nvSpPr>
          <p:cNvPr id="438" name="Google Shape;438;p46"/>
          <p:cNvSpPr txBox="1"/>
          <p:nvPr/>
        </p:nvSpPr>
        <p:spPr>
          <a:xfrm>
            <a:off x="1865650" y="6062050"/>
            <a:ext cx="5232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Without prescaling, our default clock runs at 12 MHz. How long does a 12-bit conversion take?</a:t>
            </a:r>
            <a:endParaRPr sz="1800">
              <a:solidFill>
                <a:srgbClr val="0000FF"/>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47"/>
          <p:cNvSpPr txBox="1"/>
          <p:nvPr>
            <p:ph type="title"/>
          </p:nvPr>
        </p:nvSpPr>
        <p:spPr>
          <a:xfrm>
            <a:off x="311700" y="1793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"Homework" - to help you get a head start on the lab</a:t>
            </a:r>
            <a:endParaRPr/>
          </a:p>
        </p:txBody>
      </p:sp>
      <p:sp>
        <p:nvSpPr>
          <p:cNvPr id="444" name="Google Shape;444;p47"/>
          <p:cNvSpPr txBox="1"/>
          <p:nvPr/>
        </p:nvSpPr>
        <p:spPr>
          <a:xfrm>
            <a:off x="454950" y="814125"/>
            <a:ext cx="8439900" cy="5884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600"/>
              <a:t>Dig into the STM32C0x1 reference manual and modify the ADC_pot.c program in a few ways (make one change at a time, then change it back).  </a:t>
            </a:r>
            <a:r>
              <a:rPr b="1" lang="en" sz="1600"/>
              <a:t>Keep records for Lab 4.</a:t>
            </a:r>
            <a:endParaRPr b="1" sz="1600"/>
          </a:p>
          <a:p>
            <a:pPr indent="-330200" lvl="0" marL="457200" rtl="0" algn="l">
              <a:lnSpc>
                <a:spcPct val="115000"/>
              </a:lnSpc>
              <a:spcBef>
                <a:spcPts val="1000"/>
              </a:spcBef>
              <a:spcAft>
                <a:spcPts val="0"/>
              </a:spcAft>
              <a:buSzPts val="1600"/>
              <a:buChar char="●"/>
            </a:pPr>
            <a:r>
              <a:rPr lang="en" sz="1600"/>
              <a:t>Change the </a:t>
            </a:r>
            <a:r>
              <a:rPr b="1" lang="en" sz="1600"/>
              <a:t>analog input channel</a:t>
            </a:r>
            <a:r>
              <a:rPr lang="en" sz="1600"/>
              <a:t> from </a:t>
            </a:r>
            <a:r>
              <a:rPr lang="en" sz="1600"/>
              <a:t>from 0 to 3 (rewire the circuit appropriately). Make sure that the program still works properly. Here, Channel 3 refers to the pin labelled A3 on the board.  You will need to find out what GPIO pin that is connected to (from the pinout chart on Canvas), then find out which internal ADC channel that GPIO is connected too.  Lots of translations - proceed methodically!</a:t>
            </a:r>
            <a:endParaRPr sz="1600"/>
          </a:p>
          <a:p>
            <a:pPr indent="-330200" lvl="0" marL="457200" rtl="0" algn="l">
              <a:lnSpc>
                <a:spcPct val="115000"/>
              </a:lnSpc>
              <a:spcBef>
                <a:spcPts val="1000"/>
              </a:spcBef>
              <a:spcAft>
                <a:spcPts val="0"/>
              </a:spcAft>
              <a:buSzPts val="1600"/>
              <a:buChar char="●"/>
            </a:pPr>
            <a:r>
              <a:rPr lang="en" sz="1600">
                <a:solidFill>
                  <a:schemeClr val="dk1"/>
                </a:solidFill>
              </a:rPr>
              <a:t>Set your potentiometer output voltage to 1 volt (measured on your DMM). </a:t>
            </a:r>
            <a:r>
              <a:rPr lang="en" sz="1600">
                <a:solidFill>
                  <a:schemeClr val="dk1"/>
                </a:solidFill>
              </a:rPr>
              <a:t>Note what the ADC output is.  </a:t>
            </a:r>
            <a:r>
              <a:rPr lang="en" sz="1600"/>
              <a:t>Change the </a:t>
            </a:r>
            <a:r>
              <a:rPr b="1" lang="en" sz="1600"/>
              <a:t>resolution</a:t>
            </a:r>
            <a:r>
              <a:rPr lang="en" sz="1600"/>
              <a:t> from 12 bits to 10, 8, or 6 bits (you’ll have to make several changes to the code), and note what the ADC output is.  In each case, calculate </a:t>
            </a:r>
            <a:r>
              <a:rPr lang="en" sz="1600">
                <a:solidFill>
                  <a:schemeClr val="dk1"/>
                </a:solidFill>
              </a:rPr>
              <a:t>∆V, </a:t>
            </a:r>
            <a:r>
              <a:rPr lang="en" sz="1600"/>
              <a:t>d</a:t>
            </a:r>
            <a:r>
              <a:rPr lang="en" sz="1600"/>
              <a:t>o the calculation ADC_value = Vin / </a:t>
            </a:r>
            <a:r>
              <a:rPr lang="en" sz="1600">
                <a:solidFill>
                  <a:schemeClr val="dk1"/>
                </a:solidFill>
              </a:rPr>
              <a:t>∆V, and compare with your observations.</a:t>
            </a:r>
            <a:endParaRPr sz="1600"/>
          </a:p>
          <a:p>
            <a:pPr indent="-330200" lvl="0" marL="457200" rtl="0" algn="l">
              <a:lnSpc>
                <a:spcPct val="115000"/>
              </a:lnSpc>
              <a:spcBef>
                <a:spcPts val="1000"/>
              </a:spcBef>
              <a:spcAft>
                <a:spcPts val="1000"/>
              </a:spcAft>
              <a:buSzPts val="1600"/>
              <a:buChar char="●"/>
            </a:pPr>
            <a:r>
              <a:rPr lang="en" sz="1600"/>
              <a:t>You may notice that when you rotate the potentiometer knob through its full range the lowest value you can read is not zero. You may also notice that the ADC value reaches 4095 (the max value) well before the potentiometer has reached the end of its travel. This is because there is a DC offset in the conversion. Fortunately, our ADC provides an automated way to minimize the effects of this offset. Find the section of the reference manual that deals with calibration and try to understand the steps needed to calibrate the ADC.</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