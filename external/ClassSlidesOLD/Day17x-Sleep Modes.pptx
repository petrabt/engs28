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c277de5006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c277de50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c277de5006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c277de500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1347004514_0_4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134700451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1347004514_0_5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134700451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 dynamic power consumption of a CMOS IC is calculated by adding the transient power consumption, and capacitive-load power consumption.</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Transient power consumption is due to the current that flows only when the transistors of the devices are switching from one logic state to another. This is a result of the current required to charge the internal nodes (switching current) plus the through current (current that flows from VCC to GND when the p-channel transistor and n-channel transistor turn on briefly at the same time during the logic transition).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Additional power (capacitive-load) is consumed in charging external load capacitance and is dependent on switching frequency.</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bb44cf9aa8_0_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bb44cf9aa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fe2731fb21_0_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fe2731fb2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1347004514_0_5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134700451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clock we have been using. There are lots of other possible clock sources that can produce primary clocks:</a:t>
            </a:r>
            <a:endParaRPr/>
          </a:p>
          <a:p>
            <a:pPr indent="0" lvl="0" marL="0" rtl="0" algn="l">
              <a:spcBef>
                <a:spcPts val="0"/>
              </a:spcBef>
              <a:spcAft>
                <a:spcPts val="0"/>
              </a:spcAft>
              <a:buClr>
                <a:schemeClr val="dk1"/>
              </a:buClr>
              <a:buSzPts val="1100"/>
              <a:buFont typeface="Arial"/>
              <a:buNone/>
            </a:pPr>
            <a:r>
              <a:rPr lang="en"/>
              <a:t>• HSI48 RC - a high-speed fully-integrated RC oscillator producing HSI48 clock (48 MHz), divided down by 8 by upon reset. "Our clock".</a:t>
            </a:r>
            <a:endParaRPr/>
          </a:p>
          <a:p>
            <a:pPr indent="0" lvl="0" marL="0" rtl="0" algn="l">
              <a:spcBef>
                <a:spcPts val="0"/>
              </a:spcBef>
              <a:spcAft>
                <a:spcPts val="0"/>
              </a:spcAft>
              <a:buClr>
                <a:schemeClr val="dk1"/>
              </a:buClr>
              <a:buSzPts val="1100"/>
              <a:buFont typeface="Arial"/>
              <a:buNone/>
            </a:pPr>
            <a:r>
              <a:rPr lang="en"/>
              <a:t>• HSE OSC - a high-speed oscillator with external crystal/ceramic resonator or external clock source, producing HSE clock (4 to 48 MHz)</a:t>
            </a:r>
            <a:endParaRPr/>
          </a:p>
          <a:p>
            <a:pPr indent="0" lvl="0" marL="0" rtl="0" algn="l">
              <a:spcBef>
                <a:spcPts val="0"/>
              </a:spcBef>
              <a:spcAft>
                <a:spcPts val="0"/>
              </a:spcAft>
              <a:buClr>
                <a:schemeClr val="dk1"/>
              </a:buClr>
              <a:buSzPts val="1100"/>
              <a:buFont typeface="Arial"/>
              <a:buNone/>
            </a:pPr>
            <a:r>
              <a:rPr lang="en"/>
              <a:t>• LSI RC - a low-speed fully-integrated RC oscillator producing LSI clock (about 32 kHz)</a:t>
            </a:r>
            <a:endParaRPr/>
          </a:p>
          <a:p>
            <a:pPr indent="0" lvl="0" marL="0" rtl="0" algn="l">
              <a:spcBef>
                <a:spcPts val="0"/>
              </a:spcBef>
              <a:spcAft>
                <a:spcPts val="0"/>
              </a:spcAft>
              <a:buClr>
                <a:schemeClr val="dk1"/>
              </a:buClr>
              <a:buSzPts val="1100"/>
              <a:buFont typeface="Arial"/>
              <a:buNone/>
            </a:pPr>
            <a:r>
              <a:rPr lang="en"/>
              <a:t>• LSE OSC - a low-speed oscillator with external crystal/ceramic resonator or external clock source, producing LSE clock (accurate 32.768 kHz or external clock up to 1 MHz)</a:t>
            </a:r>
            <a:endParaRPr/>
          </a:p>
          <a:p>
            <a:pPr indent="0" lvl="0" marL="0" rtl="0" algn="l">
              <a:spcBef>
                <a:spcPts val="0"/>
              </a:spcBef>
              <a:spcAft>
                <a:spcPts val="0"/>
              </a:spcAft>
              <a:buClr>
                <a:schemeClr val="dk1"/>
              </a:buClr>
              <a:buSzPts val="1100"/>
              <a:buFont typeface="Arial"/>
              <a:buNone/>
            </a:pPr>
            <a:r>
              <a:rPr lang="en"/>
              <a:t>• I2S_CKIN - pin for direct clock input for I2S1 peripheral</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fe2731fb21_0_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fe2731fb2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003deff9fa_0_4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003deff9f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003deff9fa_0_5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003deff9f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003deff9fa_0_6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003deff9fa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003deff9fa_0_7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003deff9f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1347004514_0_7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1347004514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void sleep_cpu	(	void 		)	</a:t>
            </a:r>
            <a:endParaRPr/>
          </a:p>
          <a:p>
            <a:pPr indent="0" lvl="0" marL="0" rtl="0" algn="l">
              <a:spcBef>
                <a:spcPts val="0"/>
              </a:spcBef>
              <a:spcAft>
                <a:spcPts val="0"/>
              </a:spcAft>
              <a:buClr>
                <a:schemeClr val="dk1"/>
              </a:buClr>
              <a:buSzPts val="1100"/>
              <a:buFont typeface="Arial"/>
              <a:buNone/>
            </a:pPr>
            <a:r>
              <a:rPr lang="en"/>
              <a:t>Put the device into sleep mode. The SE bit must be set beforehand, and it is recommended to clear it afterwards.</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1347004514_0_8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1347004514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1347004514_0_9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1347004514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1347004514_0_9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1347004514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333333"/>
                </a:solidFill>
              </a:rPr>
              <a:t>A watchdog timer (WDT) is a timer that monitors microcontroller programs to see if they are out of control or have stopped operating. It acts as a “watchdog” watching over MCU operation. </a:t>
            </a:r>
            <a:endParaRPr sz="1500">
              <a:solidFill>
                <a:srgbClr val="333333"/>
              </a:solidFill>
            </a:endParaRPr>
          </a:p>
          <a:p>
            <a:pPr indent="0" lvl="0" marL="0" rtl="0" algn="l">
              <a:spcBef>
                <a:spcPts val="2000"/>
              </a:spcBef>
              <a:spcAft>
                <a:spcPts val="0"/>
              </a:spcAft>
              <a:buClr>
                <a:schemeClr val="dk1"/>
              </a:buClr>
              <a:buSzPts val="1100"/>
              <a:buFont typeface="Arial"/>
              <a:buNone/>
            </a:pPr>
            <a:r>
              <a:rPr lang="en" sz="1500">
                <a:solidFill>
                  <a:srgbClr val="333333"/>
                </a:solidFill>
              </a:rPr>
              <a:t>The IWDG protects you from the system dying: protects from clock failure, memory bits accidentally changing, deep system lockups. A hardware-level safety net. Keeps running even if the system clock fails.</a:t>
            </a:r>
            <a:endParaRPr sz="1500">
              <a:solidFill>
                <a:srgbClr val="333333"/>
              </a:solidFill>
            </a:endParaRPr>
          </a:p>
          <a:p>
            <a:pPr indent="0" lvl="0" marL="0" rtl="0" algn="l">
              <a:spcBef>
                <a:spcPts val="2000"/>
              </a:spcBef>
              <a:spcAft>
                <a:spcPts val="0"/>
              </a:spcAft>
              <a:buNone/>
            </a:pPr>
            <a:r>
              <a:rPr lang="en" sz="1500">
                <a:solidFill>
                  <a:srgbClr val="333333"/>
                </a:solidFill>
              </a:rPr>
              <a:t>The WWDG protects you from the system misbehaving: unexpected execution speed (too fast - skipped code - or too slow - runaway code). More about runtime behavior. Depends on system clock being functional.</a:t>
            </a:r>
            <a:endParaRPr sz="1500">
              <a:solidFill>
                <a:srgbClr val="333333"/>
              </a:solidFill>
            </a:endParaRPr>
          </a:p>
          <a:p>
            <a:pPr indent="0" lvl="0" marL="0" rtl="0" algn="l">
              <a:spcBef>
                <a:spcPts val="2000"/>
              </a:spcBef>
              <a:spcAft>
                <a:spcPts val="0"/>
              </a:spcAft>
              <a:buNone/>
            </a:pPr>
            <a:r>
              <a:t/>
            </a:r>
            <a:endParaRPr sz="1500">
              <a:solidFill>
                <a:srgbClr val="333333"/>
              </a:solidFill>
            </a:endParaRPr>
          </a:p>
          <a:p>
            <a:pPr indent="0" lvl="0" marL="0" rtl="0" algn="l">
              <a:spcBef>
                <a:spcPts val="2000"/>
              </a:spcBef>
              <a:spcAft>
                <a:spcPts val="0"/>
              </a:spcAft>
              <a:buNone/>
            </a:pPr>
            <a:r>
              <a:rPr lang="en" sz="1500">
                <a:solidFill>
                  <a:srgbClr val="333333"/>
                </a:solidFill>
              </a:rPr>
              <a:t>When the independent watchdog is started by writing the value 0x0000 CCCC in the IWDG key register (IWDG_KR), the counter starts counting down from the reset value of 0xFFF. When it reaches the end of count value (0x000) a reset signal is generated (IWDG reset). Whenever the key value 0x0000 AAAA is written in the IWDG key register (IWDG_KR), the IWDG_RLR value is reloaded in the counter and the watchdog reset is prevented. Once running, the IWDG cannot be stopped.</a:t>
            </a:r>
            <a:endParaRPr sz="1500">
              <a:solidFill>
                <a:srgbClr val="333333"/>
              </a:solidFill>
            </a:endParaRPr>
          </a:p>
          <a:p>
            <a:pPr indent="0" lvl="0" marL="0" rtl="0" algn="l">
              <a:spcBef>
                <a:spcPts val="2000"/>
              </a:spcBef>
              <a:spcAft>
                <a:spcPts val="0"/>
              </a:spcAft>
              <a:buClr>
                <a:schemeClr val="dk1"/>
              </a:buClr>
              <a:buSzPts val="1100"/>
              <a:buFont typeface="Arial"/>
              <a:buNone/>
            </a:pPr>
            <a:r>
              <a:rPr lang="en" sz="1500">
                <a:solidFill>
                  <a:srgbClr val="333333"/>
                </a:solidFill>
              </a:rPr>
              <a:t>If the window watchdog is activated (the WDGA bit is set in the WWDG_CR register), and when the 7-bit down-counter (T[6:0] bits) is decremented from 0x40 to 0x3F (T6 becomes cleared), it initiates a reset. If the software reloads the counter while the counter is greater than the value stored in the window register, then a reset is generated. The application program must write in the WWDG_CR register at regular intervals during normal operation to prevent an MCU reset. This operation can take place only when the counter value is lower than or equal to the window register value, and higher than 0x3F. The value to be stored in the WWDG_CR register must be between 0xFF and 0xC0.</a:t>
            </a:r>
            <a:endParaRPr sz="1500">
              <a:solidFill>
                <a:srgbClr val="333333"/>
              </a:solidFill>
            </a:endParaRPr>
          </a:p>
          <a:p>
            <a:pPr indent="0" lvl="0" marL="0" rtl="0" algn="l">
              <a:spcBef>
                <a:spcPts val="2000"/>
              </a:spcBef>
              <a:spcAft>
                <a:spcPts val="0"/>
              </a:spcAft>
              <a:buClr>
                <a:schemeClr val="dk1"/>
              </a:buClr>
              <a:buSzPts val="1100"/>
              <a:buFont typeface="Arial"/>
              <a:buNone/>
            </a:pPr>
            <a:r>
              <a:rPr lang="en" sz="1500">
                <a:solidFill>
                  <a:srgbClr val="333333"/>
                </a:solidFill>
              </a:rPr>
              <a:t>The IWDG is "petted" via a simple counter reset from somewhere in your program.  The problem with this type of reset is what happens if the code that resets the IWDG is in the infinite loop that's crashed the code? The counter will be constantly reset but the CPU never restarts even though it isn't working.</a:t>
            </a:r>
            <a:endParaRPr sz="1500">
              <a:solidFill>
                <a:srgbClr val="333333"/>
              </a:solidFill>
            </a:endParaRPr>
          </a:p>
          <a:p>
            <a:pPr indent="0" lvl="0" marL="0" rtl="0" algn="l">
              <a:spcBef>
                <a:spcPts val="2000"/>
              </a:spcBef>
              <a:spcAft>
                <a:spcPts val="0"/>
              </a:spcAft>
              <a:buClr>
                <a:schemeClr val="dk1"/>
              </a:buClr>
              <a:buSzPts val="1100"/>
              <a:buFont typeface="Arial"/>
              <a:buNone/>
            </a:pPr>
            <a:r>
              <a:rPr lang="en" sz="1500">
                <a:solidFill>
                  <a:srgbClr val="333333"/>
                </a:solidFill>
              </a:rPr>
              <a:t>The WWDG sets up a window with a minimum and maximum time between WWDG reset pulses.  Clear the WWDG too soon (i.e. inside a loop as above) and it will force a reset.  Same if the WWDG pulse is too late, resets the same as if the IWDG timed out. Both watchdogs are useful. </a:t>
            </a:r>
            <a:endParaRPr sz="1500">
              <a:solidFill>
                <a:srgbClr val="333333"/>
              </a:solidFill>
            </a:endParaRPr>
          </a:p>
          <a:p>
            <a:pPr indent="0" lvl="0" marL="0" rtl="0" algn="l">
              <a:lnSpc>
                <a:spcPct val="100000"/>
              </a:lnSpc>
              <a:spcBef>
                <a:spcPts val="2000"/>
              </a:spcBef>
              <a:spcAft>
                <a:spcPts val="2000"/>
              </a:spcAft>
              <a:buNone/>
            </a:pPr>
            <a:r>
              <a:t/>
            </a:r>
            <a:endParaRPr sz="1500">
              <a:solidFill>
                <a:srgbClr val="333333"/>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cac51af39d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cac51af39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cac51af39d_0_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cac51af39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56d77b0a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956d77b0a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cac51af39d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cac51af39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956d77b0ac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956d77b0ac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c3ffdf9be5_0_2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c3ffdf9be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c3ffdf9be5_0_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c3ffdf9be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Arduino is not the only game in town. In the hobby world it's the only game in town (in terms of getting people interested, </a:t>
            </a:r>
            <a:r>
              <a:rPr lang="en" sz="1400"/>
              <a:t>having</a:t>
            </a:r>
            <a:r>
              <a:rPr lang="en" sz="1400"/>
              <a:t> lots of fun, Adafruit and others sell a lot of stuff, etc).</a:t>
            </a:r>
            <a:endParaRPr sz="1400"/>
          </a:p>
          <a:p>
            <a:pPr indent="0" lvl="0" marL="0" rtl="0" algn="l">
              <a:spcBef>
                <a:spcPts val="0"/>
              </a:spcBef>
              <a:spcAft>
                <a:spcPts val="0"/>
              </a:spcAft>
              <a:buNone/>
            </a:pPr>
            <a:r>
              <a:rPr lang="en" sz="1400"/>
              <a:t>You are not going to do major </a:t>
            </a:r>
            <a:r>
              <a:rPr lang="en" sz="1400"/>
              <a:t>embedded</a:t>
            </a:r>
            <a:r>
              <a:rPr lang="en" sz="1400"/>
              <a:t> systems work on an Arduino Uno.</a:t>
            </a:r>
            <a:endParaRPr sz="1400"/>
          </a:p>
          <a:p>
            <a:pPr indent="0" lvl="0" marL="0" rtl="0" algn="l">
              <a:spcBef>
                <a:spcPts val="0"/>
              </a:spcBef>
              <a:spcAft>
                <a:spcPts val="0"/>
              </a:spcAft>
              <a:buNone/>
            </a:pPr>
            <a:r>
              <a:rPr lang="en" sz="1400"/>
              <a:t>If you want to do industrial stuff you need to up the game.</a:t>
            </a:r>
            <a:endParaRPr sz="1400"/>
          </a:p>
          <a:p>
            <a:pPr indent="0" lvl="0" marL="0" rtl="0" algn="l">
              <a:spcBef>
                <a:spcPts val="0"/>
              </a:spcBef>
              <a:spcAft>
                <a:spcPts val="0"/>
              </a:spcAft>
              <a:buNone/>
            </a:pPr>
            <a:r>
              <a:rPr lang="en" sz="1400"/>
              <a:t>It's not that much more expensive. Trends are: </a:t>
            </a:r>
            <a:endParaRPr sz="1400"/>
          </a:p>
          <a:p>
            <a:pPr indent="0" lvl="0" marL="0" rtl="0" algn="l">
              <a:spcBef>
                <a:spcPts val="0"/>
              </a:spcBef>
              <a:spcAft>
                <a:spcPts val="0"/>
              </a:spcAft>
              <a:buNone/>
            </a:pPr>
            <a:r>
              <a:rPr lang="en" sz="1400"/>
              <a:t>Having a microcontroller with 32-bit registers -&gt; more </a:t>
            </a:r>
            <a:r>
              <a:rPr lang="en" sz="1400"/>
              <a:t>complicated</a:t>
            </a:r>
            <a:r>
              <a:rPr lang="en" sz="1400"/>
              <a:t> </a:t>
            </a:r>
            <a:r>
              <a:rPr lang="en" sz="1400"/>
              <a:t>instruction</a:t>
            </a:r>
            <a:r>
              <a:rPr lang="en" sz="1400"/>
              <a:t> sets, more complex calculations (Arduino: adding to 16-bit numbers takes several clock cycles since you have to break up each number into two 8-bit numbers etc).</a:t>
            </a:r>
            <a:endParaRPr sz="1400"/>
          </a:p>
          <a:p>
            <a:pPr indent="0" lvl="0" marL="0" rtl="0" algn="l">
              <a:spcBef>
                <a:spcPts val="0"/>
              </a:spcBef>
              <a:spcAft>
                <a:spcPts val="0"/>
              </a:spcAft>
              <a:buNone/>
            </a:pPr>
            <a:r>
              <a:rPr lang="en" sz="1400"/>
              <a:t>For a 32-bit microcontroller the arithmetic unit is 32-bits wide, so can multiply two 32-bit numbers in hardware in one clock cycle.</a:t>
            </a:r>
            <a:endParaRPr sz="1400"/>
          </a:p>
          <a:p>
            <a:pPr indent="0" lvl="0" marL="0" rtl="0" algn="l">
              <a:spcBef>
                <a:spcPts val="0"/>
              </a:spcBef>
              <a:spcAft>
                <a:spcPts val="0"/>
              </a:spcAft>
              <a:buNone/>
            </a:pPr>
            <a:r>
              <a:rPr lang="en" sz="1400"/>
              <a:t>That doesn't mean that smaller processors aren't useful (for example, the keypad on your dishwasher is probably handled by an 8-bit processor).</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Competitor to the AVR is the PIC; now both are under the same company.</a:t>
            </a:r>
            <a:endParaRPr sz="1400"/>
          </a:p>
          <a:p>
            <a:pPr indent="0" lvl="0" marL="0" rtl="0" algn="l">
              <a:spcBef>
                <a:spcPts val="0"/>
              </a:spcBef>
              <a:spcAft>
                <a:spcPts val="0"/>
              </a:spcAft>
              <a:buNone/>
            </a:pPr>
            <a:r>
              <a:rPr lang="en" sz="1400"/>
              <a:t>TI also has one.</a:t>
            </a:r>
            <a:endParaRPr sz="1400"/>
          </a:p>
          <a:p>
            <a:pPr indent="0" lvl="0" marL="0" rtl="0" algn="l">
              <a:spcBef>
                <a:spcPts val="0"/>
              </a:spcBef>
              <a:spcAft>
                <a:spcPts val="0"/>
              </a:spcAft>
              <a:buNone/>
            </a:pPr>
            <a:r>
              <a:rPr lang="en" sz="1400"/>
              <a:t>Big dog these days in 32-bit processor design is ARM. They don't </a:t>
            </a:r>
            <a:r>
              <a:rPr lang="en" sz="1400"/>
              <a:t>actually</a:t>
            </a:r>
            <a:r>
              <a:rPr lang="en" sz="1400"/>
              <a:t> make chips: they design them and then license the design to companies that fabricate them. They are fabricated in Korea, Taiwan, etc. </a:t>
            </a:r>
            <a:endParaRPr sz="1400"/>
          </a:p>
          <a:p>
            <a:pPr indent="0" lvl="0" marL="0" rtl="0" algn="l">
              <a:spcBef>
                <a:spcPts val="0"/>
              </a:spcBef>
              <a:spcAft>
                <a:spcPts val="0"/>
              </a:spcAft>
              <a:buNone/>
            </a:pPr>
            <a:r>
              <a:rPr lang="en" sz="1400"/>
              <a:t>Xilinx is fabless! They design and then the chips are fabricated elsewhere.</a:t>
            </a:r>
            <a:endParaRPr sz="1400"/>
          </a:p>
          <a:p>
            <a:pPr indent="0" lvl="0" marL="0" rtl="0" algn="l">
              <a:spcBef>
                <a:spcPts val="0"/>
              </a:spcBef>
              <a:spcAft>
                <a:spcPts val="0"/>
              </a:spcAft>
              <a:buNone/>
            </a:pPr>
            <a:r>
              <a:rPr lang="en" sz="1400"/>
              <a:t>Cutting-edge fab stuff is happening just at a handful of companies.</a:t>
            </a:r>
            <a:endParaRPr sz="1400"/>
          </a:p>
          <a:p>
            <a:pPr indent="0" lvl="0" marL="0" rtl="0" algn="l">
              <a:spcBef>
                <a:spcPts val="0"/>
              </a:spcBef>
              <a:spcAft>
                <a:spcPts val="0"/>
              </a:spcAft>
              <a:buNone/>
            </a:pPr>
            <a:r>
              <a:rPr lang="en" sz="1400"/>
              <a:t>But having a bunch of CAD stations and smart people is much cheaper. </a:t>
            </a:r>
            <a:endParaRPr sz="1400"/>
          </a:p>
          <a:p>
            <a:pPr indent="0" lvl="0" marL="0" rtl="0" algn="l">
              <a:spcBef>
                <a:spcPts val="0"/>
              </a:spcBef>
              <a:spcAft>
                <a:spcPts val="0"/>
              </a:spcAft>
              <a:buNone/>
            </a:pPr>
            <a:r>
              <a:rPr lang="en" sz="1400"/>
              <a:t>ARM designs 32-bit and 64-bit architectures. The M0 and M4 are the most commonly seen architectures.</a:t>
            </a:r>
            <a:endParaRPr sz="1400"/>
          </a:p>
          <a:p>
            <a:pPr indent="0" lvl="0" marL="0" rtl="0" algn="l">
              <a:spcBef>
                <a:spcPts val="0"/>
              </a:spcBef>
              <a:spcAft>
                <a:spcPts val="0"/>
              </a:spcAft>
              <a:buNone/>
            </a:pPr>
            <a:r>
              <a:rPr lang="en" sz="1400"/>
              <a:t>You can go out and buy </a:t>
            </a:r>
            <a:r>
              <a:rPr lang="en" sz="1400"/>
              <a:t>microcontroller</a:t>
            </a:r>
            <a:r>
              <a:rPr lang="en" sz="1400"/>
              <a:t> chips that are based on these architectures from multiple vendors. They are all based on the same architecture but differ in some other details.  You have to look at those differences.</a:t>
            </a:r>
            <a:endParaRPr sz="1400"/>
          </a:p>
          <a:p>
            <a:pPr indent="0" lvl="0" marL="0" rtl="0" algn="l">
              <a:spcBef>
                <a:spcPts val="0"/>
              </a:spcBef>
              <a:spcAft>
                <a:spcPts val="0"/>
              </a:spcAft>
              <a:buNone/>
            </a:pPr>
            <a:r>
              <a:rPr lang="en" sz="1400"/>
              <a:t>Microchip makes the SAMD21 (ARM M0 chip), or SAMD52 (M4)</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Adafruit makes tiny tiny breakout board with USB connector, STEMMA connector, 48 MHz clock, with ARM chip</a:t>
            </a:r>
            <a:endParaRPr sz="1400"/>
          </a:p>
          <a:p>
            <a:pPr indent="0" lvl="0" marL="0" rtl="0" algn="l">
              <a:spcBef>
                <a:spcPts val="0"/>
              </a:spcBef>
              <a:spcAft>
                <a:spcPts val="0"/>
              </a:spcAft>
              <a:buNone/>
            </a:pPr>
            <a:r>
              <a:rPr lang="en" sz="1400"/>
              <a:t>There are a whole bunch of Arduino-</a:t>
            </a:r>
            <a:r>
              <a:rPr lang="en" sz="1400"/>
              <a:t>compatible</a:t>
            </a:r>
            <a:r>
              <a:rPr lang="en" sz="1400"/>
              <a:t> boards with ARM chips (look like Arduino board, but have M0 or M4 etc chip on them). You can compile and upload Arduino code to them. So great for quick </a:t>
            </a:r>
            <a:r>
              <a:rPr lang="en" sz="1400"/>
              <a:t>prototyping</a:t>
            </a:r>
            <a:r>
              <a:rPr lang="en" sz="1400"/>
              <a:t>. So you can try several platforms </a:t>
            </a:r>
            <a:r>
              <a:rPr lang="en" sz="1400"/>
              <a:t>with</a:t>
            </a:r>
            <a:r>
              <a:rPr lang="en" sz="1400"/>
              <a:t> the same code-base.</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STMicroelectronics makes the STM32 (32-bit ARM-based microcontroller)</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Raspberry Pi is also ARM-based (not a microcontroller - these are whole computers)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Etc etc.</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ESP32 (that is your wifi chip) is not an ARM architecture. Espressif (which makes it) is also a fabulous company (in China).</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ENGS 62 uses an ARM Cortex-A9.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A-series is distinguished from M-series (M has lots of pins, timers and stuff) whereas A-series is focussed on computation.</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Raspberry Pi boards use higher power ARM Cortex (64 bit), they are small computers that can run linux. You can do microcontroller-ish things with them, but what you are really doing is there is a C-program running underneath addressing the pins.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NVIDIA makes single-board computer optimized for AI computing. This is a further </a:t>
            </a:r>
            <a:r>
              <a:rPr lang="en" sz="1400"/>
              <a:t>extension</a:t>
            </a:r>
            <a:r>
              <a:rPr lang="en" sz="1400"/>
              <a:t> of microcontroller computing called edge computing.</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141b0ae253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141b0ae25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Great hobby </a:t>
            </a:r>
            <a:r>
              <a:rPr lang="en"/>
              <a:t>magazine</a:t>
            </a:r>
            <a:r>
              <a:rPr lang="en"/>
              <a:t>. Clever people contribute to this.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Annual guide to boards (it's the buyer's guide to the </a:t>
            </a:r>
            <a:r>
              <a:rPr lang="en"/>
              <a:t>landscape</a:t>
            </a:r>
            <a:r>
              <a:rPr lang="en"/>
              <a:t> of boards). Website also has this.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c3ffdf9be5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c3ffdf9be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want to do a </a:t>
            </a:r>
            <a:r>
              <a:rPr lang="en"/>
              <a:t>microcontroller</a:t>
            </a:r>
            <a:r>
              <a:rPr lang="en"/>
              <a:t> project (89-90, etc), there is a lot of sources that want to sell you </a:t>
            </a:r>
            <a:r>
              <a:rPr lang="en"/>
              <a:t>their</a:t>
            </a:r>
            <a:r>
              <a:rPr lang="en"/>
              <a:t> very specific board.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you commit to buying a chip you are buying into the entire ecosystem. A good design depends on more than just the chip (and timers etc). You need the ecosystem, for example the </a:t>
            </a:r>
            <a:r>
              <a:rPr lang="en"/>
              <a:t>prototyping</a:t>
            </a:r>
            <a:r>
              <a:rPr lang="en"/>
              <a:t> support.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lot of boards sell evaluation boards on which you can </a:t>
            </a:r>
            <a:r>
              <a:rPr lang="en"/>
              <a:t>prototype</a:t>
            </a:r>
            <a:r>
              <a:rPr lang="en"/>
              <a:t> </a:t>
            </a:r>
            <a:r>
              <a:rPr lang="en"/>
              <a:t>without</a:t>
            </a:r>
            <a:r>
              <a:rPr lang="en"/>
              <a:t> having to solder your circuits etc. Evaluation boards are designed to help customers </a:t>
            </a:r>
            <a:r>
              <a:rPr lang="en"/>
              <a:t>evaluate</a:t>
            </a:r>
            <a:r>
              <a:rPr lang="en"/>
              <a:t> their boards.</a:t>
            </a:r>
            <a:endParaRPr/>
          </a:p>
          <a:p>
            <a:pPr indent="0" lvl="0" marL="0" rtl="0" algn="l">
              <a:spcBef>
                <a:spcPts val="0"/>
              </a:spcBef>
              <a:spcAft>
                <a:spcPts val="0"/>
              </a:spcAft>
              <a:buClr>
                <a:schemeClr val="dk1"/>
              </a:buClr>
              <a:buSzPts val="1100"/>
              <a:buFont typeface="Arial"/>
              <a:buNone/>
            </a:pPr>
            <a:r>
              <a:rPr lang="en"/>
              <a:t>An evaluation board is (generally) a basic system built around some specific part, along with all the other stuff you need to get that part to work. Sometimes you'll find one built around a technique, rather than a part. (Maybe there is a "respiratory inductive plethysmography evaluation board", but I doubt it.)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For example, an evaluation board for a CPU would typically have that CPU, some RAM, an SD card slot so you can insert your code, some USB ports, some PCI Express slots, an Ethernet port, a header for GPIO/I2C/SPI pins, and perhaps also a VGA port.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Once you stick all these pieces together, and write the software, and it works, you can produce your own circuit board with all the chips on it, and all the connections, because customers won't buy a pile of separate circuit boards and doo-dads duct-taped together. Your circuit board would have the CPU, memory, power supply, sensors, and everything else, on the one board. And then you can connect a battery to it (just a battery, not a USB power bank, because all the other circuitry is on your circuit board), put it inside a neat plastic case and sell it to people.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And evaluation boards are all different, depending on what they're designed to help you evaluate. Asking "which evaluation board can I use?" is a bit like asking "which circuit board should I use?". Don't look directly for evaluation boards - look for a part you want to have, then look for evaluation boards which have that part or a similar one. Often the part is simple enough that you don't need an evaluation board, so don't get hung up on evaluation boards either. It might be useful to collaborate with someone who has some hardware design experience.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Need language support: is there a good compiler?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 they have debuggers? We haven't used this in this class but will be </a:t>
            </a:r>
            <a:r>
              <a:rPr lang="en"/>
              <a:t>important</a:t>
            </a:r>
            <a:r>
              <a:rPr lang="en"/>
              <a:t> as you move on. Step-through your code. There is none for the Arduino. But there are other boards made by other companies that you an plug debutters into. Or emulators, that is a piece of software that pretends to be your chip.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Do you want a real operating system? In our class we are writing bare-metal C. Bit banging and stuff. We are running one thing at a time. This teaches you a lot. Bit trend: RTOS which is the compromise between the convenience of a real OS like Linux and the precision of being able to operate in real time. An OS schedules all the different tasks that have to happen. You don't have any control over what happens when. So you are at the mercy of the OS. A RTOS is designed to keep multiple balls in the air but with precise timing that you have control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cannot run an RTOS on an Arduino but you can run it on a bigger microcontroller.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Device drivers: Adafruit has them for all of their boards (either in Arduino or circuit python). You want that for development! Also want good data sheets and application notes. You want a good developer community and field </a:t>
            </a:r>
            <a:r>
              <a:rPr lang="en"/>
              <a:t>application</a:t>
            </a:r>
            <a:r>
              <a:rPr lang="en"/>
              <a:t> engineers that help you use the company's parts and help you solve your problems. You want to know the company is there for you if you need help.</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6.jp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55" name="Google Shape;55;p13"/>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17x</a:t>
            </a:r>
            <a:endParaRPr sz="2800">
              <a:solidFill>
                <a:srgbClr val="595959"/>
              </a:solidFill>
              <a:latin typeface="Comic Sans MS"/>
              <a:ea typeface="Comic Sans MS"/>
              <a:cs typeface="Comic Sans MS"/>
              <a:sym typeface="Comic Sans MS"/>
            </a:endParaRPr>
          </a:p>
        </p:txBody>
      </p:sp>
      <p:pic>
        <p:nvPicPr>
          <p:cNvPr id="56" name="Google Shape;56;p13"/>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57" name="Google Shape;57;p13"/>
          <p:cNvPicPr preferRelativeResize="0"/>
          <p:nvPr/>
        </p:nvPicPr>
        <p:blipFill rotWithShape="1">
          <a:blip r:embed="rId4">
            <a:alphaModFix/>
          </a:blip>
          <a:srcRect b="0" l="0" r="0" t="0"/>
          <a:stretch/>
        </p:blipFill>
        <p:spPr>
          <a:xfrm>
            <a:off x="7094700" y="6100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63" name="Google Shape;63;p1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Sleep modes / Watchdog timer</a:t>
            </a:r>
            <a:endParaRPr/>
          </a:p>
          <a:p>
            <a:pPr indent="0" lvl="0" marL="0" rtl="0" algn="l">
              <a:spcBef>
                <a:spcPts val="1000"/>
              </a:spcBef>
              <a:spcAft>
                <a:spcPts val="0"/>
              </a:spcAft>
              <a:buNone/>
            </a:pPr>
            <a:r>
              <a:rPr lang="en"/>
              <a:t>Other popular microcontrollers</a:t>
            </a:r>
            <a:endParaRPr/>
          </a:p>
          <a:p>
            <a:pPr indent="0" lvl="0" marL="0" rtl="0" algn="l">
              <a:spcBef>
                <a:spcPts val="1000"/>
              </a:spcBef>
              <a:spcAft>
                <a:spcPts val="0"/>
              </a:spcAft>
              <a:buNone/>
            </a:pPr>
            <a:r>
              <a:rPr lang="en"/>
              <a:t>Project work time</a:t>
            </a:r>
            <a:endParaRPr/>
          </a:p>
          <a:p>
            <a:pPr indent="0" lvl="0" marL="0" rtl="0" algn="l">
              <a:spcBef>
                <a:spcPts val="1000"/>
              </a:spcBef>
              <a:spcAft>
                <a:spcPts val="10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867800"/>
            <a:ext cx="8520600" cy="1428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Power Management (Sleep Modes)</a:t>
            </a:r>
            <a:endParaRPr/>
          </a:p>
          <a:p>
            <a:pPr indent="0" lvl="0" marL="0" rtl="0" algn="ctr">
              <a:spcBef>
                <a:spcPts val="0"/>
              </a:spcBef>
              <a:spcAft>
                <a:spcPts val="0"/>
              </a:spcAft>
              <a:buNone/>
            </a:pPr>
            <a:r>
              <a:t/>
            </a:r>
            <a:endParaRPr sz="2800"/>
          </a:p>
          <a:p>
            <a:pPr indent="0" lvl="0" marL="0" rtl="0" algn="ctr">
              <a:spcBef>
                <a:spcPts val="0"/>
              </a:spcBef>
              <a:spcAft>
                <a:spcPts val="0"/>
              </a:spcAft>
              <a:buNone/>
            </a:pPr>
            <a:r>
              <a:rPr lang="en" sz="2800"/>
              <a:t>Reference Manual,</a:t>
            </a:r>
            <a:r>
              <a:rPr lang="en" sz="2800"/>
              <a:t> Ch 4</a:t>
            </a:r>
            <a:endParaRPr sz="2800"/>
          </a:p>
        </p:txBody>
      </p:sp>
      <p:sp>
        <p:nvSpPr>
          <p:cNvPr id="69" name="Google Shape;69;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Where does the power go?</a:t>
            </a:r>
            <a:endParaRPr/>
          </a:p>
        </p:txBody>
      </p:sp>
      <p:sp>
        <p:nvSpPr>
          <p:cNvPr id="75" name="Google Shape;75;p16"/>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lang="en"/>
              <a:t>microcontroller</a:t>
            </a:r>
            <a:r>
              <a:rPr lang="en"/>
              <a:t> circuits are made of transistors, acting as switches.</a:t>
            </a:r>
            <a:endParaRPr/>
          </a:p>
          <a:p>
            <a:pPr indent="-342900" lvl="0" marL="457200" rtl="0" algn="l">
              <a:spcBef>
                <a:spcPts val="1000"/>
              </a:spcBef>
              <a:spcAft>
                <a:spcPts val="0"/>
              </a:spcAft>
              <a:buSzPts val="1800"/>
              <a:buChar char="●"/>
            </a:pPr>
            <a:r>
              <a:rPr lang="en"/>
              <a:t>Even when a transistor is “off”, a tiny amount of current “leaks” through it, from V</a:t>
            </a:r>
            <a:r>
              <a:rPr baseline="-25000" lang="en"/>
              <a:t>CC</a:t>
            </a:r>
            <a:r>
              <a:rPr lang="en"/>
              <a:t> to ground — </a:t>
            </a:r>
            <a:r>
              <a:rPr b="1" lang="en"/>
              <a:t>static</a:t>
            </a:r>
            <a:r>
              <a:rPr lang="en"/>
              <a:t> power consumption.</a:t>
            </a:r>
            <a:endParaRPr/>
          </a:p>
          <a:p>
            <a:pPr indent="-342900" lvl="0" marL="457200" rtl="0" algn="l">
              <a:spcBef>
                <a:spcPts val="1000"/>
              </a:spcBef>
              <a:spcAft>
                <a:spcPts val="0"/>
              </a:spcAft>
              <a:buSzPts val="1800"/>
              <a:buChar char="●"/>
            </a:pPr>
            <a:r>
              <a:rPr lang="en"/>
              <a:t>To switch a transistor from off to on, or from on to off, a tiny capacitance must be charged or discharged — </a:t>
            </a:r>
            <a:r>
              <a:rPr b="1" lang="en"/>
              <a:t>dynamic</a:t>
            </a:r>
            <a:r>
              <a:rPr lang="en"/>
              <a:t> power consumption.</a:t>
            </a:r>
            <a:endParaRPr/>
          </a:p>
          <a:p>
            <a:pPr indent="-342900" lvl="0" marL="457200" rtl="0" algn="l">
              <a:spcBef>
                <a:spcPts val="1000"/>
              </a:spcBef>
              <a:spcAft>
                <a:spcPts val="0"/>
              </a:spcAft>
              <a:buSzPts val="1800"/>
              <a:buChar char="●"/>
            </a:pPr>
            <a:r>
              <a:rPr lang="en"/>
              <a:t>Dynamic power is proportional to clock frequency.</a:t>
            </a:r>
            <a:endParaRPr/>
          </a:p>
          <a:p>
            <a:pPr indent="-342900" lvl="1" marL="914400" rtl="0" algn="l">
              <a:spcBef>
                <a:spcPts val="1000"/>
              </a:spcBef>
              <a:spcAft>
                <a:spcPts val="0"/>
              </a:spcAft>
              <a:buSzPts val="1800"/>
              <a:buChar char="○"/>
            </a:pPr>
            <a:r>
              <a:rPr lang="en" sz="1800"/>
              <a:t>Dynamic power of the Cortex-M0+ core ranges from 5 to 50µW/MHz depending on the technology used. </a:t>
            </a:r>
            <a:endParaRPr sz="1800"/>
          </a:p>
          <a:p>
            <a:pPr indent="-342900" lvl="0" marL="457200" rtl="0" algn="l">
              <a:spcBef>
                <a:spcPts val="1000"/>
              </a:spcBef>
              <a:spcAft>
                <a:spcPts val="0"/>
              </a:spcAft>
              <a:buSzPts val="1800"/>
              <a:buChar char="●"/>
            </a:pPr>
            <a:r>
              <a:rPr lang="en"/>
              <a:t>To reduce power consumption, use the right sleep modes and turn off unneeded peripherals and clock signals during sleep. </a:t>
            </a:r>
            <a:endParaRPr/>
          </a:p>
          <a:p>
            <a:pPr indent="-342900" lvl="0" marL="457200" rtl="0" algn="l">
              <a:spcBef>
                <a:spcPts val="1000"/>
              </a:spcBef>
              <a:spcAft>
                <a:spcPts val="1000"/>
              </a:spcAft>
              <a:buSzPts val="1800"/>
              <a:buChar char="●"/>
            </a:pPr>
            <a:r>
              <a:rPr lang="en"/>
              <a:t>The deeper the sleep the longer it can take to restore the system to operation state after exiting sleep mode. </a:t>
            </a:r>
            <a:endParaRPr/>
          </a:p>
        </p:txBody>
      </p:sp>
      <p:sp>
        <p:nvSpPr>
          <p:cNvPr id="76" name="Google Shape;76;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Saving Power</a:t>
            </a:r>
            <a:endParaRPr/>
          </a:p>
        </p:txBody>
      </p:sp>
      <p:sp>
        <p:nvSpPr>
          <p:cNvPr id="82" name="Google Shape;82;p1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Only enable those </a:t>
            </a:r>
            <a:r>
              <a:rPr lang="en"/>
              <a:t>internal peripherals (such as SPI, UART, ADC, timers, etc.) that you are actually using, disable when done. </a:t>
            </a:r>
            <a:endParaRPr/>
          </a:p>
          <a:p>
            <a:pPr indent="-342900" lvl="0" marL="457200" rtl="0" algn="l">
              <a:spcBef>
                <a:spcPts val="0"/>
              </a:spcBef>
              <a:spcAft>
                <a:spcPts val="0"/>
              </a:spcAft>
              <a:buSzPts val="1800"/>
              <a:buChar char="●"/>
            </a:pPr>
            <a:r>
              <a:rPr lang="en"/>
              <a:t>Run the processor at the lowest clock speed you can.</a:t>
            </a:r>
            <a:endParaRPr/>
          </a:p>
          <a:p>
            <a:pPr indent="-342900" lvl="0" marL="457200" rtl="0" algn="l">
              <a:spcBef>
                <a:spcPts val="0"/>
              </a:spcBef>
              <a:spcAft>
                <a:spcPts val="0"/>
              </a:spcAft>
              <a:buSzPts val="1800"/>
              <a:buChar char="●"/>
            </a:pPr>
            <a:r>
              <a:rPr lang="en"/>
              <a:t>Let the processor sleep when it has nothing to do:</a:t>
            </a:r>
            <a:endParaRPr/>
          </a:p>
          <a:p>
            <a:pPr indent="-317500" lvl="1" marL="914400" rtl="0" algn="l">
              <a:spcBef>
                <a:spcPts val="0"/>
              </a:spcBef>
              <a:spcAft>
                <a:spcPts val="0"/>
              </a:spcAft>
              <a:buSzPts val="1400"/>
              <a:buChar char="○"/>
            </a:pPr>
            <a:r>
              <a:rPr lang="en"/>
              <a:t>The Cortex-M0+ has built-in, low-power features that allow developers to optimize power usage for specific applications. </a:t>
            </a:r>
            <a:endParaRPr/>
          </a:p>
          <a:p>
            <a:pPr indent="-342900" lvl="0" marL="457200" rtl="0" algn="l">
              <a:spcBef>
                <a:spcPts val="0"/>
              </a:spcBef>
              <a:spcAft>
                <a:spcPts val="0"/>
              </a:spcAft>
              <a:buSzPts val="1800"/>
              <a:buChar char="●"/>
            </a:pPr>
            <a:r>
              <a:rPr lang="en"/>
              <a:t>Look at the datasheets of all components you are using, run tests at different clock frequencies.</a:t>
            </a:r>
            <a:endParaRPr/>
          </a:p>
          <a:p>
            <a:pPr indent="0" lvl="0" marL="0" rtl="0" algn="l">
              <a:spcBef>
                <a:spcPts val="1200"/>
              </a:spcBef>
              <a:spcAft>
                <a:spcPts val="0"/>
              </a:spcAft>
              <a:buNone/>
            </a:pPr>
            <a:r>
              <a:rPr lang="en"/>
              <a:t>Upshot: For low power consumption, disable anything you don't need.</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Power Saving Modes on the STM32C0</a:t>
            </a:r>
            <a:endParaRPr/>
          </a:p>
        </p:txBody>
      </p:sp>
      <p:pic>
        <p:nvPicPr>
          <p:cNvPr id="88" name="Google Shape;88;p18"/>
          <p:cNvPicPr preferRelativeResize="0"/>
          <p:nvPr/>
        </p:nvPicPr>
        <p:blipFill>
          <a:blip r:embed="rId3">
            <a:alphaModFix/>
          </a:blip>
          <a:stretch>
            <a:fillRect/>
          </a:stretch>
        </p:blipFill>
        <p:spPr>
          <a:xfrm>
            <a:off x="606100" y="1356867"/>
            <a:ext cx="8302588" cy="519633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19"/>
          <p:cNvPicPr preferRelativeResize="0"/>
          <p:nvPr/>
        </p:nvPicPr>
        <p:blipFill>
          <a:blip r:embed="rId3">
            <a:alphaModFix/>
          </a:blip>
          <a:stretch>
            <a:fillRect/>
          </a:stretch>
        </p:blipFill>
        <p:spPr>
          <a:xfrm>
            <a:off x="70463" y="726345"/>
            <a:ext cx="6678001" cy="6036480"/>
          </a:xfrm>
          <a:prstGeom prst="rect">
            <a:avLst/>
          </a:prstGeom>
          <a:noFill/>
          <a:ln>
            <a:noFill/>
          </a:ln>
        </p:spPr>
      </p:pic>
      <p:sp>
        <p:nvSpPr>
          <p:cNvPr id="94" name="Google Shape;94;p19"/>
          <p:cNvSpPr txBox="1"/>
          <p:nvPr>
            <p:ph type="title"/>
          </p:nvPr>
        </p:nvSpPr>
        <p:spPr>
          <a:xfrm>
            <a:off x="223775" y="1391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Clock distribution in the STM32C0</a:t>
            </a:r>
            <a:endParaRPr/>
          </a:p>
        </p:txBody>
      </p:sp>
      <p:sp>
        <p:nvSpPr>
          <p:cNvPr id="95" name="Google Shape;95;p19"/>
          <p:cNvSpPr txBox="1"/>
          <p:nvPr/>
        </p:nvSpPr>
        <p:spPr>
          <a:xfrm>
            <a:off x="6953472" y="3367075"/>
            <a:ext cx="1683300" cy="32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t>Lots of different </a:t>
            </a:r>
            <a:r>
              <a:rPr lang="en" sz="1600"/>
              <a:t>“clock domains” inside the STM32C0.</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 sz="1600"/>
              <a:t>Stopping a clock disables the corresponding domain, saving power.</a:t>
            </a:r>
            <a:endParaRPr sz="1600"/>
          </a:p>
        </p:txBody>
      </p:sp>
      <p:sp>
        <p:nvSpPr>
          <p:cNvPr id="96" name="Google Shape;96;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7" name="Google Shape;97;p19"/>
          <p:cNvSpPr/>
          <p:nvPr/>
        </p:nvSpPr>
        <p:spPr>
          <a:xfrm>
            <a:off x="2035500" y="4891600"/>
            <a:ext cx="548700" cy="168000"/>
          </a:xfrm>
          <a:prstGeom prst="rect">
            <a:avLst/>
          </a:prstGeom>
          <a:solidFill>
            <a:schemeClr val="lt1"/>
          </a:solid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000E6"/>
                </a:solidFill>
              </a:rPr>
              <a:t>/8</a:t>
            </a:r>
            <a:endParaRPr>
              <a:solidFill>
                <a:srgbClr val="0000E6"/>
              </a:solidFill>
            </a:endParaRPr>
          </a:p>
        </p:txBody>
      </p:sp>
      <p:sp>
        <p:nvSpPr>
          <p:cNvPr id="98" name="Google Shape;98;p19"/>
          <p:cNvSpPr/>
          <p:nvPr/>
        </p:nvSpPr>
        <p:spPr>
          <a:xfrm>
            <a:off x="1002775" y="4806875"/>
            <a:ext cx="620400" cy="3285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9"/>
          <p:cNvSpPr/>
          <p:nvPr/>
        </p:nvSpPr>
        <p:spPr>
          <a:xfrm>
            <a:off x="5728500" y="5179125"/>
            <a:ext cx="726000" cy="4113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0" name="Google Shape;100;p19"/>
          <p:cNvCxnSpPr>
            <a:stCxn id="98" idx="3"/>
            <a:endCxn id="97" idx="1"/>
          </p:cNvCxnSpPr>
          <p:nvPr/>
        </p:nvCxnSpPr>
        <p:spPr>
          <a:xfrm>
            <a:off x="1623175" y="4971125"/>
            <a:ext cx="412200" cy="4500"/>
          </a:xfrm>
          <a:prstGeom prst="straightConnector1">
            <a:avLst/>
          </a:prstGeom>
          <a:noFill/>
          <a:ln cap="flat" cmpd="sng" w="28575">
            <a:solidFill>
              <a:srgbClr val="0000FF"/>
            </a:solidFill>
            <a:prstDash val="solid"/>
            <a:round/>
            <a:headEnd len="med" w="med" type="none"/>
            <a:tailEnd len="med" w="med" type="none"/>
          </a:ln>
        </p:spPr>
      </p:cxnSp>
      <p:cxnSp>
        <p:nvCxnSpPr>
          <p:cNvPr id="101" name="Google Shape;101;p19"/>
          <p:cNvCxnSpPr/>
          <p:nvPr/>
        </p:nvCxnSpPr>
        <p:spPr>
          <a:xfrm>
            <a:off x="2584325" y="4968875"/>
            <a:ext cx="412200" cy="4500"/>
          </a:xfrm>
          <a:prstGeom prst="straightConnector1">
            <a:avLst/>
          </a:prstGeom>
          <a:noFill/>
          <a:ln cap="flat" cmpd="sng" w="28575">
            <a:solidFill>
              <a:srgbClr val="0000FF"/>
            </a:solidFill>
            <a:prstDash val="solid"/>
            <a:round/>
            <a:headEnd len="med" w="med" type="none"/>
            <a:tailEnd len="med" w="med" type="none"/>
          </a:ln>
        </p:spPr>
      </p:cxnSp>
      <p:cxnSp>
        <p:nvCxnSpPr>
          <p:cNvPr id="102" name="Google Shape;102;p19"/>
          <p:cNvCxnSpPr/>
          <p:nvPr/>
        </p:nvCxnSpPr>
        <p:spPr>
          <a:xfrm>
            <a:off x="2979375" y="4442000"/>
            <a:ext cx="184200" cy="4200"/>
          </a:xfrm>
          <a:prstGeom prst="straightConnector1">
            <a:avLst/>
          </a:prstGeom>
          <a:noFill/>
          <a:ln cap="flat" cmpd="sng" w="28575">
            <a:solidFill>
              <a:srgbClr val="0000FF"/>
            </a:solidFill>
            <a:prstDash val="solid"/>
            <a:round/>
            <a:headEnd len="med" w="med" type="none"/>
            <a:tailEnd len="med" w="med" type="none"/>
          </a:ln>
        </p:spPr>
      </p:cxnSp>
      <p:cxnSp>
        <p:nvCxnSpPr>
          <p:cNvPr id="103" name="Google Shape;103;p19"/>
          <p:cNvCxnSpPr/>
          <p:nvPr/>
        </p:nvCxnSpPr>
        <p:spPr>
          <a:xfrm>
            <a:off x="2990225" y="4442000"/>
            <a:ext cx="10800" cy="541800"/>
          </a:xfrm>
          <a:prstGeom prst="straightConnector1">
            <a:avLst/>
          </a:prstGeom>
          <a:noFill/>
          <a:ln cap="flat" cmpd="sng" w="28575">
            <a:solidFill>
              <a:srgbClr val="0000FF"/>
            </a:solidFill>
            <a:prstDash val="solid"/>
            <a:round/>
            <a:headEnd len="med" w="med" type="none"/>
            <a:tailEnd len="med" w="med" type="none"/>
          </a:ln>
        </p:spPr>
      </p:cxnSp>
      <p:cxnSp>
        <p:nvCxnSpPr>
          <p:cNvPr id="104" name="Google Shape;104;p19"/>
          <p:cNvCxnSpPr/>
          <p:nvPr/>
        </p:nvCxnSpPr>
        <p:spPr>
          <a:xfrm flipH="1" rot="10800000">
            <a:off x="3268800" y="4160275"/>
            <a:ext cx="934800" cy="1500"/>
          </a:xfrm>
          <a:prstGeom prst="straightConnector1">
            <a:avLst/>
          </a:prstGeom>
          <a:noFill/>
          <a:ln cap="flat" cmpd="sng" w="28575">
            <a:solidFill>
              <a:srgbClr val="0000FF"/>
            </a:solidFill>
            <a:prstDash val="solid"/>
            <a:round/>
            <a:headEnd len="med" w="med" type="none"/>
            <a:tailEnd len="med" w="med" type="none"/>
          </a:ln>
        </p:spPr>
      </p:cxnSp>
      <p:cxnSp>
        <p:nvCxnSpPr>
          <p:cNvPr id="105" name="Google Shape;105;p19"/>
          <p:cNvCxnSpPr/>
          <p:nvPr/>
        </p:nvCxnSpPr>
        <p:spPr>
          <a:xfrm flipH="1">
            <a:off x="3445275" y="2730200"/>
            <a:ext cx="10800" cy="1408500"/>
          </a:xfrm>
          <a:prstGeom prst="straightConnector1">
            <a:avLst/>
          </a:prstGeom>
          <a:noFill/>
          <a:ln cap="flat" cmpd="sng" w="28575">
            <a:solidFill>
              <a:srgbClr val="0000FF"/>
            </a:solidFill>
            <a:prstDash val="solid"/>
            <a:round/>
            <a:headEnd len="med" w="med" type="none"/>
            <a:tailEnd len="med" w="med" type="none"/>
          </a:ln>
        </p:spPr>
      </p:cxnSp>
      <p:cxnSp>
        <p:nvCxnSpPr>
          <p:cNvPr id="106" name="Google Shape;106;p19"/>
          <p:cNvCxnSpPr/>
          <p:nvPr/>
        </p:nvCxnSpPr>
        <p:spPr>
          <a:xfrm flipH="1">
            <a:off x="4247100" y="2676775"/>
            <a:ext cx="11400" cy="616800"/>
          </a:xfrm>
          <a:prstGeom prst="straightConnector1">
            <a:avLst/>
          </a:prstGeom>
          <a:noFill/>
          <a:ln cap="flat" cmpd="sng" w="28575">
            <a:solidFill>
              <a:srgbClr val="0000FF"/>
            </a:solidFill>
            <a:prstDash val="solid"/>
            <a:round/>
            <a:headEnd len="med" w="med" type="none"/>
            <a:tailEnd len="med" w="med" type="none"/>
          </a:ln>
        </p:spPr>
      </p:cxnSp>
      <p:cxnSp>
        <p:nvCxnSpPr>
          <p:cNvPr id="107" name="Google Shape;107;p19"/>
          <p:cNvCxnSpPr/>
          <p:nvPr/>
        </p:nvCxnSpPr>
        <p:spPr>
          <a:xfrm flipH="1">
            <a:off x="4181925" y="4150950"/>
            <a:ext cx="6900" cy="1244400"/>
          </a:xfrm>
          <a:prstGeom prst="straightConnector1">
            <a:avLst/>
          </a:prstGeom>
          <a:noFill/>
          <a:ln cap="flat" cmpd="sng" w="28575">
            <a:solidFill>
              <a:srgbClr val="0000FF"/>
            </a:solidFill>
            <a:prstDash val="solid"/>
            <a:round/>
            <a:headEnd len="med" w="med" type="none"/>
            <a:tailEnd len="med" w="med" type="none"/>
          </a:ln>
        </p:spPr>
      </p:cxnSp>
      <p:cxnSp>
        <p:nvCxnSpPr>
          <p:cNvPr id="108" name="Google Shape;108;p19"/>
          <p:cNvCxnSpPr/>
          <p:nvPr/>
        </p:nvCxnSpPr>
        <p:spPr>
          <a:xfrm flipH="1" rot="10800000">
            <a:off x="4182100" y="5395275"/>
            <a:ext cx="1299900" cy="11100"/>
          </a:xfrm>
          <a:prstGeom prst="straightConnector1">
            <a:avLst/>
          </a:prstGeom>
          <a:noFill/>
          <a:ln cap="flat" cmpd="sng" w="28575">
            <a:solidFill>
              <a:srgbClr val="0000FF"/>
            </a:solidFill>
            <a:prstDash val="solid"/>
            <a:round/>
            <a:headEnd len="med" w="med" type="none"/>
            <a:tailEnd len="med" w="med" type="none"/>
          </a:ln>
        </p:spPr>
      </p:cxnSp>
      <p:cxnSp>
        <p:nvCxnSpPr>
          <p:cNvPr id="109" name="Google Shape;109;p19"/>
          <p:cNvCxnSpPr/>
          <p:nvPr/>
        </p:nvCxnSpPr>
        <p:spPr>
          <a:xfrm>
            <a:off x="5622900" y="5482075"/>
            <a:ext cx="726000" cy="10800"/>
          </a:xfrm>
          <a:prstGeom prst="straightConnector1">
            <a:avLst/>
          </a:prstGeom>
          <a:noFill/>
          <a:ln cap="flat" cmpd="sng" w="28575">
            <a:solidFill>
              <a:srgbClr val="0000FF"/>
            </a:solidFill>
            <a:prstDash val="solid"/>
            <a:round/>
            <a:headEnd len="med" w="med" type="none"/>
            <a:tailEnd len="med" w="med" type="stealth"/>
          </a:ln>
        </p:spPr>
      </p:cxnSp>
      <p:cxnSp>
        <p:nvCxnSpPr>
          <p:cNvPr id="110" name="Google Shape;110;p19"/>
          <p:cNvCxnSpPr/>
          <p:nvPr/>
        </p:nvCxnSpPr>
        <p:spPr>
          <a:xfrm>
            <a:off x="4483925" y="4567975"/>
            <a:ext cx="2700" cy="849300"/>
          </a:xfrm>
          <a:prstGeom prst="straightConnector1">
            <a:avLst/>
          </a:prstGeom>
          <a:noFill/>
          <a:ln cap="flat" cmpd="sng" w="28575">
            <a:solidFill>
              <a:srgbClr val="0000FF"/>
            </a:solidFill>
            <a:prstDash val="solid"/>
            <a:round/>
            <a:headEnd len="med" w="med" type="none"/>
            <a:tailEnd len="med" w="med" type="none"/>
          </a:ln>
        </p:spPr>
      </p:cxnSp>
      <p:cxnSp>
        <p:nvCxnSpPr>
          <p:cNvPr id="111" name="Google Shape;111;p19"/>
          <p:cNvCxnSpPr/>
          <p:nvPr/>
        </p:nvCxnSpPr>
        <p:spPr>
          <a:xfrm flipH="1" rot="10800000">
            <a:off x="4978525" y="5006025"/>
            <a:ext cx="536100" cy="5700"/>
          </a:xfrm>
          <a:prstGeom prst="straightConnector1">
            <a:avLst/>
          </a:prstGeom>
          <a:noFill/>
          <a:ln cap="flat" cmpd="sng" w="28575">
            <a:solidFill>
              <a:srgbClr val="0000FF"/>
            </a:solidFill>
            <a:prstDash val="solid"/>
            <a:round/>
            <a:headEnd len="med" w="med" type="none"/>
            <a:tailEnd len="med" w="med" type="none"/>
          </a:ln>
        </p:spPr>
      </p:cxnSp>
      <p:cxnSp>
        <p:nvCxnSpPr>
          <p:cNvPr id="112" name="Google Shape;112;p19"/>
          <p:cNvCxnSpPr/>
          <p:nvPr/>
        </p:nvCxnSpPr>
        <p:spPr>
          <a:xfrm>
            <a:off x="5612175" y="4951925"/>
            <a:ext cx="747000" cy="300"/>
          </a:xfrm>
          <a:prstGeom prst="straightConnector1">
            <a:avLst/>
          </a:prstGeom>
          <a:noFill/>
          <a:ln cap="flat" cmpd="sng" w="28575">
            <a:solidFill>
              <a:srgbClr val="0000FF"/>
            </a:solidFill>
            <a:prstDash val="solid"/>
            <a:round/>
            <a:headEnd len="med" w="med" type="none"/>
            <a:tailEnd len="med" w="med" type="stealth"/>
          </a:ln>
        </p:spPr>
      </p:cxnSp>
      <p:sp>
        <p:nvSpPr>
          <p:cNvPr id="113" name="Google Shape;113;p19"/>
          <p:cNvSpPr/>
          <p:nvPr/>
        </p:nvSpPr>
        <p:spPr>
          <a:xfrm>
            <a:off x="5728500" y="4698325"/>
            <a:ext cx="726000" cy="4113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9"/>
          <p:cNvSpPr/>
          <p:nvPr/>
        </p:nvSpPr>
        <p:spPr>
          <a:xfrm>
            <a:off x="4659375" y="2273625"/>
            <a:ext cx="1683300" cy="2808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 name="Google Shape;115;p19"/>
          <p:cNvCxnSpPr/>
          <p:nvPr/>
        </p:nvCxnSpPr>
        <p:spPr>
          <a:xfrm>
            <a:off x="5612175" y="4502325"/>
            <a:ext cx="747000" cy="300"/>
          </a:xfrm>
          <a:prstGeom prst="straightConnector1">
            <a:avLst/>
          </a:prstGeom>
          <a:noFill/>
          <a:ln cap="flat" cmpd="sng" w="28575">
            <a:solidFill>
              <a:srgbClr val="0000FF"/>
            </a:solidFill>
            <a:prstDash val="solid"/>
            <a:round/>
            <a:headEnd len="med" w="med" type="none"/>
            <a:tailEnd len="med" w="med" type="stealth"/>
          </a:ln>
        </p:spPr>
      </p:cxnSp>
      <p:cxnSp>
        <p:nvCxnSpPr>
          <p:cNvPr id="116" name="Google Shape;116;p19"/>
          <p:cNvCxnSpPr/>
          <p:nvPr/>
        </p:nvCxnSpPr>
        <p:spPr>
          <a:xfrm flipH="1" rot="10800000">
            <a:off x="4978525" y="4616775"/>
            <a:ext cx="536100" cy="5700"/>
          </a:xfrm>
          <a:prstGeom prst="straightConnector1">
            <a:avLst/>
          </a:prstGeom>
          <a:noFill/>
          <a:ln cap="flat" cmpd="sng" w="28575">
            <a:solidFill>
              <a:srgbClr val="0000FF"/>
            </a:solidFill>
            <a:prstDash val="solid"/>
            <a:round/>
            <a:headEnd len="med" w="med" type="none"/>
            <a:tailEnd len="med" w="med" type="none"/>
          </a:ln>
        </p:spPr>
      </p:cxnSp>
      <p:cxnSp>
        <p:nvCxnSpPr>
          <p:cNvPr id="117" name="Google Shape;117;p19"/>
          <p:cNvCxnSpPr/>
          <p:nvPr/>
        </p:nvCxnSpPr>
        <p:spPr>
          <a:xfrm>
            <a:off x="4145950" y="2707100"/>
            <a:ext cx="524700" cy="4200"/>
          </a:xfrm>
          <a:prstGeom prst="straightConnector1">
            <a:avLst/>
          </a:prstGeom>
          <a:noFill/>
          <a:ln cap="flat" cmpd="sng" w="28575">
            <a:solidFill>
              <a:srgbClr val="0000FF"/>
            </a:solidFill>
            <a:prstDash val="solid"/>
            <a:round/>
            <a:headEnd len="med" w="med" type="none"/>
            <a:tailEnd len="med" w="med" type="none"/>
          </a:ln>
        </p:spPr>
      </p:cxnSp>
      <p:cxnSp>
        <p:nvCxnSpPr>
          <p:cNvPr id="118" name="Google Shape;118;p19"/>
          <p:cNvCxnSpPr/>
          <p:nvPr/>
        </p:nvCxnSpPr>
        <p:spPr>
          <a:xfrm flipH="1">
            <a:off x="4659375" y="2484075"/>
            <a:ext cx="300" cy="246000"/>
          </a:xfrm>
          <a:prstGeom prst="straightConnector1">
            <a:avLst/>
          </a:prstGeom>
          <a:noFill/>
          <a:ln cap="flat" cmpd="sng" w="28575">
            <a:solidFill>
              <a:srgbClr val="0000FF"/>
            </a:solidFill>
            <a:prstDash val="solid"/>
            <a:round/>
            <a:headEnd len="med" w="med" type="none"/>
            <a:tailEnd len="med" w="med" type="none"/>
          </a:ln>
        </p:spPr>
      </p:cxnSp>
      <p:cxnSp>
        <p:nvCxnSpPr>
          <p:cNvPr id="119" name="Google Shape;119;p19"/>
          <p:cNvCxnSpPr/>
          <p:nvPr/>
        </p:nvCxnSpPr>
        <p:spPr>
          <a:xfrm flipH="1" rot="10800000">
            <a:off x="4659375" y="2478675"/>
            <a:ext cx="1683300" cy="1200"/>
          </a:xfrm>
          <a:prstGeom prst="straightConnector1">
            <a:avLst/>
          </a:prstGeom>
          <a:noFill/>
          <a:ln cap="flat" cmpd="sng" w="28575">
            <a:solidFill>
              <a:srgbClr val="0000FF"/>
            </a:solidFill>
            <a:prstDash val="solid"/>
            <a:round/>
            <a:headEnd len="med" w="med" type="none"/>
            <a:tailEnd len="med" w="med" type="stealth"/>
          </a:ln>
        </p:spPr>
      </p:cxnSp>
      <p:sp>
        <p:nvSpPr>
          <p:cNvPr id="120" name="Google Shape;120;p19"/>
          <p:cNvSpPr/>
          <p:nvPr/>
        </p:nvSpPr>
        <p:spPr>
          <a:xfrm>
            <a:off x="5728500" y="4218925"/>
            <a:ext cx="726000" cy="4113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1" name="Google Shape;121;p19"/>
          <p:cNvCxnSpPr/>
          <p:nvPr/>
        </p:nvCxnSpPr>
        <p:spPr>
          <a:xfrm>
            <a:off x="5049525" y="3294775"/>
            <a:ext cx="1325700" cy="1200"/>
          </a:xfrm>
          <a:prstGeom prst="straightConnector1">
            <a:avLst/>
          </a:prstGeom>
          <a:noFill/>
          <a:ln cap="flat" cmpd="sng" w="28575">
            <a:solidFill>
              <a:srgbClr val="0000FF"/>
            </a:solidFill>
            <a:prstDash val="solid"/>
            <a:round/>
            <a:headEnd len="med" w="med" type="none"/>
            <a:tailEnd len="med" w="med" type="stealth"/>
          </a:ln>
        </p:spPr>
      </p:cxnSp>
      <p:sp>
        <p:nvSpPr>
          <p:cNvPr id="122" name="Google Shape;122;p19"/>
          <p:cNvSpPr/>
          <p:nvPr/>
        </p:nvSpPr>
        <p:spPr>
          <a:xfrm>
            <a:off x="5482000" y="3086275"/>
            <a:ext cx="893100" cy="2808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3" name="Google Shape;123;p19"/>
          <p:cNvCxnSpPr/>
          <p:nvPr/>
        </p:nvCxnSpPr>
        <p:spPr>
          <a:xfrm>
            <a:off x="4247100" y="3293275"/>
            <a:ext cx="158100" cy="2700"/>
          </a:xfrm>
          <a:prstGeom prst="straightConnector1">
            <a:avLst/>
          </a:prstGeom>
          <a:noFill/>
          <a:ln cap="flat" cmpd="sng" w="28575">
            <a:solidFill>
              <a:srgbClr val="0000FF"/>
            </a:solidFill>
            <a:prstDash val="solid"/>
            <a:round/>
            <a:headEnd len="med" w="med" type="none"/>
            <a:tailEnd len="med" w="med" type="none"/>
          </a:ln>
        </p:spPr>
      </p:cxnSp>
      <p:cxnSp>
        <p:nvCxnSpPr>
          <p:cNvPr id="124" name="Google Shape;124;p19"/>
          <p:cNvCxnSpPr/>
          <p:nvPr/>
        </p:nvCxnSpPr>
        <p:spPr>
          <a:xfrm>
            <a:off x="3445275" y="2704425"/>
            <a:ext cx="88800" cy="6900"/>
          </a:xfrm>
          <a:prstGeom prst="straightConnector1">
            <a:avLst/>
          </a:prstGeom>
          <a:noFill/>
          <a:ln cap="flat" cmpd="sng" w="28575">
            <a:solidFill>
              <a:srgbClr val="0000FF"/>
            </a:solidFill>
            <a:prstDash val="solid"/>
            <a:round/>
            <a:headEnd len="med" w="med" type="none"/>
            <a:tailEnd len="med" w="med" type="none"/>
          </a:ln>
        </p:spPr>
      </p:cxnSp>
      <p:sp>
        <p:nvSpPr>
          <p:cNvPr id="125" name="Google Shape;125;p19"/>
          <p:cNvSpPr/>
          <p:nvPr/>
        </p:nvSpPr>
        <p:spPr>
          <a:xfrm>
            <a:off x="5728500" y="3485925"/>
            <a:ext cx="726000" cy="411300"/>
          </a:xfrm>
          <a:prstGeom prst="rect">
            <a:avLst/>
          </a:prstGeom>
          <a:noFill/>
          <a:ln cap="flat" cmpd="sng" w="2857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 name="Google Shape;126;p19"/>
          <p:cNvCxnSpPr/>
          <p:nvPr/>
        </p:nvCxnSpPr>
        <p:spPr>
          <a:xfrm>
            <a:off x="5850300" y="3826225"/>
            <a:ext cx="492300" cy="3300"/>
          </a:xfrm>
          <a:prstGeom prst="straightConnector1">
            <a:avLst/>
          </a:prstGeom>
          <a:noFill/>
          <a:ln cap="flat" cmpd="sng" w="28575">
            <a:solidFill>
              <a:srgbClr val="0000FF"/>
            </a:solidFill>
            <a:prstDash val="solid"/>
            <a:round/>
            <a:headEnd len="med" w="med" type="none"/>
            <a:tailEnd len="med" w="med" type="stealth"/>
          </a:ln>
        </p:spPr>
      </p:cxnSp>
      <p:cxnSp>
        <p:nvCxnSpPr>
          <p:cNvPr id="127" name="Google Shape;127;p19"/>
          <p:cNvCxnSpPr/>
          <p:nvPr/>
        </p:nvCxnSpPr>
        <p:spPr>
          <a:xfrm>
            <a:off x="5203125" y="3290575"/>
            <a:ext cx="3300" cy="541200"/>
          </a:xfrm>
          <a:prstGeom prst="straightConnector1">
            <a:avLst/>
          </a:prstGeom>
          <a:noFill/>
          <a:ln cap="flat" cmpd="sng" w="28575">
            <a:solidFill>
              <a:srgbClr val="0000FF"/>
            </a:solidFill>
            <a:prstDash val="solid"/>
            <a:round/>
            <a:headEnd len="med" w="med" type="none"/>
            <a:tailEnd len="med" w="med" type="none"/>
          </a:ln>
        </p:spPr>
      </p:cxnSp>
      <p:cxnSp>
        <p:nvCxnSpPr>
          <p:cNvPr id="128" name="Google Shape;128;p19"/>
          <p:cNvCxnSpPr/>
          <p:nvPr/>
        </p:nvCxnSpPr>
        <p:spPr>
          <a:xfrm>
            <a:off x="5203125" y="3841275"/>
            <a:ext cx="158100" cy="270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Power Control: Operating Modes</a:t>
            </a:r>
            <a:endParaRPr/>
          </a:p>
        </p:txBody>
      </p:sp>
      <p:pic>
        <p:nvPicPr>
          <p:cNvPr id="134" name="Google Shape;134;p20"/>
          <p:cNvPicPr preferRelativeResize="0"/>
          <p:nvPr/>
        </p:nvPicPr>
        <p:blipFill>
          <a:blip r:embed="rId3">
            <a:alphaModFix/>
          </a:blip>
          <a:stretch>
            <a:fillRect/>
          </a:stretch>
        </p:blipFill>
        <p:spPr>
          <a:xfrm>
            <a:off x="152400" y="1509267"/>
            <a:ext cx="8839201" cy="437558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1"/>
          <p:cNvPicPr preferRelativeResize="0"/>
          <p:nvPr/>
        </p:nvPicPr>
        <p:blipFill>
          <a:blip r:embed="rId3">
            <a:alphaModFix/>
          </a:blip>
          <a:stretch>
            <a:fillRect/>
          </a:stretch>
        </p:blipFill>
        <p:spPr>
          <a:xfrm>
            <a:off x="2969275" y="76575"/>
            <a:ext cx="5946681" cy="6553201"/>
          </a:xfrm>
          <a:prstGeom prst="rect">
            <a:avLst/>
          </a:prstGeom>
          <a:noFill/>
          <a:ln>
            <a:noFill/>
          </a:ln>
        </p:spPr>
      </p:pic>
      <p:sp>
        <p:nvSpPr>
          <p:cNvPr id="140" name="Google Shape;140;p21"/>
          <p:cNvSpPr txBox="1"/>
          <p:nvPr/>
        </p:nvSpPr>
        <p:spPr>
          <a:xfrm>
            <a:off x="108350" y="1386775"/>
            <a:ext cx="2784300" cy="329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2300">
                <a:solidFill>
                  <a:srgbClr val="0000E6"/>
                </a:solidFill>
              </a:rPr>
              <a:t>Device resources available in each operating</a:t>
            </a:r>
            <a:endParaRPr sz="2300">
              <a:solidFill>
                <a:srgbClr val="0000E6"/>
              </a:solidFill>
            </a:endParaRPr>
          </a:p>
          <a:p>
            <a:pPr indent="0" lvl="0" marL="0" rtl="0" algn="l">
              <a:spcBef>
                <a:spcPts val="0"/>
              </a:spcBef>
              <a:spcAft>
                <a:spcPts val="0"/>
              </a:spcAft>
              <a:buClr>
                <a:schemeClr val="dk1"/>
              </a:buClr>
              <a:buSzPts val="1100"/>
              <a:buFont typeface="Arial"/>
              <a:buNone/>
            </a:pPr>
            <a:r>
              <a:rPr lang="en" sz="2300">
                <a:solidFill>
                  <a:srgbClr val="0000E6"/>
                </a:solidFill>
              </a:rPr>
              <a:t>mode and their capability to wake the device up from a low-power mode to Run mode.</a:t>
            </a:r>
            <a:endParaRPr sz="2300">
              <a:solidFill>
                <a:srgbClr val="0000E6"/>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idx="1" type="body"/>
          </p:nvPr>
        </p:nvSpPr>
        <p:spPr>
          <a:xfrm>
            <a:off x="149350" y="220625"/>
            <a:ext cx="4355100" cy="30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000">
                <a:solidFill>
                  <a:srgbClr val="0000E6"/>
                </a:solidFill>
              </a:rPr>
              <a:t>Sleep mode</a:t>
            </a:r>
            <a:endParaRPr b="1" sz="2000">
              <a:solidFill>
                <a:srgbClr val="0000E6"/>
              </a:solidFill>
            </a:endParaRPr>
          </a:p>
          <a:p>
            <a:pPr indent="-342900" lvl="0" marL="457200" rtl="0" algn="l">
              <a:spcBef>
                <a:spcPts val="1200"/>
              </a:spcBef>
              <a:spcAft>
                <a:spcPts val="0"/>
              </a:spcAft>
              <a:buSzPts val="1800"/>
              <a:buChar char="●"/>
            </a:pPr>
            <a:r>
              <a:rPr lang="en"/>
              <a:t>CPU clock off</a:t>
            </a:r>
            <a:endParaRPr/>
          </a:p>
          <a:p>
            <a:pPr indent="-342900" lvl="0" marL="457200" rtl="0" algn="l">
              <a:spcBef>
                <a:spcPts val="0"/>
              </a:spcBef>
              <a:spcAft>
                <a:spcPts val="0"/>
              </a:spcAft>
              <a:buSzPts val="1800"/>
              <a:buChar char="●"/>
            </a:pPr>
            <a:r>
              <a:rPr lang="en"/>
              <a:t>all peripherals can run and wake up the CPU </a:t>
            </a:r>
            <a:endParaRPr/>
          </a:p>
          <a:p>
            <a:pPr indent="-342900" lvl="0" marL="457200" rtl="0" algn="l">
              <a:spcBef>
                <a:spcPts val="0"/>
              </a:spcBef>
              <a:spcAft>
                <a:spcPts val="0"/>
              </a:spcAft>
              <a:buSzPts val="1800"/>
              <a:buChar char="●"/>
            </a:pPr>
            <a:r>
              <a:rPr lang="en"/>
              <a:t>peripheral clocks can be disabled prior to going to sleep</a:t>
            </a:r>
            <a:endParaRPr/>
          </a:p>
          <a:p>
            <a:pPr indent="-342900" lvl="0" marL="457200" rtl="0" algn="l">
              <a:spcBef>
                <a:spcPts val="0"/>
              </a:spcBef>
              <a:spcAft>
                <a:spcPts val="0"/>
              </a:spcAft>
              <a:buSzPts val="1800"/>
              <a:buChar char="●"/>
            </a:pPr>
            <a:r>
              <a:rPr lang="en"/>
              <a:t>HSI48 can be restarted by a peripheral with wakeup capability requiring HSI48</a:t>
            </a:r>
            <a:endParaRPr/>
          </a:p>
          <a:p>
            <a:pPr indent="0" lvl="0" marL="0" rtl="0" algn="l">
              <a:spcBef>
                <a:spcPts val="1200"/>
              </a:spcBef>
              <a:spcAft>
                <a:spcPts val="1200"/>
              </a:spcAft>
              <a:buNone/>
            </a:pPr>
            <a:r>
              <a:t/>
            </a:r>
            <a:endParaRPr/>
          </a:p>
        </p:txBody>
      </p:sp>
      <p:sp>
        <p:nvSpPr>
          <p:cNvPr id="146" name="Google Shape;146;p22"/>
          <p:cNvSpPr txBox="1"/>
          <p:nvPr>
            <p:ph idx="1" type="body"/>
          </p:nvPr>
        </p:nvSpPr>
        <p:spPr>
          <a:xfrm>
            <a:off x="4630300" y="220625"/>
            <a:ext cx="4355100" cy="30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0000E6"/>
                </a:solidFill>
              </a:rPr>
              <a:t>Stop</a:t>
            </a:r>
            <a:r>
              <a:rPr b="1" lang="en" sz="2000">
                <a:solidFill>
                  <a:srgbClr val="0000E6"/>
                </a:solidFill>
              </a:rPr>
              <a:t> mode</a:t>
            </a:r>
            <a:endParaRPr/>
          </a:p>
          <a:p>
            <a:pPr indent="-342900" lvl="0" marL="457200" rtl="0" algn="l">
              <a:spcBef>
                <a:spcPts val="1200"/>
              </a:spcBef>
              <a:spcAft>
                <a:spcPts val="0"/>
              </a:spcAft>
              <a:buSzPts val="1800"/>
              <a:buChar char="●"/>
            </a:pPr>
            <a:r>
              <a:rPr lang="en"/>
              <a:t>SRAM and register contents are retained. HSE and HSI48 stop.</a:t>
            </a:r>
            <a:endParaRPr/>
          </a:p>
          <a:p>
            <a:pPr indent="-342900" lvl="0" marL="457200" rtl="0" algn="l">
              <a:spcBef>
                <a:spcPts val="0"/>
              </a:spcBef>
              <a:spcAft>
                <a:spcPts val="0"/>
              </a:spcAft>
              <a:buSzPts val="1800"/>
              <a:buChar char="●"/>
            </a:pPr>
            <a:r>
              <a:rPr lang="en"/>
              <a:t>HSI48 can be restarted by a peripheral with wakeup capability requiring HSI48.</a:t>
            </a:r>
            <a:endParaRPr/>
          </a:p>
          <a:p>
            <a:pPr indent="-342900" lvl="0" marL="457200" rtl="0" algn="l">
              <a:spcBef>
                <a:spcPts val="0"/>
              </a:spcBef>
              <a:spcAft>
                <a:spcPts val="0"/>
              </a:spcAft>
              <a:buSzPts val="1800"/>
              <a:buChar char="●"/>
            </a:pPr>
            <a:r>
              <a:rPr lang="en"/>
              <a:t>The event of exiting Stop mode enables the HSI48 oscillator and selects HSISYS as system clock</a:t>
            </a:r>
            <a:endParaRPr/>
          </a:p>
        </p:txBody>
      </p:sp>
      <p:sp>
        <p:nvSpPr>
          <p:cNvPr id="147" name="Google Shape;147;p22"/>
          <p:cNvSpPr txBox="1"/>
          <p:nvPr>
            <p:ph idx="1" type="body"/>
          </p:nvPr>
        </p:nvSpPr>
        <p:spPr>
          <a:xfrm>
            <a:off x="149350" y="3700600"/>
            <a:ext cx="4355100" cy="30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0000E6"/>
                </a:solidFill>
              </a:rPr>
              <a:t>Standby</a:t>
            </a:r>
            <a:r>
              <a:rPr b="1" lang="en" sz="2000">
                <a:solidFill>
                  <a:srgbClr val="0000E6"/>
                </a:solidFill>
              </a:rPr>
              <a:t> mode</a:t>
            </a:r>
            <a:endParaRPr b="1" sz="2000">
              <a:solidFill>
                <a:srgbClr val="0000E6"/>
              </a:solidFill>
            </a:endParaRPr>
          </a:p>
          <a:p>
            <a:pPr indent="-342900" lvl="0" marL="457200" rtl="0" algn="l">
              <a:spcBef>
                <a:spcPts val="1200"/>
              </a:spcBef>
              <a:spcAft>
                <a:spcPts val="0"/>
              </a:spcAft>
              <a:buSzPts val="1800"/>
              <a:buChar char="●"/>
            </a:pPr>
            <a:r>
              <a:rPr lang="en"/>
              <a:t>VCORE domain powered off</a:t>
            </a:r>
            <a:endParaRPr/>
          </a:p>
          <a:p>
            <a:pPr indent="-342900" lvl="0" marL="457200" rtl="0" algn="l">
              <a:spcBef>
                <a:spcPts val="0"/>
              </a:spcBef>
              <a:spcAft>
                <a:spcPts val="0"/>
              </a:spcAft>
              <a:buSzPts val="1800"/>
              <a:buChar char="●"/>
            </a:pPr>
            <a:r>
              <a:rPr lang="en"/>
              <a:t>SRAM and register contents lost except PWR control register 3 </a:t>
            </a:r>
            <a:endParaRPr/>
          </a:p>
          <a:p>
            <a:pPr indent="-342900" lvl="0" marL="457200" rtl="0" algn="l">
              <a:spcBef>
                <a:spcPts val="0"/>
              </a:spcBef>
              <a:spcAft>
                <a:spcPts val="0"/>
              </a:spcAft>
              <a:buSzPts val="1800"/>
              <a:buChar char="●"/>
            </a:pPr>
            <a:r>
              <a:rPr lang="en"/>
              <a:t>All clocks in VCORE domain stopped, HSI48 and HSE disabled</a:t>
            </a:r>
            <a:endParaRPr/>
          </a:p>
          <a:p>
            <a:pPr indent="-342900" lvl="0" marL="457200" rtl="0" algn="l">
              <a:spcBef>
                <a:spcPts val="0"/>
              </a:spcBef>
              <a:spcAft>
                <a:spcPts val="0"/>
              </a:spcAft>
              <a:buSzPts val="1800"/>
              <a:buChar char="●"/>
            </a:pPr>
            <a:r>
              <a:rPr lang="en"/>
              <a:t>Exiting Standby mode enables the HSI48 oscillator, selects HSISYS as system clock.</a:t>
            </a:r>
            <a:endParaRPr/>
          </a:p>
          <a:p>
            <a:pPr indent="0" lvl="0" marL="0" rtl="0" algn="l">
              <a:spcBef>
                <a:spcPts val="1200"/>
              </a:spcBef>
              <a:spcAft>
                <a:spcPts val="1200"/>
              </a:spcAft>
              <a:buNone/>
            </a:pPr>
            <a:r>
              <a:t/>
            </a:r>
            <a:endParaRPr/>
          </a:p>
        </p:txBody>
      </p:sp>
      <p:sp>
        <p:nvSpPr>
          <p:cNvPr id="148" name="Google Shape;148;p22"/>
          <p:cNvSpPr txBox="1"/>
          <p:nvPr>
            <p:ph idx="1" type="body"/>
          </p:nvPr>
        </p:nvSpPr>
        <p:spPr>
          <a:xfrm>
            <a:off x="4630300" y="3700600"/>
            <a:ext cx="4355100" cy="30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0000E6"/>
                </a:solidFill>
              </a:rPr>
              <a:t>Shutdown mode</a:t>
            </a:r>
            <a:endParaRPr b="1" sz="2000">
              <a:solidFill>
                <a:srgbClr val="0000E6"/>
              </a:solidFill>
            </a:endParaRPr>
          </a:p>
          <a:p>
            <a:pPr indent="-342900" lvl="0" marL="457200" rtl="0" algn="l">
              <a:spcBef>
                <a:spcPts val="1200"/>
              </a:spcBef>
              <a:spcAft>
                <a:spcPts val="0"/>
              </a:spcAft>
              <a:buSzPts val="1800"/>
              <a:buChar char="●"/>
            </a:pPr>
            <a:r>
              <a:rPr lang="en"/>
              <a:t>VCORE domain powered off </a:t>
            </a:r>
            <a:endParaRPr/>
          </a:p>
          <a:p>
            <a:pPr indent="-342900" lvl="0" marL="457200" rtl="0" algn="l">
              <a:spcBef>
                <a:spcPts val="0"/>
              </a:spcBef>
              <a:spcAft>
                <a:spcPts val="0"/>
              </a:spcAft>
              <a:buSzPts val="1800"/>
              <a:buChar char="●"/>
            </a:pPr>
            <a:r>
              <a:rPr lang="en"/>
              <a:t>SRAM and register contents lost.</a:t>
            </a:r>
            <a:endParaRPr/>
          </a:p>
          <a:p>
            <a:pPr indent="-342900" lvl="0" marL="457200" rtl="0" algn="l">
              <a:spcBef>
                <a:spcPts val="0"/>
              </a:spcBef>
              <a:spcAft>
                <a:spcPts val="0"/>
              </a:spcAft>
              <a:buSzPts val="1800"/>
              <a:buChar char="●"/>
            </a:pPr>
            <a:r>
              <a:rPr lang="en"/>
              <a:t>All oscillators disabled.</a:t>
            </a:r>
            <a:endParaRPr/>
          </a:p>
          <a:p>
            <a:pPr indent="-342900" lvl="0" marL="457200" rtl="0" algn="l">
              <a:spcBef>
                <a:spcPts val="0"/>
              </a:spcBef>
              <a:spcAft>
                <a:spcPts val="0"/>
              </a:spcAft>
              <a:buSzPts val="1800"/>
              <a:buChar char="●"/>
            </a:pPr>
            <a:r>
              <a:rPr lang="en"/>
              <a:t>Exiting Shutdown mode enables the HSI48 oscillator, selects HSISYS as system clock.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3"/>
          <p:cNvPicPr preferRelativeResize="0"/>
          <p:nvPr/>
        </p:nvPicPr>
        <p:blipFill>
          <a:blip r:embed="rId3">
            <a:alphaModFix/>
          </a:blip>
          <a:stretch>
            <a:fillRect/>
          </a:stretch>
        </p:blipFill>
        <p:spPr>
          <a:xfrm>
            <a:off x="2059650" y="152400"/>
            <a:ext cx="6910145" cy="6553197"/>
          </a:xfrm>
          <a:prstGeom prst="rect">
            <a:avLst/>
          </a:prstGeom>
          <a:noFill/>
          <a:ln>
            <a:noFill/>
          </a:ln>
        </p:spPr>
      </p:pic>
      <p:sp>
        <p:nvSpPr>
          <p:cNvPr id="154" name="Google Shape;154;p23"/>
          <p:cNvSpPr txBox="1"/>
          <p:nvPr/>
        </p:nvSpPr>
        <p:spPr>
          <a:xfrm>
            <a:off x="108350" y="1386775"/>
            <a:ext cx="1951200" cy="3370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rgbClr val="0000E6"/>
                </a:solidFill>
              </a:rPr>
              <a:t>Entering low-power modes.</a:t>
            </a:r>
            <a:endParaRPr sz="2300">
              <a:solidFill>
                <a:srgbClr val="0000E6"/>
              </a:solidFill>
            </a:endParaRPr>
          </a:p>
          <a:p>
            <a:pPr indent="0" lvl="0" marL="0" rtl="0" algn="l">
              <a:spcBef>
                <a:spcPts val="0"/>
              </a:spcBef>
              <a:spcAft>
                <a:spcPts val="0"/>
              </a:spcAft>
              <a:buNone/>
            </a:pPr>
            <a:r>
              <a:t/>
            </a:r>
            <a:endParaRPr sz="2300">
              <a:solidFill>
                <a:srgbClr val="0000E6"/>
              </a:solidFill>
            </a:endParaRPr>
          </a:p>
          <a:p>
            <a:pPr indent="0" lvl="0" marL="0" rtl="0" algn="l">
              <a:spcBef>
                <a:spcPts val="0"/>
              </a:spcBef>
              <a:spcAft>
                <a:spcPts val="0"/>
              </a:spcAft>
              <a:buNone/>
            </a:pPr>
            <a:r>
              <a:rPr lang="en" sz="2300">
                <a:solidFill>
                  <a:srgbClr val="0000E6"/>
                </a:solidFill>
              </a:rPr>
              <a:t>WFI = wait for interrupt</a:t>
            </a:r>
            <a:endParaRPr sz="2300">
              <a:solidFill>
                <a:srgbClr val="0000E6"/>
              </a:solidFill>
            </a:endParaRPr>
          </a:p>
          <a:p>
            <a:pPr indent="0" lvl="0" marL="0" rtl="0" algn="l">
              <a:spcBef>
                <a:spcPts val="0"/>
              </a:spcBef>
              <a:spcAft>
                <a:spcPts val="0"/>
              </a:spcAft>
              <a:buNone/>
            </a:pPr>
            <a:r>
              <a:t/>
            </a:r>
            <a:endParaRPr sz="2300">
              <a:solidFill>
                <a:srgbClr val="0000E6"/>
              </a:solidFill>
            </a:endParaRPr>
          </a:p>
          <a:p>
            <a:pPr indent="0" lvl="0" marL="0" rtl="0" algn="l">
              <a:spcBef>
                <a:spcPts val="0"/>
              </a:spcBef>
              <a:spcAft>
                <a:spcPts val="0"/>
              </a:spcAft>
              <a:buNone/>
            </a:pPr>
            <a:r>
              <a:rPr lang="en" sz="2300">
                <a:solidFill>
                  <a:srgbClr val="0000E6"/>
                </a:solidFill>
              </a:rPr>
              <a:t>WFE = wait for event</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idx="1" type="body"/>
          </p:nvPr>
        </p:nvSpPr>
        <p:spPr>
          <a:xfrm>
            <a:off x="149375" y="67200"/>
            <a:ext cx="4206300" cy="437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a:t>PWR control register 1 (PWR_CR1)</a:t>
            </a:r>
            <a:endParaRPr b="1"/>
          </a:p>
        </p:txBody>
      </p:sp>
      <p:pic>
        <p:nvPicPr>
          <p:cNvPr id="160" name="Google Shape;160;p24"/>
          <p:cNvPicPr preferRelativeResize="0"/>
          <p:nvPr/>
        </p:nvPicPr>
        <p:blipFill>
          <a:blip r:embed="rId3">
            <a:alphaModFix/>
          </a:blip>
          <a:stretch>
            <a:fillRect/>
          </a:stretch>
        </p:blipFill>
        <p:spPr>
          <a:xfrm>
            <a:off x="0" y="504175"/>
            <a:ext cx="6195200" cy="1293000"/>
          </a:xfrm>
          <a:prstGeom prst="rect">
            <a:avLst/>
          </a:prstGeom>
          <a:noFill/>
          <a:ln>
            <a:noFill/>
          </a:ln>
        </p:spPr>
      </p:pic>
      <p:sp>
        <p:nvSpPr>
          <p:cNvPr id="161" name="Google Shape;161;p24"/>
          <p:cNvSpPr/>
          <p:nvPr/>
        </p:nvSpPr>
        <p:spPr>
          <a:xfrm>
            <a:off x="4922575" y="1124524"/>
            <a:ext cx="1107900" cy="559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4"/>
          <p:cNvSpPr txBox="1"/>
          <p:nvPr/>
        </p:nvSpPr>
        <p:spPr>
          <a:xfrm>
            <a:off x="6262825" y="175850"/>
            <a:ext cx="2597700" cy="364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rgbClr val="9900FF"/>
                </a:solidFill>
              </a:rPr>
              <a:t>The selection of the low-power mode to enter is determined by the </a:t>
            </a:r>
            <a:r>
              <a:rPr b="1" lang="en" sz="2500">
                <a:solidFill>
                  <a:srgbClr val="0000E6"/>
                </a:solidFill>
              </a:rPr>
              <a:t>SLEEPDEEP</a:t>
            </a:r>
            <a:r>
              <a:rPr b="1" lang="en" sz="2500">
                <a:solidFill>
                  <a:srgbClr val="9900FF"/>
                </a:solidFill>
              </a:rPr>
              <a:t> and </a:t>
            </a:r>
            <a:r>
              <a:rPr b="1" lang="en" sz="2500">
                <a:solidFill>
                  <a:srgbClr val="0000E6"/>
                </a:solidFill>
              </a:rPr>
              <a:t>LPMS[2:0]</a:t>
            </a:r>
            <a:r>
              <a:rPr b="1" lang="en" sz="2500">
                <a:solidFill>
                  <a:srgbClr val="9900FF"/>
                </a:solidFill>
              </a:rPr>
              <a:t> bitfields.</a:t>
            </a:r>
            <a:endParaRPr b="1" sz="2500">
              <a:solidFill>
                <a:srgbClr val="9900FF"/>
              </a:solidFill>
            </a:endParaRPr>
          </a:p>
        </p:txBody>
      </p:sp>
      <p:pic>
        <p:nvPicPr>
          <p:cNvPr id="163" name="Google Shape;163;p24"/>
          <p:cNvPicPr preferRelativeResize="0"/>
          <p:nvPr/>
        </p:nvPicPr>
        <p:blipFill>
          <a:blip r:embed="rId4">
            <a:alphaModFix/>
          </a:blip>
          <a:stretch>
            <a:fillRect/>
          </a:stretch>
        </p:blipFill>
        <p:spPr>
          <a:xfrm>
            <a:off x="-1525" y="2362188"/>
            <a:ext cx="6045826" cy="1760402"/>
          </a:xfrm>
          <a:prstGeom prst="rect">
            <a:avLst/>
          </a:prstGeom>
          <a:noFill/>
          <a:ln>
            <a:noFill/>
          </a:ln>
        </p:spPr>
      </p:pic>
      <p:sp>
        <p:nvSpPr>
          <p:cNvPr id="164" name="Google Shape;164;p24"/>
          <p:cNvSpPr txBox="1"/>
          <p:nvPr>
            <p:ph idx="1" type="body"/>
          </p:nvPr>
        </p:nvSpPr>
        <p:spPr>
          <a:xfrm>
            <a:off x="73175" y="1885225"/>
            <a:ext cx="4206300" cy="437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a:t>System C</a:t>
            </a:r>
            <a:r>
              <a:rPr b="1" lang="en"/>
              <a:t>ontrol Register (SCR)</a:t>
            </a:r>
            <a:endParaRPr b="1"/>
          </a:p>
        </p:txBody>
      </p:sp>
      <p:sp>
        <p:nvSpPr>
          <p:cNvPr id="165" name="Google Shape;165;p24"/>
          <p:cNvSpPr/>
          <p:nvPr/>
        </p:nvSpPr>
        <p:spPr>
          <a:xfrm>
            <a:off x="5011100" y="2362197"/>
            <a:ext cx="943200" cy="6831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6" name="Google Shape;166;p24"/>
          <p:cNvPicPr preferRelativeResize="0"/>
          <p:nvPr/>
        </p:nvPicPr>
        <p:blipFill>
          <a:blip r:embed="rId5">
            <a:alphaModFix/>
          </a:blip>
          <a:stretch>
            <a:fillRect/>
          </a:stretch>
        </p:blipFill>
        <p:spPr>
          <a:xfrm>
            <a:off x="149375" y="3886594"/>
            <a:ext cx="6113450" cy="2894681"/>
          </a:xfrm>
          <a:prstGeom prst="rect">
            <a:avLst/>
          </a:prstGeom>
          <a:noFill/>
          <a:ln>
            <a:noFill/>
          </a:ln>
        </p:spPr>
      </p:pic>
      <p:sp>
        <p:nvSpPr>
          <p:cNvPr id="167" name="Google Shape;167;p24"/>
          <p:cNvSpPr txBox="1"/>
          <p:nvPr>
            <p:ph idx="1" type="body"/>
          </p:nvPr>
        </p:nvSpPr>
        <p:spPr>
          <a:xfrm>
            <a:off x="3573750" y="1900700"/>
            <a:ext cx="1996500" cy="559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200">
                <a:solidFill>
                  <a:srgbClr val="274E13"/>
                </a:solidFill>
              </a:rPr>
              <a:t>Table 4-14 in cortex m0+ generic user guide</a:t>
            </a:r>
            <a:endParaRPr sz="1200">
              <a:solidFill>
                <a:srgbClr val="274E13"/>
              </a:solidFill>
            </a:endParaRPr>
          </a:p>
        </p:txBody>
      </p:sp>
      <p:sp>
        <p:nvSpPr>
          <p:cNvPr id="168" name="Google Shape;168;p24"/>
          <p:cNvSpPr txBox="1"/>
          <p:nvPr>
            <p:ph idx="1" type="body"/>
          </p:nvPr>
        </p:nvSpPr>
        <p:spPr>
          <a:xfrm>
            <a:off x="4131950" y="-9000"/>
            <a:ext cx="1508700" cy="559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200">
                <a:solidFill>
                  <a:srgbClr val="274E13"/>
                </a:solidFill>
              </a:rPr>
              <a:t>Table 20 in reference manual</a:t>
            </a:r>
            <a:endParaRPr sz="1200">
              <a:solidFill>
                <a:srgbClr val="274E13"/>
              </a:solidFill>
            </a:endParaRPr>
          </a:p>
        </p:txBody>
      </p:sp>
      <p:pic>
        <p:nvPicPr>
          <p:cNvPr id="169" name="Google Shape;169;p24"/>
          <p:cNvPicPr preferRelativeResize="0"/>
          <p:nvPr/>
        </p:nvPicPr>
        <p:blipFill>
          <a:blip r:embed="rId6">
            <a:alphaModFix/>
          </a:blip>
          <a:stretch>
            <a:fillRect/>
          </a:stretch>
        </p:blipFill>
        <p:spPr>
          <a:xfrm>
            <a:off x="5065325" y="5021394"/>
            <a:ext cx="4078675" cy="10519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311700" y="1754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Programming a sleep mode</a:t>
            </a:r>
            <a:endParaRPr/>
          </a:p>
        </p:txBody>
      </p:sp>
      <p:sp>
        <p:nvSpPr>
          <p:cNvPr id="175" name="Google Shape;175;p25"/>
          <p:cNvSpPr txBox="1"/>
          <p:nvPr/>
        </p:nvSpPr>
        <p:spPr>
          <a:xfrm>
            <a:off x="200975" y="1026600"/>
            <a:ext cx="8520600" cy="3261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solidFill>
                  <a:srgbClr val="0000FF"/>
                </a:solidFill>
              </a:rPr>
              <a:t>To put the processor to sleep:</a:t>
            </a:r>
            <a:endParaRPr b="1">
              <a:solidFill>
                <a:srgbClr val="0000FF"/>
              </a:solidFill>
            </a:endParaRPr>
          </a:p>
          <a:p>
            <a:pPr indent="-317500" lvl="0" marL="457200" rtl="0" algn="l">
              <a:lnSpc>
                <a:spcPct val="100000"/>
              </a:lnSpc>
              <a:spcBef>
                <a:spcPts val="1000"/>
              </a:spcBef>
              <a:spcAft>
                <a:spcPts val="0"/>
              </a:spcAft>
              <a:buSzPts val="1400"/>
              <a:buChar char="●"/>
            </a:pPr>
            <a:r>
              <a:rPr lang="en"/>
              <a:t>Set the LPMS[2:0] bitfield to the desired mode.</a:t>
            </a:r>
            <a:endParaRPr/>
          </a:p>
          <a:p>
            <a:pPr indent="-317500" lvl="0" marL="457200" rtl="0" algn="l">
              <a:lnSpc>
                <a:spcPct val="100000"/>
              </a:lnSpc>
              <a:spcBef>
                <a:spcPts val="1000"/>
              </a:spcBef>
              <a:spcAft>
                <a:spcPts val="0"/>
              </a:spcAft>
              <a:buSzPts val="1400"/>
              <a:buChar char="●"/>
            </a:pPr>
            <a:r>
              <a:rPr lang="en"/>
              <a:t>Set the </a:t>
            </a:r>
            <a:r>
              <a:rPr lang="en">
                <a:solidFill>
                  <a:schemeClr val="dk1"/>
                </a:solidFill>
              </a:rPr>
              <a:t>SLEEPDEEP bits to the desired mode.</a:t>
            </a:r>
            <a:endParaRPr/>
          </a:p>
          <a:p>
            <a:pPr indent="-317500" lvl="0" marL="457200" rtl="0" algn="l">
              <a:lnSpc>
                <a:spcPct val="100000"/>
              </a:lnSpc>
              <a:spcBef>
                <a:spcPts val="1000"/>
              </a:spcBef>
              <a:spcAft>
                <a:spcPts val="0"/>
              </a:spcAft>
              <a:buSzPts val="1400"/>
              <a:buChar char="●"/>
            </a:pPr>
            <a:r>
              <a:rPr lang="en"/>
              <a:t>Execute the desired low-power mode instruction: </a:t>
            </a:r>
            <a:endParaRPr/>
          </a:p>
          <a:p>
            <a:pPr indent="-317500" lvl="1" marL="914400" rtl="0" algn="l">
              <a:lnSpc>
                <a:spcPct val="100000"/>
              </a:lnSpc>
              <a:spcBef>
                <a:spcPts val="1000"/>
              </a:spcBef>
              <a:spcAft>
                <a:spcPts val="0"/>
              </a:spcAft>
              <a:buSzPts val="1400"/>
              <a:buChar char="○"/>
            </a:pPr>
            <a:r>
              <a:rPr lang="en"/>
              <a:t>WFI (wait for interrupt)</a:t>
            </a:r>
            <a:endParaRPr/>
          </a:p>
          <a:p>
            <a:pPr indent="-317500" lvl="1" marL="914400" rtl="0" algn="l">
              <a:lnSpc>
                <a:spcPct val="100000"/>
              </a:lnSpc>
              <a:spcBef>
                <a:spcPts val="1000"/>
              </a:spcBef>
              <a:spcAft>
                <a:spcPts val="0"/>
              </a:spcAft>
              <a:buSzPts val="1400"/>
              <a:buChar char="○"/>
            </a:pPr>
            <a:r>
              <a:rPr lang="en"/>
              <a:t>WFE (wait for event)</a:t>
            </a:r>
            <a:endParaRPr/>
          </a:p>
          <a:p>
            <a:pPr indent="0" lvl="0" marL="0" rtl="0" algn="l">
              <a:lnSpc>
                <a:spcPct val="115000"/>
              </a:lnSpc>
              <a:spcBef>
                <a:spcPts val="1000"/>
              </a:spcBef>
              <a:spcAft>
                <a:spcPts val="0"/>
              </a:spcAft>
              <a:buNone/>
            </a:pPr>
            <a:r>
              <a:rPr b="1" lang="en" sz="1200">
                <a:solidFill>
                  <a:srgbClr val="FF0000"/>
                </a:solidFill>
                <a:latin typeface="Courier New"/>
                <a:ea typeface="Courier New"/>
                <a:cs typeface="Courier New"/>
                <a:sym typeface="Courier New"/>
              </a:rPr>
              <a:t>#include &lt;ES28.h&gt;</a:t>
            </a:r>
            <a:endParaRPr b="1" sz="1200">
              <a:solidFill>
                <a:srgbClr val="FF0000"/>
              </a:solidFill>
              <a:latin typeface="Courier New"/>
              <a:ea typeface="Courier New"/>
              <a:cs typeface="Courier New"/>
              <a:sym typeface="Courier New"/>
            </a:endParaRPr>
          </a:p>
          <a:p>
            <a:pPr indent="0" lvl="0" marL="457200" rtl="0" algn="l">
              <a:lnSpc>
                <a:spcPct val="115000"/>
              </a:lnSpc>
              <a:spcBef>
                <a:spcPts val="0"/>
              </a:spcBef>
              <a:spcAft>
                <a:spcPts val="0"/>
              </a:spcAft>
              <a:buNone/>
            </a:pPr>
            <a:r>
              <a:rPr b="1" lang="en" sz="1200">
                <a:solidFill>
                  <a:srgbClr val="FF0000"/>
                </a:solidFill>
                <a:latin typeface="Courier New"/>
                <a:ea typeface="Courier New"/>
                <a:cs typeface="Courier New"/>
                <a:sym typeface="Courier New"/>
              </a:rPr>
              <a:t>⋮</a:t>
            </a:r>
            <a:endParaRPr b="1" sz="1200">
              <a:solidFill>
                <a:srgbClr val="FF0000"/>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FF0000"/>
                </a:solidFill>
                <a:latin typeface="Courier New"/>
                <a:ea typeface="Courier New"/>
                <a:cs typeface="Courier New"/>
                <a:sym typeface="Courier New"/>
              </a:rPr>
              <a:t>PWR-&gt;CR1 |= (PWR_CR1_LPMS0 | PWR_CR1_LPMS1); //stop mode</a:t>
            </a:r>
            <a:endParaRPr b="1" sz="1200">
              <a:solidFill>
                <a:srgbClr val="FF0000"/>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FF0000"/>
                </a:solidFill>
                <a:latin typeface="Courier New"/>
                <a:ea typeface="Courier New"/>
                <a:cs typeface="Courier New"/>
                <a:sym typeface="Courier New"/>
              </a:rPr>
              <a:t>SCB-&gt;SCR |= SCB_SCR_SLEEPDEEP_Msk;</a:t>
            </a:r>
            <a:endParaRPr b="1" sz="1200">
              <a:solidFill>
                <a:srgbClr val="FF0000"/>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FF0000"/>
                </a:solidFill>
                <a:latin typeface="Courier New"/>
                <a:ea typeface="Courier New"/>
                <a:cs typeface="Courier New"/>
                <a:sym typeface="Courier New"/>
              </a:rPr>
              <a:t>__WFI();</a:t>
            </a:r>
            <a:endParaRPr b="1" sz="1200">
              <a:solidFill>
                <a:srgbClr val="FF0000"/>
              </a:solidFill>
              <a:latin typeface="Courier New"/>
              <a:ea typeface="Courier New"/>
              <a:cs typeface="Courier New"/>
              <a:sym typeface="Courier New"/>
            </a:endParaRPr>
          </a:p>
        </p:txBody>
      </p:sp>
      <p:sp>
        <p:nvSpPr>
          <p:cNvPr id="176" name="Google Shape;176;p25"/>
          <p:cNvSpPr txBox="1"/>
          <p:nvPr/>
        </p:nvSpPr>
        <p:spPr>
          <a:xfrm>
            <a:off x="200975" y="4603575"/>
            <a:ext cx="3571500" cy="149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38761D"/>
                </a:solidFill>
              </a:rPr>
              <a:t>To wake the processor up:</a:t>
            </a:r>
            <a:endParaRPr b="1">
              <a:solidFill>
                <a:srgbClr val="38761D"/>
              </a:solidFill>
            </a:endParaRPr>
          </a:p>
          <a:p>
            <a:pPr indent="-317500" lvl="0" marL="457200" rtl="0" algn="l">
              <a:spcBef>
                <a:spcPts val="1000"/>
              </a:spcBef>
              <a:spcAft>
                <a:spcPts val="0"/>
              </a:spcAft>
              <a:buClr>
                <a:schemeClr val="dk1"/>
              </a:buClr>
              <a:buSzPts val="1400"/>
              <a:buChar char="●"/>
            </a:pPr>
            <a:r>
              <a:rPr lang="en">
                <a:solidFill>
                  <a:schemeClr val="dk1"/>
                </a:solidFill>
              </a:rPr>
              <a:t>An appropriate interrupt occurs.</a:t>
            </a:r>
            <a:endParaRPr>
              <a:solidFill>
                <a:schemeClr val="dk1"/>
              </a:solidFill>
            </a:endParaRPr>
          </a:p>
          <a:p>
            <a:pPr indent="-317500" lvl="0" marL="457200" rtl="0" algn="l">
              <a:spcBef>
                <a:spcPts val="1000"/>
              </a:spcBef>
              <a:spcAft>
                <a:spcPts val="0"/>
              </a:spcAft>
              <a:buClr>
                <a:schemeClr val="dk1"/>
              </a:buClr>
              <a:buSzPts val="1400"/>
              <a:buChar char="●"/>
            </a:pPr>
            <a:r>
              <a:rPr lang="en">
                <a:solidFill>
                  <a:schemeClr val="dk1"/>
                </a:solidFill>
              </a:rPr>
              <a:t>Reset LPMS and SLEEPDEEP bits</a:t>
            </a:r>
            <a:endParaRPr>
              <a:solidFill>
                <a:schemeClr val="dk1"/>
              </a:solidFill>
            </a:endParaRPr>
          </a:p>
          <a:p>
            <a:pPr indent="-317500" lvl="0" marL="457200" rtl="0" algn="l">
              <a:spcBef>
                <a:spcPts val="1000"/>
              </a:spcBef>
              <a:spcAft>
                <a:spcPts val="1000"/>
              </a:spcAft>
              <a:buClr>
                <a:schemeClr val="dk1"/>
              </a:buClr>
              <a:buSzPts val="1400"/>
              <a:buChar char="●"/>
            </a:pPr>
            <a:r>
              <a:rPr lang="en">
                <a:solidFill>
                  <a:schemeClr val="dk1"/>
                </a:solidFill>
              </a:rPr>
              <a:t>Get back to work!</a:t>
            </a:r>
            <a:endParaRPr>
              <a:solidFill>
                <a:schemeClr val="dk1"/>
              </a:solidFill>
            </a:endParaRPr>
          </a:p>
        </p:txBody>
      </p:sp>
      <p:sp>
        <p:nvSpPr>
          <p:cNvPr id="177" name="Google Shape;177;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Processing loop with sleep</a:t>
            </a:r>
            <a:endParaRPr/>
          </a:p>
        </p:txBody>
      </p:sp>
      <p:sp>
        <p:nvSpPr>
          <p:cNvPr id="183" name="Google Shape;183;p26"/>
          <p:cNvSpPr txBox="1"/>
          <p:nvPr>
            <p:ph idx="1" type="body"/>
          </p:nvPr>
        </p:nvSpPr>
        <p:spPr>
          <a:xfrm>
            <a:off x="311700" y="1308024"/>
            <a:ext cx="8520600" cy="513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latin typeface="Courier New"/>
                <a:ea typeface="Courier New"/>
                <a:cs typeface="Courier New"/>
                <a:sym typeface="Courier New"/>
              </a:rPr>
              <a:t>int main(void) {</a:t>
            </a:r>
            <a:endParaRPr b="1" sz="1400">
              <a:latin typeface="Courier New"/>
              <a:ea typeface="Courier New"/>
              <a:cs typeface="Courier New"/>
              <a:sym typeface="Courier New"/>
            </a:endParaRPr>
          </a:p>
          <a:p>
            <a:pPr indent="457200" lvl="0" marL="0" rtl="0" algn="l">
              <a:spcBef>
                <a:spcPts val="1200"/>
              </a:spcBef>
              <a:spcAft>
                <a:spcPts val="0"/>
              </a:spcAft>
              <a:buNone/>
            </a:pPr>
            <a:r>
              <a:rPr b="1" lang="en" sz="1400">
                <a:latin typeface="Courier New"/>
                <a:ea typeface="Courier New"/>
                <a:cs typeface="Courier New"/>
                <a:sym typeface="Courier New"/>
              </a:rPr>
              <a:t>// Initialize devices, enable interrupts</a:t>
            </a:r>
            <a:endParaRPr b="1" sz="1400">
              <a:latin typeface="Courier New"/>
              <a:ea typeface="Courier New"/>
              <a:cs typeface="Courier New"/>
              <a:sym typeface="Courier New"/>
            </a:endParaRPr>
          </a:p>
          <a:p>
            <a:pPr indent="457200" lvl="0" marL="0" rtl="0" algn="l">
              <a:spcBef>
                <a:spcPts val="1200"/>
              </a:spcBef>
              <a:spcAft>
                <a:spcPts val="0"/>
              </a:spcAft>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457200" lvl="0" marL="0" rtl="0" algn="l">
              <a:spcBef>
                <a:spcPts val="1200"/>
              </a:spcBef>
              <a:spcAft>
                <a:spcPts val="0"/>
              </a:spcAft>
              <a:buNone/>
            </a:pPr>
            <a:r>
              <a:rPr b="1" lang="en" sz="1400">
                <a:latin typeface="Courier New"/>
                <a:ea typeface="Courier New"/>
                <a:cs typeface="Courier New"/>
                <a:sym typeface="Courier New"/>
              </a:rPr>
              <a:t>while(1) {</a:t>
            </a:r>
            <a:endParaRPr b="1" sz="1400">
              <a:latin typeface="Courier New"/>
              <a:ea typeface="Courier New"/>
              <a:cs typeface="Courier New"/>
              <a:sym typeface="Courier New"/>
            </a:endParaRPr>
          </a:p>
          <a:p>
            <a:pPr indent="457200" lvl="0" marL="0" rtl="0" algn="l">
              <a:spcBef>
                <a:spcPts val="1200"/>
              </a:spcBef>
              <a:spcAft>
                <a:spcPts val="0"/>
              </a:spcAft>
              <a:buNone/>
            </a:pPr>
            <a:r>
              <a:rPr b="1" lang="en" sz="1400">
                <a:latin typeface="Courier New"/>
                <a:ea typeface="Courier New"/>
                <a:cs typeface="Courier New"/>
                <a:sym typeface="Courier New"/>
              </a:rPr>
              <a:t>// Check interrupt flags, take action</a:t>
            </a:r>
            <a:endParaRPr b="1" sz="1400">
              <a:latin typeface="Courier New"/>
              <a:ea typeface="Courier New"/>
              <a:cs typeface="Courier New"/>
              <a:sym typeface="Courier New"/>
            </a:endParaRPr>
          </a:p>
          <a:p>
            <a:pPr indent="0" lvl="0" marL="0" rtl="0" algn="l">
              <a:spcBef>
                <a:spcPts val="1200"/>
              </a:spcBef>
              <a:spcAft>
                <a:spcPts val="0"/>
              </a:spcAft>
              <a:buNone/>
            </a:pPr>
            <a:r>
              <a:rPr b="1" lang="en" sz="1400">
                <a:latin typeface="Courier New"/>
                <a:ea typeface="Courier New"/>
                <a:cs typeface="Courier New"/>
                <a:sym typeface="Courier New"/>
              </a:rPr>
              <a:t>	...</a:t>
            </a:r>
            <a:endParaRPr b="1" sz="1400">
              <a:latin typeface="Courier New"/>
              <a:ea typeface="Courier New"/>
              <a:cs typeface="Courier New"/>
              <a:sym typeface="Courier New"/>
            </a:endParaRPr>
          </a:p>
          <a:p>
            <a:pPr indent="457200" lvl="0" marL="0" rtl="0" algn="l">
              <a:spcBef>
                <a:spcPts val="1200"/>
              </a:spcBef>
              <a:spcAft>
                <a:spcPts val="0"/>
              </a:spcAft>
              <a:buNone/>
            </a:pPr>
            <a:r>
              <a:rPr b="1" lang="en" sz="1400">
                <a:latin typeface="Courier New"/>
                <a:ea typeface="Courier New"/>
                <a:cs typeface="Courier New"/>
                <a:sym typeface="Courier New"/>
              </a:rPr>
              <a:t>// Go to sleep, await the next interrupt</a:t>
            </a:r>
            <a:endParaRPr b="1" sz="1400">
              <a:latin typeface="Courier New"/>
              <a:ea typeface="Courier New"/>
              <a:cs typeface="Courier New"/>
              <a:sym typeface="Courier New"/>
            </a:endParaRPr>
          </a:p>
          <a:p>
            <a:pPr indent="457200" lvl="0" marL="0" rtl="0" algn="l">
              <a:spcBef>
                <a:spcPts val="0"/>
              </a:spcBef>
              <a:spcAft>
                <a:spcPts val="0"/>
              </a:spcAft>
              <a:buNone/>
            </a:pPr>
            <a:r>
              <a:rPr b="1" lang="en" sz="1400">
                <a:latin typeface="Courier New"/>
                <a:ea typeface="Courier New"/>
                <a:cs typeface="Courier New"/>
                <a:sym typeface="Courier New"/>
              </a:rPr>
              <a:t>__WFI();</a:t>
            </a:r>
            <a:endParaRPr b="1" sz="1400">
              <a:latin typeface="Courier New"/>
              <a:ea typeface="Courier New"/>
              <a:cs typeface="Courier New"/>
              <a:sym typeface="Courier New"/>
            </a:endParaRPr>
          </a:p>
          <a:p>
            <a:pPr indent="457200" lvl="0" marL="0" rtl="0" algn="l">
              <a:spcBef>
                <a:spcPts val="0"/>
              </a:spcBef>
              <a:spcAft>
                <a:spcPts val="0"/>
              </a:spcAft>
              <a:buNone/>
            </a:pPr>
            <a:r>
              <a:t/>
            </a:r>
            <a:endParaRPr b="1" sz="1400">
              <a:latin typeface="Courier New"/>
              <a:ea typeface="Courier New"/>
              <a:cs typeface="Courier New"/>
              <a:sym typeface="Courier New"/>
            </a:endParaRPr>
          </a:p>
          <a:p>
            <a:pPr indent="457200" lvl="0" marL="0" rtl="0" algn="l">
              <a:spcBef>
                <a:spcPts val="0"/>
              </a:spcBef>
              <a:spcAft>
                <a:spcPts val="0"/>
              </a:spcAft>
              <a:buNone/>
            </a:pPr>
            <a:r>
              <a:rPr b="1" lang="en" sz="1400">
                <a:latin typeface="Courier New"/>
                <a:ea typeface="Courier New"/>
                <a:cs typeface="Courier New"/>
                <a:sym typeface="Courier New"/>
              </a:rPr>
              <a:t>// When CPU wakes up, execution resumes at the top of the loop.</a:t>
            </a:r>
            <a:endParaRPr b="1" sz="1400">
              <a:latin typeface="Courier New"/>
              <a:ea typeface="Courier New"/>
              <a:cs typeface="Courier New"/>
              <a:sym typeface="Courier New"/>
            </a:endParaRPr>
          </a:p>
          <a:p>
            <a:pPr indent="457200" lvl="0" marL="0" rtl="0" algn="l">
              <a:spcBef>
                <a:spcPts val="1200"/>
              </a:spcBef>
              <a:spcAft>
                <a:spcPts val="0"/>
              </a:spcAft>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0" rtl="0" algn="l">
              <a:spcBef>
                <a:spcPts val="1200"/>
              </a:spcBef>
              <a:spcAft>
                <a:spcPts val="0"/>
              </a:spcAft>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0" rtl="0" algn="l">
              <a:spcBef>
                <a:spcPts val="1200"/>
              </a:spcBef>
              <a:spcAft>
                <a:spcPts val="0"/>
              </a:spcAft>
              <a:buNone/>
            </a:pPr>
            <a:r>
              <a:rPr b="1" lang="en" sz="1400">
                <a:latin typeface="Courier New"/>
                <a:ea typeface="Courier New"/>
                <a:cs typeface="Courier New"/>
                <a:sym typeface="Courier New"/>
              </a:rPr>
              <a:t>// ISRs (including at least one interrupt that awakens the processor!)</a:t>
            </a:r>
            <a:endParaRPr b="1" sz="1400">
              <a:latin typeface="Courier New"/>
              <a:ea typeface="Courier New"/>
              <a:cs typeface="Courier New"/>
              <a:sym typeface="Courier New"/>
            </a:endParaRPr>
          </a:p>
          <a:p>
            <a:pPr indent="0" lvl="0" marL="0" rtl="0" algn="l">
              <a:spcBef>
                <a:spcPts val="1200"/>
              </a:spcBef>
              <a:spcAft>
                <a:spcPts val="0"/>
              </a:spcAft>
              <a:buNone/>
            </a:pPr>
            <a:r>
              <a:rPr b="1" lang="en" sz="1400">
                <a:latin typeface="Courier New"/>
                <a:ea typeface="Courier New"/>
                <a:cs typeface="Courier New"/>
                <a:sym typeface="Courier New"/>
              </a:rPr>
              <a:t>...</a:t>
            </a:r>
            <a:endParaRPr b="1" sz="1400">
              <a:latin typeface="Courier New"/>
              <a:ea typeface="Courier New"/>
              <a:cs typeface="Courier New"/>
              <a:sym typeface="Courier New"/>
            </a:endParaRPr>
          </a:p>
          <a:p>
            <a:pPr indent="0" lvl="0" marL="0" rtl="0" algn="l">
              <a:spcBef>
                <a:spcPts val="1200"/>
              </a:spcBef>
              <a:spcAft>
                <a:spcPts val="0"/>
              </a:spcAft>
              <a:buNone/>
            </a:pPr>
            <a:r>
              <a:t/>
            </a:r>
            <a:endParaRPr sz="1400">
              <a:latin typeface="Courier New"/>
              <a:ea typeface="Courier New"/>
              <a:cs typeface="Courier New"/>
              <a:sym typeface="Courier New"/>
            </a:endParaRPr>
          </a:p>
          <a:p>
            <a:pPr indent="0" lvl="0" marL="0" rtl="0" algn="l">
              <a:spcBef>
                <a:spcPts val="1200"/>
              </a:spcBef>
              <a:spcAft>
                <a:spcPts val="1200"/>
              </a:spcAft>
              <a:buNone/>
            </a:pPr>
            <a:r>
              <a:t/>
            </a:r>
            <a:endParaRPr sz="1400">
              <a:latin typeface="Courier New"/>
              <a:ea typeface="Courier New"/>
              <a:cs typeface="Courier New"/>
              <a:sym typeface="Courier New"/>
            </a:endParaRPr>
          </a:p>
        </p:txBody>
      </p:sp>
      <p:sp>
        <p:nvSpPr>
          <p:cNvPr id="184" name="Google Shape;184;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7"/>
          <p:cNvSpPr txBox="1"/>
          <p:nvPr>
            <p:ph type="title"/>
          </p:nvPr>
        </p:nvSpPr>
        <p:spPr>
          <a:xfrm>
            <a:off x="311700" y="1907250"/>
            <a:ext cx="8520600" cy="369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Watchdogs</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sz="2800"/>
              <a:t>Reference Manual:</a:t>
            </a:r>
            <a:endParaRPr sz="2800"/>
          </a:p>
          <a:p>
            <a:pPr indent="0" lvl="0" marL="0" rtl="0" algn="ctr">
              <a:spcBef>
                <a:spcPts val="0"/>
              </a:spcBef>
              <a:spcAft>
                <a:spcPts val="0"/>
              </a:spcAft>
              <a:buNone/>
            </a:pPr>
            <a:r>
              <a:rPr lang="en" sz="2800"/>
              <a:t> Section 20: Independent watchdog (IWDG)</a:t>
            </a:r>
            <a:endParaRPr sz="2800"/>
          </a:p>
          <a:p>
            <a:pPr indent="0" lvl="0" marL="0" rtl="0" algn="ctr">
              <a:spcBef>
                <a:spcPts val="0"/>
              </a:spcBef>
              <a:spcAft>
                <a:spcPts val="0"/>
              </a:spcAft>
              <a:buNone/>
            </a:pPr>
            <a:r>
              <a:rPr lang="en" sz="2800"/>
              <a:t>Section 21: System window watchdog (WWDG)</a:t>
            </a:r>
            <a:endParaRPr sz="2800"/>
          </a:p>
        </p:txBody>
      </p:sp>
      <p:sp>
        <p:nvSpPr>
          <p:cNvPr id="190" name="Google Shape;190;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8"/>
          <p:cNvSpPr txBox="1"/>
          <p:nvPr>
            <p:ph type="title"/>
          </p:nvPr>
        </p:nvSpPr>
        <p:spPr>
          <a:xfrm>
            <a:off x="311700" y="4671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does the watchdog do?</a:t>
            </a:r>
            <a:endParaRPr/>
          </a:p>
        </p:txBody>
      </p:sp>
      <p:sp>
        <p:nvSpPr>
          <p:cNvPr id="196" name="Google Shape;196;p28"/>
          <p:cNvSpPr txBox="1"/>
          <p:nvPr/>
        </p:nvSpPr>
        <p:spPr>
          <a:xfrm>
            <a:off x="311700" y="1230675"/>
            <a:ext cx="8709600" cy="214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t>Independent</a:t>
            </a:r>
            <a:r>
              <a:rPr lang="en" sz="1900"/>
              <a:t> </a:t>
            </a:r>
            <a:r>
              <a:rPr lang="en" sz="1900"/>
              <a:t>Watchdog (IWDG): timer that runs on a 32 kHz (slow!) internal clock that is independent of the main clock. 12-bit downcounter with an 8-bit prescaler.</a:t>
            </a:r>
            <a:endParaRPr sz="1900"/>
          </a:p>
          <a:p>
            <a:pPr indent="0" lvl="0" marL="0" rtl="0" algn="l">
              <a:spcBef>
                <a:spcPts val="1000"/>
              </a:spcBef>
              <a:spcAft>
                <a:spcPts val="0"/>
              </a:spcAft>
              <a:buNone/>
            </a:pPr>
            <a:r>
              <a:rPr lang="en" sz="1900"/>
              <a:t>A healthy program resets the watchdog often (“pet the dog”).</a:t>
            </a:r>
            <a:endParaRPr sz="1900"/>
          </a:p>
          <a:p>
            <a:pPr indent="0" lvl="0" marL="0" rtl="0" algn="l">
              <a:spcBef>
                <a:spcPts val="1000"/>
              </a:spcBef>
              <a:spcAft>
                <a:spcPts val="1000"/>
              </a:spcAft>
              <a:buNone/>
            </a:pPr>
            <a:r>
              <a:rPr lang="en" sz="1900"/>
              <a:t>If the program gets stuck, or an expected event does not occur in time, the watchdog will time out and reset the processor.</a:t>
            </a:r>
            <a:endParaRPr sz="1900"/>
          </a:p>
        </p:txBody>
      </p:sp>
      <p:sp>
        <p:nvSpPr>
          <p:cNvPr id="197" name="Google Shape;197;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98" name="Google Shape;198;p28"/>
          <p:cNvPicPr preferRelativeResize="0"/>
          <p:nvPr/>
        </p:nvPicPr>
        <p:blipFill>
          <a:blip r:embed="rId3">
            <a:alphaModFix/>
          </a:blip>
          <a:stretch>
            <a:fillRect/>
          </a:stretch>
        </p:blipFill>
        <p:spPr>
          <a:xfrm>
            <a:off x="430535" y="3574225"/>
            <a:ext cx="3782666" cy="2897700"/>
          </a:xfrm>
          <a:prstGeom prst="rect">
            <a:avLst/>
          </a:prstGeom>
          <a:noFill/>
          <a:ln>
            <a:noFill/>
          </a:ln>
        </p:spPr>
      </p:pic>
      <p:sp>
        <p:nvSpPr>
          <p:cNvPr id="199" name="Google Shape;199;p28"/>
          <p:cNvSpPr txBox="1"/>
          <p:nvPr/>
        </p:nvSpPr>
        <p:spPr>
          <a:xfrm>
            <a:off x="4324575" y="3429000"/>
            <a:ext cx="4507800" cy="30429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0000FF"/>
              </a:buClr>
              <a:buSzPts val="1800"/>
              <a:buChar char="●"/>
            </a:pPr>
            <a:r>
              <a:rPr lang="en" sz="1800">
                <a:solidFill>
                  <a:srgbClr val="0000FF"/>
                </a:solidFill>
              </a:rPr>
              <a:t>The IWDG also has a "window" option that allows petting the dog only during a specified window in the countdown process: petting too early or too late will generate a reset.</a:t>
            </a:r>
            <a:br>
              <a:rPr lang="en" sz="1800">
                <a:solidFill>
                  <a:srgbClr val="0000FF"/>
                </a:solidFill>
              </a:rPr>
            </a:br>
            <a:endParaRPr sz="1800">
              <a:solidFill>
                <a:srgbClr val="0000FF"/>
              </a:solidFill>
            </a:endParaRPr>
          </a:p>
          <a:p>
            <a:pPr indent="-342900" lvl="0" marL="457200" rtl="0" algn="l">
              <a:spcBef>
                <a:spcPts val="0"/>
              </a:spcBef>
              <a:spcAft>
                <a:spcPts val="0"/>
              </a:spcAft>
              <a:buClr>
                <a:srgbClr val="0000FF"/>
              </a:buClr>
              <a:buSzPts val="1800"/>
              <a:buChar char="●"/>
            </a:pPr>
            <a:r>
              <a:rPr lang="en" sz="1800">
                <a:solidFill>
                  <a:srgbClr val="0000FF"/>
                </a:solidFill>
              </a:rPr>
              <a:t>There is another watchdog, the system window watchdog, that runs on the main clock, can generate early interrupts before a reset occurs and is a bit more flexible.</a:t>
            </a:r>
            <a:endParaRPr sz="1800">
              <a:solidFill>
                <a:srgbClr val="0000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Quick Example</a:t>
            </a:r>
            <a:endParaRPr/>
          </a:p>
        </p:txBody>
      </p:sp>
      <p:sp>
        <p:nvSpPr>
          <p:cNvPr id="205" name="Google Shape;205;p2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a copy of your </a:t>
            </a:r>
            <a:r>
              <a:rPr lang="en"/>
              <a:t>template</a:t>
            </a:r>
            <a:r>
              <a:rPr lang="en"/>
              <a:t> project, call the copy "Watchdog". Download watchdog.c from Canvas and copy+paste it into your new project's source folder.</a:t>
            </a:r>
            <a:endParaRPr/>
          </a:p>
          <a:p>
            <a:pPr indent="0" lvl="0" marL="0" rtl="0" algn="l">
              <a:spcBef>
                <a:spcPts val="1200"/>
              </a:spcBef>
              <a:spcAft>
                <a:spcPts val="0"/>
              </a:spcAft>
              <a:buNone/>
            </a:pPr>
            <a:r>
              <a:rPr lang="en"/>
              <a:t>Compile and upload to your Nucleo as per usual. Open Coolterm.</a:t>
            </a:r>
            <a:endParaRPr/>
          </a:p>
          <a:p>
            <a:pPr indent="0" lvl="0" marL="0" rtl="0" algn="l">
              <a:spcBef>
                <a:spcPts val="1200"/>
              </a:spcBef>
              <a:spcAft>
                <a:spcPts val="0"/>
              </a:spcAft>
              <a:buNone/>
            </a:pPr>
            <a:r>
              <a:rPr lang="en"/>
              <a:t>You'll see a "Hello dog world" message in Coolterm that seems to repeat every 4 seconds.</a:t>
            </a:r>
            <a:endParaRPr/>
          </a:p>
          <a:p>
            <a:pPr indent="0" lvl="0" marL="0" rtl="0" algn="l">
              <a:spcBef>
                <a:spcPts val="1200"/>
              </a:spcBef>
              <a:spcAft>
                <a:spcPts val="0"/>
              </a:spcAft>
              <a:buNone/>
            </a:pPr>
            <a:r>
              <a:rPr lang="en"/>
              <a:t>Now press the blue user button repeatedly and observe what happens:</a:t>
            </a:r>
            <a:endParaRPr/>
          </a:p>
          <a:p>
            <a:pPr indent="-342900" lvl="0" marL="457200" rtl="0" algn="l">
              <a:spcBef>
                <a:spcPts val="1200"/>
              </a:spcBef>
              <a:spcAft>
                <a:spcPts val="0"/>
              </a:spcAft>
              <a:buSzPts val="1800"/>
              <a:buChar char="●"/>
            </a:pPr>
            <a:r>
              <a:rPr lang="en"/>
              <a:t>When you press the button more frequently than every 4 seconds,</a:t>
            </a:r>
            <a:endParaRPr/>
          </a:p>
          <a:p>
            <a:pPr indent="-342900" lvl="0" marL="457200" rtl="0" algn="l">
              <a:spcBef>
                <a:spcPts val="0"/>
              </a:spcBef>
              <a:spcAft>
                <a:spcPts val="0"/>
              </a:spcAft>
              <a:buSzPts val="1800"/>
              <a:buChar char="●"/>
            </a:pPr>
            <a:r>
              <a:rPr lang="en"/>
              <a:t>When you press the button less frequently than every 4 seconds.</a:t>
            </a:r>
            <a:endParaRPr/>
          </a:p>
          <a:p>
            <a:pPr indent="0" lvl="0" marL="0" rtl="0" algn="l">
              <a:spcBef>
                <a:spcPts val="1200"/>
              </a:spcBef>
              <a:spcAft>
                <a:spcPts val="1200"/>
              </a:spcAft>
              <a:buNone/>
            </a:pPr>
            <a:r>
              <a:rPr lang="en"/>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Quick Example</a:t>
            </a:r>
            <a:endParaRPr/>
          </a:p>
        </p:txBody>
      </p:sp>
      <p:sp>
        <p:nvSpPr>
          <p:cNvPr id="211" name="Google Shape;211;p3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actually happens:</a:t>
            </a:r>
            <a:endParaRPr/>
          </a:p>
          <a:p>
            <a:pPr indent="-342900" lvl="0" marL="457200" rtl="0" algn="l">
              <a:spcBef>
                <a:spcPts val="1200"/>
              </a:spcBef>
              <a:spcAft>
                <a:spcPts val="0"/>
              </a:spcAft>
              <a:buSzPts val="1800"/>
              <a:buChar char="●"/>
            </a:pPr>
            <a:r>
              <a:rPr lang="en"/>
              <a:t>The "Hello dog world" message is a message printed at the very start of the program, </a:t>
            </a:r>
            <a:r>
              <a:rPr b="1" i="1" lang="en"/>
              <a:t>before</a:t>
            </a:r>
            <a:r>
              <a:rPr lang="en"/>
              <a:t> the event loop.</a:t>
            </a:r>
            <a:endParaRPr/>
          </a:p>
          <a:p>
            <a:pPr indent="-342900" lvl="0" marL="457200" rtl="0" algn="l">
              <a:spcBef>
                <a:spcPts val="0"/>
              </a:spcBef>
              <a:spcAft>
                <a:spcPts val="0"/>
              </a:spcAft>
              <a:buSzPts val="1800"/>
              <a:buChar char="●"/>
            </a:pPr>
            <a:r>
              <a:rPr lang="en"/>
              <a:t>So seeing the message over and over means the device is rebooting regularly.</a:t>
            </a:r>
            <a:endParaRPr/>
          </a:p>
          <a:p>
            <a:pPr indent="-342900" lvl="0" marL="457200" rtl="0" algn="l">
              <a:spcBef>
                <a:spcPts val="0"/>
              </a:spcBef>
              <a:spcAft>
                <a:spcPts val="0"/>
              </a:spcAft>
              <a:buSzPts val="1800"/>
              <a:buChar char="●"/>
            </a:pPr>
            <a:r>
              <a:rPr lang="en"/>
              <a:t>When you press the blue user button the program is "petting the watchdog", thereby resetting the countdown timer that ultimately would have resulted in a reboot.</a:t>
            </a:r>
            <a:endParaRPr/>
          </a:p>
          <a:p>
            <a:pPr indent="-342900" lvl="0" marL="457200" rtl="0" algn="l">
              <a:spcBef>
                <a:spcPts val="0"/>
              </a:spcBef>
              <a:spcAft>
                <a:spcPts val="0"/>
              </a:spcAft>
              <a:buSzPts val="1800"/>
              <a:buChar char="●"/>
            </a:pPr>
            <a:r>
              <a:rPr lang="en"/>
              <a:t>If you pet the watchdog frequently enough the program will continue running </a:t>
            </a:r>
            <a:r>
              <a:rPr lang="en"/>
              <a:t>without</a:t>
            </a:r>
            <a:r>
              <a:rPr lang="en"/>
              <a:t> rebooting.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Independent Watchdog (IWDG)</a:t>
            </a:r>
            <a:endParaRPr/>
          </a:p>
        </p:txBody>
      </p:sp>
      <p:sp>
        <p:nvSpPr>
          <p:cNvPr id="217" name="Google Shape;217;p31"/>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Configure the IWDG:</a:t>
            </a:r>
            <a:endParaRPr/>
          </a:p>
          <a:p>
            <a:pPr indent="-317500" lvl="1" marL="914400" rtl="0" algn="l">
              <a:spcBef>
                <a:spcPts val="0"/>
              </a:spcBef>
              <a:spcAft>
                <a:spcPts val="0"/>
              </a:spcAft>
              <a:buSzPts val="1400"/>
              <a:buChar char="○"/>
            </a:pPr>
            <a:r>
              <a:rPr lang="en"/>
              <a:t>"Unlock" the protected prescaler and reload registers by writing </a:t>
            </a:r>
            <a:r>
              <a:rPr lang="en"/>
              <a:t>0x0000 </a:t>
            </a:r>
            <a:r>
              <a:rPr lang="en"/>
              <a:t>5555 to the IWDG key register (IWDG_KR)</a:t>
            </a:r>
            <a:endParaRPr/>
          </a:p>
          <a:p>
            <a:pPr indent="-317500" lvl="1" marL="914400" rtl="0" algn="l">
              <a:spcBef>
                <a:spcPts val="0"/>
              </a:spcBef>
              <a:spcAft>
                <a:spcPts val="0"/>
              </a:spcAft>
              <a:buSzPts val="1400"/>
              <a:buChar char="○"/>
            </a:pPr>
            <a:r>
              <a:rPr lang="en"/>
              <a:t>Set the counting rate using the prescaler (IWDG_PR)</a:t>
            </a:r>
            <a:endParaRPr/>
          </a:p>
          <a:p>
            <a:pPr indent="-317500" lvl="1" marL="914400" rtl="0" algn="l">
              <a:spcBef>
                <a:spcPts val="0"/>
              </a:spcBef>
              <a:spcAft>
                <a:spcPts val="0"/>
              </a:spcAft>
              <a:buSzPts val="1400"/>
              <a:buChar char="○"/>
            </a:pPr>
            <a:r>
              <a:rPr lang="en"/>
              <a:t>Set from where to count down using the reload register (IWDG_RLR)</a:t>
            </a:r>
            <a:endParaRPr/>
          </a:p>
          <a:p>
            <a:pPr indent="-342900" lvl="0" marL="457200" rtl="0" algn="l">
              <a:spcBef>
                <a:spcPts val="0"/>
              </a:spcBef>
              <a:spcAft>
                <a:spcPts val="0"/>
              </a:spcAft>
              <a:buSzPts val="1800"/>
              <a:buChar char="●"/>
            </a:pPr>
            <a:r>
              <a:rPr lang="en"/>
              <a:t>S</a:t>
            </a:r>
            <a:r>
              <a:rPr lang="en"/>
              <a:t>tart the IWDT </a:t>
            </a:r>
            <a:endParaRPr/>
          </a:p>
          <a:p>
            <a:pPr indent="-317500" lvl="1" marL="914400" rtl="0" algn="l">
              <a:spcBef>
                <a:spcPts val="0"/>
              </a:spcBef>
              <a:spcAft>
                <a:spcPts val="0"/>
              </a:spcAft>
              <a:buSzPts val="1400"/>
              <a:buChar char="○"/>
            </a:pPr>
            <a:r>
              <a:rPr lang="en"/>
              <a:t>Write </a:t>
            </a:r>
            <a:r>
              <a:rPr lang="en"/>
              <a:t>0x0000 </a:t>
            </a:r>
            <a:r>
              <a:rPr lang="en"/>
              <a:t>CCCC to the key register (IWDG_KR)</a:t>
            </a:r>
            <a:endParaRPr/>
          </a:p>
          <a:p>
            <a:pPr indent="-342900" lvl="0" marL="457200" rtl="0" algn="l">
              <a:spcBef>
                <a:spcPts val="0"/>
              </a:spcBef>
              <a:spcAft>
                <a:spcPts val="0"/>
              </a:spcAft>
              <a:buSzPts val="1800"/>
              <a:buChar char="●"/>
            </a:pPr>
            <a:r>
              <a:rPr lang="en"/>
              <a:t>The counter starts counting down from the reset value. </a:t>
            </a:r>
            <a:endParaRPr/>
          </a:p>
          <a:p>
            <a:pPr indent="-342900" lvl="0" marL="457200" rtl="0" algn="l">
              <a:spcBef>
                <a:spcPts val="0"/>
              </a:spcBef>
              <a:spcAft>
                <a:spcPts val="0"/>
              </a:spcAft>
              <a:buSzPts val="1800"/>
              <a:buChar char="●"/>
            </a:pPr>
            <a:r>
              <a:rPr lang="en"/>
              <a:t>When it reaches the end of count value (0x000) a reset signal is generated</a:t>
            </a:r>
            <a:endParaRPr/>
          </a:p>
          <a:p>
            <a:pPr indent="-342900" lvl="0" marL="457200" rtl="0" algn="l">
              <a:spcBef>
                <a:spcPts val="0"/>
              </a:spcBef>
              <a:spcAft>
                <a:spcPts val="0"/>
              </a:spcAft>
              <a:buSzPts val="1800"/>
              <a:buChar char="●"/>
            </a:pPr>
            <a:r>
              <a:rPr lang="en"/>
              <a:t>Pet the dog: </a:t>
            </a:r>
            <a:endParaRPr/>
          </a:p>
          <a:p>
            <a:pPr indent="-317500" lvl="1" marL="914400" rtl="0" algn="l">
              <a:spcBef>
                <a:spcPts val="0"/>
              </a:spcBef>
              <a:spcAft>
                <a:spcPts val="0"/>
              </a:spcAft>
              <a:buSzPts val="1400"/>
              <a:buChar char="○"/>
            </a:pPr>
            <a:r>
              <a:rPr lang="en"/>
              <a:t>Write  0x0000 AAAA to the IWDG key register (IWDG_KR),</a:t>
            </a:r>
            <a:endParaRPr/>
          </a:p>
          <a:p>
            <a:pPr indent="-317500" lvl="1" marL="914400" rtl="0" algn="l">
              <a:spcBef>
                <a:spcPts val="0"/>
              </a:spcBef>
              <a:spcAft>
                <a:spcPts val="0"/>
              </a:spcAft>
              <a:buSzPts val="1400"/>
              <a:buChar char="○"/>
            </a:pPr>
            <a:r>
              <a:rPr lang="en"/>
              <a:t>The IWDG_RLR value is reloaded in the counter and the watchdog reset is prevented. </a:t>
            </a:r>
            <a:endParaRPr/>
          </a:p>
          <a:p>
            <a:pPr indent="-342900" lvl="0" marL="457200" rtl="0" algn="l">
              <a:spcBef>
                <a:spcPts val="0"/>
              </a:spcBef>
              <a:spcAft>
                <a:spcPts val="0"/>
              </a:spcAft>
              <a:buSzPts val="1800"/>
              <a:buChar char="●"/>
            </a:pPr>
            <a:r>
              <a:rPr lang="en"/>
              <a:t>Once running, the IWDG cannot be stopped.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idx="1" type="body"/>
          </p:nvPr>
        </p:nvSpPr>
        <p:spPr>
          <a:xfrm>
            <a:off x="311700" y="0"/>
            <a:ext cx="8696400" cy="6858000"/>
          </a:xfrm>
          <a:prstGeom prst="rect">
            <a:avLst/>
          </a:prstGeom>
        </p:spPr>
        <p:txBody>
          <a:bodyPr anchorCtr="0" anchor="t" bIns="91425" lIns="91425" spcFirstLastPara="1" rIns="91425" wrap="square" tIns="91425">
            <a:noAutofit/>
          </a:bodyPr>
          <a:lstStyle/>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"ES28.h"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"uart.h"</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&lt;stdio.h&gt;</a:t>
            </a:r>
            <a:endParaRPr b="1" sz="1100">
              <a:solidFill>
                <a:srgbClr val="2A00F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3F7F5F"/>
                </a:solidFill>
                <a:highlight>
                  <a:srgbClr val="FFFFFF"/>
                </a:highlight>
                <a:latin typeface="Courier New"/>
                <a:ea typeface="Courier New"/>
                <a:cs typeface="Courier New"/>
                <a:sym typeface="Courier New"/>
              </a:rPr>
              <a:t>// A few magic numbers for the </a:t>
            </a:r>
            <a:r>
              <a:rPr b="1" lang="en" sz="1100" u="sng">
                <a:solidFill>
                  <a:srgbClr val="3F7F5F"/>
                </a:solidFill>
                <a:highlight>
                  <a:srgbClr val="FFFFFF"/>
                </a:highlight>
                <a:latin typeface="Courier New"/>
                <a:ea typeface="Courier New"/>
                <a:cs typeface="Courier New"/>
                <a:sym typeface="Courier New"/>
              </a:rPr>
              <a:t>watchdog</a:t>
            </a:r>
            <a:r>
              <a:rPr b="1" lang="en" sz="1100">
                <a:solidFill>
                  <a:srgbClr val="3F7F5F"/>
                </a:solidFill>
                <a:highlight>
                  <a:srgbClr val="FFFFFF"/>
                </a:highlight>
                <a:latin typeface="Courier New"/>
                <a:ea typeface="Courier New"/>
                <a:cs typeface="Courier New"/>
                <a:sym typeface="Courier New"/>
              </a:rPr>
              <a:t> (from the </a:t>
            </a:r>
            <a:r>
              <a:rPr b="1" lang="en" sz="1100" u="sng">
                <a:solidFill>
                  <a:srgbClr val="3F7F5F"/>
                </a:solidFill>
                <a:highlight>
                  <a:srgbClr val="FFFFFF"/>
                </a:highlight>
                <a:latin typeface="Courier New"/>
                <a:ea typeface="Courier New"/>
                <a:cs typeface="Courier New"/>
                <a:sym typeface="Courier New"/>
              </a:rPr>
              <a:t>datasheet</a:t>
            </a:r>
            <a:r>
              <a:rPr b="1" lang="en" sz="1100">
                <a:solidFill>
                  <a:srgbClr val="3F7F5F"/>
                </a:solidFill>
                <a:highlight>
                  <a:srgbClr val="FFFFFF"/>
                </a:highlight>
                <a:latin typeface="Courier New"/>
                <a:ea typeface="Courier New"/>
                <a:cs typeface="Courier New"/>
                <a:sym typeface="Courier New"/>
              </a:rPr>
              <a:t>)</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KEY_ACCESS 0x00005555</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KEY_UPDATE 0x0000AAAA</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a:t>
            </a:r>
            <a:r>
              <a:rPr b="1" lang="en" sz="1100">
                <a:solidFill>
                  <a:schemeClr val="dk1"/>
                </a:solidFill>
                <a:highlight>
                  <a:srgbClr val="FFFFFF"/>
                </a:highlight>
                <a:latin typeface="Courier New"/>
                <a:ea typeface="Courier New"/>
                <a:cs typeface="Courier New"/>
                <a:sym typeface="Courier New"/>
              </a:rPr>
              <a:t> KEY_START  0x0000CCCC</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main( </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uart2_init();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"Hello dog world\r\n"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Use the built-in blue user button as a </a:t>
            </a:r>
            <a:r>
              <a:rPr b="1" lang="en" sz="1100" u="sng">
                <a:solidFill>
                  <a:srgbClr val="3F7F5F"/>
                </a:solidFill>
                <a:highlight>
                  <a:srgbClr val="FFFFFF"/>
                </a:highlight>
                <a:latin typeface="Courier New"/>
                <a:ea typeface="Courier New"/>
                <a:cs typeface="Courier New"/>
                <a:sym typeface="Courier New"/>
              </a:rPr>
              <a:t>proxy </a:t>
            </a:r>
            <a:r>
              <a:rPr b="1" lang="en" sz="1100">
                <a:solidFill>
                  <a:srgbClr val="3F7F5F"/>
                </a:solidFill>
                <a:highlight>
                  <a:srgbClr val="FFFFFF"/>
                </a:highlight>
                <a:latin typeface="Courier New"/>
                <a:ea typeface="Courier New"/>
                <a:cs typeface="Courier New"/>
                <a:sym typeface="Courier New"/>
              </a:rPr>
              <a:t>for petting the dog.</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RCC-&gt;</a:t>
            </a:r>
            <a:r>
              <a:rPr b="1" lang="en" sz="1100">
                <a:solidFill>
                  <a:srgbClr val="0000C0"/>
                </a:solidFill>
                <a:highlight>
                  <a:srgbClr val="FFFFFF"/>
                </a:highlight>
                <a:latin typeface="Courier New"/>
                <a:ea typeface="Courier New"/>
                <a:cs typeface="Courier New"/>
                <a:sym typeface="Courier New"/>
              </a:rPr>
              <a:t>IOPENR</a:t>
            </a:r>
            <a:r>
              <a:rPr b="1" lang="en" sz="1100">
                <a:solidFill>
                  <a:schemeClr val="dk1"/>
                </a:solidFill>
                <a:highlight>
                  <a:srgbClr val="FFFFFF"/>
                </a:highlight>
                <a:latin typeface="Courier New"/>
                <a:ea typeface="Courier New"/>
                <a:cs typeface="Courier New"/>
                <a:sym typeface="Courier New"/>
              </a:rPr>
              <a:t> |= RCC_IOPENR_GPIOCEN;</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GPIOC-&gt;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 (GPIOC-&gt;</a:t>
            </a:r>
            <a:r>
              <a:rPr b="1" lang="en" sz="1100">
                <a:solidFill>
                  <a:srgbClr val="0000C0"/>
                </a:solidFill>
                <a:highlight>
                  <a:srgbClr val="FFFFFF"/>
                </a:highlight>
                <a:latin typeface="Courier New"/>
                <a:ea typeface="Courier New"/>
                <a:cs typeface="Courier New"/>
                <a:sym typeface="Courier New"/>
              </a:rPr>
              <a:t>MODER</a:t>
            </a:r>
            <a:r>
              <a:rPr b="1" lang="en" sz="1100">
                <a:solidFill>
                  <a:schemeClr val="dk1"/>
                </a:solidFill>
                <a:highlight>
                  <a:srgbClr val="FFFFFF"/>
                </a:highlight>
                <a:latin typeface="Courier New"/>
                <a:ea typeface="Courier New"/>
                <a:cs typeface="Courier New"/>
                <a:sym typeface="Courier New"/>
              </a:rPr>
              <a:t> &amp; ~GPIO_MODER_MODE13_Msk) | (GPIO_INPUT &lt;&lt; GPIO_MODER_MODE13_Pos);</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The </a:t>
            </a:r>
            <a:r>
              <a:rPr b="1" lang="en" sz="1100" u="sng">
                <a:solidFill>
                  <a:srgbClr val="3F7F5F"/>
                </a:solidFill>
                <a:highlight>
                  <a:srgbClr val="FFFFFF"/>
                </a:highlight>
                <a:latin typeface="Courier New"/>
                <a:ea typeface="Courier New"/>
                <a:cs typeface="Courier New"/>
                <a:sym typeface="Courier New"/>
              </a:rPr>
              <a:t>watchdog</a:t>
            </a:r>
            <a:r>
              <a:rPr b="1" lang="en" sz="1100">
                <a:solidFill>
                  <a:srgbClr val="3F7F5F"/>
                </a:solidFill>
                <a:highlight>
                  <a:srgbClr val="FFFFFF"/>
                </a:highlight>
                <a:latin typeface="Courier New"/>
                <a:ea typeface="Courier New"/>
                <a:cs typeface="Courier New"/>
                <a:sym typeface="Courier New"/>
              </a:rPr>
              <a:t> is always accessible, so no need to turn any clocks on for it.</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First, unlock the </a:t>
            </a:r>
            <a:r>
              <a:rPr b="1" lang="en" sz="1100" u="sng">
                <a:solidFill>
                  <a:srgbClr val="3F7F5F"/>
                </a:solidFill>
                <a:highlight>
                  <a:srgbClr val="FFFFFF"/>
                </a:highlight>
                <a:latin typeface="Courier New"/>
                <a:ea typeface="Courier New"/>
                <a:cs typeface="Courier New"/>
                <a:sym typeface="Courier New"/>
              </a:rPr>
              <a:t>watchdog</a:t>
            </a:r>
            <a:r>
              <a:rPr b="1" lang="en" sz="1100">
                <a:solidFill>
                  <a:srgbClr val="3F7F5F"/>
                </a:solidFill>
                <a:highlight>
                  <a:srgbClr val="FFFFFF"/>
                </a:highlight>
                <a:latin typeface="Courier New"/>
                <a:ea typeface="Courier New"/>
                <a:cs typeface="Courier New"/>
                <a:sym typeface="Courier New"/>
              </a:rPr>
              <a:t> registers by writing a special value to the key register</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IWDG-&gt;</a:t>
            </a:r>
            <a:r>
              <a:rPr b="1" lang="en" sz="1100">
                <a:solidFill>
                  <a:srgbClr val="0000C0"/>
                </a:solidFill>
                <a:highlight>
                  <a:srgbClr val="FFFFFF"/>
                </a:highlight>
                <a:latin typeface="Courier New"/>
                <a:ea typeface="Courier New"/>
                <a:cs typeface="Courier New"/>
                <a:sym typeface="Courier New"/>
              </a:rPr>
              <a:t>KR</a:t>
            </a:r>
            <a:r>
              <a:rPr b="1" lang="en" sz="1100">
                <a:solidFill>
                  <a:schemeClr val="dk1"/>
                </a:solidFill>
                <a:highlight>
                  <a:srgbClr val="FFFFFF"/>
                </a:highlight>
                <a:latin typeface="Courier New"/>
                <a:ea typeface="Courier New"/>
                <a:cs typeface="Courier New"/>
                <a:sym typeface="Courier New"/>
              </a:rPr>
              <a:t> = KEY_ACCESS;</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Set up the </a:t>
            </a:r>
            <a:r>
              <a:rPr b="1" lang="en" sz="1100" u="sng">
                <a:solidFill>
                  <a:srgbClr val="3F7F5F"/>
                </a:solidFill>
                <a:highlight>
                  <a:srgbClr val="FFFFFF"/>
                </a:highlight>
                <a:latin typeface="Courier New"/>
                <a:ea typeface="Courier New"/>
                <a:cs typeface="Courier New"/>
                <a:sym typeface="Courier New"/>
              </a:rPr>
              <a:t>prescaler</a:t>
            </a:r>
            <a:r>
              <a:rPr b="1" lang="en" sz="1100">
                <a:solidFill>
                  <a:srgbClr val="3F7F5F"/>
                </a:solidFill>
                <a:highlight>
                  <a:srgbClr val="FFFFFF"/>
                </a:highlight>
                <a:latin typeface="Courier New"/>
                <a:ea typeface="Courier New"/>
                <a:cs typeface="Courier New"/>
                <a:sym typeface="Courier New"/>
              </a:rPr>
              <a:t> - the </a:t>
            </a:r>
            <a:r>
              <a:rPr b="1" lang="en" sz="1100" u="sng">
                <a:solidFill>
                  <a:srgbClr val="3F7F5F"/>
                </a:solidFill>
                <a:highlight>
                  <a:srgbClr val="FFFFFF"/>
                </a:highlight>
                <a:latin typeface="Courier New"/>
                <a:ea typeface="Courier New"/>
                <a:cs typeface="Courier New"/>
                <a:sym typeface="Courier New"/>
              </a:rPr>
              <a:t>watchdog</a:t>
            </a:r>
            <a:r>
              <a:rPr b="1" lang="en" sz="1100">
                <a:solidFill>
                  <a:srgbClr val="3F7F5F"/>
                </a:solidFill>
                <a:highlight>
                  <a:srgbClr val="FFFFFF"/>
                </a:highlight>
                <a:latin typeface="Courier New"/>
                <a:ea typeface="Courier New"/>
                <a:cs typeface="Courier New"/>
                <a:sym typeface="Courier New"/>
              </a:rPr>
              <a:t> clock runs at 32KHz.  We'll set up a 1ms tick.</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 IWDG-&gt;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&amp; IWDG_SR_PVU ); </a:t>
            </a:r>
            <a:r>
              <a:rPr b="1" lang="en" sz="1100">
                <a:solidFill>
                  <a:srgbClr val="3F7F5F"/>
                </a:solidFill>
                <a:highlight>
                  <a:srgbClr val="FFFFFF"/>
                </a:highlight>
                <a:latin typeface="Courier New"/>
                <a:ea typeface="Courier New"/>
                <a:cs typeface="Courier New"/>
                <a:sym typeface="Courier New"/>
              </a:rPr>
              <a:t>// Can only update when the PVU status bit is clear.</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IWDG-&gt;</a:t>
            </a:r>
            <a:r>
              <a:rPr b="1" lang="en" sz="1100">
                <a:solidFill>
                  <a:srgbClr val="0000C0"/>
                </a:solidFill>
                <a:highlight>
                  <a:srgbClr val="FFFFFF"/>
                </a:highlight>
                <a:latin typeface="Courier New"/>
                <a:ea typeface="Courier New"/>
                <a:cs typeface="Courier New"/>
                <a:sym typeface="Courier New"/>
              </a:rPr>
              <a:t>PR</a:t>
            </a:r>
            <a:r>
              <a:rPr b="1" lang="en" sz="1100">
                <a:solidFill>
                  <a:schemeClr val="dk1"/>
                </a:solidFill>
                <a:highlight>
                  <a:srgbClr val="FFFFFF"/>
                </a:highlight>
                <a:latin typeface="Courier New"/>
                <a:ea typeface="Courier New"/>
                <a:cs typeface="Courier New"/>
                <a:sym typeface="Courier New"/>
              </a:rPr>
              <a:t> = 0b011;</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Reload register is set to 4000: we need to pet the dog at least once every 4 secs</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 IWDG-&gt;</a:t>
            </a:r>
            <a:r>
              <a:rPr b="1" lang="en" sz="1100">
                <a:solidFill>
                  <a:srgbClr val="0000C0"/>
                </a:solidFill>
                <a:highlight>
                  <a:srgbClr val="FFFFFF"/>
                </a:highlight>
                <a:latin typeface="Courier New"/>
                <a:ea typeface="Courier New"/>
                <a:cs typeface="Courier New"/>
                <a:sym typeface="Courier New"/>
              </a:rPr>
              <a:t>SR</a:t>
            </a:r>
            <a:r>
              <a:rPr b="1" lang="en" sz="1100">
                <a:solidFill>
                  <a:schemeClr val="dk1"/>
                </a:solidFill>
                <a:highlight>
                  <a:srgbClr val="FFFFFF"/>
                </a:highlight>
                <a:latin typeface="Courier New"/>
                <a:ea typeface="Courier New"/>
                <a:cs typeface="Courier New"/>
                <a:sym typeface="Courier New"/>
              </a:rPr>
              <a:t> &amp; IWDG_SR_RVU ); </a:t>
            </a:r>
            <a:r>
              <a:rPr b="1" lang="en" sz="1100">
                <a:solidFill>
                  <a:srgbClr val="3F7F5F"/>
                </a:solidFill>
                <a:highlight>
                  <a:srgbClr val="FFFFFF"/>
                </a:highlight>
                <a:latin typeface="Courier New"/>
                <a:ea typeface="Courier New"/>
                <a:cs typeface="Courier New"/>
                <a:sym typeface="Courier New"/>
              </a:rPr>
              <a:t>// Can only update when the RVU status bit is clear</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IWDG-&gt;</a:t>
            </a:r>
            <a:r>
              <a:rPr b="1" lang="en" sz="1100">
                <a:solidFill>
                  <a:srgbClr val="0000C0"/>
                </a:solidFill>
                <a:highlight>
                  <a:srgbClr val="FFFFFF"/>
                </a:highlight>
                <a:latin typeface="Courier New"/>
                <a:ea typeface="Courier New"/>
                <a:cs typeface="Courier New"/>
                <a:sym typeface="Courier New"/>
              </a:rPr>
              <a:t>RLR</a:t>
            </a:r>
            <a:r>
              <a:rPr b="1" lang="en" sz="1100">
                <a:solidFill>
                  <a:schemeClr val="dk1"/>
                </a:solidFill>
                <a:highlight>
                  <a:srgbClr val="FFFFFF"/>
                </a:highlight>
                <a:latin typeface="Courier New"/>
                <a:ea typeface="Courier New"/>
                <a:cs typeface="Courier New"/>
                <a:sym typeface="Courier New"/>
              </a:rPr>
              <a:t> = 4000;</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Wake the dog...</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IWDG-&gt;</a:t>
            </a:r>
            <a:r>
              <a:rPr b="1" lang="en" sz="1100">
                <a:solidFill>
                  <a:srgbClr val="0000C0"/>
                </a:solidFill>
                <a:highlight>
                  <a:srgbClr val="FFFFFF"/>
                </a:highlight>
                <a:latin typeface="Courier New"/>
                <a:ea typeface="Courier New"/>
                <a:cs typeface="Courier New"/>
                <a:sym typeface="Courier New"/>
              </a:rPr>
              <a:t>KR</a:t>
            </a:r>
            <a:r>
              <a:rPr b="1" lang="en" sz="1100">
                <a:solidFill>
                  <a:schemeClr val="dk1"/>
                </a:solidFill>
                <a:highlight>
                  <a:srgbClr val="FFFFFF"/>
                </a:highlight>
                <a:latin typeface="Courier New"/>
                <a:ea typeface="Courier New"/>
                <a:cs typeface="Courier New"/>
                <a:sym typeface="Courier New"/>
              </a:rPr>
              <a:t> = KEY_START;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Now, loop and pet the dog whenever the blue user button is pushed.</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 (GPIOC-&gt;</a:t>
            </a:r>
            <a:r>
              <a:rPr b="1" lang="en" sz="1100">
                <a:solidFill>
                  <a:srgbClr val="0000C0"/>
                </a:solidFill>
                <a:highlight>
                  <a:srgbClr val="FFFFFF"/>
                </a:highlight>
                <a:latin typeface="Courier New"/>
                <a:ea typeface="Courier New"/>
                <a:cs typeface="Courier New"/>
                <a:sym typeface="Courier New"/>
              </a:rPr>
              <a:t>IDR</a:t>
            </a:r>
            <a:r>
              <a:rPr b="1" lang="en" sz="1100">
                <a:solidFill>
                  <a:schemeClr val="dk1"/>
                </a:solidFill>
                <a:highlight>
                  <a:srgbClr val="FFFFFF"/>
                </a:highlight>
                <a:latin typeface="Courier New"/>
                <a:ea typeface="Courier New"/>
                <a:cs typeface="Courier New"/>
                <a:sym typeface="Courier New"/>
              </a:rPr>
              <a:t> &amp; GPIO_IDR_ID13) == 0 ){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F"/>
                </a:solidFill>
                <a:highlight>
                  <a:srgbClr val="FFFFFF"/>
                </a:highlight>
                <a:latin typeface="Courier New"/>
                <a:ea typeface="Courier New"/>
                <a:cs typeface="Courier New"/>
                <a:sym typeface="Courier New"/>
              </a:rPr>
              <a:t>// Pet the dog</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IWDG-&gt;</a:t>
            </a:r>
            <a:r>
              <a:rPr b="1" lang="en" sz="1100">
                <a:solidFill>
                  <a:srgbClr val="0000C0"/>
                </a:solidFill>
                <a:highlight>
                  <a:srgbClr val="FFFFFF"/>
                </a:highlight>
                <a:latin typeface="Courier New"/>
                <a:ea typeface="Courier New"/>
                <a:cs typeface="Courier New"/>
                <a:sym typeface="Courier New"/>
              </a:rPr>
              <a:t>KR</a:t>
            </a:r>
            <a:r>
              <a:rPr b="1" lang="en" sz="1100">
                <a:solidFill>
                  <a:schemeClr val="dk1"/>
                </a:solidFill>
                <a:highlight>
                  <a:srgbClr val="FFFFFF"/>
                </a:highlight>
                <a:latin typeface="Courier New"/>
                <a:ea typeface="Courier New"/>
                <a:cs typeface="Courier New"/>
                <a:sym typeface="Courier New"/>
              </a:rPr>
              <a:t> = KEY_UPDATE;</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642880"/>
                </a:solidFill>
                <a:highlight>
                  <a:srgbClr val="FFFFFF"/>
                </a:highlight>
                <a:latin typeface="Courier New"/>
                <a:ea typeface="Courier New"/>
                <a:cs typeface="Courier New"/>
                <a:sym typeface="Courier New"/>
              </a:rPr>
              <a:t>printf</a:t>
            </a:r>
            <a:r>
              <a:rPr b="1" lang="en" sz="1100">
                <a:solidFill>
                  <a:schemeClr val="dk1"/>
                </a:solidFill>
                <a:highlight>
                  <a:srgbClr val="FFFFFF"/>
                </a:highlight>
                <a:latin typeface="Courier New"/>
                <a:ea typeface="Courier New"/>
                <a:cs typeface="Courier New"/>
                <a:sym typeface="Courier New"/>
              </a:rPr>
              <a:t>( </a:t>
            </a:r>
            <a:r>
              <a:rPr b="1" lang="en" sz="1100">
                <a:solidFill>
                  <a:srgbClr val="2A00FF"/>
                </a:solidFill>
                <a:highlight>
                  <a:srgbClr val="FFFFFF"/>
                </a:highlight>
                <a:latin typeface="Courier New"/>
                <a:ea typeface="Courier New"/>
                <a:cs typeface="Courier New"/>
                <a:sym typeface="Courier New"/>
              </a:rPr>
              <a:t>"Nice </a:t>
            </a:r>
            <a:r>
              <a:rPr b="1" lang="en" sz="1100" u="sng">
                <a:solidFill>
                  <a:srgbClr val="2A00FF"/>
                </a:solidFill>
                <a:highlight>
                  <a:srgbClr val="FFFFFF"/>
                </a:highlight>
                <a:latin typeface="Courier New"/>
                <a:ea typeface="Courier New"/>
                <a:cs typeface="Courier New"/>
                <a:sym typeface="Courier New"/>
              </a:rPr>
              <a:t>Doggy</a:t>
            </a:r>
            <a:r>
              <a:rPr b="1" lang="en" sz="1100">
                <a:solidFill>
                  <a:srgbClr val="2A00FF"/>
                </a:solidFill>
                <a:highlight>
                  <a:srgbClr val="FFFFFF"/>
                </a:highlight>
                <a:latin typeface="Courier New"/>
                <a:ea typeface="Courier New"/>
                <a:cs typeface="Courier New"/>
                <a:sym typeface="Courier New"/>
              </a:rPr>
              <a:t>\r\n"</a:t>
            </a: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delay_ms(100);  </a:t>
            </a:r>
            <a:r>
              <a:rPr b="1" lang="en" sz="1100">
                <a:solidFill>
                  <a:srgbClr val="3F7F5F"/>
                </a:solidFill>
                <a:highlight>
                  <a:srgbClr val="FFFFFF"/>
                </a:highlight>
                <a:latin typeface="Courier New"/>
                <a:ea typeface="Courier New"/>
                <a:cs typeface="Courier New"/>
                <a:sym typeface="Courier New"/>
              </a:rPr>
              <a:t>// be nice to the terminal.</a:t>
            </a:r>
            <a:endParaRPr b="1" sz="1100">
              <a:solidFill>
                <a:srgbClr val="3F7F5F"/>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25400" rtl="0" algn="l">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1200"/>
              </a:spcAft>
              <a:buNone/>
            </a:pPr>
            <a:r>
              <a:t/>
            </a:r>
            <a:endParaRPr b="1" sz="1600">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Super Quick Modification</a:t>
            </a:r>
            <a:endParaRPr/>
          </a:p>
        </p:txBody>
      </p:sp>
      <p:sp>
        <p:nvSpPr>
          <p:cNvPr id="228" name="Google Shape;228;p33"/>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Make the dog even needier: have it need a pet every 1 second</a:t>
            </a:r>
            <a:endParaRPr/>
          </a:p>
          <a:p>
            <a:pPr indent="-342900" lvl="0" marL="457200" rtl="0" algn="l">
              <a:spcBef>
                <a:spcPts val="0"/>
              </a:spcBef>
              <a:spcAft>
                <a:spcPts val="0"/>
              </a:spcAft>
              <a:buSzPts val="1800"/>
              <a:buChar char="●"/>
            </a:pPr>
            <a:r>
              <a:rPr lang="en"/>
              <a:t>Make it even needier: </a:t>
            </a:r>
            <a:endParaRPr/>
          </a:p>
          <a:p>
            <a:pPr indent="-317500" lvl="1" marL="914400" rtl="0" algn="l">
              <a:spcBef>
                <a:spcPts val="0"/>
              </a:spcBef>
              <a:spcAft>
                <a:spcPts val="0"/>
              </a:spcAft>
              <a:buSzPts val="1400"/>
              <a:buChar char="○"/>
            </a:pPr>
            <a:r>
              <a:rPr lang="en"/>
              <a:t>Add a printf() statement after the watchdog initialization but before the while loop (so before you get a chance to pet the dog)</a:t>
            </a:r>
            <a:endParaRPr/>
          </a:p>
          <a:p>
            <a:pPr indent="-317500" lvl="1" marL="914400" rtl="0" algn="l">
              <a:spcBef>
                <a:spcPts val="0"/>
              </a:spcBef>
              <a:spcAft>
                <a:spcPts val="0"/>
              </a:spcAft>
              <a:buSzPts val="1400"/>
              <a:buChar char="○"/>
            </a:pPr>
            <a:r>
              <a:rPr lang="en"/>
              <a:t>How needy can you make it before it resets too fast to even print your message?</a:t>
            </a:r>
            <a:endParaRPr/>
          </a:p>
        </p:txBody>
      </p:sp>
      <p:pic>
        <p:nvPicPr>
          <p:cNvPr id="229" name="Google Shape;229;p33"/>
          <p:cNvPicPr preferRelativeResize="0"/>
          <p:nvPr/>
        </p:nvPicPr>
        <p:blipFill rotWithShape="1">
          <a:blip r:embed="rId3">
            <a:alphaModFix/>
          </a:blip>
          <a:srcRect b="31989" l="0" r="0" t="4815"/>
          <a:stretch/>
        </p:blipFill>
        <p:spPr>
          <a:xfrm>
            <a:off x="2431375" y="3158125"/>
            <a:ext cx="3679926" cy="3488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3" name="Shape 233"/>
        <p:cNvGrpSpPr/>
        <p:nvPr/>
      </p:nvGrpSpPr>
      <p:grpSpPr>
        <a:xfrm>
          <a:off x="0" y="0"/>
          <a:ext cx="0" cy="0"/>
          <a:chOff x="0" y="0"/>
          <a:chExt cx="0" cy="0"/>
        </a:xfrm>
      </p:grpSpPr>
      <p:sp>
        <p:nvSpPr>
          <p:cNvPr id="234" name="Google Shape;234;p3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Choosing a microcontroller</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8" name="Shape 238"/>
        <p:cNvGrpSpPr/>
        <p:nvPr/>
      </p:nvGrpSpPr>
      <p:grpSpPr>
        <a:xfrm>
          <a:off x="0" y="0"/>
          <a:ext cx="0" cy="0"/>
          <a:chOff x="0" y="0"/>
          <a:chExt cx="0" cy="0"/>
        </a:xfrm>
      </p:grpSpPr>
      <p:sp>
        <p:nvSpPr>
          <p:cNvPr id="239" name="Google Shape;239;p3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Beyond the Arduino</a:t>
            </a:r>
            <a:endParaRPr/>
          </a:p>
        </p:txBody>
      </p:sp>
      <p:sp>
        <p:nvSpPr>
          <p:cNvPr id="240" name="Google Shape;240;p35"/>
          <p:cNvSpPr txBox="1"/>
          <p:nvPr>
            <p:ph idx="1" type="body"/>
          </p:nvPr>
        </p:nvSpPr>
        <p:spPr>
          <a:xfrm>
            <a:off x="240200" y="1157825"/>
            <a:ext cx="8520600" cy="56166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Trends are toward faster 32-bit microcontrollers with more memory, etc., though for small projects, (smaller, cheaper, lower-power) 8-bit and 16-bit processors are often adequate, including:</a:t>
            </a:r>
            <a:endParaRPr sz="1600"/>
          </a:p>
          <a:p>
            <a:pPr indent="-317500" lvl="1" marL="914400" rtl="0" algn="l">
              <a:spcBef>
                <a:spcPts val="0"/>
              </a:spcBef>
              <a:spcAft>
                <a:spcPts val="0"/>
              </a:spcAft>
              <a:buSzPts val="1400"/>
              <a:buChar char="○"/>
            </a:pPr>
            <a:r>
              <a:rPr lang="en"/>
              <a:t>Microchip AVR and PIC</a:t>
            </a:r>
            <a:endParaRPr/>
          </a:p>
          <a:p>
            <a:pPr indent="-317500" lvl="1" marL="914400" rtl="0" algn="l">
              <a:spcBef>
                <a:spcPts val="0"/>
              </a:spcBef>
              <a:spcAft>
                <a:spcPts val="0"/>
              </a:spcAft>
              <a:buSzPts val="1400"/>
              <a:buChar char="○"/>
            </a:pPr>
            <a:r>
              <a:rPr lang="en"/>
              <a:t>Texas Instruments MSP430</a:t>
            </a:r>
            <a:endParaRPr/>
          </a:p>
          <a:p>
            <a:pPr indent="-330200" lvl="0" marL="457200" rtl="0" algn="l">
              <a:spcBef>
                <a:spcPts val="1000"/>
              </a:spcBef>
              <a:spcAft>
                <a:spcPts val="0"/>
              </a:spcAft>
              <a:buSzPts val="1600"/>
              <a:buChar char="●"/>
            </a:pPr>
            <a:r>
              <a:rPr lang="en" sz="1600"/>
              <a:t>ARM designs 32-bit processor architectures (M: microcontrollers, A: microprocessors).  Other companies license and manufacture, including:</a:t>
            </a:r>
            <a:endParaRPr sz="1600"/>
          </a:p>
          <a:p>
            <a:pPr indent="-317500" lvl="1" marL="914400" rtl="0" algn="l">
              <a:spcBef>
                <a:spcPts val="0"/>
              </a:spcBef>
              <a:spcAft>
                <a:spcPts val="0"/>
              </a:spcAft>
              <a:buSzPts val="1400"/>
              <a:buChar char="○"/>
            </a:pPr>
            <a:r>
              <a:rPr lang="en"/>
              <a:t>Microchip SAMD21 (ARM Cortex M0+) and SAMD52 (ARM Cortex M4)</a:t>
            </a:r>
            <a:endParaRPr/>
          </a:p>
          <a:p>
            <a:pPr indent="-317500" lvl="1" marL="914400" rtl="0" algn="l">
              <a:spcBef>
                <a:spcPts val="0"/>
              </a:spcBef>
              <a:spcAft>
                <a:spcPts val="0"/>
              </a:spcAft>
              <a:buSzPts val="1400"/>
              <a:buChar char="○"/>
            </a:pPr>
            <a:r>
              <a:rPr lang="en"/>
              <a:t>STMicroelectronics (STM32)</a:t>
            </a:r>
            <a:endParaRPr/>
          </a:p>
          <a:p>
            <a:pPr indent="-317500" lvl="1" marL="914400" rtl="0" algn="l">
              <a:spcBef>
                <a:spcPts val="0"/>
              </a:spcBef>
              <a:spcAft>
                <a:spcPts val="0"/>
              </a:spcAft>
              <a:buSzPts val="1400"/>
              <a:buChar char="○"/>
            </a:pPr>
            <a:r>
              <a:rPr lang="en"/>
              <a:t>Raspberry Pi (RP2040, Pico board)</a:t>
            </a:r>
            <a:endParaRPr/>
          </a:p>
          <a:p>
            <a:pPr indent="-317500" lvl="1" marL="914400" rtl="0" algn="l">
              <a:spcBef>
                <a:spcPts val="0"/>
              </a:spcBef>
              <a:spcAft>
                <a:spcPts val="0"/>
              </a:spcAft>
              <a:buSzPts val="1400"/>
              <a:buChar char="○"/>
            </a:pPr>
            <a:r>
              <a:rPr lang="en"/>
              <a:t>Silicon Labs (EFM32 Gecko)</a:t>
            </a:r>
            <a:endParaRPr/>
          </a:p>
          <a:p>
            <a:pPr indent="-317500" lvl="1" marL="914400" rtl="0" algn="l">
              <a:spcBef>
                <a:spcPts val="0"/>
              </a:spcBef>
              <a:spcAft>
                <a:spcPts val="0"/>
              </a:spcAft>
              <a:buSzPts val="1400"/>
              <a:buChar char="○"/>
            </a:pPr>
            <a:r>
              <a:rPr lang="en"/>
              <a:t>NXP</a:t>
            </a:r>
            <a:endParaRPr/>
          </a:p>
          <a:p>
            <a:pPr indent="-330200" lvl="0" marL="457200" rtl="0" algn="l">
              <a:spcBef>
                <a:spcPts val="1000"/>
              </a:spcBef>
              <a:spcAft>
                <a:spcPts val="0"/>
              </a:spcAft>
              <a:buSzPts val="1600"/>
              <a:buChar char="●"/>
            </a:pPr>
            <a:r>
              <a:rPr lang="en" sz="1600"/>
              <a:t>Espressif ESP32 uses a non-ARM architecture</a:t>
            </a:r>
            <a:endParaRPr sz="1600"/>
          </a:p>
          <a:p>
            <a:pPr indent="-330200" lvl="0" marL="457200" rtl="0" algn="l">
              <a:spcBef>
                <a:spcPts val="1000"/>
              </a:spcBef>
              <a:spcAft>
                <a:spcPts val="0"/>
              </a:spcAft>
              <a:buSzPts val="1600"/>
              <a:buChar char="●"/>
            </a:pPr>
            <a:r>
              <a:rPr lang="en" sz="1600">
                <a:solidFill>
                  <a:srgbClr val="0000FF"/>
                </a:solidFill>
              </a:rPr>
              <a:t>Engs 62</a:t>
            </a:r>
            <a:r>
              <a:rPr lang="en" sz="1600"/>
              <a:t> uses an ARM Cortex-A9 processor.</a:t>
            </a:r>
            <a:endParaRPr sz="1600"/>
          </a:p>
          <a:p>
            <a:pPr indent="-330200" lvl="0" marL="457200" rtl="0" algn="l">
              <a:spcBef>
                <a:spcPts val="1000"/>
              </a:spcBef>
              <a:spcAft>
                <a:spcPts val="0"/>
              </a:spcAft>
              <a:buSzPts val="1600"/>
              <a:buChar char="●"/>
            </a:pPr>
            <a:r>
              <a:rPr lang="en" sz="1600"/>
              <a:t>Raspberry Pi uses 64-bit ARM Cortex-A53 (3B+) and A72 (4) processors.  Not microcontrollers, but small computers (run Linux, etc).</a:t>
            </a:r>
            <a:endParaRPr sz="1600"/>
          </a:p>
          <a:p>
            <a:pPr indent="-330200" lvl="0" marL="457200" rtl="0" algn="l">
              <a:spcBef>
                <a:spcPts val="1000"/>
              </a:spcBef>
              <a:spcAft>
                <a:spcPts val="0"/>
              </a:spcAft>
              <a:buSzPts val="1600"/>
              <a:buChar char="●"/>
            </a:pPr>
            <a:r>
              <a:rPr lang="en" sz="1600"/>
              <a:t>Other small single-board computers include support for machine learning.  “Edge computing”. </a:t>
            </a:r>
            <a:endParaRPr sz="1600"/>
          </a:p>
          <a:p>
            <a:pPr indent="0" lvl="0" marL="0" rtl="0" algn="l">
              <a:spcBef>
                <a:spcPts val="1000"/>
              </a:spcBef>
              <a:spcAft>
                <a:spcPts val="10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4" name="Shape 244"/>
        <p:cNvGrpSpPr/>
        <p:nvPr/>
      </p:nvGrpSpPr>
      <p:grpSpPr>
        <a:xfrm>
          <a:off x="0" y="0"/>
          <a:ext cx="0" cy="0"/>
          <a:chOff x="0" y="0"/>
          <a:chExt cx="0" cy="0"/>
        </a:xfrm>
      </p:grpSpPr>
      <p:sp>
        <p:nvSpPr>
          <p:cNvPr id="245" name="Google Shape;245;p3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Make: magazine’s annual guide to boards</a:t>
            </a:r>
            <a:endParaRPr/>
          </a:p>
        </p:txBody>
      </p:sp>
      <p:pic>
        <p:nvPicPr>
          <p:cNvPr id="246" name="Google Shape;246;p36"/>
          <p:cNvPicPr preferRelativeResize="0"/>
          <p:nvPr/>
        </p:nvPicPr>
        <p:blipFill>
          <a:blip r:embed="rId3">
            <a:alphaModFix/>
          </a:blip>
          <a:stretch>
            <a:fillRect/>
          </a:stretch>
        </p:blipFill>
        <p:spPr>
          <a:xfrm>
            <a:off x="397975" y="1356867"/>
            <a:ext cx="3686978" cy="5196334"/>
          </a:xfrm>
          <a:prstGeom prst="rect">
            <a:avLst/>
          </a:prstGeom>
          <a:noFill/>
          <a:ln>
            <a:noFill/>
          </a:ln>
        </p:spPr>
      </p:pic>
      <p:sp>
        <p:nvSpPr>
          <p:cNvPr id="247" name="Google Shape;247;p36"/>
          <p:cNvSpPr txBox="1"/>
          <p:nvPr/>
        </p:nvSpPr>
        <p:spPr>
          <a:xfrm>
            <a:off x="4710250" y="1318100"/>
            <a:ext cx="3490500" cy="42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FF"/>
                </a:solidFill>
              </a:rPr>
              <a:t>https://makezine.com/comparison/boards/</a:t>
            </a:r>
            <a:endParaRPr>
              <a:solidFill>
                <a:srgbClr val="0000FF"/>
              </a:solidFill>
            </a:endParaRPr>
          </a:p>
        </p:txBody>
      </p:sp>
      <p:pic>
        <p:nvPicPr>
          <p:cNvPr id="248" name="Google Shape;248;p36"/>
          <p:cNvPicPr preferRelativeResize="0"/>
          <p:nvPr/>
        </p:nvPicPr>
        <p:blipFill>
          <a:blip r:embed="rId4">
            <a:alphaModFix/>
          </a:blip>
          <a:stretch>
            <a:fillRect/>
          </a:stretch>
        </p:blipFill>
        <p:spPr>
          <a:xfrm>
            <a:off x="4710250" y="1774250"/>
            <a:ext cx="3490500" cy="477896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2" name="Shape 252"/>
        <p:cNvGrpSpPr/>
        <p:nvPr/>
      </p:nvGrpSpPr>
      <p:grpSpPr>
        <a:xfrm>
          <a:off x="0" y="0"/>
          <a:ext cx="0" cy="0"/>
          <a:chOff x="0" y="0"/>
          <a:chExt cx="0" cy="0"/>
        </a:xfrm>
      </p:grpSpPr>
      <p:sp>
        <p:nvSpPr>
          <p:cNvPr id="253" name="Google Shape;253;p3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Microcontroller “ecosystems”</a:t>
            </a:r>
            <a:endParaRPr/>
          </a:p>
        </p:txBody>
      </p:sp>
      <p:sp>
        <p:nvSpPr>
          <p:cNvPr id="254" name="Google Shape;254;p37"/>
          <p:cNvSpPr txBox="1"/>
          <p:nvPr>
            <p:ph idx="1" type="body"/>
          </p:nvPr>
        </p:nvSpPr>
        <p:spPr>
          <a:xfrm>
            <a:off x="311700" y="1308024"/>
            <a:ext cx="8520600" cy="501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Lots of sources for processor chips and development boards.  But a good design depends on more that just a good set of chip specifications, or a low price.</a:t>
            </a:r>
            <a:endParaRPr sz="1600"/>
          </a:p>
          <a:p>
            <a:pPr indent="0" lvl="0" marL="0" rtl="0" algn="l">
              <a:spcBef>
                <a:spcPts val="1200"/>
              </a:spcBef>
              <a:spcAft>
                <a:spcPts val="0"/>
              </a:spcAft>
              <a:buNone/>
            </a:pPr>
            <a:r>
              <a:rPr lang="en" sz="1600"/>
              <a:t>You will also need many of these:</a:t>
            </a:r>
            <a:endParaRPr sz="1600"/>
          </a:p>
          <a:p>
            <a:pPr indent="-330200" lvl="0" marL="457200" rtl="0" algn="l">
              <a:spcBef>
                <a:spcPts val="1000"/>
              </a:spcBef>
              <a:spcAft>
                <a:spcPts val="0"/>
              </a:spcAft>
              <a:buSzPts val="1600"/>
              <a:buChar char="●"/>
            </a:pPr>
            <a:r>
              <a:rPr lang="en" sz="1600"/>
              <a:t>Development / evaluation boards</a:t>
            </a:r>
            <a:endParaRPr sz="1600"/>
          </a:p>
          <a:p>
            <a:pPr indent="-330200" lvl="0" marL="457200" rtl="0" algn="l">
              <a:spcBef>
                <a:spcPts val="1000"/>
              </a:spcBef>
              <a:spcAft>
                <a:spcPts val="0"/>
              </a:spcAft>
              <a:buSzPts val="1600"/>
              <a:buChar char="●"/>
            </a:pPr>
            <a:r>
              <a:rPr lang="en" sz="1600"/>
              <a:t>Language support (C, C++, Micropython)</a:t>
            </a:r>
            <a:endParaRPr sz="1600"/>
          </a:p>
          <a:p>
            <a:pPr indent="-330200" lvl="0" marL="457200" rtl="0" algn="l">
              <a:spcBef>
                <a:spcPts val="1000"/>
              </a:spcBef>
              <a:spcAft>
                <a:spcPts val="0"/>
              </a:spcAft>
              <a:buSzPts val="1600"/>
              <a:buChar char="●"/>
            </a:pPr>
            <a:r>
              <a:rPr lang="en" sz="1600"/>
              <a:t>Debuggers, emulators (more sophisticated than Arduino)</a:t>
            </a:r>
            <a:endParaRPr sz="1600"/>
          </a:p>
          <a:p>
            <a:pPr indent="-330200" lvl="0" marL="457200" rtl="0" algn="l">
              <a:spcBef>
                <a:spcPts val="1000"/>
              </a:spcBef>
              <a:spcAft>
                <a:spcPts val="0"/>
              </a:spcAft>
              <a:buSzPts val="1600"/>
              <a:buChar char="●"/>
            </a:pPr>
            <a:r>
              <a:rPr lang="en" sz="1600"/>
              <a:t>Real time operating system (RTOS)</a:t>
            </a:r>
            <a:endParaRPr sz="1600"/>
          </a:p>
          <a:p>
            <a:pPr indent="-330200" lvl="0" marL="457200" rtl="0" algn="l">
              <a:spcBef>
                <a:spcPts val="1000"/>
              </a:spcBef>
              <a:spcAft>
                <a:spcPts val="0"/>
              </a:spcAft>
              <a:buSzPts val="1600"/>
              <a:buChar char="●"/>
            </a:pPr>
            <a:r>
              <a:rPr lang="en" sz="1600"/>
              <a:t>Device drivers, APIs, examples</a:t>
            </a:r>
            <a:endParaRPr sz="1600"/>
          </a:p>
          <a:p>
            <a:pPr indent="-330200" lvl="0" marL="457200" rtl="0" algn="l">
              <a:spcBef>
                <a:spcPts val="1000"/>
              </a:spcBef>
              <a:spcAft>
                <a:spcPts val="0"/>
              </a:spcAft>
              <a:buSzPts val="1600"/>
              <a:buChar char="●"/>
            </a:pPr>
            <a:r>
              <a:rPr lang="en" sz="1600"/>
              <a:t>Data sheets and application notes</a:t>
            </a:r>
            <a:endParaRPr sz="1600"/>
          </a:p>
          <a:p>
            <a:pPr indent="-330200" lvl="0" marL="457200" rtl="0" algn="l">
              <a:spcBef>
                <a:spcPts val="1000"/>
              </a:spcBef>
              <a:spcAft>
                <a:spcPts val="0"/>
              </a:spcAft>
              <a:buSzPts val="1600"/>
              <a:buChar char="●"/>
            </a:pPr>
            <a:r>
              <a:rPr lang="en" sz="1600"/>
              <a:t>Developer community, field application engineers</a:t>
            </a:r>
            <a:endParaRPr sz="1600"/>
          </a:p>
          <a:p>
            <a:pPr indent="0" lvl="0" marL="457200" rtl="0" algn="l">
              <a:spcBef>
                <a:spcPts val="1000"/>
              </a:spcBef>
              <a:spcAft>
                <a:spcPts val="1000"/>
              </a:spcAft>
              <a:buNone/>
            </a:pPr>
            <a:r>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