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6858000" cx="9144000"/>
  <p:notesSz cx="6858000" cy="9144000"/>
  <p:embeddedFontLst>
    <p:embeddedFont>
      <p:font typeface="Helvetica Neue"/>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HelveticaNeue-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HelveticaNeue-regular.fntdata"/><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HelveticaNeue-italic.fntdata"/><Relationship Id="rId16" Type="http://schemas.openxmlformats.org/officeDocument/2006/relationships/slide" Target="slides/slide12.xml"/><Relationship Id="rId38" Type="http://schemas.openxmlformats.org/officeDocument/2006/relationships/font" Target="fonts/HelveticaNeue-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4e32faedb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4e32fae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3f8aed68f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3f8aed68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19dc9b467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19dc9b46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We'll learn how to use this thing tomorrow. No need to use "screen" or "PuTTY"! You'll have an actual display built into your system (gas pump, etc).</a:t>
            </a:r>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19dc9b467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19dc9b46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76b6aefa51_0_4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76b6aefa51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How do you efficiently move data from the microcontroller to a peripheral device?</a:t>
            </a:r>
            <a:endParaRPr sz="1400"/>
          </a:p>
          <a:p>
            <a:pPr indent="0" lvl="0" marL="0" rtl="0" algn="l">
              <a:spcBef>
                <a:spcPts val="0"/>
              </a:spcBef>
              <a:spcAft>
                <a:spcPts val="0"/>
              </a:spcAft>
              <a:buNone/>
            </a:pPr>
            <a:r>
              <a:rPr lang="en" sz="1400"/>
              <a:t>We've talked about the UART. Old method, not </a:t>
            </a:r>
            <a:r>
              <a:rPr lang="en" sz="1400"/>
              <a:t>particularly</a:t>
            </a:r>
            <a:r>
              <a:rPr lang="en" sz="1400"/>
              <a:t> fast or flexible.</a:t>
            </a:r>
            <a:endParaRPr sz="1400"/>
          </a:p>
          <a:p>
            <a:pPr indent="0" lvl="0" marL="0" rtl="0" algn="l">
              <a:spcBef>
                <a:spcPts val="0"/>
              </a:spcBef>
              <a:spcAft>
                <a:spcPts val="0"/>
              </a:spcAft>
              <a:buNone/>
            </a:pPr>
            <a:r>
              <a:rPr lang="en" sz="1400"/>
              <a:t>Today: I2C bus </a:t>
            </a:r>
            <a:r>
              <a:rPr lang="en" sz="1400"/>
              <a:t>which</a:t>
            </a:r>
            <a:r>
              <a:rPr lang="en" sz="1400"/>
              <a:t> takes care of these problems.</a:t>
            </a:r>
            <a:endParaRPr sz="1400"/>
          </a:p>
          <a:p>
            <a:pPr indent="0" lvl="0" marL="0" rtl="0" algn="l">
              <a:spcBef>
                <a:spcPts val="0"/>
              </a:spcBef>
              <a:spcAft>
                <a:spcPts val="0"/>
              </a:spcAft>
              <a:buNone/>
            </a:pPr>
            <a:r>
              <a:rPr lang="en" sz="1400"/>
              <a:t>Will use I2C a few times this term, including in the current lab as well as future ones.</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76cbd31bd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76cbd31b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Transmitter sends data to a receiver over one wire.</a:t>
            </a:r>
            <a:endParaRPr sz="1400"/>
          </a:p>
          <a:p>
            <a:pPr indent="0" lvl="0" marL="0" rtl="0" algn="l">
              <a:spcBef>
                <a:spcPts val="0"/>
              </a:spcBef>
              <a:spcAft>
                <a:spcPts val="0"/>
              </a:spcAft>
              <a:buNone/>
            </a:pPr>
            <a:r>
              <a:rPr lang="en" sz="1400"/>
              <a:t>Data comes in in parallel (in bytes), transmitter turns it into an 8-bit serial, sends, gets deserialized at the </a:t>
            </a:r>
            <a:r>
              <a:rPr lang="en" sz="1400"/>
              <a:t>receiver</a:t>
            </a:r>
            <a:r>
              <a:rPr lang="en" sz="1400"/>
              <a:t>.</a:t>
            </a:r>
            <a:endParaRPr sz="1400"/>
          </a:p>
          <a:p>
            <a:pPr indent="0" lvl="0" marL="0" rtl="0" algn="l">
              <a:spcBef>
                <a:spcPts val="0"/>
              </a:spcBef>
              <a:spcAft>
                <a:spcPts val="0"/>
              </a:spcAft>
              <a:buNone/>
            </a:pPr>
            <a:r>
              <a:rPr lang="en" sz="1400"/>
              <a:t>UART: the way the receiver knows what the individual bits are is that there is an agreed-upon bit rate (BAUD rate).</a:t>
            </a:r>
            <a:endParaRPr sz="1400"/>
          </a:p>
          <a:p>
            <a:pPr indent="0" lvl="0" marL="0" rtl="0" algn="l">
              <a:spcBef>
                <a:spcPts val="0"/>
              </a:spcBef>
              <a:spcAft>
                <a:spcPts val="0"/>
              </a:spcAft>
              <a:buNone/>
            </a:pPr>
            <a:r>
              <a:rPr lang="en" sz="1400"/>
              <a:t>Today: Something that's better but doesn't work over long distances. Need an extra wire (clock wire).</a:t>
            </a:r>
            <a:endParaRPr sz="1400"/>
          </a:p>
          <a:p>
            <a:pPr indent="0" lvl="0" marL="0" rtl="0" algn="l">
              <a:spcBef>
                <a:spcPts val="0"/>
              </a:spcBef>
              <a:spcAft>
                <a:spcPts val="0"/>
              </a:spcAft>
              <a:buNone/>
            </a:pPr>
            <a:r>
              <a:rPr lang="en" sz="1400"/>
              <a:t>There are a variety of synchronous protocols.</a:t>
            </a: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76b6aefa51_0_2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76b6aefa51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I2C was invented by Philips (dutch electronics company). Trademarked, stands for Inter Integrated Circuit Bus.</a:t>
            </a:r>
            <a:endParaRPr sz="1400"/>
          </a:p>
          <a:p>
            <a:pPr indent="0" lvl="0" marL="0" rtl="0" algn="l">
              <a:spcBef>
                <a:spcPts val="0"/>
              </a:spcBef>
              <a:spcAft>
                <a:spcPts val="0"/>
              </a:spcAft>
              <a:buNone/>
            </a:pPr>
            <a:r>
              <a:rPr lang="en" sz="1400"/>
              <a:t>2 wires: one for data, one for clock. Data wire is bi-directional. The two devices take turns. One sends, the other listens, then swap.</a:t>
            </a:r>
            <a:endParaRPr sz="1400"/>
          </a:p>
          <a:p>
            <a:pPr indent="0" lvl="0" marL="0" rtl="0" algn="l">
              <a:spcBef>
                <a:spcPts val="0"/>
              </a:spcBef>
              <a:spcAft>
                <a:spcPts val="0"/>
              </a:spcAft>
              <a:buNone/>
            </a:pPr>
            <a:r>
              <a:rPr lang="en" sz="1400"/>
              <a:t>UART: one wire for transmit, one for </a:t>
            </a:r>
            <a:r>
              <a:rPr lang="en" sz="1400"/>
              <a:t>receive</a:t>
            </a:r>
            <a:r>
              <a:rPr lang="en" sz="1400"/>
              <a:t>. So "full duplex". I2C is only half duplex.</a:t>
            </a:r>
            <a:endParaRPr sz="1400"/>
          </a:p>
          <a:p>
            <a:pPr indent="0" lvl="0" marL="0" rtl="0" algn="l">
              <a:spcBef>
                <a:spcPts val="0"/>
              </a:spcBef>
              <a:spcAft>
                <a:spcPts val="0"/>
              </a:spcAft>
              <a:buNone/>
            </a:pPr>
            <a:r>
              <a:t/>
            </a: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76b6aefa51_0_2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76b6aefa51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Master -&gt; Controller</a:t>
            </a:r>
            <a:endParaRPr sz="1400"/>
          </a:p>
          <a:p>
            <a:pPr indent="0" lvl="0" marL="0" rtl="0" algn="l">
              <a:spcBef>
                <a:spcPts val="0"/>
              </a:spcBef>
              <a:spcAft>
                <a:spcPts val="0"/>
              </a:spcAft>
              <a:buNone/>
            </a:pPr>
            <a:r>
              <a:rPr lang="en" sz="1400"/>
              <a:t>Slave -&gt; Target</a:t>
            </a:r>
            <a:endParaRPr sz="1400"/>
          </a:p>
          <a:p>
            <a:pPr indent="0" lvl="0" marL="0" rtl="0" algn="l">
              <a:spcBef>
                <a:spcPts val="0"/>
              </a:spcBef>
              <a:spcAft>
                <a:spcPts val="0"/>
              </a:spcAft>
              <a:buNone/>
            </a:pPr>
            <a:r>
              <a:rPr lang="en" sz="1400"/>
              <a:t>How do you tell the </a:t>
            </a:r>
            <a:r>
              <a:rPr lang="en" sz="1400"/>
              <a:t>devices</a:t>
            </a:r>
            <a:r>
              <a:rPr lang="en" sz="1400"/>
              <a:t> apart? They all share the same lines.</a:t>
            </a:r>
            <a:endParaRPr sz="1400"/>
          </a:p>
          <a:p>
            <a:pPr indent="0" lvl="0" marL="0" rtl="0" algn="l">
              <a:spcBef>
                <a:spcPts val="0"/>
              </a:spcBef>
              <a:spcAft>
                <a:spcPts val="0"/>
              </a:spcAft>
              <a:buNone/>
            </a:pPr>
            <a:r>
              <a:rPr lang="en" sz="1400"/>
              <a:t>One device is in charge: the Controller device. The others are peripheral devices.</a:t>
            </a:r>
            <a:endParaRPr sz="1400"/>
          </a:p>
          <a:p>
            <a:pPr indent="0" lvl="0" marL="0" rtl="0" algn="l">
              <a:spcBef>
                <a:spcPts val="0"/>
              </a:spcBef>
              <a:spcAft>
                <a:spcPts val="0"/>
              </a:spcAft>
              <a:buNone/>
            </a:pPr>
            <a:r>
              <a:rPr lang="en" sz="1400"/>
              <a:t>Controller is in charge. It initiates contact with the other device is wants to talk to and demands </a:t>
            </a:r>
            <a:r>
              <a:rPr lang="en" sz="1400"/>
              <a:t>from the device data to talk back.</a:t>
            </a:r>
            <a:endParaRPr sz="1400"/>
          </a:p>
          <a:p>
            <a:pPr indent="0" lvl="0" marL="0" rtl="0" algn="l">
              <a:spcBef>
                <a:spcPts val="0"/>
              </a:spcBef>
              <a:spcAft>
                <a:spcPts val="0"/>
              </a:spcAft>
              <a:buNone/>
            </a:pPr>
            <a:r>
              <a:rPr lang="en" sz="1400"/>
              <a:t>Each device has an address, a 7-bit number, so that the controller device can address it directly.</a:t>
            </a:r>
            <a:endParaRPr sz="1400"/>
          </a:p>
          <a:p>
            <a:pPr indent="0" lvl="0" marL="0" rtl="0" algn="l">
              <a:spcBef>
                <a:spcPts val="0"/>
              </a:spcBef>
              <a:spcAft>
                <a:spcPts val="0"/>
              </a:spcAft>
              <a:buNone/>
            </a:pPr>
            <a:r>
              <a:rPr lang="en" sz="1400"/>
              <a:t>Controller initiates communication with that device by sending its address. All devices are listening. The device that recognizes its own address knows it's being spoken to. It then acknowledges by talking back 'yes what do you want'.</a:t>
            </a:r>
            <a:endParaRPr sz="1400"/>
          </a:p>
          <a:p>
            <a:pPr indent="0" lvl="0" marL="0" rtl="0" algn="l">
              <a:spcBef>
                <a:spcPts val="0"/>
              </a:spcBef>
              <a:spcAft>
                <a:spcPts val="0"/>
              </a:spcAft>
              <a:buNone/>
            </a:pPr>
            <a:r>
              <a:rPr lang="en" sz="1400"/>
              <a:t>So devices have to be able to switch back and forth between sending and receiving. Only one device can talk at a time.</a:t>
            </a:r>
            <a:endParaRPr sz="1400"/>
          </a:p>
          <a:p>
            <a:pPr indent="0" lvl="0" marL="0" rtl="0" algn="l">
              <a:spcBef>
                <a:spcPts val="0"/>
              </a:spcBef>
              <a:spcAft>
                <a:spcPts val="0"/>
              </a:spcAft>
              <a:buNone/>
            </a:pPr>
            <a:r>
              <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76b6aefa51_0_29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76b6aefa51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Here is the protocol.</a:t>
            </a:r>
            <a:endParaRPr sz="1400"/>
          </a:p>
          <a:p>
            <a:pPr indent="0" lvl="0" marL="0" rtl="0" algn="l">
              <a:spcBef>
                <a:spcPts val="0"/>
              </a:spcBef>
              <a:spcAft>
                <a:spcPts val="0"/>
              </a:spcAft>
              <a:buNone/>
            </a:pPr>
            <a:r>
              <a:rPr lang="en" sz="1400"/>
              <a:t>Data and clock lines are held high when </a:t>
            </a:r>
            <a:r>
              <a:rPr lang="en" sz="1400"/>
              <a:t>nobody</a:t>
            </a:r>
            <a:r>
              <a:rPr lang="en" sz="1400"/>
              <a:t> is talking. When controller wants to initiate communication with a peripheral device it pulls the data line low (called a start condition). That starts the clock running. Then, </a:t>
            </a:r>
            <a:r>
              <a:rPr lang="en" sz="1400"/>
              <a:t>synchronously with the clock it sends out the device's 7-bit address that indicates to whom it wants to talk, followed by a 0 or a 1, depending on whether it wants to send data to the device (0) or read data from the device (1). Now 8 bit have been sent. Now the </a:t>
            </a:r>
            <a:r>
              <a:rPr lang="en" sz="1400">
                <a:solidFill>
                  <a:schemeClr val="dk1"/>
                </a:solidFill>
              </a:rPr>
              <a:t>controller</a:t>
            </a:r>
            <a:r>
              <a:rPr lang="en" sz="1400"/>
              <a:t> flips the wire to receiving. It listens for the ACK (acknowledge) bit from the device it spoke to. If there is a device with that address on the bus, that device will send a 0 back (ACK). If the </a:t>
            </a:r>
            <a:r>
              <a:rPr lang="en" sz="1400">
                <a:solidFill>
                  <a:schemeClr val="dk1"/>
                </a:solidFill>
              </a:rPr>
              <a:t>controller</a:t>
            </a:r>
            <a:r>
              <a:rPr lang="en" sz="1400"/>
              <a:t> sees the 0 it knows that someone is out there. If not it knows that there is nobody out there.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Next, </a:t>
            </a:r>
            <a:r>
              <a:rPr lang="en" sz="1400">
                <a:solidFill>
                  <a:schemeClr val="dk1"/>
                </a:solidFill>
              </a:rPr>
              <a:t>controller</a:t>
            </a:r>
            <a:r>
              <a:rPr lang="en" sz="1400"/>
              <a:t> sends some kind of command to the peripheral device, telling it what it wants it to do. Then it flips the wire around to look for the ACK. Alternatively, the </a:t>
            </a:r>
            <a:r>
              <a:rPr lang="en" sz="1400">
                <a:solidFill>
                  <a:schemeClr val="dk1"/>
                </a:solidFill>
              </a:rPr>
              <a:t>controller</a:t>
            </a:r>
            <a:r>
              <a:rPr lang="en" sz="1400"/>
              <a:t> may wish to read data from the device.</a:t>
            </a:r>
            <a:r>
              <a:rPr lang="en" sz="1400"/>
              <a:t> It indicates that by adding a 1 to the address. Now, when the byte comes back from the device, the </a:t>
            </a:r>
            <a:r>
              <a:rPr lang="en" sz="1400">
                <a:solidFill>
                  <a:schemeClr val="dk1"/>
                </a:solidFill>
              </a:rPr>
              <a:t>controller</a:t>
            </a:r>
            <a:r>
              <a:rPr lang="en" sz="1400"/>
              <a:t> sends back the ACK. Whoever talks, waits for the ACK from the one who is spoken to.</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Once everything is complete (maybe multiple things have happened, multiple pieces of data transmitted, etc), the </a:t>
            </a:r>
            <a:r>
              <a:rPr lang="en" sz="1400">
                <a:solidFill>
                  <a:schemeClr val="dk1"/>
                </a:solidFill>
              </a:rPr>
              <a:t>controller</a:t>
            </a:r>
            <a:r>
              <a:rPr lang="en" sz="1400"/>
              <a:t> indicates that things are done by sending a STOP condition.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beauty is that this is all built into HARDWARE inside the I2C module. The I2C submodule has the appropriate registers that you set and read. But other than that it's all done in hardware - YOU don't have to think about "do I need to send a bit or not?". YOU are responsible for knowing (from the datasheet) what you </a:t>
            </a:r>
            <a:r>
              <a:rPr lang="en" sz="1400"/>
              <a:t>peripheral</a:t>
            </a:r>
            <a:r>
              <a:rPr lang="en" sz="1400"/>
              <a:t> device's capabilities are.</a:t>
            </a:r>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350ee1f7d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350ee1f7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Here is the protocol.</a:t>
            </a:r>
            <a:endParaRPr sz="1400"/>
          </a:p>
          <a:p>
            <a:pPr indent="0" lvl="0" marL="0" rtl="0" algn="l">
              <a:spcBef>
                <a:spcPts val="0"/>
              </a:spcBef>
              <a:spcAft>
                <a:spcPts val="0"/>
              </a:spcAft>
              <a:buNone/>
            </a:pPr>
            <a:r>
              <a:rPr lang="en" sz="1400"/>
              <a:t>Data and clock lines are held high when nobody is talking. When controller wants to initiate communication with a peripheral device it pulls the data line low (called a start condition). That starts the clock running. Then, synchronously with the clock it sends out the device's 7-bit address that indicates to whom it wants to talk, followed by a 0 or a 1, depending on whether it wants to send data to the device (0) or read data from the device (1). Now 8 bit have been sent. Now the </a:t>
            </a:r>
            <a:r>
              <a:rPr lang="en" sz="1400">
                <a:solidFill>
                  <a:schemeClr val="dk1"/>
                </a:solidFill>
              </a:rPr>
              <a:t>controller</a:t>
            </a:r>
            <a:r>
              <a:rPr lang="en" sz="1400"/>
              <a:t> flips the wire to receiving. It listens for the ACK (acknowledge) bit from the device it spoke to. If there is a device with that address on the bus, that device will send a 0 back (ACK). If the </a:t>
            </a:r>
            <a:r>
              <a:rPr lang="en" sz="1400">
                <a:solidFill>
                  <a:schemeClr val="dk1"/>
                </a:solidFill>
              </a:rPr>
              <a:t>controller</a:t>
            </a:r>
            <a:r>
              <a:rPr lang="en" sz="1400"/>
              <a:t> sees the 0 it knows that someone is out there. If not it knows that there is nobody out there.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Next, </a:t>
            </a:r>
            <a:r>
              <a:rPr lang="en" sz="1400">
                <a:solidFill>
                  <a:schemeClr val="dk1"/>
                </a:solidFill>
              </a:rPr>
              <a:t>controller</a:t>
            </a:r>
            <a:r>
              <a:rPr lang="en" sz="1400"/>
              <a:t> sends some kind of command to the peripheral device, telling it what it wants it to do. Then it flips the wire around to look for the ACK. Alternatively, the </a:t>
            </a:r>
            <a:r>
              <a:rPr lang="en" sz="1400">
                <a:solidFill>
                  <a:schemeClr val="dk1"/>
                </a:solidFill>
              </a:rPr>
              <a:t>controller</a:t>
            </a:r>
            <a:r>
              <a:rPr lang="en" sz="1400"/>
              <a:t> may wish to read data from the device. It indicates that by adding a 1 to the address. Now, when the byte comes back from the device, the </a:t>
            </a:r>
            <a:r>
              <a:rPr lang="en" sz="1400">
                <a:solidFill>
                  <a:schemeClr val="dk1"/>
                </a:solidFill>
              </a:rPr>
              <a:t>controller</a:t>
            </a:r>
            <a:r>
              <a:rPr lang="en" sz="1400"/>
              <a:t> sends back the ACK. Whoever talks, waits for the ACK from the one who is spoken to.</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Once everything is complete (maybe multiple things have happened, multiple pieces of data transmitted, etc), the </a:t>
            </a:r>
            <a:r>
              <a:rPr lang="en" sz="1400">
                <a:solidFill>
                  <a:schemeClr val="dk1"/>
                </a:solidFill>
              </a:rPr>
              <a:t>controller</a:t>
            </a:r>
            <a:r>
              <a:rPr lang="en" sz="1400"/>
              <a:t> indicates that things are done by sending a STOP condition.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beauty is that this is all built into HARDWARE inside the I2C module. The I2C submodule has the appropriate registers that you set and read. But other than that it's all done in hardware - YOU don't have to think about "do I need to send a bit or not?". YOU are responsible for knowing (from the datasheet) what you peripheral device's capabilities are.</a:t>
            </a: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76b6aefa5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76b6aefa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10164bd235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10164bd2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10164bd235_0_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10164bd23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Both of the </a:t>
            </a:r>
            <a:r>
              <a:rPr lang="en" sz="1400"/>
              <a:t>devices</a:t>
            </a:r>
            <a:r>
              <a:rPr lang="en" sz="1400"/>
              <a:t> that we'll use in this class come with pull-up </a:t>
            </a:r>
            <a:r>
              <a:rPr lang="en" sz="1400"/>
              <a:t>resistors</a:t>
            </a:r>
            <a:r>
              <a:rPr lang="en" sz="1400"/>
              <a:t>. The devices are mounted on breakout boards, and these boards have the pins on them for connecting to the Nucleo. Those boards (or even the chips) have pull-up resistors.</a:t>
            </a: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babf4bb9a4_0_9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babf4bb9a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We'll give the low-level drivers to you (i2c.c, i2c.h). On top of that you'll write device drivers (for 7-segment display, etc) that your main </a:t>
            </a:r>
            <a:r>
              <a:rPr lang="en" sz="1400"/>
              <a:t>program</a:t>
            </a:r>
            <a:r>
              <a:rPr lang="en" sz="1400"/>
              <a:t> talks to and that calls functions from the i2c library.</a:t>
            </a:r>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babf4bb9a4_0_1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babf4bb9a4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What do you need in terms of functions in an i2c driver?</a:t>
            </a:r>
            <a:endParaRPr sz="1400"/>
          </a:p>
          <a:p>
            <a:pPr indent="0" lvl="0" marL="0" rtl="0" algn="l">
              <a:spcBef>
                <a:spcPts val="0"/>
              </a:spcBef>
              <a:spcAft>
                <a:spcPts val="0"/>
              </a:spcAft>
              <a:buNone/>
            </a:pPr>
            <a:r>
              <a:rPr lang="en" sz="1400"/>
              <a:t>You are given a function that can do each of these things.</a:t>
            </a:r>
            <a:endParaRPr sz="1400"/>
          </a:p>
          <a:p>
            <a:pPr indent="0" lvl="0" marL="0" rtl="0" algn="l">
              <a:spcBef>
                <a:spcPts val="0"/>
              </a:spcBef>
              <a:spcAft>
                <a:spcPts val="0"/>
              </a:spcAft>
              <a:buNone/>
            </a:pPr>
            <a:r>
              <a:t/>
            </a:r>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350ee1f7d_0_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c350ee1f7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What do you need in terms of functions in an i2c driver?</a:t>
            </a:r>
            <a:endParaRPr sz="1400"/>
          </a:p>
          <a:p>
            <a:pPr indent="0" lvl="0" marL="0" rtl="0" algn="l">
              <a:spcBef>
                <a:spcPts val="0"/>
              </a:spcBef>
              <a:spcAft>
                <a:spcPts val="0"/>
              </a:spcAft>
              <a:buNone/>
            </a:pPr>
            <a:r>
              <a:rPr lang="en" sz="1400"/>
              <a:t>You are given a function that can do each of these things.</a:t>
            </a:r>
            <a:endParaRPr sz="1400"/>
          </a:p>
          <a:p>
            <a:pPr indent="0" lvl="0" marL="0" rtl="0" algn="l">
              <a:spcBef>
                <a:spcPts val="0"/>
              </a:spcBef>
              <a:spcAft>
                <a:spcPts val="0"/>
              </a:spcAft>
              <a:buNone/>
            </a:pPr>
            <a:r>
              <a:t/>
            </a:r>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babf4bb9a4_0_10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babf4bb9a4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rgbClr val="595959"/>
                </a:solidFill>
              </a:rPr>
              <a:t>i2c1_init - sets pullups if needed, claim IO pins, initialize bus speed etc.</a:t>
            </a:r>
            <a:endParaRPr sz="1400">
              <a:solidFill>
                <a:srgbClr val="595959"/>
              </a:solidFill>
            </a:endParaRPr>
          </a:p>
          <a:p>
            <a:pPr indent="0" lvl="0" marL="0" rtl="0" algn="l">
              <a:lnSpc>
                <a:spcPct val="115000"/>
              </a:lnSpc>
              <a:spcBef>
                <a:spcPts val="0"/>
              </a:spcBef>
              <a:spcAft>
                <a:spcPts val="0"/>
              </a:spcAft>
              <a:buNone/>
            </a:pPr>
            <a:r>
              <a:rPr lang="en" sz="1400">
                <a:solidFill>
                  <a:srgbClr val="595959"/>
                </a:solidFill>
              </a:rPr>
              <a:t>i2c1_byteWrite - send a single byte to the targetted device.</a:t>
            </a:r>
            <a:endParaRPr sz="1400">
              <a:solidFill>
                <a:srgbClr val="595959"/>
              </a:solidFill>
            </a:endParaRPr>
          </a:p>
          <a:p>
            <a:pPr indent="0" lvl="0" marL="0" rtl="0" algn="l">
              <a:lnSpc>
                <a:spcPct val="115000"/>
              </a:lnSpc>
              <a:spcBef>
                <a:spcPts val="0"/>
              </a:spcBef>
              <a:spcAft>
                <a:spcPts val="0"/>
              </a:spcAft>
              <a:buNone/>
            </a:pPr>
            <a:r>
              <a:rPr lang="en" sz="1400">
                <a:solidFill>
                  <a:srgbClr val="595959"/>
                </a:solidFill>
              </a:rPr>
              <a:t>i2c1_byteRead - receive a single byte from the targetted device</a:t>
            </a:r>
            <a:endParaRPr sz="1400">
              <a:solidFill>
                <a:srgbClr val="595959"/>
              </a:solidFill>
            </a:endParaRPr>
          </a:p>
          <a:p>
            <a:pPr indent="0" lvl="0" marL="0" rtl="0" algn="l">
              <a:lnSpc>
                <a:spcPct val="115000"/>
              </a:lnSpc>
              <a:spcBef>
                <a:spcPts val="0"/>
              </a:spcBef>
              <a:spcAft>
                <a:spcPts val="0"/>
              </a:spcAft>
              <a:buNone/>
            </a:pPr>
            <a:r>
              <a:rPr lang="en" sz="1400">
                <a:solidFill>
                  <a:srgbClr val="595959"/>
                </a:solidFill>
              </a:rPr>
              <a:t>i2c1_memWrite - send multiple bytes to specific address on the target</a:t>
            </a:r>
            <a:endParaRPr sz="1400">
              <a:solidFill>
                <a:srgbClr val="595959"/>
              </a:solidFill>
            </a:endParaRPr>
          </a:p>
          <a:p>
            <a:pPr indent="0" lvl="0" marL="0" rtl="0" algn="l">
              <a:lnSpc>
                <a:spcPct val="115000"/>
              </a:lnSpc>
              <a:spcBef>
                <a:spcPts val="0"/>
              </a:spcBef>
              <a:spcAft>
                <a:spcPts val="0"/>
              </a:spcAft>
              <a:buNone/>
            </a:pPr>
            <a:r>
              <a:rPr lang="en" sz="1400">
                <a:solidFill>
                  <a:srgbClr val="595959"/>
                </a:solidFill>
              </a:rPr>
              <a:t>i2c1_memRead - receive multiple byte from specific address on the target</a:t>
            </a:r>
            <a:endParaRPr sz="1400">
              <a:solidFill>
                <a:srgbClr val="595959"/>
              </a:solidFill>
            </a:endParaRPr>
          </a:p>
          <a:p>
            <a:pPr indent="0" lvl="0" marL="0" rtl="0" algn="l">
              <a:lnSpc>
                <a:spcPct val="115000"/>
              </a:lnSpc>
              <a:spcBef>
                <a:spcPts val="0"/>
              </a:spcBef>
              <a:spcAft>
                <a:spcPts val="0"/>
              </a:spcAft>
              <a:buNone/>
            </a:pPr>
            <a:r>
              <a:t/>
            </a:r>
            <a:endParaRPr sz="1400">
              <a:solidFill>
                <a:srgbClr val="595959"/>
              </a:solidFill>
            </a:endParaRPr>
          </a:p>
          <a:p>
            <a:pPr indent="0" lvl="0" marL="0" rtl="0" algn="l">
              <a:lnSpc>
                <a:spcPct val="115000"/>
              </a:lnSpc>
              <a:spcBef>
                <a:spcPts val="0"/>
              </a:spcBef>
              <a:spcAft>
                <a:spcPts val="0"/>
              </a:spcAft>
              <a:buNone/>
            </a:pPr>
            <a:r>
              <a:rPr lang="en" sz="1400">
                <a:solidFill>
                  <a:srgbClr val="595959"/>
                </a:solidFill>
              </a:rPr>
              <a:t>All these will be given to you. To use them properly we still need to understand how they work.</a:t>
            </a:r>
            <a:endParaRPr sz="1400">
              <a:solidFill>
                <a:srgbClr val="595959"/>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76b6aefa51_0_2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76b6aefa51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Here are the registers used to program the I2C bus.</a:t>
            </a:r>
            <a:endParaRPr sz="1400"/>
          </a:p>
          <a:p>
            <a:pPr indent="0" lvl="0" marL="0" rtl="0" algn="l">
              <a:spcBef>
                <a:spcPts val="0"/>
              </a:spcBef>
              <a:spcAft>
                <a:spcPts val="0"/>
              </a:spcAft>
              <a:buNone/>
            </a:pPr>
            <a:r>
              <a:rPr lang="en" sz="1400"/>
              <a:t>There is a prescaler, so there is a register to set the bit rate and other timings.</a:t>
            </a:r>
            <a:endParaRPr sz="1400"/>
          </a:p>
          <a:p>
            <a:pPr indent="0" lvl="0" marL="0" rtl="0" algn="l">
              <a:spcBef>
                <a:spcPts val="0"/>
              </a:spcBef>
              <a:spcAft>
                <a:spcPts val="0"/>
              </a:spcAft>
              <a:buNone/>
            </a:pPr>
            <a:r>
              <a:rPr lang="en" sz="1400"/>
              <a:t>There is a register where you put the data to be sent or from which you read </a:t>
            </a:r>
            <a:r>
              <a:rPr lang="en" sz="1400"/>
              <a:t>the</a:t>
            </a:r>
            <a:r>
              <a:rPr lang="en" sz="1400"/>
              <a:t> data received. In there is also an ACK bit.</a:t>
            </a:r>
            <a:endParaRPr sz="1400"/>
          </a:p>
          <a:p>
            <a:pPr indent="0" lvl="0" marL="0" rtl="0" algn="l">
              <a:spcBef>
                <a:spcPts val="0"/>
              </a:spcBef>
              <a:spcAft>
                <a:spcPts val="0"/>
              </a:spcAft>
              <a:buNone/>
            </a:pPr>
            <a:r>
              <a:rPr lang="en" sz="1400"/>
              <a:t>There is a control unit with a control register and a status register (usual stuff).</a:t>
            </a:r>
            <a:endParaRPr sz="1400"/>
          </a:p>
          <a:p>
            <a:pPr indent="0" lvl="0" marL="0" rtl="0" algn="l">
              <a:spcBef>
                <a:spcPts val="0"/>
              </a:spcBef>
              <a:spcAft>
                <a:spcPts val="0"/>
              </a:spcAft>
              <a:buNone/>
            </a:pPr>
            <a:r>
              <a:rPr lang="en" sz="1400"/>
              <a:t>On the left is an address match unit that we won't be using since our Nucleo will always act as the bus controller. But if you ever build a peripheral with the STM32C0xx inside it as its processor then you'd have a register here where you store the address of the device you are making. </a:t>
            </a:r>
            <a:r>
              <a:rPr lang="en" sz="1400"/>
              <a:t>Because</a:t>
            </a:r>
            <a:r>
              <a:rPr lang="en" sz="1400"/>
              <a:t> we are the controller we don't need this. </a:t>
            </a:r>
            <a:r>
              <a:rPr lang="en" sz="1400"/>
              <a:t>The</a:t>
            </a:r>
            <a:r>
              <a:rPr lang="en" sz="1400"/>
              <a:t> controller does not have an address.</a:t>
            </a:r>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19dc9b467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b19dc9b46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solidFill>
                  <a:srgbClr val="231E15"/>
                </a:solidFill>
              </a:rPr>
              <a:t>Open Drain Type:</a:t>
            </a:r>
            <a:endParaRPr b="1" sz="1200">
              <a:solidFill>
                <a:srgbClr val="231E15"/>
              </a:solidFill>
            </a:endParaRPr>
          </a:p>
          <a:p>
            <a:pPr indent="-304800" lvl="0" marL="457200" rtl="0" algn="l">
              <a:lnSpc>
                <a:spcPct val="115000"/>
              </a:lnSpc>
              <a:spcBef>
                <a:spcPts val="1200"/>
              </a:spcBef>
              <a:spcAft>
                <a:spcPts val="0"/>
              </a:spcAft>
              <a:buClr>
                <a:srgbClr val="231E15"/>
              </a:buClr>
              <a:buSzPts val="1200"/>
              <a:buAutoNum type="arabicPeriod"/>
            </a:pPr>
            <a:r>
              <a:rPr b="1" lang="en" sz="1200">
                <a:solidFill>
                  <a:srgbClr val="231E15"/>
                </a:solidFill>
              </a:rPr>
              <a:t>Multi-Master Capability:</a:t>
            </a:r>
            <a:r>
              <a:rPr lang="en" sz="1200">
                <a:solidFill>
                  <a:srgbClr val="231E15"/>
                </a:solidFill>
              </a:rPr>
              <a:t> I2C allows multiple master devices to be on the same bus. If two masters tried to drive the line at the same time in push-pull mode (one driving high, the other low), it would create a direct short circuit between power and ground, potentially damaging the devices. Open-drain avoids this. Since devices can only pull the line low, there's no conflict if multiple devices try to do so simultaneously.</a:t>
            </a:r>
            <a:endParaRPr sz="1200">
              <a:solidFill>
                <a:srgbClr val="231E15"/>
              </a:solidFill>
            </a:endParaRPr>
          </a:p>
          <a:p>
            <a:pPr indent="-304800" lvl="0" marL="457200" rtl="0" algn="l">
              <a:lnSpc>
                <a:spcPct val="115000"/>
              </a:lnSpc>
              <a:spcBef>
                <a:spcPts val="0"/>
              </a:spcBef>
              <a:spcAft>
                <a:spcPts val="0"/>
              </a:spcAft>
              <a:buClr>
                <a:srgbClr val="231E15"/>
              </a:buClr>
              <a:buSzPts val="1200"/>
              <a:buAutoNum type="arabicPeriod"/>
            </a:pPr>
            <a:r>
              <a:rPr b="1" lang="en" sz="1200">
                <a:solidFill>
                  <a:srgbClr val="231E15"/>
                </a:solidFill>
              </a:rPr>
              <a:t>Bus Arbitration and Clock Stretching:</a:t>
            </a:r>
            <a:endParaRPr b="1" sz="1200">
              <a:solidFill>
                <a:srgbClr val="231E15"/>
              </a:solidFill>
            </a:endParaRPr>
          </a:p>
          <a:p>
            <a:pPr indent="-304800" lvl="1" marL="914400" rtl="0" algn="l">
              <a:lnSpc>
                <a:spcPct val="115000"/>
              </a:lnSpc>
              <a:spcBef>
                <a:spcPts val="0"/>
              </a:spcBef>
              <a:spcAft>
                <a:spcPts val="0"/>
              </a:spcAft>
              <a:buClr>
                <a:srgbClr val="231E15"/>
              </a:buClr>
              <a:buSzPts val="1200"/>
              <a:buChar char="○"/>
            </a:pPr>
            <a:r>
              <a:rPr b="1" lang="en" sz="1200">
                <a:solidFill>
                  <a:srgbClr val="231E15"/>
                </a:solidFill>
              </a:rPr>
              <a:t>Arbitration:</a:t>
            </a:r>
            <a:r>
              <a:rPr lang="en" sz="1200">
                <a:solidFill>
                  <a:srgbClr val="231E15"/>
                </a:solidFill>
              </a:rPr>
              <a:t> If two masters start talking at the same time, they monitor the bus. If a master tries to send a '1' (by letting the line float high) but sees the line is '0' (pulled low by another master), it knows it has lost arbitration and stops transmitting. This "wired-AND" logic is only possible with open-drain.</a:t>
            </a:r>
            <a:endParaRPr sz="1200">
              <a:solidFill>
                <a:srgbClr val="231E15"/>
              </a:solidFill>
            </a:endParaRPr>
          </a:p>
          <a:p>
            <a:pPr indent="-304800" lvl="1" marL="914400" rtl="0" algn="l">
              <a:lnSpc>
                <a:spcPct val="115000"/>
              </a:lnSpc>
              <a:spcBef>
                <a:spcPts val="0"/>
              </a:spcBef>
              <a:spcAft>
                <a:spcPts val="0"/>
              </a:spcAft>
              <a:buClr>
                <a:srgbClr val="231E15"/>
              </a:buClr>
              <a:buSzPts val="1200"/>
              <a:buChar char="○"/>
            </a:pPr>
            <a:r>
              <a:rPr b="1" lang="en" sz="1200">
                <a:solidFill>
                  <a:srgbClr val="231E15"/>
                </a:solidFill>
              </a:rPr>
              <a:t>Clock Stretching:</a:t>
            </a:r>
            <a:r>
              <a:rPr lang="en" sz="1200">
                <a:solidFill>
                  <a:srgbClr val="231E15"/>
                </a:solidFill>
              </a:rPr>
              <a:t> A slave device can hold the clock line (SCL) low to signal to the master that it needs more time to process a request. This is a form of flow control. The master will wait until the slave releases the line. This wouldn't work in push-pull mode.</a:t>
            </a:r>
            <a:endParaRPr sz="1200">
              <a:solidFill>
                <a:srgbClr val="231E15"/>
              </a:solidFill>
            </a:endParaRPr>
          </a:p>
          <a:p>
            <a:pPr indent="0" lvl="0" marL="0" rtl="0" algn="l">
              <a:lnSpc>
                <a:spcPct val="115000"/>
              </a:lnSpc>
              <a:spcBef>
                <a:spcPts val="1200"/>
              </a:spcBef>
              <a:spcAft>
                <a:spcPts val="0"/>
              </a:spcAft>
              <a:buClr>
                <a:schemeClr val="dk1"/>
              </a:buClr>
              <a:buSzPts val="1100"/>
              <a:buFont typeface="Arial"/>
              <a:buNone/>
            </a:pPr>
            <a:r>
              <a:rPr lang="en" sz="1200">
                <a:solidFill>
                  <a:srgbClr val="231E15"/>
                </a:solidFill>
              </a:rPr>
              <a:t>As described in the "Make: AVR Programming" text, the I2C lines are held high by pull-up resistors. A device sends a '0' by pulling the line low with a transistor and sends a '1' by simply letting go and allowing the resistor to pull the line back up.</a:t>
            </a:r>
            <a:endParaRPr sz="1200">
              <a:solidFill>
                <a:srgbClr val="231E15"/>
              </a:solidFill>
            </a:endParaRPr>
          </a:p>
          <a:p>
            <a:pPr indent="0" lvl="0" marL="0" rtl="0" algn="l">
              <a:lnSpc>
                <a:spcPct val="115000"/>
              </a:lnSpc>
              <a:spcBef>
                <a:spcPts val="1200"/>
              </a:spcBef>
              <a:spcAft>
                <a:spcPts val="0"/>
              </a:spcAft>
              <a:buClr>
                <a:schemeClr val="dk1"/>
              </a:buClr>
              <a:buSzPts val="1100"/>
              <a:buFont typeface="Arial"/>
              <a:buNone/>
            </a:pPr>
            <a:r>
              <a:rPr lang="en" sz="1200">
                <a:solidFill>
                  <a:srgbClr val="231E15"/>
                </a:solidFill>
              </a:rPr>
              <a:t>The STM32C0x1 Reference Manual confirms this behavior. When a GPIO pin is configured in open-drain mode, writing a '0' to the output register activates the N-MOS transistor to pull the pin low, while writing a '1' leaves the pin in a high-impedance (Hi-Z) state, allowing the external pull-up resistor to bring it high.</a:t>
            </a:r>
            <a:endParaRPr sz="1200">
              <a:solidFill>
                <a:srgbClr val="231E15"/>
              </a:solidFill>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76b6aefa51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76b6aefa5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Step 1: set frequency of the serial clock. Fair amount of flexibility but that's really not necessary. There are really only a few bit rates that are used in reality and are available on most devices, and that's either 100,000 bits per second or 400,000 bits per </a:t>
            </a:r>
            <a:r>
              <a:rPr lang="en" sz="1500"/>
              <a:t>second. There are way faster ones that go up to millions of bits per second but they are only for specialized devices. If you go out and get one of those devices you'd look at the datasheet and if it says it can run at such a high speed then you can use it.</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The devices we are using don't need that kind of speed and are slow. We'll use them at 100 kHz.</a:t>
            </a:r>
            <a:endParaRPr sz="15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f277da67b9_0_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f277da67b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SKIP!! THESE ARE JUST INSTRUCTOR NOTES…</a:t>
            </a:r>
            <a:endParaRPr sz="1500"/>
          </a:p>
          <a:p>
            <a:pPr indent="0" lvl="0" marL="0" rtl="0" algn="l">
              <a:spcBef>
                <a:spcPts val="0"/>
              </a:spcBef>
              <a:spcAft>
                <a:spcPts val="0"/>
              </a:spcAft>
              <a:buNone/>
            </a:pPr>
            <a:r>
              <a:rPr lang="en" sz="1500"/>
              <a:t>8 Mhz </a:t>
            </a:r>
            <a:r>
              <a:rPr lang="en" sz="1500"/>
              <a:t>with</a:t>
            </a:r>
            <a:r>
              <a:rPr lang="en" sz="1500"/>
              <a:t> PRESC = 0x1 divides clock (by 2) down to 4 Mhz.</a:t>
            </a:r>
            <a:endParaRPr sz="1500"/>
          </a:p>
          <a:p>
            <a:pPr indent="0" lvl="0" marL="0" rtl="0" algn="l">
              <a:spcBef>
                <a:spcPts val="0"/>
              </a:spcBef>
              <a:spcAft>
                <a:spcPts val="0"/>
              </a:spcAft>
              <a:buNone/>
            </a:pPr>
            <a:r>
              <a:rPr lang="en" sz="1500"/>
              <a:t>16 Mhz with PRESC = 0x3 divides </a:t>
            </a:r>
            <a:r>
              <a:rPr lang="en" sz="1500"/>
              <a:t>clock</a:t>
            </a:r>
            <a:r>
              <a:rPr lang="en" sz="1500"/>
              <a:t> (by 4) down to 4 Mhz.</a:t>
            </a:r>
            <a:endParaRPr sz="1500"/>
          </a:p>
          <a:p>
            <a:pPr indent="0" lvl="0" marL="0" rtl="0" algn="l">
              <a:spcBef>
                <a:spcPts val="0"/>
              </a:spcBef>
              <a:spcAft>
                <a:spcPts val="0"/>
              </a:spcAft>
              <a:buNone/>
            </a:pPr>
            <a:r>
              <a:rPr lang="en" sz="1500"/>
              <a:t>48 Mhz with PRESC = 0xB divides clock (by 12) down to 4 Mhz. </a:t>
            </a:r>
            <a:endParaRPr sz="1500"/>
          </a:p>
          <a:p>
            <a:pPr indent="0" lvl="0" marL="0" rtl="0" algn="l">
              <a:spcBef>
                <a:spcPts val="0"/>
              </a:spcBef>
              <a:spcAft>
                <a:spcPts val="0"/>
              </a:spcAft>
              <a:buNone/>
            </a:pPr>
            <a:r>
              <a:rPr lang="en" sz="1500"/>
              <a:t>So 12 Mhz with PRESC = 0x2 divides clock (by 3) down to 4 Mhz also.</a:t>
            </a:r>
            <a:endParaRPr sz="15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f277da67b9_0_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f277da67b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SKIP</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19dc9b467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b19dc9b46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SKIP</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f277da67b9_0_8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f277da67b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c350ee1f7d_0_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c350ee1f7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0164bd235_0_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10164bd23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How does a device know whether it's sending or receiving? The answer is in the R/W bit. The 7-bit address goes out first, followed by the R/W bit. It does this for you. But you are responsible to get the address right. You have to read the datasheet carefully.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76b6aefa51_0_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76b6aefa5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The device we'll be using has an address of 0x70. So 0b01110000. So perfect 8-bit number whose leading bit is a 0. Now you shift that to the left by 1 bit (have to do that!), and then stick in a 0 to write or 1 ro read. The hardware on our device actually does all this for us.</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rPr>
              <a:t>Some devices come with an 8-bit address… So what that means is that they have already shifted the address to the left and you only have to modify the lowest bit depending on read or write. This actually happened to us and we totally messed it up. It was the only device we have seen that does that. So be careful - you have to read the datasheet…</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f277da67b9_0_8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f277da67b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76b6aefa51_0_1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76b6aefa51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To send a byte, load data register with the 8 bits you want to send out. The clear the interrupt flag, enable I2C (all in one step) and wait for the hardware to be done.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Here is the function.</a:t>
            </a:r>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76b6aefa51_0_1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76b6aefa51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Difference to sending:</a:t>
            </a:r>
            <a:endParaRPr sz="1400"/>
          </a:p>
          <a:p>
            <a:pPr indent="0" lvl="0" marL="0" rtl="0" algn="l">
              <a:spcBef>
                <a:spcPts val="0"/>
              </a:spcBef>
              <a:spcAft>
                <a:spcPts val="0"/>
              </a:spcAft>
              <a:buNone/>
            </a:pPr>
            <a:r>
              <a:rPr lang="en" sz="1400"/>
              <a:t>Send address, shifted to left by 1 bit, or it with 1 (this tells it to read).</a:t>
            </a:r>
            <a:endParaRPr sz="1400"/>
          </a:p>
          <a:p>
            <a:pPr indent="0" lvl="0" marL="0" rtl="0" algn="l">
              <a:spcBef>
                <a:spcPts val="0"/>
              </a:spcBef>
              <a:spcAft>
                <a:spcPts val="0"/>
              </a:spcAft>
              <a:buNone/>
            </a:pPr>
            <a:r>
              <a:rPr lang="en" sz="1400"/>
              <a:t>We either set or do not set the ACK bit. </a:t>
            </a:r>
            <a:r>
              <a:rPr lang="en" sz="1400"/>
              <a:t>Typically</a:t>
            </a:r>
            <a:r>
              <a:rPr lang="en" sz="1400"/>
              <a:t> you send an ACK when you want the communication to continue (so you are receiving a chain of bytes). When you received what you want to be the last byte you send a NACK (no ACK) to indicate that you want to be done. After that, the controller sends the STOP condition and now </a:t>
            </a:r>
            <a:r>
              <a:rPr lang="en" sz="1400"/>
              <a:t>everything</a:t>
            </a:r>
            <a:r>
              <a:rPr lang="en" sz="1400"/>
              <a:t> is back in "neutral" state, ready for another interaction.</a:t>
            </a:r>
            <a:endParaRPr sz="1400"/>
          </a:p>
          <a:p>
            <a:pPr indent="0" lvl="0" marL="0" rtl="0" algn="l">
              <a:spcBef>
                <a:spcPts val="0"/>
              </a:spcBef>
              <a:spcAft>
                <a:spcPts val="0"/>
              </a:spcAft>
              <a:buNone/>
            </a:pPr>
            <a:r>
              <a:t/>
            </a:r>
            <a:endParaRPr sz="14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d3a09e88c0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d3a09e88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To send a byte, load data register with the 8 bits you want to send out. The clear the interrupt flag, enable I2C (all in one step) and wait for the hardware to be done.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Here is the function.</a:t>
            </a:r>
            <a:endParaRPr sz="14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10164bd235_0_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10164bd23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We'll learn how to use this thing </a:t>
            </a:r>
            <a:r>
              <a:rPr lang="en" sz="1400"/>
              <a:t>tomorrow. No need to use "screen" or "PuTTY"! You'll have an actual display built into your system (gas pump, etc).</a:t>
            </a:r>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rtl="0" algn="l">
              <a:spcBef>
                <a:spcPts val="360"/>
              </a:spcBef>
              <a:spcAft>
                <a:spcPts val="0"/>
              </a:spcAft>
              <a:buSzPts val="1800"/>
              <a:buNone/>
              <a:defRPr/>
            </a:lvl1pPr>
            <a:lvl2pPr indent="-228600" lvl="1" marL="914400" rtl="0" algn="l">
              <a:spcBef>
                <a:spcPts val="360"/>
              </a:spcBef>
              <a:spcAft>
                <a:spcPts val="0"/>
              </a:spcAft>
              <a:buSzPts val="1400"/>
              <a:buNone/>
              <a:defRPr/>
            </a:lvl2pPr>
            <a:lvl3pPr indent="-228600" lvl="2" marL="1371600" rtl="0" algn="l">
              <a:spcBef>
                <a:spcPts val="360"/>
              </a:spcBef>
              <a:spcAft>
                <a:spcPts val="0"/>
              </a:spcAft>
              <a:buSzPts val="1400"/>
              <a:buNone/>
              <a:defRPr/>
            </a:lvl3pPr>
            <a:lvl4pPr indent="-228600" lvl="3" marL="1828800" rtl="0" algn="l">
              <a:spcBef>
                <a:spcPts val="360"/>
              </a:spcBef>
              <a:spcAft>
                <a:spcPts val="0"/>
              </a:spcAft>
              <a:buSzPts val="1400"/>
              <a:buNone/>
              <a:defRPr/>
            </a:lvl4pPr>
            <a:lvl5pPr indent="-228600" lvl="4" marL="2286000" rtl="0" algn="l">
              <a:spcBef>
                <a:spcPts val="360"/>
              </a:spcBef>
              <a:spcAft>
                <a:spcPts val="0"/>
              </a:spcAft>
              <a:buSzPts val="1400"/>
              <a:buNone/>
              <a:defRPr/>
            </a:lvl5pPr>
            <a:lvl6pPr indent="-228600" lvl="5" marL="2743200" rtl="0" algn="l">
              <a:spcBef>
                <a:spcPts val="360"/>
              </a:spcBef>
              <a:spcAft>
                <a:spcPts val="0"/>
              </a:spcAft>
              <a:buSzPts val="1400"/>
              <a:buNone/>
              <a:defRPr/>
            </a:lvl6pPr>
            <a:lvl7pPr indent="-228600" lvl="6" marL="3200400" rtl="0" algn="l">
              <a:spcBef>
                <a:spcPts val="360"/>
              </a:spcBef>
              <a:spcAft>
                <a:spcPts val="0"/>
              </a:spcAft>
              <a:buSzPts val="1400"/>
              <a:buNone/>
              <a:defRPr/>
            </a:lvl7pPr>
            <a:lvl8pPr indent="-228600" lvl="7" marL="3657600" rtl="0" algn="l">
              <a:spcBef>
                <a:spcPts val="360"/>
              </a:spcBef>
              <a:spcAft>
                <a:spcPts val="0"/>
              </a:spcAft>
              <a:buSzPts val="1400"/>
              <a:buNone/>
              <a:defRPr/>
            </a:lvl8pPr>
            <a:lvl9pPr indent="-228600" lvl="8" marL="4114800" rtl="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rtl="0" algn="l">
              <a:spcBef>
                <a:spcPts val="60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13.png"/><Relationship Id="rId8"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60" name="Google Shape;60;p14"/>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9X</a:t>
            </a:r>
            <a:endParaRPr sz="2800">
              <a:solidFill>
                <a:srgbClr val="595959"/>
              </a:solidFill>
              <a:latin typeface="Comic Sans MS"/>
              <a:ea typeface="Comic Sans MS"/>
              <a:cs typeface="Comic Sans MS"/>
              <a:sym typeface="Comic Sans MS"/>
            </a:endParaRPr>
          </a:p>
        </p:txBody>
      </p:sp>
      <p:pic>
        <p:nvPicPr>
          <p:cNvPr id="61" name="Google Shape;61;p14"/>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62" name="Google Shape;62;p14"/>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Hear from a NASA Embedded Systems Developer</a:t>
            </a:r>
            <a:endParaRPr/>
          </a:p>
        </p:txBody>
      </p:sp>
      <p:sp>
        <p:nvSpPr>
          <p:cNvPr id="68" name="Google Shape;68;p1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Tomorrow, </a:t>
            </a:r>
            <a:r>
              <a:rPr lang="en" sz="2600"/>
              <a:t>February</a:t>
            </a:r>
            <a:r>
              <a:rPr lang="en" sz="2600"/>
              <a:t> 5:</a:t>
            </a:r>
            <a:endParaRPr sz="2600"/>
          </a:p>
          <a:p>
            <a:pPr indent="0" lvl="0" marL="0" rtl="0" algn="l">
              <a:spcBef>
                <a:spcPts val="1600"/>
              </a:spcBef>
              <a:spcAft>
                <a:spcPts val="0"/>
              </a:spcAft>
              <a:buNone/>
            </a:pPr>
            <a:r>
              <a:rPr lang="en" sz="2600"/>
              <a:t>10:15am-10:45am </a:t>
            </a:r>
            <a:endParaRPr sz="2600"/>
          </a:p>
          <a:p>
            <a:pPr indent="0" lvl="0" marL="0" rtl="0" algn="l">
              <a:spcBef>
                <a:spcPts val="1600"/>
              </a:spcBef>
              <a:spcAft>
                <a:spcPts val="1600"/>
              </a:spcAft>
              <a:buNone/>
            </a:pPr>
            <a:r>
              <a:rPr lang="en" sz="2600"/>
              <a:t>MacLean 210</a:t>
            </a:r>
            <a:endParaRPr sz="2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3093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many LEDs in this 4-digit 7-segment display?</a:t>
            </a:r>
            <a:endParaRPr/>
          </a:p>
        </p:txBody>
      </p:sp>
      <p:pic>
        <p:nvPicPr>
          <p:cNvPr id="74" name="Google Shape;74;p16"/>
          <p:cNvPicPr preferRelativeResize="0"/>
          <p:nvPr/>
        </p:nvPicPr>
        <p:blipFill rotWithShape="1">
          <a:blip r:embed="rId3">
            <a:alphaModFix/>
          </a:blip>
          <a:srcRect b="28462" l="4939" r="5101" t="28655"/>
          <a:stretch/>
        </p:blipFill>
        <p:spPr>
          <a:xfrm>
            <a:off x="987450" y="1406775"/>
            <a:ext cx="6979726" cy="2556526"/>
          </a:xfrm>
          <a:prstGeom prst="rect">
            <a:avLst/>
          </a:prstGeom>
          <a:noFill/>
          <a:ln>
            <a:noFill/>
          </a:ln>
        </p:spPr>
      </p:pic>
      <p:sp>
        <p:nvSpPr>
          <p:cNvPr id="75" name="Google Shape;75;p16"/>
          <p:cNvSpPr txBox="1"/>
          <p:nvPr/>
        </p:nvSpPr>
        <p:spPr>
          <a:xfrm>
            <a:off x="514000" y="4477325"/>
            <a:ext cx="7791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If we want to control each of these LEDs individually, how many pins do we need on our microcontroller?</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Goal: Control more complex devices with just two wires</a:t>
            </a:r>
            <a:endParaRPr sz="2600"/>
          </a:p>
        </p:txBody>
      </p:sp>
      <p:sp>
        <p:nvSpPr>
          <p:cNvPr id="81" name="Google Shape;81;p17"/>
          <p:cNvSpPr txBox="1"/>
          <p:nvPr>
            <p:ph idx="1" type="body"/>
          </p:nvPr>
        </p:nvSpPr>
        <p:spPr>
          <a:xfrm>
            <a:off x="311700" y="4950750"/>
            <a:ext cx="8520600" cy="1596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mount the display on a "Backpack" that communicates with the microcontroller using just two wires.</a:t>
            </a:r>
            <a:endParaRPr/>
          </a:p>
          <a:p>
            <a:pPr indent="-342900" lvl="0" marL="457200" rtl="0" algn="l">
              <a:spcBef>
                <a:spcPts val="0"/>
              </a:spcBef>
              <a:spcAft>
                <a:spcPts val="0"/>
              </a:spcAft>
              <a:buSzPts val="1800"/>
              <a:buChar char="●"/>
            </a:pPr>
            <a:r>
              <a:rPr lang="en"/>
              <a:t>The communication protocol is "I</a:t>
            </a:r>
            <a:r>
              <a:rPr baseline="30000" lang="en"/>
              <a:t>2</a:t>
            </a:r>
            <a:r>
              <a:rPr lang="en"/>
              <a:t>C" (Inter-Integrated Circuit).</a:t>
            </a:r>
            <a:endParaRPr/>
          </a:p>
          <a:p>
            <a:pPr indent="-342900" lvl="0" marL="457200" rtl="0" algn="l">
              <a:spcBef>
                <a:spcPts val="0"/>
              </a:spcBef>
              <a:spcAft>
                <a:spcPts val="0"/>
              </a:spcAft>
              <a:buSzPts val="1800"/>
              <a:buChar char="●"/>
            </a:pPr>
            <a:r>
              <a:rPr lang="en"/>
              <a:t>The backpack receives instructions from the microcontroller and drives the relevant LEDs accordingly.</a:t>
            </a:r>
            <a:endParaRPr/>
          </a:p>
        </p:txBody>
      </p:sp>
      <p:pic>
        <p:nvPicPr>
          <p:cNvPr id="82" name="Google Shape;82;p17"/>
          <p:cNvPicPr preferRelativeResize="0"/>
          <p:nvPr/>
        </p:nvPicPr>
        <p:blipFill rotWithShape="1">
          <a:blip r:embed="rId3">
            <a:alphaModFix/>
          </a:blip>
          <a:srcRect b="7329" l="0" r="0" t="17506"/>
          <a:stretch/>
        </p:blipFill>
        <p:spPr>
          <a:xfrm>
            <a:off x="1878639" y="1356875"/>
            <a:ext cx="5848184" cy="3377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11905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a:t>
            </a:r>
            <a:r>
              <a:rPr baseline="30000" lang="en"/>
              <a:t>2</a:t>
            </a:r>
            <a:r>
              <a:rPr lang="en"/>
              <a:t>C  Communication</a:t>
            </a:r>
            <a:endParaRPr/>
          </a:p>
        </p:txBody>
      </p:sp>
      <p:sp>
        <p:nvSpPr>
          <p:cNvPr id="88" name="Google Shape;88;p18"/>
          <p:cNvSpPr txBox="1"/>
          <p:nvPr>
            <p:ph type="title"/>
          </p:nvPr>
        </p:nvSpPr>
        <p:spPr>
          <a:xfrm>
            <a:off x="311700" y="3047262"/>
            <a:ext cx="8520600" cy="187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0000FF"/>
                </a:solidFill>
              </a:rPr>
              <a:t>I</a:t>
            </a:r>
            <a:r>
              <a:rPr baseline="30000" lang="en" sz="2400">
                <a:solidFill>
                  <a:srgbClr val="0000FF"/>
                </a:solidFill>
              </a:rPr>
              <a:t>2</a:t>
            </a:r>
            <a:r>
              <a:rPr lang="en" sz="2400">
                <a:solidFill>
                  <a:srgbClr val="0000FF"/>
                </a:solidFill>
              </a:rPr>
              <a:t>C is a serial communication protocol.</a:t>
            </a:r>
            <a:endParaRPr sz="2400">
              <a:solidFill>
                <a:srgbClr val="0000FF"/>
              </a:solidFill>
            </a:endParaRPr>
          </a:p>
          <a:p>
            <a:pPr indent="0" lvl="0" marL="0" rtl="0" algn="ctr">
              <a:spcBef>
                <a:spcPts val="0"/>
              </a:spcBef>
              <a:spcAft>
                <a:spcPts val="0"/>
              </a:spcAft>
              <a:buNone/>
            </a:pPr>
            <a:r>
              <a:t/>
            </a:r>
            <a:endParaRPr sz="2400">
              <a:solidFill>
                <a:srgbClr val="0000FF"/>
              </a:solidFill>
            </a:endParaRPr>
          </a:p>
          <a:p>
            <a:pPr indent="0" lvl="0" marL="0" rtl="0" algn="ctr">
              <a:spcBef>
                <a:spcPts val="0"/>
              </a:spcBef>
              <a:spcAft>
                <a:spcPts val="0"/>
              </a:spcAft>
              <a:buNone/>
            </a:pPr>
            <a:r>
              <a:rPr lang="en" sz="2400">
                <a:solidFill>
                  <a:srgbClr val="0000FF"/>
                </a:solidFill>
              </a:rPr>
              <a:t>What other </a:t>
            </a:r>
            <a:r>
              <a:rPr lang="en" sz="2400">
                <a:solidFill>
                  <a:srgbClr val="0000FF"/>
                </a:solidFill>
              </a:rPr>
              <a:t>serial</a:t>
            </a:r>
            <a:r>
              <a:rPr lang="en" sz="2400">
                <a:solidFill>
                  <a:srgbClr val="0000FF"/>
                </a:solidFill>
              </a:rPr>
              <a:t> communication protocol do we already know?</a:t>
            </a:r>
            <a:endParaRPr sz="2400">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3904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Serial Communication - Review</a:t>
            </a:r>
            <a:endParaRPr/>
          </a:p>
        </p:txBody>
      </p:sp>
      <p:pic>
        <p:nvPicPr>
          <p:cNvPr id="94" name="Google Shape;94;p19"/>
          <p:cNvPicPr preferRelativeResize="0"/>
          <p:nvPr/>
        </p:nvPicPr>
        <p:blipFill>
          <a:blip r:embed="rId3">
            <a:alphaModFix/>
          </a:blip>
          <a:stretch>
            <a:fillRect/>
          </a:stretch>
        </p:blipFill>
        <p:spPr>
          <a:xfrm>
            <a:off x="152400" y="1509279"/>
            <a:ext cx="8735125" cy="1705750"/>
          </a:xfrm>
          <a:prstGeom prst="rect">
            <a:avLst/>
          </a:prstGeom>
          <a:noFill/>
          <a:ln>
            <a:noFill/>
          </a:ln>
        </p:spPr>
      </p:pic>
      <p:sp>
        <p:nvSpPr>
          <p:cNvPr id="95" name="Google Shape;95;p19"/>
          <p:cNvSpPr txBox="1"/>
          <p:nvPr/>
        </p:nvSpPr>
        <p:spPr>
          <a:xfrm>
            <a:off x="528175" y="3762250"/>
            <a:ext cx="8120100" cy="23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900"/>
              <a:t>Recall:</a:t>
            </a:r>
            <a:r>
              <a:rPr lang="en" sz="1900"/>
              <a:t> </a:t>
            </a:r>
            <a:endParaRPr sz="1900"/>
          </a:p>
          <a:p>
            <a:pPr indent="-349250" lvl="0" marL="457200" rtl="0" algn="l">
              <a:spcBef>
                <a:spcPts val="0"/>
              </a:spcBef>
              <a:spcAft>
                <a:spcPts val="0"/>
              </a:spcAft>
              <a:buClr>
                <a:srgbClr val="0000FF"/>
              </a:buClr>
              <a:buSzPts val="1900"/>
              <a:buChar char="●"/>
            </a:pPr>
            <a:r>
              <a:rPr lang="en" sz="1900">
                <a:solidFill>
                  <a:srgbClr val="0000FF"/>
                </a:solidFill>
              </a:rPr>
              <a:t>UART does not have separate timing signals.  Uses start and stop bits instead, with a known bit time (baud rate).</a:t>
            </a:r>
            <a:endParaRPr sz="1900">
              <a:solidFill>
                <a:srgbClr val="0000FF"/>
              </a:solidFill>
            </a:endParaRPr>
          </a:p>
          <a:p>
            <a:pPr indent="0" lvl="0" marL="0" rtl="0" algn="l">
              <a:spcBef>
                <a:spcPts val="0"/>
              </a:spcBef>
              <a:spcAft>
                <a:spcPts val="0"/>
              </a:spcAft>
              <a:buNone/>
            </a:pPr>
            <a:r>
              <a:t/>
            </a:r>
            <a:endParaRPr sz="1900"/>
          </a:p>
          <a:p>
            <a:pPr indent="0" lvl="0" marL="0" rtl="0" algn="l">
              <a:spcBef>
                <a:spcPts val="0"/>
              </a:spcBef>
              <a:spcAft>
                <a:spcPts val="0"/>
              </a:spcAft>
              <a:buNone/>
            </a:pPr>
            <a:r>
              <a:rPr i="1" lang="en" sz="1900"/>
              <a:t>Today:</a:t>
            </a:r>
            <a:r>
              <a:rPr lang="en" sz="1900"/>
              <a:t> </a:t>
            </a:r>
            <a:endParaRPr sz="1900"/>
          </a:p>
          <a:p>
            <a:pPr indent="-349250" lvl="0" marL="457200" rtl="0" algn="l">
              <a:spcBef>
                <a:spcPts val="0"/>
              </a:spcBef>
              <a:spcAft>
                <a:spcPts val="0"/>
              </a:spcAft>
              <a:buClr>
                <a:srgbClr val="0000FF"/>
              </a:buClr>
              <a:buSzPts val="1900"/>
              <a:buChar char="●"/>
            </a:pPr>
            <a:r>
              <a:rPr lang="en" sz="1900">
                <a:solidFill>
                  <a:srgbClr val="0000FF"/>
                </a:solidFill>
              </a:rPr>
              <a:t>A fully synchronous method (data line + clock line), called “I</a:t>
            </a:r>
            <a:r>
              <a:rPr baseline="30000" lang="en" sz="1900">
                <a:solidFill>
                  <a:srgbClr val="0000FF"/>
                </a:solidFill>
              </a:rPr>
              <a:t>2</a:t>
            </a:r>
            <a:r>
              <a:rPr lang="en" sz="1900">
                <a:solidFill>
                  <a:srgbClr val="0000FF"/>
                </a:solidFill>
              </a:rPr>
              <a:t>C” (or “TWI” for two-wire interface).</a:t>
            </a:r>
            <a:endParaRPr sz="1900">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a:t>
            </a:r>
            <a:r>
              <a:rPr baseline="30000" lang="en"/>
              <a:t>2</a:t>
            </a:r>
            <a:r>
              <a:rPr lang="en"/>
              <a:t>C (Inter-Integrated Circuit) bus</a:t>
            </a:r>
            <a:endParaRPr/>
          </a:p>
        </p:txBody>
      </p:sp>
      <p:sp>
        <p:nvSpPr>
          <p:cNvPr id="101" name="Google Shape;101;p20"/>
          <p:cNvSpPr txBox="1"/>
          <p:nvPr>
            <p:ph idx="1" type="body"/>
          </p:nvPr>
        </p:nvSpPr>
        <p:spPr>
          <a:xfrm>
            <a:off x="311700" y="1308026"/>
            <a:ext cx="8520600" cy="1153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Trademarked name (Philips / NXP), also called, generically, “Two Wire Interface” (TWI).</a:t>
            </a:r>
            <a:endParaRPr sz="1600"/>
          </a:p>
          <a:p>
            <a:pPr indent="-330200" lvl="0" marL="457200" rtl="0" algn="l">
              <a:spcBef>
                <a:spcPts val="0"/>
              </a:spcBef>
              <a:spcAft>
                <a:spcPts val="0"/>
              </a:spcAft>
              <a:buSzPts val="1600"/>
              <a:buChar char="●"/>
            </a:pPr>
            <a:r>
              <a:rPr lang="en" sz="1600"/>
              <a:t>Numerous devices have an I</a:t>
            </a:r>
            <a:r>
              <a:rPr baseline="30000" lang="en" sz="1600"/>
              <a:t>2</a:t>
            </a:r>
            <a:r>
              <a:rPr lang="en" sz="1600"/>
              <a:t>C interface.</a:t>
            </a:r>
            <a:endParaRPr sz="1600"/>
          </a:p>
          <a:p>
            <a:pPr indent="-330200" lvl="0" marL="457200" rtl="0" algn="l">
              <a:spcBef>
                <a:spcPts val="0"/>
              </a:spcBef>
              <a:spcAft>
                <a:spcPts val="0"/>
              </a:spcAft>
              <a:buClr>
                <a:srgbClr val="0000FF"/>
              </a:buClr>
              <a:buSzPts val="1600"/>
              <a:buChar char="●"/>
            </a:pPr>
            <a:r>
              <a:rPr lang="en" sz="1600">
                <a:solidFill>
                  <a:srgbClr val="0000FF"/>
                </a:solidFill>
              </a:rPr>
              <a:t>Two wires, like UART, but it’s </a:t>
            </a:r>
            <a:r>
              <a:rPr b="1" lang="en" sz="1600">
                <a:solidFill>
                  <a:srgbClr val="0000FF"/>
                </a:solidFill>
              </a:rPr>
              <a:t>synchronous</a:t>
            </a:r>
            <a:r>
              <a:rPr lang="en" sz="1600">
                <a:solidFill>
                  <a:srgbClr val="0000FF"/>
                </a:solidFill>
              </a:rPr>
              <a:t>.  How?</a:t>
            </a:r>
            <a:endParaRPr sz="1600">
              <a:solidFill>
                <a:srgbClr val="0000FF"/>
              </a:solidFill>
            </a:endParaRPr>
          </a:p>
        </p:txBody>
      </p:sp>
      <p:pic>
        <p:nvPicPr>
          <p:cNvPr id="102" name="Google Shape;102;p20"/>
          <p:cNvPicPr preferRelativeResize="0"/>
          <p:nvPr/>
        </p:nvPicPr>
        <p:blipFill rotWithShape="1">
          <a:blip r:embed="rId3">
            <a:alphaModFix/>
          </a:blip>
          <a:srcRect b="0" l="0" r="0" t="9861"/>
          <a:stretch/>
        </p:blipFill>
        <p:spPr>
          <a:xfrm>
            <a:off x="306425" y="2636547"/>
            <a:ext cx="8244849" cy="3916653"/>
          </a:xfrm>
          <a:prstGeom prst="rect">
            <a:avLst/>
          </a:prstGeom>
          <a:noFill/>
          <a:ln>
            <a:noFill/>
          </a:ln>
        </p:spPr>
      </p:pic>
      <p:sp>
        <p:nvSpPr>
          <p:cNvPr id="103" name="Google Shape;103;p20"/>
          <p:cNvSpPr txBox="1"/>
          <p:nvPr/>
        </p:nvSpPr>
        <p:spPr>
          <a:xfrm>
            <a:off x="1282650" y="5530225"/>
            <a:ext cx="49305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solidFill>
                  <a:srgbClr val="0000FF"/>
                </a:solidFill>
              </a:rPr>
              <a:t>Serial DAta (bidirectional)</a:t>
            </a:r>
            <a:endParaRPr i="1" sz="1600">
              <a:solidFill>
                <a:srgbClr val="0000FF"/>
              </a:solidFill>
            </a:endParaRPr>
          </a:p>
        </p:txBody>
      </p:sp>
      <p:sp>
        <p:nvSpPr>
          <p:cNvPr id="104" name="Google Shape;104;p20"/>
          <p:cNvSpPr txBox="1"/>
          <p:nvPr/>
        </p:nvSpPr>
        <p:spPr>
          <a:xfrm>
            <a:off x="1282650" y="6091500"/>
            <a:ext cx="58908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solidFill>
                  <a:srgbClr val="0000FF"/>
                </a:solidFill>
              </a:rPr>
              <a:t>Serial CLock (generated by bus controller device)</a:t>
            </a:r>
            <a:endParaRPr i="1" sz="1600">
              <a:solidFill>
                <a:srgbClr val="0000FF"/>
              </a:solidFill>
            </a:endParaRPr>
          </a:p>
        </p:txBody>
      </p:sp>
      <p:sp>
        <p:nvSpPr>
          <p:cNvPr id="105" name="Google Shape;105;p20"/>
          <p:cNvSpPr txBox="1"/>
          <p:nvPr/>
        </p:nvSpPr>
        <p:spPr>
          <a:xfrm>
            <a:off x="6413950" y="4652825"/>
            <a:ext cx="19755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solidFill>
                  <a:srgbClr val="0000FF"/>
                </a:solidFill>
              </a:rPr>
              <a:t>Pullup resistors (wires idle HIGH)</a:t>
            </a:r>
            <a:endParaRPr i="1" sz="1600">
              <a:solidFill>
                <a:srgbClr val="0000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1"/>
          <p:cNvPicPr preferRelativeResize="0"/>
          <p:nvPr/>
        </p:nvPicPr>
        <p:blipFill rotWithShape="1">
          <a:blip r:embed="rId3">
            <a:alphaModFix/>
          </a:blip>
          <a:srcRect b="0" l="0" r="0" t="9861"/>
          <a:stretch/>
        </p:blipFill>
        <p:spPr>
          <a:xfrm>
            <a:off x="3668975" y="4257150"/>
            <a:ext cx="5475024" cy="2600850"/>
          </a:xfrm>
          <a:prstGeom prst="rect">
            <a:avLst/>
          </a:prstGeom>
          <a:noFill/>
          <a:ln>
            <a:noFill/>
          </a:ln>
        </p:spPr>
      </p:pic>
      <p:sp>
        <p:nvSpPr>
          <p:cNvPr id="111" name="Google Shape;111;p21"/>
          <p:cNvSpPr txBox="1"/>
          <p:nvPr>
            <p:ph type="title"/>
          </p:nvPr>
        </p:nvSpPr>
        <p:spPr>
          <a:xfrm>
            <a:off x="311700" y="196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UART</a:t>
            </a:r>
            <a:r>
              <a:rPr lang="en"/>
              <a:t>                    vs                 I</a:t>
            </a:r>
            <a:r>
              <a:rPr baseline="30000" lang="en"/>
              <a:t>2</a:t>
            </a:r>
            <a:r>
              <a:rPr lang="en"/>
              <a:t>C</a:t>
            </a:r>
            <a:endParaRPr/>
          </a:p>
        </p:txBody>
      </p:sp>
      <p:sp>
        <p:nvSpPr>
          <p:cNvPr id="112" name="Google Shape;112;p21"/>
          <p:cNvSpPr txBox="1"/>
          <p:nvPr>
            <p:ph idx="1" type="body"/>
          </p:nvPr>
        </p:nvSpPr>
        <p:spPr>
          <a:xfrm>
            <a:off x="311700" y="807625"/>
            <a:ext cx="4260300" cy="5360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0000FF"/>
                </a:solidFill>
              </a:rPr>
              <a:t>No serial clock.  Start/stop bits used to synchronize data recovery.</a:t>
            </a:r>
            <a:endParaRPr sz="1800"/>
          </a:p>
          <a:p>
            <a:pPr indent="0" lvl="0" marL="0" rtl="0" algn="l">
              <a:lnSpc>
                <a:spcPct val="115000"/>
              </a:lnSpc>
              <a:spcBef>
                <a:spcPts val="1000"/>
              </a:spcBef>
              <a:spcAft>
                <a:spcPts val="0"/>
              </a:spcAft>
              <a:buNone/>
            </a:pPr>
            <a:r>
              <a:rPr lang="en" sz="1800">
                <a:solidFill>
                  <a:srgbClr val="3F7F5F"/>
                </a:solidFill>
              </a:rPr>
              <a:t>Separate Tx and Rx lines.  Full duplex (simultaneous transmit and receive) is possible.</a:t>
            </a:r>
            <a:endParaRPr sz="1800"/>
          </a:p>
          <a:p>
            <a:pPr indent="0" lvl="0" marL="0" rtl="0" algn="l">
              <a:lnSpc>
                <a:spcPct val="115000"/>
              </a:lnSpc>
              <a:spcBef>
                <a:spcPts val="1000"/>
              </a:spcBef>
              <a:spcAft>
                <a:spcPts val="0"/>
              </a:spcAft>
              <a:buNone/>
            </a:pPr>
            <a:r>
              <a:t/>
            </a:r>
            <a:endParaRPr sz="1800"/>
          </a:p>
          <a:p>
            <a:pPr indent="0" lvl="0" marL="0" rtl="0" algn="l">
              <a:lnSpc>
                <a:spcPct val="115000"/>
              </a:lnSpc>
              <a:spcBef>
                <a:spcPts val="0"/>
              </a:spcBef>
              <a:spcAft>
                <a:spcPts val="1000"/>
              </a:spcAft>
              <a:buNone/>
            </a:pPr>
            <a:r>
              <a:rPr lang="en" sz="1800">
                <a:solidFill>
                  <a:srgbClr val="7F0055"/>
                </a:solidFill>
              </a:rPr>
              <a:t>Each peripheral device has its own Tx/Rx pair.</a:t>
            </a:r>
            <a:endParaRPr sz="1800">
              <a:solidFill>
                <a:srgbClr val="7F0055"/>
              </a:solidFill>
            </a:endParaRPr>
          </a:p>
        </p:txBody>
      </p:sp>
      <p:sp>
        <p:nvSpPr>
          <p:cNvPr id="113" name="Google Shape;113;p21"/>
          <p:cNvSpPr txBox="1"/>
          <p:nvPr>
            <p:ph idx="2" type="body"/>
          </p:nvPr>
        </p:nvSpPr>
        <p:spPr>
          <a:xfrm>
            <a:off x="4832400" y="807625"/>
            <a:ext cx="3999900" cy="564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700">
                <a:solidFill>
                  <a:srgbClr val="0000FF"/>
                </a:solidFill>
              </a:rPr>
              <a:t>Serial clock, generated by bus controller, synchronizes data recovery.</a:t>
            </a:r>
            <a:endParaRPr sz="1700"/>
          </a:p>
          <a:p>
            <a:pPr indent="0" lvl="0" marL="0" rtl="0" algn="l">
              <a:lnSpc>
                <a:spcPct val="115000"/>
              </a:lnSpc>
              <a:spcBef>
                <a:spcPts val="1000"/>
              </a:spcBef>
              <a:spcAft>
                <a:spcPts val="0"/>
              </a:spcAft>
              <a:buNone/>
            </a:pPr>
            <a:r>
              <a:rPr lang="en" sz="1700">
                <a:solidFill>
                  <a:srgbClr val="3F7F5F"/>
                </a:solidFill>
              </a:rPr>
              <a:t>Common clock line (SCL) and </a:t>
            </a:r>
            <a:r>
              <a:rPr i="1" lang="en" sz="1700">
                <a:solidFill>
                  <a:srgbClr val="3F7F5F"/>
                </a:solidFill>
              </a:rPr>
              <a:t>bidirectional</a:t>
            </a:r>
            <a:r>
              <a:rPr lang="en" sz="1700">
                <a:solidFill>
                  <a:srgbClr val="3F7F5F"/>
                </a:solidFill>
              </a:rPr>
              <a:t> data line (SDA).  Bus controller and the peripheral device take turns writing and reading.</a:t>
            </a:r>
            <a:endParaRPr sz="1700"/>
          </a:p>
          <a:p>
            <a:pPr indent="0" lvl="0" marL="0" rtl="0" algn="l">
              <a:lnSpc>
                <a:spcPct val="115000"/>
              </a:lnSpc>
              <a:spcBef>
                <a:spcPts val="1000"/>
              </a:spcBef>
              <a:spcAft>
                <a:spcPts val="1000"/>
              </a:spcAft>
              <a:buNone/>
            </a:pPr>
            <a:r>
              <a:rPr lang="en" sz="1700">
                <a:solidFill>
                  <a:srgbClr val="7F0055"/>
                </a:solidFill>
              </a:rPr>
              <a:t>All peripherals use the same two wire bus.  Each peripheral has its own </a:t>
            </a:r>
            <a:r>
              <a:rPr i="1" lang="en" sz="1700">
                <a:solidFill>
                  <a:srgbClr val="7F0055"/>
                </a:solidFill>
              </a:rPr>
              <a:t>bus address</a:t>
            </a:r>
            <a:r>
              <a:rPr lang="en" sz="1700">
                <a:solidFill>
                  <a:srgbClr val="7F0055"/>
                </a:solidFill>
              </a:rPr>
              <a:t>.  Each packet of data from the controller begins with the address of the intended destination device</a:t>
            </a:r>
            <a:r>
              <a:rPr lang="en" sz="1700"/>
              <a:t>.</a:t>
            </a:r>
            <a:endParaRPr sz="1700"/>
          </a:p>
        </p:txBody>
      </p:sp>
      <p:pic>
        <p:nvPicPr>
          <p:cNvPr id="114" name="Google Shape;114;p21" title="Screenshot 2026-01-23 at 12.56.16 PM.png"/>
          <p:cNvPicPr preferRelativeResize="0"/>
          <p:nvPr/>
        </p:nvPicPr>
        <p:blipFill rotWithShape="1">
          <a:blip r:embed="rId4">
            <a:alphaModFix/>
          </a:blip>
          <a:srcRect b="0" l="0" r="0" t="5078"/>
          <a:stretch/>
        </p:blipFill>
        <p:spPr>
          <a:xfrm>
            <a:off x="570277" y="4257150"/>
            <a:ext cx="2841198" cy="1940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2"/>
          <p:cNvPicPr preferRelativeResize="0"/>
          <p:nvPr/>
        </p:nvPicPr>
        <p:blipFill>
          <a:blip r:embed="rId3">
            <a:alphaModFix/>
          </a:blip>
          <a:stretch>
            <a:fillRect/>
          </a:stretch>
        </p:blipFill>
        <p:spPr>
          <a:xfrm>
            <a:off x="0" y="903868"/>
            <a:ext cx="9144000" cy="2307432"/>
          </a:xfrm>
          <a:prstGeom prst="rect">
            <a:avLst/>
          </a:prstGeom>
          <a:noFill/>
          <a:ln>
            <a:noFill/>
          </a:ln>
        </p:spPr>
      </p:pic>
      <p:sp>
        <p:nvSpPr>
          <p:cNvPr id="120" name="Google Shape;120;p22"/>
          <p:cNvSpPr txBox="1"/>
          <p:nvPr/>
        </p:nvSpPr>
        <p:spPr>
          <a:xfrm>
            <a:off x="241800" y="3211300"/>
            <a:ext cx="8520600" cy="3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SCL and SDA idle high, because of the pullups.</a:t>
            </a:r>
            <a:endParaRPr sz="1600"/>
          </a:p>
          <a:p>
            <a:pPr indent="0" lvl="0" marL="0" rtl="0" algn="l">
              <a:spcBef>
                <a:spcPts val="1000"/>
              </a:spcBef>
              <a:spcAft>
                <a:spcPts val="0"/>
              </a:spcAft>
              <a:buNone/>
            </a:pPr>
            <a:r>
              <a:rPr b="1" lang="en" sz="1600">
                <a:solidFill>
                  <a:srgbClr val="CC0000"/>
                </a:solidFill>
              </a:rPr>
              <a:t>START:</a:t>
            </a:r>
            <a:r>
              <a:rPr lang="en" sz="1600"/>
              <a:t>  Controller asserts control by pulling SDA low while SCL is high.  SCL starts running.</a:t>
            </a:r>
            <a:endParaRPr sz="1600"/>
          </a:p>
          <a:p>
            <a:pPr indent="0" lvl="0" marL="0" rtl="0" algn="l">
              <a:spcBef>
                <a:spcPts val="1000"/>
              </a:spcBef>
              <a:spcAft>
                <a:spcPts val="0"/>
              </a:spcAft>
              <a:buNone/>
            </a:pPr>
            <a:r>
              <a:rPr b="1" lang="en" sz="1600">
                <a:solidFill>
                  <a:srgbClr val="CC0000"/>
                </a:solidFill>
              </a:rPr>
              <a:t>Address + </a:t>
            </a:r>
            <a:r>
              <a:rPr b="1" lang="en" sz="1600">
                <a:solidFill>
                  <a:srgbClr val="CC0000"/>
                </a:solidFill>
              </a:rPr>
              <a:t>Read/Write:</a:t>
            </a:r>
            <a:r>
              <a:rPr lang="en" sz="1600"/>
              <a:t>  Controller transmits device address (7 bits) followed by 0 to command a write, or 1 to command a read.  SDA changes only while SCL is low.</a:t>
            </a:r>
            <a:endParaRPr sz="1600"/>
          </a:p>
          <a:p>
            <a:pPr indent="0" lvl="0" marL="0" rtl="0" algn="l">
              <a:spcBef>
                <a:spcPts val="1000"/>
              </a:spcBef>
              <a:spcAft>
                <a:spcPts val="0"/>
              </a:spcAft>
              <a:buNone/>
            </a:pPr>
            <a:r>
              <a:rPr b="1" lang="en" sz="1600">
                <a:solidFill>
                  <a:srgbClr val="CC0000"/>
                </a:solidFill>
              </a:rPr>
              <a:t>ACK: </a:t>
            </a:r>
            <a:r>
              <a:rPr lang="en" sz="1600"/>
              <a:t> Controller lets go of data line; peripheral that recognizes its address acknowledges by sending a 0 back.  Other devices on bus don’t respond.  If </a:t>
            </a:r>
            <a:r>
              <a:rPr lang="en" sz="1600"/>
              <a:t>nobody</a:t>
            </a:r>
            <a:r>
              <a:rPr lang="en" sz="1600"/>
              <a:t> responds, the data line remains high (called NACK).</a:t>
            </a:r>
            <a:endParaRPr sz="1600"/>
          </a:p>
          <a:p>
            <a:pPr indent="0" lvl="0" marL="0" rtl="0" algn="l">
              <a:spcBef>
                <a:spcPts val="1000"/>
              </a:spcBef>
              <a:spcAft>
                <a:spcPts val="0"/>
              </a:spcAft>
              <a:buNone/>
            </a:pPr>
            <a:r>
              <a:rPr b="1" lang="en" sz="1600">
                <a:solidFill>
                  <a:srgbClr val="CC0000"/>
                </a:solidFill>
              </a:rPr>
              <a:t>DATA:</a:t>
            </a:r>
            <a:r>
              <a:rPr lang="en" sz="1600"/>
              <a:t>  Controller sends a byte, listens for ACK or NACK, or </a:t>
            </a:r>
            <a:r>
              <a:rPr lang="en" sz="1600"/>
              <a:t>receives a byte, and replies with ACK or NACK</a:t>
            </a:r>
            <a:r>
              <a:rPr lang="en" sz="1600"/>
              <a:t>.</a:t>
            </a:r>
            <a:endParaRPr sz="1600"/>
          </a:p>
          <a:p>
            <a:pPr indent="0" lvl="0" marL="0" rtl="0" algn="l">
              <a:spcBef>
                <a:spcPts val="1000"/>
              </a:spcBef>
              <a:spcAft>
                <a:spcPts val="1000"/>
              </a:spcAft>
              <a:buNone/>
            </a:pPr>
            <a:r>
              <a:rPr b="1" lang="en" sz="1600">
                <a:solidFill>
                  <a:srgbClr val="CC0000"/>
                </a:solidFill>
              </a:rPr>
              <a:t>STOP:</a:t>
            </a:r>
            <a:r>
              <a:rPr lang="en" sz="1600"/>
              <a:t>  Controller returns SDA to high while SCL is high, </a:t>
            </a:r>
            <a:r>
              <a:rPr lang="en" sz="1600"/>
              <a:t>then</a:t>
            </a:r>
            <a:r>
              <a:rPr lang="en" sz="1600"/>
              <a:t> both remain idle.</a:t>
            </a:r>
            <a:endParaRPr sz="1600"/>
          </a:p>
        </p:txBody>
      </p:sp>
      <p:sp>
        <p:nvSpPr>
          <p:cNvPr id="121" name="Google Shape;121;p22"/>
          <p:cNvSpPr txBox="1"/>
          <p:nvPr/>
        </p:nvSpPr>
        <p:spPr>
          <a:xfrm>
            <a:off x="5598800" y="99875"/>
            <a:ext cx="3364200" cy="9234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rgbClr val="0000FF"/>
                </a:solidFill>
              </a:rPr>
              <a:t>Toward inclusive language:</a:t>
            </a:r>
            <a:endParaRPr i="1" sz="1600">
              <a:solidFill>
                <a:srgbClr val="0000FF"/>
              </a:solidFill>
            </a:endParaRPr>
          </a:p>
          <a:p>
            <a:pPr indent="0" lvl="0" marL="0" rtl="0" algn="l">
              <a:spcBef>
                <a:spcPts val="0"/>
              </a:spcBef>
              <a:spcAft>
                <a:spcPts val="0"/>
              </a:spcAft>
              <a:buNone/>
            </a:pPr>
            <a:r>
              <a:rPr i="1" lang="en" sz="1600">
                <a:solidFill>
                  <a:srgbClr val="0000FF"/>
                </a:solidFill>
              </a:rPr>
              <a:t>Update the terms "master/slave" to "controller/target".</a:t>
            </a:r>
            <a:endParaRPr i="1" sz="1600">
              <a:solidFill>
                <a:srgbClr val="0000FF"/>
              </a:solidFill>
            </a:endParaRPr>
          </a:p>
        </p:txBody>
      </p:sp>
      <p:sp>
        <p:nvSpPr>
          <p:cNvPr id="122" name="Google Shape;122;p22"/>
          <p:cNvSpPr txBox="1"/>
          <p:nvPr/>
        </p:nvSpPr>
        <p:spPr>
          <a:xfrm>
            <a:off x="152400" y="219275"/>
            <a:ext cx="4284300" cy="6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000000"/>
                </a:solidFill>
              </a:rPr>
              <a:t>I</a:t>
            </a:r>
            <a:r>
              <a:rPr baseline="30000" lang="en" sz="2800">
                <a:solidFill>
                  <a:srgbClr val="000000"/>
                </a:solidFill>
              </a:rPr>
              <a:t>2</a:t>
            </a:r>
            <a:r>
              <a:rPr lang="en" sz="2800">
                <a:solidFill>
                  <a:srgbClr val="000000"/>
                </a:solidFill>
              </a:rPr>
              <a:t>C protocol </a:t>
            </a:r>
            <a:endParaRPr sz="280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nvSpPr>
        <p:spPr>
          <a:xfrm>
            <a:off x="152400" y="219275"/>
            <a:ext cx="4284300" cy="6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000000"/>
                </a:solidFill>
              </a:rPr>
              <a:t>I</a:t>
            </a:r>
            <a:r>
              <a:rPr baseline="30000" lang="en" sz="2800">
                <a:solidFill>
                  <a:srgbClr val="000000"/>
                </a:solidFill>
              </a:rPr>
              <a:t>2</a:t>
            </a:r>
            <a:r>
              <a:rPr lang="en" sz="2800">
                <a:solidFill>
                  <a:srgbClr val="000000"/>
                </a:solidFill>
              </a:rPr>
              <a:t>C protocol </a:t>
            </a:r>
            <a:endParaRPr sz="2800">
              <a:solidFill>
                <a:srgbClr val="000000"/>
              </a:solidFill>
            </a:endParaRPr>
          </a:p>
        </p:txBody>
      </p:sp>
      <p:pic>
        <p:nvPicPr>
          <p:cNvPr id="128" name="Google Shape;128;p23" title="Screenshot 2026-02-04 at 9.15.09 AM.png"/>
          <p:cNvPicPr preferRelativeResize="0"/>
          <p:nvPr/>
        </p:nvPicPr>
        <p:blipFill rotWithShape="1">
          <a:blip r:embed="rId3">
            <a:alphaModFix/>
          </a:blip>
          <a:srcRect b="0" l="0" r="0" t="0"/>
          <a:stretch/>
        </p:blipFill>
        <p:spPr>
          <a:xfrm>
            <a:off x="152400" y="703075"/>
            <a:ext cx="8839200" cy="3999274"/>
          </a:xfrm>
          <a:prstGeom prst="rect">
            <a:avLst/>
          </a:prstGeom>
          <a:noFill/>
          <a:ln>
            <a:noFill/>
          </a:ln>
        </p:spPr>
      </p:pic>
      <p:sp>
        <p:nvSpPr>
          <p:cNvPr id="129" name="Google Shape;129;p23"/>
          <p:cNvSpPr txBox="1"/>
          <p:nvPr/>
        </p:nvSpPr>
        <p:spPr>
          <a:xfrm>
            <a:off x="311700" y="4702350"/>
            <a:ext cx="8520600" cy="20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CC0000"/>
                </a:solidFill>
              </a:rPr>
              <a:t>START:</a:t>
            </a:r>
            <a:r>
              <a:rPr lang="en" sz="2000"/>
              <a:t>  Controller asserts control by pulling SDA low while SCL is high.  SCL starts running.</a:t>
            </a:r>
            <a:endParaRPr b="1" sz="2000">
              <a:solidFill>
                <a:srgbClr val="CC0000"/>
              </a:solidFill>
            </a:endParaRPr>
          </a:p>
          <a:p>
            <a:pPr indent="0" lvl="0" marL="0" rtl="0" algn="l">
              <a:spcBef>
                <a:spcPts val="1000"/>
              </a:spcBef>
              <a:spcAft>
                <a:spcPts val="0"/>
              </a:spcAft>
              <a:buNone/>
            </a:pPr>
            <a:r>
              <a:rPr b="1" lang="en" sz="2000">
                <a:solidFill>
                  <a:srgbClr val="CC0000"/>
                </a:solidFill>
              </a:rPr>
              <a:t>Address/Data: </a:t>
            </a:r>
            <a:r>
              <a:rPr lang="en" sz="2000">
                <a:solidFill>
                  <a:schemeClr val="dk1"/>
                </a:solidFill>
              </a:rPr>
              <a:t>SDA changes only while SCL is low.</a:t>
            </a:r>
            <a:endParaRPr b="1" sz="2000">
              <a:solidFill>
                <a:srgbClr val="CC0000"/>
              </a:solidFill>
            </a:endParaRPr>
          </a:p>
          <a:p>
            <a:pPr indent="0" lvl="0" marL="0" rtl="0" algn="l">
              <a:spcBef>
                <a:spcPts val="1000"/>
              </a:spcBef>
              <a:spcAft>
                <a:spcPts val="1000"/>
              </a:spcAft>
              <a:buNone/>
            </a:pPr>
            <a:r>
              <a:rPr b="1" lang="en" sz="2000">
                <a:solidFill>
                  <a:srgbClr val="CC0000"/>
                </a:solidFill>
              </a:rPr>
              <a:t>STOP:</a:t>
            </a:r>
            <a:r>
              <a:rPr lang="en" sz="2000"/>
              <a:t>  Controller returns SDA to high while SCL is high, then both remain idle.</a:t>
            </a:r>
            <a:endParaRPr sz="2000"/>
          </a:p>
        </p:txBody>
      </p:sp>
      <p:pic>
        <p:nvPicPr>
          <p:cNvPr id="130" name="Google Shape;130;p23" title="Screenshot 2026-02-04 at 9.20.44 AM.png"/>
          <p:cNvPicPr preferRelativeResize="0"/>
          <p:nvPr/>
        </p:nvPicPr>
        <p:blipFill>
          <a:blip r:embed="rId4">
            <a:alphaModFix/>
          </a:blip>
          <a:stretch>
            <a:fillRect/>
          </a:stretch>
        </p:blipFill>
        <p:spPr>
          <a:xfrm>
            <a:off x="5851800" y="1548775"/>
            <a:ext cx="1149600" cy="782375"/>
          </a:xfrm>
          <a:prstGeom prst="rect">
            <a:avLst/>
          </a:prstGeom>
          <a:noFill/>
          <a:ln>
            <a:noFill/>
          </a:ln>
        </p:spPr>
      </p:pic>
      <p:pic>
        <p:nvPicPr>
          <p:cNvPr id="131" name="Google Shape;131;p23" title="Screenshot 2026-02-04 at 9.20.44 AM.png"/>
          <p:cNvPicPr preferRelativeResize="0"/>
          <p:nvPr/>
        </p:nvPicPr>
        <p:blipFill rotWithShape="1">
          <a:blip r:embed="rId4">
            <a:alphaModFix/>
          </a:blip>
          <a:srcRect b="0" l="28058" r="0" t="0"/>
          <a:stretch/>
        </p:blipFill>
        <p:spPr>
          <a:xfrm>
            <a:off x="6357750" y="1548775"/>
            <a:ext cx="827025" cy="782375"/>
          </a:xfrm>
          <a:prstGeom prst="rect">
            <a:avLst/>
          </a:prstGeom>
          <a:noFill/>
          <a:ln>
            <a:noFill/>
          </a:ln>
        </p:spPr>
      </p:pic>
      <p:sp>
        <p:nvSpPr>
          <p:cNvPr id="132" name="Google Shape;132;p23"/>
          <p:cNvSpPr txBox="1"/>
          <p:nvPr/>
        </p:nvSpPr>
        <p:spPr>
          <a:xfrm>
            <a:off x="6133175" y="1739625"/>
            <a:ext cx="868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ACK/NACK</a:t>
            </a:r>
            <a:endParaRPr sz="1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a:t>
            </a:r>
            <a:r>
              <a:rPr baseline="30000" lang="en"/>
              <a:t>2</a:t>
            </a:r>
            <a:r>
              <a:rPr lang="en"/>
              <a:t>C Programming on the STM32C031xx</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5"/>
          <p:cNvPicPr preferRelativeResize="0"/>
          <p:nvPr/>
        </p:nvPicPr>
        <p:blipFill>
          <a:blip r:embed="rId3">
            <a:alphaModFix/>
          </a:blip>
          <a:stretch>
            <a:fillRect/>
          </a:stretch>
        </p:blipFill>
        <p:spPr>
          <a:xfrm>
            <a:off x="421838" y="807350"/>
            <a:ext cx="8300321" cy="5981651"/>
          </a:xfrm>
          <a:prstGeom prst="rect">
            <a:avLst/>
          </a:prstGeom>
          <a:noFill/>
          <a:ln>
            <a:noFill/>
          </a:ln>
        </p:spPr>
      </p:pic>
      <p:sp>
        <p:nvSpPr>
          <p:cNvPr id="143" name="Google Shape;143;p25"/>
          <p:cNvSpPr txBox="1"/>
          <p:nvPr>
            <p:ph type="title"/>
          </p:nvPr>
        </p:nvSpPr>
        <p:spPr>
          <a:xfrm>
            <a:off x="311700" y="179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baseline="30000" lang="en"/>
              <a:t>2</a:t>
            </a:r>
            <a:r>
              <a:rPr lang="en"/>
              <a:t>C Pins on the Nucleo: Lots of options</a:t>
            </a:r>
            <a:endParaRPr/>
          </a:p>
        </p:txBody>
      </p:sp>
      <p:sp>
        <p:nvSpPr>
          <p:cNvPr id="144" name="Google Shape;144;p25"/>
          <p:cNvSpPr/>
          <p:nvPr/>
        </p:nvSpPr>
        <p:spPr>
          <a:xfrm>
            <a:off x="5944225" y="3063325"/>
            <a:ext cx="2279700" cy="5106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5"/>
          <p:cNvSpPr txBox="1"/>
          <p:nvPr/>
        </p:nvSpPr>
        <p:spPr>
          <a:xfrm>
            <a:off x="7009775" y="2124025"/>
            <a:ext cx="2043900" cy="6900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00FF"/>
                </a:solidFill>
              </a:rPr>
              <a:t>SCL = Serial Clock</a:t>
            </a:r>
            <a:endParaRPr sz="1200">
              <a:solidFill>
                <a:srgbClr val="FF00FF"/>
              </a:solidFill>
            </a:endParaRPr>
          </a:p>
          <a:p>
            <a:pPr indent="0" lvl="0" marL="0" rtl="0" algn="l">
              <a:spcBef>
                <a:spcPts val="0"/>
              </a:spcBef>
              <a:spcAft>
                <a:spcPts val="0"/>
              </a:spcAft>
              <a:buNone/>
            </a:pPr>
            <a:r>
              <a:rPr lang="en" sz="1200">
                <a:solidFill>
                  <a:srgbClr val="FF00FF"/>
                </a:solidFill>
              </a:rPr>
              <a:t>SDA = Serial Data</a:t>
            </a:r>
            <a:endParaRPr sz="1200">
              <a:solidFill>
                <a:srgbClr val="FF00FF"/>
              </a:solidFill>
            </a:endParaRPr>
          </a:p>
          <a:p>
            <a:pPr indent="0" lvl="0" marL="0" rtl="0" algn="l">
              <a:spcBef>
                <a:spcPts val="0"/>
              </a:spcBef>
              <a:spcAft>
                <a:spcPts val="0"/>
              </a:spcAft>
              <a:buNone/>
            </a:pPr>
            <a:r>
              <a:rPr lang="en" sz="1200">
                <a:solidFill>
                  <a:srgbClr val="FF00FF"/>
                </a:solidFill>
              </a:rPr>
              <a:t>Standard Arduino Choice</a:t>
            </a:r>
            <a:endParaRPr sz="1200">
              <a:solidFill>
                <a:srgbClr val="FF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Configuring Pins</a:t>
            </a:r>
            <a:endParaRPr/>
          </a:p>
        </p:txBody>
      </p:sp>
      <p:pic>
        <p:nvPicPr>
          <p:cNvPr id="151" name="Google Shape;151;p26"/>
          <p:cNvPicPr preferRelativeResize="0"/>
          <p:nvPr/>
        </p:nvPicPr>
        <p:blipFill rotWithShape="1">
          <a:blip r:embed="rId3">
            <a:alphaModFix/>
          </a:blip>
          <a:srcRect b="0" l="0" r="0" t="11715"/>
          <a:stretch/>
        </p:blipFill>
        <p:spPr>
          <a:xfrm>
            <a:off x="1415025" y="1531050"/>
            <a:ext cx="6151300" cy="2862000"/>
          </a:xfrm>
          <a:prstGeom prst="rect">
            <a:avLst/>
          </a:prstGeom>
          <a:noFill/>
          <a:ln>
            <a:noFill/>
          </a:ln>
        </p:spPr>
      </p:pic>
      <p:sp>
        <p:nvSpPr>
          <p:cNvPr id="152" name="Google Shape;152;p26"/>
          <p:cNvSpPr/>
          <p:nvPr/>
        </p:nvSpPr>
        <p:spPr>
          <a:xfrm>
            <a:off x="5960650" y="2174675"/>
            <a:ext cx="1063500" cy="8094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6"/>
          <p:cNvSpPr txBox="1"/>
          <p:nvPr/>
        </p:nvSpPr>
        <p:spPr>
          <a:xfrm>
            <a:off x="254850" y="4567175"/>
            <a:ext cx="8716800" cy="2036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Char char="●"/>
            </a:pPr>
            <a:r>
              <a:rPr lang="en" sz="1800">
                <a:solidFill>
                  <a:schemeClr val="dk2"/>
                </a:solidFill>
              </a:rPr>
              <a:t>An I</a:t>
            </a:r>
            <a:r>
              <a:rPr baseline="30000" lang="en" sz="1800">
                <a:solidFill>
                  <a:schemeClr val="dk2"/>
                </a:solidFill>
              </a:rPr>
              <a:t>2</a:t>
            </a:r>
            <a:r>
              <a:rPr lang="en" sz="1800">
                <a:solidFill>
                  <a:schemeClr val="dk2"/>
                </a:solidFill>
              </a:rPr>
              <a:t>C bus will not operate without pull-up resistors on both the clock and data lines; when there is no activity both lines must be in the high state.</a:t>
            </a:r>
            <a:endParaRPr sz="1800">
              <a:solidFill>
                <a:schemeClr val="dk2"/>
              </a:solidFill>
            </a:endParaRPr>
          </a:p>
          <a:p>
            <a:pPr indent="-342900" lvl="0" marL="457200" rtl="0" algn="l">
              <a:lnSpc>
                <a:spcPct val="115000"/>
              </a:lnSpc>
              <a:spcBef>
                <a:spcPts val="1000"/>
              </a:spcBef>
              <a:spcAft>
                <a:spcPts val="0"/>
              </a:spcAft>
              <a:buClr>
                <a:schemeClr val="dk2"/>
              </a:buClr>
              <a:buSzPts val="1800"/>
              <a:buChar char="●"/>
            </a:pPr>
            <a:r>
              <a:rPr lang="en" sz="1800">
                <a:solidFill>
                  <a:schemeClr val="dk2"/>
                </a:solidFill>
              </a:rPr>
              <a:t>Pull-up resistors are usually in the range of 5k𝛀 to 10k𝛀.</a:t>
            </a:r>
            <a:endParaRPr sz="1800">
              <a:solidFill>
                <a:schemeClr val="dk2"/>
              </a:solidFill>
            </a:endParaRPr>
          </a:p>
          <a:p>
            <a:pPr indent="-342900" lvl="0" marL="457200" rtl="0" algn="l">
              <a:lnSpc>
                <a:spcPct val="115000"/>
              </a:lnSpc>
              <a:spcBef>
                <a:spcPts val="1000"/>
              </a:spcBef>
              <a:spcAft>
                <a:spcPts val="1000"/>
              </a:spcAft>
              <a:buClr>
                <a:schemeClr val="dk2"/>
              </a:buClr>
              <a:buSzPts val="1800"/>
              <a:buChar char="●"/>
            </a:pPr>
            <a:r>
              <a:rPr lang="en" sz="1800">
                <a:solidFill>
                  <a:schemeClr val="dk2"/>
                </a:solidFill>
              </a:rPr>
              <a:t>Thankfully, many I</a:t>
            </a:r>
            <a:r>
              <a:rPr baseline="30000" lang="en" sz="1800">
                <a:solidFill>
                  <a:schemeClr val="dk2"/>
                </a:solidFill>
              </a:rPr>
              <a:t>2</a:t>
            </a:r>
            <a:r>
              <a:rPr lang="en" sz="1800">
                <a:solidFill>
                  <a:schemeClr val="dk2"/>
                </a:solidFill>
              </a:rPr>
              <a:t>C devices come with built-in pull-ups.  Always check the data sheet!</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3">
            <a:alphaModFix/>
          </a:blip>
          <a:srcRect b="0" l="62653" r="0" t="0"/>
          <a:stretch/>
        </p:blipFill>
        <p:spPr>
          <a:xfrm>
            <a:off x="5616174" y="876350"/>
            <a:ext cx="3099949" cy="5981651"/>
          </a:xfrm>
          <a:prstGeom prst="rect">
            <a:avLst/>
          </a:prstGeom>
          <a:noFill/>
          <a:ln>
            <a:noFill/>
          </a:ln>
        </p:spPr>
      </p:pic>
      <p:sp>
        <p:nvSpPr>
          <p:cNvPr id="159" name="Google Shape;159;p2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How to design an I</a:t>
            </a:r>
            <a:r>
              <a:rPr baseline="30000" lang="en">
                <a:solidFill>
                  <a:schemeClr val="dk2"/>
                </a:solidFill>
              </a:rPr>
              <a:t>2</a:t>
            </a:r>
            <a:r>
              <a:rPr lang="en">
                <a:solidFill>
                  <a:schemeClr val="dk2"/>
                </a:solidFill>
              </a:rPr>
              <a:t>C interface?</a:t>
            </a:r>
            <a:endParaRPr/>
          </a:p>
        </p:txBody>
      </p:sp>
      <p:pic>
        <p:nvPicPr>
          <p:cNvPr id="160" name="Google Shape;160;p27"/>
          <p:cNvPicPr preferRelativeResize="0"/>
          <p:nvPr/>
        </p:nvPicPr>
        <p:blipFill>
          <a:blip r:embed="rId4">
            <a:alphaModFix/>
          </a:blip>
          <a:stretch>
            <a:fillRect/>
          </a:stretch>
        </p:blipFill>
        <p:spPr>
          <a:xfrm>
            <a:off x="478700" y="1429117"/>
            <a:ext cx="2074105" cy="5196333"/>
          </a:xfrm>
          <a:prstGeom prst="rect">
            <a:avLst/>
          </a:prstGeom>
          <a:noFill/>
          <a:ln>
            <a:noFill/>
          </a:ln>
        </p:spPr>
      </p:pic>
      <p:sp>
        <p:nvSpPr>
          <p:cNvPr id="161" name="Google Shape;161;p27"/>
          <p:cNvSpPr txBox="1"/>
          <p:nvPr/>
        </p:nvSpPr>
        <p:spPr>
          <a:xfrm>
            <a:off x="2324200" y="2900325"/>
            <a:ext cx="2964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Low-level drivers manage basic read and write operations.</a:t>
            </a:r>
            <a:endParaRPr/>
          </a:p>
          <a:p>
            <a:pPr indent="0" lvl="0" marL="0" rtl="0" algn="l">
              <a:spcBef>
                <a:spcPts val="0"/>
              </a:spcBef>
              <a:spcAft>
                <a:spcPts val="0"/>
              </a:spcAft>
              <a:buNone/>
            </a:pPr>
            <a:r>
              <a:rPr lang="en"/>
              <a:t>Any device can use.</a:t>
            </a:r>
            <a:endParaRPr/>
          </a:p>
        </p:txBody>
      </p:sp>
      <p:sp>
        <p:nvSpPr>
          <p:cNvPr id="162" name="Google Shape;162;p27"/>
          <p:cNvSpPr txBox="1"/>
          <p:nvPr/>
        </p:nvSpPr>
        <p:spPr>
          <a:xfrm>
            <a:off x="2324200" y="1734275"/>
            <a:ext cx="296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Device drivers are device-specific, use the lower-level drivers.</a:t>
            </a:r>
            <a:endParaRPr/>
          </a:p>
        </p:txBody>
      </p:sp>
      <p:sp>
        <p:nvSpPr>
          <p:cNvPr id="163" name="Google Shape;163;p27"/>
          <p:cNvSpPr/>
          <p:nvPr/>
        </p:nvSpPr>
        <p:spPr>
          <a:xfrm>
            <a:off x="6002300" y="3177775"/>
            <a:ext cx="2327700" cy="4155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4" name="Google Shape;164;p27"/>
          <p:cNvCxnSpPr>
            <a:endCxn id="163" idx="1"/>
          </p:cNvCxnSpPr>
          <p:nvPr/>
        </p:nvCxnSpPr>
        <p:spPr>
          <a:xfrm flipH="1" rot="10800000">
            <a:off x="2294000" y="3385525"/>
            <a:ext cx="3708300" cy="2259000"/>
          </a:xfrm>
          <a:prstGeom prst="bentConnector3">
            <a:avLst>
              <a:gd fmla="val 50000" name="adj1"/>
            </a:avLst>
          </a:prstGeom>
          <a:noFill/>
          <a:ln cap="flat" cmpd="sng" w="9525">
            <a:solidFill>
              <a:srgbClr val="FF00FF"/>
            </a:solidFill>
            <a:prstDash val="solid"/>
            <a:round/>
            <a:headEnd len="med" w="med" type="stealth"/>
            <a:tailEnd len="med" w="med" type="stealth"/>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type="title"/>
          </p:nvPr>
        </p:nvSpPr>
        <p:spPr>
          <a:xfrm>
            <a:off x="311700" y="2674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How to design an I</a:t>
            </a:r>
            <a:r>
              <a:rPr baseline="30000" lang="en">
                <a:solidFill>
                  <a:schemeClr val="dk2"/>
                </a:solidFill>
              </a:rPr>
              <a:t>2</a:t>
            </a:r>
            <a:r>
              <a:rPr lang="en">
                <a:solidFill>
                  <a:schemeClr val="dk2"/>
                </a:solidFill>
              </a:rPr>
              <a:t>C interface?</a:t>
            </a:r>
            <a:endParaRPr/>
          </a:p>
        </p:txBody>
      </p:sp>
      <p:sp>
        <p:nvSpPr>
          <p:cNvPr id="170" name="Google Shape;170;p28"/>
          <p:cNvSpPr txBox="1"/>
          <p:nvPr/>
        </p:nvSpPr>
        <p:spPr>
          <a:xfrm>
            <a:off x="311700" y="1938450"/>
            <a:ext cx="7745400" cy="298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Based on how a transmission works, what low-level operations are needed?</a:t>
            </a:r>
            <a:endParaRPr sz="2000"/>
          </a:p>
          <a:p>
            <a:pPr indent="-355600" lvl="0" marL="457200" rtl="0" algn="l">
              <a:spcBef>
                <a:spcPts val="1000"/>
              </a:spcBef>
              <a:spcAft>
                <a:spcPts val="0"/>
              </a:spcAft>
              <a:buSzPts val="2000"/>
              <a:buChar char="●"/>
            </a:pPr>
            <a:r>
              <a:rPr lang="en" sz="2000"/>
              <a:t>Initialization (as always):  Bit rate, etc.</a:t>
            </a:r>
            <a:endParaRPr sz="2000"/>
          </a:p>
          <a:p>
            <a:pPr indent="-355600" lvl="0" marL="457200" rtl="0" algn="l">
              <a:spcBef>
                <a:spcPts val="1000"/>
              </a:spcBef>
              <a:spcAft>
                <a:spcPts val="0"/>
              </a:spcAft>
              <a:buSzPts val="2000"/>
              <a:buChar char="●"/>
            </a:pPr>
            <a:r>
              <a:rPr lang="en" sz="2000"/>
              <a:t>Transmit a byte, wait for completion</a:t>
            </a:r>
            <a:endParaRPr sz="2000"/>
          </a:p>
          <a:p>
            <a:pPr indent="-355600" lvl="0" marL="457200" rtl="0" algn="l">
              <a:spcBef>
                <a:spcPts val="1000"/>
              </a:spcBef>
              <a:spcAft>
                <a:spcPts val="0"/>
              </a:spcAft>
              <a:buSzPts val="2000"/>
              <a:buChar char="●"/>
            </a:pPr>
            <a:r>
              <a:rPr lang="en" sz="2000"/>
              <a:t>Transmit multiple bytes, wait for completion</a:t>
            </a:r>
            <a:endParaRPr sz="2000"/>
          </a:p>
          <a:p>
            <a:pPr indent="-355600" lvl="0" marL="457200" rtl="0" algn="l">
              <a:spcBef>
                <a:spcPts val="1000"/>
              </a:spcBef>
              <a:spcAft>
                <a:spcPts val="0"/>
              </a:spcAft>
              <a:buSzPts val="2000"/>
              <a:buChar char="●"/>
            </a:pPr>
            <a:r>
              <a:rPr lang="en" sz="2000"/>
              <a:t>Receive a byte, stop communication thereafter</a:t>
            </a:r>
            <a:endParaRPr sz="2000"/>
          </a:p>
          <a:p>
            <a:pPr indent="-355600" lvl="0" marL="457200" rtl="0" algn="l">
              <a:spcBef>
                <a:spcPts val="1000"/>
              </a:spcBef>
              <a:spcAft>
                <a:spcPts val="1000"/>
              </a:spcAft>
              <a:buSzPts val="2000"/>
              <a:buChar char="●"/>
            </a:pPr>
            <a:r>
              <a:rPr lang="en" sz="2000"/>
              <a:t>Receive multiple bytes, stop communication when done</a:t>
            </a:r>
            <a:endParaRPr sz="2000"/>
          </a:p>
        </p:txBody>
      </p:sp>
      <p:sp>
        <p:nvSpPr>
          <p:cNvPr id="171" name="Google Shape;171;p28"/>
          <p:cNvSpPr txBox="1"/>
          <p:nvPr/>
        </p:nvSpPr>
        <p:spPr>
          <a:xfrm>
            <a:off x="5714050" y="267450"/>
            <a:ext cx="3201600" cy="6288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000FF"/>
                </a:solidFill>
              </a:rPr>
              <a:t>D</a:t>
            </a:r>
            <a:r>
              <a:rPr lang="en" sz="1600">
                <a:solidFill>
                  <a:srgbClr val="0000FF"/>
                </a:solidFill>
              </a:rPr>
              <a:t>etailed explanation in Section 23.4.9 of the reference manual.</a:t>
            </a:r>
            <a:endParaRPr sz="1600">
              <a:solidFill>
                <a:srgbClr val="0000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5" name="Shape 175"/>
        <p:cNvGrpSpPr/>
        <p:nvPr/>
      </p:nvGrpSpPr>
      <p:grpSpPr>
        <a:xfrm>
          <a:off x="0" y="0"/>
          <a:ext cx="0" cy="0"/>
          <a:chOff x="0" y="0"/>
          <a:chExt cx="0" cy="0"/>
        </a:xfrm>
      </p:grpSpPr>
      <p:pic>
        <p:nvPicPr>
          <p:cNvPr id="176" name="Google Shape;176;p29"/>
          <p:cNvPicPr preferRelativeResize="0"/>
          <p:nvPr/>
        </p:nvPicPr>
        <p:blipFill rotWithShape="1">
          <a:blip r:embed="rId3">
            <a:alphaModFix/>
          </a:blip>
          <a:srcRect b="13315" l="0" r="0" t="5397"/>
          <a:stretch/>
        </p:blipFill>
        <p:spPr>
          <a:xfrm>
            <a:off x="237750" y="3352325"/>
            <a:ext cx="8668499" cy="3358549"/>
          </a:xfrm>
          <a:prstGeom prst="rect">
            <a:avLst/>
          </a:prstGeom>
          <a:noFill/>
          <a:ln>
            <a:noFill/>
          </a:ln>
        </p:spPr>
      </p:pic>
      <p:sp>
        <p:nvSpPr>
          <p:cNvPr id="177" name="Google Shape;177;p29"/>
          <p:cNvSpPr txBox="1"/>
          <p:nvPr>
            <p:ph type="title"/>
          </p:nvPr>
        </p:nvSpPr>
        <p:spPr>
          <a:xfrm>
            <a:off x="311700" y="2674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How to design an I</a:t>
            </a:r>
            <a:r>
              <a:rPr baseline="30000" lang="en">
                <a:solidFill>
                  <a:schemeClr val="dk2"/>
                </a:solidFill>
              </a:rPr>
              <a:t>2</a:t>
            </a:r>
            <a:r>
              <a:rPr lang="en">
                <a:solidFill>
                  <a:schemeClr val="dk2"/>
                </a:solidFill>
              </a:rPr>
              <a:t>C interface?</a:t>
            </a:r>
            <a:endParaRPr/>
          </a:p>
        </p:txBody>
      </p:sp>
      <p:sp>
        <p:nvSpPr>
          <p:cNvPr id="178" name="Google Shape;178;p29"/>
          <p:cNvSpPr txBox="1"/>
          <p:nvPr/>
        </p:nvSpPr>
        <p:spPr>
          <a:xfrm>
            <a:off x="382025" y="1030950"/>
            <a:ext cx="7745400" cy="230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Based on how a transmission works, what low-level operations are needed?</a:t>
            </a:r>
            <a:endParaRPr sz="1600"/>
          </a:p>
          <a:p>
            <a:pPr indent="-330200" lvl="0" marL="457200" rtl="0" algn="l">
              <a:spcBef>
                <a:spcPts val="1000"/>
              </a:spcBef>
              <a:spcAft>
                <a:spcPts val="0"/>
              </a:spcAft>
              <a:buSzPts val="1600"/>
              <a:buChar char="●"/>
            </a:pPr>
            <a:r>
              <a:rPr lang="en" sz="1600"/>
              <a:t>Initialization (as always):  Bit rate, etc.</a:t>
            </a:r>
            <a:endParaRPr sz="1600"/>
          </a:p>
          <a:p>
            <a:pPr indent="-330200" lvl="0" marL="457200" rtl="0" algn="l">
              <a:spcBef>
                <a:spcPts val="1000"/>
              </a:spcBef>
              <a:spcAft>
                <a:spcPts val="0"/>
              </a:spcAft>
              <a:buSzPts val="1600"/>
              <a:buChar char="●"/>
            </a:pPr>
            <a:r>
              <a:rPr lang="en" sz="1600"/>
              <a:t>Transmit a byte, wait for completion</a:t>
            </a:r>
            <a:endParaRPr sz="1600"/>
          </a:p>
          <a:p>
            <a:pPr indent="-330200" lvl="0" marL="457200" rtl="0" algn="l">
              <a:spcBef>
                <a:spcPts val="1000"/>
              </a:spcBef>
              <a:spcAft>
                <a:spcPts val="0"/>
              </a:spcAft>
              <a:buSzPts val="1600"/>
              <a:buChar char="●"/>
            </a:pPr>
            <a:r>
              <a:rPr lang="en" sz="1600"/>
              <a:t>Transmit multiple bytes, wait for completion</a:t>
            </a:r>
            <a:endParaRPr sz="1600"/>
          </a:p>
          <a:p>
            <a:pPr indent="-330200" lvl="0" marL="457200" rtl="0" algn="l">
              <a:spcBef>
                <a:spcPts val="1000"/>
              </a:spcBef>
              <a:spcAft>
                <a:spcPts val="0"/>
              </a:spcAft>
              <a:buSzPts val="1600"/>
              <a:buChar char="●"/>
            </a:pPr>
            <a:r>
              <a:rPr lang="en" sz="1600"/>
              <a:t>Receive a byte, stop communication thereafter</a:t>
            </a:r>
            <a:endParaRPr sz="1600"/>
          </a:p>
          <a:p>
            <a:pPr indent="-330200" lvl="0" marL="457200" rtl="0" algn="l">
              <a:spcBef>
                <a:spcPts val="1000"/>
              </a:spcBef>
              <a:spcAft>
                <a:spcPts val="1000"/>
              </a:spcAft>
              <a:buSzPts val="1600"/>
              <a:buChar char="●"/>
            </a:pPr>
            <a:r>
              <a:rPr lang="en" sz="1600"/>
              <a:t>Receive multiple bytes, stop communication when done</a:t>
            </a:r>
            <a:endParaRPr sz="1600"/>
          </a:p>
        </p:txBody>
      </p:sp>
      <p:sp>
        <p:nvSpPr>
          <p:cNvPr id="179" name="Google Shape;179;p29"/>
          <p:cNvSpPr/>
          <p:nvPr/>
        </p:nvSpPr>
        <p:spPr>
          <a:xfrm>
            <a:off x="2719875" y="4531650"/>
            <a:ext cx="879300" cy="2472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9"/>
          <p:cNvSpPr/>
          <p:nvPr/>
        </p:nvSpPr>
        <p:spPr>
          <a:xfrm>
            <a:off x="3856350" y="4531800"/>
            <a:ext cx="859200" cy="2472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9"/>
          <p:cNvSpPr/>
          <p:nvPr/>
        </p:nvSpPr>
        <p:spPr>
          <a:xfrm>
            <a:off x="2322100" y="4531650"/>
            <a:ext cx="259800" cy="2472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9"/>
          <p:cNvSpPr/>
          <p:nvPr/>
        </p:nvSpPr>
        <p:spPr>
          <a:xfrm>
            <a:off x="1387925" y="4531650"/>
            <a:ext cx="934200" cy="2472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9"/>
          <p:cNvSpPr txBox="1"/>
          <p:nvPr/>
        </p:nvSpPr>
        <p:spPr>
          <a:xfrm>
            <a:off x="5466900" y="4380738"/>
            <a:ext cx="18570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FF"/>
                </a:solidFill>
              </a:rPr>
              <a:t>Controller sends</a:t>
            </a:r>
            <a:endParaRPr>
              <a:solidFill>
                <a:srgbClr val="FF00FF"/>
              </a:solidFill>
            </a:endParaRPr>
          </a:p>
          <a:p>
            <a:pPr indent="0" lvl="0" marL="0" rtl="0" algn="l">
              <a:spcBef>
                <a:spcPts val="0"/>
              </a:spcBef>
              <a:spcAft>
                <a:spcPts val="0"/>
              </a:spcAft>
              <a:buNone/>
            </a:pPr>
            <a:r>
              <a:rPr lang="en">
                <a:solidFill>
                  <a:srgbClr val="0000FF"/>
                </a:solidFill>
              </a:rPr>
              <a:t>Controller receives</a:t>
            </a:r>
            <a:endParaRPr>
              <a:solidFill>
                <a:srgbClr val="0000FF"/>
              </a:solidFill>
            </a:endParaRPr>
          </a:p>
        </p:txBody>
      </p:sp>
      <p:sp>
        <p:nvSpPr>
          <p:cNvPr id="184" name="Google Shape;184;p29"/>
          <p:cNvSpPr txBox="1"/>
          <p:nvPr/>
        </p:nvSpPr>
        <p:spPr>
          <a:xfrm>
            <a:off x="5466900" y="1643575"/>
            <a:ext cx="3201600" cy="6288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000FF"/>
                </a:solidFill>
              </a:rPr>
              <a:t>Detailed explanation in Section 23.4.9 of the reference manual.</a:t>
            </a:r>
            <a:endParaRPr sz="1600">
              <a:solidFill>
                <a:srgbClr val="0000FF"/>
              </a:solidFill>
            </a:endParaRPr>
          </a:p>
        </p:txBody>
      </p:sp>
      <p:sp>
        <p:nvSpPr>
          <p:cNvPr id="185" name="Google Shape;185;p29"/>
          <p:cNvSpPr/>
          <p:nvPr/>
        </p:nvSpPr>
        <p:spPr>
          <a:xfrm>
            <a:off x="3599175" y="4531650"/>
            <a:ext cx="259800" cy="2472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9"/>
          <p:cNvSpPr/>
          <p:nvPr/>
        </p:nvSpPr>
        <p:spPr>
          <a:xfrm>
            <a:off x="4715600" y="4531650"/>
            <a:ext cx="332700" cy="2472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9"/>
          <p:cNvSpPr/>
          <p:nvPr/>
        </p:nvSpPr>
        <p:spPr>
          <a:xfrm>
            <a:off x="5065250" y="4531800"/>
            <a:ext cx="278100" cy="2472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9"/>
          <p:cNvSpPr/>
          <p:nvPr/>
        </p:nvSpPr>
        <p:spPr>
          <a:xfrm>
            <a:off x="453725" y="6368000"/>
            <a:ext cx="5453700" cy="342900"/>
          </a:xfrm>
          <a:prstGeom prst="rect">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9"/>
          <p:cNvSpPr txBox="1"/>
          <p:nvPr/>
        </p:nvSpPr>
        <p:spPr>
          <a:xfrm>
            <a:off x="6030575" y="6368000"/>
            <a:ext cx="9342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900FF"/>
                </a:solidFill>
              </a:rPr>
              <a:t>Set-up</a:t>
            </a:r>
            <a:endParaRPr>
              <a:solidFill>
                <a:srgbClr val="9900FF"/>
              </a:solidFill>
            </a:endParaRPr>
          </a:p>
        </p:txBody>
      </p:sp>
      <p:cxnSp>
        <p:nvCxnSpPr>
          <p:cNvPr id="190" name="Google Shape;190;p29"/>
          <p:cNvCxnSpPr>
            <a:endCxn id="191" idx="2"/>
          </p:cNvCxnSpPr>
          <p:nvPr/>
        </p:nvCxnSpPr>
        <p:spPr>
          <a:xfrm rot="10800000">
            <a:off x="1076175" y="4104600"/>
            <a:ext cx="448800" cy="426900"/>
          </a:xfrm>
          <a:prstGeom prst="straightConnector1">
            <a:avLst/>
          </a:prstGeom>
          <a:noFill/>
          <a:ln cap="flat" cmpd="sng" w="19050">
            <a:solidFill>
              <a:srgbClr val="FF00FF"/>
            </a:solidFill>
            <a:prstDash val="solid"/>
            <a:round/>
            <a:headEnd len="med" w="med" type="none"/>
            <a:tailEnd len="med" w="med" type="none"/>
          </a:ln>
        </p:spPr>
      </p:cxnSp>
      <p:sp>
        <p:nvSpPr>
          <p:cNvPr id="191" name="Google Shape;191;p29"/>
          <p:cNvSpPr txBox="1"/>
          <p:nvPr/>
        </p:nvSpPr>
        <p:spPr>
          <a:xfrm>
            <a:off x="764475" y="3761700"/>
            <a:ext cx="6234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FF"/>
                </a:solidFill>
              </a:rPr>
              <a:t>Start</a:t>
            </a:r>
            <a:endParaRPr>
              <a:solidFill>
                <a:srgbClr val="FF00FF"/>
              </a:solidFill>
            </a:endParaRPr>
          </a:p>
        </p:txBody>
      </p:sp>
      <p:cxnSp>
        <p:nvCxnSpPr>
          <p:cNvPr id="192" name="Google Shape;192;p29"/>
          <p:cNvCxnSpPr>
            <a:stCxn id="187" idx="0"/>
            <a:endCxn id="193" idx="2"/>
          </p:cNvCxnSpPr>
          <p:nvPr/>
        </p:nvCxnSpPr>
        <p:spPr>
          <a:xfrm rot="10800000">
            <a:off x="5204300" y="4104600"/>
            <a:ext cx="0" cy="427200"/>
          </a:xfrm>
          <a:prstGeom prst="straightConnector1">
            <a:avLst/>
          </a:prstGeom>
          <a:noFill/>
          <a:ln cap="flat" cmpd="sng" w="19050">
            <a:solidFill>
              <a:srgbClr val="FF00FF"/>
            </a:solidFill>
            <a:prstDash val="solid"/>
            <a:round/>
            <a:headEnd len="med" w="med" type="none"/>
            <a:tailEnd len="med" w="med" type="none"/>
          </a:ln>
        </p:spPr>
      </p:cxnSp>
      <p:sp>
        <p:nvSpPr>
          <p:cNvPr id="193" name="Google Shape;193;p29"/>
          <p:cNvSpPr txBox="1"/>
          <p:nvPr/>
        </p:nvSpPr>
        <p:spPr>
          <a:xfrm>
            <a:off x="4892600" y="3761700"/>
            <a:ext cx="6234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FF"/>
                </a:solidFill>
              </a:rPr>
              <a:t>Stop</a:t>
            </a:r>
            <a:endParaRPr>
              <a:solidFill>
                <a:srgbClr val="FF00FF"/>
              </a:solidFill>
            </a:endParaRPr>
          </a:p>
        </p:txBody>
      </p:sp>
      <p:cxnSp>
        <p:nvCxnSpPr>
          <p:cNvPr id="194" name="Google Shape;194;p29"/>
          <p:cNvCxnSpPr>
            <a:stCxn id="185" idx="0"/>
            <a:endCxn id="195" idx="2"/>
          </p:cNvCxnSpPr>
          <p:nvPr/>
        </p:nvCxnSpPr>
        <p:spPr>
          <a:xfrm flipH="1" rot="10800000">
            <a:off x="3729075" y="4104750"/>
            <a:ext cx="558300" cy="426900"/>
          </a:xfrm>
          <a:prstGeom prst="straightConnector1">
            <a:avLst/>
          </a:prstGeom>
          <a:noFill/>
          <a:ln cap="flat" cmpd="sng" w="19050">
            <a:solidFill>
              <a:srgbClr val="0000FF"/>
            </a:solidFill>
            <a:prstDash val="solid"/>
            <a:round/>
            <a:headEnd len="med" w="med" type="none"/>
            <a:tailEnd len="med" w="med" type="none"/>
          </a:ln>
        </p:spPr>
      </p:cxnSp>
      <p:sp>
        <p:nvSpPr>
          <p:cNvPr id="195" name="Google Shape;195;p29"/>
          <p:cNvSpPr txBox="1"/>
          <p:nvPr/>
        </p:nvSpPr>
        <p:spPr>
          <a:xfrm>
            <a:off x="3975575" y="3761700"/>
            <a:ext cx="6234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Ack</a:t>
            </a:r>
            <a:endParaRPr>
              <a:solidFill>
                <a:srgbClr val="0000FF"/>
              </a:solidFill>
            </a:endParaRPr>
          </a:p>
        </p:txBody>
      </p:sp>
      <p:cxnSp>
        <p:nvCxnSpPr>
          <p:cNvPr id="196" name="Google Shape;196;p29"/>
          <p:cNvCxnSpPr>
            <a:stCxn id="186" idx="0"/>
            <a:endCxn id="195" idx="2"/>
          </p:cNvCxnSpPr>
          <p:nvPr/>
        </p:nvCxnSpPr>
        <p:spPr>
          <a:xfrm rot="10800000">
            <a:off x="4287350" y="4104750"/>
            <a:ext cx="594600" cy="426900"/>
          </a:xfrm>
          <a:prstGeom prst="straightConnector1">
            <a:avLst/>
          </a:prstGeom>
          <a:noFill/>
          <a:ln cap="flat" cmpd="sng" w="19050">
            <a:solidFill>
              <a:srgbClr val="0000FF"/>
            </a:solidFill>
            <a:prstDash val="solid"/>
            <a:round/>
            <a:headEnd len="med" w="med" type="none"/>
            <a:tailEnd len="med" w="med" type="none"/>
          </a:ln>
        </p:spPr>
      </p:cxnSp>
      <p:cxnSp>
        <p:nvCxnSpPr>
          <p:cNvPr id="197" name="Google Shape;197;p29"/>
          <p:cNvCxnSpPr>
            <a:stCxn id="181" idx="0"/>
            <a:endCxn id="195" idx="2"/>
          </p:cNvCxnSpPr>
          <p:nvPr/>
        </p:nvCxnSpPr>
        <p:spPr>
          <a:xfrm flipH="1" rot="10800000">
            <a:off x="2452000" y="4104750"/>
            <a:ext cx="1835400" cy="426900"/>
          </a:xfrm>
          <a:prstGeom prst="straightConnector1">
            <a:avLst/>
          </a:prstGeom>
          <a:noFill/>
          <a:ln cap="flat" cmpd="sng" w="9525">
            <a:solidFill>
              <a:srgbClr val="0000FF"/>
            </a:solidFill>
            <a:prstDash val="dot"/>
            <a:round/>
            <a:headEnd len="med" w="med" type="none"/>
            <a:tailEnd len="med" w="med" type="none"/>
          </a:ln>
        </p:spPr>
      </p:cxnSp>
      <p:sp>
        <p:nvSpPr>
          <p:cNvPr id="198" name="Google Shape;198;p29"/>
          <p:cNvSpPr/>
          <p:nvPr/>
        </p:nvSpPr>
        <p:spPr>
          <a:xfrm>
            <a:off x="2452000" y="4807400"/>
            <a:ext cx="778800" cy="4272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9"/>
          <p:cNvSpPr/>
          <p:nvPr/>
        </p:nvSpPr>
        <p:spPr>
          <a:xfrm>
            <a:off x="7323900" y="3588200"/>
            <a:ext cx="1435200" cy="10428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9"/>
          <p:cNvSpPr/>
          <p:nvPr/>
        </p:nvSpPr>
        <p:spPr>
          <a:xfrm>
            <a:off x="991350" y="5350600"/>
            <a:ext cx="396600" cy="342900"/>
          </a:xfrm>
          <a:prstGeom prst="rect">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9"/>
          <p:cNvSpPr txBox="1"/>
          <p:nvPr/>
        </p:nvSpPr>
        <p:spPr>
          <a:xfrm>
            <a:off x="5466900" y="5328050"/>
            <a:ext cx="26802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8761D"/>
                </a:solidFill>
              </a:rPr>
              <a:t>Transmit data register empty</a:t>
            </a:r>
            <a:endParaRPr>
              <a:solidFill>
                <a:srgbClr val="38761D"/>
              </a:solidFill>
            </a:endParaRPr>
          </a:p>
        </p:txBody>
      </p:sp>
      <p:sp>
        <p:nvSpPr>
          <p:cNvPr id="202" name="Google Shape;202;p29"/>
          <p:cNvSpPr/>
          <p:nvPr/>
        </p:nvSpPr>
        <p:spPr>
          <a:xfrm>
            <a:off x="2253700" y="3899575"/>
            <a:ext cx="396600" cy="342900"/>
          </a:xfrm>
          <a:prstGeom prst="rect">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29"/>
          <p:cNvSpPr txBox="1"/>
          <p:nvPr/>
        </p:nvSpPr>
        <p:spPr>
          <a:xfrm>
            <a:off x="5466900" y="3938150"/>
            <a:ext cx="2409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8761D"/>
                </a:solidFill>
              </a:rPr>
              <a:t>Transmit interrupt status bit</a:t>
            </a:r>
            <a:endParaRPr>
              <a:solidFill>
                <a:srgbClr val="38761D"/>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type="title"/>
          </p:nvPr>
        </p:nvSpPr>
        <p:spPr>
          <a:xfrm>
            <a:off x="7153875" y="136200"/>
            <a:ext cx="18105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baseline="30000" lang="en"/>
              <a:t>2</a:t>
            </a:r>
            <a:r>
              <a:rPr lang="en"/>
              <a:t>C library</a:t>
            </a:r>
            <a:endParaRPr/>
          </a:p>
        </p:txBody>
      </p:sp>
      <p:sp>
        <p:nvSpPr>
          <p:cNvPr id="209" name="Google Shape;209;p30"/>
          <p:cNvSpPr txBox="1"/>
          <p:nvPr>
            <p:ph idx="1" type="body"/>
          </p:nvPr>
        </p:nvSpPr>
        <p:spPr>
          <a:xfrm>
            <a:off x="387900" y="136200"/>
            <a:ext cx="8520600" cy="643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Desired functions:</a:t>
            </a:r>
            <a:endParaRPr sz="2000"/>
          </a:p>
          <a:p>
            <a:pPr indent="0" lvl="0" marL="25400" rtl="0" algn="l">
              <a:spcBef>
                <a:spcPts val="1600"/>
              </a:spcBef>
              <a:spcAft>
                <a:spcPts val="0"/>
              </a:spcAft>
              <a:buNone/>
            </a:pPr>
            <a:r>
              <a:t/>
            </a:r>
            <a:endParaRPr sz="16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None/>
            </a:pPr>
            <a:r>
              <a:rPr lang="en" sz="1600">
                <a:solidFill>
                  <a:srgbClr val="3F7F5F"/>
                </a:solidFill>
                <a:highlight>
                  <a:schemeClr val="lt1"/>
                </a:highlight>
                <a:latin typeface="Courier New"/>
                <a:ea typeface="Courier New"/>
                <a:cs typeface="Courier New"/>
                <a:sym typeface="Courier New"/>
              </a:rPr>
              <a:t>/* Configure I2C pins, initialize bus speed */</a:t>
            </a:r>
            <a:endParaRPr sz="16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None/>
            </a:pP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 i2c1_init(</a:t>
            </a: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600">
                <a:solidFill>
                  <a:srgbClr val="3F7F5F"/>
                </a:solidFill>
                <a:highlight>
                  <a:schemeClr val="lt1"/>
                </a:highlight>
                <a:latin typeface="Courier New"/>
                <a:ea typeface="Courier New"/>
                <a:cs typeface="Courier New"/>
                <a:sym typeface="Courier New"/>
              </a:rPr>
              <a:t>/* Write one byte to target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 i2c1_byteWrite(</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deviceAddr,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data);</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600">
                <a:solidFill>
                  <a:srgbClr val="3F7F5F"/>
                </a:solidFill>
                <a:highlight>
                  <a:schemeClr val="lt1"/>
                </a:highlight>
                <a:latin typeface="Courier New"/>
                <a:ea typeface="Courier New"/>
                <a:cs typeface="Courier New"/>
                <a:sym typeface="Courier New"/>
              </a:rPr>
              <a:t>/* Read one byte from a target */</a:t>
            </a:r>
            <a:endParaRPr b="1" sz="16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 i2c1_byteRead(</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deviceAddr,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*data);</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sz="16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600">
                <a:solidFill>
                  <a:srgbClr val="3F7F5F"/>
                </a:solidFill>
                <a:highlight>
                  <a:schemeClr val="lt1"/>
                </a:highlight>
                <a:latin typeface="Courier New"/>
                <a:ea typeface="Courier New"/>
                <a:cs typeface="Courier New"/>
                <a:sym typeface="Courier New"/>
              </a:rPr>
              <a:t>/* Write one or more bytes to a memory location within target */</a:t>
            </a:r>
            <a:endParaRPr b="1" sz="16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 i2c1_memWrite(</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deviceAddr,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registerAddr,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005032"/>
                </a:solidFill>
                <a:highlight>
                  <a:srgbClr val="FFFFFF"/>
                </a:highlight>
                <a:latin typeface="Courier New"/>
                <a:ea typeface="Courier New"/>
                <a:cs typeface="Courier New"/>
                <a:sym typeface="Courier New"/>
              </a:rPr>
              <a:t>                   uint8_t</a:t>
            </a:r>
            <a:r>
              <a:rPr b="1" lang="en" sz="1600">
                <a:solidFill>
                  <a:schemeClr val="dk1"/>
                </a:solidFill>
                <a:highlight>
                  <a:srgbClr val="FFFFFF"/>
                </a:highlight>
                <a:latin typeface="Courier New"/>
                <a:ea typeface="Courier New"/>
                <a:cs typeface="Courier New"/>
                <a:sym typeface="Courier New"/>
              </a:rPr>
              <a:t> nbytes,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*data);</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600">
                <a:solidFill>
                  <a:srgbClr val="3F7F5F"/>
                </a:solidFill>
                <a:highlight>
                  <a:schemeClr val="lt1"/>
                </a:highlight>
                <a:latin typeface="Courier New"/>
                <a:ea typeface="Courier New"/>
                <a:cs typeface="Courier New"/>
                <a:sym typeface="Courier New"/>
              </a:rPr>
              <a:t>/* Read one or more bytes from a memory location within target */</a:t>
            </a:r>
            <a:endParaRPr b="1" sz="16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 i2c1_memRead(</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deviceAddr,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registerAddr,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005032"/>
                </a:solidFill>
                <a:highlight>
                  <a:srgbClr val="FFFFFF"/>
                </a:highlight>
                <a:latin typeface="Courier New"/>
                <a:ea typeface="Courier New"/>
                <a:cs typeface="Courier New"/>
                <a:sym typeface="Courier New"/>
              </a:rPr>
              <a:t>                  uint8_t</a:t>
            </a:r>
            <a:r>
              <a:rPr b="1" lang="en" sz="1600">
                <a:solidFill>
                  <a:schemeClr val="dk1"/>
                </a:solidFill>
                <a:highlight>
                  <a:srgbClr val="FFFFFF"/>
                </a:highlight>
                <a:latin typeface="Courier New"/>
                <a:ea typeface="Courier New"/>
                <a:cs typeface="Courier New"/>
                <a:sym typeface="Courier New"/>
              </a:rPr>
              <a:t> nbytes,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*data);</a:t>
            </a:r>
            <a:endParaRPr b="1" sz="16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6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1"/>
          <p:cNvPicPr preferRelativeResize="0"/>
          <p:nvPr/>
        </p:nvPicPr>
        <p:blipFill>
          <a:blip r:embed="rId3">
            <a:alphaModFix/>
          </a:blip>
          <a:stretch>
            <a:fillRect/>
          </a:stretch>
        </p:blipFill>
        <p:spPr>
          <a:xfrm>
            <a:off x="2327025" y="58177"/>
            <a:ext cx="6649774" cy="6518450"/>
          </a:xfrm>
          <a:prstGeom prst="rect">
            <a:avLst/>
          </a:prstGeom>
          <a:noFill/>
          <a:ln>
            <a:noFill/>
          </a:ln>
        </p:spPr>
      </p:pic>
      <p:sp>
        <p:nvSpPr>
          <p:cNvPr id="215" name="Google Shape;215;p31"/>
          <p:cNvSpPr txBox="1"/>
          <p:nvPr>
            <p:ph type="title"/>
          </p:nvPr>
        </p:nvSpPr>
        <p:spPr>
          <a:xfrm>
            <a:off x="120900" y="348950"/>
            <a:ext cx="2123700" cy="8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STM32C0xx</a:t>
            </a:r>
            <a:r>
              <a:rPr lang="en" sz="2500"/>
              <a:t> I2C hardware</a:t>
            </a:r>
            <a:endParaRPr sz="2500"/>
          </a:p>
        </p:txBody>
      </p:sp>
      <p:sp>
        <p:nvSpPr>
          <p:cNvPr id="216" name="Google Shape;216;p31"/>
          <p:cNvSpPr txBox="1"/>
          <p:nvPr/>
        </p:nvSpPr>
        <p:spPr>
          <a:xfrm>
            <a:off x="7022925" y="2603075"/>
            <a:ext cx="1692000" cy="47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SCL and SDA pins</a:t>
            </a:r>
            <a:endParaRPr i="1">
              <a:solidFill>
                <a:srgbClr val="0000FF"/>
              </a:solidFill>
            </a:endParaRPr>
          </a:p>
        </p:txBody>
      </p:sp>
      <p:sp>
        <p:nvSpPr>
          <p:cNvPr id="217" name="Google Shape;217;p31"/>
          <p:cNvSpPr txBox="1"/>
          <p:nvPr/>
        </p:nvSpPr>
        <p:spPr>
          <a:xfrm>
            <a:off x="2591900" y="2503750"/>
            <a:ext cx="1692000" cy="1278600"/>
          </a:xfrm>
          <a:prstGeom prst="rect">
            <a:avLst/>
          </a:prstGeom>
          <a:solidFill>
            <a:srgbClr val="FFFFFF">
              <a:alpha val="80000"/>
            </a:srgbClr>
          </a:solid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a:solidFill>
                  <a:srgbClr val="CC0000"/>
                </a:solidFill>
              </a:rPr>
              <a:t>Address match is a peripheral function, not used when MCU is bus controller.</a:t>
            </a:r>
            <a:endParaRPr i="1">
              <a:solidFill>
                <a:srgbClr val="CC0000"/>
              </a:solidFill>
            </a:endParaRPr>
          </a:p>
        </p:txBody>
      </p:sp>
      <p:cxnSp>
        <p:nvCxnSpPr>
          <p:cNvPr id="218" name="Google Shape;218;p31"/>
          <p:cNvCxnSpPr/>
          <p:nvPr/>
        </p:nvCxnSpPr>
        <p:spPr>
          <a:xfrm>
            <a:off x="4476925" y="2603075"/>
            <a:ext cx="640800" cy="787200"/>
          </a:xfrm>
          <a:prstGeom prst="straightConnector1">
            <a:avLst/>
          </a:prstGeom>
          <a:noFill/>
          <a:ln cap="flat" cmpd="sng" w="19050">
            <a:solidFill>
              <a:srgbClr val="CC0000"/>
            </a:solidFill>
            <a:prstDash val="solid"/>
            <a:round/>
            <a:headEnd len="med" w="med" type="none"/>
            <a:tailEnd len="med" w="med" type="none"/>
          </a:ln>
        </p:spPr>
      </p:cxnSp>
      <p:cxnSp>
        <p:nvCxnSpPr>
          <p:cNvPr id="219" name="Google Shape;219;p31"/>
          <p:cNvCxnSpPr/>
          <p:nvPr/>
        </p:nvCxnSpPr>
        <p:spPr>
          <a:xfrm flipH="1">
            <a:off x="4477025" y="2603075"/>
            <a:ext cx="640800" cy="787200"/>
          </a:xfrm>
          <a:prstGeom prst="straightConnector1">
            <a:avLst/>
          </a:prstGeom>
          <a:noFill/>
          <a:ln cap="flat" cmpd="sng" w="19050">
            <a:solidFill>
              <a:srgbClr val="CC0000"/>
            </a:solidFill>
            <a:prstDash val="solid"/>
            <a:round/>
            <a:headEnd len="med" w="med" type="none"/>
            <a:tailEnd len="med" w="med" type="none"/>
          </a:ln>
        </p:spPr>
      </p:cxnSp>
      <p:sp>
        <p:nvSpPr>
          <p:cNvPr id="220" name="Google Shape;220;p31"/>
          <p:cNvSpPr/>
          <p:nvPr/>
        </p:nvSpPr>
        <p:spPr>
          <a:xfrm>
            <a:off x="5310950" y="1412425"/>
            <a:ext cx="800700" cy="4731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1"/>
          <p:cNvSpPr/>
          <p:nvPr/>
        </p:nvSpPr>
        <p:spPr>
          <a:xfrm>
            <a:off x="5310950" y="3086625"/>
            <a:ext cx="800700" cy="5469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1"/>
          <p:cNvSpPr/>
          <p:nvPr/>
        </p:nvSpPr>
        <p:spPr>
          <a:xfrm>
            <a:off x="7890375" y="1742450"/>
            <a:ext cx="937200" cy="4008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1"/>
          <p:cNvSpPr/>
          <p:nvPr/>
        </p:nvSpPr>
        <p:spPr>
          <a:xfrm>
            <a:off x="7890375" y="3532675"/>
            <a:ext cx="937200" cy="4008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1"/>
          <p:cNvSpPr txBox="1"/>
          <p:nvPr/>
        </p:nvSpPr>
        <p:spPr>
          <a:xfrm>
            <a:off x="120900" y="3532675"/>
            <a:ext cx="2471100" cy="29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Relevant Registers:</a:t>
            </a:r>
            <a:endParaRPr i="1">
              <a:solidFill>
                <a:srgbClr val="0000FF"/>
              </a:solidFill>
            </a:endParaRPr>
          </a:p>
          <a:p>
            <a:pPr indent="0" lvl="0" marL="0" rtl="0" algn="l">
              <a:spcBef>
                <a:spcPts val="1000"/>
              </a:spcBef>
              <a:spcAft>
                <a:spcPts val="0"/>
              </a:spcAft>
              <a:buNone/>
            </a:pPr>
            <a:r>
              <a:rPr i="1" lang="en">
                <a:solidFill>
                  <a:srgbClr val="0000FF"/>
                </a:solidFill>
              </a:rPr>
              <a:t>CR1: </a:t>
            </a:r>
            <a:r>
              <a:rPr i="1" lang="en" sz="1100">
                <a:solidFill>
                  <a:srgbClr val="0000FF"/>
                </a:solidFill>
              </a:rPr>
              <a:t>control register 1</a:t>
            </a:r>
            <a:endParaRPr i="1" sz="1100">
              <a:solidFill>
                <a:srgbClr val="0000FF"/>
              </a:solidFill>
            </a:endParaRPr>
          </a:p>
          <a:p>
            <a:pPr indent="0" lvl="0" marL="0" rtl="0" algn="l">
              <a:spcBef>
                <a:spcPts val="1000"/>
              </a:spcBef>
              <a:spcAft>
                <a:spcPts val="0"/>
              </a:spcAft>
              <a:buNone/>
            </a:pPr>
            <a:r>
              <a:rPr i="1" lang="en">
                <a:solidFill>
                  <a:srgbClr val="0000FF"/>
                </a:solidFill>
              </a:rPr>
              <a:t>CR2</a:t>
            </a:r>
            <a:r>
              <a:rPr i="1" lang="en">
                <a:solidFill>
                  <a:srgbClr val="0000FF"/>
                </a:solidFill>
              </a:rPr>
              <a:t>: </a:t>
            </a:r>
            <a:r>
              <a:rPr i="1" lang="en" sz="1100">
                <a:solidFill>
                  <a:srgbClr val="0000FF"/>
                </a:solidFill>
              </a:rPr>
              <a:t>control register 2</a:t>
            </a:r>
            <a:endParaRPr i="1">
              <a:solidFill>
                <a:srgbClr val="0000FF"/>
              </a:solidFill>
            </a:endParaRPr>
          </a:p>
          <a:p>
            <a:pPr indent="0" lvl="0" marL="0" rtl="0" algn="l">
              <a:spcBef>
                <a:spcPts val="1000"/>
              </a:spcBef>
              <a:spcAft>
                <a:spcPts val="0"/>
              </a:spcAft>
              <a:buNone/>
            </a:pPr>
            <a:r>
              <a:rPr i="1" lang="en">
                <a:solidFill>
                  <a:srgbClr val="0000FF"/>
                </a:solidFill>
              </a:rPr>
              <a:t>TIMINGR</a:t>
            </a:r>
            <a:r>
              <a:rPr i="1" lang="en">
                <a:solidFill>
                  <a:srgbClr val="0000FF"/>
                </a:solidFill>
              </a:rPr>
              <a:t>: </a:t>
            </a:r>
            <a:r>
              <a:rPr i="1" lang="en" sz="1100">
                <a:solidFill>
                  <a:srgbClr val="0000FF"/>
                </a:solidFill>
              </a:rPr>
              <a:t>timing register</a:t>
            </a:r>
            <a:endParaRPr i="1">
              <a:solidFill>
                <a:srgbClr val="0000FF"/>
              </a:solidFill>
            </a:endParaRPr>
          </a:p>
          <a:p>
            <a:pPr indent="0" lvl="0" marL="0" rtl="0" algn="l">
              <a:spcBef>
                <a:spcPts val="1000"/>
              </a:spcBef>
              <a:spcAft>
                <a:spcPts val="0"/>
              </a:spcAft>
              <a:buNone/>
            </a:pPr>
            <a:r>
              <a:rPr i="1" lang="en">
                <a:solidFill>
                  <a:srgbClr val="0000FF"/>
                </a:solidFill>
              </a:rPr>
              <a:t>ISR</a:t>
            </a:r>
            <a:r>
              <a:rPr i="1" lang="en">
                <a:solidFill>
                  <a:srgbClr val="0000FF"/>
                </a:solidFill>
              </a:rPr>
              <a:t>: </a:t>
            </a:r>
            <a:r>
              <a:rPr i="1" lang="en" sz="1100">
                <a:solidFill>
                  <a:srgbClr val="0000FF"/>
                </a:solidFill>
              </a:rPr>
              <a:t>interrupt and status register</a:t>
            </a:r>
            <a:endParaRPr i="1">
              <a:solidFill>
                <a:srgbClr val="0000FF"/>
              </a:solidFill>
            </a:endParaRPr>
          </a:p>
          <a:p>
            <a:pPr indent="0" lvl="0" marL="0" rtl="0" algn="l">
              <a:spcBef>
                <a:spcPts val="1000"/>
              </a:spcBef>
              <a:spcAft>
                <a:spcPts val="0"/>
              </a:spcAft>
              <a:buNone/>
            </a:pPr>
            <a:r>
              <a:rPr i="1" lang="en">
                <a:solidFill>
                  <a:srgbClr val="0000FF"/>
                </a:solidFill>
              </a:rPr>
              <a:t>TXDR</a:t>
            </a:r>
            <a:r>
              <a:rPr i="1" lang="en">
                <a:solidFill>
                  <a:srgbClr val="0000FF"/>
                </a:solidFill>
              </a:rPr>
              <a:t>: </a:t>
            </a:r>
            <a:r>
              <a:rPr i="1" lang="en" sz="1100">
                <a:solidFill>
                  <a:srgbClr val="0000FF"/>
                </a:solidFill>
              </a:rPr>
              <a:t>transmit data register</a:t>
            </a:r>
            <a:endParaRPr i="1">
              <a:solidFill>
                <a:srgbClr val="0000FF"/>
              </a:solidFill>
            </a:endParaRPr>
          </a:p>
          <a:p>
            <a:pPr indent="0" lvl="0" marL="0" rtl="0" algn="l">
              <a:spcBef>
                <a:spcPts val="1000"/>
              </a:spcBef>
              <a:spcAft>
                <a:spcPts val="1000"/>
              </a:spcAft>
              <a:buNone/>
            </a:pPr>
            <a:r>
              <a:rPr i="1" lang="en">
                <a:solidFill>
                  <a:srgbClr val="0000FF"/>
                </a:solidFill>
              </a:rPr>
              <a:t>RXDR</a:t>
            </a:r>
            <a:r>
              <a:rPr i="1" lang="en">
                <a:solidFill>
                  <a:srgbClr val="0000FF"/>
                </a:solidFill>
              </a:rPr>
              <a:t>: </a:t>
            </a:r>
            <a:r>
              <a:rPr i="1" lang="en" sz="1100">
                <a:solidFill>
                  <a:srgbClr val="0000FF"/>
                </a:solidFill>
              </a:rPr>
              <a:t>receive data register</a:t>
            </a:r>
            <a:endParaRPr i="1">
              <a:solidFill>
                <a:srgbClr val="0000FF"/>
              </a:solidFill>
            </a:endParaRPr>
          </a:p>
        </p:txBody>
      </p:sp>
      <p:sp>
        <p:nvSpPr>
          <p:cNvPr id="225" name="Google Shape;225;p31"/>
          <p:cNvSpPr/>
          <p:nvPr/>
        </p:nvSpPr>
        <p:spPr>
          <a:xfrm>
            <a:off x="4328825" y="5495700"/>
            <a:ext cx="2417700" cy="2835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1"/>
          <p:cNvSpPr txBox="1"/>
          <p:nvPr/>
        </p:nvSpPr>
        <p:spPr>
          <a:xfrm>
            <a:off x="7022925" y="4389975"/>
            <a:ext cx="1692000" cy="1278600"/>
          </a:xfrm>
          <a:prstGeom prst="rect">
            <a:avLst/>
          </a:prstGeom>
          <a:solidFill>
            <a:srgbClr val="FFFFFF">
              <a:alpha val="80000"/>
            </a:srgbClr>
          </a:solid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a:solidFill>
                  <a:srgbClr val="CC0000"/>
                </a:solidFill>
              </a:rPr>
              <a:t>Only relevant if using System Management Bus (SMBus) - we are not.</a:t>
            </a:r>
            <a:endParaRPr i="1">
              <a:solidFill>
                <a:srgbClr val="CC0000"/>
              </a:solidFill>
            </a:endParaRPr>
          </a:p>
        </p:txBody>
      </p:sp>
      <p:cxnSp>
        <p:nvCxnSpPr>
          <p:cNvPr id="227" name="Google Shape;227;p31"/>
          <p:cNvCxnSpPr/>
          <p:nvPr/>
        </p:nvCxnSpPr>
        <p:spPr>
          <a:xfrm>
            <a:off x="5320225" y="4030475"/>
            <a:ext cx="793800" cy="1178100"/>
          </a:xfrm>
          <a:prstGeom prst="straightConnector1">
            <a:avLst/>
          </a:prstGeom>
          <a:noFill/>
          <a:ln cap="flat" cmpd="sng" w="19050">
            <a:solidFill>
              <a:srgbClr val="CC0000"/>
            </a:solidFill>
            <a:prstDash val="solid"/>
            <a:round/>
            <a:headEnd len="med" w="med" type="none"/>
            <a:tailEnd len="med" w="med" type="none"/>
          </a:ln>
        </p:spPr>
      </p:cxnSp>
      <p:cxnSp>
        <p:nvCxnSpPr>
          <p:cNvPr id="228" name="Google Shape;228;p31"/>
          <p:cNvCxnSpPr/>
          <p:nvPr/>
        </p:nvCxnSpPr>
        <p:spPr>
          <a:xfrm flipH="1">
            <a:off x="5320300" y="4092475"/>
            <a:ext cx="781200" cy="1128600"/>
          </a:xfrm>
          <a:prstGeom prst="straightConnector1">
            <a:avLst/>
          </a:prstGeom>
          <a:noFill/>
          <a:ln cap="flat" cmpd="sng" w="19050">
            <a:solidFill>
              <a:srgbClr val="CC0000"/>
            </a:solidFill>
            <a:prstDash val="solid"/>
            <a:round/>
            <a:headEnd len="med" w="med" type="none"/>
            <a:tailEnd len="med" w="med" type="none"/>
          </a:ln>
        </p:spPr>
      </p:cxnSp>
      <p:cxnSp>
        <p:nvCxnSpPr>
          <p:cNvPr id="229" name="Google Shape;229;p31"/>
          <p:cNvCxnSpPr/>
          <p:nvPr/>
        </p:nvCxnSpPr>
        <p:spPr>
          <a:xfrm>
            <a:off x="5332975" y="2143250"/>
            <a:ext cx="768600" cy="641700"/>
          </a:xfrm>
          <a:prstGeom prst="straightConnector1">
            <a:avLst/>
          </a:prstGeom>
          <a:noFill/>
          <a:ln cap="flat" cmpd="sng" w="19050">
            <a:solidFill>
              <a:srgbClr val="CC0000"/>
            </a:solidFill>
            <a:prstDash val="solid"/>
            <a:round/>
            <a:headEnd len="med" w="med" type="none"/>
            <a:tailEnd len="med" w="med" type="none"/>
          </a:ln>
        </p:spPr>
      </p:cxnSp>
      <p:cxnSp>
        <p:nvCxnSpPr>
          <p:cNvPr id="230" name="Google Shape;230;p31"/>
          <p:cNvCxnSpPr/>
          <p:nvPr/>
        </p:nvCxnSpPr>
        <p:spPr>
          <a:xfrm flipH="1">
            <a:off x="5332900" y="2143250"/>
            <a:ext cx="768600" cy="641700"/>
          </a:xfrm>
          <a:prstGeom prst="straightConnector1">
            <a:avLst/>
          </a:prstGeom>
          <a:noFill/>
          <a:ln cap="flat" cmpd="sng" w="19050">
            <a:solidFill>
              <a:srgbClr val="CC0000"/>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I2C Initialization</a:t>
            </a:r>
            <a:endParaRPr/>
          </a:p>
        </p:txBody>
      </p:sp>
      <p:sp>
        <p:nvSpPr>
          <p:cNvPr id="236" name="Google Shape;236;p32"/>
          <p:cNvSpPr txBox="1"/>
          <p:nvPr>
            <p:ph idx="1" type="body"/>
          </p:nvPr>
        </p:nvSpPr>
        <p:spPr>
          <a:xfrm>
            <a:off x="150575" y="1519425"/>
            <a:ext cx="8681700" cy="48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Initialization is quite </a:t>
            </a:r>
            <a:r>
              <a:rPr lang="en" sz="2300"/>
              <a:t>straightforward</a:t>
            </a:r>
            <a:r>
              <a:rPr lang="en" sz="2300"/>
              <a:t>:</a:t>
            </a:r>
            <a:endParaRPr sz="2300"/>
          </a:p>
          <a:p>
            <a:pPr indent="-374650" lvl="0" marL="457200" rtl="0" algn="l">
              <a:spcBef>
                <a:spcPts val="1600"/>
              </a:spcBef>
              <a:spcAft>
                <a:spcPts val="0"/>
              </a:spcAft>
              <a:buSzPts val="2300"/>
              <a:buChar char="●"/>
            </a:pPr>
            <a:r>
              <a:rPr lang="en" sz="2300"/>
              <a:t>Configure the pins you'll be using for SCL and SDA</a:t>
            </a:r>
            <a:endParaRPr sz="2300"/>
          </a:p>
          <a:p>
            <a:pPr indent="-349250" lvl="1" marL="914400" rtl="0" algn="l">
              <a:spcBef>
                <a:spcPts val="0"/>
              </a:spcBef>
              <a:spcAft>
                <a:spcPts val="0"/>
              </a:spcAft>
              <a:buSzPts val="1900"/>
              <a:buChar char="○"/>
            </a:pPr>
            <a:r>
              <a:rPr lang="en" sz="1900"/>
              <a:t>Enable clock access to the GPIO port</a:t>
            </a:r>
            <a:endParaRPr sz="1900"/>
          </a:p>
          <a:p>
            <a:pPr indent="-349250" lvl="1" marL="914400" rtl="0" algn="l">
              <a:spcBef>
                <a:spcPts val="0"/>
              </a:spcBef>
              <a:spcAft>
                <a:spcPts val="0"/>
              </a:spcAft>
              <a:buSzPts val="1900"/>
              <a:buChar char="○"/>
            </a:pPr>
            <a:r>
              <a:rPr lang="en" sz="1900"/>
              <a:t>Select the correct alternate functions </a:t>
            </a:r>
            <a:br>
              <a:rPr lang="en" sz="1900"/>
            </a:br>
            <a:r>
              <a:rPr lang="en" sz="1900"/>
              <a:t>for the pins</a:t>
            </a:r>
            <a:endParaRPr sz="1900"/>
          </a:p>
          <a:p>
            <a:pPr indent="-349250" lvl="1" marL="914400" rtl="0" algn="l">
              <a:spcBef>
                <a:spcPts val="0"/>
              </a:spcBef>
              <a:spcAft>
                <a:spcPts val="0"/>
              </a:spcAft>
              <a:buSzPts val="1900"/>
              <a:buChar char="○"/>
            </a:pPr>
            <a:r>
              <a:rPr lang="en" sz="1900"/>
              <a:t>Set the pins to "</a:t>
            </a:r>
            <a:r>
              <a:rPr lang="en" sz="1900">
                <a:solidFill>
                  <a:srgbClr val="0000FF"/>
                </a:solidFill>
              </a:rPr>
              <a:t>open drain</a:t>
            </a:r>
            <a:r>
              <a:rPr lang="en" sz="1900"/>
              <a:t>" type</a:t>
            </a:r>
            <a:endParaRPr sz="1900"/>
          </a:p>
          <a:p>
            <a:pPr indent="-349250" lvl="1" marL="914400" rtl="0" algn="l">
              <a:spcBef>
                <a:spcPts val="0"/>
              </a:spcBef>
              <a:spcAft>
                <a:spcPts val="0"/>
              </a:spcAft>
              <a:buSzPts val="1900"/>
              <a:buChar char="○"/>
            </a:pPr>
            <a:r>
              <a:rPr lang="en" sz="1900"/>
              <a:t>Activate pullup resistors if none of the </a:t>
            </a:r>
            <a:br>
              <a:rPr lang="en" sz="1900"/>
            </a:br>
            <a:r>
              <a:rPr lang="en" sz="1900"/>
              <a:t>devices on the bus have them</a:t>
            </a:r>
            <a:endParaRPr sz="1900"/>
          </a:p>
          <a:p>
            <a:pPr indent="-374650" lvl="0" marL="457200" rtl="0" algn="l">
              <a:spcBef>
                <a:spcPts val="0"/>
              </a:spcBef>
              <a:spcAft>
                <a:spcPts val="0"/>
              </a:spcAft>
              <a:buSzPts val="2300"/>
              <a:buChar char="●"/>
            </a:pPr>
            <a:r>
              <a:rPr lang="en" sz="2300"/>
              <a:t>Configure the I2C module</a:t>
            </a:r>
            <a:endParaRPr sz="2300"/>
          </a:p>
          <a:p>
            <a:pPr indent="-349250" lvl="1" marL="914400" rtl="0" algn="l">
              <a:spcBef>
                <a:spcPts val="0"/>
              </a:spcBef>
              <a:spcAft>
                <a:spcPts val="0"/>
              </a:spcAft>
              <a:buSzPts val="1900"/>
              <a:buChar char="○"/>
            </a:pPr>
            <a:r>
              <a:rPr lang="en" sz="1900"/>
              <a:t>Enable clock access to the I2C module</a:t>
            </a:r>
            <a:endParaRPr sz="1900"/>
          </a:p>
          <a:p>
            <a:pPr indent="-349250" lvl="1" marL="914400" rtl="0" algn="l">
              <a:spcBef>
                <a:spcPts val="0"/>
              </a:spcBef>
              <a:spcAft>
                <a:spcPts val="0"/>
              </a:spcAft>
              <a:buSzPts val="1900"/>
              <a:buChar char="○"/>
            </a:pPr>
            <a:r>
              <a:rPr lang="en" sz="1900"/>
              <a:t>Disable the module for the next step</a:t>
            </a:r>
            <a:endParaRPr sz="1900"/>
          </a:p>
          <a:p>
            <a:pPr indent="-349250" lvl="1" marL="914400" rtl="0" algn="l">
              <a:spcBef>
                <a:spcPts val="0"/>
              </a:spcBef>
              <a:spcAft>
                <a:spcPts val="0"/>
              </a:spcAft>
              <a:buSzPts val="1900"/>
              <a:buChar char="○"/>
            </a:pPr>
            <a:r>
              <a:rPr lang="en" sz="1900"/>
              <a:t>Write desired values into the timing register</a:t>
            </a:r>
            <a:endParaRPr sz="1900"/>
          </a:p>
          <a:p>
            <a:pPr indent="-349250" lvl="1" marL="914400" rtl="0" algn="l">
              <a:spcBef>
                <a:spcPts val="0"/>
              </a:spcBef>
              <a:spcAft>
                <a:spcPts val="0"/>
              </a:spcAft>
              <a:buSzPts val="1900"/>
              <a:buChar char="○"/>
            </a:pPr>
            <a:r>
              <a:rPr lang="en" sz="1900"/>
              <a:t>Enable the module</a:t>
            </a:r>
            <a:endParaRPr sz="1900"/>
          </a:p>
        </p:txBody>
      </p:sp>
      <p:sp>
        <p:nvSpPr>
          <p:cNvPr id="237" name="Google Shape;237;p32"/>
          <p:cNvSpPr txBox="1"/>
          <p:nvPr/>
        </p:nvSpPr>
        <p:spPr>
          <a:xfrm>
            <a:off x="5418900" y="333275"/>
            <a:ext cx="3413400" cy="18471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00FF"/>
                </a:solidFill>
              </a:rPr>
              <a:t>Open-drain mode:</a:t>
            </a:r>
            <a:r>
              <a:rPr lang="en" sz="1800">
                <a:solidFill>
                  <a:srgbClr val="0000FF"/>
                </a:solidFill>
              </a:rPr>
              <a:t> writing a '0' to the output register pulls the pin low, while writing a '1' leaves the pin floating, allowing the external pull-up resistor to bring it high.</a:t>
            </a:r>
            <a:endParaRPr sz="1800">
              <a:solidFill>
                <a:srgbClr val="0000FF"/>
              </a:solidFill>
            </a:endParaRPr>
          </a:p>
        </p:txBody>
      </p:sp>
      <p:pic>
        <p:nvPicPr>
          <p:cNvPr id="238" name="Google Shape;238;p32" title="Screenshot 2026-02-02 at 1.17.21 PM.png"/>
          <p:cNvPicPr preferRelativeResize="0"/>
          <p:nvPr/>
        </p:nvPicPr>
        <p:blipFill rotWithShape="1">
          <a:blip r:embed="rId3">
            <a:alphaModFix/>
          </a:blip>
          <a:srcRect b="14406" l="0" r="9140" t="0"/>
          <a:stretch/>
        </p:blipFill>
        <p:spPr>
          <a:xfrm>
            <a:off x="5258275" y="2724875"/>
            <a:ext cx="3885726" cy="2038776"/>
          </a:xfrm>
          <a:prstGeom prst="rect">
            <a:avLst/>
          </a:prstGeom>
          <a:noFill/>
          <a:ln>
            <a:noFill/>
          </a:ln>
        </p:spPr>
      </p:pic>
      <p:sp>
        <p:nvSpPr>
          <p:cNvPr id="239" name="Google Shape;239;p32"/>
          <p:cNvSpPr/>
          <p:nvPr/>
        </p:nvSpPr>
        <p:spPr>
          <a:xfrm>
            <a:off x="8483425" y="4234850"/>
            <a:ext cx="520800" cy="3426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32"/>
          <p:cNvSpPr/>
          <p:nvPr/>
        </p:nvSpPr>
        <p:spPr>
          <a:xfrm>
            <a:off x="5270900" y="4234850"/>
            <a:ext cx="259200" cy="3426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32"/>
          <p:cNvSpPr/>
          <p:nvPr/>
        </p:nvSpPr>
        <p:spPr>
          <a:xfrm>
            <a:off x="8483425" y="2840225"/>
            <a:ext cx="520800" cy="1749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32"/>
          <p:cNvSpPr txBox="1"/>
          <p:nvPr/>
        </p:nvSpPr>
        <p:spPr>
          <a:xfrm>
            <a:off x="6530450" y="4837975"/>
            <a:ext cx="1815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Datasheet, Table 15</a:t>
            </a:r>
            <a:endParaRPr sz="1000">
              <a:solidFill>
                <a:schemeClr val="dk2"/>
              </a:solidFill>
            </a:endParaRPr>
          </a:p>
        </p:txBody>
      </p:sp>
      <p:sp>
        <p:nvSpPr>
          <p:cNvPr id="243" name="Google Shape;243;p32"/>
          <p:cNvSpPr/>
          <p:nvPr/>
        </p:nvSpPr>
        <p:spPr>
          <a:xfrm>
            <a:off x="3082550" y="2936250"/>
            <a:ext cx="2078100" cy="3426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type="title"/>
          </p:nvPr>
        </p:nvSpPr>
        <p:spPr>
          <a:xfrm>
            <a:off x="261538" y="10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Determining and Setting the SCL Frequency</a:t>
            </a:r>
            <a:endParaRPr/>
          </a:p>
        </p:txBody>
      </p:sp>
      <p:sp>
        <p:nvSpPr>
          <p:cNvPr id="249" name="Google Shape;249;p33"/>
          <p:cNvSpPr txBox="1"/>
          <p:nvPr/>
        </p:nvSpPr>
        <p:spPr>
          <a:xfrm>
            <a:off x="7535050" y="173975"/>
            <a:ext cx="1530000" cy="4194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Initializations</a:t>
            </a:r>
            <a:endParaRPr sz="1800">
              <a:solidFill>
                <a:srgbClr val="0000FF"/>
              </a:solidFill>
            </a:endParaRPr>
          </a:p>
        </p:txBody>
      </p:sp>
      <p:sp>
        <p:nvSpPr>
          <p:cNvPr id="250" name="Google Shape;250;p33"/>
          <p:cNvSpPr txBox="1"/>
          <p:nvPr/>
        </p:nvSpPr>
        <p:spPr>
          <a:xfrm>
            <a:off x="232363" y="865875"/>
            <a:ext cx="86793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Our chip is capable of communicating via I2C at up to 1 million bits per second, but only specialized devices that transmit vast amounts of data (like EEPROMs) are able to communicate at that speed.</a:t>
            </a:r>
            <a:endParaRPr sz="1800">
              <a:solidFill>
                <a:schemeClr val="dk2"/>
              </a:solidFill>
            </a:endParaRPr>
          </a:p>
          <a:p>
            <a:pPr indent="-342900" lvl="0" marL="457200" rtl="0" algn="l">
              <a:spcBef>
                <a:spcPts val="0"/>
              </a:spcBef>
              <a:spcAft>
                <a:spcPts val="0"/>
              </a:spcAft>
              <a:buClr>
                <a:srgbClr val="0000FF"/>
              </a:buClr>
              <a:buSzPts val="1800"/>
              <a:buChar char="●"/>
            </a:pPr>
            <a:r>
              <a:rPr lang="en" sz="1800">
                <a:solidFill>
                  <a:srgbClr val="0000FF"/>
                </a:solidFill>
              </a:rPr>
              <a:t>Most common bitrates: 100,000 bits per second or 400,000 bits per second.</a:t>
            </a:r>
            <a:endParaRPr sz="1800">
              <a:solidFill>
                <a:srgbClr val="0000FF"/>
              </a:solidFill>
            </a:endParaRPr>
          </a:p>
          <a:p>
            <a:pPr indent="-342900" lvl="0" marL="457200" rtl="0" algn="l">
              <a:spcBef>
                <a:spcPts val="0"/>
              </a:spcBef>
              <a:spcAft>
                <a:spcPts val="0"/>
              </a:spcAft>
              <a:buClr>
                <a:schemeClr val="dk2"/>
              </a:buClr>
              <a:buSzPts val="1800"/>
              <a:buChar char="●"/>
            </a:pPr>
            <a:r>
              <a:rPr b="1" lang="en" sz="1800">
                <a:solidFill>
                  <a:schemeClr val="dk2"/>
                </a:solidFill>
              </a:rPr>
              <a:t>We'll use our devices at 100 kHz (standard mode).</a:t>
            </a:r>
            <a:endParaRPr b="1" sz="1800">
              <a:solidFill>
                <a:schemeClr val="dk2"/>
              </a:solidFill>
            </a:endParaRPr>
          </a:p>
        </p:txBody>
      </p:sp>
      <p:pic>
        <p:nvPicPr>
          <p:cNvPr id="251" name="Google Shape;251;p33"/>
          <p:cNvPicPr preferRelativeResize="0"/>
          <p:nvPr/>
        </p:nvPicPr>
        <p:blipFill rotWithShape="1">
          <a:blip r:embed="rId3">
            <a:alphaModFix/>
          </a:blip>
          <a:srcRect b="2933" l="5421" r="5563" t="5408"/>
          <a:stretch/>
        </p:blipFill>
        <p:spPr>
          <a:xfrm>
            <a:off x="2789725" y="2530324"/>
            <a:ext cx="5992425" cy="3532401"/>
          </a:xfrm>
          <a:prstGeom prst="rect">
            <a:avLst/>
          </a:prstGeom>
          <a:noFill/>
          <a:ln>
            <a:noFill/>
          </a:ln>
        </p:spPr>
      </p:pic>
      <p:sp>
        <p:nvSpPr>
          <p:cNvPr id="252" name="Google Shape;252;p33"/>
          <p:cNvSpPr txBox="1"/>
          <p:nvPr/>
        </p:nvSpPr>
        <p:spPr>
          <a:xfrm>
            <a:off x="369275" y="2977725"/>
            <a:ext cx="2510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rgbClr val="3F7F5F"/>
                </a:solidFill>
              </a:rPr>
              <a:t>Our chip allows</a:t>
            </a:r>
            <a:r>
              <a:rPr lang="en" sz="1800">
                <a:solidFill>
                  <a:srgbClr val="3F7F5F"/>
                </a:solidFill>
              </a:rPr>
              <a:t> you to configure every aspect of the clock pulse…</a:t>
            </a:r>
            <a:endParaRPr sz="1800">
              <a:solidFill>
                <a:srgbClr val="3F7F5F"/>
              </a:solidFill>
            </a:endParaRPr>
          </a:p>
        </p:txBody>
      </p:sp>
      <p:sp>
        <p:nvSpPr>
          <p:cNvPr id="253" name="Google Shape;253;p33"/>
          <p:cNvSpPr txBox="1"/>
          <p:nvPr/>
        </p:nvSpPr>
        <p:spPr>
          <a:xfrm>
            <a:off x="369275" y="5292950"/>
            <a:ext cx="3764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rgbClr val="3F7F5F"/>
                </a:solidFill>
              </a:rPr>
              <a:t>… that's why the timing register has lots of entries. The reference manual has sample values in case you ever need to modify things.</a:t>
            </a:r>
            <a:endParaRPr sz="1800">
              <a:solidFill>
                <a:srgbClr val="3F7F5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pic>
        <p:nvPicPr>
          <p:cNvPr id="258" name="Google Shape;258;p34"/>
          <p:cNvPicPr preferRelativeResize="0"/>
          <p:nvPr/>
        </p:nvPicPr>
        <p:blipFill rotWithShape="1">
          <a:blip r:embed="rId3">
            <a:alphaModFix/>
          </a:blip>
          <a:srcRect b="0" l="0" r="0" t="646"/>
          <a:stretch/>
        </p:blipFill>
        <p:spPr>
          <a:xfrm>
            <a:off x="919500" y="1004550"/>
            <a:ext cx="5128875" cy="4396225"/>
          </a:xfrm>
          <a:prstGeom prst="rect">
            <a:avLst/>
          </a:prstGeom>
          <a:noFill/>
          <a:ln>
            <a:noFill/>
          </a:ln>
        </p:spPr>
      </p:pic>
      <p:sp>
        <p:nvSpPr>
          <p:cNvPr id="259" name="Google Shape;259;p34"/>
          <p:cNvSpPr txBox="1"/>
          <p:nvPr>
            <p:ph type="title"/>
          </p:nvPr>
        </p:nvSpPr>
        <p:spPr>
          <a:xfrm>
            <a:off x="311700" y="173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Settings for Standard Mode 100 kHz</a:t>
            </a:r>
            <a:endParaRPr/>
          </a:p>
        </p:txBody>
      </p:sp>
      <p:sp>
        <p:nvSpPr>
          <p:cNvPr id="260" name="Google Shape;260;p34"/>
          <p:cNvSpPr txBox="1"/>
          <p:nvPr/>
        </p:nvSpPr>
        <p:spPr>
          <a:xfrm>
            <a:off x="7614000" y="0"/>
            <a:ext cx="1530000" cy="4194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Initializations</a:t>
            </a:r>
            <a:endParaRPr sz="1800">
              <a:solidFill>
                <a:srgbClr val="0000FF"/>
              </a:solidFill>
            </a:endParaRPr>
          </a:p>
        </p:txBody>
      </p:sp>
      <p:pic>
        <p:nvPicPr>
          <p:cNvPr id="261" name="Google Shape;261;p34"/>
          <p:cNvPicPr preferRelativeResize="0"/>
          <p:nvPr/>
        </p:nvPicPr>
        <p:blipFill rotWithShape="1">
          <a:blip r:embed="rId4">
            <a:alphaModFix/>
          </a:blip>
          <a:srcRect b="0" l="61065" r="0" t="11964"/>
          <a:stretch/>
        </p:blipFill>
        <p:spPr>
          <a:xfrm>
            <a:off x="2012675" y="1505200"/>
            <a:ext cx="2106326" cy="3934375"/>
          </a:xfrm>
          <a:prstGeom prst="rect">
            <a:avLst/>
          </a:prstGeom>
          <a:noFill/>
          <a:ln>
            <a:noFill/>
          </a:ln>
        </p:spPr>
      </p:pic>
      <p:pic>
        <p:nvPicPr>
          <p:cNvPr id="262" name="Google Shape;262;p34"/>
          <p:cNvPicPr preferRelativeResize="0"/>
          <p:nvPr/>
        </p:nvPicPr>
        <p:blipFill rotWithShape="1">
          <a:blip r:embed="rId5">
            <a:alphaModFix/>
          </a:blip>
          <a:srcRect b="0" l="0" r="1342" t="1604"/>
          <a:stretch/>
        </p:blipFill>
        <p:spPr>
          <a:xfrm>
            <a:off x="5987150" y="1046175"/>
            <a:ext cx="2140850" cy="4325925"/>
          </a:xfrm>
          <a:prstGeom prst="rect">
            <a:avLst/>
          </a:prstGeom>
          <a:noFill/>
          <a:ln>
            <a:noFill/>
          </a:ln>
        </p:spPr>
      </p:pic>
      <p:sp>
        <p:nvSpPr>
          <p:cNvPr id="263" name="Google Shape;263;p34"/>
          <p:cNvSpPr/>
          <p:nvPr/>
        </p:nvSpPr>
        <p:spPr>
          <a:xfrm>
            <a:off x="2012675" y="1046175"/>
            <a:ext cx="2027100" cy="841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t>8 Mhz</a:t>
            </a:r>
            <a:endParaRPr b="1" sz="1600"/>
          </a:p>
        </p:txBody>
      </p:sp>
      <p:sp>
        <p:nvSpPr>
          <p:cNvPr id="264" name="Google Shape;264;p34"/>
          <p:cNvSpPr/>
          <p:nvPr/>
        </p:nvSpPr>
        <p:spPr>
          <a:xfrm>
            <a:off x="4039775" y="1046175"/>
            <a:ext cx="1972800" cy="841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t>16</a:t>
            </a:r>
            <a:r>
              <a:rPr b="1" lang="en" sz="1600"/>
              <a:t> Mhz</a:t>
            </a:r>
            <a:endParaRPr b="1" sz="1600"/>
          </a:p>
        </p:txBody>
      </p:sp>
      <p:sp>
        <p:nvSpPr>
          <p:cNvPr id="265" name="Google Shape;265;p34"/>
          <p:cNvSpPr/>
          <p:nvPr/>
        </p:nvSpPr>
        <p:spPr>
          <a:xfrm>
            <a:off x="6012575" y="1046175"/>
            <a:ext cx="2097000" cy="841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t>48</a:t>
            </a:r>
            <a:r>
              <a:rPr b="1" lang="en" sz="1600"/>
              <a:t> Mhz</a:t>
            </a:r>
            <a:endParaRPr b="1" sz="1600"/>
          </a:p>
        </p:txBody>
      </p:sp>
      <p:sp>
        <p:nvSpPr>
          <p:cNvPr id="266" name="Google Shape;266;p34"/>
          <p:cNvSpPr/>
          <p:nvPr/>
        </p:nvSpPr>
        <p:spPr>
          <a:xfrm>
            <a:off x="951175" y="1874025"/>
            <a:ext cx="1077000" cy="3486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34"/>
          <p:cNvSpPr/>
          <p:nvPr/>
        </p:nvSpPr>
        <p:spPr>
          <a:xfrm>
            <a:off x="951175" y="3974550"/>
            <a:ext cx="1077000" cy="3486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34"/>
          <p:cNvSpPr/>
          <p:nvPr/>
        </p:nvSpPr>
        <p:spPr>
          <a:xfrm>
            <a:off x="951175" y="4649625"/>
            <a:ext cx="1077000" cy="3486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34"/>
          <p:cNvSpPr/>
          <p:nvPr/>
        </p:nvSpPr>
        <p:spPr>
          <a:xfrm>
            <a:off x="951175" y="2224713"/>
            <a:ext cx="1077000" cy="3486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34"/>
          <p:cNvSpPr/>
          <p:nvPr/>
        </p:nvSpPr>
        <p:spPr>
          <a:xfrm>
            <a:off x="951175" y="2924288"/>
            <a:ext cx="1077000" cy="3486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 name="Google Shape;271;p34"/>
          <p:cNvSpPr txBox="1"/>
          <p:nvPr/>
        </p:nvSpPr>
        <p:spPr>
          <a:xfrm>
            <a:off x="113550" y="5467850"/>
            <a:ext cx="89169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Our default clock runs at 12 MHz. </a:t>
            </a:r>
            <a:br>
              <a:rPr lang="en" sz="1800">
                <a:solidFill>
                  <a:srgbClr val="0000FF"/>
                </a:solidFill>
              </a:rPr>
            </a:br>
            <a:r>
              <a:rPr lang="en" sz="1800">
                <a:solidFill>
                  <a:srgbClr val="0000FF"/>
                </a:solidFill>
              </a:rPr>
              <a:t>So we'll use 	PRESC = 0x2</a:t>
            </a:r>
            <a:endParaRPr sz="1800">
              <a:solidFill>
                <a:srgbClr val="0000FF"/>
              </a:solidFill>
            </a:endParaRPr>
          </a:p>
          <a:p>
            <a:pPr indent="0" lvl="0" marL="0" rtl="0" algn="l">
              <a:spcBef>
                <a:spcPts val="0"/>
              </a:spcBef>
              <a:spcAft>
                <a:spcPts val="0"/>
              </a:spcAft>
              <a:buNone/>
            </a:pPr>
            <a:r>
              <a:rPr lang="en" sz="1800">
                <a:solidFill>
                  <a:srgbClr val="0000FF"/>
                </a:solidFill>
              </a:rPr>
              <a:t>                	SCLL = 0x13, SCLH = 0xF</a:t>
            </a:r>
            <a:endParaRPr sz="1800">
              <a:solidFill>
                <a:srgbClr val="0000FF"/>
              </a:solidFill>
            </a:endParaRPr>
          </a:p>
          <a:p>
            <a:pPr indent="457200" lvl="0" marL="914400" rtl="0" algn="l">
              <a:spcBef>
                <a:spcPts val="0"/>
              </a:spcBef>
              <a:spcAft>
                <a:spcPts val="0"/>
              </a:spcAft>
              <a:buNone/>
            </a:pPr>
            <a:r>
              <a:rPr lang="en" sz="1800">
                <a:solidFill>
                  <a:srgbClr val="0000FF"/>
                </a:solidFill>
              </a:rPr>
              <a:t>SDADEL = 0x2, SCLDEL = 0x4.</a:t>
            </a:r>
            <a:endParaRPr sz="1800">
              <a:solidFill>
                <a:srgbClr val="0000FF"/>
              </a:solidFill>
            </a:endParaRPr>
          </a:p>
        </p:txBody>
      </p:sp>
      <p:sp>
        <p:nvSpPr>
          <p:cNvPr id="272" name="Google Shape;272;p34"/>
          <p:cNvSpPr txBox="1"/>
          <p:nvPr/>
        </p:nvSpPr>
        <p:spPr>
          <a:xfrm>
            <a:off x="4978325" y="5467850"/>
            <a:ext cx="416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Reference Manual, Section 23.4.10.</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6" name="Shape 276"/>
        <p:cNvGrpSpPr/>
        <p:nvPr/>
      </p:nvGrpSpPr>
      <p:grpSpPr>
        <a:xfrm>
          <a:off x="0" y="0"/>
          <a:ext cx="0" cy="0"/>
          <a:chOff x="0" y="0"/>
          <a:chExt cx="0" cy="0"/>
        </a:xfrm>
      </p:grpSpPr>
      <p:sp>
        <p:nvSpPr>
          <p:cNvPr id="277" name="Google Shape;277;p3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I2C_TIMINGR</a:t>
            </a:r>
            <a:endParaRPr/>
          </a:p>
        </p:txBody>
      </p:sp>
      <p:pic>
        <p:nvPicPr>
          <p:cNvPr id="278" name="Google Shape;278;p35"/>
          <p:cNvPicPr preferRelativeResize="0"/>
          <p:nvPr/>
        </p:nvPicPr>
        <p:blipFill>
          <a:blip r:embed="rId3">
            <a:alphaModFix/>
          </a:blip>
          <a:stretch>
            <a:fillRect/>
          </a:stretch>
        </p:blipFill>
        <p:spPr>
          <a:xfrm>
            <a:off x="152400" y="1509276"/>
            <a:ext cx="8801626" cy="1959325"/>
          </a:xfrm>
          <a:prstGeom prst="rect">
            <a:avLst/>
          </a:prstGeom>
          <a:noFill/>
          <a:ln>
            <a:noFill/>
          </a:ln>
        </p:spPr>
      </p:pic>
      <p:sp>
        <p:nvSpPr>
          <p:cNvPr id="279" name="Google Shape;279;p35"/>
          <p:cNvSpPr txBox="1"/>
          <p:nvPr/>
        </p:nvSpPr>
        <p:spPr>
          <a:xfrm>
            <a:off x="5183400" y="341075"/>
            <a:ext cx="3648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PRESC = 0x2</a:t>
            </a:r>
            <a:endParaRPr sz="1800">
              <a:solidFill>
                <a:srgbClr val="0000FF"/>
              </a:solidFill>
            </a:endParaRPr>
          </a:p>
          <a:p>
            <a:pPr indent="0" lvl="0" marL="0" rtl="0" algn="l">
              <a:spcBef>
                <a:spcPts val="0"/>
              </a:spcBef>
              <a:spcAft>
                <a:spcPts val="0"/>
              </a:spcAft>
              <a:buNone/>
            </a:pPr>
            <a:r>
              <a:rPr lang="en" sz="1800">
                <a:solidFill>
                  <a:srgbClr val="0000FF"/>
                </a:solidFill>
              </a:rPr>
              <a:t>SCLL = 0x13, SCLH = 0xF</a:t>
            </a:r>
            <a:endParaRPr sz="1800">
              <a:solidFill>
                <a:srgbClr val="0000FF"/>
              </a:solidFill>
            </a:endParaRPr>
          </a:p>
          <a:p>
            <a:pPr indent="0" lvl="0" marL="0" rtl="0" algn="l">
              <a:spcBef>
                <a:spcPts val="0"/>
              </a:spcBef>
              <a:spcAft>
                <a:spcPts val="0"/>
              </a:spcAft>
              <a:buNone/>
            </a:pPr>
            <a:r>
              <a:rPr lang="en" sz="1800">
                <a:solidFill>
                  <a:srgbClr val="0000FF"/>
                </a:solidFill>
              </a:rPr>
              <a:t>SDADEL = 0x2, SCLDEL = 0x4.</a:t>
            </a:r>
            <a:endParaRPr sz="1800">
              <a:solidFill>
                <a:srgbClr val="0000FF"/>
              </a:solidFill>
            </a:endParaRPr>
          </a:p>
        </p:txBody>
      </p:sp>
      <p:sp>
        <p:nvSpPr>
          <p:cNvPr id="280" name="Google Shape;280;p35"/>
          <p:cNvSpPr txBox="1"/>
          <p:nvPr/>
        </p:nvSpPr>
        <p:spPr>
          <a:xfrm>
            <a:off x="427625" y="3817050"/>
            <a:ext cx="8742900" cy="13053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300">
                <a:solidFill>
                  <a:srgbClr val="3F7F5F"/>
                </a:solidFill>
                <a:highlight>
                  <a:srgbClr val="FFFFFF"/>
                </a:highlight>
                <a:latin typeface="Courier New"/>
                <a:ea typeface="Courier New"/>
                <a:cs typeface="Courier New"/>
                <a:sym typeface="Courier New"/>
              </a:rPr>
              <a:t>// Timing settings: Standard mode (100kHz) with 12MHz I2CCLK</a:t>
            </a:r>
            <a:endParaRPr b="1" sz="13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I2C1-&gt;</a:t>
            </a:r>
            <a:r>
              <a:rPr b="1" lang="en" sz="1300">
                <a:solidFill>
                  <a:srgbClr val="0000C0"/>
                </a:solidFill>
                <a:highlight>
                  <a:srgbClr val="FFFFFF"/>
                </a:highlight>
                <a:latin typeface="Courier New"/>
                <a:ea typeface="Courier New"/>
                <a:cs typeface="Courier New"/>
                <a:sym typeface="Courier New"/>
              </a:rPr>
              <a:t>TIMINGR</a:t>
            </a:r>
            <a:r>
              <a:rPr b="1" lang="en" sz="1300">
                <a:solidFill>
                  <a:schemeClr val="dk1"/>
                </a:solidFill>
                <a:highlight>
                  <a:srgbClr val="FFFFFF"/>
                </a:highlight>
                <a:latin typeface="Courier New"/>
                <a:ea typeface="Courier New"/>
                <a:cs typeface="Courier New"/>
                <a:sym typeface="Courier New"/>
              </a:rPr>
              <a:t> &amp;= 0x0; </a:t>
            </a:r>
            <a:r>
              <a:rPr b="1" lang="en" sz="1300">
                <a:solidFill>
                  <a:srgbClr val="3F7F5F"/>
                </a:solidFill>
                <a:highlight>
                  <a:srgbClr val="FFFFFF"/>
                </a:highlight>
                <a:latin typeface="Courier New"/>
                <a:ea typeface="Courier New"/>
                <a:cs typeface="Courier New"/>
                <a:sym typeface="Courier New"/>
              </a:rPr>
              <a:t>// clear timing register</a:t>
            </a:r>
            <a:endParaRPr b="1" sz="13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I2C1-&gt;</a:t>
            </a:r>
            <a:r>
              <a:rPr b="1" lang="en" sz="1300">
                <a:solidFill>
                  <a:srgbClr val="0000C0"/>
                </a:solidFill>
                <a:highlight>
                  <a:srgbClr val="FFFFFF"/>
                </a:highlight>
                <a:latin typeface="Courier New"/>
                <a:ea typeface="Courier New"/>
                <a:cs typeface="Courier New"/>
                <a:sym typeface="Courier New"/>
              </a:rPr>
              <a:t>TIMINGR</a:t>
            </a:r>
            <a:r>
              <a:rPr b="1" lang="en" sz="1300">
                <a:solidFill>
                  <a:schemeClr val="dk1"/>
                </a:solidFill>
                <a:highlight>
                  <a:srgbClr val="FFFFFF"/>
                </a:highlight>
                <a:latin typeface="Courier New"/>
                <a:ea typeface="Courier New"/>
                <a:cs typeface="Courier New"/>
                <a:sym typeface="Courier New"/>
              </a:rPr>
              <a:t> |= (0x2  &lt;&lt; I2C_TIMINGR_PRESC_Pos);</a:t>
            </a:r>
            <a:endParaRPr b="1" sz="13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I2C1-&gt;</a:t>
            </a:r>
            <a:r>
              <a:rPr b="1" lang="en" sz="1300">
                <a:solidFill>
                  <a:srgbClr val="0000C0"/>
                </a:solidFill>
                <a:highlight>
                  <a:srgbClr val="FFFFFF"/>
                </a:highlight>
                <a:latin typeface="Courier New"/>
                <a:ea typeface="Courier New"/>
                <a:cs typeface="Courier New"/>
                <a:sym typeface="Courier New"/>
              </a:rPr>
              <a:t>TIMINGR</a:t>
            </a:r>
            <a:r>
              <a:rPr b="1" lang="en" sz="1300">
                <a:solidFill>
                  <a:schemeClr val="dk1"/>
                </a:solidFill>
                <a:highlight>
                  <a:srgbClr val="FFFFFF"/>
                </a:highlight>
                <a:latin typeface="Courier New"/>
                <a:ea typeface="Courier New"/>
                <a:cs typeface="Courier New"/>
                <a:sym typeface="Courier New"/>
              </a:rPr>
              <a:t> |= (0x4  &lt;&lt; I2C_TIMINGR_SCLDEL_Pos) | (0x2 &lt;&lt; I2C_TIMINGR_SDADEL_Pos);</a:t>
            </a:r>
            <a:endParaRPr b="1" sz="13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I2C1-&gt;</a:t>
            </a:r>
            <a:r>
              <a:rPr b="1" lang="en" sz="1300">
                <a:solidFill>
                  <a:srgbClr val="0000C0"/>
                </a:solidFill>
                <a:highlight>
                  <a:srgbClr val="FFFFFF"/>
                </a:highlight>
                <a:latin typeface="Courier New"/>
                <a:ea typeface="Courier New"/>
                <a:cs typeface="Courier New"/>
                <a:sym typeface="Courier New"/>
              </a:rPr>
              <a:t>TIMINGR</a:t>
            </a:r>
            <a:r>
              <a:rPr b="1" lang="en" sz="1300">
                <a:solidFill>
                  <a:schemeClr val="dk1"/>
                </a:solidFill>
                <a:highlight>
                  <a:srgbClr val="FFFFFF"/>
                </a:highlight>
                <a:latin typeface="Courier New"/>
                <a:ea typeface="Courier New"/>
                <a:cs typeface="Courier New"/>
                <a:sym typeface="Courier New"/>
              </a:rPr>
              <a:t> |= (0xf &lt;&lt; I2C_TIMINGR_SCLH_Pos) | (0x13 &lt;&lt; I2C_TIMINGR_SCLL_Pos);</a:t>
            </a:r>
            <a:endParaRPr b="1" sz="1900">
              <a:solidFill>
                <a:schemeClr val="dk2"/>
              </a:solidFill>
              <a:latin typeface="Courier New"/>
              <a:ea typeface="Courier New"/>
              <a:cs typeface="Courier New"/>
              <a:sym typeface="Courier New"/>
            </a:endParaRPr>
          </a:p>
        </p:txBody>
      </p:sp>
      <p:sp>
        <p:nvSpPr>
          <p:cNvPr id="281" name="Google Shape;281;p35"/>
          <p:cNvSpPr txBox="1"/>
          <p:nvPr/>
        </p:nvSpPr>
        <p:spPr>
          <a:xfrm>
            <a:off x="7614000" y="0"/>
            <a:ext cx="1530000" cy="4194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Initializations</a:t>
            </a:r>
            <a:endParaRPr sz="1800">
              <a:solidFill>
                <a:srgbClr val="0000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type="title"/>
          </p:nvPr>
        </p:nvSpPr>
        <p:spPr>
          <a:xfrm>
            <a:off x="292913"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I2C_TIMINGR</a:t>
            </a:r>
            <a:endParaRPr/>
          </a:p>
        </p:txBody>
      </p:sp>
      <p:pic>
        <p:nvPicPr>
          <p:cNvPr id="287" name="Google Shape;287;p36"/>
          <p:cNvPicPr preferRelativeResize="0"/>
          <p:nvPr/>
        </p:nvPicPr>
        <p:blipFill>
          <a:blip r:embed="rId3">
            <a:alphaModFix/>
          </a:blip>
          <a:stretch>
            <a:fillRect/>
          </a:stretch>
        </p:blipFill>
        <p:spPr>
          <a:xfrm>
            <a:off x="376500" y="584538"/>
            <a:ext cx="8191500" cy="1823506"/>
          </a:xfrm>
          <a:prstGeom prst="rect">
            <a:avLst/>
          </a:prstGeom>
          <a:noFill/>
          <a:ln>
            <a:noFill/>
          </a:ln>
        </p:spPr>
      </p:pic>
      <p:sp>
        <p:nvSpPr>
          <p:cNvPr id="288" name="Google Shape;288;p36"/>
          <p:cNvSpPr txBox="1"/>
          <p:nvPr/>
        </p:nvSpPr>
        <p:spPr>
          <a:xfrm>
            <a:off x="311700" y="2412788"/>
            <a:ext cx="8742900" cy="10752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I2C1-&gt;</a:t>
            </a:r>
            <a:r>
              <a:rPr b="1" lang="en" sz="1300">
                <a:solidFill>
                  <a:srgbClr val="0000C0"/>
                </a:solidFill>
                <a:highlight>
                  <a:srgbClr val="FFFFFF"/>
                </a:highlight>
                <a:latin typeface="Courier New"/>
                <a:ea typeface="Courier New"/>
                <a:cs typeface="Courier New"/>
                <a:sym typeface="Courier New"/>
              </a:rPr>
              <a:t>TIMINGR</a:t>
            </a:r>
            <a:r>
              <a:rPr b="1" lang="en" sz="1300">
                <a:solidFill>
                  <a:schemeClr val="dk1"/>
                </a:solidFill>
                <a:highlight>
                  <a:srgbClr val="FFFFFF"/>
                </a:highlight>
                <a:latin typeface="Courier New"/>
                <a:ea typeface="Courier New"/>
                <a:cs typeface="Courier New"/>
                <a:sym typeface="Courier New"/>
              </a:rPr>
              <a:t> &amp;= 0x0; </a:t>
            </a:r>
            <a:r>
              <a:rPr b="1" lang="en" sz="1300">
                <a:solidFill>
                  <a:srgbClr val="3F7F5F"/>
                </a:solidFill>
                <a:highlight>
                  <a:srgbClr val="FFFFFF"/>
                </a:highlight>
                <a:latin typeface="Courier New"/>
                <a:ea typeface="Courier New"/>
                <a:cs typeface="Courier New"/>
                <a:sym typeface="Courier New"/>
              </a:rPr>
              <a:t>// clear timing register</a:t>
            </a:r>
            <a:endParaRPr b="1" sz="13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I2C1-&gt;</a:t>
            </a:r>
            <a:r>
              <a:rPr b="1" lang="en" sz="1300">
                <a:solidFill>
                  <a:srgbClr val="0000C0"/>
                </a:solidFill>
                <a:highlight>
                  <a:srgbClr val="FFFFFF"/>
                </a:highlight>
                <a:latin typeface="Courier New"/>
                <a:ea typeface="Courier New"/>
                <a:cs typeface="Courier New"/>
                <a:sym typeface="Courier New"/>
              </a:rPr>
              <a:t>TIMINGR</a:t>
            </a:r>
            <a:r>
              <a:rPr b="1" lang="en" sz="1300">
                <a:solidFill>
                  <a:schemeClr val="dk1"/>
                </a:solidFill>
                <a:highlight>
                  <a:srgbClr val="FFFFFF"/>
                </a:highlight>
                <a:latin typeface="Courier New"/>
                <a:ea typeface="Courier New"/>
                <a:cs typeface="Courier New"/>
                <a:sym typeface="Courier New"/>
              </a:rPr>
              <a:t> |= (0x2  &lt;&lt; I2C_TIMINGR_PRESC_Pos);</a:t>
            </a:r>
            <a:endParaRPr b="1" sz="13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I2C1-&gt;</a:t>
            </a:r>
            <a:r>
              <a:rPr b="1" lang="en" sz="1300">
                <a:solidFill>
                  <a:srgbClr val="0000C0"/>
                </a:solidFill>
                <a:highlight>
                  <a:srgbClr val="FFFFFF"/>
                </a:highlight>
                <a:latin typeface="Courier New"/>
                <a:ea typeface="Courier New"/>
                <a:cs typeface="Courier New"/>
                <a:sym typeface="Courier New"/>
              </a:rPr>
              <a:t>TIMINGR</a:t>
            </a:r>
            <a:r>
              <a:rPr b="1" lang="en" sz="1300">
                <a:solidFill>
                  <a:schemeClr val="dk1"/>
                </a:solidFill>
                <a:highlight>
                  <a:srgbClr val="FFFFFF"/>
                </a:highlight>
                <a:latin typeface="Courier New"/>
                <a:ea typeface="Courier New"/>
                <a:cs typeface="Courier New"/>
                <a:sym typeface="Courier New"/>
              </a:rPr>
              <a:t> |= (0x4  &lt;&lt; I2C_TIMINGR_SCLDEL_Pos) | (0x2 &lt;&lt; I2C_TIMINGR_SDADEL_Pos);</a:t>
            </a:r>
            <a:endParaRPr b="1" sz="13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I2C1-&gt;</a:t>
            </a:r>
            <a:r>
              <a:rPr b="1" lang="en" sz="1300">
                <a:solidFill>
                  <a:srgbClr val="0000C0"/>
                </a:solidFill>
                <a:highlight>
                  <a:srgbClr val="FFFFFF"/>
                </a:highlight>
                <a:latin typeface="Courier New"/>
                <a:ea typeface="Courier New"/>
                <a:cs typeface="Courier New"/>
                <a:sym typeface="Courier New"/>
              </a:rPr>
              <a:t>TIMINGR</a:t>
            </a:r>
            <a:r>
              <a:rPr b="1" lang="en" sz="1300">
                <a:solidFill>
                  <a:schemeClr val="dk1"/>
                </a:solidFill>
                <a:highlight>
                  <a:srgbClr val="FFFFFF"/>
                </a:highlight>
                <a:latin typeface="Courier New"/>
                <a:ea typeface="Courier New"/>
                <a:cs typeface="Courier New"/>
                <a:sym typeface="Courier New"/>
              </a:rPr>
              <a:t> |= (0xf &lt;&lt; I2C_TIMINGR_SCLH_Pos) | (0x13 &lt;&lt; I2C_TIMINGR_SCLL_Pos);</a:t>
            </a:r>
            <a:endParaRPr b="1" sz="1900">
              <a:solidFill>
                <a:schemeClr val="dk2"/>
              </a:solidFill>
              <a:latin typeface="Courier New"/>
              <a:ea typeface="Courier New"/>
              <a:cs typeface="Courier New"/>
              <a:sym typeface="Courier New"/>
            </a:endParaRPr>
          </a:p>
        </p:txBody>
      </p:sp>
      <p:sp>
        <p:nvSpPr>
          <p:cNvPr id="289" name="Google Shape;289;p36"/>
          <p:cNvSpPr txBox="1"/>
          <p:nvPr/>
        </p:nvSpPr>
        <p:spPr>
          <a:xfrm>
            <a:off x="7614000" y="0"/>
            <a:ext cx="1530000" cy="4194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Initializations</a:t>
            </a:r>
            <a:endParaRPr sz="1800">
              <a:solidFill>
                <a:srgbClr val="0000FF"/>
              </a:solidFill>
            </a:endParaRPr>
          </a:p>
        </p:txBody>
      </p:sp>
      <p:pic>
        <p:nvPicPr>
          <p:cNvPr id="290" name="Google Shape;290;p36"/>
          <p:cNvPicPr preferRelativeResize="0"/>
          <p:nvPr/>
        </p:nvPicPr>
        <p:blipFill>
          <a:blip r:embed="rId4">
            <a:alphaModFix/>
          </a:blip>
          <a:stretch>
            <a:fillRect/>
          </a:stretch>
        </p:blipFill>
        <p:spPr>
          <a:xfrm>
            <a:off x="235025" y="4090076"/>
            <a:ext cx="8191500" cy="1914525"/>
          </a:xfrm>
          <a:prstGeom prst="rect">
            <a:avLst/>
          </a:prstGeom>
          <a:noFill/>
          <a:ln>
            <a:noFill/>
          </a:ln>
        </p:spPr>
      </p:pic>
      <p:sp>
        <p:nvSpPr>
          <p:cNvPr id="291" name="Google Shape;291;p36"/>
          <p:cNvSpPr/>
          <p:nvPr/>
        </p:nvSpPr>
        <p:spPr>
          <a:xfrm>
            <a:off x="7780050" y="5289733"/>
            <a:ext cx="521700" cy="5946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36"/>
          <p:cNvSpPr txBox="1"/>
          <p:nvPr/>
        </p:nvSpPr>
        <p:spPr>
          <a:xfrm>
            <a:off x="7478200" y="6010959"/>
            <a:ext cx="1615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CC0000"/>
                </a:solidFill>
              </a:rPr>
              <a:t>Peripheral enable</a:t>
            </a:r>
            <a:endParaRPr sz="1800">
              <a:solidFill>
                <a:srgbClr val="CC0000"/>
              </a:solidFill>
            </a:endParaRPr>
          </a:p>
        </p:txBody>
      </p:sp>
      <p:sp>
        <p:nvSpPr>
          <p:cNvPr id="293" name="Google Shape;293;p36"/>
          <p:cNvSpPr txBox="1"/>
          <p:nvPr/>
        </p:nvSpPr>
        <p:spPr>
          <a:xfrm>
            <a:off x="311700" y="6069025"/>
            <a:ext cx="6717900" cy="4002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I2C1-&gt;</a:t>
            </a:r>
            <a:r>
              <a:rPr b="1" lang="en">
                <a:solidFill>
                  <a:srgbClr val="0000C0"/>
                </a:solidFill>
                <a:highlight>
                  <a:schemeClr val="lt1"/>
                </a:highlight>
                <a:latin typeface="Courier New"/>
                <a:ea typeface="Courier New"/>
                <a:cs typeface="Courier New"/>
                <a:sym typeface="Courier New"/>
              </a:rPr>
              <a:t>CR1</a:t>
            </a:r>
            <a:r>
              <a:rPr b="1" lang="en">
                <a:solidFill>
                  <a:schemeClr val="dk1"/>
                </a:solidFill>
                <a:highlight>
                  <a:schemeClr val="lt1"/>
                </a:highlight>
                <a:latin typeface="Courier New"/>
                <a:ea typeface="Courier New"/>
                <a:cs typeface="Courier New"/>
                <a:sym typeface="Courier New"/>
              </a:rPr>
              <a:t> |= I2C_CR1_PE;</a:t>
            </a:r>
            <a:endParaRPr sz="2000">
              <a:solidFill>
                <a:schemeClr val="dk2"/>
              </a:solidFill>
            </a:endParaRPr>
          </a:p>
        </p:txBody>
      </p:sp>
      <p:sp>
        <p:nvSpPr>
          <p:cNvPr id="294" name="Google Shape;294;p36"/>
          <p:cNvSpPr txBox="1"/>
          <p:nvPr/>
        </p:nvSpPr>
        <p:spPr>
          <a:xfrm>
            <a:off x="5388600" y="2314675"/>
            <a:ext cx="3443700" cy="6150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300">
                <a:solidFill>
                  <a:srgbClr val="3F7F5F"/>
                </a:solidFill>
                <a:highlight>
                  <a:schemeClr val="lt1"/>
                </a:highlight>
                <a:latin typeface="Courier New"/>
                <a:ea typeface="Courier New"/>
                <a:cs typeface="Courier New"/>
                <a:sym typeface="Courier New"/>
              </a:rPr>
              <a:t>Timing settings for Standard mode (100kHz) with 12MHz I2CCLK</a:t>
            </a:r>
            <a:endParaRPr sz="1800">
              <a:solidFill>
                <a:schemeClr val="dk2"/>
              </a:solidFill>
            </a:endParaRPr>
          </a:p>
        </p:txBody>
      </p:sp>
      <p:sp>
        <p:nvSpPr>
          <p:cNvPr id="295" name="Google Shape;295;p36"/>
          <p:cNvSpPr txBox="1"/>
          <p:nvPr>
            <p:ph type="title"/>
          </p:nvPr>
        </p:nvSpPr>
        <p:spPr>
          <a:xfrm>
            <a:off x="311700" y="3687123"/>
            <a:ext cx="8520600" cy="59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I2C control register 1 (I2C_CR1)</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7"/>
          <p:cNvSpPr txBox="1"/>
          <p:nvPr/>
        </p:nvSpPr>
        <p:spPr>
          <a:xfrm>
            <a:off x="0" y="712700"/>
            <a:ext cx="9213900" cy="61968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i2c1_init(</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Configure pins PB8 and PB9</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GPIOB (for PB8 and PB9)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IOPENR</a:t>
            </a:r>
            <a:r>
              <a:rPr b="1" lang="en" sz="1200">
                <a:solidFill>
                  <a:schemeClr val="dk1"/>
                </a:solidFill>
                <a:highlight>
                  <a:srgbClr val="FFFFFF"/>
                </a:highlight>
                <a:latin typeface="Courier New"/>
                <a:ea typeface="Courier New"/>
                <a:cs typeface="Courier New"/>
                <a:sym typeface="Courier New"/>
              </a:rPr>
              <a:t> |= RCC_IOPENR_GPIOBEN;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PB8 and PB9 to alternate function mode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 (GPIOB-&gt;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&amp; ~GPIO_MODER_MODE8_Msk) | (</a:t>
            </a:r>
            <a:r>
              <a:rPr b="1" lang="en" sz="1100">
                <a:solidFill>
                  <a:schemeClr val="dk1"/>
                </a:solidFill>
                <a:highlight>
                  <a:srgbClr val="FFFFFF"/>
                </a:highlight>
                <a:latin typeface="Courier New"/>
                <a:ea typeface="Courier New"/>
                <a:cs typeface="Courier New"/>
                <a:sym typeface="Courier New"/>
              </a:rPr>
              <a:t>GPIO_ALTERNATE</a:t>
            </a:r>
            <a:r>
              <a:rPr b="1" lang="en" sz="1200">
                <a:solidFill>
                  <a:schemeClr val="dk1"/>
                </a:solidFill>
                <a:highlight>
                  <a:srgbClr val="FFFFFF"/>
                </a:highlight>
                <a:latin typeface="Courier New"/>
                <a:ea typeface="Courier New"/>
                <a:cs typeface="Courier New"/>
                <a:sym typeface="Courier New"/>
              </a:rPr>
              <a:t> &lt;&lt; GPIO_MODER_MODE8_Pos);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 (GPIOB-&gt;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&amp; ~GPIO_MODER_MODE9_Msk) | (</a:t>
            </a:r>
            <a:r>
              <a:rPr b="1" lang="en" sz="1100">
                <a:solidFill>
                  <a:schemeClr val="dk1"/>
                </a:solidFill>
                <a:highlight>
                  <a:srgbClr val="FFFFFF"/>
                </a:highlight>
                <a:latin typeface="Courier New"/>
                <a:ea typeface="Courier New"/>
                <a:cs typeface="Courier New"/>
                <a:sym typeface="Courier New"/>
              </a:rPr>
              <a:t>GPIO_ALTERNATE</a:t>
            </a:r>
            <a:r>
              <a:rPr b="1" lang="en" sz="1200">
                <a:solidFill>
                  <a:schemeClr val="dk1"/>
                </a:solidFill>
                <a:highlight>
                  <a:srgbClr val="FFFFFF"/>
                </a:highlight>
                <a:latin typeface="Courier New"/>
                <a:ea typeface="Courier New"/>
                <a:cs typeface="Courier New"/>
                <a:sym typeface="Courier New"/>
              </a:rPr>
              <a:t> &lt;&lt; GPIO_MODER_MODE9_Pos);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Next, select AF6 for these pins.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AFR</a:t>
            </a:r>
            <a:r>
              <a:rPr b="1" lang="en" sz="1200">
                <a:solidFill>
                  <a:schemeClr val="dk1"/>
                </a:solidFill>
                <a:highlight>
                  <a:srgbClr val="FFFFFF"/>
                </a:highlight>
                <a:latin typeface="Courier New"/>
                <a:ea typeface="Courier New"/>
                <a:cs typeface="Courier New"/>
                <a:sym typeface="Courier New"/>
              </a:rPr>
              <a:t>[1] = ((GPIOB-&gt;</a:t>
            </a:r>
            <a:r>
              <a:rPr b="1" lang="en" sz="1200">
                <a:solidFill>
                  <a:srgbClr val="0000C0"/>
                </a:solidFill>
                <a:highlight>
                  <a:srgbClr val="FFFFFF"/>
                </a:highlight>
                <a:latin typeface="Courier New"/>
                <a:ea typeface="Courier New"/>
                <a:cs typeface="Courier New"/>
                <a:sym typeface="Courier New"/>
              </a:rPr>
              <a:t>AFR</a:t>
            </a:r>
            <a:r>
              <a:rPr b="1" lang="en" sz="1200">
                <a:solidFill>
                  <a:schemeClr val="dk1"/>
                </a:solidFill>
                <a:highlight>
                  <a:srgbClr val="FFFFFF"/>
                </a:highlight>
                <a:latin typeface="Courier New"/>
                <a:ea typeface="Courier New"/>
                <a:cs typeface="Courier New"/>
                <a:sym typeface="Courier New"/>
              </a:rPr>
              <a:t>[1]) &amp; ~GPIO_AFRH_AFSEL8_Msk) | (GPIO_AF6 &lt;&lt; GPIO_AFRH_AFSEL8_Pos);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AFR</a:t>
            </a:r>
            <a:r>
              <a:rPr b="1" lang="en" sz="1200">
                <a:solidFill>
                  <a:schemeClr val="dk1"/>
                </a:solidFill>
                <a:highlight>
                  <a:srgbClr val="FFFFFF"/>
                </a:highlight>
                <a:latin typeface="Courier New"/>
                <a:ea typeface="Courier New"/>
                <a:cs typeface="Courier New"/>
                <a:sym typeface="Courier New"/>
              </a:rPr>
              <a:t>[1] = ((GPIOB-&gt;</a:t>
            </a:r>
            <a:r>
              <a:rPr b="1" lang="en" sz="1200">
                <a:solidFill>
                  <a:srgbClr val="0000C0"/>
                </a:solidFill>
                <a:highlight>
                  <a:srgbClr val="FFFFFF"/>
                </a:highlight>
                <a:latin typeface="Courier New"/>
                <a:ea typeface="Courier New"/>
                <a:cs typeface="Courier New"/>
                <a:sym typeface="Courier New"/>
              </a:rPr>
              <a:t>AFR</a:t>
            </a:r>
            <a:r>
              <a:rPr b="1" lang="en" sz="1200">
                <a:solidFill>
                  <a:schemeClr val="dk1"/>
                </a:solidFill>
                <a:highlight>
                  <a:srgbClr val="FFFFFF"/>
                </a:highlight>
                <a:latin typeface="Courier New"/>
                <a:ea typeface="Courier New"/>
                <a:cs typeface="Courier New"/>
                <a:sym typeface="Courier New"/>
              </a:rPr>
              <a:t>[1]) &amp; ~GPIO_AFRH_AFSEL9_Msk) | (GPIO_AF6 &lt;&lt; GPIO_AFRH_AFSEL9_Pos);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PB8 and PB9 to open drain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OTYPER</a:t>
            </a:r>
            <a:r>
              <a:rPr b="1" lang="en" sz="1200">
                <a:solidFill>
                  <a:schemeClr val="dk1"/>
                </a:solidFill>
                <a:highlight>
                  <a:srgbClr val="FFFFFF"/>
                </a:highlight>
                <a:latin typeface="Courier New"/>
                <a:ea typeface="Courier New"/>
                <a:cs typeface="Courier New"/>
                <a:sym typeface="Courier New"/>
              </a:rPr>
              <a:t> |= (GPIO_OTYPER_OT8 | GPIO_OTYPER_OT9);</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pull-ups for PB8 and PB9 if needed: our devices have their own pull-ups.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3F7F5F"/>
                </a:solidFill>
                <a:highlight>
                  <a:srgbClr val="FFFFFF"/>
                </a:highlight>
                <a:latin typeface="Courier New"/>
                <a:ea typeface="Courier New"/>
                <a:cs typeface="Courier New"/>
                <a:sym typeface="Courier New"/>
              </a:rPr>
              <a:t>  // Configure the i2c module</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I2C1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APBENR1</a:t>
            </a:r>
            <a:r>
              <a:rPr b="1" lang="en" sz="1200">
                <a:solidFill>
                  <a:schemeClr val="dk1"/>
                </a:solidFill>
                <a:highlight>
                  <a:srgbClr val="FFFFFF"/>
                </a:highlight>
                <a:latin typeface="Courier New"/>
                <a:ea typeface="Courier New"/>
                <a:cs typeface="Courier New"/>
                <a:sym typeface="Courier New"/>
              </a:rPr>
              <a:t> |= RCC_APBENR1_I2C1EN;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Enter reset mode (disable peripheral)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&amp;= ~I2C_CR1_PE;</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Timing settings: Standard mode (100kHz) with 12MHz I2CCLK</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TIMINGR</a:t>
            </a:r>
            <a:r>
              <a:rPr b="1" lang="en" sz="1200">
                <a:solidFill>
                  <a:schemeClr val="dk1"/>
                </a:solidFill>
                <a:highlight>
                  <a:srgbClr val="FFFFFF"/>
                </a:highlight>
                <a:latin typeface="Courier New"/>
                <a:ea typeface="Courier New"/>
                <a:cs typeface="Courier New"/>
                <a:sym typeface="Courier New"/>
              </a:rPr>
              <a:t> &amp;= 0x0; </a:t>
            </a:r>
            <a:r>
              <a:rPr b="1" lang="en" sz="1200">
                <a:solidFill>
                  <a:srgbClr val="3F7F5F"/>
                </a:solidFill>
                <a:highlight>
                  <a:srgbClr val="FFFFFF"/>
                </a:highlight>
                <a:latin typeface="Courier New"/>
                <a:ea typeface="Courier New"/>
                <a:cs typeface="Courier New"/>
                <a:sym typeface="Courier New"/>
              </a:rPr>
              <a:t>// clear timing register</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TIMINGR</a:t>
            </a:r>
            <a:r>
              <a:rPr b="1" lang="en" sz="1200">
                <a:solidFill>
                  <a:schemeClr val="dk1"/>
                </a:solidFill>
                <a:highlight>
                  <a:srgbClr val="FFFFFF"/>
                </a:highlight>
                <a:latin typeface="Courier New"/>
                <a:ea typeface="Courier New"/>
                <a:cs typeface="Courier New"/>
                <a:sym typeface="Courier New"/>
              </a:rPr>
              <a:t> |= (0x2  &lt;&lt; I2C_TIMINGR_PRESC_Pos);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TIMINGR</a:t>
            </a:r>
            <a:r>
              <a:rPr b="1" lang="en" sz="1200">
                <a:solidFill>
                  <a:schemeClr val="dk1"/>
                </a:solidFill>
                <a:highlight>
                  <a:srgbClr val="FFFFFF"/>
                </a:highlight>
                <a:latin typeface="Courier New"/>
                <a:ea typeface="Courier New"/>
                <a:cs typeface="Courier New"/>
                <a:sym typeface="Courier New"/>
              </a:rPr>
              <a:t> |= (0x4  &lt;&lt; I2C_TIMINGR_SCLDEL_Pos) | (0x2 &lt;&lt; I2C_TIMINGR_SDADEL_Pos);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TIMINGR</a:t>
            </a:r>
            <a:r>
              <a:rPr b="1" lang="en" sz="1200">
                <a:solidFill>
                  <a:schemeClr val="dk1"/>
                </a:solidFill>
                <a:highlight>
                  <a:srgbClr val="FFFFFF"/>
                </a:highlight>
                <a:latin typeface="Courier New"/>
                <a:ea typeface="Courier New"/>
                <a:cs typeface="Courier New"/>
                <a:sym typeface="Courier New"/>
              </a:rPr>
              <a:t> |= (0xf &lt;&lt; I2C_TIMINGR_SCLH_Pos) | (0x13 &lt;&lt; I2C_TIMINGR_SCLL_Pos);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Exit reset mode (enable peripheral)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 I2C_CR1_PE;</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sp>
        <p:nvSpPr>
          <p:cNvPr id="301" name="Google Shape;301;p37"/>
          <p:cNvSpPr txBox="1"/>
          <p:nvPr/>
        </p:nvSpPr>
        <p:spPr>
          <a:xfrm>
            <a:off x="3469300" y="220300"/>
            <a:ext cx="1501200" cy="4194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Initializations</a:t>
            </a:r>
            <a:endParaRPr sz="1800">
              <a:solidFill>
                <a:srgbClr val="0000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8"/>
          <p:cNvSpPr txBox="1"/>
          <p:nvPr/>
        </p:nvSpPr>
        <p:spPr>
          <a:xfrm>
            <a:off x="0" y="712700"/>
            <a:ext cx="9213900" cy="61968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i2c1_init(</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Configure pins PB8 and PB9</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GPIOB (for PB8 and PB9)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IOPENR</a:t>
            </a:r>
            <a:r>
              <a:rPr b="1" lang="en" sz="1200">
                <a:solidFill>
                  <a:schemeClr val="dk1"/>
                </a:solidFill>
                <a:highlight>
                  <a:srgbClr val="FFFFFF"/>
                </a:highlight>
                <a:latin typeface="Courier New"/>
                <a:ea typeface="Courier New"/>
                <a:cs typeface="Courier New"/>
                <a:sym typeface="Courier New"/>
              </a:rPr>
              <a:t> |= RCC_IOPENR_GPIOBEN;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PB8 and PB9 to alternate function mode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 (GPIOB-&gt;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&amp; ~GPIO_MODER_MODE8_Msk) | (</a:t>
            </a:r>
            <a:r>
              <a:rPr b="1" lang="en" sz="1100">
                <a:solidFill>
                  <a:schemeClr val="dk1"/>
                </a:solidFill>
                <a:highlight>
                  <a:srgbClr val="FFFFFF"/>
                </a:highlight>
                <a:latin typeface="Courier New"/>
                <a:ea typeface="Courier New"/>
                <a:cs typeface="Courier New"/>
                <a:sym typeface="Courier New"/>
              </a:rPr>
              <a:t>GPIO_ALTERNATE</a:t>
            </a:r>
            <a:r>
              <a:rPr b="1" lang="en" sz="1200">
                <a:solidFill>
                  <a:schemeClr val="dk1"/>
                </a:solidFill>
                <a:highlight>
                  <a:srgbClr val="FFFFFF"/>
                </a:highlight>
                <a:latin typeface="Courier New"/>
                <a:ea typeface="Courier New"/>
                <a:cs typeface="Courier New"/>
                <a:sym typeface="Courier New"/>
              </a:rPr>
              <a:t> &lt;&lt; GPIO_MODER_MODE8_Pos);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 (GPIOB-&gt;</a:t>
            </a:r>
            <a:r>
              <a:rPr b="1" lang="en" sz="1200">
                <a:solidFill>
                  <a:srgbClr val="0000C0"/>
                </a:solidFill>
                <a:highlight>
                  <a:srgbClr val="FFFFFF"/>
                </a:highlight>
                <a:latin typeface="Courier New"/>
                <a:ea typeface="Courier New"/>
                <a:cs typeface="Courier New"/>
                <a:sym typeface="Courier New"/>
              </a:rPr>
              <a:t>MODER</a:t>
            </a:r>
            <a:r>
              <a:rPr b="1" lang="en" sz="1200">
                <a:solidFill>
                  <a:schemeClr val="dk1"/>
                </a:solidFill>
                <a:highlight>
                  <a:srgbClr val="FFFFFF"/>
                </a:highlight>
                <a:latin typeface="Courier New"/>
                <a:ea typeface="Courier New"/>
                <a:cs typeface="Courier New"/>
                <a:sym typeface="Courier New"/>
              </a:rPr>
              <a:t> &amp; ~GPIO_MODER_MODE9_Msk) | (</a:t>
            </a:r>
            <a:r>
              <a:rPr b="1" lang="en" sz="1100">
                <a:solidFill>
                  <a:schemeClr val="dk1"/>
                </a:solidFill>
                <a:highlight>
                  <a:srgbClr val="FFFFFF"/>
                </a:highlight>
                <a:latin typeface="Courier New"/>
                <a:ea typeface="Courier New"/>
                <a:cs typeface="Courier New"/>
                <a:sym typeface="Courier New"/>
              </a:rPr>
              <a:t>GPIO_ALTERNATE</a:t>
            </a:r>
            <a:r>
              <a:rPr b="1" lang="en" sz="1200">
                <a:solidFill>
                  <a:schemeClr val="dk1"/>
                </a:solidFill>
                <a:highlight>
                  <a:srgbClr val="FFFFFF"/>
                </a:highlight>
                <a:latin typeface="Courier New"/>
                <a:ea typeface="Courier New"/>
                <a:cs typeface="Courier New"/>
                <a:sym typeface="Courier New"/>
              </a:rPr>
              <a:t> &lt;&lt; GPIO_MODER_MODE9_Pos);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Next, select AF6 for these pins.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AFR</a:t>
            </a:r>
            <a:r>
              <a:rPr b="1" lang="en" sz="1200">
                <a:solidFill>
                  <a:schemeClr val="dk1"/>
                </a:solidFill>
                <a:highlight>
                  <a:srgbClr val="FFFFFF"/>
                </a:highlight>
                <a:latin typeface="Courier New"/>
                <a:ea typeface="Courier New"/>
                <a:cs typeface="Courier New"/>
                <a:sym typeface="Courier New"/>
              </a:rPr>
              <a:t>[1] = ((GPIOB-&gt;</a:t>
            </a:r>
            <a:r>
              <a:rPr b="1" lang="en" sz="1200">
                <a:solidFill>
                  <a:srgbClr val="0000C0"/>
                </a:solidFill>
                <a:highlight>
                  <a:srgbClr val="FFFFFF"/>
                </a:highlight>
                <a:latin typeface="Courier New"/>
                <a:ea typeface="Courier New"/>
                <a:cs typeface="Courier New"/>
                <a:sym typeface="Courier New"/>
              </a:rPr>
              <a:t>AFR</a:t>
            </a:r>
            <a:r>
              <a:rPr b="1" lang="en" sz="1200">
                <a:solidFill>
                  <a:schemeClr val="dk1"/>
                </a:solidFill>
                <a:highlight>
                  <a:srgbClr val="FFFFFF"/>
                </a:highlight>
                <a:latin typeface="Courier New"/>
                <a:ea typeface="Courier New"/>
                <a:cs typeface="Courier New"/>
                <a:sym typeface="Courier New"/>
              </a:rPr>
              <a:t>[1]) &amp; ~GPIO_AFRH_AFSEL8_Msk) | (GPIO_AF6 &lt;&lt; GPIO_AFRH_AFSEL8_Pos);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AFR</a:t>
            </a:r>
            <a:r>
              <a:rPr b="1" lang="en" sz="1200">
                <a:solidFill>
                  <a:schemeClr val="dk1"/>
                </a:solidFill>
                <a:highlight>
                  <a:srgbClr val="FFFFFF"/>
                </a:highlight>
                <a:latin typeface="Courier New"/>
                <a:ea typeface="Courier New"/>
                <a:cs typeface="Courier New"/>
                <a:sym typeface="Courier New"/>
              </a:rPr>
              <a:t>[1] = ((GPIOB-&gt;</a:t>
            </a:r>
            <a:r>
              <a:rPr b="1" lang="en" sz="1200">
                <a:solidFill>
                  <a:srgbClr val="0000C0"/>
                </a:solidFill>
                <a:highlight>
                  <a:srgbClr val="FFFFFF"/>
                </a:highlight>
                <a:latin typeface="Courier New"/>
                <a:ea typeface="Courier New"/>
                <a:cs typeface="Courier New"/>
                <a:sym typeface="Courier New"/>
              </a:rPr>
              <a:t>AFR</a:t>
            </a:r>
            <a:r>
              <a:rPr b="1" lang="en" sz="1200">
                <a:solidFill>
                  <a:schemeClr val="dk1"/>
                </a:solidFill>
                <a:highlight>
                  <a:srgbClr val="FFFFFF"/>
                </a:highlight>
                <a:latin typeface="Courier New"/>
                <a:ea typeface="Courier New"/>
                <a:cs typeface="Courier New"/>
                <a:sym typeface="Courier New"/>
              </a:rPr>
              <a:t>[1]) &amp; ~GPIO_AFRH_AFSEL9_Msk) | (GPIO_AF6 &lt;&lt; GPIO_AFRH_AFSEL9_Pos);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Set PB8 and PB9 to open drain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GPIOB-&gt;</a:t>
            </a:r>
            <a:r>
              <a:rPr b="1" lang="en" sz="1200">
                <a:solidFill>
                  <a:srgbClr val="0000C0"/>
                </a:solidFill>
                <a:highlight>
                  <a:srgbClr val="FFFFFF"/>
                </a:highlight>
                <a:latin typeface="Courier New"/>
                <a:ea typeface="Courier New"/>
                <a:cs typeface="Courier New"/>
                <a:sym typeface="Courier New"/>
              </a:rPr>
              <a:t>OTYPER</a:t>
            </a:r>
            <a:r>
              <a:rPr b="1" lang="en" sz="1200">
                <a:solidFill>
                  <a:schemeClr val="dk1"/>
                </a:solidFill>
                <a:highlight>
                  <a:srgbClr val="FFFFFF"/>
                </a:highlight>
                <a:latin typeface="Courier New"/>
                <a:ea typeface="Courier New"/>
                <a:cs typeface="Courier New"/>
                <a:sym typeface="Courier New"/>
              </a:rPr>
              <a:t> |= (GPIO_OTYPER_OT8 | GPIO_OTYPER_OT9);</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pull-ups for PB8 and PB9 if needed: our devices have their own pull-ups.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rgbClr val="3F7F5F"/>
                </a:solidFill>
                <a:highlight>
                  <a:srgbClr val="FFFFFF"/>
                </a:highlight>
                <a:latin typeface="Courier New"/>
                <a:ea typeface="Courier New"/>
                <a:cs typeface="Courier New"/>
                <a:sym typeface="Courier New"/>
              </a:rPr>
              <a:t>  // Configure the i2c module</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Enable clock access to I2C1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APBENR1</a:t>
            </a:r>
            <a:r>
              <a:rPr b="1" lang="en" sz="1200">
                <a:solidFill>
                  <a:schemeClr val="dk1"/>
                </a:solidFill>
                <a:highlight>
                  <a:srgbClr val="FFFFFF"/>
                </a:highlight>
                <a:latin typeface="Courier New"/>
                <a:ea typeface="Courier New"/>
                <a:cs typeface="Courier New"/>
                <a:sym typeface="Courier New"/>
              </a:rPr>
              <a:t> |= RCC_APBENR1_I2C1EN;</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Enter reset mode (disable peripheral)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&amp;= ~I2C_CR1_PE;</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Timing settings: Standard mode (100kHz) with 12MHz I2CCLK</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TIMINGR</a:t>
            </a:r>
            <a:r>
              <a:rPr b="1" lang="en" sz="1200">
                <a:solidFill>
                  <a:schemeClr val="dk1"/>
                </a:solidFill>
                <a:highlight>
                  <a:srgbClr val="FFFFFF"/>
                </a:highlight>
                <a:latin typeface="Courier New"/>
                <a:ea typeface="Courier New"/>
                <a:cs typeface="Courier New"/>
                <a:sym typeface="Courier New"/>
              </a:rPr>
              <a:t> &amp;= 0x0; </a:t>
            </a:r>
            <a:r>
              <a:rPr b="1" lang="en" sz="1200">
                <a:solidFill>
                  <a:srgbClr val="3F7F5F"/>
                </a:solidFill>
                <a:highlight>
                  <a:srgbClr val="FFFFFF"/>
                </a:highlight>
                <a:latin typeface="Courier New"/>
                <a:ea typeface="Courier New"/>
                <a:cs typeface="Courier New"/>
                <a:sym typeface="Courier New"/>
              </a:rPr>
              <a:t>// clear timing register</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TIMINGR</a:t>
            </a:r>
            <a:r>
              <a:rPr b="1" lang="en" sz="1200">
                <a:solidFill>
                  <a:schemeClr val="dk1"/>
                </a:solidFill>
                <a:highlight>
                  <a:srgbClr val="FFFFFF"/>
                </a:highlight>
                <a:latin typeface="Courier New"/>
                <a:ea typeface="Courier New"/>
                <a:cs typeface="Courier New"/>
                <a:sym typeface="Courier New"/>
              </a:rPr>
              <a:t> |= (0x2  &lt;&lt; I2C_TIMINGR_PRESC_Pos);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TIMINGR</a:t>
            </a:r>
            <a:r>
              <a:rPr b="1" lang="en" sz="1200">
                <a:solidFill>
                  <a:schemeClr val="dk1"/>
                </a:solidFill>
                <a:highlight>
                  <a:srgbClr val="FFFFFF"/>
                </a:highlight>
                <a:latin typeface="Courier New"/>
                <a:ea typeface="Courier New"/>
                <a:cs typeface="Courier New"/>
                <a:sym typeface="Courier New"/>
              </a:rPr>
              <a:t> |= (0x4  &lt;&lt; I2C_TIMINGR_SCLDEL_Pos) | (0x2 &lt;&lt; I2C_TIMINGR_SDADEL_Pos);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TIMINGR</a:t>
            </a:r>
            <a:r>
              <a:rPr b="1" lang="en" sz="1200">
                <a:solidFill>
                  <a:schemeClr val="dk1"/>
                </a:solidFill>
                <a:highlight>
                  <a:srgbClr val="FFFFFF"/>
                </a:highlight>
                <a:latin typeface="Courier New"/>
                <a:ea typeface="Courier New"/>
                <a:cs typeface="Courier New"/>
                <a:sym typeface="Courier New"/>
              </a:rPr>
              <a:t> |= (0xf &lt;&lt; I2C_TIMINGR_SCLH_Pos) | (0x13 &lt;&lt; I2C_TIMINGR_SCLL_Pos);</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Exit reset mode (enable peripheral)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 I2C_CR1_PE;</a:t>
            </a:r>
            <a:endParaRPr b="1" sz="1200">
              <a:solidFill>
                <a:schemeClr val="dk1"/>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sp>
        <p:nvSpPr>
          <p:cNvPr id="307" name="Google Shape;307;p38"/>
          <p:cNvSpPr txBox="1"/>
          <p:nvPr/>
        </p:nvSpPr>
        <p:spPr>
          <a:xfrm>
            <a:off x="3469300" y="220300"/>
            <a:ext cx="1501200" cy="4194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Initializations</a:t>
            </a:r>
            <a:endParaRPr sz="1800">
              <a:solidFill>
                <a:srgbClr val="0000FF"/>
              </a:solidFill>
            </a:endParaRPr>
          </a:p>
        </p:txBody>
      </p:sp>
      <p:pic>
        <p:nvPicPr>
          <p:cNvPr id="308" name="Google Shape;308;p38" title="Screenshot 2026-02-02 at 1.17.21 PM.png"/>
          <p:cNvPicPr preferRelativeResize="0"/>
          <p:nvPr/>
        </p:nvPicPr>
        <p:blipFill rotWithShape="1">
          <a:blip r:embed="rId3">
            <a:alphaModFix/>
          </a:blip>
          <a:srcRect b="20026" l="0" r="0" t="0"/>
          <a:stretch/>
        </p:blipFill>
        <p:spPr>
          <a:xfrm>
            <a:off x="710975" y="3028950"/>
            <a:ext cx="8249623" cy="3674599"/>
          </a:xfrm>
          <a:prstGeom prst="rect">
            <a:avLst/>
          </a:prstGeom>
          <a:noFill/>
          <a:ln>
            <a:noFill/>
          </a:ln>
        </p:spPr>
      </p:pic>
      <p:sp>
        <p:nvSpPr>
          <p:cNvPr id="309" name="Google Shape;309;p38"/>
          <p:cNvSpPr/>
          <p:nvPr/>
        </p:nvSpPr>
        <p:spPr>
          <a:xfrm>
            <a:off x="787750" y="5962125"/>
            <a:ext cx="447900" cy="6180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 name="Google Shape;310;p38"/>
          <p:cNvSpPr/>
          <p:nvPr/>
        </p:nvSpPr>
        <p:spPr>
          <a:xfrm>
            <a:off x="6948625" y="5962125"/>
            <a:ext cx="975000" cy="6180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38"/>
          <p:cNvSpPr/>
          <p:nvPr/>
        </p:nvSpPr>
        <p:spPr>
          <a:xfrm>
            <a:off x="6948625" y="3241575"/>
            <a:ext cx="975000" cy="3420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38"/>
          <p:cNvSpPr/>
          <p:nvPr/>
        </p:nvSpPr>
        <p:spPr>
          <a:xfrm>
            <a:off x="5726350" y="2451600"/>
            <a:ext cx="975000" cy="4986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 I sending or receiving?</a:t>
            </a:r>
            <a:endParaRPr/>
          </a:p>
        </p:txBody>
      </p:sp>
      <p:sp>
        <p:nvSpPr>
          <p:cNvPr id="318" name="Google Shape;318;p39"/>
          <p:cNvSpPr txBox="1"/>
          <p:nvPr>
            <p:ph idx="1" type="body"/>
          </p:nvPr>
        </p:nvSpPr>
        <p:spPr>
          <a:xfrm>
            <a:off x="311700" y="1536630"/>
            <a:ext cx="8520600" cy="19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rPr>
              <a:t>With a bidirectional bus, h</a:t>
            </a:r>
            <a:r>
              <a:rPr lang="en" sz="1600">
                <a:solidFill>
                  <a:schemeClr val="dk1"/>
                </a:solidFill>
              </a:rPr>
              <a:t>ow does the device know whether it's sending or receiving data?</a:t>
            </a:r>
            <a:endParaRPr sz="1600">
              <a:solidFill>
                <a:schemeClr val="dk1"/>
              </a:solidFill>
            </a:endParaRPr>
          </a:p>
          <a:p>
            <a:pPr indent="-330200" lvl="0" marL="457200" rtl="0" algn="l">
              <a:spcBef>
                <a:spcPts val="1000"/>
              </a:spcBef>
              <a:spcAft>
                <a:spcPts val="0"/>
              </a:spcAft>
              <a:buClr>
                <a:schemeClr val="dk1"/>
              </a:buClr>
              <a:buSzPts val="1600"/>
              <a:buChar char="●"/>
            </a:pPr>
            <a:r>
              <a:rPr lang="en" sz="1600">
                <a:solidFill>
                  <a:schemeClr val="dk1"/>
                </a:solidFill>
              </a:rPr>
              <a:t>Every communication starts by sending a start condition, then the device address with which to communicate.</a:t>
            </a:r>
            <a:endParaRPr sz="1600">
              <a:solidFill>
                <a:schemeClr val="dk1"/>
              </a:solidFill>
            </a:endParaRPr>
          </a:p>
          <a:p>
            <a:pPr indent="-330200" lvl="0" marL="457200" rtl="0" algn="l">
              <a:spcBef>
                <a:spcPts val="1000"/>
              </a:spcBef>
              <a:spcAft>
                <a:spcPts val="0"/>
              </a:spcAft>
              <a:buClr>
                <a:schemeClr val="dk1"/>
              </a:buClr>
              <a:buSzPts val="1600"/>
              <a:buChar char="●"/>
            </a:pPr>
            <a:r>
              <a:rPr lang="en" sz="1600">
                <a:solidFill>
                  <a:schemeClr val="dk1"/>
                </a:solidFill>
              </a:rPr>
              <a:t>The device address (7-bit) is combined with an 8th bit in the LSB position which indicates reading (1) or writing (0) to the peripheral device.</a:t>
            </a:r>
            <a:endParaRPr sz="1600">
              <a:solidFill>
                <a:schemeClr val="dk1"/>
              </a:solidFill>
            </a:endParaRPr>
          </a:p>
          <a:p>
            <a:pPr indent="0" lvl="0" marL="0" rtl="0" algn="l">
              <a:spcBef>
                <a:spcPts val="1000"/>
              </a:spcBef>
              <a:spcAft>
                <a:spcPts val="1000"/>
              </a:spcAft>
              <a:buNone/>
            </a:pPr>
            <a:r>
              <a:t/>
            </a:r>
            <a:endParaRPr/>
          </a:p>
        </p:txBody>
      </p:sp>
      <p:pic>
        <p:nvPicPr>
          <p:cNvPr id="319" name="Google Shape;319;p39"/>
          <p:cNvPicPr preferRelativeResize="0"/>
          <p:nvPr/>
        </p:nvPicPr>
        <p:blipFill>
          <a:blip r:embed="rId3">
            <a:alphaModFix/>
          </a:blip>
          <a:stretch>
            <a:fillRect/>
          </a:stretch>
        </p:blipFill>
        <p:spPr>
          <a:xfrm>
            <a:off x="0" y="3823143"/>
            <a:ext cx="9144000" cy="2307432"/>
          </a:xfrm>
          <a:prstGeom prst="rect">
            <a:avLst/>
          </a:prstGeom>
          <a:noFill/>
          <a:ln>
            <a:noFill/>
          </a:ln>
        </p:spPr>
      </p:pic>
      <p:sp>
        <p:nvSpPr>
          <p:cNvPr id="320" name="Google Shape;320;p39"/>
          <p:cNvSpPr/>
          <p:nvPr/>
        </p:nvSpPr>
        <p:spPr>
          <a:xfrm>
            <a:off x="3535050" y="4739850"/>
            <a:ext cx="759000" cy="5580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0"/>
          <p:cNvSpPr txBox="1"/>
          <p:nvPr>
            <p:ph idx="1" type="body"/>
          </p:nvPr>
        </p:nvSpPr>
        <p:spPr>
          <a:xfrm>
            <a:off x="311700" y="1011400"/>
            <a:ext cx="8520600" cy="4425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Device addresses are 7-bit addresses, some bits of which are pre-determined by the device, others you may be able to change (in order to avoid addressing conflicts).</a:t>
            </a:r>
            <a:endParaRPr/>
          </a:p>
          <a:p>
            <a:pPr indent="-342900" lvl="0" marL="457200" rtl="0" algn="l">
              <a:spcBef>
                <a:spcPts val="0"/>
              </a:spcBef>
              <a:spcAft>
                <a:spcPts val="0"/>
              </a:spcAft>
              <a:buSzPts val="1800"/>
              <a:buChar char="●"/>
            </a:pPr>
            <a:r>
              <a:rPr lang="en"/>
              <a:t>The 8th bit (the LSB) is used to indicate whether the Transmitter is: </a:t>
            </a:r>
            <a:endParaRPr/>
          </a:p>
          <a:p>
            <a:pPr indent="-317500" lvl="1" marL="914400" rtl="0" algn="l">
              <a:spcBef>
                <a:spcPts val="0"/>
              </a:spcBef>
              <a:spcAft>
                <a:spcPts val="0"/>
              </a:spcAft>
              <a:buSzPts val="1400"/>
              <a:buChar char="○"/>
            </a:pPr>
            <a:r>
              <a:rPr lang="en"/>
              <a:t>Writing to the device (0)</a:t>
            </a:r>
            <a:endParaRPr/>
          </a:p>
          <a:p>
            <a:pPr indent="-317500" lvl="1" marL="914400" rtl="0" algn="l">
              <a:spcBef>
                <a:spcPts val="0"/>
              </a:spcBef>
              <a:spcAft>
                <a:spcPts val="0"/>
              </a:spcAft>
              <a:buSzPts val="1400"/>
              <a:buChar char="○"/>
            </a:pPr>
            <a:r>
              <a:rPr lang="en"/>
              <a:t>Reading from the device (1).</a:t>
            </a:r>
            <a:endParaRPr/>
          </a:p>
          <a:p>
            <a:pPr indent="0" lvl="0" marL="0" rtl="0" algn="l">
              <a:spcBef>
                <a:spcPts val="1600"/>
              </a:spcBef>
              <a:spcAft>
                <a:spcPts val="0"/>
              </a:spcAft>
              <a:buNone/>
            </a:pPr>
            <a:r>
              <a:rPr lang="en"/>
              <a:t>Example: 7-segment display with backpack:</a:t>
            </a:r>
            <a:endParaRPr/>
          </a:p>
          <a:p>
            <a:pPr indent="-342900" lvl="0" marL="457200" rtl="0" algn="l">
              <a:spcBef>
                <a:spcPts val="1600"/>
              </a:spcBef>
              <a:spcAft>
                <a:spcPts val="0"/>
              </a:spcAft>
              <a:buSzPts val="1800"/>
              <a:buChar char="●"/>
            </a:pPr>
            <a:r>
              <a:rPr lang="en"/>
              <a:t>7-bit address is 0b 0111 0000, or 0x70</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rPr lang="en"/>
              <a:t>There also is a 10-bit addressing mode but we</a:t>
            </a:r>
            <a:br>
              <a:rPr lang="en"/>
            </a:br>
            <a:r>
              <a:rPr lang="en"/>
              <a:t>won't be using that.</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326" name="Google Shape;326;p40"/>
          <p:cNvSpPr txBox="1"/>
          <p:nvPr>
            <p:ph type="title"/>
          </p:nvPr>
        </p:nvSpPr>
        <p:spPr>
          <a:xfrm>
            <a:off x="311700" y="2478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Device Address</a:t>
            </a:r>
            <a:endParaRPr/>
          </a:p>
        </p:txBody>
      </p:sp>
      <p:sp>
        <p:nvSpPr>
          <p:cNvPr id="327" name="Google Shape;327;p40"/>
          <p:cNvSpPr txBox="1"/>
          <p:nvPr/>
        </p:nvSpPr>
        <p:spPr>
          <a:xfrm>
            <a:off x="2231250" y="5437300"/>
            <a:ext cx="4681500" cy="930600"/>
          </a:xfrm>
          <a:prstGeom prst="rect">
            <a:avLst/>
          </a:prstGeom>
          <a:noFill/>
          <a:ln cap="flat" cmpd="sng" w="2857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
                <a:solidFill>
                  <a:srgbClr val="38761D"/>
                </a:solidFill>
              </a:rPr>
              <a:t>Caution: Some datasheets are not explicit on whether they are listing the 7-bit version or the 8-bit version of the address!  This can be a major source of confusion. </a:t>
            </a:r>
            <a:endParaRPr i="1">
              <a:solidFill>
                <a:srgbClr val="38761D"/>
              </a:solidFill>
            </a:endParaRPr>
          </a:p>
        </p:txBody>
      </p:sp>
      <p:pic>
        <p:nvPicPr>
          <p:cNvPr id="328" name="Google Shape;328;p40"/>
          <p:cNvPicPr preferRelativeResize="0"/>
          <p:nvPr/>
        </p:nvPicPr>
        <p:blipFill rotWithShape="1">
          <a:blip r:embed="rId3">
            <a:alphaModFix/>
          </a:blip>
          <a:srcRect b="7329" l="0" r="0" t="17506"/>
          <a:stretch/>
        </p:blipFill>
        <p:spPr>
          <a:xfrm>
            <a:off x="5611475" y="2688325"/>
            <a:ext cx="2851775" cy="16469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1"/>
          <p:cNvSpPr txBox="1"/>
          <p:nvPr>
            <p:ph type="title"/>
          </p:nvPr>
        </p:nvSpPr>
        <p:spPr>
          <a:xfrm>
            <a:off x="311700" y="181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I2C Control Register 2 (I2C_CR2)</a:t>
            </a:r>
            <a:endParaRPr/>
          </a:p>
        </p:txBody>
      </p:sp>
      <p:pic>
        <p:nvPicPr>
          <p:cNvPr id="334" name="Google Shape;334;p41"/>
          <p:cNvPicPr preferRelativeResize="0"/>
          <p:nvPr/>
        </p:nvPicPr>
        <p:blipFill>
          <a:blip r:embed="rId3">
            <a:alphaModFix/>
          </a:blip>
          <a:stretch>
            <a:fillRect/>
          </a:stretch>
        </p:blipFill>
        <p:spPr>
          <a:xfrm>
            <a:off x="0" y="945076"/>
            <a:ext cx="8832301" cy="1892636"/>
          </a:xfrm>
          <a:prstGeom prst="rect">
            <a:avLst/>
          </a:prstGeom>
          <a:noFill/>
          <a:ln>
            <a:noFill/>
          </a:ln>
        </p:spPr>
      </p:pic>
      <p:sp>
        <p:nvSpPr>
          <p:cNvPr id="335" name="Google Shape;335;p41"/>
          <p:cNvSpPr/>
          <p:nvPr/>
        </p:nvSpPr>
        <p:spPr>
          <a:xfrm>
            <a:off x="3274225" y="1868925"/>
            <a:ext cx="5436900" cy="8712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41"/>
          <p:cNvSpPr/>
          <p:nvPr/>
        </p:nvSpPr>
        <p:spPr>
          <a:xfrm>
            <a:off x="2734050" y="1868925"/>
            <a:ext cx="512400" cy="871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41"/>
          <p:cNvSpPr/>
          <p:nvPr/>
        </p:nvSpPr>
        <p:spPr>
          <a:xfrm>
            <a:off x="1128375" y="1868925"/>
            <a:ext cx="534600" cy="8712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41"/>
          <p:cNvSpPr/>
          <p:nvPr/>
        </p:nvSpPr>
        <p:spPr>
          <a:xfrm>
            <a:off x="3274225" y="971400"/>
            <a:ext cx="534600" cy="8712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41"/>
          <p:cNvSpPr/>
          <p:nvPr/>
        </p:nvSpPr>
        <p:spPr>
          <a:xfrm>
            <a:off x="4345250" y="971400"/>
            <a:ext cx="4365900" cy="8712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0" name="Google Shape;340;p41"/>
          <p:cNvPicPr preferRelativeResize="0"/>
          <p:nvPr/>
        </p:nvPicPr>
        <p:blipFill>
          <a:blip r:embed="rId4">
            <a:alphaModFix/>
          </a:blip>
          <a:stretch>
            <a:fillRect/>
          </a:stretch>
        </p:blipFill>
        <p:spPr>
          <a:xfrm>
            <a:off x="152400" y="4211312"/>
            <a:ext cx="5800725" cy="523875"/>
          </a:xfrm>
          <a:prstGeom prst="rect">
            <a:avLst/>
          </a:prstGeom>
          <a:noFill/>
          <a:ln cap="flat" cmpd="sng" w="28575">
            <a:solidFill>
              <a:srgbClr val="9900FF"/>
            </a:solidFill>
            <a:prstDash val="solid"/>
            <a:round/>
            <a:headEnd len="sm" w="sm" type="none"/>
            <a:tailEnd len="sm" w="sm" type="none"/>
          </a:ln>
        </p:spPr>
      </p:pic>
      <p:pic>
        <p:nvPicPr>
          <p:cNvPr id="341" name="Google Shape;341;p41"/>
          <p:cNvPicPr preferRelativeResize="0"/>
          <p:nvPr/>
        </p:nvPicPr>
        <p:blipFill>
          <a:blip r:embed="rId5">
            <a:alphaModFix/>
          </a:blip>
          <a:stretch>
            <a:fillRect/>
          </a:stretch>
        </p:blipFill>
        <p:spPr>
          <a:xfrm>
            <a:off x="152400" y="2906899"/>
            <a:ext cx="7096125" cy="1123950"/>
          </a:xfrm>
          <a:prstGeom prst="rect">
            <a:avLst/>
          </a:prstGeom>
          <a:noFill/>
          <a:ln cap="flat" cmpd="sng" w="28575">
            <a:solidFill>
              <a:srgbClr val="FF00FF"/>
            </a:solidFill>
            <a:prstDash val="solid"/>
            <a:round/>
            <a:headEnd len="sm" w="sm" type="none"/>
            <a:tailEnd len="sm" w="sm" type="none"/>
          </a:ln>
        </p:spPr>
      </p:pic>
      <p:pic>
        <p:nvPicPr>
          <p:cNvPr id="342" name="Google Shape;342;p41"/>
          <p:cNvPicPr preferRelativeResize="0"/>
          <p:nvPr/>
        </p:nvPicPr>
        <p:blipFill>
          <a:blip r:embed="rId6">
            <a:alphaModFix/>
          </a:blip>
          <a:stretch>
            <a:fillRect/>
          </a:stretch>
        </p:blipFill>
        <p:spPr>
          <a:xfrm>
            <a:off x="155213" y="4915637"/>
            <a:ext cx="6772633" cy="1762863"/>
          </a:xfrm>
          <a:prstGeom prst="rect">
            <a:avLst/>
          </a:prstGeom>
          <a:noFill/>
          <a:ln cap="flat" cmpd="sng" w="28575">
            <a:solidFill>
              <a:srgbClr val="38761D"/>
            </a:solidFill>
            <a:prstDash val="solid"/>
            <a:round/>
            <a:headEnd len="sm" w="sm" type="none"/>
            <a:tailEnd len="sm" w="sm" type="none"/>
          </a:ln>
        </p:spPr>
      </p:pic>
      <p:pic>
        <p:nvPicPr>
          <p:cNvPr id="343" name="Google Shape;343;p41"/>
          <p:cNvPicPr preferRelativeResize="0"/>
          <p:nvPr/>
        </p:nvPicPr>
        <p:blipFill>
          <a:blip r:embed="rId7">
            <a:alphaModFix/>
          </a:blip>
          <a:stretch>
            <a:fillRect/>
          </a:stretch>
        </p:blipFill>
        <p:spPr>
          <a:xfrm>
            <a:off x="5217013" y="3094713"/>
            <a:ext cx="3705225" cy="762000"/>
          </a:xfrm>
          <a:prstGeom prst="rect">
            <a:avLst/>
          </a:prstGeom>
          <a:noFill/>
          <a:ln cap="flat" cmpd="sng" w="28575">
            <a:solidFill>
              <a:srgbClr val="0000FF"/>
            </a:solidFill>
            <a:prstDash val="solid"/>
            <a:round/>
            <a:headEnd len="sm" w="sm" type="none"/>
            <a:tailEnd len="sm" w="sm" type="none"/>
          </a:ln>
        </p:spPr>
      </p:pic>
      <p:pic>
        <p:nvPicPr>
          <p:cNvPr id="344" name="Google Shape;344;p41"/>
          <p:cNvPicPr preferRelativeResize="0"/>
          <p:nvPr/>
        </p:nvPicPr>
        <p:blipFill>
          <a:blip r:embed="rId8">
            <a:alphaModFix/>
          </a:blip>
          <a:stretch>
            <a:fillRect/>
          </a:stretch>
        </p:blipFill>
        <p:spPr>
          <a:xfrm>
            <a:off x="2183850" y="5227688"/>
            <a:ext cx="6648450" cy="923925"/>
          </a:xfrm>
          <a:prstGeom prst="rect">
            <a:avLst/>
          </a:prstGeom>
          <a:noFill/>
          <a:ln cap="flat" cmpd="sng" w="28575">
            <a:solidFill>
              <a:srgbClr val="CC00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2"/>
          <p:cNvSpPr txBox="1"/>
          <p:nvPr>
            <p:ph type="title"/>
          </p:nvPr>
        </p:nvSpPr>
        <p:spPr>
          <a:xfrm>
            <a:off x="266800" y="1556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Send a byte of data to target</a:t>
            </a:r>
            <a:endParaRPr/>
          </a:p>
        </p:txBody>
      </p:sp>
      <p:sp>
        <p:nvSpPr>
          <p:cNvPr id="350" name="Google Shape;350;p42"/>
          <p:cNvSpPr txBox="1"/>
          <p:nvPr>
            <p:ph idx="1" type="body"/>
          </p:nvPr>
        </p:nvSpPr>
        <p:spPr>
          <a:xfrm>
            <a:off x="311700" y="802950"/>
            <a:ext cx="8520600" cy="2373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Initiate communication: program </a:t>
            </a:r>
            <a:endParaRPr sz="1600"/>
          </a:p>
          <a:p>
            <a:pPr indent="-330200" lvl="1" marL="914400" rtl="0" algn="l">
              <a:spcBef>
                <a:spcPts val="0"/>
              </a:spcBef>
              <a:spcAft>
                <a:spcPts val="0"/>
              </a:spcAft>
              <a:buSzPts val="1600"/>
              <a:buChar char="○"/>
            </a:pPr>
            <a:r>
              <a:rPr lang="en" sz="1600"/>
              <a:t>Target address</a:t>
            </a:r>
            <a:endParaRPr sz="1600"/>
          </a:p>
          <a:p>
            <a:pPr indent="-330200" lvl="1" marL="914400" rtl="0" algn="l">
              <a:spcBef>
                <a:spcPts val="0"/>
              </a:spcBef>
              <a:spcAft>
                <a:spcPts val="0"/>
              </a:spcAft>
              <a:buSzPts val="1600"/>
              <a:buChar char="○"/>
            </a:pPr>
            <a:r>
              <a:rPr lang="en" sz="1600"/>
              <a:t>Transfer direction (</a:t>
            </a:r>
            <a:r>
              <a:rPr lang="en" sz="1600">
                <a:solidFill>
                  <a:srgbClr val="0000FF"/>
                </a:solidFill>
              </a:rPr>
              <a:t>0 for write by default</a:t>
            </a:r>
            <a:r>
              <a:rPr lang="en" sz="1600"/>
              <a:t>)</a:t>
            </a:r>
            <a:endParaRPr sz="1600"/>
          </a:p>
          <a:p>
            <a:pPr indent="-330200" lvl="1" marL="914400" rtl="0" algn="l">
              <a:spcBef>
                <a:spcPts val="0"/>
              </a:spcBef>
              <a:spcAft>
                <a:spcPts val="0"/>
              </a:spcAft>
              <a:buSzPts val="1600"/>
              <a:buChar char="○"/>
            </a:pPr>
            <a:r>
              <a:rPr lang="en" sz="1600"/>
              <a:t>Number of bytes to be sent (1 if just sending one byte)</a:t>
            </a:r>
            <a:endParaRPr sz="1600"/>
          </a:p>
          <a:p>
            <a:pPr indent="-330200" lvl="1" marL="914400" rtl="0" algn="l">
              <a:spcBef>
                <a:spcPts val="0"/>
              </a:spcBef>
              <a:spcAft>
                <a:spcPts val="0"/>
              </a:spcAft>
              <a:buSzPts val="1600"/>
              <a:buChar char="○"/>
            </a:pPr>
            <a:r>
              <a:rPr lang="en" sz="1600"/>
              <a:t>Automatic stop condition if desired (yes for now).</a:t>
            </a:r>
            <a:endParaRPr sz="1600"/>
          </a:p>
          <a:p>
            <a:pPr indent="-330200" lvl="0" marL="457200" rtl="0" algn="l">
              <a:spcBef>
                <a:spcPts val="0"/>
              </a:spcBef>
              <a:spcAft>
                <a:spcPts val="0"/>
              </a:spcAft>
              <a:buSzPts val="1600"/>
              <a:buChar char="●"/>
            </a:pPr>
            <a:r>
              <a:rPr lang="en" sz="1600"/>
              <a:t>Initiate start condition (set the START bit)</a:t>
            </a:r>
            <a:endParaRPr sz="1600"/>
          </a:p>
          <a:p>
            <a:pPr indent="-330200" lvl="0" marL="457200" rtl="0" algn="l">
              <a:spcBef>
                <a:spcPts val="0"/>
              </a:spcBef>
              <a:spcAft>
                <a:spcPts val="0"/>
              </a:spcAft>
              <a:buSzPts val="1600"/>
              <a:buChar char="●"/>
            </a:pPr>
            <a:r>
              <a:rPr lang="en" sz="1600"/>
              <a:t>Wait until bus is free, make sure target sent Ack</a:t>
            </a:r>
            <a:endParaRPr sz="1600"/>
          </a:p>
          <a:p>
            <a:pPr indent="-330200" lvl="0" marL="457200" rtl="0" algn="l">
              <a:spcBef>
                <a:spcPts val="0"/>
              </a:spcBef>
              <a:spcAft>
                <a:spcPts val="0"/>
              </a:spcAft>
              <a:buSzPts val="1600"/>
              <a:buChar char="●"/>
            </a:pPr>
            <a:r>
              <a:rPr lang="en" sz="1600"/>
              <a:t>Once transmit data register is empty, put data into it.</a:t>
            </a:r>
            <a:endParaRPr sz="1600"/>
          </a:p>
        </p:txBody>
      </p:sp>
      <p:sp>
        <p:nvSpPr>
          <p:cNvPr id="351" name="Google Shape;351;p42"/>
          <p:cNvSpPr txBox="1"/>
          <p:nvPr>
            <p:ph idx="1" type="body"/>
          </p:nvPr>
        </p:nvSpPr>
        <p:spPr>
          <a:xfrm>
            <a:off x="178200" y="3500275"/>
            <a:ext cx="8787600" cy="32022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Ping target address for writing 1 byte, use "=" to ensure all other bits are cleared</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CR2</a:t>
            </a:r>
            <a:r>
              <a:rPr b="1" lang="en" sz="1200">
                <a:solidFill>
                  <a:schemeClr val="dk1"/>
                </a:solidFill>
                <a:highlight>
                  <a:srgbClr val="FFFFFF"/>
                </a:highlight>
                <a:latin typeface="Courier New"/>
                <a:ea typeface="Courier New"/>
                <a:cs typeface="Courier New"/>
                <a:sym typeface="Courier New"/>
              </a:rPr>
              <a:t>  = (deviceAddr&lt;&lt;1)</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(1U &lt;&lt; I2C_CR2_NBYTES_Pos)    </a:t>
            </a:r>
            <a:r>
              <a:rPr b="1" lang="en" sz="1200">
                <a:solidFill>
                  <a:srgbClr val="3F7F5F"/>
                </a:solidFill>
                <a:highlight>
                  <a:srgbClr val="FFFFFF"/>
                </a:highlight>
                <a:latin typeface="Courier New"/>
                <a:ea typeface="Courier New"/>
                <a:cs typeface="Courier New"/>
                <a:sym typeface="Courier New"/>
              </a:rPr>
              <a:t>// sending one byte only</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I2C_CR2_AUTOEND			  </a:t>
            </a:r>
            <a:r>
              <a:rPr b="1" lang="en" sz="1200">
                <a:solidFill>
                  <a:srgbClr val="3F7F5F"/>
                </a:solidFill>
                <a:highlight>
                  <a:srgbClr val="FFFFFF"/>
                </a:highlight>
                <a:latin typeface="Courier New"/>
                <a:ea typeface="Courier New"/>
                <a:cs typeface="Courier New"/>
                <a:sym typeface="Courier New"/>
              </a:rPr>
              <a:t>// Send Stop condition after transfer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I2C_CR2_START;			  </a:t>
            </a:r>
            <a:r>
              <a:rPr b="1" lang="en" sz="1200">
                <a:solidFill>
                  <a:srgbClr val="3F7F5F"/>
                </a:solidFill>
                <a:highlight>
                  <a:srgbClr val="FFFFFF"/>
                </a:highlight>
                <a:latin typeface="Courier New"/>
                <a:ea typeface="Courier New"/>
                <a:cs typeface="Courier New"/>
                <a:sym typeface="Courier New"/>
              </a:rPr>
              <a:t>// Send Start condition</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I2C_ISR_BUSY) );		  </a:t>
            </a:r>
            <a:r>
              <a:rPr b="1" lang="en" sz="1200">
                <a:solidFill>
                  <a:srgbClr val="3F7F5F"/>
                </a:solidFill>
                <a:highlight>
                  <a:srgbClr val="FFFFFF"/>
                </a:highlight>
                <a:latin typeface="Courier New"/>
                <a:ea typeface="Courier New"/>
                <a:cs typeface="Courier New"/>
                <a:sym typeface="Courier New"/>
              </a:rPr>
              <a:t>// Wait until Start is received</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Send the data</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if</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I2C_ISR_NACKF) ) {		  </a:t>
            </a:r>
            <a:r>
              <a:rPr b="1" lang="en" sz="1200">
                <a:solidFill>
                  <a:srgbClr val="3F7F5F"/>
                </a:solidFill>
                <a:highlight>
                  <a:srgbClr val="FFFFFF"/>
                </a:highlight>
                <a:latin typeface="Courier New"/>
                <a:ea typeface="Courier New"/>
                <a:cs typeface="Courier New"/>
                <a:sym typeface="Courier New"/>
              </a:rPr>
              <a:t>// Make sure ACK received </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I2C_ISR_TXIS) );	  </a:t>
            </a:r>
            <a:r>
              <a:rPr b="1" lang="en" sz="1200">
                <a:solidFill>
                  <a:srgbClr val="3F7F5F"/>
                </a:solidFill>
                <a:highlight>
                  <a:srgbClr val="FFFFFF"/>
                </a:highlight>
                <a:latin typeface="Courier New"/>
                <a:ea typeface="Courier New"/>
                <a:cs typeface="Courier New"/>
                <a:sym typeface="Courier New"/>
              </a:rPr>
              <a:t>// Wait for TX to be ready</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TXDR</a:t>
            </a:r>
            <a:r>
              <a:rPr b="1" lang="en" sz="1200">
                <a:solidFill>
                  <a:schemeClr val="dk1"/>
                </a:solidFill>
                <a:highlight>
                  <a:srgbClr val="FFFFFF"/>
                </a:highlight>
                <a:latin typeface="Courier New"/>
                <a:ea typeface="Courier New"/>
                <a:cs typeface="Courier New"/>
                <a:sym typeface="Courier New"/>
              </a:rPr>
              <a:t> = data;					  </a:t>
            </a:r>
            <a:r>
              <a:rPr b="1" lang="en" sz="1200">
                <a:solidFill>
                  <a:srgbClr val="3F7F5F"/>
                </a:solidFill>
                <a:highlight>
                  <a:srgbClr val="FFFFFF"/>
                </a:highlight>
                <a:latin typeface="Courier New"/>
                <a:ea typeface="Courier New"/>
                <a:cs typeface="Courier New"/>
                <a:sym typeface="Courier New"/>
              </a:rPr>
              <a:t>// put data in send register</a:t>
            </a:r>
            <a:endParaRPr b="1" sz="1200">
              <a:solidFill>
                <a:srgbClr val="3F7F5F"/>
              </a:solidFill>
              <a:highlight>
                <a:srgbClr val="FFFFFF"/>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chemeClr val="dk1"/>
              </a:solidFill>
              <a:highlight>
                <a:srgbClr val="FFFFFF"/>
              </a:highlight>
              <a:latin typeface="Courier New"/>
              <a:ea typeface="Courier New"/>
              <a:cs typeface="Courier New"/>
              <a:sym typeface="Courier New"/>
            </a:endParaRPr>
          </a:p>
          <a:p>
            <a:pPr indent="0" lvl="0" marL="457200" rtl="0" algn="l">
              <a:spcBef>
                <a:spcPts val="0"/>
              </a:spcBef>
              <a:spcAft>
                <a:spcPts val="1600"/>
              </a:spcAft>
              <a:buNone/>
            </a:pPr>
            <a:r>
              <a:t/>
            </a:r>
            <a:endParaRPr sz="1600"/>
          </a:p>
        </p:txBody>
      </p:sp>
      <p:sp>
        <p:nvSpPr>
          <p:cNvPr id="352" name="Google Shape;352;p42"/>
          <p:cNvSpPr txBox="1"/>
          <p:nvPr/>
        </p:nvSpPr>
        <p:spPr>
          <a:xfrm>
            <a:off x="7249950" y="246650"/>
            <a:ext cx="1670100" cy="4158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0000FF"/>
                </a:solidFill>
              </a:rPr>
              <a:t>Sending data</a:t>
            </a:r>
            <a:endParaRPr sz="1800">
              <a:solidFill>
                <a:srgbClr val="0000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3"/>
          <p:cNvSpPr txBox="1"/>
          <p:nvPr>
            <p:ph type="title"/>
          </p:nvPr>
        </p:nvSpPr>
        <p:spPr>
          <a:xfrm>
            <a:off x="311700" y="173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Receive a byte of data from target</a:t>
            </a:r>
            <a:endParaRPr/>
          </a:p>
        </p:txBody>
      </p:sp>
      <p:sp>
        <p:nvSpPr>
          <p:cNvPr id="358" name="Google Shape;358;p43"/>
          <p:cNvSpPr txBox="1"/>
          <p:nvPr>
            <p:ph idx="1" type="body"/>
          </p:nvPr>
        </p:nvSpPr>
        <p:spPr>
          <a:xfrm>
            <a:off x="311700" y="880375"/>
            <a:ext cx="8520600" cy="2385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Initiate communication: program </a:t>
            </a:r>
            <a:endParaRPr sz="1600"/>
          </a:p>
          <a:p>
            <a:pPr indent="-330200" lvl="1" marL="914400" rtl="0" algn="l">
              <a:spcBef>
                <a:spcPts val="0"/>
              </a:spcBef>
              <a:spcAft>
                <a:spcPts val="0"/>
              </a:spcAft>
              <a:buSzPts val="1600"/>
              <a:buChar char="○"/>
            </a:pPr>
            <a:r>
              <a:rPr lang="en" sz="1600"/>
              <a:t>Target address</a:t>
            </a:r>
            <a:endParaRPr sz="1600"/>
          </a:p>
          <a:p>
            <a:pPr indent="-330200" lvl="1" marL="914400" rtl="0" algn="l">
              <a:spcBef>
                <a:spcPts val="0"/>
              </a:spcBef>
              <a:spcAft>
                <a:spcPts val="0"/>
              </a:spcAft>
              <a:buSzPts val="1600"/>
              <a:buChar char="○"/>
            </a:pPr>
            <a:r>
              <a:rPr lang="en" sz="1600"/>
              <a:t>Transfer direction (</a:t>
            </a:r>
            <a:r>
              <a:rPr lang="en" sz="1600">
                <a:solidFill>
                  <a:srgbClr val="0000FF"/>
                </a:solidFill>
              </a:rPr>
              <a:t>1 for read</a:t>
            </a:r>
            <a:r>
              <a:rPr lang="en" sz="1600"/>
              <a:t>)</a:t>
            </a:r>
            <a:endParaRPr sz="1600"/>
          </a:p>
          <a:p>
            <a:pPr indent="-330200" lvl="1" marL="914400" rtl="0" algn="l">
              <a:spcBef>
                <a:spcPts val="0"/>
              </a:spcBef>
              <a:spcAft>
                <a:spcPts val="0"/>
              </a:spcAft>
              <a:buSzPts val="1600"/>
              <a:buChar char="○"/>
            </a:pPr>
            <a:r>
              <a:rPr lang="en" sz="1600"/>
              <a:t>Number of bytes to be read (1 if just reading one byte)</a:t>
            </a:r>
            <a:endParaRPr sz="1600"/>
          </a:p>
          <a:p>
            <a:pPr indent="-330200" lvl="1" marL="914400" rtl="0" algn="l">
              <a:spcBef>
                <a:spcPts val="0"/>
              </a:spcBef>
              <a:spcAft>
                <a:spcPts val="0"/>
              </a:spcAft>
              <a:buSzPts val="1600"/>
              <a:buChar char="○"/>
            </a:pPr>
            <a:r>
              <a:rPr lang="en" sz="1600"/>
              <a:t>Automatic stop condition if desired (yes).</a:t>
            </a:r>
            <a:endParaRPr sz="1600"/>
          </a:p>
          <a:p>
            <a:pPr indent="-330200" lvl="0" marL="457200" rtl="0" algn="l">
              <a:spcBef>
                <a:spcPts val="0"/>
              </a:spcBef>
              <a:spcAft>
                <a:spcPts val="0"/>
              </a:spcAft>
              <a:buSzPts val="1600"/>
              <a:buChar char="●"/>
            </a:pPr>
            <a:r>
              <a:rPr lang="en" sz="1600"/>
              <a:t>Initiate start condition (set the START bit)</a:t>
            </a:r>
            <a:endParaRPr sz="1600"/>
          </a:p>
          <a:p>
            <a:pPr indent="-330200" lvl="0" marL="457200" rtl="0" algn="l">
              <a:spcBef>
                <a:spcPts val="0"/>
              </a:spcBef>
              <a:spcAft>
                <a:spcPts val="0"/>
              </a:spcAft>
              <a:buSzPts val="1600"/>
              <a:buChar char="●"/>
            </a:pPr>
            <a:r>
              <a:rPr lang="en" sz="1600"/>
              <a:t>Wait until bus is free, make sure target sent Ack</a:t>
            </a:r>
            <a:endParaRPr sz="1600"/>
          </a:p>
          <a:p>
            <a:pPr indent="-330200" lvl="0" marL="457200" rtl="0" algn="l">
              <a:spcBef>
                <a:spcPts val="0"/>
              </a:spcBef>
              <a:spcAft>
                <a:spcPts val="0"/>
              </a:spcAft>
              <a:buSzPts val="1600"/>
              <a:buChar char="●"/>
            </a:pPr>
            <a:r>
              <a:rPr lang="en" sz="1600"/>
              <a:t>Once receive data register is non-empty, read data from it.</a:t>
            </a:r>
            <a:endParaRPr sz="1600"/>
          </a:p>
        </p:txBody>
      </p:sp>
      <p:sp>
        <p:nvSpPr>
          <p:cNvPr id="359" name="Google Shape;359;p43"/>
          <p:cNvSpPr txBox="1"/>
          <p:nvPr/>
        </p:nvSpPr>
        <p:spPr>
          <a:xfrm>
            <a:off x="7249950" y="173975"/>
            <a:ext cx="1701600" cy="4194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Read</a:t>
            </a:r>
            <a:r>
              <a:rPr lang="en" sz="1800">
                <a:solidFill>
                  <a:srgbClr val="0000FF"/>
                </a:solidFill>
              </a:rPr>
              <a:t>ing data</a:t>
            </a:r>
            <a:endParaRPr sz="1800">
              <a:solidFill>
                <a:srgbClr val="0000FF"/>
              </a:solidFill>
            </a:endParaRPr>
          </a:p>
        </p:txBody>
      </p:sp>
      <p:sp>
        <p:nvSpPr>
          <p:cNvPr id="360" name="Google Shape;360;p43"/>
          <p:cNvSpPr txBox="1"/>
          <p:nvPr/>
        </p:nvSpPr>
        <p:spPr>
          <a:xfrm>
            <a:off x="311700" y="3596100"/>
            <a:ext cx="8663700" cy="29184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Ping target address for reading one byte</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CR2</a:t>
            </a:r>
            <a:r>
              <a:rPr b="1" lang="en" sz="1200">
                <a:solidFill>
                  <a:schemeClr val="dk1"/>
                </a:solidFill>
                <a:highlight>
                  <a:srgbClr val="FFFFFF"/>
                </a:highlight>
                <a:latin typeface="Courier New"/>
                <a:ea typeface="Courier New"/>
                <a:cs typeface="Courier New"/>
                <a:sym typeface="Courier New"/>
              </a:rPr>
              <a:t> = (deviceAddr&lt;&lt;1)                  </a:t>
            </a:r>
            <a:r>
              <a:rPr b="1" lang="en" sz="1200">
                <a:solidFill>
                  <a:srgbClr val="3F7F5F"/>
                </a:solidFill>
                <a:highlight>
                  <a:srgbClr val="FFFFFF"/>
                </a:highlight>
                <a:latin typeface="Courier New"/>
                <a:ea typeface="Courier New"/>
                <a:cs typeface="Courier New"/>
                <a:sym typeface="Courier New"/>
              </a:rPr>
              <a:t>// target address</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(1 &lt;&lt; I2C_CR2_NBYTES_Pos)   </a:t>
            </a:r>
            <a:r>
              <a:rPr b="1" lang="en" sz="1200">
                <a:solidFill>
                  <a:srgbClr val="3F7F5F"/>
                </a:solidFill>
                <a:highlight>
                  <a:srgbClr val="FFFFFF"/>
                </a:highlight>
                <a:latin typeface="Courier New"/>
                <a:ea typeface="Courier New"/>
                <a:cs typeface="Courier New"/>
                <a:sym typeface="Courier New"/>
              </a:rPr>
              <a:t>// will read one byte</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I2C_CR2_RD_WRN              </a:t>
            </a:r>
            <a:r>
              <a:rPr b="1" lang="en" sz="1200">
                <a:solidFill>
                  <a:srgbClr val="3F7F5F"/>
                </a:solidFill>
                <a:highlight>
                  <a:srgbClr val="FFFFFF"/>
                </a:highlight>
                <a:latin typeface="Courier New"/>
                <a:ea typeface="Courier New"/>
                <a:cs typeface="Courier New"/>
                <a:sym typeface="Courier New"/>
              </a:rPr>
              <a:t>// ping for reading</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I2C_CR2_AUTOEND             </a:t>
            </a:r>
            <a:r>
              <a:rPr b="1" lang="en" sz="1200">
                <a:solidFill>
                  <a:srgbClr val="3F7F5F"/>
                </a:solidFill>
                <a:highlight>
                  <a:srgbClr val="FFFFFF"/>
                </a:highlight>
                <a:latin typeface="Courier New"/>
                <a:ea typeface="Courier New"/>
                <a:cs typeface="Courier New"/>
                <a:sym typeface="Courier New"/>
              </a:rPr>
              <a:t>// Send Stop condition after transfer</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I2C_CR2_START;              </a:t>
            </a:r>
            <a:r>
              <a:rPr b="1" lang="en" sz="1200">
                <a:solidFill>
                  <a:srgbClr val="3F7F5F"/>
                </a:solidFill>
                <a:highlight>
                  <a:srgbClr val="FFFFFF"/>
                </a:highlight>
                <a:latin typeface="Courier New"/>
                <a:ea typeface="Courier New"/>
                <a:cs typeface="Courier New"/>
                <a:sym typeface="Courier New"/>
              </a:rPr>
              <a:t>// initiate start condition</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I2C_ISR_BUSY) );		</a:t>
            </a:r>
            <a:r>
              <a:rPr b="1" lang="en" sz="1200">
                <a:solidFill>
                  <a:srgbClr val="3F7F5F"/>
                </a:solidFill>
                <a:highlight>
                  <a:srgbClr val="FFFFFF"/>
                </a:highlight>
                <a:latin typeface="Courier New"/>
                <a:ea typeface="Courier New"/>
                <a:cs typeface="Courier New"/>
                <a:sym typeface="Courier New"/>
              </a:rPr>
              <a:t>// Wait until Start is received</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Read the data</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if</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I2C_ISR_NACKF) ) {		</a:t>
            </a:r>
            <a:r>
              <a:rPr b="1" lang="en" sz="1200">
                <a:solidFill>
                  <a:srgbClr val="3F7F5F"/>
                </a:solidFill>
                <a:highlight>
                  <a:srgbClr val="FFFFFF"/>
                </a:highlight>
                <a:latin typeface="Courier New"/>
                <a:ea typeface="Courier New"/>
                <a:cs typeface="Courier New"/>
                <a:sym typeface="Courier New"/>
              </a:rPr>
              <a:t>// Make sure ACK received</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I2C_ISR_RXNE) );	</a:t>
            </a:r>
            <a:r>
              <a:rPr b="1" lang="en" sz="1200">
                <a:solidFill>
                  <a:srgbClr val="3F7F5F"/>
                </a:solidFill>
                <a:highlight>
                  <a:srgbClr val="FFFFFF"/>
                </a:highlight>
                <a:latin typeface="Courier New"/>
                <a:ea typeface="Courier New"/>
                <a:cs typeface="Courier New"/>
                <a:sym typeface="Courier New"/>
              </a:rPr>
              <a:t>// Wait for </a:t>
            </a:r>
            <a:r>
              <a:rPr b="1" lang="en" sz="1200" u="sng">
                <a:solidFill>
                  <a:srgbClr val="3F7F5F"/>
                </a:solidFill>
                <a:highlight>
                  <a:srgbClr val="FFFFFF"/>
                </a:highlight>
                <a:latin typeface="Courier New"/>
                <a:ea typeface="Courier New"/>
                <a:cs typeface="Courier New"/>
                <a:sym typeface="Courier New"/>
              </a:rPr>
              <a:t>Rx</a:t>
            </a:r>
            <a:r>
              <a:rPr b="1" lang="en" sz="1200">
                <a:solidFill>
                  <a:srgbClr val="3F7F5F"/>
                </a:solidFill>
                <a:highlight>
                  <a:srgbClr val="FFFFFF"/>
                </a:highlight>
                <a:latin typeface="Courier New"/>
                <a:ea typeface="Courier New"/>
                <a:cs typeface="Courier New"/>
                <a:sym typeface="Courier New"/>
              </a:rPr>
              <a:t> to be ready</a:t>
            </a:r>
            <a:endParaRPr b="1" sz="1200">
              <a:solidFill>
                <a:srgbClr val="3F7F5F"/>
              </a:solidFill>
              <a:highlight>
                <a:srgbClr val="FFFFF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*data = I2C1-&gt;</a:t>
            </a:r>
            <a:r>
              <a:rPr b="1" lang="en" sz="1200">
                <a:solidFill>
                  <a:srgbClr val="0000C0"/>
                </a:solidFill>
                <a:highlight>
                  <a:srgbClr val="FFFFFF"/>
                </a:highlight>
                <a:latin typeface="Courier New"/>
                <a:ea typeface="Courier New"/>
                <a:cs typeface="Courier New"/>
                <a:sym typeface="Courier New"/>
              </a:rPr>
              <a:t>RXDR</a:t>
            </a: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Read the data</a:t>
            </a:r>
            <a:endParaRPr b="1" sz="1200">
              <a:solidFill>
                <a:srgbClr val="3F7F5F"/>
              </a:solidFill>
              <a:highlight>
                <a:srgbClr val="FFFFFF"/>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a:t>
            </a:r>
            <a:endParaRPr b="1" sz="1200">
              <a:solidFill>
                <a:srgbClr val="7F0055"/>
              </a:solidFill>
              <a:highlight>
                <a:srgbClr val="FFFFFF"/>
              </a:highlight>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4"/>
          <p:cNvSpPr txBox="1"/>
          <p:nvPr>
            <p:ph type="title"/>
          </p:nvPr>
        </p:nvSpPr>
        <p:spPr>
          <a:xfrm>
            <a:off x="266800" y="1556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Compare: Sending versus receiving one byte of data</a:t>
            </a:r>
            <a:endParaRPr/>
          </a:p>
        </p:txBody>
      </p:sp>
      <p:sp>
        <p:nvSpPr>
          <p:cNvPr id="366" name="Google Shape;366;p44"/>
          <p:cNvSpPr txBox="1"/>
          <p:nvPr>
            <p:ph idx="1" type="body"/>
          </p:nvPr>
        </p:nvSpPr>
        <p:spPr>
          <a:xfrm>
            <a:off x="266800" y="919125"/>
            <a:ext cx="8787600" cy="2706900"/>
          </a:xfrm>
          <a:prstGeom prst="rect">
            <a:avLst/>
          </a:prstGeom>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Ping target address for writing 1 byte, use "=" to ensure all other bits are cleared</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I2C1-&gt;</a:t>
            </a:r>
            <a:r>
              <a:rPr b="1" lang="en" sz="1200">
                <a:solidFill>
                  <a:srgbClr val="0000C0"/>
                </a:solidFill>
                <a:highlight>
                  <a:schemeClr val="lt1"/>
                </a:highlight>
                <a:latin typeface="Courier New"/>
                <a:ea typeface="Courier New"/>
                <a:cs typeface="Courier New"/>
                <a:sym typeface="Courier New"/>
              </a:rPr>
              <a:t>CR2</a:t>
            </a:r>
            <a:r>
              <a:rPr b="1" lang="en" sz="1200">
                <a:solidFill>
                  <a:schemeClr val="dk1"/>
                </a:solidFill>
                <a:highlight>
                  <a:schemeClr val="lt1"/>
                </a:highlight>
                <a:latin typeface="Courier New"/>
                <a:ea typeface="Courier New"/>
                <a:cs typeface="Courier New"/>
                <a:sym typeface="Courier New"/>
              </a:rPr>
              <a:t>  = (deviceAddr&lt;&lt;1)</a:t>
            </a:r>
            <a:endParaRPr b="1" sz="1200">
              <a:solidFill>
                <a:schemeClr val="dk1"/>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 (1U &lt;&lt; I2C_CR2_NBYTES_Pos)    </a:t>
            </a:r>
            <a:r>
              <a:rPr b="1" lang="en" sz="1200">
                <a:solidFill>
                  <a:srgbClr val="3F7F5F"/>
                </a:solidFill>
                <a:highlight>
                  <a:schemeClr val="lt1"/>
                </a:highlight>
                <a:latin typeface="Courier New"/>
                <a:ea typeface="Courier New"/>
                <a:cs typeface="Courier New"/>
                <a:sym typeface="Courier New"/>
              </a:rPr>
              <a:t>// sending one byte only</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 I2C_CR2_AUTOEND			  </a:t>
            </a:r>
            <a:r>
              <a:rPr b="1" lang="en" sz="1200">
                <a:solidFill>
                  <a:srgbClr val="3F7F5F"/>
                </a:solidFill>
                <a:highlight>
                  <a:schemeClr val="lt1"/>
                </a:highlight>
                <a:latin typeface="Courier New"/>
                <a:ea typeface="Courier New"/>
                <a:cs typeface="Courier New"/>
                <a:sym typeface="Courier New"/>
              </a:rPr>
              <a:t>// Send Stop condition after transfer</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 I2C_CR2_START;			  </a:t>
            </a:r>
            <a:r>
              <a:rPr b="1" lang="en" sz="1200">
                <a:solidFill>
                  <a:srgbClr val="3F7F5F"/>
                </a:solidFill>
                <a:highlight>
                  <a:schemeClr val="lt1"/>
                </a:highlight>
                <a:latin typeface="Courier New"/>
                <a:ea typeface="Courier New"/>
                <a:cs typeface="Courier New"/>
                <a:sym typeface="Courier New"/>
              </a:rPr>
              <a:t>// Send Start condition</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7F0055"/>
                </a:solidFill>
                <a:highlight>
                  <a:schemeClr val="lt1"/>
                </a:highlight>
                <a:latin typeface="Courier New"/>
                <a:ea typeface="Courier New"/>
                <a:cs typeface="Courier New"/>
                <a:sym typeface="Courier New"/>
              </a:rPr>
              <a:t>while</a:t>
            </a:r>
            <a:r>
              <a:rPr b="1" lang="en" sz="1200">
                <a:solidFill>
                  <a:schemeClr val="dk1"/>
                </a:solidFill>
                <a:highlight>
                  <a:schemeClr val="lt1"/>
                </a:highlight>
                <a:latin typeface="Courier New"/>
                <a:ea typeface="Courier New"/>
                <a:cs typeface="Courier New"/>
                <a:sym typeface="Courier New"/>
              </a:rPr>
              <a:t>( !(I2C1-&gt;</a:t>
            </a:r>
            <a:r>
              <a:rPr b="1" lang="en" sz="1200">
                <a:solidFill>
                  <a:srgbClr val="0000C0"/>
                </a:solidFill>
                <a:highlight>
                  <a:schemeClr val="lt1"/>
                </a:highlight>
                <a:latin typeface="Courier New"/>
                <a:ea typeface="Courier New"/>
                <a:cs typeface="Courier New"/>
                <a:sym typeface="Courier New"/>
              </a:rPr>
              <a:t>ISR</a:t>
            </a:r>
            <a:r>
              <a:rPr b="1" lang="en" sz="1200">
                <a:solidFill>
                  <a:schemeClr val="dk1"/>
                </a:solidFill>
                <a:highlight>
                  <a:schemeClr val="lt1"/>
                </a:highlight>
                <a:latin typeface="Courier New"/>
                <a:ea typeface="Courier New"/>
                <a:cs typeface="Courier New"/>
                <a:sym typeface="Courier New"/>
              </a:rPr>
              <a:t> &amp; I2C_ISR_BUSY) );		  </a:t>
            </a:r>
            <a:r>
              <a:rPr b="1" lang="en" sz="1200">
                <a:solidFill>
                  <a:srgbClr val="3F7F5F"/>
                </a:solidFill>
                <a:highlight>
                  <a:schemeClr val="lt1"/>
                </a:highlight>
                <a:latin typeface="Courier New"/>
                <a:ea typeface="Courier New"/>
                <a:cs typeface="Courier New"/>
                <a:sym typeface="Courier New"/>
              </a:rPr>
              <a:t>// Wait until Start is received</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Send the data</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7F0055"/>
                </a:solidFill>
                <a:highlight>
                  <a:schemeClr val="lt1"/>
                </a:highlight>
                <a:latin typeface="Courier New"/>
                <a:ea typeface="Courier New"/>
                <a:cs typeface="Courier New"/>
                <a:sym typeface="Courier New"/>
              </a:rPr>
              <a:t>if</a:t>
            </a:r>
            <a:r>
              <a:rPr b="1" lang="en" sz="1200">
                <a:solidFill>
                  <a:schemeClr val="dk1"/>
                </a:solidFill>
                <a:highlight>
                  <a:schemeClr val="lt1"/>
                </a:highlight>
                <a:latin typeface="Courier New"/>
                <a:ea typeface="Courier New"/>
                <a:cs typeface="Courier New"/>
                <a:sym typeface="Courier New"/>
              </a:rPr>
              <a:t>( !(I2C1-&gt;</a:t>
            </a:r>
            <a:r>
              <a:rPr b="1" lang="en" sz="1200">
                <a:solidFill>
                  <a:srgbClr val="0000C0"/>
                </a:solidFill>
                <a:highlight>
                  <a:schemeClr val="lt1"/>
                </a:highlight>
                <a:latin typeface="Courier New"/>
                <a:ea typeface="Courier New"/>
                <a:cs typeface="Courier New"/>
                <a:sym typeface="Courier New"/>
              </a:rPr>
              <a:t>ISR</a:t>
            </a:r>
            <a:r>
              <a:rPr b="1" lang="en" sz="1200">
                <a:solidFill>
                  <a:schemeClr val="dk1"/>
                </a:solidFill>
                <a:highlight>
                  <a:schemeClr val="lt1"/>
                </a:highlight>
                <a:latin typeface="Courier New"/>
                <a:ea typeface="Courier New"/>
                <a:cs typeface="Courier New"/>
                <a:sym typeface="Courier New"/>
              </a:rPr>
              <a:t> &amp; I2C_ISR_NACKF) ) {		  </a:t>
            </a:r>
            <a:r>
              <a:rPr b="1" lang="en" sz="1200">
                <a:solidFill>
                  <a:srgbClr val="3F7F5F"/>
                </a:solidFill>
                <a:highlight>
                  <a:schemeClr val="lt1"/>
                </a:highlight>
                <a:latin typeface="Courier New"/>
                <a:ea typeface="Courier New"/>
                <a:cs typeface="Courier New"/>
                <a:sym typeface="Courier New"/>
              </a:rPr>
              <a:t>// Make sure ACK received </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7F0055"/>
                </a:solidFill>
                <a:highlight>
                  <a:schemeClr val="lt1"/>
                </a:highlight>
                <a:latin typeface="Courier New"/>
                <a:ea typeface="Courier New"/>
                <a:cs typeface="Courier New"/>
                <a:sym typeface="Courier New"/>
              </a:rPr>
              <a:t>while</a:t>
            </a:r>
            <a:r>
              <a:rPr b="1" lang="en" sz="1200">
                <a:solidFill>
                  <a:schemeClr val="dk1"/>
                </a:solidFill>
                <a:highlight>
                  <a:schemeClr val="lt1"/>
                </a:highlight>
                <a:latin typeface="Courier New"/>
                <a:ea typeface="Courier New"/>
                <a:cs typeface="Courier New"/>
                <a:sym typeface="Courier New"/>
              </a:rPr>
              <a:t>( !(I2C1-&gt;</a:t>
            </a:r>
            <a:r>
              <a:rPr b="1" lang="en" sz="1200">
                <a:solidFill>
                  <a:srgbClr val="0000C0"/>
                </a:solidFill>
                <a:highlight>
                  <a:schemeClr val="lt1"/>
                </a:highlight>
                <a:latin typeface="Courier New"/>
                <a:ea typeface="Courier New"/>
                <a:cs typeface="Courier New"/>
                <a:sym typeface="Courier New"/>
              </a:rPr>
              <a:t>ISR</a:t>
            </a:r>
            <a:r>
              <a:rPr b="1" lang="en" sz="1200">
                <a:solidFill>
                  <a:schemeClr val="dk1"/>
                </a:solidFill>
                <a:highlight>
                  <a:schemeClr val="lt1"/>
                </a:highlight>
                <a:latin typeface="Courier New"/>
                <a:ea typeface="Courier New"/>
                <a:cs typeface="Courier New"/>
                <a:sym typeface="Courier New"/>
              </a:rPr>
              <a:t> &amp; I2C_ISR_TXIS) );	  </a:t>
            </a:r>
            <a:r>
              <a:rPr b="1" lang="en" sz="1200">
                <a:solidFill>
                  <a:srgbClr val="3F7F5F"/>
                </a:solidFill>
                <a:highlight>
                  <a:schemeClr val="lt1"/>
                </a:highlight>
                <a:latin typeface="Courier New"/>
                <a:ea typeface="Courier New"/>
                <a:cs typeface="Courier New"/>
                <a:sym typeface="Courier New"/>
              </a:rPr>
              <a:t>// Wait for TX to be ready</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I2C1-&gt;</a:t>
            </a:r>
            <a:r>
              <a:rPr b="1" lang="en" sz="1200">
                <a:solidFill>
                  <a:srgbClr val="0000C0"/>
                </a:solidFill>
                <a:highlight>
                  <a:schemeClr val="lt1"/>
                </a:highlight>
                <a:latin typeface="Courier New"/>
                <a:ea typeface="Courier New"/>
                <a:cs typeface="Courier New"/>
                <a:sym typeface="Courier New"/>
              </a:rPr>
              <a:t>TXDR</a:t>
            </a:r>
            <a:r>
              <a:rPr b="1" lang="en" sz="1200">
                <a:solidFill>
                  <a:schemeClr val="dk1"/>
                </a:solidFill>
                <a:highlight>
                  <a:schemeClr val="lt1"/>
                </a:highlight>
                <a:latin typeface="Courier New"/>
                <a:ea typeface="Courier New"/>
                <a:cs typeface="Courier New"/>
                <a:sym typeface="Courier New"/>
              </a:rPr>
              <a:t> = data;					  </a:t>
            </a:r>
            <a:r>
              <a:rPr b="1" lang="en" sz="1200">
                <a:solidFill>
                  <a:srgbClr val="3F7F5F"/>
                </a:solidFill>
                <a:highlight>
                  <a:schemeClr val="lt1"/>
                </a:highlight>
                <a:latin typeface="Courier New"/>
                <a:ea typeface="Courier New"/>
                <a:cs typeface="Courier New"/>
                <a:sym typeface="Courier New"/>
              </a:rPr>
              <a:t>// put data in send register</a:t>
            </a:r>
            <a:endParaRPr b="1" sz="1200">
              <a:solidFill>
                <a:srgbClr val="3F7F5F"/>
              </a:solidFill>
              <a:highlight>
                <a:schemeClr val="lt1"/>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chemeClr val="dk1"/>
              </a:solidFill>
              <a:highlight>
                <a:srgbClr val="FFFFFF"/>
              </a:highlight>
              <a:latin typeface="Courier New"/>
              <a:ea typeface="Courier New"/>
              <a:cs typeface="Courier New"/>
              <a:sym typeface="Courier New"/>
            </a:endParaRPr>
          </a:p>
          <a:p>
            <a:pPr indent="0" lvl="0" marL="457200" rtl="0" algn="l">
              <a:spcBef>
                <a:spcPts val="0"/>
              </a:spcBef>
              <a:spcAft>
                <a:spcPts val="1600"/>
              </a:spcAft>
              <a:buNone/>
            </a:pPr>
            <a:r>
              <a:t/>
            </a:r>
            <a:endParaRPr sz="1600"/>
          </a:p>
        </p:txBody>
      </p:sp>
      <p:sp>
        <p:nvSpPr>
          <p:cNvPr id="367" name="Google Shape;367;p44"/>
          <p:cNvSpPr txBox="1"/>
          <p:nvPr/>
        </p:nvSpPr>
        <p:spPr>
          <a:xfrm>
            <a:off x="7743600" y="2391275"/>
            <a:ext cx="1176600" cy="10089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0000FF"/>
                </a:solidFill>
              </a:rPr>
              <a:t>Sending one byte of data</a:t>
            </a:r>
            <a:endParaRPr sz="1800">
              <a:solidFill>
                <a:srgbClr val="0000FF"/>
              </a:solidFill>
            </a:endParaRPr>
          </a:p>
        </p:txBody>
      </p:sp>
      <p:sp>
        <p:nvSpPr>
          <p:cNvPr id="368" name="Google Shape;368;p44"/>
          <p:cNvSpPr txBox="1"/>
          <p:nvPr>
            <p:ph idx="1" type="body"/>
          </p:nvPr>
        </p:nvSpPr>
        <p:spPr>
          <a:xfrm>
            <a:off x="266800" y="3837300"/>
            <a:ext cx="8787600" cy="2898600"/>
          </a:xfrm>
          <a:prstGeom prst="rect">
            <a:avLst/>
          </a:prstGeom>
          <a:ln cap="flat" cmpd="sng" w="28575">
            <a:solidFill>
              <a:srgbClr val="7F0055"/>
            </a:solidFill>
            <a:prstDash val="solid"/>
            <a:round/>
            <a:headEnd len="sm" w="sm" type="none"/>
            <a:tailEnd len="sm" w="sm" type="none"/>
          </a:ln>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Ping target address for reading one byte</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I2C1-&gt;</a:t>
            </a:r>
            <a:r>
              <a:rPr b="1" lang="en" sz="1200">
                <a:solidFill>
                  <a:srgbClr val="0000C0"/>
                </a:solidFill>
                <a:highlight>
                  <a:schemeClr val="lt1"/>
                </a:highlight>
                <a:latin typeface="Courier New"/>
                <a:ea typeface="Courier New"/>
                <a:cs typeface="Courier New"/>
                <a:sym typeface="Courier New"/>
              </a:rPr>
              <a:t>CR2</a:t>
            </a:r>
            <a:r>
              <a:rPr b="1" lang="en" sz="1200">
                <a:solidFill>
                  <a:schemeClr val="dk1"/>
                </a:solidFill>
                <a:highlight>
                  <a:schemeClr val="lt1"/>
                </a:highlight>
                <a:latin typeface="Courier New"/>
                <a:ea typeface="Courier New"/>
                <a:cs typeface="Courier New"/>
                <a:sym typeface="Courier New"/>
              </a:rPr>
              <a:t> = (deviceAddr&lt;&lt;1)                  </a:t>
            </a:r>
            <a:r>
              <a:rPr b="1" lang="en" sz="1200">
                <a:solidFill>
                  <a:srgbClr val="3F7F5F"/>
                </a:solidFill>
                <a:highlight>
                  <a:schemeClr val="lt1"/>
                </a:highlight>
                <a:latin typeface="Courier New"/>
                <a:ea typeface="Courier New"/>
                <a:cs typeface="Courier New"/>
                <a:sym typeface="Courier New"/>
              </a:rPr>
              <a:t>// target address</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 (1 &lt;&lt; I2C_CR2_NBYTES_Pos)   </a:t>
            </a:r>
            <a:r>
              <a:rPr b="1" lang="en" sz="1200">
                <a:solidFill>
                  <a:srgbClr val="3F7F5F"/>
                </a:solidFill>
                <a:highlight>
                  <a:schemeClr val="lt1"/>
                </a:highlight>
                <a:latin typeface="Courier New"/>
                <a:ea typeface="Courier New"/>
                <a:cs typeface="Courier New"/>
                <a:sym typeface="Courier New"/>
              </a:rPr>
              <a:t>// will read one byte</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 I2C_CR2_RD_WRN              </a:t>
            </a:r>
            <a:r>
              <a:rPr b="1" lang="en" sz="1200">
                <a:solidFill>
                  <a:srgbClr val="3F7F5F"/>
                </a:solidFill>
                <a:highlight>
                  <a:schemeClr val="lt1"/>
                </a:highlight>
                <a:latin typeface="Courier New"/>
                <a:ea typeface="Courier New"/>
                <a:cs typeface="Courier New"/>
                <a:sym typeface="Courier New"/>
              </a:rPr>
              <a:t>// ping for reading</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 I2C_CR2_AUTOEND             </a:t>
            </a:r>
            <a:r>
              <a:rPr b="1" lang="en" sz="1200">
                <a:solidFill>
                  <a:srgbClr val="3F7F5F"/>
                </a:solidFill>
                <a:highlight>
                  <a:schemeClr val="lt1"/>
                </a:highlight>
                <a:latin typeface="Courier New"/>
                <a:ea typeface="Courier New"/>
                <a:cs typeface="Courier New"/>
                <a:sym typeface="Courier New"/>
              </a:rPr>
              <a:t>// Send Stop condition after transfer</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 I2C_CR2_START;              </a:t>
            </a:r>
            <a:r>
              <a:rPr b="1" lang="en" sz="1200">
                <a:solidFill>
                  <a:srgbClr val="3F7F5F"/>
                </a:solidFill>
                <a:highlight>
                  <a:schemeClr val="lt1"/>
                </a:highlight>
                <a:latin typeface="Courier New"/>
                <a:ea typeface="Courier New"/>
                <a:cs typeface="Courier New"/>
                <a:sym typeface="Courier New"/>
              </a:rPr>
              <a:t>// initiate start condition</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7F0055"/>
                </a:solidFill>
                <a:highlight>
                  <a:schemeClr val="lt1"/>
                </a:highlight>
                <a:latin typeface="Courier New"/>
                <a:ea typeface="Courier New"/>
                <a:cs typeface="Courier New"/>
                <a:sym typeface="Courier New"/>
              </a:rPr>
              <a:t>while</a:t>
            </a:r>
            <a:r>
              <a:rPr b="1" lang="en" sz="1200">
                <a:solidFill>
                  <a:schemeClr val="dk1"/>
                </a:solidFill>
                <a:highlight>
                  <a:schemeClr val="lt1"/>
                </a:highlight>
                <a:latin typeface="Courier New"/>
                <a:ea typeface="Courier New"/>
                <a:cs typeface="Courier New"/>
                <a:sym typeface="Courier New"/>
              </a:rPr>
              <a:t>( !(I2C1-&gt;</a:t>
            </a:r>
            <a:r>
              <a:rPr b="1" lang="en" sz="1200">
                <a:solidFill>
                  <a:srgbClr val="0000C0"/>
                </a:solidFill>
                <a:highlight>
                  <a:schemeClr val="lt1"/>
                </a:highlight>
                <a:latin typeface="Courier New"/>
                <a:ea typeface="Courier New"/>
                <a:cs typeface="Courier New"/>
                <a:sym typeface="Courier New"/>
              </a:rPr>
              <a:t>ISR</a:t>
            </a:r>
            <a:r>
              <a:rPr b="1" lang="en" sz="1200">
                <a:solidFill>
                  <a:schemeClr val="dk1"/>
                </a:solidFill>
                <a:highlight>
                  <a:schemeClr val="lt1"/>
                </a:highlight>
                <a:latin typeface="Courier New"/>
                <a:ea typeface="Courier New"/>
                <a:cs typeface="Courier New"/>
                <a:sym typeface="Courier New"/>
              </a:rPr>
              <a:t> &amp; I2C_ISR_BUSY) );		</a:t>
            </a:r>
            <a:r>
              <a:rPr b="1" lang="en" sz="1200">
                <a:solidFill>
                  <a:srgbClr val="3F7F5F"/>
                </a:solidFill>
                <a:highlight>
                  <a:schemeClr val="lt1"/>
                </a:highlight>
                <a:latin typeface="Courier New"/>
                <a:ea typeface="Courier New"/>
                <a:cs typeface="Courier New"/>
                <a:sym typeface="Courier New"/>
              </a:rPr>
              <a:t>// Wait until Start is received</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Read the data</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7F0055"/>
                </a:solidFill>
                <a:highlight>
                  <a:schemeClr val="lt1"/>
                </a:highlight>
                <a:latin typeface="Courier New"/>
                <a:ea typeface="Courier New"/>
                <a:cs typeface="Courier New"/>
                <a:sym typeface="Courier New"/>
              </a:rPr>
              <a:t>if</a:t>
            </a:r>
            <a:r>
              <a:rPr b="1" lang="en" sz="1200">
                <a:solidFill>
                  <a:schemeClr val="dk1"/>
                </a:solidFill>
                <a:highlight>
                  <a:schemeClr val="lt1"/>
                </a:highlight>
                <a:latin typeface="Courier New"/>
                <a:ea typeface="Courier New"/>
                <a:cs typeface="Courier New"/>
                <a:sym typeface="Courier New"/>
              </a:rPr>
              <a:t>( !(I2C1-&gt;</a:t>
            </a:r>
            <a:r>
              <a:rPr b="1" lang="en" sz="1200">
                <a:solidFill>
                  <a:srgbClr val="0000C0"/>
                </a:solidFill>
                <a:highlight>
                  <a:schemeClr val="lt1"/>
                </a:highlight>
                <a:latin typeface="Courier New"/>
                <a:ea typeface="Courier New"/>
                <a:cs typeface="Courier New"/>
                <a:sym typeface="Courier New"/>
              </a:rPr>
              <a:t>ISR</a:t>
            </a:r>
            <a:r>
              <a:rPr b="1" lang="en" sz="1200">
                <a:solidFill>
                  <a:schemeClr val="dk1"/>
                </a:solidFill>
                <a:highlight>
                  <a:schemeClr val="lt1"/>
                </a:highlight>
                <a:latin typeface="Courier New"/>
                <a:ea typeface="Courier New"/>
                <a:cs typeface="Courier New"/>
                <a:sym typeface="Courier New"/>
              </a:rPr>
              <a:t> &amp; I2C_ISR_NACKF) ) {		</a:t>
            </a:r>
            <a:r>
              <a:rPr b="1" lang="en" sz="1200">
                <a:solidFill>
                  <a:srgbClr val="3F7F5F"/>
                </a:solidFill>
                <a:highlight>
                  <a:schemeClr val="lt1"/>
                </a:highlight>
                <a:latin typeface="Courier New"/>
                <a:ea typeface="Courier New"/>
                <a:cs typeface="Courier New"/>
                <a:sym typeface="Courier New"/>
              </a:rPr>
              <a:t>// Make sure ACK received</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a:t>
            </a:r>
            <a:r>
              <a:rPr b="1" lang="en" sz="1200">
                <a:solidFill>
                  <a:srgbClr val="7F0055"/>
                </a:solidFill>
                <a:highlight>
                  <a:schemeClr val="lt1"/>
                </a:highlight>
                <a:latin typeface="Courier New"/>
                <a:ea typeface="Courier New"/>
                <a:cs typeface="Courier New"/>
                <a:sym typeface="Courier New"/>
              </a:rPr>
              <a:t>while</a:t>
            </a:r>
            <a:r>
              <a:rPr b="1" lang="en" sz="1200">
                <a:solidFill>
                  <a:schemeClr val="dk1"/>
                </a:solidFill>
                <a:highlight>
                  <a:schemeClr val="lt1"/>
                </a:highlight>
                <a:latin typeface="Courier New"/>
                <a:ea typeface="Courier New"/>
                <a:cs typeface="Courier New"/>
                <a:sym typeface="Courier New"/>
              </a:rPr>
              <a:t>( !(I2C1-&gt;</a:t>
            </a:r>
            <a:r>
              <a:rPr b="1" lang="en" sz="1200">
                <a:solidFill>
                  <a:srgbClr val="0000C0"/>
                </a:solidFill>
                <a:highlight>
                  <a:schemeClr val="lt1"/>
                </a:highlight>
                <a:latin typeface="Courier New"/>
                <a:ea typeface="Courier New"/>
                <a:cs typeface="Courier New"/>
                <a:sym typeface="Courier New"/>
              </a:rPr>
              <a:t>ISR</a:t>
            </a:r>
            <a:r>
              <a:rPr b="1" lang="en" sz="1200">
                <a:solidFill>
                  <a:schemeClr val="dk1"/>
                </a:solidFill>
                <a:highlight>
                  <a:schemeClr val="lt1"/>
                </a:highlight>
                <a:latin typeface="Courier New"/>
                <a:ea typeface="Courier New"/>
                <a:cs typeface="Courier New"/>
                <a:sym typeface="Courier New"/>
              </a:rPr>
              <a:t> &amp; I2C_ISR_RXNE) );	</a:t>
            </a:r>
            <a:r>
              <a:rPr b="1" lang="en" sz="1200">
                <a:solidFill>
                  <a:srgbClr val="3F7F5F"/>
                </a:solidFill>
                <a:highlight>
                  <a:schemeClr val="lt1"/>
                </a:highlight>
                <a:latin typeface="Courier New"/>
                <a:ea typeface="Courier New"/>
                <a:cs typeface="Courier New"/>
                <a:sym typeface="Courier New"/>
              </a:rPr>
              <a:t>// Wait for </a:t>
            </a:r>
            <a:r>
              <a:rPr b="1" lang="en" sz="1200" u="sng">
                <a:solidFill>
                  <a:srgbClr val="3F7F5F"/>
                </a:solidFill>
                <a:highlight>
                  <a:schemeClr val="lt1"/>
                </a:highlight>
                <a:latin typeface="Courier New"/>
                <a:ea typeface="Courier New"/>
                <a:cs typeface="Courier New"/>
                <a:sym typeface="Courier New"/>
              </a:rPr>
              <a:t>Rx</a:t>
            </a:r>
            <a:r>
              <a:rPr b="1" lang="en" sz="1200">
                <a:solidFill>
                  <a:srgbClr val="3F7F5F"/>
                </a:solidFill>
                <a:highlight>
                  <a:schemeClr val="lt1"/>
                </a:highlight>
                <a:latin typeface="Courier New"/>
                <a:ea typeface="Courier New"/>
                <a:cs typeface="Courier New"/>
                <a:sym typeface="Courier New"/>
              </a:rPr>
              <a:t> to be ready</a:t>
            </a:r>
            <a:endParaRPr b="1" sz="12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		*data = I2C1-&gt;</a:t>
            </a:r>
            <a:r>
              <a:rPr b="1" lang="en" sz="1200">
                <a:solidFill>
                  <a:srgbClr val="0000C0"/>
                </a:solidFill>
                <a:highlight>
                  <a:schemeClr val="lt1"/>
                </a:highlight>
                <a:latin typeface="Courier New"/>
                <a:ea typeface="Courier New"/>
                <a:cs typeface="Courier New"/>
                <a:sym typeface="Courier New"/>
              </a:rPr>
              <a:t>RXDR</a:t>
            </a:r>
            <a:r>
              <a:rPr b="1" lang="en" sz="1200">
                <a:solidFill>
                  <a:schemeClr val="dk1"/>
                </a:solidFill>
                <a:highlight>
                  <a:schemeClr val="lt1"/>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Read the data</a:t>
            </a:r>
            <a:endParaRPr b="1" sz="1200">
              <a:solidFill>
                <a:srgbClr val="3F7F5F"/>
              </a:solidFill>
              <a:highlight>
                <a:schemeClr val="lt1"/>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a:t>
            </a:r>
            <a:endParaRPr b="1" sz="1200">
              <a:solidFill>
                <a:srgbClr val="3F7F5F"/>
              </a:solidFill>
              <a:highlight>
                <a:srgbClr val="FFFFFF"/>
              </a:highlight>
              <a:latin typeface="Courier New"/>
              <a:ea typeface="Courier New"/>
              <a:cs typeface="Courier New"/>
              <a:sym typeface="Courier New"/>
            </a:endParaRPr>
          </a:p>
        </p:txBody>
      </p:sp>
      <p:sp>
        <p:nvSpPr>
          <p:cNvPr id="369" name="Google Shape;369;p44"/>
          <p:cNvSpPr txBox="1"/>
          <p:nvPr/>
        </p:nvSpPr>
        <p:spPr>
          <a:xfrm>
            <a:off x="7591325" y="5468975"/>
            <a:ext cx="1260900" cy="1008900"/>
          </a:xfrm>
          <a:prstGeom prst="rect">
            <a:avLst/>
          </a:prstGeom>
          <a:noFill/>
          <a:ln cap="flat" cmpd="sng" w="28575">
            <a:solidFill>
              <a:srgbClr val="7F005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7F0055"/>
                </a:solidFill>
              </a:rPr>
              <a:t>Receiving</a:t>
            </a:r>
            <a:r>
              <a:rPr lang="en" sz="1800">
                <a:solidFill>
                  <a:srgbClr val="7F0055"/>
                </a:solidFill>
              </a:rPr>
              <a:t> one byte of data</a:t>
            </a:r>
            <a:endParaRPr sz="1800">
              <a:solidFill>
                <a:srgbClr val="7F0055"/>
              </a:solidFill>
            </a:endParaRPr>
          </a:p>
        </p:txBody>
      </p:sp>
      <p:sp>
        <p:nvSpPr>
          <p:cNvPr id="370" name="Google Shape;370;p44"/>
          <p:cNvSpPr/>
          <p:nvPr/>
        </p:nvSpPr>
        <p:spPr>
          <a:xfrm>
            <a:off x="2080250" y="4538025"/>
            <a:ext cx="4777800" cy="2694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44"/>
          <p:cNvSpPr/>
          <p:nvPr/>
        </p:nvSpPr>
        <p:spPr>
          <a:xfrm>
            <a:off x="1241300" y="6208475"/>
            <a:ext cx="1841400" cy="2694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44"/>
          <p:cNvSpPr/>
          <p:nvPr/>
        </p:nvSpPr>
        <p:spPr>
          <a:xfrm>
            <a:off x="1162850" y="3076450"/>
            <a:ext cx="1841400" cy="2694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44"/>
          <p:cNvSpPr/>
          <p:nvPr/>
        </p:nvSpPr>
        <p:spPr>
          <a:xfrm>
            <a:off x="3883950" y="2889600"/>
            <a:ext cx="417600" cy="2694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44"/>
          <p:cNvSpPr/>
          <p:nvPr/>
        </p:nvSpPr>
        <p:spPr>
          <a:xfrm>
            <a:off x="3883950" y="6022700"/>
            <a:ext cx="417600" cy="2694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Thursday:  </a:t>
            </a:r>
            <a:r>
              <a:rPr lang="en"/>
              <a:t>7-segment LED Display</a:t>
            </a:r>
            <a:endParaRPr/>
          </a:p>
        </p:txBody>
      </p:sp>
      <p:pic>
        <p:nvPicPr>
          <p:cNvPr id="380" name="Google Shape;380;p45"/>
          <p:cNvPicPr preferRelativeResize="0"/>
          <p:nvPr/>
        </p:nvPicPr>
        <p:blipFill rotWithShape="1">
          <a:blip r:embed="rId3">
            <a:alphaModFix/>
          </a:blip>
          <a:srcRect b="7329" l="0" r="0" t="17506"/>
          <a:stretch/>
        </p:blipFill>
        <p:spPr>
          <a:xfrm>
            <a:off x="1005150" y="1700825"/>
            <a:ext cx="7758850" cy="4480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