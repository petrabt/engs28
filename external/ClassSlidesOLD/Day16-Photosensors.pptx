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3" r:id="rId4"/>
    <p:sldMasterId id="214748367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6858000" cx="9144000"/>
  <p:notesSz cx="6858000" cy="9144000"/>
  <p:embeddedFontLst>
    <p:embeddedFont>
      <p:font typeface="Helvetica Neue"/>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HelveticaNeue-bold.fntdata"/><Relationship Id="rId23" Type="http://schemas.openxmlformats.org/officeDocument/2006/relationships/font" Target="fonts/HelveticaNeue-regular.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HelveticaNeue-boldItalic.fntdata"/><Relationship Id="rId25" Type="http://schemas.openxmlformats.org/officeDocument/2006/relationships/font" Target="fonts/HelveticaNeue-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6e9c87f055_2_4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6e9c87f055_2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10dc21717c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210dc21717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10dc21717c_0_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210dc21717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pPr>
            <a:r>
              <a:rPr lang="en" sz="1050">
                <a:solidFill>
                  <a:srgbClr val="333333"/>
                </a:solidFill>
                <a:highlight>
                  <a:srgbClr val="FFFFFF"/>
                </a:highlight>
              </a:rPr>
              <a:t>An LDR or photoresistor is made of semiconductor material with a high resistance. It has a high resistance because there are very few electrons that are free and able to move - the vast majority of the electrons are locked into the crystal lattice and unable to move. Therefore in this state there is a high LDR resistance.</a:t>
            </a:r>
            <a:endParaRPr sz="1050">
              <a:solidFill>
                <a:srgbClr val="333333"/>
              </a:solidFill>
              <a:highlight>
                <a:srgbClr val="FFFFFF"/>
              </a:highlight>
            </a:endParaRPr>
          </a:p>
          <a:p>
            <a:pPr indent="0" lvl="0" marL="0" rtl="0" algn="just">
              <a:lnSpc>
                <a:spcPct val="115000"/>
              </a:lnSpc>
              <a:spcBef>
                <a:spcPts val="1100"/>
              </a:spcBef>
              <a:spcAft>
                <a:spcPts val="0"/>
              </a:spcAft>
              <a:buClr>
                <a:schemeClr val="dk1"/>
              </a:buClr>
              <a:buSzPts val="1100"/>
              <a:buFont typeface="Arial"/>
              <a:buNone/>
            </a:pPr>
            <a:r>
              <a:rPr lang="en" sz="1050">
                <a:solidFill>
                  <a:srgbClr val="333333"/>
                </a:solidFill>
                <a:highlight>
                  <a:srgbClr val="FFFFFF"/>
                </a:highlight>
              </a:rPr>
              <a:t>As light falls on the semiconductor, the light photons are absorbed by the semiconductor lattice and some of their energy is transferred to the electrons.</a:t>
            </a:r>
            <a:endParaRPr sz="1050">
              <a:solidFill>
                <a:srgbClr val="333333"/>
              </a:solidFill>
              <a:highlight>
                <a:srgbClr val="FFFFFF"/>
              </a:highlight>
            </a:endParaRPr>
          </a:p>
          <a:p>
            <a:pPr indent="0" lvl="0" marL="0" rtl="0" algn="just">
              <a:lnSpc>
                <a:spcPct val="115000"/>
              </a:lnSpc>
              <a:spcBef>
                <a:spcPts val="1100"/>
              </a:spcBef>
              <a:spcAft>
                <a:spcPts val="0"/>
              </a:spcAft>
              <a:buClr>
                <a:schemeClr val="dk1"/>
              </a:buClr>
              <a:buSzPts val="1100"/>
              <a:buFont typeface="Arial"/>
              <a:buNone/>
            </a:pPr>
            <a:r>
              <a:rPr lang="en" sz="1050">
                <a:solidFill>
                  <a:srgbClr val="333333"/>
                </a:solidFill>
                <a:highlight>
                  <a:srgbClr val="FFFFFF"/>
                </a:highlight>
              </a:rPr>
              <a:t>The amount of energy transferred to the electrons gives some of them sufficient energy to break free from the crystal lattice so that they can then conduct electricity. This results in a lowering of the resistance of the semiconductor and hence the overall LDR resistance.</a:t>
            </a:r>
            <a:endParaRPr sz="1050">
              <a:solidFill>
                <a:srgbClr val="333333"/>
              </a:solidFill>
              <a:highlight>
                <a:srgbClr val="FFFFFF"/>
              </a:highlight>
            </a:endParaRPr>
          </a:p>
          <a:p>
            <a:pPr indent="0" lvl="0" marL="0" rtl="0" algn="just">
              <a:lnSpc>
                <a:spcPct val="115000"/>
              </a:lnSpc>
              <a:spcBef>
                <a:spcPts val="1100"/>
              </a:spcBef>
              <a:spcAft>
                <a:spcPts val="0"/>
              </a:spcAft>
              <a:buClr>
                <a:schemeClr val="dk1"/>
              </a:buClr>
              <a:buSzPts val="1100"/>
              <a:buFont typeface="Arial"/>
              <a:buNone/>
            </a:pPr>
            <a:r>
              <a:rPr lang="en" sz="1050">
                <a:solidFill>
                  <a:srgbClr val="333333"/>
                </a:solidFill>
                <a:highlight>
                  <a:srgbClr val="FFFFFF"/>
                </a:highlight>
              </a:rPr>
              <a:t>The process is progressive, and as more light shines on the LDR semiconductor, so more electrons are released to conduct electricity and the resistance falls further.</a:t>
            </a:r>
            <a:endParaRPr sz="1050">
              <a:solidFill>
                <a:srgbClr val="333333"/>
              </a:solidFill>
              <a:highlight>
                <a:srgbClr val="FFFFFF"/>
              </a:highlight>
            </a:endParaRPr>
          </a:p>
          <a:p>
            <a:pPr indent="0" lvl="0" marL="0" rtl="0" algn="l">
              <a:lnSpc>
                <a:spcPct val="115000"/>
              </a:lnSpc>
              <a:spcBef>
                <a:spcPts val="110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10dc21717c_0_1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210dc21717c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Quite non-linear (at least over a wide range). Lines look relatively straight but…: this is a log-log scale. </a:t>
            </a:r>
            <a:endParaRPr/>
          </a:p>
          <a:p>
            <a:pPr indent="0" lvl="0" marL="0" rtl="0" algn="l">
              <a:spcBef>
                <a:spcPts val="0"/>
              </a:spcBef>
              <a:spcAft>
                <a:spcPts val="0"/>
              </a:spcAft>
              <a:buNone/>
            </a:pPr>
            <a:r>
              <a:rPr lang="en"/>
              <a:t>Datasheet gives an approximation of what the functional relationship is.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Each photocell is a bit different, even if they are "the same". They are very low cost, easy to get in many sizes and specifications, but are very </a:t>
            </a:r>
            <a:r>
              <a:rPr lang="en"/>
              <a:t>inaccurate</a:t>
            </a:r>
            <a:r>
              <a:rPr lang="en"/>
              <a:t>.</a:t>
            </a:r>
            <a:endParaRPr/>
          </a:p>
          <a:p>
            <a:pPr indent="0" lvl="0" marL="0" rtl="0" algn="l">
              <a:spcBef>
                <a:spcPts val="0"/>
              </a:spcBef>
              <a:spcAft>
                <a:spcPts val="0"/>
              </a:spcAft>
              <a:buClr>
                <a:schemeClr val="dk1"/>
              </a:buClr>
              <a:buSzPts val="1100"/>
              <a:buFont typeface="Arial"/>
              <a:buNone/>
            </a:pPr>
            <a:r>
              <a:rPr lang="en"/>
              <a:t>Each photocell sensor will act a little differently than the other, even if they are from the same batch. The variations can</a:t>
            </a:r>
            <a:endParaRPr/>
          </a:p>
          <a:p>
            <a:pPr indent="0" lvl="0" marL="0" rtl="0" algn="l">
              <a:spcBef>
                <a:spcPts val="0"/>
              </a:spcBef>
              <a:spcAft>
                <a:spcPts val="0"/>
              </a:spcAft>
              <a:buClr>
                <a:schemeClr val="dk1"/>
              </a:buClr>
              <a:buSzPts val="1100"/>
              <a:buFont typeface="Arial"/>
              <a:buNone/>
            </a:pPr>
            <a:r>
              <a:rPr lang="en"/>
              <a:t>be really large, 50% or higher! For this reason, they shouldn't be used to try to determine precise light levels in lux or</a:t>
            </a:r>
            <a:endParaRPr/>
          </a:p>
          <a:p>
            <a:pPr indent="0" lvl="0" marL="0" rtl="0" algn="l">
              <a:spcBef>
                <a:spcPts val="0"/>
              </a:spcBef>
              <a:spcAft>
                <a:spcPts val="0"/>
              </a:spcAft>
              <a:buClr>
                <a:schemeClr val="dk1"/>
              </a:buClr>
              <a:buSzPts val="1100"/>
              <a:buFont typeface="Arial"/>
              <a:buNone/>
            </a:pPr>
            <a:r>
              <a:rPr lang="en"/>
              <a:t>millicandela. Instead, you can expect to only be able to determine basic light changes.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To obtain the typical resistance versus illumination characteristic for a specific photocell:</a:t>
            </a:r>
            <a:endParaRPr/>
          </a:p>
          <a:p>
            <a:pPr indent="0" lvl="0" marL="0" rtl="0" algn="l">
              <a:spcBef>
                <a:spcPts val="0"/>
              </a:spcBef>
              <a:spcAft>
                <a:spcPts val="0"/>
              </a:spcAft>
              <a:buClr>
                <a:schemeClr val="dk1"/>
              </a:buClr>
              <a:buSzPts val="1100"/>
              <a:buFont typeface="Arial"/>
              <a:buNone/>
            </a:pPr>
            <a:r>
              <a:rPr lang="en"/>
              <a:t>1. Look up 2 footcandle resistance in table.</a:t>
            </a:r>
            <a:endParaRPr/>
          </a:p>
          <a:p>
            <a:pPr indent="0" lvl="0" marL="0" rtl="0" algn="l">
              <a:spcBef>
                <a:spcPts val="0"/>
              </a:spcBef>
              <a:spcAft>
                <a:spcPts val="0"/>
              </a:spcAft>
              <a:buClr>
                <a:schemeClr val="dk1"/>
              </a:buClr>
              <a:buSzPts val="1100"/>
              <a:buFont typeface="Arial"/>
              <a:buNone/>
            </a:pPr>
            <a:r>
              <a:rPr lang="en"/>
              <a:t>2. Insert resistance given and draw a curve through that point</a:t>
            </a:r>
            <a:endParaRPr/>
          </a:p>
          <a:p>
            <a:pPr indent="0" lvl="0" marL="0" rtl="0" algn="l">
              <a:spcBef>
                <a:spcPts val="0"/>
              </a:spcBef>
              <a:spcAft>
                <a:spcPts val="0"/>
              </a:spcAft>
              <a:buClr>
                <a:schemeClr val="dk1"/>
              </a:buClr>
              <a:buSzPts val="1100"/>
              <a:buFont typeface="Arial"/>
              <a:buNone/>
            </a:pPr>
            <a:r>
              <a:rPr lang="en"/>
              <a:t>and parallel to the closest member of the family of curves</a:t>
            </a:r>
            <a:endParaRPr/>
          </a:p>
          <a:p>
            <a:pPr indent="0" lvl="0" marL="0" rtl="0" algn="l">
              <a:spcBef>
                <a:spcPts val="0"/>
              </a:spcBef>
              <a:spcAft>
                <a:spcPts val="0"/>
              </a:spcAft>
              <a:buClr>
                <a:schemeClr val="dk1"/>
              </a:buClr>
              <a:buSzPts val="1100"/>
              <a:buFont typeface="Arial"/>
              <a:buNone/>
            </a:pPr>
            <a:r>
              <a:rPr lang="en"/>
              <a:t>shown for the appropriate type of photo-sensitive material.</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10dc21717c_0_2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10dc21717c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210dc21717c_0_3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210dc21717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210dc21717c_0_4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210dc21717c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210dc21717c_0_5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210dc21717c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20e5803408f_0_6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20e5803408f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2d97c85ab53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2d97c85ab5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20e5803408f_0_7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20e5803408f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20e5803408f_0_13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20e5803408f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20e5803408f_0_14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20e5803408f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20e5803408f_0_15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20e5803408f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20e5803408f_0_15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20e5803408f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c9a2bd014c_0_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c9a2bd014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533400" y="457200"/>
            <a:ext cx="7543800" cy="381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2800"/>
              <a:buNone/>
              <a:defRPr/>
            </a:lvl1pPr>
            <a:lvl2pPr lvl="1" algn="l">
              <a:spcBef>
                <a:spcPts val="0"/>
              </a:spcBef>
              <a:spcAft>
                <a:spcPts val="0"/>
              </a:spcAft>
              <a:buSzPts val="2800"/>
              <a:buNone/>
              <a:defRPr/>
            </a:lvl2pPr>
            <a:lvl3pPr lvl="2" algn="l">
              <a:spcBef>
                <a:spcPts val="0"/>
              </a:spcBef>
              <a:spcAft>
                <a:spcPts val="0"/>
              </a:spcAft>
              <a:buSzPts val="2800"/>
              <a:buNone/>
              <a:defRPr/>
            </a:lvl3pPr>
            <a:lvl4pPr lvl="3" algn="l">
              <a:spcBef>
                <a:spcPts val="0"/>
              </a:spcBef>
              <a:spcAft>
                <a:spcPts val="0"/>
              </a:spcAft>
              <a:buSzPts val="2800"/>
              <a:buNone/>
              <a:defRPr/>
            </a:lvl4pPr>
            <a:lvl5pPr lvl="4" algn="l">
              <a:spcBef>
                <a:spcPts val="0"/>
              </a:spcBef>
              <a:spcAft>
                <a:spcPts val="0"/>
              </a:spcAft>
              <a:buSzPts val="2800"/>
              <a:buNone/>
              <a:defRPr/>
            </a:lvl5pPr>
            <a:lvl6pPr lvl="5" algn="l">
              <a:spcBef>
                <a:spcPts val="0"/>
              </a:spcBef>
              <a:spcAft>
                <a:spcPts val="0"/>
              </a:spcAft>
              <a:buSzPts val="2800"/>
              <a:buNone/>
              <a:defRPr/>
            </a:lvl6pPr>
            <a:lvl7pPr lvl="6" algn="l">
              <a:spcBef>
                <a:spcPts val="0"/>
              </a:spcBef>
              <a:spcAft>
                <a:spcPts val="0"/>
              </a:spcAft>
              <a:buSzPts val="2800"/>
              <a:buNone/>
              <a:defRPr/>
            </a:lvl7pPr>
            <a:lvl8pPr lvl="7" algn="l">
              <a:spcBef>
                <a:spcPts val="0"/>
              </a:spcBef>
              <a:spcAft>
                <a:spcPts val="0"/>
              </a:spcAft>
              <a:buSzPts val="2800"/>
              <a:buNone/>
              <a:defRPr/>
            </a:lvl8pPr>
            <a:lvl9pPr lvl="8" algn="l">
              <a:spcBef>
                <a:spcPts val="0"/>
              </a:spcBef>
              <a:spcAft>
                <a:spcPts val="0"/>
              </a:spcAft>
              <a:buSzPts val="2800"/>
              <a:buNone/>
              <a:defRPr/>
            </a:lvl9pPr>
          </a:lstStyle>
          <a:p/>
        </p:txBody>
      </p:sp>
      <p:sp>
        <p:nvSpPr>
          <p:cNvPr id="52" name="Google Shape;52;p13"/>
          <p:cNvSpPr txBox="1"/>
          <p:nvPr>
            <p:ph idx="1" type="body"/>
          </p:nvPr>
        </p:nvSpPr>
        <p:spPr>
          <a:xfrm>
            <a:off x="533400" y="990600"/>
            <a:ext cx="8153400" cy="5105400"/>
          </a:xfrm>
          <a:prstGeom prst="rect">
            <a:avLst/>
          </a:prstGeom>
          <a:noFill/>
          <a:ln>
            <a:noFill/>
          </a:ln>
        </p:spPr>
        <p:txBody>
          <a:bodyPr anchorCtr="0" anchor="t" bIns="45700" lIns="91425" spcFirstLastPara="1" rIns="91425" wrap="square" tIns="45700">
            <a:noAutofit/>
          </a:bodyPr>
          <a:lstStyle>
            <a:lvl1pPr indent="-228600" lvl="0" marL="457200" algn="l">
              <a:spcBef>
                <a:spcPts val="360"/>
              </a:spcBef>
              <a:spcAft>
                <a:spcPts val="0"/>
              </a:spcAft>
              <a:buSzPts val="1800"/>
              <a:buNone/>
              <a:defRPr/>
            </a:lvl1pPr>
            <a:lvl2pPr indent="-228600" lvl="1" marL="914400" algn="l">
              <a:spcBef>
                <a:spcPts val="360"/>
              </a:spcBef>
              <a:spcAft>
                <a:spcPts val="0"/>
              </a:spcAft>
              <a:buSzPts val="1400"/>
              <a:buNone/>
              <a:defRPr/>
            </a:lvl2pPr>
            <a:lvl3pPr indent="-228600" lvl="2" marL="1371600" algn="l">
              <a:spcBef>
                <a:spcPts val="360"/>
              </a:spcBef>
              <a:spcAft>
                <a:spcPts val="0"/>
              </a:spcAft>
              <a:buSzPts val="1400"/>
              <a:buNone/>
              <a:defRPr/>
            </a:lvl3pPr>
            <a:lvl4pPr indent="-228600" lvl="3" marL="1828800" algn="l">
              <a:spcBef>
                <a:spcPts val="360"/>
              </a:spcBef>
              <a:spcAft>
                <a:spcPts val="0"/>
              </a:spcAft>
              <a:buSzPts val="1400"/>
              <a:buNone/>
              <a:defRPr/>
            </a:lvl4pPr>
            <a:lvl5pPr indent="-228600" lvl="4" marL="2286000" algn="l">
              <a:spcBef>
                <a:spcPts val="360"/>
              </a:spcBef>
              <a:spcAft>
                <a:spcPts val="0"/>
              </a:spcAft>
              <a:buSzPts val="1400"/>
              <a:buNone/>
              <a:defRPr/>
            </a:lvl5pPr>
            <a:lvl6pPr indent="-228600" lvl="5" marL="2743200" algn="l">
              <a:spcBef>
                <a:spcPts val="360"/>
              </a:spcBef>
              <a:spcAft>
                <a:spcPts val="0"/>
              </a:spcAft>
              <a:buSzPts val="1400"/>
              <a:buNone/>
              <a:defRPr/>
            </a:lvl6pPr>
            <a:lvl7pPr indent="-228600" lvl="6" marL="3200400" algn="l">
              <a:spcBef>
                <a:spcPts val="360"/>
              </a:spcBef>
              <a:spcAft>
                <a:spcPts val="0"/>
              </a:spcAft>
              <a:buSzPts val="1400"/>
              <a:buNone/>
              <a:defRPr/>
            </a:lvl7pPr>
            <a:lvl8pPr indent="-228600" lvl="7" marL="3657600" algn="l">
              <a:spcBef>
                <a:spcPts val="360"/>
              </a:spcBef>
              <a:spcAft>
                <a:spcPts val="0"/>
              </a:spcAft>
              <a:buSzPts val="1400"/>
              <a:buNone/>
              <a:defRPr/>
            </a:lvl8pPr>
            <a:lvl9pPr indent="-228600" lvl="8" marL="4114800" algn="l">
              <a:spcBef>
                <a:spcPts val="360"/>
              </a:spcBef>
              <a:spcAft>
                <a:spcPts val="0"/>
              </a:spcAft>
              <a:buSzPts val="1400"/>
              <a:buNone/>
              <a:defRPr/>
            </a:lvl9pPr>
          </a:lstStyle>
          <a:p/>
        </p:txBody>
      </p:sp>
      <p:sp>
        <p:nvSpPr>
          <p:cNvPr id="53" name="Google Shape;53;p13"/>
          <p:cNvSpPr txBox="1"/>
          <p:nvPr>
            <p:ph idx="10" type="dt"/>
          </p:nvPr>
        </p:nvSpPr>
        <p:spPr>
          <a:xfrm>
            <a:off x="533400" y="6248400"/>
            <a:ext cx="1905000" cy="304800"/>
          </a:xfrm>
          <a:prstGeom prst="rect">
            <a:avLst/>
          </a:prstGeom>
          <a:noFill/>
          <a:ln>
            <a:noFill/>
          </a:ln>
        </p:spPr>
        <p:txBody>
          <a:bodyPr anchorCtr="0" anchor="t" bIns="45700" lIns="91425" spcFirstLastPara="1" rIns="91425" wrap="square" tIns="45700">
            <a:noAutofit/>
          </a:bodyPr>
          <a:lstStyle>
            <a:lvl1pPr lvl="0" algn="l">
              <a:spcBef>
                <a:spcPts val="6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3"/>
          <p:cNvSpPr txBox="1"/>
          <p:nvPr>
            <p:ph idx="12" type="sldNum"/>
          </p:nvPr>
        </p:nvSpPr>
        <p:spPr>
          <a:xfrm>
            <a:off x="6781800" y="6248400"/>
            <a:ext cx="1905000" cy="304800"/>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1pPr>
            <a:lvl2pPr indent="0" lvl="1"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2pPr>
            <a:lvl3pPr indent="0" lvl="2"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3pPr>
            <a:lvl4pPr indent="0" lvl="3"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4pPr>
            <a:lvl5pPr indent="0" lvl="4"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5pPr>
            <a:lvl6pPr indent="0" lvl="5"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6pPr>
            <a:lvl7pPr indent="0" lvl="6"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7pPr>
            <a:lvl8pPr indent="0" lvl="7"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8pPr>
            <a:lvl9pPr indent="0" lvl="8" marL="0" marR="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9pPr>
          </a:lstStyle>
          <a:p>
            <a:pPr indent="0" lvl="0" marL="0" rtl="0" algn="r">
              <a:spcBef>
                <a:spcPts val="0"/>
              </a:spcBef>
              <a:spcAft>
                <a:spcPts val="0"/>
              </a:spcAft>
              <a:buNone/>
            </a:pPr>
            <a:r>
              <a:rPr lang="en"/>
              <a:t>23.</a:t>
            </a: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9" name="Shape 59"/>
        <p:cNvGrpSpPr/>
        <p:nvPr/>
      </p:nvGrpSpPr>
      <p:grpSpPr>
        <a:xfrm>
          <a:off x="0" y="0"/>
          <a:ext cx="0" cy="0"/>
          <a:chOff x="0" y="0"/>
          <a:chExt cx="0" cy="0"/>
        </a:xfrm>
      </p:grpSpPr>
      <p:sp>
        <p:nvSpPr>
          <p:cNvPr id="60" name="Google Shape;60;p15"/>
          <p:cNvSpPr txBox="1"/>
          <p:nvPr>
            <p:ph type="ctrTitle"/>
          </p:nvPr>
        </p:nvSpPr>
        <p:spPr>
          <a:xfrm>
            <a:off x="311708" y="992767"/>
            <a:ext cx="8520600" cy="2736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61" name="Google Shape;61;p15"/>
          <p:cNvSpPr txBox="1"/>
          <p:nvPr>
            <p:ph idx="1" type="subTitle"/>
          </p:nvPr>
        </p:nvSpPr>
        <p:spPr>
          <a:xfrm>
            <a:off x="311700" y="3778833"/>
            <a:ext cx="8520600" cy="1056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62" name="Google Shape;62;p1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3" name="Shape 63"/>
        <p:cNvGrpSpPr/>
        <p:nvPr/>
      </p:nvGrpSpPr>
      <p:grpSpPr>
        <a:xfrm>
          <a:off x="0" y="0"/>
          <a:ext cx="0" cy="0"/>
          <a:chOff x="0" y="0"/>
          <a:chExt cx="0" cy="0"/>
        </a:xfrm>
      </p:grpSpPr>
      <p:sp>
        <p:nvSpPr>
          <p:cNvPr id="64" name="Google Shape;64;p16"/>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5" name="Google Shape;65;p1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6" name="Shape 66"/>
        <p:cNvGrpSpPr/>
        <p:nvPr/>
      </p:nvGrpSpPr>
      <p:grpSpPr>
        <a:xfrm>
          <a:off x="0" y="0"/>
          <a:ext cx="0" cy="0"/>
          <a:chOff x="0" y="0"/>
          <a:chExt cx="0" cy="0"/>
        </a:xfrm>
      </p:grpSpPr>
      <p:sp>
        <p:nvSpPr>
          <p:cNvPr id="67" name="Google Shape;67;p17"/>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7"/>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0" name="Shape 70"/>
        <p:cNvGrpSpPr/>
        <p:nvPr/>
      </p:nvGrpSpPr>
      <p:grpSpPr>
        <a:xfrm>
          <a:off x="0" y="0"/>
          <a:ext cx="0" cy="0"/>
          <a:chOff x="0" y="0"/>
          <a:chExt cx="0" cy="0"/>
        </a:xfrm>
      </p:grpSpPr>
      <p:sp>
        <p:nvSpPr>
          <p:cNvPr id="71" name="Google Shape;71;p18"/>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 name="Google Shape;72;p18"/>
          <p:cNvSpPr txBox="1"/>
          <p:nvPr>
            <p:ph idx="1" type="body"/>
          </p:nvPr>
        </p:nvSpPr>
        <p:spPr>
          <a:xfrm>
            <a:off x="311700" y="1536633"/>
            <a:ext cx="3999900" cy="4555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73" name="Google Shape;73;p18"/>
          <p:cNvSpPr txBox="1"/>
          <p:nvPr>
            <p:ph idx="2" type="body"/>
          </p:nvPr>
        </p:nvSpPr>
        <p:spPr>
          <a:xfrm>
            <a:off x="4832400" y="1536633"/>
            <a:ext cx="3999900" cy="45552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74" name="Google Shape;74;p1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5" name="Shape 75"/>
        <p:cNvGrpSpPr/>
        <p:nvPr/>
      </p:nvGrpSpPr>
      <p:grpSpPr>
        <a:xfrm>
          <a:off x="0" y="0"/>
          <a:ext cx="0" cy="0"/>
          <a:chOff x="0" y="0"/>
          <a:chExt cx="0" cy="0"/>
        </a:xfrm>
      </p:grpSpPr>
      <p:sp>
        <p:nvSpPr>
          <p:cNvPr id="76" name="Google Shape;76;p19"/>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7" name="Google Shape;77;p1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8" name="Shape 78"/>
        <p:cNvGrpSpPr/>
        <p:nvPr/>
      </p:nvGrpSpPr>
      <p:grpSpPr>
        <a:xfrm>
          <a:off x="0" y="0"/>
          <a:ext cx="0" cy="0"/>
          <a:chOff x="0" y="0"/>
          <a:chExt cx="0" cy="0"/>
        </a:xfrm>
      </p:grpSpPr>
      <p:sp>
        <p:nvSpPr>
          <p:cNvPr id="79" name="Google Shape;79;p20"/>
          <p:cNvSpPr txBox="1"/>
          <p:nvPr>
            <p:ph type="title"/>
          </p:nvPr>
        </p:nvSpPr>
        <p:spPr>
          <a:xfrm>
            <a:off x="311700" y="740800"/>
            <a:ext cx="2808000" cy="1007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80" name="Google Shape;80;p20"/>
          <p:cNvSpPr txBox="1"/>
          <p:nvPr>
            <p:ph idx="1" type="body"/>
          </p:nvPr>
        </p:nvSpPr>
        <p:spPr>
          <a:xfrm>
            <a:off x="311700" y="1852800"/>
            <a:ext cx="2808000" cy="42393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81" name="Google Shape;81;p2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2" name="Shape 82"/>
        <p:cNvGrpSpPr/>
        <p:nvPr/>
      </p:nvGrpSpPr>
      <p:grpSpPr>
        <a:xfrm>
          <a:off x="0" y="0"/>
          <a:ext cx="0" cy="0"/>
          <a:chOff x="0" y="0"/>
          <a:chExt cx="0" cy="0"/>
        </a:xfrm>
      </p:grpSpPr>
      <p:sp>
        <p:nvSpPr>
          <p:cNvPr id="83" name="Google Shape;83;p21"/>
          <p:cNvSpPr txBox="1"/>
          <p:nvPr>
            <p:ph type="title"/>
          </p:nvPr>
        </p:nvSpPr>
        <p:spPr>
          <a:xfrm>
            <a:off x="490250" y="600200"/>
            <a:ext cx="6367800" cy="54543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84" name="Google Shape;84;p2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5" name="Shape 85"/>
        <p:cNvGrpSpPr/>
        <p:nvPr/>
      </p:nvGrpSpPr>
      <p:grpSpPr>
        <a:xfrm>
          <a:off x="0" y="0"/>
          <a:ext cx="0" cy="0"/>
          <a:chOff x="0" y="0"/>
          <a:chExt cx="0" cy="0"/>
        </a:xfrm>
      </p:grpSpPr>
      <p:sp>
        <p:nvSpPr>
          <p:cNvPr id="86" name="Google Shape;86;p22"/>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2"/>
          <p:cNvSpPr txBox="1"/>
          <p:nvPr>
            <p:ph type="title"/>
          </p:nvPr>
        </p:nvSpPr>
        <p:spPr>
          <a:xfrm>
            <a:off x="265500" y="1644233"/>
            <a:ext cx="4045200" cy="1976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88" name="Google Shape;88;p22"/>
          <p:cNvSpPr txBox="1"/>
          <p:nvPr>
            <p:ph idx="1" type="subTitle"/>
          </p:nvPr>
        </p:nvSpPr>
        <p:spPr>
          <a:xfrm>
            <a:off x="265500" y="3737433"/>
            <a:ext cx="4045200" cy="1646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89" name="Google Shape;89;p22"/>
          <p:cNvSpPr txBox="1"/>
          <p:nvPr>
            <p:ph idx="2" type="body"/>
          </p:nvPr>
        </p:nvSpPr>
        <p:spPr>
          <a:xfrm>
            <a:off x="4939500" y="965433"/>
            <a:ext cx="3837000" cy="49269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90" name="Google Shape;90;p2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1" name="Shape 91"/>
        <p:cNvGrpSpPr/>
        <p:nvPr/>
      </p:nvGrpSpPr>
      <p:grpSpPr>
        <a:xfrm>
          <a:off x="0" y="0"/>
          <a:ext cx="0" cy="0"/>
          <a:chOff x="0" y="0"/>
          <a:chExt cx="0" cy="0"/>
        </a:xfrm>
      </p:grpSpPr>
      <p:sp>
        <p:nvSpPr>
          <p:cNvPr id="92" name="Google Shape;92;p23"/>
          <p:cNvSpPr txBox="1"/>
          <p:nvPr>
            <p:ph idx="1" type="body"/>
          </p:nvPr>
        </p:nvSpPr>
        <p:spPr>
          <a:xfrm>
            <a:off x="311700" y="5640767"/>
            <a:ext cx="5998800" cy="8067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93" name="Google Shape;93;p2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4" name="Shape 94"/>
        <p:cNvGrpSpPr/>
        <p:nvPr/>
      </p:nvGrpSpPr>
      <p:grpSpPr>
        <a:xfrm>
          <a:off x="0" y="0"/>
          <a:ext cx="0" cy="0"/>
          <a:chOff x="0" y="0"/>
          <a:chExt cx="0" cy="0"/>
        </a:xfrm>
      </p:grpSpPr>
      <p:sp>
        <p:nvSpPr>
          <p:cNvPr id="95" name="Google Shape;95;p24"/>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96" name="Google Shape;96;p24"/>
          <p:cNvSpPr txBox="1"/>
          <p:nvPr>
            <p:ph idx="1" type="body"/>
          </p:nvPr>
        </p:nvSpPr>
        <p:spPr>
          <a:xfrm>
            <a:off x="311700" y="4202967"/>
            <a:ext cx="8520600" cy="17343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97" name="Google Shape;97;p2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8" name="Shape 98"/>
        <p:cNvGrpSpPr/>
        <p:nvPr/>
      </p:nvGrpSpPr>
      <p:grpSpPr>
        <a:xfrm>
          <a:off x="0" y="0"/>
          <a:ext cx="0" cy="0"/>
          <a:chOff x="0" y="0"/>
          <a:chExt cx="0" cy="0"/>
        </a:xfrm>
      </p:grpSpPr>
      <p:sp>
        <p:nvSpPr>
          <p:cNvPr id="99" name="Google Shape;99;p2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0" name="Shape 100"/>
        <p:cNvGrpSpPr/>
        <p:nvPr/>
      </p:nvGrpSpPr>
      <p:grpSpPr>
        <a:xfrm>
          <a:off x="0" y="0"/>
          <a:ext cx="0" cy="0"/>
          <a:chOff x="0" y="0"/>
          <a:chExt cx="0" cy="0"/>
        </a:xfrm>
      </p:grpSpPr>
      <p:sp>
        <p:nvSpPr>
          <p:cNvPr id="101" name="Google Shape;101;p26"/>
          <p:cNvSpPr txBox="1"/>
          <p:nvPr>
            <p:ph type="title"/>
          </p:nvPr>
        </p:nvSpPr>
        <p:spPr>
          <a:xfrm>
            <a:off x="533400" y="457200"/>
            <a:ext cx="7543800" cy="3810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2800"/>
              <a:buNone/>
              <a:defRPr/>
            </a:lvl1pPr>
            <a:lvl2pPr lvl="1" rtl="0" algn="l">
              <a:spcBef>
                <a:spcPts val="0"/>
              </a:spcBef>
              <a:spcAft>
                <a:spcPts val="0"/>
              </a:spcAft>
              <a:buSzPts val="2800"/>
              <a:buNone/>
              <a:defRPr/>
            </a:lvl2pPr>
            <a:lvl3pPr lvl="2" rtl="0" algn="l">
              <a:spcBef>
                <a:spcPts val="0"/>
              </a:spcBef>
              <a:spcAft>
                <a:spcPts val="0"/>
              </a:spcAft>
              <a:buSzPts val="2800"/>
              <a:buNone/>
              <a:defRPr/>
            </a:lvl3pPr>
            <a:lvl4pPr lvl="3" rtl="0" algn="l">
              <a:spcBef>
                <a:spcPts val="0"/>
              </a:spcBef>
              <a:spcAft>
                <a:spcPts val="0"/>
              </a:spcAft>
              <a:buSzPts val="2800"/>
              <a:buNone/>
              <a:defRPr/>
            </a:lvl4pPr>
            <a:lvl5pPr lvl="4" rtl="0" algn="l">
              <a:spcBef>
                <a:spcPts val="0"/>
              </a:spcBef>
              <a:spcAft>
                <a:spcPts val="0"/>
              </a:spcAft>
              <a:buSzPts val="2800"/>
              <a:buNone/>
              <a:defRPr/>
            </a:lvl5pPr>
            <a:lvl6pPr lvl="5" rtl="0" algn="l">
              <a:spcBef>
                <a:spcPts val="0"/>
              </a:spcBef>
              <a:spcAft>
                <a:spcPts val="0"/>
              </a:spcAft>
              <a:buSzPts val="2800"/>
              <a:buNone/>
              <a:defRPr/>
            </a:lvl6pPr>
            <a:lvl7pPr lvl="6" rtl="0" algn="l">
              <a:spcBef>
                <a:spcPts val="0"/>
              </a:spcBef>
              <a:spcAft>
                <a:spcPts val="0"/>
              </a:spcAft>
              <a:buSzPts val="2800"/>
              <a:buNone/>
              <a:defRPr/>
            </a:lvl7pPr>
            <a:lvl8pPr lvl="7" rtl="0" algn="l">
              <a:spcBef>
                <a:spcPts val="0"/>
              </a:spcBef>
              <a:spcAft>
                <a:spcPts val="0"/>
              </a:spcAft>
              <a:buSzPts val="2800"/>
              <a:buNone/>
              <a:defRPr/>
            </a:lvl8pPr>
            <a:lvl9pPr lvl="8" rtl="0" algn="l">
              <a:spcBef>
                <a:spcPts val="0"/>
              </a:spcBef>
              <a:spcAft>
                <a:spcPts val="0"/>
              </a:spcAft>
              <a:buSzPts val="2800"/>
              <a:buNone/>
              <a:defRPr/>
            </a:lvl9pPr>
          </a:lstStyle>
          <a:p/>
        </p:txBody>
      </p:sp>
      <p:sp>
        <p:nvSpPr>
          <p:cNvPr id="102" name="Google Shape;102;p26"/>
          <p:cNvSpPr txBox="1"/>
          <p:nvPr>
            <p:ph idx="1" type="body"/>
          </p:nvPr>
        </p:nvSpPr>
        <p:spPr>
          <a:xfrm>
            <a:off x="533400" y="990600"/>
            <a:ext cx="8153400" cy="5105400"/>
          </a:xfrm>
          <a:prstGeom prst="rect">
            <a:avLst/>
          </a:prstGeom>
          <a:noFill/>
          <a:ln>
            <a:noFill/>
          </a:ln>
        </p:spPr>
        <p:txBody>
          <a:bodyPr anchorCtr="0" anchor="t" bIns="45700" lIns="91425" spcFirstLastPara="1" rIns="91425" wrap="square" tIns="45700">
            <a:noAutofit/>
          </a:bodyPr>
          <a:lstStyle>
            <a:lvl1pPr indent="-228600" lvl="0" marL="457200" rtl="0" algn="l">
              <a:spcBef>
                <a:spcPts val="360"/>
              </a:spcBef>
              <a:spcAft>
                <a:spcPts val="0"/>
              </a:spcAft>
              <a:buSzPts val="1800"/>
              <a:buNone/>
              <a:defRPr/>
            </a:lvl1pPr>
            <a:lvl2pPr indent="-228600" lvl="1" marL="914400" rtl="0" algn="l">
              <a:spcBef>
                <a:spcPts val="360"/>
              </a:spcBef>
              <a:spcAft>
                <a:spcPts val="0"/>
              </a:spcAft>
              <a:buSzPts val="1400"/>
              <a:buNone/>
              <a:defRPr/>
            </a:lvl2pPr>
            <a:lvl3pPr indent="-228600" lvl="2" marL="1371600" rtl="0" algn="l">
              <a:spcBef>
                <a:spcPts val="360"/>
              </a:spcBef>
              <a:spcAft>
                <a:spcPts val="0"/>
              </a:spcAft>
              <a:buSzPts val="1400"/>
              <a:buNone/>
              <a:defRPr/>
            </a:lvl3pPr>
            <a:lvl4pPr indent="-228600" lvl="3" marL="1828800" rtl="0" algn="l">
              <a:spcBef>
                <a:spcPts val="360"/>
              </a:spcBef>
              <a:spcAft>
                <a:spcPts val="0"/>
              </a:spcAft>
              <a:buSzPts val="1400"/>
              <a:buNone/>
              <a:defRPr/>
            </a:lvl4pPr>
            <a:lvl5pPr indent="-228600" lvl="4" marL="2286000" rtl="0" algn="l">
              <a:spcBef>
                <a:spcPts val="360"/>
              </a:spcBef>
              <a:spcAft>
                <a:spcPts val="0"/>
              </a:spcAft>
              <a:buSzPts val="1400"/>
              <a:buNone/>
              <a:defRPr/>
            </a:lvl5pPr>
            <a:lvl6pPr indent="-228600" lvl="5" marL="2743200" rtl="0" algn="l">
              <a:spcBef>
                <a:spcPts val="360"/>
              </a:spcBef>
              <a:spcAft>
                <a:spcPts val="0"/>
              </a:spcAft>
              <a:buSzPts val="1400"/>
              <a:buNone/>
              <a:defRPr/>
            </a:lvl6pPr>
            <a:lvl7pPr indent="-228600" lvl="6" marL="3200400" rtl="0" algn="l">
              <a:spcBef>
                <a:spcPts val="360"/>
              </a:spcBef>
              <a:spcAft>
                <a:spcPts val="0"/>
              </a:spcAft>
              <a:buSzPts val="1400"/>
              <a:buNone/>
              <a:defRPr/>
            </a:lvl7pPr>
            <a:lvl8pPr indent="-228600" lvl="7" marL="3657600" rtl="0" algn="l">
              <a:spcBef>
                <a:spcPts val="360"/>
              </a:spcBef>
              <a:spcAft>
                <a:spcPts val="0"/>
              </a:spcAft>
              <a:buSzPts val="1400"/>
              <a:buNone/>
              <a:defRPr/>
            </a:lvl8pPr>
            <a:lvl9pPr indent="-228600" lvl="8" marL="4114800" rtl="0" algn="l">
              <a:spcBef>
                <a:spcPts val="360"/>
              </a:spcBef>
              <a:spcAft>
                <a:spcPts val="0"/>
              </a:spcAft>
              <a:buSzPts val="1400"/>
              <a:buNone/>
              <a:defRPr/>
            </a:lvl9pPr>
          </a:lstStyle>
          <a:p/>
        </p:txBody>
      </p:sp>
      <p:sp>
        <p:nvSpPr>
          <p:cNvPr id="103" name="Google Shape;103;p26"/>
          <p:cNvSpPr txBox="1"/>
          <p:nvPr>
            <p:ph idx="10" type="dt"/>
          </p:nvPr>
        </p:nvSpPr>
        <p:spPr>
          <a:xfrm>
            <a:off x="533400" y="6248400"/>
            <a:ext cx="1905000" cy="304800"/>
          </a:xfrm>
          <a:prstGeom prst="rect">
            <a:avLst/>
          </a:prstGeom>
          <a:noFill/>
          <a:ln>
            <a:noFill/>
          </a:ln>
        </p:spPr>
        <p:txBody>
          <a:bodyPr anchorCtr="0" anchor="t" bIns="45700" lIns="91425" spcFirstLastPara="1" rIns="91425" wrap="square" tIns="45700">
            <a:noAutofit/>
          </a:bodyPr>
          <a:lstStyle>
            <a:lvl1pPr lvl="0" rtl="0" algn="l">
              <a:spcBef>
                <a:spcPts val="60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04" name="Google Shape;104;p26"/>
          <p:cNvSpPr txBox="1"/>
          <p:nvPr>
            <p:ph idx="12" type="sldNum"/>
          </p:nvPr>
        </p:nvSpPr>
        <p:spPr>
          <a:xfrm>
            <a:off x="6781800" y="6248400"/>
            <a:ext cx="1905000" cy="3048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1pPr>
            <a:lvl2pPr indent="0" lvl="1" marL="0" marR="0" rtl="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2pPr>
            <a:lvl3pPr indent="0" lvl="2" marL="0" marR="0" rtl="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3pPr>
            <a:lvl4pPr indent="0" lvl="3" marL="0" marR="0" rtl="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4pPr>
            <a:lvl5pPr indent="0" lvl="4" marL="0" marR="0" rtl="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5pPr>
            <a:lvl6pPr indent="0" lvl="5" marL="0" marR="0" rtl="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6pPr>
            <a:lvl7pPr indent="0" lvl="6" marL="0" marR="0" rtl="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7pPr>
            <a:lvl8pPr indent="0" lvl="7" marL="0" marR="0" rtl="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8pPr>
            <a:lvl9pPr indent="0" lvl="8" marL="0" marR="0" rtl="0" algn="r">
              <a:spcBef>
                <a:spcPts val="0"/>
              </a:spcBef>
              <a:spcAft>
                <a:spcPts val="0"/>
              </a:spcAft>
              <a:buNone/>
              <a:defRPr b="0" i="1" sz="1200" u="none" cap="none" strike="noStrike">
                <a:solidFill>
                  <a:schemeClr val="lt2"/>
                </a:solidFill>
                <a:latin typeface="Helvetica Neue"/>
                <a:ea typeface="Helvetica Neue"/>
                <a:cs typeface="Helvetica Neue"/>
                <a:sym typeface="Helvetica Neue"/>
              </a:defRPr>
            </a:lvl9pPr>
          </a:lstStyle>
          <a:p>
            <a:pPr indent="0" lvl="0" marL="0" rtl="0" algn="r">
              <a:spcBef>
                <a:spcPts val="0"/>
              </a:spcBef>
              <a:spcAft>
                <a:spcPts val="0"/>
              </a:spcAft>
              <a:buNone/>
            </a:pPr>
            <a:r>
              <a:rPr lang="en"/>
              <a:t>23.</a:t>
            </a: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B Two Content">
  <p:cSld name="Two Content">
    <p:spTree>
      <p:nvGrpSpPr>
        <p:cNvPr id="105" name="Shape 105"/>
        <p:cNvGrpSpPr/>
        <p:nvPr/>
      </p:nvGrpSpPr>
      <p:grpSpPr>
        <a:xfrm>
          <a:off x="0" y="0"/>
          <a:ext cx="0" cy="0"/>
          <a:chOff x="0" y="0"/>
          <a:chExt cx="0" cy="0"/>
        </a:xfrm>
      </p:grpSpPr>
      <p:sp>
        <p:nvSpPr>
          <p:cNvPr id="106" name="Google Shape;106;p27"/>
          <p:cNvSpPr txBox="1"/>
          <p:nvPr>
            <p:ph idx="1" type="body"/>
          </p:nvPr>
        </p:nvSpPr>
        <p:spPr>
          <a:xfrm>
            <a:off x="241130" y="2651760"/>
            <a:ext cx="4227600" cy="3566100"/>
          </a:xfrm>
          <a:prstGeom prst="rect">
            <a:avLst/>
          </a:prstGeom>
          <a:noFill/>
          <a:ln>
            <a:noFill/>
          </a:ln>
        </p:spPr>
        <p:txBody>
          <a:bodyPr anchorCtr="0" anchor="t" bIns="0" lIns="0" spcFirstLastPara="1" rIns="0" wrap="square" tIns="0">
            <a:noAutofit/>
          </a:bodyPr>
          <a:lstStyle>
            <a:lvl1pPr indent="-342900" lvl="0" marL="457200" algn="l">
              <a:lnSpc>
                <a:spcPct val="115000"/>
              </a:lnSpc>
              <a:spcBef>
                <a:spcPts val="500"/>
              </a:spcBef>
              <a:spcAft>
                <a:spcPts val="0"/>
              </a:spcAft>
              <a:buSzPts val="1800"/>
              <a:buChar char="●"/>
              <a:defRPr sz="1800">
                <a:solidFill>
                  <a:srgbClr val="000000"/>
                </a:solidFill>
              </a:defRPr>
            </a:lvl1pPr>
            <a:lvl2pPr indent="-342900" lvl="1" marL="914400" algn="l">
              <a:lnSpc>
                <a:spcPct val="115000"/>
              </a:lnSpc>
              <a:spcBef>
                <a:spcPts val="500"/>
              </a:spcBef>
              <a:spcAft>
                <a:spcPts val="0"/>
              </a:spcAft>
              <a:buSzPts val="1800"/>
              <a:buChar char="○"/>
              <a:defRPr>
                <a:solidFill>
                  <a:srgbClr val="000000"/>
                </a:solidFill>
              </a:defRPr>
            </a:lvl2pPr>
            <a:lvl3pPr indent="-323850" lvl="2" marL="1371600" algn="l">
              <a:lnSpc>
                <a:spcPct val="115000"/>
              </a:lnSpc>
              <a:spcBef>
                <a:spcPts val="500"/>
              </a:spcBef>
              <a:spcAft>
                <a:spcPts val="0"/>
              </a:spcAft>
              <a:buSzPts val="1500"/>
              <a:buChar char="■"/>
              <a:defRPr>
                <a:solidFill>
                  <a:srgbClr val="000000"/>
                </a:solidFill>
              </a:defRPr>
            </a:lvl3pPr>
            <a:lvl4pPr indent="-323850" lvl="3" marL="1828800" algn="l">
              <a:lnSpc>
                <a:spcPct val="115000"/>
              </a:lnSpc>
              <a:spcBef>
                <a:spcPts val="500"/>
              </a:spcBef>
              <a:spcAft>
                <a:spcPts val="0"/>
              </a:spcAft>
              <a:buSzPts val="1500"/>
              <a:buChar char="●"/>
              <a:defRPr>
                <a:solidFill>
                  <a:srgbClr val="000000"/>
                </a:solidFill>
              </a:defRPr>
            </a:lvl4pPr>
            <a:lvl5pPr indent="-323850" lvl="4" marL="2286000" algn="l">
              <a:lnSpc>
                <a:spcPct val="115000"/>
              </a:lnSpc>
              <a:spcBef>
                <a:spcPts val="500"/>
              </a:spcBef>
              <a:spcAft>
                <a:spcPts val="0"/>
              </a:spcAft>
              <a:buSzPts val="1500"/>
              <a:buChar char="○"/>
              <a:defRPr>
                <a:solidFill>
                  <a:srgbClr val="000000"/>
                </a:solidFill>
              </a:defRPr>
            </a:lvl5pPr>
            <a:lvl6pPr indent="-285750" lvl="5" marL="2743200" algn="l">
              <a:lnSpc>
                <a:spcPct val="115000"/>
              </a:lnSpc>
              <a:spcBef>
                <a:spcPts val="500"/>
              </a:spcBef>
              <a:spcAft>
                <a:spcPts val="0"/>
              </a:spcAft>
              <a:buClr>
                <a:schemeClr val="dk1"/>
              </a:buClr>
              <a:buSzPts val="900"/>
              <a:buChar char="■"/>
              <a:defRPr sz="900"/>
            </a:lvl6pPr>
            <a:lvl7pPr indent="-285750" lvl="6" marL="3200400" algn="l">
              <a:lnSpc>
                <a:spcPct val="115000"/>
              </a:lnSpc>
              <a:spcBef>
                <a:spcPts val="1600"/>
              </a:spcBef>
              <a:spcAft>
                <a:spcPts val="0"/>
              </a:spcAft>
              <a:buClr>
                <a:schemeClr val="dk1"/>
              </a:buClr>
              <a:buSzPts val="900"/>
              <a:buChar char="●"/>
              <a:defRPr sz="900"/>
            </a:lvl7pPr>
            <a:lvl8pPr indent="-285750" lvl="7" marL="3657600" algn="l">
              <a:lnSpc>
                <a:spcPct val="115000"/>
              </a:lnSpc>
              <a:spcBef>
                <a:spcPts val="1600"/>
              </a:spcBef>
              <a:spcAft>
                <a:spcPts val="0"/>
              </a:spcAft>
              <a:buClr>
                <a:schemeClr val="dk1"/>
              </a:buClr>
              <a:buSzPts val="900"/>
              <a:buChar char="○"/>
              <a:defRPr sz="900"/>
            </a:lvl8pPr>
            <a:lvl9pPr indent="-285750" lvl="8" marL="4114800" algn="l">
              <a:lnSpc>
                <a:spcPct val="115000"/>
              </a:lnSpc>
              <a:spcBef>
                <a:spcPts val="1600"/>
              </a:spcBef>
              <a:spcAft>
                <a:spcPts val="1600"/>
              </a:spcAft>
              <a:buClr>
                <a:schemeClr val="dk1"/>
              </a:buClr>
              <a:buSzPts val="900"/>
              <a:buChar char="■"/>
              <a:defRPr sz="900"/>
            </a:lvl9pPr>
          </a:lstStyle>
          <a:p/>
        </p:txBody>
      </p:sp>
      <p:sp>
        <p:nvSpPr>
          <p:cNvPr id="107" name="Google Shape;107;p27"/>
          <p:cNvSpPr txBox="1"/>
          <p:nvPr>
            <p:ph idx="2" type="body"/>
          </p:nvPr>
        </p:nvSpPr>
        <p:spPr>
          <a:xfrm>
            <a:off x="4672933" y="2651760"/>
            <a:ext cx="4227600" cy="3566100"/>
          </a:xfrm>
          <a:prstGeom prst="rect">
            <a:avLst/>
          </a:prstGeom>
          <a:noFill/>
          <a:ln>
            <a:noFill/>
          </a:ln>
        </p:spPr>
        <p:txBody>
          <a:bodyPr anchorCtr="0" anchor="t" bIns="0" lIns="0" spcFirstLastPara="1" rIns="0" wrap="square" tIns="0">
            <a:normAutofit/>
          </a:bodyPr>
          <a:lstStyle>
            <a:lvl1pPr indent="-342900" lvl="0" marL="457200" algn="l">
              <a:lnSpc>
                <a:spcPct val="115000"/>
              </a:lnSpc>
              <a:spcBef>
                <a:spcPts val="500"/>
              </a:spcBef>
              <a:spcAft>
                <a:spcPts val="0"/>
              </a:spcAft>
              <a:buSzPts val="1800"/>
              <a:buChar char="●"/>
              <a:defRPr sz="1800">
                <a:solidFill>
                  <a:srgbClr val="000000"/>
                </a:solidFill>
              </a:defRPr>
            </a:lvl1pPr>
            <a:lvl2pPr indent="-342900" lvl="1" marL="914400" algn="l">
              <a:lnSpc>
                <a:spcPct val="115000"/>
              </a:lnSpc>
              <a:spcBef>
                <a:spcPts val="500"/>
              </a:spcBef>
              <a:spcAft>
                <a:spcPts val="0"/>
              </a:spcAft>
              <a:buSzPts val="1800"/>
              <a:buChar char="○"/>
              <a:defRPr>
                <a:solidFill>
                  <a:srgbClr val="000000"/>
                </a:solidFill>
              </a:defRPr>
            </a:lvl2pPr>
            <a:lvl3pPr indent="-323850" lvl="2" marL="1371600" algn="l">
              <a:lnSpc>
                <a:spcPct val="115000"/>
              </a:lnSpc>
              <a:spcBef>
                <a:spcPts val="500"/>
              </a:spcBef>
              <a:spcAft>
                <a:spcPts val="0"/>
              </a:spcAft>
              <a:buSzPts val="1500"/>
              <a:buChar char="■"/>
              <a:defRPr>
                <a:solidFill>
                  <a:srgbClr val="000000"/>
                </a:solidFill>
              </a:defRPr>
            </a:lvl3pPr>
            <a:lvl4pPr indent="-323850" lvl="3" marL="1828800" algn="l">
              <a:lnSpc>
                <a:spcPct val="115000"/>
              </a:lnSpc>
              <a:spcBef>
                <a:spcPts val="500"/>
              </a:spcBef>
              <a:spcAft>
                <a:spcPts val="0"/>
              </a:spcAft>
              <a:buSzPts val="1500"/>
              <a:buChar char="●"/>
              <a:defRPr>
                <a:solidFill>
                  <a:srgbClr val="000000"/>
                </a:solidFill>
              </a:defRPr>
            </a:lvl4pPr>
            <a:lvl5pPr indent="-323850" lvl="4" marL="2286000" algn="l">
              <a:lnSpc>
                <a:spcPct val="115000"/>
              </a:lnSpc>
              <a:spcBef>
                <a:spcPts val="500"/>
              </a:spcBef>
              <a:spcAft>
                <a:spcPts val="0"/>
              </a:spcAft>
              <a:buSzPts val="1500"/>
              <a:buChar char="○"/>
              <a:defRPr>
                <a:solidFill>
                  <a:srgbClr val="000000"/>
                </a:solidFill>
              </a:defRPr>
            </a:lvl5pPr>
            <a:lvl6pPr indent="-285750" lvl="5" marL="2743200" algn="l">
              <a:lnSpc>
                <a:spcPct val="115000"/>
              </a:lnSpc>
              <a:spcBef>
                <a:spcPts val="500"/>
              </a:spcBef>
              <a:spcAft>
                <a:spcPts val="0"/>
              </a:spcAft>
              <a:buClr>
                <a:schemeClr val="dk1"/>
              </a:buClr>
              <a:buSzPts val="900"/>
              <a:buChar char="■"/>
              <a:defRPr sz="900"/>
            </a:lvl6pPr>
            <a:lvl7pPr indent="-285750" lvl="6" marL="3200400" algn="l">
              <a:lnSpc>
                <a:spcPct val="115000"/>
              </a:lnSpc>
              <a:spcBef>
                <a:spcPts val="1600"/>
              </a:spcBef>
              <a:spcAft>
                <a:spcPts val="0"/>
              </a:spcAft>
              <a:buClr>
                <a:schemeClr val="dk1"/>
              </a:buClr>
              <a:buSzPts val="900"/>
              <a:buChar char="●"/>
              <a:defRPr sz="900"/>
            </a:lvl7pPr>
            <a:lvl8pPr indent="-285750" lvl="7" marL="3657600" algn="l">
              <a:lnSpc>
                <a:spcPct val="115000"/>
              </a:lnSpc>
              <a:spcBef>
                <a:spcPts val="1600"/>
              </a:spcBef>
              <a:spcAft>
                <a:spcPts val="0"/>
              </a:spcAft>
              <a:buClr>
                <a:schemeClr val="dk1"/>
              </a:buClr>
              <a:buSzPts val="900"/>
              <a:buChar char="○"/>
              <a:defRPr sz="900"/>
            </a:lvl8pPr>
            <a:lvl9pPr indent="-285750" lvl="8" marL="4114800" algn="l">
              <a:lnSpc>
                <a:spcPct val="115000"/>
              </a:lnSpc>
              <a:spcBef>
                <a:spcPts val="1600"/>
              </a:spcBef>
              <a:spcAft>
                <a:spcPts val="1600"/>
              </a:spcAft>
              <a:buClr>
                <a:schemeClr val="dk1"/>
              </a:buClr>
              <a:buSzPts val="900"/>
              <a:buChar char="■"/>
              <a:defRPr sz="900"/>
            </a:lvl9pPr>
          </a:lstStyle>
          <a:p/>
        </p:txBody>
      </p:sp>
      <p:sp>
        <p:nvSpPr>
          <p:cNvPr id="108" name="Google Shape;108;p27"/>
          <p:cNvSpPr txBox="1"/>
          <p:nvPr>
            <p:ph type="title"/>
          </p:nvPr>
        </p:nvSpPr>
        <p:spPr>
          <a:xfrm>
            <a:off x="252319" y="1391440"/>
            <a:ext cx="8659500" cy="923700"/>
          </a:xfrm>
          <a:prstGeom prst="rect">
            <a:avLst/>
          </a:prstGeom>
          <a:noFill/>
          <a:ln>
            <a:noFill/>
          </a:ln>
        </p:spPr>
        <p:txBody>
          <a:bodyPr anchorCtr="0" anchor="b" bIns="0" lIns="0" spcFirstLastPara="1" rIns="0" wrap="square" tIns="0">
            <a:normAutofit/>
          </a:bodyPr>
          <a:lstStyle>
            <a:lvl1pPr lvl="0" algn="l">
              <a:lnSpc>
                <a:spcPct val="100000"/>
              </a:lnSpc>
              <a:spcBef>
                <a:spcPts val="0"/>
              </a:spcBef>
              <a:spcAft>
                <a:spcPts val="0"/>
              </a:spcAft>
              <a:buClr>
                <a:schemeClr val="accent1"/>
              </a:buClr>
              <a:buSzPts val="1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9" name="Google Shape;109;p27"/>
          <p:cNvSpPr txBox="1"/>
          <p:nvPr>
            <p:ph idx="12" type="sldNum"/>
          </p:nvPr>
        </p:nvSpPr>
        <p:spPr>
          <a:xfrm>
            <a:off x="8506265" y="6551473"/>
            <a:ext cx="392400" cy="217200"/>
          </a:xfrm>
          <a:prstGeom prst="rect">
            <a:avLst/>
          </a:prstGeom>
          <a:noFill/>
          <a:ln>
            <a:noFill/>
          </a:ln>
        </p:spPr>
        <p:txBody>
          <a:bodyPr anchorCtr="0" anchor="ctr"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10" name="Google Shape;110;p27"/>
          <p:cNvSpPr txBox="1"/>
          <p:nvPr>
            <p:ph idx="11" type="ftr"/>
          </p:nvPr>
        </p:nvSpPr>
        <p:spPr>
          <a:xfrm>
            <a:off x="1789938" y="6565392"/>
            <a:ext cx="5568600" cy="2196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slideLayout" Target="../slideLayouts/slideLayout25.xml"/><Relationship Id="rId12" Type="http://schemas.openxmlformats.org/officeDocument/2006/relationships/slideLayout" Target="../slideLayouts/slideLayout24.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5" name="Shape 55"/>
        <p:cNvGrpSpPr/>
        <p:nvPr/>
      </p:nvGrpSpPr>
      <p:grpSpPr>
        <a:xfrm>
          <a:off x="0" y="0"/>
          <a:ext cx="0" cy="0"/>
          <a:chOff x="0" y="0"/>
          <a:chExt cx="0" cy="0"/>
        </a:xfrm>
      </p:grpSpPr>
      <p:sp>
        <p:nvSpPr>
          <p:cNvPr id="56" name="Google Shape;56;p14"/>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57" name="Google Shape;57;p14"/>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1600"/>
              </a:spcBef>
              <a:spcAft>
                <a:spcPts val="0"/>
              </a:spcAft>
              <a:buClr>
                <a:schemeClr val="dk2"/>
              </a:buClr>
              <a:buSzPts val="1400"/>
              <a:buChar char="○"/>
              <a:defRPr>
                <a:solidFill>
                  <a:schemeClr val="dk2"/>
                </a:solidFill>
              </a:defRPr>
            </a:lvl2pPr>
            <a:lvl3pPr indent="-317500" lvl="2" marL="1371600" rtl="0">
              <a:lnSpc>
                <a:spcPct val="115000"/>
              </a:lnSpc>
              <a:spcBef>
                <a:spcPts val="1600"/>
              </a:spcBef>
              <a:spcAft>
                <a:spcPts val="0"/>
              </a:spcAft>
              <a:buClr>
                <a:schemeClr val="dk2"/>
              </a:buClr>
              <a:buSzPts val="1400"/>
              <a:buChar char="■"/>
              <a:defRPr>
                <a:solidFill>
                  <a:schemeClr val="dk2"/>
                </a:solidFill>
              </a:defRPr>
            </a:lvl3pPr>
            <a:lvl4pPr indent="-317500" lvl="3" marL="1828800" rtl="0">
              <a:lnSpc>
                <a:spcPct val="115000"/>
              </a:lnSpc>
              <a:spcBef>
                <a:spcPts val="1600"/>
              </a:spcBef>
              <a:spcAft>
                <a:spcPts val="0"/>
              </a:spcAft>
              <a:buClr>
                <a:schemeClr val="dk2"/>
              </a:buClr>
              <a:buSzPts val="1400"/>
              <a:buChar char="●"/>
              <a:defRPr>
                <a:solidFill>
                  <a:schemeClr val="dk2"/>
                </a:solidFill>
              </a:defRPr>
            </a:lvl4pPr>
            <a:lvl5pPr indent="-317500" lvl="4" marL="2286000" rtl="0">
              <a:lnSpc>
                <a:spcPct val="115000"/>
              </a:lnSpc>
              <a:spcBef>
                <a:spcPts val="1600"/>
              </a:spcBef>
              <a:spcAft>
                <a:spcPts val="0"/>
              </a:spcAft>
              <a:buClr>
                <a:schemeClr val="dk2"/>
              </a:buClr>
              <a:buSzPts val="1400"/>
              <a:buChar char="○"/>
              <a:defRPr>
                <a:solidFill>
                  <a:schemeClr val="dk2"/>
                </a:solidFill>
              </a:defRPr>
            </a:lvl5pPr>
            <a:lvl6pPr indent="-317500" lvl="5" marL="2743200" rtl="0">
              <a:lnSpc>
                <a:spcPct val="115000"/>
              </a:lnSpc>
              <a:spcBef>
                <a:spcPts val="1600"/>
              </a:spcBef>
              <a:spcAft>
                <a:spcPts val="0"/>
              </a:spcAft>
              <a:buClr>
                <a:schemeClr val="dk2"/>
              </a:buClr>
              <a:buSzPts val="1400"/>
              <a:buChar char="■"/>
              <a:defRPr>
                <a:solidFill>
                  <a:schemeClr val="dk2"/>
                </a:solidFill>
              </a:defRPr>
            </a:lvl6pPr>
            <a:lvl7pPr indent="-317500" lvl="6" marL="3200400" rtl="0">
              <a:lnSpc>
                <a:spcPct val="115000"/>
              </a:lnSpc>
              <a:spcBef>
                <a:spcPts val="1600"/>
              </a:spcBef>
              <a:spcAft>
                <a:spcPts val="0"/>
              </a:spcAft>
              <a:buClr>
                <a:schemeClr val="dk2"/>
              </a:buClr>
              <a:buSzPts val="1400"/>
              <a:buChar char="●"/>
              <a:defRPr>
                <a:solidFill>
                  <a:schemeClr val="dk2"/>
                </a:solidFill>
              </a:defRPr>
            </a:lvl7pPr>
            <a:lvl8pPr indent="-317500" lvl="7" marL="3657600" rtl="0">
              <a:lnSpc>
                <a:spcPct val="115000"/>
              </a:lnSpc>
              <a:spcBef>
                <a:spcPts val="1600"/>
              </a:spcBef>
              <a:spcAft>
                <a:spcPts val="0"/>
              </a:spcAft>
              <a:buClr>
                <a:schemeClr val="dk2"/>
              </a:buClr>
              <a:buSzPts val="1400"/>
              <a:buChar char="○"/>
              <a:defRPr>
                <a:solidFill>
                  <a:schemeClr val="dk2"/>
                </a:solidFill>
              </a:defRPr>
            </a:lvl8pPr>
            <a:lvl9pPr indent="-317500" lvl="8" marL="4114800" rtl="0">
              <a:lnSpc>
                <a:spcPct val="115000"/>
              </a:lnSpc>
              <a:spcBef>
                <a:spcPts val="1600"/>
              </a:spcBef>
              <a:spcAft>
                <a:spcPts val="1600"/>
              </a:spcAft>
              <a:buClr>
                <a:schemeClr val="dk2"/>
              </a:buClr>
              <a:buSzPts val="1400"/>
              <a:buChar char="■"/>
              <a:defRPr>
                <a:solidFill>
                  <a:schemeClr val="dk2"/>
                </a:solidFill>
              </a:defRPr>
            </a:lvl9pPr>
          </a:lstStyle>
          <a:p/>
        </p:txBody>
      </p:sp>
      <p:sp>
        <p:nvSpPr>
          <p:cNvPr id="58" name="Google Shape;58;p14"/>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1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 Id="rId3" Type="http://schemas.openxmlformats.org/officeDocument/2006/relationships/image" Target="../media/image1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hyperlink" Target="http://www.resistorguide.com/photoresistor/" TargetMode="External"/><Relationship Id="rId4" Type="http://schemas.openxmlformats.org/officeDocument/2006/relationships/hyperlink" Target="https://www.omega.com/en-us/resources/temperature-probes" TargetMode="External"/><Relationship Id="rId5" Type="http://schemas.openxmlformats.org/officeDocument/2006/relationships/hyperlink" Target="https://www.omega.com/en-us/resources/strain-gages" TargetMode="External"/><Relationship Id="rId6" Type="http://schemas.openxmlformats.org/officeDocument/2006/relationships/hyperlink" Target="https://www.omega.com/en-us/resources/strain-gages" TargetMode="External"/><Relationship Id="rId7" Type="http://schemas.openxmlformats.org/officeDocument/2006/relationships/hyperlink" Target="https://www.omega.com/en-us/resources/load-cells" TargetMode="External"/><Relationship Id="rId8"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4.png"/><Relationship Id="rId5"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 Id="rId3"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 Id="rId3"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 Id="rId3" Type="http://schemas.openxmlformats.org/officeDocument/2006/relationships/image" Target="../media/image11.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6.xml"/><Relationship Id="rId3" Type="http://schemas.openxmlformats.org/officeDocument/2006/relationships/image" Target="../media/image5.pn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8"/>
          <p:cNvSpPr txBox="1"/>
          <p:nvPr/>
        </p:nvSpPr>
        <p:spPr>
          <a:xfrm>
            <a:off x="311708" y="992767"/>
            <a:ext cx="8520600" cy="27369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lang="en" sz="3000">
                <a:solidFill>
                  <a:srgbClr val="000000"/>
                </a:solidFill>
                <a:latin typeface="Comic Sans MS"/>
                <a:ea typeface="Comic Sans MS"/>
                <a:cs typeface="Comic Sans MS"/>
                <a:sym typeface="Comic Sans MS"/>
              </a:rPr>
              <a:t>Engs </a:t>
            </a:r>
            <a:r>
              <a:rPr lang="en" sz="3000">
                <a:latin typeface="Comic Sans MS"/>
                <a:ea typeface="Comic Sans MS"/>
                <a:cs typeface="Comic Sans MS"/>
                <a:sym typeface="Comic Sans MS"/>
              </a:rPr>
              <a:t>28</a:t>
            </a:r>
            <a:endParaRPr sz="3000">
              <a:solidFill>
                <a:srgbClr val="000000"/>
              </a:solidFill>
              <a:latin typeface="Comic Sans MS"/>
              <a:ea typeface="Comic Sans MS"/>
              <a:cs typeface="Comic Sans MS"/>
              <a:sym typeface="Comic Sans MS"/>
            </a:endParaRPr>
          </a:p>
          <a:p>
            <a:pPr indent="0" lvl="0" marL="0" rtl="0" algn="ctr">
              <a:spcBef>
                <a:spcPts val="0"/>
              </a:spcBef>
              <a:spcAft>
                <a:spcPts val="0"/>
              </a:spcAft>
              <a:buNone/>
            </a:pPr>
            <a:r>
              <a:rPr lang="en" sz="5200">
                <a:solidFill>
                  <a:srgbClr val="000000"/>
                </a:solidFill>
                <a:latin typeface="Comic Sans MS"/>
                <a:ea typeface="Comic Sans MS"/>
                <a:cs typeface="Comic Sans MS"/>
                <a:sym typeface="Comic Sans MS"/>
              </a:rPr>
              <a:t>Embedded Systems</a:t>
            </a:r>
            <a:endParaRPr sz="5200">
              <a:solidFill>
                <a:srgbClr val="000000"/>
              </a:solidFill>
              <a:latin typeface="Comic Sans MS"/>
              <a:ea typeface="Comic Sans MS"/>
              <a:cs typeface="Comic Sans MS"/>
              <a:sym typeface="Comic Sans MS"/>
            </a:endParaRPr>
          </a:p>
        </p:txBody>
      </p:sp>
      <p:sp>
        <p:nvSpPr>
          <p:cNvPr id="116" name="Google Shape;116;p28"/>
          <p:cNvSpPr txBox="1"/>
          <p:nvPr/>
        </p:nvSpPr>
        <p:spPr>
          <a:xfrm>
            <a:off x="311700" y="4128267"/>
            <a:ext cx="8520600" cy="105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800">
                <a:solidFill>
                  <a:srgbClr val="595959"/>
                </a:solidFill>
                <a:latin typeface="Comic Sans MS"/>
                <a:ea typeface="Comic Sans MS"/>
                <a:cs typeface="Comic Sans MS"/>
                <a:sym typeface="Comic Sans MS"/>
              </a:rPr>
              <a:t>Day 16</a:t>
            </a:r>
            <a:endParaRPr sz="2800">
              <a:solidFill>
                <a:srgbClr val="595959"/>
              </a:solidFill>
              <a:latin typeface="Comic Sans MS"/>
              <a:ea typeface="Comic Sans MS"/>
              <a:cs typeface="Comic Sans MS"/>
              <a:sym typeface="Comic Sans MS"/>
            </a:endParaRPr>
          </a:p>
        </p:txBody>
      </p:sp>
      <p:pic>
        <p:nvPicPr>
          <p:cNvPr id="117" name="Google Shape;117;p28"/>
          <p:cNvPicPr preferRelativeResize="0"/>
          <p:nvPr/>
        </p:nvPicPr>
        <p:blipFill>
          <a:blip r:embed="rId3">
            <a:alphaModFix/>
          </a:blip>
          <a:stretch>
            <a:fillRect/>
          </a:stretch>
        </p:blipFill>
        <p:spPr>
          <a:xfrm>
            <a:off x="525637" y="395688"/>
            <a:ext cx="1103550" cy="1334750"/>
          </a:xfrm>
          <a:prstGeom prst="rect">
            <a:avLst/>
          </a:prstGeom>
          <a:noFill/>
          <a:ln>
            <a:noFill/>
          </a:ln>
        </p:spPr>
      </p:pic>
      <p:pic>
        <p:nvPicPr>
          <p:cNvPr id="118" name="Google Shape;118;p28"/>
          <p:cNvPicPr preferRelativeResize="0"/>
          <p:nvPr/>
        </p:nvPicPr>
        <p:blipFill rotWithShape="1">
          <a:blip r:embed="rId4">
            <a:alphaModFix/>
          </a:blip>
          <a:srcRect b="0" l="0" r="0" t="0"/>
          <a:stretch/>
        </p:blipFill>
        <p:spPr>
          <a:xfrm>
            <a:off x="7094700" y="61000"/>
            <a:ext cx="1543875" cy="2126125"/>
          </a:xfrm>
          <a:prstGeom prst="rect">
            <a:avLst/>
          </a:prstGeom>
          <a:noFill/>
          <a:ln>
            <a:noFill/>
          </a:ln>
        </p:spPr>
      </p:pic>
      <p:sp>
        <p:nvSpPr>
          <p:cNvPr id="119" name="Google Shape;119;p2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9"/>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Photosensors</a:t>
            </a:r>
            <a:endParaRPr/>
          </a:p>
        </p:txBody>
      </p:sp>
      <p:sp>
        <p:nvSpPr>
          <p:cNvPr id="125" name="Google Shape;125;p2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30"/>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Photocell = light-dependent resistor (LDR)</a:t>
            </a:r>
            <a:endParaRPr/>
          </a:p>
        </p:txBody>
      </p:sp>
      <p:pic>
        <p:nvPicPr>
          <p:cNvPr id="131" name="Google Shape;131;p30"/>
          <p:cNvPicPr preferRelativeResize="0"/>
          <p:nvPr/>
        </p:nvPicPr>
        <p:blipFill>
          <a:blip r:embed="rId3">
            <a:alphaModFix/>
          </a:blip>
          <a:stretch>
            <a:fillRect/>
          </a:stretch>
        </p:blipFill>
        <p:spPr>
          <a:xfrm>
            <a:off x="4504638" y="1792700"/>
            <a:ext cx="4362276" cy="3424750"/>
          </a:xfrm>
          <a:prstGeom prst="rect">
            <a:avLst/>
          </a:prstGeom>
          <a:noFill/>
          <a:ln>
            <a:noFill/>
          </a:ln>
        </p:spPr>
      </p:pic>
      <p:sp>
        <p:nvSpPr>
          <p:cNvPr id="132" name="Google Shape;132;p30"/>
          <p:cNvSpPr txBox="1"/>
          <p:nvPr/>
        </p:nvSpPr>
        <p:spPr>
          <a:xfrm>
            <a:off x="4723400" y="2058075"/>
            <a:ext cx="3133200" cy="84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FFFF00"/>
                </a:solidFill>
              </a:rPr>
              <a:t>Cadmium sulfide’s resistivity decreases with increasing light exposure.</a:t>
            </a:r>
            <a:endParaRPr>
              <a:solidFill>
                <a:srgbClr val="FFFF00"/>
              </a:solidFill>
            </a:endParaRPr>
          </a:p>
        </p:txBody>
      </p:sp>
      <p:cxnSp>
        <p:nvCxnSpPr>
          <p:cNvPr id="133" name="Google Shape;133;p30"/>
          <p:cNvCxnSpPr/>
          <p:nvPr/>
        </p:nvCxnSpPr>
        <p:spPr>
          <a:xfrm>
            <a:off x="5302877" y="2663226"/>
            <a:ext cx="530700" cy="1097400"/>
          </a:xfrm>
          <a:prstGeom prst="straightConnector1">
            <a:avLst/>
          </a:prstGeom>
          <a:noFill/>
          <a:ln cap="flat" cmpd="sng" w="9525">
            <a:solidFill>
              <a:srgbClr val="FFFF00"/>
            </a:solidFill>
            <a:prstDash val="solid"/>
            <a:round/>
            <a:headEnd len="med" w="med" type="none"/>
            <a:tailEnd len="med" w="med" type="triangle"/>
          </a:ln>
        </p:spPr>
      </p:cxnSp>
      <p:sp>
        <p:nvSpPr>
          <p:cNvPr id="134" name="Google Shape;134;p30"/>
          <p:cNvSpPr txBox="1"/>
          <p:nvPr/>
        </p:nvSpPr>
        <p:spPr>
          <a:xfrm>
            <a:off x="4897488" y="5344700"/>
            <a:ext cx="3576600" cy="373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i="1" lang="en"/>
              <a:t>https://www.adafruit.com/product/161</a:t>
            </a:r>
            <a:endParaRPr i="1"/>
          </a:p>
        </p:txBody>
      </p:sp>
      <p:sp>
        <p:nvSpPr>
          <p:cNvPr id="135" name="Google Shape;135;p3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6" name="Google Shape;136;p30"/>
          <p:cNvSpPr txBox="1"/>
          <p:nvPr/>
        </p:nvSpPr>
        <p:spPr>
          <a:xfrm>
            <a:off x="0" y="1356875"/>
            <a:ext cx="4362300" cy="51717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2"/>
              </a:buClr>
              <a:buSzPts val="1800"/>
              <a:buChar char="●"/>
            </a:pPr>
            <a:r>
              <a:rPr lang="en" sz="1800">
                <a:solidFill>
                  <a:schemeClr val="dk2"/>
                </a:solidFill>
              </a:rPr>
              <a:t>Made out of semiconductor material with high resistance.</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Photons are absorbed by the material and the energy transferred to electrons gives some of them sufficient energy to break free, resulting in lower resistance.</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Very low cost, but are very inaccurate.</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Each photocell sensor will act a little differently than the other. </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The variations can be really large, 50% or higher! </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They shouldn't be used to try to determine precise light levels. Instead, you can expect to only be able to determine basic light changes.</a:t>
            </a:r>
            <a:endParaRPr sz="1800">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31"/>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Photosensors are frequently nonlinear</a:t>
            </a:r>
            <a:endParaRPr/>
          </a:p>
        </p:txBody>
      </p:sp>
      <p:sp>
        <p:nvSpPr>
          <p:cNvPr id="142" name="Google Shape;142;p31"/>
          <p:cNvSpPr txBox="1"/>
          <p:nvPr>
            <p:ph idx="1" type="body"/>
          </p:nvPr>
        </p:nvSpPr>
        <p:spPr>
          <a:xfrm>
            <a:off x="372550" y="1356863"/>
            <a:ext cx="8520600" cy="507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The CdS photosensor has </a:t>
            </a:r>
            <a:r>
              <a:rPr b="1" lang="en" sz="1600"/>
              <a:t>nonlinear</a:t>
            </a:r>
            <a:r>
              <a:rPr lang="en" sz="1600"/>
              <a:t> response: its resistance is </a:t>
            </a:r>
            <a:r>
              <a:rPr b="1" lang="en" sz="1600"/>
              <a:t>not</a:t>
            </a:r>
            <a:r>
              <a:rPr lang="en" sz="1600"/>
              <a:t> a linear function of the illumination.</a:t>
            </a:r>
            <a:endParaRPr sz="1600"/>
          </a:p>
          <a:p>
            <a:pPr indent="0" lvl="0" marL="0" rtl="0" algn="l">
              <a:spcBef>
                <a:spcPts val="1600"/>
              </a:spcBef>
              <a:spcAft>
                <a:spcPts val="0"/>
              </a:spcAft>
              <a:buNone/>
            </a:pPr>
            <a:r>
              <a:t/>
            </a:r>
            <a:endParaRPr sz="1600"/>
          </a:p>
          <a:p>
            <a:pPr indent="0" lvl="0" marL="0" rtl="0" algn="l">
              <a:spcBef>
                <a:spcPts val="1600"/>
              </a:spcBef>
              <a:spcAft>
                <a:spcPts val="0"/>
              </a:spcAft>
              <a:buNone/>
            </a:pPr>
            <a:r>
              <a:t/>
            </a:r>
            <a:endParaRPr sz="1600"/>
          </a:p>
          <a:p>
            <a:pPr indent="0" lvl="0" marL="0" rtl="0" algn="l">
              <a:spcBef>
                <a:spcPts val="1600"/>
              </a:spcBef>
              <a:spcAft>
                <a:spcPts val="0"/>
              </a:spcAft>
              <a:buNone/>
            </a:pPr>
            <a:r>
              <a:t/>
            </a:r>
            <a:endParaRPr sz="1600"/>
          </a:p>
          <a:p>
            <a:pPr indent="0" lvl="0" marL="0" rtl="0" algn="l">
              <a:spcBef>
                <a:spcPts val="1600"/>
              </a:spcBef>
              <a:spcAft>
                <a:spcPts val="0"/>
              </a:spcAft>
              <a:buNone/>
            </a:pPr>
            <a:r>
              <a:t/>
            </a:r>
            <a:endParaRPr sz="1600"/>
          </a:p>
          <a:p>
            <a:pPr indent="0" lvl="0" marL="0" rtl="0" algn="l">
              <a:spcBef>
                <a:spcPts val="1600"/>
              </a:spcBef>
              <a:spcAft>
                <a:spcPts val="0"/>
              </a:spcAft>
              <a:buNone/>
            </a:pPr>
            <a:r>
              <a:t/>
            </a:r>
            <a:endParaRPr sz="1600"/>
          </a:p>
          <a:p>
            <a:pPr indent="0" lvl="0" marL="0" rtl="0" algn="l">
              <a:spcBef>
                <a:spcPts val="1600"/>
              </a:spcBef>
              <a:spcAft>
                <a:spcPts val="0"/>
              </a:spcAft>
              <a:buNone/>
            </a:pPr>
            <a:r>
              <a:t/>
            </a:r>
            <a:endParaRPr sz="1600"/>
          </a:p>
          <a:p>
            <a:pPr indent="0" lvl="0" marL="0" rtl="0" algn="l">
              <a:spcBef>
                <a:spcPts val="1600"/>
              </a:spcBef>
              <a:spcAft>
                <a:spcPts val="0"/>
              </a:spcAft>
              <a:buNone/>
            </a:pPr>
            <a:r>
              <a:t/>
            </a:r>
            <a:endParaRPr sz="1600"/>
          </a:p>
          <a:p>
            <a:pPr indent="0" lvl="0" marL="0" rtl="0" algn="l">
              <a:spcBef>
                <a:spcPts val="1600"/>
              </a:spcBef>
              <a:spcAft>
                <a:spcPts val="0"/>
              </a:spcAft>
              <a:buNone/>
            </a:pPr>
            <a:r>
              <a:rPr lang="en" sz="1600"/>
              <a:t>This isn’t a problem if used as a “light / dark” sensor for night lights, etc.</a:t>
            </a:r>
            <a:endParaRPr sz="1600"/>
          </a:p>
          <a:p>
            <a:pPr indent="0" lvl="0" marL="0" rtl="0" algn="l">
              <a:spcBef>
                <a:spcPts val="1600"/>
              </a:spcBef>
              <a:spcAft>
                <a:spcPts val="1600"/>
              </a:spcAft>
              <a:buNone/>
            </a:pPr>
            <a:r>
              <a:rPr lang="en" sz="1600"/>
              <a:t>If you want a quantitative result (lux), must implement a conversion function.</a:t>
            </a:r>
            <a:endParaRPr sz="1600"/>
          </a:p>
        </p:txBody>
      </p:sp>
      <p:pic>
        <p:nvPicPr>
          <p:cNvPr id="143" name="Google Shape;143;p31"/>
          <p:cNvPicPr preferRelativeResize="0"/>
          <p:nvPr/>
        </p:nvPicPr>
        <p:blipFill>
          <a:blip r:embed="rId3">
            <a:alphaModFix/>
          </a:blip>
          <a:stretch>
            <a:fillRect/>
          </a:stretch>
        </p:blipFill>
        <p:spPr>
          <a:xfrm>
            <a:off x="1825825" y="1955188"/>
            <a:ext cx="4762500" cy="3343275"/>
          </a:xfrm>
          <a:prstGeom prst="rect">
            <a:avLst/>
          </a:prstGeom>
          <a:noFill/>
          <a:ln>
            <a:noFill/>
          </a:ln>
        </p:spPr>
      </p:pic>
      <p:sp>
        <p:nvSpPr>
          <p:cNvPr id="144" name="Google Shape;144;p31"/>
          <p:cNvSpPr txBox="1"/>
          <p:nvPr/>
        </p:nvSpPr>
        <p:spPr>
          <a:xfrm>
            <a:off x="5864500" y="5081050"/>
            <a:ext cx="2922000" cy="3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200"/>
              <a:t>Ref: https://learn.adafruit.com/photocells</a:t>
            </a:r>
            <a:endParaRPr i="1" sz="1200"/>
          </a:p>
        </p:txBody>
      </p:sp>
      <p:sp>
        <p:nvSpPr>
          <p:cNvPr id="145" name="Google Shape;145;p31"/>
          <p:cNvSpPr txBox="1"/>
          <p:nvPr/>
        </p:nvSpPr>
        <p:spPr>
          <a:xfrm>
            <a:off x="6319975" y="3796975"/>
            <a:ext cx="2466600" cy="58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0000FF"/>
                </a:solidFill>
              </a:rPr>
              <a:t>“lux” = lumens per square meter </a:t>
            </a:r>
            <a:endParaRPr i="1">
              <a:solidFill>
                <a:srgbClr val="0000FF"/>
              </a:solidFill>
            </a:endParaRPr>
          </a:p>
        </p:txBody>
      </p:sp>
      <p:sp>
        <p:nvSpPr>
          <p:cNvPr id="146" name="Google Shape;146;p31"/>
          <p:cNvSpPr/>
          <p:nvPr/>
        </p:nvSpPr>
        <p:spPr>
          <a:xfrm>
            <a:off x="4779975" y="4955475"/>
            <a:ext cx="489000" cy="284100"/>
          </a:xfrm>
          <a:prstGeom prst="rect">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7" name="Google Shape;147;p31"/>
          <p:cNvCxnSpPr>
            <a:stCxn id="146" idx="3"/>
            <a:endCxn id="145" idx="1"/>
          </p:cNvCxnSpPr>
          <p:nvPr/>
        </p:nvCxnSpPr>
        <p:spPr>
          <a:xfrm flipH="1" rot="10800000">
            <a:off x="5268975" y="4088025"/>
            <a:ext cx="1050900" cy="1009500"/>
          </a:xfrm>
          <a:prstGeom prst="straightConnector1">
            <a:avLst/>
          </a:prstGeom>
          <a:noFill/>
          <a:ln cap="flat" cmpd="sng" w="9525">
            <a:solidFill>
              <a:srgbClr val="0000FF"/>
            </a:solidFill>
            <a:prstDash val="solid"/>
            <a:round/>
            <a:headEnd len="med" w="med" type="none"/>
            <a:tailEnd len="med" w="med" type="none"/>
          </a:ln>
        </p:spPr>
      </p:cxnSp>
      <p:sp>
        <p:nvSpPr>
          <p:cNvPr id="148" name="Google Shape;148;p3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32"/>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Photosensors are frequently nonlinear</a:t>
            </a:r>
            <a:endParaRPr/>
          </a:p>
        </p:txBody>
      </p:sp>
      <p:sp>
        <p:nvSpPr>
          <p:cNvPr id="154" name="Google Shape;154;p32"/>
          <p:cNvSpPr txBox="1"/>
          <p:nvPr>
            <p:ph idx="1" type="body"/>
          </p:nvPr>
        </p:nvSpPr>
        <p:spPr>
          <a:xfrm>
            <a:off x="372550" y="1356863"/>
            <a:ext cx="8520600" cy="507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The CdS photosensor has </a:t>
            </a:r>
            <a:r>
              <a:rPr b="1" lang="en" sz="1600"/>
              <a:t>nonlinear</a:t>
            </a:r>
            <a:r>
              <a:rPr lang="en" sz="1600"/>
              <a:t> response: its resistance is </a:t>
            </a:r>
            <a:r>
              <a:rPr b="1" lang="en" sz="1600"/>
              <a:t>not</a:t>
            </a:r>
            <a:r>
              <a:rPr lang="en" sz="1600"/>
              <a:t> a linear function of the illumination.</a:t>
            </a:r>
            <a:endParaRPr sz="1600"/>
          </a:p>
          <a:p>
            <a:pPr indent="0" lvl="0" marL="0" rtl="0" algn="l">
              <a:spcBef>
                <a:spcPts val="1600"/>
              </a:spcBef>
              <a:spcAft>
                <a:spcPts val="0"/>
              </a:spcAft>
              <a:buNone/>
            </a:pPr>
            <a:r>
              <a:t/>
            </a:r>
            <a:endParaRPr sz="1600"/>
          </a:p>
          <a:p>
            <a:pPr indent="0" lvl="0" marL="0" rtl="0" algn="l">
              <a:spcBef>
                <a:spcPts val="1600"/>
              </a:spcBef>
              <a:spcAft>
                <a:spcPts val="0"/>
              </a:spcAft>
              <a:buNone/>
            </a:pPr>
            <a:r>
              <a:t/>
            </a:r>
            <a:endParaRPr sz="1600"/>
          </a:p>
          <a:p>
            <a:pPr indent="0" lvl="0" marL="0" rtl="0" algn="l">
              <a:spcBef>
                <a:spcPts val="1600"/>
              </a:spcBef>
              <a:spcAft>
                <a:spcPts val="0"/>
              </a:spcAft>
              <a:buNone/>
            </a:pPr>
            <a:r>
              <a:t/>
            </a:r>
            <a:endParaRPr sz="1600"/>
          </a:p>
          <a:p>
            <a:pPr indent="0" lvl="0" marL="0" rtl="0" algn="l">
              <a:spcBef>
                <a:spcPts val="1600"/>
              </a:spcBef>
              <a:spcAft>
                <a:spcPts val="0"/>
              </a:spcAft>
              <a:buNone/>
            </a:pPr>
            <a:r>
              <a:t/>
            </a:r>
            <a:endParaRPr sz="1600"/>
          </a:p>
          <a:p>
            <a:pPr indent="0" lvl="0" marL="0" rtl="0" algn="l">
              <a:spcBef>
                <a:spcPts val="1600"/>
              </a:spcBef>
              <a:spcAft>
                <a:spcPts val="0"/>
              </a:spcAft>
              <a:buNone/>
            </a:pPr>
            <a:r>
              <a:t/>
            </a:r>
            <a:endParaRPr sz="1600"/>
          </a:p>
          <a:p>
            <a:pPr indent="0" lvl="0" marL="0" rtl="0" algn="l">
              <a:spcBef>
                <a:spcPts val="1600"/>
              </a:spcBef>
              <a:spcAft>
                <a:spcPts val="0"/>
              </a:spcAft>
              <a:buNone/>
            </a:pPr>
            <a:r>
              <a:t/>
            </a:r>
            <a:endParaRPr sz="1600"/>
          </a:p>
          <a:p>
            <a:pPr indent="0" lvl="0" marL="0" rtl="0" algn="l">
              <a:spcBef>
                <a:spcPts val="1600"/>
              </a:spcBef>
              <a:spcAft>
                <a:spcPts val="0"/>
              </a:spcAft>
              <a:buNone/>
            </a:pPr>
            <a:r>
              <a:t/>
            </a:r>
            <a:endParaRPr sz="1600"/>
          </a:p>
          <a:p>
            <a:pPr indent="0" lvl="0" marL="0" rtl="0" algn="l">
              <a:spcBef>
                <a:spcPts val="1600"/>
              </a:spcBef>
              <a:spcAft>
                <a:spcPts val="0"/>
              </a:spcAft>
              <a:buNone/>
            </a:pPr>
            <a:r>
              <a:rPr lang="en" sz="1600"/>
              <a:t>Log-log plot approximate relationship (data sheet)</a:t>
            </a:r>
            <a:endParaRPr sz="1600"/>
          </a:p>
          <a:p>
            <a:pPr indent="0" lvl="0" marL="0" rtl="0" algn="ctr">
              <a:spcBef>
                <a:spcPts val="1600"/>
              </a:spcBef>
              <a:spcAft>
                <a:spcPts val="1600"/>
              </a:spcAft>
              <a:buNone/>
            </a:pPr>
            <a:r>
              <a:rPr lang="en" sz="1600"/>
              <a:t>log</a:t>
            </a:r>
            <a:r>
              <a:rPr baseline="-25000" lang="en" sz="1600"/>
              <a:t>10</a:t>
            </a:r>
            <a:r>
              <a:rPr lang="en" sz="1600"/>
              <a:t>(R100) – log</a:t>
            </a:r>
            <a:r>
              <a:rPr baseline="-25000" lang="en" sz="1600"/>
              <a:t>10</a:t>
            </a:r>
            <a:r>
              <a:rPr lang="en" sz="1600"/>
              <a:t>(R10) = -0.6 ( log</a:t>
            </a:r>
            <a:r>
              <a:rPr baseline="-25000" lang="en" sz="1600"/>
              <a:t>10</a:t>
            </a:r>
            <a:r>
              <a:rPr lang="en" sz="1600"/>
              <a:t>(E100) – log</a:t>
            </a:r>
            <a:r>
              <a:rPr baseline="-25000" lang="en" sz="1600"/>
              <a:t>10</a:t>
            </a:r>
            <a:r>
              <a:rPr lang="en" sz="1600"/>
              <a:t>(E10) )</a:t>
            </a:r>
            <a:endParaRPr sz="1600"/>
          </a:p>
        </p:txBody>
      </p:sp>
      <p:pic>
        <p:nvPicPr>
          <p:cNvPr id="155" name="Google Shape;155;p32"/>
          <p:cNvPicPr preferRelativeResize="0"/>
          <p:nvPr/>
        </p:nvPicPr>
        <p:blipFill>
          <a:blip r:embed="rId3">
            <a:alphaModFix/>
          </a:blip>
          <a:stretch>
            <a:fillRect/>
          </a:stretch>
        </p:blipFill>
        <p:spPr>
          <a:xfrm>
            <a:off x="1825825" y="1955188"/>
            <a:ext cx="4762500" cy="3343275"/>
          </a:xfrm>
          <a:prstGeom prst="rect">
            <a:avLst/>
          </a:prstGeom>
          <a:noFill/>
          <a:ln>
            <a:noFill/>
          </a:ln>
        </p:spPr>
      </p:pic>
      <p:sp>
        <p:nvSpPr>
          <p:cNvPr id="156" name="Google Shape;156;p32"/>
          <p:cNvSpPr txBox="1"/>
          <p:nvPr/>
        </p:nvSpPr>
        <p:spPr>
          <a:xfrm>
            <a:off x="5864500" y="5081050"/>
            <a:ext cx="2922000" cy="39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200"/>
              <a:t>Ref: https://learn.adafruit.com/photocells</a:t>
            </a:r>
            <a:endParaRPr i="1" sz="1200"/>
          </a:p>
        </p:txBody>
      </p:sp>
      <p:sp>
        <p:nvSpPr>
          <p:cNvPr id="157" name="Google Shape;157;p32"/>
          <p:cNvSpPr txBox="1"/>
          <p:nvPr/>
        </p:nvSpPr>
        <p:spPr>
          <a:xfrm>
            <a:off x="6319975" y="3796975"/>
            <a:ext cx="2466600" cy="58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rgbClr val="0000FF"/>
                </a:solidFill>
              </a:rPr>
              <a:t>“lux” = lumens per square meter </a:t>
            </a:r>
            <a:endParaRPr i="1">
              <a:solidFill>
                <a:srgbClr val="0000FF"/>
              </a:solidFill>
            </a:endParaRPr>
          </a:p>
        </p:txBody>
      </p:sp>
      <p:sp>
        <p:nvSpPr>
          <p:cNvPr id="158" name="Google Shape;158;p32"/>
          <p:cNvSpPr/>
          <p:nvPr/>
        </p:nvSpPr>
        <p:spPr>
          <a:xfrm>
            <a:off x="4779975" y="4955475"/>
            <a:ext cx="489000" cy="284100"/>
          </a:xfrm>
          <a:prstGeom prst="rect">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9" name="Google Shape;159;p32"/>
          <p:cNvCxnSpPr>
            <a:stCxn id="158" idx="3"/>
            <a:endCxn id="157" idx="1"/>
          </p:cNvCxnSpPr>
          <p:nvPr/>
        </p:nvCxnSpPr>
        <p:spPr>
          <a:xfrm flipH="1" rot="10800000">
            <a:off x="5268975" y="4088025"/>
            <a:ext cx="1050900" cy="1009500"/>
          </a:xfrm>
          <a:prstGeom prst="straightConnector1">
            <a:avLst/>
          </a:prstGeom>
          <a:noFill/>
          <a:ln cap="flat" cmpd="sng" w="9525">
            <a:solidFill>
              <a:srgbClr val="0000FF"/>
            </a:solidFill>
            <a:prstDash val="solid"/>
            <a:round/>
            <a:headEnd len="med" w="med" type="none"/>
            <a:tailEnd len="med" w="med" type="none"/>
          </a:ln>
        </p:spPr>
      </p:cxnSp>
      <p:sp>
        <p:nvSpPr>
          <p:cNvPr id="160" name="Google Shape;160;p3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3"/>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t>
            </a:r>
            <a:r>
              <a:rPr lang="en"/>
              <a:t>any sensors are based on resistance</a:t>
            </a:r>
            <a:endParaRPr/>
          </a:p>
        </p:txBody>
      </p:sp>
      <p:sp>
        <p:nvSpPr>
          <p:cNvPr id="166" name="Google Shape;166;p33"/>
          <p:cNvSpPr txBox="1"/>
          <p:nvPr>
            <p:ph idx="1" type="body"/>
          </p:nvPr>
        </p:nvSpPr>
        <p:spPr>
          <a:xfrm>
            <a:off x="3114675" y="1438875"/>
            <a:ext cx="5913000" cy="448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Sensors based on variable resistance:</a:t>
            </a:r>
            <a:endParaRPr/>
          </a:p>
          <a:p>
            <a:pPr indent="-330200" lvl="0" marL="457200" rtl="0" algn="l">
              <a:spcBef>
                <a:spcPts val="1600"/>
              </a:spcBef>
              <a:spcAft>
                <a:spcPts val="0"/>
              </a:spcAft>
              <a:buSzPts val="1600"/>
              <a:buChar char="●"/>
            </a:pPr>
            <a:r>
              <a:rPr lang="en" sz="1600"/>
              <a:t>Potentiometer, linear and rotary (position, angle)</a:t>
            </a:r>
            <a:endParaRPr sz="1600"/>
          </a:p>
          <a:p>
            <a:pPr indent="-330200" lvl="0" marL="457200" rtl="0" algn="l">
              <a:spcBef>
                <a:spcPts val="0"/>
              </a:spcBef>
              <a:spcAft>
                <a:spcPts val="0"/>
              </a:spcAft>
              <a:buSzPts val="1600"/>
              <a:buChar char="●"/>
            </a:pPr>
            <a:r>
              <a:rPr lang="en" sz="1600"/>
              <a:t>Force-sensing resistor (force)</a:t>
            </a:r>
            <a:endParaRPr sz="1600"/>
          </a:p>
          <a:p>
            <a:pPr indent="-330200" lvl="0" marL="457200" rtl="0" algn="l">
              <a:spcBef>
                <a:spcPts val="0"/>
              </a:spcBef>
              <a:spcAft>
                <a:spcPts val="0"/>
              </a:spcAft>
              <a:buSzPts val="1600"/>
              <a:buChar char="●"/>
            </a:pPr>
            <a:r>
              <a:rPr lang="en" sz="1600"/>
              <a:t>Photoresistor (light)</a:t>
            </a:r>
            <a:endParaRPr sz="1600"/>
          </a:p>
          <a:p>
            <a:pPr indent="-304800" lvl="1" marL="914400" rtl="0" algn="l">
              <a:spcBef>
                <a:spcPts val="0"/>
              </a:spcBef>
              <a:spcAft>
                <a:spcPts val="0"/>
              </a:spcAft>
              <a:buSzPts val="1200"/>
              <a:buFont typeface="Courier New"/>
              <a:buChar char="○"/>
            </a:pPr>
            <a:r>
              <a:rPr lang="en" sz="1200" u="sng">
                <a:solidFill>
                  <a:schemeClr val="hlink"/>
                </a:solidFill>
                <a:latin typeface="Courier New"/>
                <a:ea typeface="Courier New"/>
                <a:cs typeface="Courier New"/>
                <a:sym typeface="Courier New"/>
                <a:hlinkClick r:id="rId3"/>
              </a:rPr>
              <a:t>http://www.resistorguide.com/photoresistor/</a:t>
            </a:r>
            <a:endParaRPr sz="1200">
              <a:latin typeface="Courier New"/>
              <a:ea typeface="Courier New"/>
              <a:cs typeface="Courier New"/>
              <a:sym typeface="Courier New"/>
            </a:endParaRPr>
          </a:p>
          <a:p>
            <a:pPr indent="-330200" lvl="0" marL="457200" rtl="0" algn="l">
              <a:spcBef>
                <a:spcPts val="0"/>
              </a:spcBef>
              <a:spcAft>
                <a:spcPts val="0"/>
              </a:spcAft>
              <a:buSzPts val="1600"/>
              <a:buChar char="●"/>
            </a:pPr>
            <a:r>
              <a:rPr lang="en" sz="1600"/>
              <a:t>Thermistor (temperature)</a:t>
            </a:r>
            <a:endParaRPr sz="1600"/>
          </a:p>
          <a:p>
            <a:pPr indent="-298450" lvl="1" marL="914400" rtl="0" algn="l">
              <a:spcBef>
                <a:spcPts val="0"/>
              </a:spcBef>
              <a:spcAft>
                <a:spcPts val="0"/>
              </a:spcAft>
              <a:buSzPts val="1100"/>
              <a:buFont typeface="Courier New"/>
              <a:buChar char="○"/>
            </a:pPr>
            <a:r>
              <a:rPr lang="en" sz="1100" u="sng">
                <a:solidFill>
                  <a:schemeClr val="hlink"/>
                </a:solidFill>
                <a:latin typeface="Courier New"/>
                <a:ea typeface="Courier New"/>
                <a:cs typeface="Courier New"/>
                <a:sym typeface="Courier New"/>
                <a:hlinkClick r:id="rId4"/>
              </a:rPr>
              <a:t>https://www.omega.com/en-us/resources/temperature-probes</a:t>
            </a:r>
            <a:endParaRPr sz="1100">
              <a:latin typeface="Courier New"/>
              <a:ea typeface="Courier New"/>
              <a:cs typeface="Courier New"/>
              <a:sym typeface="Courier New"/>
            </a:endParaRPr>
          </a:p>
          <a:p>
            <a:pPr indent="0" lvl="0" marL="0" rtl="0" algn="l">
              <a:spcBef>
                <a:spcPts val="1600"/>
              </a:spcBef>
              <a:spcAft>
                <a:spcPts val="0"/>
              </a:spcAft>
              <a:buNone/>
            </a:pPr>
            <a:r>
              <a:rPr lang="en"/>
              <a:t>Also:</a:t>
            </a:r>
            <a:endParaRPr/>
          </a:p>
          <a:p>
            <a:pPr indent="-330200" lvl="0" marL="457200" rtl="0" algn="l">
              <a:spcBef>
                <a:spcPts val="1600"/>
              </a:spcBef>
              <a:spcAft>
                <a:spcPts val="0"/>
              </a:spcAft>
              <a:buSzPts val="1600"/>
              <a:buChar char="●"/>
            </a:pPr>
            <a:r>
              <a:rPr lang="en" sz="1600"/>
              <a:t>Strain gage: senses tiny stretch/compression</a:t>
            </a:r>
            <a:endParaRPr sz="1600"/>
          </a:p>
          <a:p>
            <a:pPr indent="-317500" lvl="1" marL="914400" rtl="0" algn="l">
              <a:spcBef>
                <a:spcPts val="0"/>
              </a:spcBef>
              <a:spcAft>
                <a:spcPts val="0"/>
              </a:spcAft>
              <a:buSzPts val="1400"/>
              <a:buChar char="○"/>
            </a:pPr>
            <a:r>
              <a:rPr lang="en" sz="1200" u="sng">
                <a:solidFill>
                  <a:schemeClr val="hlink"/>
                </a:solidFill>
                <a:latin typeface="Courier New"/>
                <a:ea typeface="Courier New"/>
                <a:cs typeface="Courier New"/>
                <a:sym typeface="Courier New"/>
                <a:hlinkClick r:id="rId5"/>
              </a:rPr>
              <a:t>https://www.omega.com/en-us/resources/strain-gages</a:t>
            </a:r>
            <a:r>
              <a:rPr lang="en" u="sng">
                <a:solidFill>
                  <a:schemeClr val="hlink"/>
                </a:solidFill>
                <a:hlinkClick r:id="rId6"/>
              </a:rPr>
              <a:t> </a:t>
            </a:r>
            <a:endParaRPr/>
          </a:p>
          <a:p>
            <a:pPr indent="-330200" lvl="0" marL="457200" rtl="0" algn="l">
              <a:spcBef>
                <a:spcPts val="0"/>
              </a:spcBef>
              <a:spcAft>
                <a:spcPts val="0"/>
              </a:spcAft>
              <a:buSzPts val="1600"/>
              <a:buChar char="●"/>
            </a:pPr>
            <a:r>
              <a:rPr lang="en" sz="1600"/>
              <a:t>Load cell: measures weight (uses strain gage)</a:t>
            </a:r>
            <a:endParaRPr sz="1600"/>
          </a:p>
          <a:p>
            <a:pPr indent="-304800" lvl="1" marL="914400" rtl="0" algn="l">
              <a:spcBef>
                <a:spcPts val="0"/>
              </a:spcBef>
              <a:spcAft>
                <a:spcPts val="0"/>
              </a:spcAft>
              <a:buSzPts val="1200"/>
              <a:buFont typeface="Courier New"/>
              <a:buChar char="○"/>
            </a:pPr>
            <a:r>
              <a:rPr lang="en" sz="1200" u="sng">
                <a:solidFill>
                  <a:schemeClr val="hlink"/>
                </a:solidFill>
                <a:latin typeface="Courier New"/>
                <a:ea typeface="Courier New"/>
                <a:cs typeface="Courier New"/>
                <a:sym typeface="Courier New"/>
                <a:hlinkClick r:id="rId7"/>
              </a:rPr>
              <a:t>https://www.omega.com/en-us/resources/load-cells</a:t>
            </a:r>
            <a:endParaRPr sz="1200">
              <a:latin typeface="Courier New"/>
              <a:ea typeface="Courier New"/>
              <a:cs typeface="Courier New"/>
              <a:sym typeface="Courier New"/>
            </a:endParaRPr>
          </a:p>
          <a:p>
            <a:pPr indent="0" lvl="0" marL="0" rtl="0" algn="l">
              <a:spcBef>
                <a:spcPts val="1600"/>
              </a:spcBef>
              <a:spcAft>
                <a:spcPts val="1600"/>
              </a:spcAft>
              <a:buNone/>
            </a:pPr>
            <a:r>
              <a:rPr lang="en" sz="1600"/>
              <a:t>Strain gages require more complex electronics than a simple voltage divider.</a:t>
            </a:r>
            <a:endParaRPr sz="1600"/>
          </a:p>
        </p:txBody>
      </p:sp>
      <p:pic>
        <p:nvPicPr>
          <p:cNvPr id="167" name="Google Shape;167;p33"/>
          <p:cNvPicPr preferRelativeResize="0"/>
          <p:nvPr/>
        </p:nvPicPr>
        <p:blipFill>
          <a:blip r:embed="rId8">
            <a:alphaModFix/>
          </a:blip>
          <a:stretch>
            <a:fillRect/>
          </a:stretch>
        </p:blipFill>
        <p:spPr>
          <a:xfrm>
            <a:off x="266700" y="1530832"/>
            <a:ext cx="2695575" cy="2981325"/>
          </a:xfrm>
          <a:prstGeom prst="rect">
            <a:avLst/>
          </a:prstGeom>
          <a:noFill/>
          <a:ln>
            <a:noFill/>
          </a:ln>
        </p:spPr>
      </p:pic>
      <p:sp>
        <p:nvSpPr>
          <p:cNvPr id="168" name="Google Shape;168;p3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4"/>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Using a CdS photocell to measure light</a:t>
            </a:r>
            <a:endParaRPr/>
          </a:p>
        </p:txBody>
      </p:sp>
      <p:sp>
        <p:nvSpPr>
          <p:cNvPr id="174" name="Google Shape;174;p34"/>
          <p:cNvSpPr txBox="1"/>
          <p:nvPr>
            <p:ph idx="1" type="body"/>
          </p:nvPr>
        </p:nvSpPr>
        <p:spPr>
          <a:xfrm>
            <a:off x="5201175" y="2017375"/>
            <a:ext cx="3333000" cy="90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Discuss at your table: As the light gets brighter, does V</a:t>
            </a:r>
            <a:r>
              <a:rPr baseline="-25000" lang="en" sz="1600"/>
              <a:t>M</a:t>
            </a:r>
            <a:r>
              <a:rPr lang="en" sz="1600"/>
              <a:t> increase or decrease?</a:t>
            </a:r>
            <a:endParaRPr sz="1600"/>
          </a:p>
          <a:p>
            <a:pPr indent="0" lvl="0" marL="0" rtl="0" algn="l">
              <a:spcBef>
                <a:spcPts val="1600"/>
              </a:spcBef>
              <a:spcAft>
                <a:spcPts val="0"/>
              </a:spcAft>
              <a:buNone/>
            </a:pPr>
            <a:r>
              <a:t/>
            </a:r>
            <a:endParaRPr sz="1600"/>
          </a:p>
          <a:p>
            <a:pPr indent="0" lvl="0" marL="0" rtl="0" algn="l">
              <a:spcBef>
                <a:spcPts val="1600"/>
              </a:spcBef>
              <a:spcAft>
                <a:spcPts val="1600"/>
              </a:spcAft>
              <a:buClr>
                <a:schemeClr val="dk1"/>
              </a:buClr>
              <a:buSzPts val="1100"/>
              <a:buFont typeface="Arial"/>
              <a:buNone/>
            </a:pPr>
            <a:r>
              <a:rPr lang="en"/>
              <a:t>Part 1 of the lab will guide you deeper into the data sheet.</a:t>
            </a:r>
            <a:endParaRPr sz="1600"/>
          </a:p>
        </p:txBody>
      </p:sp>
      <p:pic>
        <p:nvPicPr>
          <p:cNvPr id="175" name="Google Shape;175;p34"/>
          <p:cNvPicPr preferRelativeResize="0"/>
          <p:nvPr/>
        </p:nvPicPr>
        <p:blipFill>
          <a:blip r:embed="rId3">
            <a:alphaModFix/>
          </a:blip>
          <a:stretch>
            <a:fillRect/>
          </a:stretch>
        </p:blipFill>
        <p:spPr>
          <a:xfrm>
            <a:off x="709700" y="1676700"/>
            <a:ext cx="3426575" cy="3789825"/>
          </a:xfrm>
          <a:prstGeom prst="rect">
            <a:avLst/>
          </a:prstGeom>
          <a:noFill/>
          <a:ln>
            <a:noFill/>
          </a:ln>
        </p:spPr>
      </p:pic>
      <p:sp>
        <p:nvSpPr>
          <p:cNvPr id="176" name="Google Shape;176;p3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pic>
        <p:nvPicPr>
          <p:cNvPr id="181" name="Google Shape;181;p35"/>
          <p:cNvPicPr preferRelativeResize="0"/>
          <p:nvPr/>
        </p:nvPicPr>
        <p:blipFill>
          <a:blip r:embed="rId3">
            <a:alphaModFix/>
          </a:blip>
          <a:stretch>
            <a:fillRect/>
          </a:stretch>
        </p:blipFill>
        <p:spPr>
          <a:xfrm>
            <a:off x="7291025" y="203100"/>
            <a:ext cx="1852975" cy="2096600"/>
          </a:xfrm>
          <a:prstGeom prst="rect">
            <a:avLst/>
          </a:prstGeom>
          <a:noFill/>
          <a:ln>
            <a:noFill/>
          </a:ln>
        </p:spPr>
      </p:pic>
      <p:sp>
        <p:nvSpPr>
          <p:cNvPr id="182" name="Google Shape;182;p35"/>
          <p:cNvSpPr txBox="1"/>
          <p:nvPr>
            <p:ph type="title"/>
          </p:nvPr>
        </p:nvSpPr>
        <p:spPr>
          <a:xfrm>
            <a:off x="311700" y="203100"/>
            <a:ext cx="8160900" cy="1037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Part 1 of Lab 8: Technical Study of Photocells</a:t>
            </a:r>
            <a:endParaRPr/>
          </a:p>
        </p:txBody>
      </p:sp>
      <p:sp>
        <p:nvSpPr>
          <p:cNvPr id="183" name="Google Shape;183;p3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4" name="Google Shape;184;p35"/>
          <p:cNvSpPr txBox="1"/>
          <p:nvPr/>
        </p:nvSpPr>
        <p:spPr>
          <a:xfrm>
            <a:off x="314850" y="876075"/>
            <a:ext cx="8377500" cy="5639700"/>
          </a:xfrm>
          <a:prstGeom prst="rect">
            <a:avLst/>
          </a:prstGeom>
          <a:noFill/>
          <a:ln>
            <a:noFill/>
          </a:ln>
        </p:spPr>
        <p:txBody>
          <a:bodyPr anchorCtr="0" anchor="t" bIns="91425" lIns="91425" spcFirstLastPara="1" rIns="91425" wrap="square" tIns="91425">
            <a:noAutofit/>
          </a:bodyPr>
          <a:lstStyle/>
          <a:p>
            <a:pPr indent="-336550" lvl="0" marL="457200" rtl="0" algn="l">
              <a:lnSpc>
                <a:spcPct val="115000"/>
              </a:lnSpc>
              <a:spcBef>
                <a:spcPts val="0"/>
              </a:spcBef>
              <a:spcAft>
                <a:spcPts val="0"/>
              </a:spcAft>
              <a:buClr>
                <a:schemeClr val="dk2"/>
              </a:buClr>
              <a:buSzPts val="1700"/>
              <a:buAutoNum type="arabicPeriod"/>
            </a:pPr>
            <a:r>
              <a:rPr lang="en" sz="1700">
                <a:solidFill>
                  <a:schemeClr val="dk2"/>
                </a:solidFill>
              </a:rPr>
              <a:t>Using the datasheet, record the minimum dark resistance and </a:t>
            </a:r>
            <a:br>
              <a:rPr lang="en" sz="1700">
                <a:solidFill>
                  <a:schemeClr val="dk2"/>
                </a:solidFill>
              </a:rPr>
            </a:br>
            <a:r>
              <a:rPr lang="en" sz="1700">
                <a:solidFill>
                  <a:schemeClr val="dk2"/>
                </a:solidFill>
              </a:rPr>
              <a:t>minimum illuminated resistance for R</a:t>
            </a:r>
            <a:r>
              <a:rPr baseline="-25000" lang="en" sz="1700">
                <a:solidFill>
                  <a:schemeClr val="dk2"/>
                </a:solidFill>
              </a:rPr>
              <a:t>1</a:t>
            </a:r>
            <a:r>
              <a:rPr lang="en" sz="1700">
                <a:solidFill>
                  <a:schemeClr val="dk2"/>
                </a:solidFill>
              </a:rPr>
              <a:t>.</a:t>
            </a:r>
            <a:endParaRPr sz="1700">
              <a:solidFill>
                <a:schemeClr val="dk2"/>
              </a:solidFill>
            </a:endParaRPr>
          </a:p>
          <a:p>
            <a:pPr indent="-336550" lvl="0" marL="457200" rtl="0" algn="l">
              <a:spcBef>
                <a:spcPts val="0"/>
              </a:spcBef>
              <a:spcAft>
                <a:spcPts val="0"/>
              </a:spcAft>
              <a:buClr>
                <a:schemeClr val="dk2"/>
              </a:buClr>
              <a:buSzPts val="1700"/>
              <a:buAutoNum type="arabicPeriod"/>
            </a:pPr>
            <a:r>
              <a:rPr lang="en" sz="1700">
                <a:solidFill>
                  <a:schemeClr val="dk2"/>
                </a:solidFill>
              </a:rPr>
              <a:t>Using your multimeter and a flashlight, record the dark </a:t>
            </a:r>
            <a:br>
              <a:rPr lang="en" sz="1700">
                <a:solidFill>
                  <a:schemeClr val="dk2"/>
                </a:solidFill>
              </a:rPr>
            </a:br>
            <a:r>
              <a:rPr lang="en" sz="1700">
                <a:solidFill>
                  <a:schemeClr val="dk2"/>
                </a:solidFill>
              </a:rPr>
              <a:t>resistance and illuminated resistance for </a:t>
            </a:r>
            <a:r>
              <a:rPr lang="en" sz="1700">
                <a:solidFill>
                  <a:schemeClr val="dk2"/>
                </a:solidFill>
              </a:rPr>
              <a:t>R</a:t>
            </a:r>
            <a:r>
              <a:rPr baseline="-25000" lang="en" sz="1700">
                <a:solidFill>
                  <a:schemeClr val="dk2"/>
                </a:solidFill>
              </a:rPr>
              <a:t>1</a:t>
            </a:r>
            <a:r>
              <a:rPr lang="en" sz="1700">
                <a:solidFill>
                  <a:schemeClr val="dk2"/>
                </a:solidFill>
              </a:rPr>
              <a:t>.</a:t>
            </a:r>
            <a:endParaRPr sz="1700">
              <a:solidFill>
                <a:schemeClr val="dk2"/>
              </a:solidFill>
            </a:endParaRPr>
          </a:p>
          <a:p>
            <a:pPr indent="-336550" lvl="0" marL="457200" rtl="0" algn="l">
              <a:spcBef>
                <a:spcPts val="0"/>
              </a:spcBef>
              <a:spcAft>
                <a:spcPts val="0"/>
              </a:spcAft>
              <a:buClr>
                <a:schemeClr val="dk2"/>
              </a:buClr>
              <a:buSzPts val="1700"/>
              <a:buAutoNum type="arabicPeriod"/>
            </a:pPr>
            <a:r>
              <a:rPr lang="en" sz="1700">
                <a:solidFill>
                  <a:schemeClr val="dk2"/>
                </a:solidFill>
              </a:rPr>
              <a:t>Why might the measured values disagree with the datasheet?</a:t>
            </a:r>
            <a:endParaRPr sz="1700">
              <a:solidFill>
                <a:schemeClr val="dk2"/>
              </a:solidFill>
            </a:endParaRPr>
          </a:p>
          <a:p>
            <a:pPr indent="-336550" lvl="0" marL="457200" rtl="0" algn="l">
              <a:spcBef>
                <a:spcPts val="0"/>
              </a:spcBef>
              <a:spcAft>
                <a:spcPts val="0"/>
              </a:spcAft>
              <a:buClr>
                <a:schemeClr val="dk2"/>
              </a:buClr>
              <a:buSzPts val="1700"/>
              <a:buAutoNum type="arabicPeriod"/>
            </a:pPr>
            <a:r>
              <a:rPr lang="en" sz="1700">
                <a:solidFill>
                  <a:schemeClr val="dk2"/>
                </a:solidFill>
              </a:rPr>
              <a:t>On page 133 of Williams, it is recommended that the value of R</a:t>
            </a:r>
            <a:r>
              <a:rPr baseline="-25000" lang="en" sz="1700">
                <a:solidFill>
                  <a:schemeClr val="dk2"/>
                </a:solidFill>
              </a:rPr>
              <a:t>2</a:t>
            </a:r>
            <a:r>
              <a:rPr lang="en" sz="1700">
                <a:solidFill>
                  <a:schemeClr val="dk2"/>
                </a:solidFill>
              </a:rPr>
              <a:t> be set as the geometric mean of R</a:t>
            </a:r>
            <a:r>
              <a:rPr baseline="-25000" i="1" lang="en" sz="1700">
                <a:solidFill>
                  <a:schemeClr val="dk2"/>
                </a:solidFill>
              </a:rPr>
              <a:t>dark</a:t>
            </a:r>
            <a:r>
              <a:rPr lang="en" sz="1700">
                <a:solidFill>
                  <a:schemeClr val="dk2"/>
                </a:solidFill>
              </a:rPr>
              <a:t> and R</a:t>
            </a:r>
            <a:r>
              <a:rPr baseline="-25000" i="1" lang="en" sz="1700">
                <a:solidFill>
                  <a:schemeClr val="dk2"/>
                </a:solidFill>
              </a:rPr>
              <a:t>illuminated</a:t>
            </a:r>
            <a:r>
              <a:rPr lang="en" sz="1700">
                <a:solidFill>
                  <a:schemeClr val="dk2"/>
                </a:solidFill>
              </a:rPr>
              <a:t>, i.e. </a:t>
            </a:r>
            <a:br>
              <a:rPr lang="en" sz="1700">
                <a:solidFill>
                  <a:schemeClr val="dk2"/>
                </a:solidFill>
              </a:rPr>
            </a:br>
            <a:br>
              <a:rPr lang="en" sz="1700">
                <a:solidFill>
                  <a:schemeClr val="dk2"/>
                </a:solidFill>
              </a:rPr>
            </a:br>
            <a:br>
              <a:rPr lang="en" sz="1700">
                <a:solidFill>
                  <a:schemeClr val="dk2"/>
                </a:solidFill>
              </a:rPr>
            </a:br>
            <a:r>
              <a:rPr lang="en" sz="1700">
                <a:solidFill>
                  <a:schemeClr val="dk2"/>
                </a:solidFill>
              </a:rPr>
              <a:t>Based on the values you measured, compute R</a:t>
            </a:r>
            <a:r>
              <a:rPr baseline="-25000" lang="en" sz="1700">
                <a:solidFill>
                  <a:schemeClr val="dk2"/>
                </a:solidFill>
              </a:rPr>
              <a:t>2</a:t>
            </a:r>
            <a:r>
              <a:rPr lang="en" sz="1700">
                <a:solidFill>
                  <a:schemeClr val="dk2"/>
                </a:solidFill>
              </a:rPr>
              <a:t>. </a:t>
            </a:r>
            <a:endParaRPr sz="1700">
              <a:solidFill>
                <a:schemeClr val="dk2"/>
              </a:solidFill>
            </a:endParaRPr>
          </a:p>
          <a:p>
            <a:pPr indent="-336550" lvl="0" marL="457200" rtl="0" algn="l">
              <a:spcBef>
                <a:spcPts val="0"/>
              </a:spcBef>
              <a:spcAft>
                <a:spcPts val="0"/>
              </a:spcAft>
              <a:buClr>
                <a:schemeClr val="dk2"/>
              </a:buClr>
              <a:buSzPts val="1700"/>
              <a:buAutoNum type="arabicPeriod"/>
            </a:pPr>
            <a:r>
              <a:rPr lang="en" sz="1700">
                <a:solidFill>
                  <a:schemeClr val="dk2"/>
                </a:solidFill>
              </a:rPr>
              <a:t>Recall that the equation for the voltage divider as drawn above is </a:t>
            </a:r>
            <a:br>
              <a:rPr lang="en" sz="1700">
                <a:solidFill>
                  <a:schemeClr val="dk2"/>
                </a:solidFill>
              </a:rPr>
            </a:br>
            <a:br>
              <a:rPr lang="en" sz="1700">
                <a:solidFill>
                  <a:schemeClr val="dk2"/>
                </a:solidFill>
              </a:rPr>
            </a:br>
            <a:br>
              <a:rPr lang="en" sz="1700">
                <a:solidFill>
                  <a:schemeClr val="dk2"/>
                </a:solidFill>
              </a:rPr>
            </a:br>
            <a:br>
              <a:rPr lang="en" sz="1700">
                <a:solidFill>
                  <a:schemeClr val="dk2"/>
                </a:solidFill>
              </a:rPr>
            </a:br>
            <a:r>
              <a:rPr lang="en" sz="1700">
                <a:solidFill>
                  <a:schemeClr val="dk2"/>
                </a:solidFill>
              </a:rPr>
              <a:t>Using the values you measured, roughly what are the voltages that you would expect to see at V</a:t>
            </a:r>
            <a:r>
              <a:rPr baseline="-25000" lang="en" sz="1700">
                <a:solidFill>
                  <a:schemeClr val="dk2"/>
                </a:solidFill>
              </a:rPr>
              <a:t>1</a:t>
            </a:r>
            <a:r>
              <a:rPr lang="en" sz="1700">
                <a:solidFill>
                  <a:schemeClr val="dk2"/>
                </a:solidFill>
              </a:rPr>
              <a:t> when the sensor is illuminated and when the sensor is dark, assuming V</a:t>
            </a:r>
            <a:r>
              <a:rPr baseline="-25000" lang="en" sz="1700">
                <a:solidFill>
                  <a:schemeClr val="dk2"/>
                </a:solidFill>
              </a:rPr>
              <a:t>cc</a:t>
            </a:r>
            <a:r>
              <a:rPr lang="en" sz="1700">
                <a:solidFill>
                  <a:schemeClr val="dk2"/>
                </a:solidFill>
              </a:rPr>
              <a:t> = 3.3V ?</a:t>
            </a:r>
            <a:endParaRPr sz="1700">
              <a:solidFill>
                <a:schemeClr val="dk2"/>
              </a:solidFill>
            </a:endParaRPr>
          </a:p>
          <a:p>
            <a:pPr indent="-336550" lvl="0" marL="457200" rtl="0" algn="l">
              <a:spcBef>
                <a:spcPts val="0"/>
              </a:spcBef>
              <a:spcAft>
                <a:spcPts val="0"/>
              </a:spcAft>
              <a:buClr>
                <a:schemeClr val="dk2"/>
              </a:buClr>
              <a:buSzPts val="1700"/>
              <a:buAutoNum type="arabicPeriod"/>
            </a:pPr>
            <a:r>
              <a:rPr lang="en" sz="1700">
                <a:solidFill>
                  <a:schemeClr val="dk2"/>
                </a:solidFill>
              </a:rPr>
              <a:t>You are limited by the discrete resistor values made available for your use in the laboratory, so you might not have the exact value you calculated. Assume that you have a 10kΩ resistor available to you. Repeat the calculations from the previous deliverable. Is using a 10kΩ going to be a problem?</a:t>
            </a:r>
            <a:endParaRPr sz="1700">
              <a:solidFill>
                <a:schemeClr val="dk2"/>
              </a:solidFill>
            </a:endParaRPr>
          </a:p>
        </p:txBody>
      </p:sp>
      <p:pic>
        <p:nvPicPr>
          <p:cNvPr descr="{&quot;font&quot;:{&quot;size&quot;:18,&quot;family&quot;:&quot;Arial&quot;,&quot;color&quot;:&quot;#595959&quot;},&quot;aid&quot;:null,&quot;code&quot;:&quot;$$R_{2}\\,=\\,{\\sqrt[]{R_{dark}\\,\\cdot\\,R_{illuminated}}}$$&quot;,&quot;backgroundColorModified&quot;:false,&quot;id&quot;:&quot;1&quot;,&quot;type&quot;:&quot;$$&quot;,&quot;backgroundColor&quot;:&quot;#FFFFFF&quot;,&quot;ts&quot;:1771864144723,&quot;cs&quot;:&quot;6A4KzAmMkh4XcpNO3h9KCA==&quot;,&quot;size&quot;:{&quot;width&quot;:329.5,&quot;height&quot;:34}}" id="185" name="Google Shape;185;p35"/>
          <p:cNvPicPr preferRelativeResize="0"/>
          <p:nvPr/>
        </p:nvPicPr>
        <p:blipFill>
          <a:blip r:embed="rId4">
            <a:alphaModFix/>
          </a:blip>
          <a:stretch>
            <a:fillRect/>
          </a:stretch>
        </p:blipFill>
        <p:spPr>
          <a:xfrm>
            <a:off x="2682975" y="3045750"/>
            <a:ext cx="3138488" cy="323850"/>
          </a:xfrm>
          <a:prstGeom prst="rect">
            <a:avLst/>
          </a:prstGeom>
          <a:noFill/>
          <a:ln>
            <a:noFill/>
          </a:ln>
        </p:spPr>
      </p:pic>
      <p:pic>
        <p:nvPicPr>
          <p:cNvPr descr="{&quot;font&quot;:{&quot;family&quot;:&quot;Arial&quot;,&quot;color&quot;:&quot;#595959&quot;,&quot;size&quot;:18},&quot;code&quot;:&quot;$$\\frac{V_{1}}{V_{cc}}\\,=\\,\\frac{R_{2}}{R_{1}\\,+\\,R_{2}}$$&quot;,&quot;backgroundColor&quot;:&quot;#FFFFFF&quot;,&quot;aid&quot;:null,&quot;type&quot;:&quot;$$&quot;,&quot;id&quot;:&quot;2&quot;,&quot;backgroundColorModified&quot;:false,&quot;ts&quot;:1771864314119,&quot;cs&quot;:&quot;mmfs7hE0TsVhRnXN7z+GiA==&quot;,&quot;size&quot;:{&quot;width&quot;:212.33333333333334,&quot;height&quot;:62.166666666666664}}" id="186" name="Google Shape;186;p35"/>
          <p:cNvPicPr preferRelativeResize="0"/>
          <p:nvPr/>
        </p:nvPicPr>
        <p:blipFill>
          <a:blip r:embed="rId5">
            <a:alphaModFix/>
          </a:blip>
          <a:stretch>
            <a:fillRect/>
          </a:stretch>
        </p:blipFill>
        <p:spPr>
          <a:xfrm>
            <a:off x="3074150" y="4031300"/>
            <a:ext cx="2022475" cy="59213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6"/>
          <p:cNvSpPr txBox="1"/>
          <p:nvPr>
            <p:ph type="title"/>
          </p:nvPr>
        </p:nvSpPr>
        <p:spPr>
          <a:xfrm>
            <a:off x="311700" y="30589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Technical Study of Photocells, continued</a:t>
            </a:r>
            <a:endParaRPr/>
          </a:p>
        </p:txBody>
      </p:sp>
      <p:sp>
        <p:nvSpPr>
          <p:cNvPr id="192" name="Google Shape;192;p3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3" name="Google Shape;193;p36"/>
          <p:cNvSpPr txBox="1"/>
          <p:nvPr/>
        </p:nvSpPr>
        <p:spPr>
          <a:xfrm>
            <a:off x="219025" y="1136150"/>
            <a:ext cx="4982700" cy="501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t>7. </a:t>
            </a:r>
            <a:r>
              <a:rPr lang="en" sz="1500"/>
              <a:t>Wire the two photosensors to 10K resistors on your breadboard as shown in the figure.</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rPr lang="en" sz="1500"/>
              <a:t>(a) Write a program to measure the two sensor voltages and print them on your screen. This should be an easy two-channel modification of the earlier A/D + potentiometer program. A one-second sampling period is fine.</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rPr lang="en" sz="1500"/>
              <a:t>(b) Also wire the sensor voltages to analog channels 1 and 2 of the AD2, to display the voltages with Waveform’s voltmeter function. Does your measured value for each channel fall within the range you calculated in the question 6?</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rPr lang="en" sz="1500"/>
              <a:t>(c) Slowly sweep a flashlight beam (the one on your phone is fine) across the two sensors and observe how the voltages change. Note the maximum and minimum voltages. How do they compare to your theoretical maximum and minimum voltages?</a:t>
            </a:r>
            <a:endParaRPr sz="1500"/>
          </a:p>
          <a:p>
            <a:pPr indent="0" lvl="0" marL="0" rtl="0" algn="l">
              <a:spcBef>
                <a:spcPts val="0"/>
              </a:spcBef>
              <a:spcAft>
                <a:spcPts val="0"/>
              </a:spcAft>
              <a:buNone/>
            </a:pPr>
            <a:r>
              <a:t/>
            </a:r>
            <a:endParaRPr/>
          </a:p>
        </p:txBody>
      </p:sp>
      <p:pic>
        <p:nvPicPr>
          <p:cNvPr id="194" name="Google Shape;194;p36"/>
          <p:cNvPicPr preferRelativeResize="0"/>
          <p:nvPr/>
        </p:nvPicPr>
        <p:blipFill>
          <a:blip r:embed="rId3">
            <a:alphaModFix/>
          </a:blip>
          <a:stretch>
            <a:fillRect/>
          </a:stretch>
        </p:blipFill>
        <p:spPr>
          <a:xfrm>
            <a:off x="5334128" y="1539656"/>
            <a:ext cx="3344251" cy="486124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pic>
        <p:nvPicPr>
          <p:cNvPr id="199" name="Google Shape;199;p37"/>
          <p:cNvPicPr preferRelativeResize="0"/>
          <p:nvPr/>
        </p:nvPicPr>
        <p:blipFill>
          <a:blip r:embed="rId3">
            <a:alphaModFix/>
          </a:blip>
          <a:stretch>
            <a:fillRect/>
          </a:stretch>
        </p:blipFill>
        <p:spPr>
          <a:xfrm>
            <a:off x="3380676" y="1356874"/>
            <a:ext cx="4694274" cy="4991873"/>
          </a:xfrm>
          <a:prstGeom prst="rect">
            <a:avLst/>
          </a:prstGeom>
          <a:noFill/>
          <a:ln>
            <a:noFill/>
          </a:ln>
        </p:spPr>
      </p:pic>
      <p:sp>
        <p:nvSpPr>
          <p:cNvPr id="200" name="Google Shape;200;p37"/>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Review: servo test setup</a:t>
            </a:r>
            <a:endParaRPr/>
          </a:p>
        </p:txBody>
      </p:sp>
      <p:sp>
        <p:nvSpPr>
          <p:cNvPr id="201" name="Google Shape;201;p37"/>
          <p:cNvSpPr txBox="1"/>
          <p:nvPr/>
        </p:nvSpPr>
        <p:spPr>
          <a:xfrm>
            <a:off x="2369825" y="5761225"/>
            <a:ext cx="1028100" cy="533700"/>
          </a:xfrm>
          <a:prstGeom prst="rect">
            <a:avLst/>
          </a:prstGeom>
          <a:solidFill>
            <a:srgbClr val="999999"/>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800">
                <a:solidFill>
                  <a:srgbClr val="980000"/>
                </a:solidFill>
              </a:rPr>
              <a:t>Brown ➝ GND</a:t>
            </a:r>
            <a:endParaRPr b="1" sz="800">
              <a:solidFill>
                <a:srgbClr val="980000"/>
              </a:solidFill>
            </a:endParaRPr>
          </a:p>
          <a:p>
            <a:pPr indent="0" lvl="0" marL="0" rtl="0" algn="l">
              <a:lnSpc>
                <a:spcPct val="100000"/>
              </a:lnSpc>
              <a:spcBef>
                <a:spcPts val="0"/>
              </a:spcBef>
              <a:spcAft>
                <a:spcPts val="0"/>
              </a:spcAft>
              <a:buNone/>
            </a:pPr>
            <a:r>
              <a:rPr b="1" lang="en" sz="800">
                <a:solidFill>
                  <a:srgbClr val="FF9900"/>
                </a:solidFill>
              </a:rPr>
              <a:t>Orange ➝ power</a:t>
            </a:r>
            <a:endParaRPr b="1" sz="800">
              <a:solidFill>
                <a:srgbClr val="FF9900"/>
              </a:solidFill>
            </a:endParaRPr>
          </a:p>
          <a:p>
            <a:pPr indent="0" lvl="0" marL="0" rtl="0" algn="l">
              <a:lnSpc>
                <a:spcPct val="100000"/>
              </a:lnSpc>
              <a:spcBef>
                <a:spcPts val="0"/>
              </a:spcBef>
              <a:spcAft>
                <a:spcPts val="0"/>
              </a:spcAft>
              <a:buNone/>
            </a:pPr>
            <a:r>
              <a:rPr b="1" lang="en" sz="800">
                <a:solidFill>
                  <a:srgbClr val="FFFF00"/>
                </a:solidFill>
              </a:rPr>
              <a:t>Yellow ➝ PWM</a:t>
            </a:r>
            <a:endParaRPr b="1" sz="800">
              <a:solidFill>
                <a:srgbClr val="FFFF00"/>
              </a:solidFill>
            </a:endParaRPr>
          </a:p>
        </p:txBody>
      </p:sp>
      <p:sp>
        <p:nvSpPr>
          <p:cNvPr id="202" name="Google Shape;202;p37"/>
          <p:cNvSpPr txBox="1"/>
          <p:nvPr>
            <p:ph idx="1" type="body"/>
          </p:nvPr>
        </p:nvSpPr>
        <p:spPr>
          <a:xfrm>
            <a:off x="311700" y="1356875"/>
            <a:ext cx="3797700" cy="359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rPr>
              <a:t>The 7805 linear voltage regulator on the powerboard converts 9V external supply to 5V, up to 1.5A.  </a:t>
            </a:r>
            <a:endParaRPr sz="1600">
              <a:solidFill>
                <a:schemeClr val="dk1"/>
              </a:solidFill>
            </a:endParaRPr>
          </a:p>
          <a:p>
            <a:pPr indent="0" lvl="0" marL="0" rtl="0" algn="l">
              <a:spcBef>
                <a:spcPts val="1600"/>
              </a:spcBef>
              <a:spcAft>
                <a:spcPts val="0"/>
              </a:spcAft>
              <a:buNone/>
            </a:pPr>
            <a:r>
              <a:rPr lang="en" sz="1600">
                <a:solidFill>
                  <a:srgbClr val="000000"/>
                </a:solidFill>
              </a:rPr>
              <a:t>Pot → ADC → PWM controls the servo.  Use the code from Day15_servo_template.c that you completed last class.</a:t>
            </a:r>
            <a:endParaRPr sz="1600">
              <a:solidFill>
                <a:srgbClr val="000000"/>
              </a:solidFill>
            </a:endParaRPr>
          </a:p>
          <a:p>
            <a:pPr indent="0" lvl="0" marL="0" rtl="0" algn="l">
              <a:spcBef>
                <a:spcPts val="1600"/>
              </a:spcBef>
              <a:spcAft>
                <a:spcPts val="1600"/>
              </a:spcAft>
              <a:buNone/>
            </a:pPr>
            <a:r>
              <a:rPr lang="en" sz="1600">
                <a:solidFill>
                  <a:srgbClr val="0000FF"/>
                </a:solidFill>
              </a:rPr>
              <a:t>We'll now add the photocells to the tracker arm of your servo motor.</a:t>
            </a:r>
            <a:endParaRPr sz="1600">
              <a:solidFill>
                <a:srgbClr val="0000FF"/>
              </a:solidFill>
            </a:endParaRPr>
          </a:p>
        </p:txBody>
      </p:sp>
      <p:sp>
        <p:nvSpPr>
          <p:cNvPr id="203" name="Google Shape;203;p3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04" name="Google Shape;204;p37"/>
          <p:cNvPicPr preferRelativeResize="0"/>
          <p:nvPr/>
        </p:nvPicPr>
        <p:blipFill>
          <a:blip r:embed="rId4">
            <a:alphaModFix/>
          </a:blip>
          <a:stretch>
            <a:fillRect/>
          </a:stretch>
        </p:blipFill>
        <p:spPr>
          <a:xfrm rot="-5400000">
            <a:off x="7664176" y="4091950"/>
            <a:ext cx="923300" cy="20122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8"/>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Solar Tracker Assembly</a:t>
            </a:r>
            <a:endParaRPr/>
          </a:p>
        </p:txBody>
      </p:sp>
      <p:sp>
        <p:nvSpPr>
          <p:cNvPr id="210" name="Google Shape;210;p3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1" name="Google Shape;211;p38"/>
          <p:cNvSpPr txBox="1"/>
          <p:nvPr/>
        </p:nvSpPr>
        <p:spPr>
          <a:xfrm>
            <a:off x="467375" y="1526450"/>
            <a:ext cx="7704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Remove your photocells from the breadboard and i</a:t>
            </a:r>
            <a:r>
              <a:rPr lang="en"/>
              <a:t>nsert them into the shielding cups on the motorarm, like so:</a:t>
            </a:r>
            <a:endParaRPr/>
          </a:p>
        </p:txBody>
      </p:sp>
      <p:pic>
        <p:nvPicPr>
          <p:cNvPr id="212" name="Google Shape;212;p38"/>
          <p:cNvPicPr preferRelativeResize="0"/>
          <p:nvPr/>
        </p:nvPicPr>
        <p:blipFill>
          <a:blip r:embed="rId3">
            <a:alphaModFix/>
          </a:blip>
          <a:stretch>
            <a:fillRect/>
          </a:stretch>
        </p:blipFill>
        <p:spPr>
          <a:xfrm>
            <a:off x="2024500" y="2142050"/>
            <a:ext cx="4668267" cy="44111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9"/>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Solar Tracker Assembly, continued</a:t>
            </a:r>
            <a:endParaRPr/>
          </a:p>
        </p:txBody>
      </p:sp>
      <p:sp>
        <p:nvSpPr>
          <p:cNvPr id="218" name="Google Shape;218;p3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9" name="Google Shape;219;p39"/>
          <p:cNvSpPr txBox="1"/>
          <p:nvPr/>
        </p:nvSpPr>
        <p:spPr>
          <a:xfrm>
            <a:off x="418475" y="1356875"/>
            <a:ext cx="7704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Use alligator-to-breadboard clips to make the electrical connections between the leads of the photosensors and your breadboard:</a:t>
            </a:r>
            <a:endParaRPr/>
          </a:p>
        </p:txBody>
      </p:sp>
      <p:pic>
        <p:nvPicPr>
          <p:cNvPr id="220" name="Google Shape;220;p39"/>
          <p:cNvPicPr preferRelativeResize="0"/>
          <p:nvPr/>
        </p:nvPicPr>
        <p:blipFill>
          <a:blip r:embed="rId3">
            <a:alphaModFix/>
          </a:blip>
          <a:stretch>
            <a:fillRect/>
          </a:stretch>
        </p:blipFill>
        <p:spPr>
          <a:xfrm>
            <a:off x="990650" y="2103925"/>
            <a:ext cx="6113247" cy="45807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pic>
        <p:nvPicPr>
          <p:cNvPr id="225" name="Google Shape;225;p40"/>
          <p:cNvPicPr preferRelativeResize="0"/>
          <p:nvPr/>
        </p:nvPicPr>
        <p:blipFill>
          <a:blip r:embed="rId3">
            <a:alphaModFix/>
          </a:blip>
          <a:stretch>
            <a:fillRect/>
          </a:stretch>
        </p:blipFill>
        <p:spPr>
          <a:xfrm>
            <a:off x="3443375" y="1713750"/>
            <a:ext cx="4728825" cy="5028575"/>
          </a:xfrm>
          <a:prstGeom prst="rect">
            <a:avLst/>
          </a:prstGeom>
          <a:noFill/>
          <a:ln>
            <a:noFill/>
          </a:ln>
        </p:spPr>
      </p:pic>
      <p:sp>
        <p:nvSpPr>
          <p:cNvPr id="226" name="Google Shape;226;p40"/>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Solar Tracker Assembly, last step</a:t>
            </a:r>
            <a:endParaRPr/>
          </a:p>
        </p:txBody>
      </p:sp>
      <p:sp>
        <p:nvSpPr>
          <p:cNvPr id="227" name="Google Shape;227;p4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8" name="Google Shape;228;p40"/>
          <p:cNvSpPr txBox="1"/>
          <p:nvPr/>
        </p:nvSpPr>
        <p:spPr>
          <a:xfrm>
            <a:off x="361275" y="1356875"/>
            <a:ext cx="77049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rgbClr val="434343"/>
                </a:solidFill>
              </a:rPr>
              <a:t>Connect the leads of the alligator clips to your breadboard to recreate the photocell circuit from earlier in the lab.</a:t>
            </a:r>
            <a:endParaRPr sz="1600">
              <a:solidFill>
                <a:srgbClr val="434343"/>
              </a:solidFill>
            </a:endParaRPr>
          </a:p>
        </p:txBody>
      </p:sp>
      <p:sp>
        <p:nvSpPr>
          <p:cNvPr id="229" name="Google Shape;229;p40"/>
          <p:cNvSpPr txBox="1"/>
          <p:nvPr/>
        </p:nvSpPr>
        <p:spPr>
          <a:xfrm>
            <a:off x="409600" y="2512425"/>
            <a:ext cx="3855000" cy="1317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n" sz="1600">
                <a:solidFill>
                  <a:srgbClr val="595959"/>
                </a:solidFill>
              </a:rPr>
              <a:t>After you’ve confirmed that your servo (still) works properly with the pot in Part 2 of the lab handout, you can remove the pot.</a:t>
            </a:r>
            <a:endParaRPr sz="1600">
              <a:solidFill>
                <a:srgbClr val="595959"/>
              </a:solidFill>
            </a:endParaRPr>
          </a:p>
        </p:txBody>
      </p:sp>
      <p:sp>
        <p:nvSpPr>
          <p:cNvPr id="230" name="Google Shape;230;p40"/>
          <p:cNvSpPr/>
          <p:nvPr/>
        </p:nvSpPr>
        <p:spPr>
          <a:xfrm>
            <a:off x="5116300" y="5209650"/>
            <a:ext cx="800100" cy="199200"/>
          </a:xfrm>
          <a:prstGeom prst="rect">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40"/>
          <p:cNvSpPr txBox="1"/>
          <p:nvPr/>
        </p:nvSpPr>
        <p:spPr>
          <a:xfrm>
            <a:off x="2972450" y="4343825"/>
            <a:ext cx="17727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0000FF"/>
                </a:solidFill>
              </a:rPr>
              <a:t>Physically</a:t>
            </a:r>
            <a:r>
              <a:rPr lang="en">
                <a:solidFill>
                  <a:srgbClr val="0000FF"/>
                </a:solidFill>
              </a:rPr>
              <a:t> located in the cups of your tracker arm</a:t>
            </a:r>
            <a:endParaRPr>
              <a:solidFill>
                <a:srgbClr val="0000FF"/>
              </a:solidFill>
            </a:endParaRPr>
          </a:p>
        </p:txBody>
      </p:sp>
      <p:cxnSp>
        <p:nvCxnSpPr>
          <p:cNvPr id="232" name="Google Shape;232;p40"/>
          <p:cNvCxnSpPr>
            <a:endCxn id="230" idx="1"/>
          </p:cNvCxnSpPr>
          <p:nvPr/>
        </p:nvCxnSpPr>
        <p:spPr>
          <a:xfrm>
            <a:off x="3985000" y="4920450"/>
            <a:ext cx="1131300" cy="388800"/>
          </a:xfrm>
          <a:prstGeom prst="straightConnector1">
            <a:avLst/>
          </a:prstGeom>
          <a:noFill/>
          <a:ln cap="flat" cmpd="sng" w="28575">
            <a:solidFill>
              <a:srgbClr val="0000FF"/>
            </a:solidFill>
            <a:prstDash val="solid"/>
            <a:round/>
            <a:headEnd len="med" w="med" type="none"/>
            <a:tailEnd len="med" w="med" type="triangle"/>
          </a:ln>
        </p:spPr>
      </p:cxnSp>
      <p:pic>
        <p:nvPicPr>
          <p:cNvPr id="233" name="Google Shape;233;p40"/>
          <p:cNvPicPr preferRelativeResize="0"/>
          <p:nvPr/>
        </p:nvPicPr>
        <p:blipFill>
          <a:blip r:embed="rId4">
            <a:alphaModFix/>
          </a:blip>
          <a:stretch>
            <a:fillRect/>
          </a:stretch>
        </p:blipFill>
        <p:spPr>
          <a:xfrm rot="-5400000">
            <a:off x="7763551" y="4509200"/>
            <a:ext cx="923300" cy="20122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pic>
        <p:nvPicPr>
          <p:cNvPr id="238" name="Google Shape;238;p41"/>
          <p:cNvPicPr preferRelativeResize="0"/>
          <p:nvPr/>
        </p:nvPicPr>
        <p:blipFill rotWithShape="1">
          <a:blip r:embed="rId3">
            <a:alphaModFix/>
          </a:blip>
          <a:srcRect b="7433" l="0" r="0" t="7424"/>
          <a:stretch/>
        </p:blipFill>
        <p:spPr>
          <a:xfrm>
            <a:off x="1200880" y="431125"/>
            <a:ext cx="6970645" cy="6311201"/>
          </a:xfrm>
          <a:prstGeom prst="rect">
            <a:avLst/>
          </a:prstGeom>
          <a:noFill/>
          <a:ln>
            <a:noFill/>
          </a:ln>
        </p:spPr>
      </p:pic>
      <p:sp>
        <p:nvSpPr>
          <p:cNvPr id="239" name="Google Shape;239;p41"/>
          <p:cNvSpPr txBox="1"/>
          <p:nvPr>
            <p:ph type="title"/>
          </p:nvPr>
        </p:nvSpPr>
        <p:spPr>
          <a:xfrm>
            <a:off x="311700" y="1785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Ultimate Setup</a:t>
            </a:r>
            <a:endParaRPr/>
          </a:p>
        </p:txBody>
      </p:sp>
      <p:sp>
        <p:nvSpPr>
          <p:cNvPr id="240" name="Google Shape;240;p4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41" name="Google Shape;241;p41"/>
          <p:cNvPicPr preferRelativeResize="0"/>
          <p:nvPr/>
        </p:nvPicPr>
        <p:blipFill>
          <a:blip r:embed="rId4">
            <a:alphaModFix/>
          </a:blip>
          <a:stretch>
            <a:fillRect/>
          </a:stretch>
        </p:blipFill>
        <p:spPr>
          <a:xfrm rot="-5400000">
            <a:off x="7492463" y="4248112"/>
            <a:ext cx="1073650" cy="23398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42"/>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Read "A Solar Tracker" in the lab handout</a:t>
            </a:r>
            <a:endParaRPr/>
          </a:p>
        </p:txBody>
      </p:sp>
      <p:sp>
        <p:nvSpPr>
          <p:cNvPr id="247" name="Google Shape;247;p42"/>
          <p:cNvSpPr txBox="1"/>
          <p:nvPr>
            <p:ph idx="1" type="body"/>
          </p:nvPr>
        </p:nvSpPr>
        <p:spPr>
          <a:xfrm>
            <a:off x="311700" y="2658457"/>
            <a:ext cx="8520600" cy="5625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2200">
                <a:solidFill>
                  <a:srgbClr val="0000FF"/>
                </a:solidFill>
              </a:rPr>
              <a:t>Discuss at your table how you might implement the feedback loop.</a:t>
            </a:r>
            <a:endParaRPr sz="2200">
              <a:solidFill>
                <a:srgbClr val="0000FF"/>
              </a:solidFill>
            </a:endParaRPr>
          </a:p>
        </p:txBody>
      </p:sp>
      <p:sp>
        <p:nvSpPr>
          <p:cNvPr id="248" name="Google Shape;248;p4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3"/>
          <p:cNvSpPr txBox="1"/>
          <p:nvPr>
            <p:ph type="title"/>
          </p:nvPr>
        </p:nvSpPr>
        <p:spPr>
          <a:xfrm>
            <a:off x="2160900" y="397900"/>
            <a:ext cx="6741000" cy="615000"/>
          </a:xfrm>
          <a:prstGeom prst="rect">
            <a:avLst/>
          </a:prstGeom>
        </p:spPr>
        <p:txBody>
          <a:bodyPr anchorCtr="0" anchor="b" bIns="0" lIns="0" spcFirstLastPara="1" rIns="0" wrap="square" tIns="0">
            <a:normAutofit/>
          </a:bodyPr>
          <a:lstStyle/>
          <a:p>
            <a:pPr indent="0" lvl="0" marL="0" rtl="0" algn="l">
              <a:spcBef>
                <a:spcPts val="0"/>
              </a:spcBef>
              <a:spcAft>
                <a:spcPts val="0"/>
              </a:spcAft>
              <a:buNone/>
            </a:pPr>
            <a:r>
              <a:rPr lang="en" sz="3500">
                <a:solidFill>
                  <a:srgbClr val="274E13"/>
                </a:solidFill>
              </a:rPr>
              <a:t>Student Feedback Survey</a:t>
            </a:r>
            <a:endParaRPr sz="3500">
              <a:solidFill>
                <a:srgbClr val="274E13"/>
              </a:solidFill>
            </a:endParaRPr>
          </a:p>
        </p:txBody>
      </p:sp>
      <p:sp>
        <p:nvSpPr>
          <p:cNvPr id="254" name="Google Shape;254;p43"/>
          <p:cNvSpPr txBox="1"/>
          <p:nvPr>
            <p:ph idx="1" type="body"/>
          </p:nvPr>
        </p:nvSpPr>
        <p:spPr>
          <a:xfrm>
            <a:off x="241125" y="2489450"/>
            <a:ext cx="4862400" cy="3903000"/>
          </a:xfrm>
          <a:prstGeom prst="rect">
            <a:avLst/>
          </a:prstGeom>
        </p:spPr>
        <p:txBody>
          <a:bodyPr anchorCtr="0" anchor="t" bIns="0" lIns="0" spcFirstLastPara="1" rIns="0" wrap="square" tIns="0">
            <a:noAutofit/>
          </a:bodyPr>
          <a:lstStyle/>
          <a:p>
            <a:pPr indent="-368300" lvl="0" marL="457200" rtl="0" algn="l">
              <a:spcBef>
                <a:spcPts val="500"/>
              </a:spcBef>
              <a:spcAft>
                <a:spcPts val="0"/>
              </a:spcAft>
              <a:buSzPts val="2200"/>
              <a:buChar char="●"/>
            </a:pPr>
            <a:r>
              <a:rPr lang="en" sz="2200"/>
              <a:t>I am a Gen AI Teaching grantee this term.</a:t>
            </a:r>
            <a:endParaRPr sz="2200"/>
          </a:p>
          <a:p>
            <a:pPr indent="-368300" lvl="0" marL="457200" rtl="0" algn="l">
              <a:spcBef>
                <a:spcPts val="0"/>
              </a:spcBef>
              <a:spcAft>
                <a:spcPts val="0"/>
              </a:spcAft>
              <a:buSzPts val="2200"/>
              <a:buChar char="●"/>
            </a:pPr>
            <a:r>
              <a:rPr lang="en" sz="2200"/>
              <a:t>This survey is to gather feedback on the intervention (aka HiTA) in this course. </a:t>
            </a:r>
            <a:endParaRPr sz="2200"/>
          </a:p>
          <a:p>
            <a:pPr indent="-368300" lvl="0" marL="457200" rtl="0" algn="l">
              <a:spcBef>
                <a:spcPts val="0"/>
              </a:spcBef>
              <a:spcAft>
                <a:spcPts val="0"/>
              </a:spcAft>
              <a:buSzPts val="2200"/>
              <a:buChar char="●"/>
            </a:pPr>
            <a:r>
              <a:rPr lang="en" sz="2200"/>
              <a:t>This should take you approximately 5 minutes. </a:t>
            </a:r>
            <a:endParaRPr sz="2200"/>
          </a:p>
          <a:p>
            <a:pPr indent="-368300" lvl="0" marL="457200" rtl="0" algn="l">
              <a:spcBef>
                <a:spcPts val="0"/>
              </a:spcBef>
              <a:spcAft>
                <a:spcPts val="0"/>
              </a:spcAft>
              <a:buSzPts val="2200"/>
              <a:buChar char="●"/>
            </a:pPr>
            <a:r>
              <a:rPr lang="en" sz="2200"/>
              <a:t>Your answers are anonymous and will be shared in aggregate with me after the term has ended.</a:t>
            </a:r>
            <a:endParaRPr sz="2200"/>
          </a:p>
        </p:txBody>
      </p:sp>
      <p:sp>
        <p:nvSpPr>
          <p:cNvPr id="255" name="Google Shape;255;p43"/>
          <p:cNvSpPr txBox="1"/>
          <p:nvPr/>
        </p:nvSpPr>
        <p:spPr>
          <a:xfrm>
            <a:off x="5370038" y="1878767"/>
            <a:ext cx="3216300" cy="73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100">
                <a:solidFill>
                  <a:srgbClr val="274E13"/>
                </a:solidFill>
              </a:rPr>
              <a:t>dartgo.org/genaifeedback</a:t>
            </a:r>
            <a:endParaRPr sz="2100">
              <a:solidFill>
                <a:srgbClr val="274E13"/>
              </a:solidFill>
            </a:endParaRPr>
          </a:p>
        </p:txBody>
      </p:sp>
      <p:pic>
        <p:nvPicPr>
          <p:cNvPr id="256" name="Google Shape;256;p43" title="t&amp;l-logo.png"/>
          <p:cNvPicPr preferRelativeResize="0"/>
          <p:nvPr/>
        </p:nvPicPr>
        <p:blipFill>
          <a:blip r:embed="rId3">
            <a:alphaModFix/>
          </a:blip>
          <a:stretch>
            <a:fillRect/>
          </a:stretch>
        </p:blipFill>
        <p:spPr>
          <a:xfrm>
            <a:off x="156800" y="176667"/>
            <a:ext cx="1701750" cy="1701750"/>
          </a:xfrm>
          <a:prstGeom prst="rect">
            <a:avLst/>
          </a:prstGeom>
          <a:noFill/>
          <a:ln>
            <a:noFill/>
          </a:ln>
        </p:spPr>
      </p:pic>
      <p:pic>
        <p:nvPicPr>
          <p:cNvPr id="257" name="Google Shape;257;p43"/>
          <p:cNvPicPr preferRelativeResize="0"/>
          <p:nvPr/>
        </p:nvPicPr>
        <p:blipFill>
          <a:blip r:embed="rId4">
            <a:alphaModFix/>
          </a:blip>
          <a:stretch>
            <a:fillRect/>
          </a:stretch>
        </p:blipFill>
        <p:spPr>
          <a:xfrm>
            <a:off x="5539987" y="2616367"/>
            <a:ext cx="2876425" cy="28764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