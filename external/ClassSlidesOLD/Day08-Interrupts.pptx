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BD56B2-36C9-4701-B58B-BE0416E132BA}">
  <a:tblStyle styleId="{E5BD56B2-36C9-4701-B58B-BE0416E132B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4c599549a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4c599549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930f82e287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930f82e28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44ff18026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44ff1802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44ff18026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c44ff1802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Register to store the count. It's clocked. Every time the clock ticks the timer updates. You set the clock speed in the initialization process.</a:t>
            </a:r>
            <a:endParaRPr/>
          </a:p>
          <a:p>
            <a:pPr indent="0" lvl="0" marL="0" rtl="0" algn="l">
              <a:spcBef>
                <a:spcPts val="0"/>
              </a:spcBef>
              <a:spcAft>
                <a:spcPts val="0"/>
              </a:spcAft>
              <a:buNone/>
            </a:pPr>
            <a:r>
              <a:rPr lang="en"/>
              <a:t>The register that stores the counter is 16 bit, it can count from 0 to anywhere &lt;  2^16 is (65,536).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Couple things can happen: can take current value and increase by 1 (increment the counter): clock ticks, the register updates. At the next clock tick it's updated again,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counters also enable you to decrement instead of incrementing (not TIM14). All on our chip enable you to zero the counter at certain events.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parts: register and incrementer.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44ff18026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44ff1802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Inside the microcontroller: counter register is TCNT (Timer Counter) n (n = 0, 1, 2).</a:t>
            </a:r>
            <a:endParaRPr/>
          </a:p>
          <a:p>
            <a:pPr indent="0" lvl="0" marL="0" rtl="0" algn="l">
              <a:spcBef>
                <a:spcPts val="0"/>
              </a:spcBef>
              <a:spcAft>
                <a:spcPts val="0"/>
              </a:spcAft>
              <a:buNone/>
            </a:pPr>
            <a:r>
              <a:rPr lang="en"/>
              <a:t>As it counts, there are a couple things it can do:</a:t>
            </a:r>
            <a:endParaRPr/>
          </a:p>
          <a:p>
            <a:pPr indent="-298450" lvl="0" marL="457200" rtl="0" algn="l">
              <a:spcBef>
                <a:spcPts val="0"/>
              </a:spcBef>
              <a:spcAft>
                <a:spcPts val="0"/>
              </a:spcAft>
              <a:buSzPts val="1100"/>
              <a:buChar char="-"/>
            </a:pPr>
            <a:r>
              <a:rPr lang="en"/>
              <a:t>Have it compare its value to a number you have stored in a register. Suppose you wanted to count to 100. Then you could use the 8-bit counter, but instead of having it count to 255 you'd store 100 in the output compare register (OCR). Comparator will compare the numbers. When the counter gets to that number it does something (generate interrupt, etc)</a:t>
            </a:r>
            <a:endParaRPr/>
          </a:p>
          <a:p>
            <a:pPr indent="-298450" lvl="0" marL="457200" rtl="0" algn="l">
              <a:spcBef>
                <a:spcPts val="0"/>
              </a:spcBef>
              <a:spcAft>
                <a:spcPts val="0"/>
              </a:spcAft>
              <a:buSzPts val="1100"/>
              <a:buChar char="-"/>
            </a:pPr>
            <a:r>
              <a:rPr lang="en"/>
              <a:t>Can tell it to do something when it reaches its top value (TOP), so when the counter overflows.</a:t>
            </a:r>
            <a:endParaRPr/>
          </a:p>
          <a:p>
            <a:pPr indent="-298450" lvl="0" marL="457200" rtl="0" algn="l">
              <a:spcBef>
                <a:spcPts val="0"/>
              </a:spcBef>
              <a:spcAft>
                <a:spcPts val="0"/>
              </a:spcAft>
              <a:buSzPts val="1100"/>
              <a:buChar char="-"/>
            </a:pPr>
            <a:r>
              <a:rPr lang="en"/>
              <a:t>When counting down can tell it to do something when it reaches 0.</a:t>
            </a:r>
            <a:endParaRPr/>
          </a:p>
          <a:p>
            <a:pPr indent="-298450" lvl="0" marL="457200" rtl="0" algn="l">
              <a:spcBef>
                <a:spcPts val="0"/>
              </a:spcBef>
              <a:spcAft>
                <a:spcPts val="0"/>
              </a:spcAft>
              <a:buSzPts val="1100"/>
              <a:buChar char="-"/>
            </a:pPr>
            <a:r>
              <a:rPr lang="en"/>
              <a:t>Timer overflow interrupt gets thrown when overflow is reached.</a:t>
            </a:r>
            <a:endParaRPr/>
          </a:p>
          <a:p>
            <a:pPr indent="-298450" lvl="0" marL="457200" rtl="0" algn="l">
              <a:spcBef>
                <a:spcPts val="0"/>
              </a:spcBef>
              <a:spcAft>
                <a:spcPts val="0"/>
              </a:spcAft>
              <a:buSzPts val="1100"/>
              <a:buChar char="-"/>
            </a:pPr>
            <a:r>
              <a:rPr lang="en"/>
              <a:t>Output compare interrupt occurs when timer reaches value in OCR (if so chosen). Those are two different interrupts.</a:t>
            </a:r>
            <a:endParaRPr/>
          </a:p>
          <a:p>
            <a:pPr indent="0" lvl="0" marL="0" rtl="0" algn="l">
              <a:spcBef>
                <a:spcPts val="0"/>
              </a:spcBef>
              <a:spcAft>
                <a:spcPts val="0"/>
              </a:spcAft>
              <a:buNone/>
            </a:pPr>
            <a:r>
              <a:rPr lang="en"/>
              <a:t>Each timer/counter has two comparison value registers, so you could in principle have one counter that interrupts both at 100 and also at 150. Seems difficult to think about, so have never used that personally…</a:t>
            </a:r>
            <a:endParaRPr/>
          </a:p>
          <a:p>
            <a:pPr indent="0" lvl="0" marL="0" rtl="0" algn="l">
              <a:spcBef>
                <a:spcPts val="0"/>
              </a:spcBef>
              <a:spcAft>
                <a:spcPts val="0"/>
              </a:spcAft>
              <a:buNone/>
            </a:pPr>
            <a:r>
              <a:rPr lang="en"/>
              <a:t>It can do other things that we'll learn about in a few weeks.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general functionality: Counter counts, generates interrupt when it reaches a specified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control registers that set the various options (clock speed, what happens when it times out - reset or done? etc)</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44ff18026_0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44ff1802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44ff18026_0_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44ff1802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Asserting an output for a desired amount of time: you can have an output pin that you hold high for a specified amount of time and then low for a specified time. So just like blinky but without wasting any processor time. You don't have to sit there and generate the high and low signals in code. Rather, it's all done in the hardware. This will be incredibly important next week when we talk about motors.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time how long an input is asserted. How long is the signal high for? Start the timer when the signal goes high, stop the timer when the signal goes low, read the counter register value and do the math. Really useful when we make a tachometer for our motor.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c44ff18026_0_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c44ff1802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don't program the timer with the amount of time. Rather, you tell it the rate at which to count and how many counts it'll take to get to your desired time.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44ff18026_0_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44ff18026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44ff18026_0_1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44ff1802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Have to do some math…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12,000,000 * 0.5 = 6,000,000 clock cycles. So we'd like to load 6,000,000 into the auto-reload register. What problem do you see with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we need to divide down that clock.</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44ff18026_0_10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44ff1802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44ff18026_0_1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c44ff1802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 / 10,000 = 600</a:t>
            </a:r>
            <a:endParaRPr/>
          </a:p>
          <a:p>
            <a:pPr indent="0" lvl="0" marL="0" rtl="0" algn="l">
              <a:spcBef>
                <a:spcPts val="0"/>
              </a:spcBef>
              <a:spcAft>
                <a:spcPts val="0"/>
              </a:spcAft>
              <a:buNone/>
            </a:pPr>
            <a:r>
              <a:rPr lang="en"/>
              <a:t>6,000,000 / 6000 = 1000</a:t>
            </a:r>
            <a:endParaRPr/>
          </a:p>
          <a:p>
            <a:pPr indent="0" lvl="0" marL="0" rtl="0" algn="l">
              <a:spcBef>
                <a:spcPts val="0"/>
              </a:spcBef>
              <a:spcAft>
                <a:spcPts val="0"/>
              </a:spcAft>
              <a:buNone/>
            </a:pPr>
            <a:r>
              <a:rPr lang="en"/>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44ff18026_0_1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c44ff18026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6,000,000 / 10,000 = 600</a:t>
            </a:r>
            <a:endParaRPr/>
          </a:p>
          <a:p>
            <a:pPr indent="0" lvl="0" marL="0" rtl="0" algn="l">
              <a:spcBef>
                <a:spcPts val="0"/>
              </a:spcBef>
              <a:spcAft>
                <a:spcPts val="0"/>
              </a:spcAft>
              <a:buNone/>
            </a:pPr>
            <a:r>
              <a:rPr lang="en"/>
              <a:t>6,000,000 / 6000 = 1000</a:t>
            </a:r>
            <a:endParaRPr/>
          </a:p>
          <a:p>
            <a:pPr indent="0" lvl="0" marL="0" rtl="0" algn="l">
              <a:spcBef>
                <a:spcPts val="0"/>
              </a:spcBef>
              <a:spcAft>
                <a:spcPts val="0"/>
              </a:spcAft>
              <a:buNone/>
            </a:pPr>
            <a:r>
              <a:rPr lang="en"/>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44ff18026_0_1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44ff1802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44ff18026_0_1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c44ff18026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c44ff18026_0_1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c44ff18026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44ff18026_0_3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c44ff18026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44ff18026_0_2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c44ff18026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the issue isn't as grave as with a rc_w1 bit, since writing a 1 has no effect. Writing a 0 to any bit that was already 0 just keeps it 0, and writing a 1 to any bit that was already 1 has no effect. But: The &amp;= solution could still suffer from a race condition if another bit got modified via an interrupt in the middle of this operation.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45863cc8b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c45863cc8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45863cc8b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c45863cc8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c45863cc8b_0_1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c45863cc8b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6335eeb4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6335eeb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44ff18026_0_2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44ff18026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Status registers in peripherals are "changed from inside", i.e. hardware changes their values (usually single bits) indicating various state changes of the hardware, the change is "acknowledged" by the user by writing a certain value to the same register.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44ff18026_0_2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c44ff18026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44ff18026_0_2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c44ff18026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b7e5fddcde_1_2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b7e5fddcde_1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Issues: If the button is pressed and released during the 1-second delay period it won't register as a reset.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7e5fddcde_1_2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7e5fddcde_1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b7e5fddcde_1_2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b7e5fddcde_1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b7e5fddcde_1_2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b7e5fddcde_1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b7e5fddcde_1_2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b7e5fddcde_1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f</a:t>
            </a:r>
            <a:r>
              <a:rPr lang="en" sz="1600"/>
              <a:t>lash : where program is stored</a:t>
            </a:r>
            <a:endParaRPr sz="1600"/>
          </a:p>
          <a:p>
            <a:pPr indent="0" lvl="0" marL="0" rtl="0" algn="l">
              <a:spcBef>
                <a:spcPts val="0"/>
              </a:spcBef>
              <a:spcAft>
                <a:spcPts val="0"/>
              </a:spcAft>
              <a:buNone/>
            </a:pPr>
            <a:r>
              <a:rPr lang="en" sz="1600"/>
              <a:t>Program counter points at next instruction to be executed</a:t>
            </a:r>
            <a:endParaRPr sz="1600"/>
          </a:p>
          <a:p>
            <a:pPr indent="0" lvl="0" marL="0" rtl="0" algn="l">
              <a:spcBef>
                <a:spcPts val="0"/>
              </a:spcBef>
              <a:spcAft>
                <a:spcPts val="0"/>
              </a:spcAft>
              <a:buNone/>
            </a:pPr>
            <a:r>
              <a:rPr lang="en" sz="1600"/>
              <a:t>Fetches instruction, puts it into the instruction register, gets decoded and executed (read registers, do arithmetic, do IO, etc). </a:t>
            </a:r>
            <a:endParaRPr sz="1600"/>
          </a:p>
          <a:p>
            <a:pPr indent="0" lvl="0" marL="0" rtl="0" algn="l">
              <a:spcBef>
                <a:spcPts val="0"/>
              </a:spcBef>
              <a:spcAft>
                <a:spcPts val="0"/>
              </a:spcAft>
              <a:buNone/>
            </a:pPr>
            <a:r>
              <a:rPr lang="en" sz="1600"/>
              <a:t>When all done, program counter increments, fetch next instruction , etc.</a:t>
            </a:r>
            <a:endParaRPr sz="16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b7e5fddcde_1_26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b7e5fddcde_1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Save machine state, jump to function, at end of function pop machine state, go to next instruction.</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In flash memory, the code for the function lives in a different location from the main code. The starting address for that function is jumped to at the function call in the main code. At that </a:t>
            </a:r>
            <a:r>
              <a:rPr lang="en" sz="1500"/>
              <a:t>instant</a:t>
            </a:r>
            <a:r>
              <a:rPr lang="en" sz="1500"/>
              <a:t>, the current program counter is pushed onto the stack for later retrieval.</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The way this jump happens is that part of the machine language instruction is the starting address of the function. So normal program flow is hijacked so that the program counter now points to the first </a:t>
            </a:r>
            <a:r>
              <a:rPr lang="en" sz="1500"/>
              <a:t>instruction</a:t>
            </a:r>
            <a:r>
              <a:rPr lang="en" sz="1500"/>
              <a:t> of the function. At the end of the function, the program counter is updated with what was previously pushed onto the stack, namely the address of the next instruction in the main code. Any registers were also pushed onto the stack during the initial jump (machine state was preserved).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So the last instruction in the function is to "pick up where you left off before". Registers get restored off the stack also.</a:t>
            </a:r>
            <a:endParaRPr sz="15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b7e5fddcde_1_27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b7e5fddcde_1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Something very similar happens during an interrupt. It causes a special function to be executed, namely an interrupt service routine.</a:t>
            </a:r>
            <a:endParaRPr sz="1500"/>
          </a:p>
          <a:p>
            <a:pPr indent="0" lvl="0" marL="0" rtl="0" algn="l">
              <a:spcBef>
                <a:spcPts val="0"/>
              </a:spcBef>
              <a:spcAft>
                <a:spcPts val="0"/>
              </a:spcAft>
              <a:buNone/>
            </a:pPr>
            <a:r>
              <a:rPr lang="en" sz="1500"/>
              <a:t>A variety of things on the processor can cause an interrupt. Today: look at pin change interrupt.</a:t>
            </a:r>
            <a:endParaRPr sz="1500"/>
          </a:p>
          <a:p>
            <a:pPr indent="0" lvl="0" marL="0" rtl="0" algn="l">
              <a:spcBef>
                <a:spcPts val="0"/>
              </a:spcBef>
              <a:spcAft>
                <a:spcPts val="0"/>
              </a:spcAft>
              <a:buNone/>
            </a:pPr>
            <a:r>
              <a:rPr lang="en" sz="1500"/>
              <a:t>Interrupt controller sees that an interrupt occurred, checks who interrupted, and based on that loads into the program counter the address from the vector table (a table that holds the starting addresses of the ISRs). From there it hops to the ISR. Interrupt vectors are always in the same spot in flash memory. Compiler fills in the jump-to addresses in that table, based on the length of your ISR code. Sort of like an indirect function call, caused by an external signal. </a:t>
            </a:r>
            <a:endParaRPr sz="1500"/>
          </a:p>
          <a:p>
            <a:pPr indent="0" lvl="0" marL="0" rtl="0" algn="l">
              <a:spcBef>
                <a:spcPts val="0"/>
              </a:spcBef>
              <a:spcAft>
                <a:spcPts val="0"/>
              </a:spcAft>
              <a:buNone/>
            </a:pPr>
            <a:r>
              <a:rPr lang="en" sz="1500"/>
              <a:t>Function call is per usual: save machine state, do your thing, then pop </a:t>
            </a:r>
            <a:r>
              <a:rPr lang="en" sz="1500"/>
              <a:t>machine</a:t>
            </a:r>
            <a:r>
              <a:rPr lang="en" sz="1500"/>
              <a:t> state off the stack, return to previous location.</a:t>
            </a:r>
            <a:endParaRPr sz="1500"/>
          </a:p>
          <a:p>
            <a:pPr indent="0" lvl="0" marL="0" rtl="0" algn="l">
              <a:spcBef>
                <a:spcPts val="0"/>
              </a:spcBef>
              <a:spcAft>
                <a:spcPts val="0"/>
              </a:spcAft>
              <a:buNone/>
            </a:pPr>
            <a:r>
              <a:rPr lang="en" sz="1500"/>
              <a:t>Interrupts can happen at *any* time, even while your code is stuck in a delay_ms. Interrupt is executed, then code returns to the delay_ms.</a:t>
            </a:r>
            <a:endParaRPr sz="15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058b57d252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058b57d2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Something very similar happens during an interrupt. It causes a special function to be executed, namely an interrupt service routine.</a:t>
            </a:r>
            <a:endParaRPr sz="1500"/>
          </a:p>
          <a:p>
            <a:pPr indent="0" lvl="0" marL="0" rtl="0" algn="l">
              <a:spcBef>
                <a:spcPts val="0"/>
              </a:spcBef>
              <a:spcAft>
                <a:spcPts val="0"/>
              </a:spcAft>
              <a:buNone/>
            </a:pPr>
            <a:r>
              <a:rPr lang="en" sz="1500"/>
              <a:t>A variety of things on the processor can cause an interrupt. Today: look at pin change interrupt.</a:t>
            </a:r>
            <a:endParaRPr sz="1500"/>
          </a:p>
          <a:p>
            <a:pPr indent="0" lvl="0" marL="0" rtl="0" algn="l">
              <a:spcBef>
                <a:spcPts val="0"/>
              </a:spcBef>
              <a:spcAft>
                <a:spcPts val="0"/>
              </a:spcAft>
              <a:buNone/>
            </a:pPr>
            <a:r>
              <a:rPr lang="en" sz="1500"/>
              <a:t>Interrupt controller sees that an interrupt occurred, checks who interrupted, and based on that loads into the program counter the address from the vector table (a table that holds the starting addresses of the ISRs). From there it hops to the ISR. Interrupt vectors are always in the same spot in flash memory. Compiler fills in the jump-to addresses in that table, based on the length of your ISR code. Sort of like an indirect function call, caused by an external signal. </a:t>
            </a:r>
            <a:endParaRPr sz="1500"/>
          </a:p>
          <a:p>
            <a:pPr indent="0" lvl="0" marL="0" rtl="0" algn="l">
              <a:spcBef>
                <a:spcPts val="0"/>
              </a:spcBef>
              <a:spcAft>
                <a:spcPts val="0"/>
              </a:spcAft>
              <a:buNone/>
            </a:pPr>
            <a:r>
              <a:rPr lang="en" sz="1500"/>
              <a:t>Function call is per usual: save machine state, do your thing, then pop machine state off the stack, return to previous location.</a:t>
            </a:r>
            <a:endParaRPr sz="1500"/>
          </a:p>
          <a:p>
            <a:pPr indent="0" lvl="0" marL="0" rtl="0" algn="l">
              <a:spcBef>
                <a:spcPts val="0"/>
              </a:spcBef>
              <a:spcAft>
                <a:spcPts val="0"/>
              </a:spcAft>
              <a:buNone/>
            </a:pPr>
            <a:r>
              <a:rPr lang="en" sz="1500"/>
              <a:t>Interrupts can happen at *any* time, even while your code is stuck in a _delay_ms. Interrupt is executed, then code returns to the _delay_ms.</a:t>
            </a:r>
            <a:endParaRPr sz="15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b7e5fddcde_1_2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b7e5fddcde_1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b7e5fddcde_1_5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b7e5fddcde_1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eff8e2fb5f_0_6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eff8e2fb5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eff8e2fb5f_0_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eff8e2fb5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c6335eeb41_0_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c6335eeb4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c6335eeb41_0_1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c6335eeb41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c6335eeb41_0_1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c6335eeb41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b7e5fddcde_1_3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b7e5fddcde_1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IRQ Handler names can be found in startup_stm32c031ctx.s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939e12a72b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939e12a72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b7e5fddcde_1_3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b7e5fddcde_1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b7e5fddcde_1_3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b7e5fddcde_1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b7e5fddcde_1_3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b7e5fddcde_1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b7e5fddcde_1_3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b7e5fddcde_1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939e12a72b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939e12a72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1978c44b6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1978c44b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939e12a72b_0_1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939e12a72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939e12a72b_0_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939e12a72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939e12a72b_0_1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939e12a72b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939e12a72b_0_17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939e12a72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1.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55" name="Google Shape;55;p13"/>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8</a:t>
            </a:r>
            <a:endParaRPr sz="2800">
              <a:solidFill>
                <a:srgbClr val="595959"/>
              </a:solidFill>
              <a:latin typeface="Comic Sans MS"/>
              <a:ea typeface="Comic Sans MS"/>
              <a:cs typeface="Comic Sans MS"/>
              <a:sym typeface="Comic Sans MS"/>
            </a:endParaRPr>
          </a:p>
        </p:txBody>
      </p:sp>
      <p:pic>
        <p:nvPicPr>
          <p:cNvPr id="56" name="Google Shape;56;p13"/>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57" name="Google Shape;57;p13"/>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3587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Feedback…</a:t>
            </a:r>
            <a:endParaRPr/>
          </a:p>
        </p:txBody>
      </p:sp>
      <p:sp>
        <p:nvSpPr>
          <p:cNvPr id="63" name="Google Shape;63;p14"/>
          <p:cNvSpPr txBox="1"/>
          <p:nvPr>
            <p:ph idx="1" type="body"/>
          </p:nvPr>
        </p:nvSpPr>
        <p:spPr>
          <a:xfrm>
            <a:off x="311700" y="1122300"/>
            <a:ext cx="8520600" cy="5352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Sunday and Monday night TA hours tend to be very well attended, whereas other nights are much lighter in attendance.</a:t>
            </a:r>
            <a:br>
              <a:rPr lang="en"/>
            </a:br>
            <a:br>
              <a:rPr lang="en"/>
            </a:br>
            <a:r>
              <a:rPr lang="en"/>
              <a:t>So: If you want to ensure adequate time and help from a TA, start early!</a:t>
            </a:r>
            <a:br>
              <a:rPr lang="en"/>
            </a:br>
            <a:endParaRPr/>
          </a:p>
          <a:p>
            <a:pPr indent="-342900" lvl="0" marL="457200" rtl="0" algn="l">
              <a:spcBef>
                <a:spcPts val="0"/>
              </a:spcBef>
              <a:spcAft>
                <a:spcPts val="0"/>
              </a:spcAft>
              <a:buSzPts val="1800"/>
              <a:buChar char="●"/>
            </a:pPr>
            <a:r>
              <a:rPr lang="en"/>
              <a:t>The  more specific your question is, the better TAs can help you.</a:t>
            </a:r>
            <a:endParaRPr/>
          </a:p>
          <a:p>
            <a:pPr indent="-317500" lvl="1" marL="914400" rtl="0" algn="l">
              <a:spcBef>
                <a:spcPts val="0"/>
              </a:spcBef>
              <a:spcAft>
                <a:spcPts val="0"/>
              </a:spcAft>
              <a:buSzPts val="1400"/>
              <a:buChar char="○"/>
            </a:pPr>
            <a:r>
              <a:rPr lang="en"/>
              <a:t>Instead of: "It's not working!" ask: "Is this the correct logic to poll a pin?"</a:t>
            </a:r>
            <a:br>
              <a:rPr lang="en"/>
            </a:br>
            <a:endParaRPr/>
          </a:p>
          <a:p>
            <a:pPr indent="-342900" lvl="0" marL="457200" rtl="0" algn="l">
              <a:spcBef>
                <a:spcPts val="0"/>
              </a:spcBef>
              <a:spcAft>
                <a:spcPts val="0"/>
              </a:spcAft>
              <a:buSzPts val="1800"/>
              <a:buChar char="●"/>
            </a:pPr>
            <a:r>
              <a:rPr lang="en"/>
              <a:t>Be sure to read the lab handout before asking questions :-) </a:t>
            </a:r>
            <a:br>
              <a:rPr lang="en"/>
            </a:br>
            <a:endParaRPr/>
          </a:p>
          <a:p>
            <a:pPr indent="-342900" lvl="0" marL="457200" rtl="0" algn="l">
              <a:spcBef>
                <a:spcPts val="0"/>
              </a:spcBef>
              <a:spcAft>
                <a:spcPts val="0"/>
              </a:spcAft>
              <a:buSzPts val="1800"/>
              <a:buChar char="●"/>
            </a:pPr>
            <a:r>
              <a:rPr lang="en"/>
              <a:t>It's against the honor code to compare your code against another student's code line-by-line.</a:t>
            </a:r>
            <a:br>
              <a:rPr lang="en"/>
            </a:br>
            <a:endParaRPr/>
          </a:p>
          <a:p>
            <a:pPr indent="-342900" lvl="0" marL="457200" rtl="0" algn="l">
              <a:spcBef>
                <a:spcPts val="0"/>
              </a:spcBef>
              <a:spcAft>
                <a:spcPts val="0"/>
              </a:spcAft>
              <a:buSzPts val="1800"/>
              <a:buChar char="●"/>
            </a:pPr>
            <a:r>
              <a:rPr lang="en"/>
              <a:t>Check your </a:t>
            </a:r>
            <a:r>
              <a:rPr lang="en"/>
              <a:t>submission</a:t>
            </a:r>
            <a:r>
              <a:rPr lang="en"/>
              <a:t>! If you are missing files or submit an empty pdf rather than the one you filled in you will lose points.</a:t>
            </a:r>
            <a:br>
              <a:rPr lang="en"/>
            </a:br>
            <a:endParaRPr/>
          </a:p>
          <a:p>
            <a:pPr indent="-342900" lvl="0" marL="457200" rtl="0" algn="l">
              <a:spcBef>
                <a:spcPts val="0"/>
              </a:spcBef>
              <a:spcAft>
                <a:spcPts val="0"/>
              </a:spcAft>
              <a:buSzPts val="1800"/>
              <a:buChar char="●"/>
            </a:pPr>
            <a:r>
              <a:rPr lang="en"/>
              <a:t>Difference between bitwise operations (|, &amp;) and logical operations (||, &amp;&amp;)</a:t>
            </a:r>
            <a:br>
              <a:rPr lang="en"/>
            </a:br>
            <a:endParaRPr/>
          </a:p>
          <a:p>
            <a:pPr indent="-342900" lvl="0" marL="457200" rtl="0" algn="l">
              <a:spcBef>
                <a:spcPts val="0"/>
              </a:spcBef>
              <a:spcAft>
                <a:spcPts val="0"/>
              </a:spcAft>
              <a:buSzPts val="1800"/>
              <a:buChar char="●"/>
            </a:pPr>
            <a:r>
              <a:rPr lang="en"/>
              <a:t>Be systematic about your debugging!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Counters / Timers</a:t>
            </a:r>
            <a:endParaRPr/>
          </a:p>
        </p:txBody>
      </p:sp>
      <p:sp>
        <p:nvSpPr>
          <p:cNvPr id="69" name="Google Shape;69;p1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STM32C031C6 has five timers/counters:</a:t>
            </a:r>
            <a:endParaRPr/>
          </a:p>
          <a:p>
            <a:pPr indent="-317500" lvl="1" marL="914400" rtl="0" algn="l">
              <a:spcBef>
                <a:spcPts val="0"/>
              </a:spcBef>
              <a:spcAft>
                <a:spcPts val="0"/>
              </a:spcAft>
              <a:buSzPts val="1400"/>
              <a:buChar char="○"/>
            </a:pPr>
            <a:r>
              <a:rPr lang="en"/>
              <a:t>TIM1, TIM3, TIM14, TIM16, TIM17</a:t>
            </a:r>
            <a:endParaRPr/>
          </a:p>
          <a:p>
            <a:pPr indent="-317500" lvl="1" marL="914400" rtl="0" algn="l">
              <a:spcBef>
                <a:spcPts val="0"/>
              </a:spcBef>
              <a:spcAft>
                <a:spcPts val="0"/>
              </a:spcAft>
              <a:buSzPts val="1400"/>
              <a:buChar char="○"/>
            </a:pPr>
            <a:r>
              <a:rPr lang="en"/>
              <a:t>Of these, TIM14 is the simplest, followed by TIM16/17 then TIM3, then TIM1.</a:t>
            </a:r>
            <a:endParaRPr/>
          </a:p>
          <a:p>
            <a:pPr indent="-317500" lvl="1" marL="914400" rtl="0" algn="l">
              <a:spcBef>
                <a:spcPts val="0"/>
              </a:spcBef>
              <a:spcAft>
                <a:spcPts val="0"/>
              </a:spcAft>
              <a:buSzPts val="1400"/>
              <a:buChar char="○"/>
            </a:pPr>
            <a:r>
              <a:rPr lang="en"/>
              <a:t>Other MCUs in the M-family might have other timers such as TIM2, TIM6, etc.</a:t>
            </a:r>
            <a:br>
              <a:rPr lang="en"/>
            </a:br>
            <a:endParaRPr/>
          </a:p>
          <a:p>
            <a:pPr indent="-342900" lvl="0" marL="457200" rtl="0" algn="l">
              <a:spcBef>
                <a:spcPts val="0"/>
              </a:spcBef>
              <a:spcAft>
                <a:spcPts val="0"/>
              </a:spcAft>
              <a:buSzPts val="1800"/>
              <a:buChar char="●"/>
            </a:pPr>
            <a:r>
              <a:rPr lang="en"/>
              <a:t>All timers are built around 16-bit counters on our microcontroller.</a:t>
            </a:r>
            <a:br>
              <a:rPr lang="en"/>
            </a:br>
            <a:endParaRPr/>
          </a:p>
          <a:p>
            <a:pPr indent="-342900" lvl="0" marL="457200" rtl="0" algn="l">
              <a:spcBef>
                <a:spcPts val="0"/>
              </a:spcBef>
              <a:spcAft>
                <a:spcPts val="0"/>
              </a:spcAft>
              <a:buSzPts val="1800"/>
              <a:buChar char="●"/>
            </a:pPr>
            <a:r>
              <a:rPr lang="en"/>
              <a:t>They can be programmed to count at a specified rate and set a flag when they reach a specified value.</a:t>
            </a:r>
            <a:br>
              <a:rPr lang="en"/>
            </a:br>
            <a:endParaRPr/>
          </a:p>
          <a:p>
            <a:pPr indent="-342900" lvl="0" marL="457200" rtl="0" algn="l">
              <a:spcBef>
                <a:spcPts val="0"/>
              </a:spcBef>
              <a:spcAft>
                <a:spcPts val="0"/>
              </a:spcAft>
              <a:buSzPts val="1800"/>
              <a:buChar char="●"/>
            </a:pPr>
            <a:r>
              <a:rPr lang="en"/>
              <a:t>They can also be set to restart immediately, to generate flags at regular intervals.</a:t>
            </a:r>
            <a:endParaRPr/>
          </a:p>
          <a:p>
            <a:pPr indent="0" lvl="0" marL="0" rtl="0" algn="l">
              <a:spcBef>
                <a:spcPts val="1600"/>
              </a:spcBef>
              <a:spcAft>
                <a:spcPts val="0"/>
              </a:spcAft>
              <a:buNone/>
            </a:pPr>
            <a:r>
              <a:rPr lang="en"/>
              <a:t>Timers/counters can do lots of other things also (and the more complex the timer, the more things it can do). We'll start with the above.</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does a counter work?</a:t>
            </a:r>
            <a:endParaRPr/>
          </a:p>
        </p:txBody>
      </p:sp>
      <p:pic>
        <p:nvPicPr>
          <p:cNvPr id="75" name="Google Shape;75;p16"/>
          <p:cNvPicPr preferRelativeResize="0"/>
          <p:nvPr/>
        </p:nvPicPr>
        <p:blipFill>
          <a:blip r:embed="rId3">
            <a:alphaModFix/>
          </a:blip>
          <a:stretch>
            <a:fillRect/>
          </a:stretch>
        </p:blipFill>
        <p:spPr>
          <a:xfrm>
            <a:off x="1014950" y="1959425"/>
            <a:ext cx="7366001" cy="3742400"/>
          </a:xfrm>
          <a:prstGeom prst="rect">
            <a:avLst/>
          </a:prstGeom>
          <a:noFill/>
          <a:ln>
            <a:noFill/>
          </a:ln>
        </p:spPr>
      </p:pic>
      <p:sp>
        <p:nvSpPr>
          <p:cNvPr id="76" name="Google Shape;76;p16"/>
          <p:cNvSpPr txBox="1"/>
          <p:nvPr/>
        </p:nvSpPr>
        <p:spPr>
          <a:xfrm>
            <a:off x="299200" y="1356875"/>
            <a:ext cx="66006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Basic idea (more features in microcontroller)</a:t>
            </a:r>
            <a:endParaRPr sz="1800"/>
          </a:p>
        </p:txBody>
      </p:sp>
      <p:sp>
        <p:nvSpPr>
          <p:cNvPr id="77" name="Google Shape;77;p16"/>
          <p:cNvSpPr txBox="1"/>
          <p:nvPr/>
        </p:nvSpPr>
        <p:spPr>
          <a:xfrm>
            <a:off x="5953000" y="2378250"/>
            <a:ext cx="1597800" cy="40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0000FF"/>
                </a:solidFill>
              </a:rPr>
              <a:t>Register stores current count, n</a:t>
            </a:r>
            <a:endParaRPr i="1">
              <a:solidFill>
                <a:srgbClr val="0000FF"/>
              </a:solidFill>
            </a:endParaRPr>
          </a:p>
        </p:txBody>
      </p:sp>
      <p:sp>
        <p:nvSpPr>
          <p:cNvPr id="78" name="Google Shape;78;p16"/>
          <p:cNvSpPr txBox="1"/>
          <p:nvPr/>
        </p:nvSpPr>
        <p:spPr>
          <a:xfrm>
            <a:off x="1196325" y="4478800"/>
            <a:ext cx="2195100" cy="47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0000FF"/>
                </a:solidFill>
              </a:rPr>
              <a:t>Increment / decrement current count</a:t>
            </a:r>
            <a:endParaRPr i="1">
              <a:solidFill>
                <a:srgbClr val="0000FF"/>
              </a:solidFill>
            </a:endParaRPr>
          </a:p>
        </p:txBody>
      </p:sp>
      <p:sp>
        <p:nvSpPr>
          <p:cNvPr id="79" name="Google Shape;79;p16"/>
          <p:cNvSpPr txBox="1"/>
          <p:nvPr/>
        </p:nvSpPr>
        <p:spPr>
          <a:xfrm>
            <a:off x="3504700" y="2378250"/>
            <a:ext cx="1706100" cy="47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0000FF"/>
                </a:solidFill>
              </a:rPr>
              <a:t>Multiplexers select next count value (n+1, n-1, 0)</a:t>
            </a:r>
            <a:endParaRPr i="1">
              <a:solidFill>
                <a:srgbClr val="0000FF"/>
              </a:solidFill>
            </a:endParaRPr>
          </a:p>
        </p:txBody>
      </p:sp>
      <p:sp>
        <p:nvSpPr>
          <p:cNvPr id="80" name="Google Shape;80;p16"/>
          <p:cNvSpPr txBox="1"/>
          <p:nvPr/>
        </p:nvSpPr>
        <p:spPr>
          <a:xfrm>
            <a:off x="4963350" y="5534900"/>
            <a:ext cx="1936500" cy="40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0000FF"/>
                </a:solidFill>
              </a:rPr>
              <a:t>Register contents update on rising edge of clock.</a:t>
            </a:r>
            <a:endParaRPr i="1">
              <a:solidFill>
                <a:srgbClr val="0000FF"/>
              </a:solidFill>
            </a:endParaRPr>
          </a:p>
        </p:txBody>
      </p:sp>
      <p:sp>
        <p:nvSpPr>
          <p:cNvPr id="81" name="Google Shape;81;p16"/>
          <p:cNvSpPr/>
          <p:nvPr/>
        </p:nvSpPr>
        <p:spPr>
          <a:xfrm>
            <a:off x="7497900" y="3524975"/>
            <a:ext cx="250500" cy="250500"/>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txBox="1"/>
          <p:nvPr/>
        </p:nvSpPr>
        <p:spPr>
          <a:xfrm>
            <a:off x="7672200" y="3198875"/>
            <a:ext cx="12828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 ⇒ multi-wire</a:t>
            </a:r>
            <a:endParaRPr i="1">
              <a:solidFill>
                <a:srgbClr val="0000FF"/>
              </a:solidFill>
            </a:endParaRPr>
          </a:p>
        </p:txBody>
      </p:sp>
      <p:sp>
        <p:nvSpPr>
          <p:cNvPr id="83" name="Google Shape;83;p16"/>
          <p:cNvSpPr/>
          <p:nvPr/>
        </p:nvSpPr>
        <p:spPr>
          <a:xfrm>
            <a:off x="7206700" y="3887500"/>
            <a:ext cx="374700" cy="258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7"/>
          <p:cNvPicPr preferRelativeResize="0"/>
          <p:nvPr/>
        </p:nvPicPr>
        <p:blipFill>
          <a:blip r:embed="rId3">
            <a:alphaModFix/>
          </a:blip>
          <a:stretch>
            <a:fillRect/>
          </a:stretch>
        </p:blipFill>
        <p:spPr>
          <a:xfrm>
            <a:off x="49601" y="1114950"/>
            <a:ext cx="9044799" cy="5375496"/>
          </a:xfrm>
          <a:prstGeom prst="rect">
            <a:avLst/>
          </a:prstGeom>
          <a:noFill/>
          <a:ln>
            <a:noFill/>
          </a:ln>
        </p:spPr>
      </p:pic>
      <p:sp>
        <p:nvSpPr>
          <p:cNvPr id="89" name="Google Shape;89;p17"/>
          <p:cNvSpPr/>
          <p:nvPr/>
        </p:nvSpPr>
        <p:spPr>
          <a:xfrm>
            <a:off x="4830825" y="3308550"/>
            <a:ext cx="1508400" cy="2412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txBox="1"/>
          <p:nvPr/>
        </p:nvSpPr>
        <p:spPr>
          <a:xfrm>
            <a:off x="6458900" y="2858725"/>
            <a:ext cx="1222500" cy="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Auto-reload</a:t>
            </a:r>
            <a:endParaRPr i="1">
              <a:solidFill>
                <a:srgbClr val="0000FF"/>
              </a:solidFill>
            </a:endParaRPr>
          </a:p>
          <a:p>
            <a:pPr indent="0" lvl="0" marL="0" rtl="0" algn="l">
              <a:spcBef>
                <a:spcPts val="0"/>
              </a:spcBef>
              <a:spcAft>
                <a:spcPts val="0"/>
              </a:spcAft>
              <a:buNone/>
            </a:pPr>
            <a:r>
              <a:rPr i="1" lang="en">
                <a:solidFill>
                  <a:srgbClr val="0000FF"/>
                </a:solidFill>
              </a:rPr>
              <a:t>(upper limit)</a:t>
            </a:r>
            <a:endParaRPr i="1">
              <a:solidFill>
                <a:srgbClr val="0000FF"/>
              </a:solidFill>
            </a:endParaRPr>
          </a:p>
        </p:txBody>
      </p:sp>
      <p:sp>
        <p:nvSpPr>
          <p:cNvPr id="91" name="Google Shape;91;p17"/>
          <p:cNvSpPr/>
          <p:nvPr/>
        </p:nvSpPr>
        <p:spPr>
          <a:xfrm>
            <a:off x="4830825" y="3967800"/>
            <a:ext cx="1508400" cy="241200"/>
          </a:xfrm>
          <a:prstGeom prst="rect">
            <a:avLst/>
          </a:prstGeom>
          <a:noFill/>
          <a:ln cap="flat" cmpd="sng" w="3810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txBox="1"/>
          <p:nvPr/>
        </p:nvSpPr>
        <p:spPr>
          <a:xfrm>
            <a:off x="6339225" y="3866225"/>
            <a:ext cx="871200" cy="42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a:solidFill>
                  <a:srgbClr val="38761D"/>
                </a:solidFill>
              </a:rPr>
              <a:t>Counter</a:t>
            </a:r>
            <a:endParaRPr b="1" i="1">
              <a:solidFill>
                <a:srgbClr val="38761D"/>
              </a:solidFill>
            </a:endParaRPr>
          </a:p>
        </p:txBody>
      </p:sp>
      <p:sp>
        <p:nvSpPr>
          <p:cNvPr id="93" name="Google Shape;93;p17"/>
          <p:cNvSpPr txBox="1"/>
          <p:nvPr/>
        </p:nvSpPr>
        <p:spPr>
          <a:xfrm>
            <a:off x="3462825" y="3393125"/>
            <a:ext cx="1060800" cy="47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CC0000"/>
                </a:solidFill>
              </a:rPr>
              <a:t>Prescaled clock input</a:t>
            </a:r>
            <a:endParaRPr i="1">
              <a:solidFill>
                <a:srgbClr val="CC0000"/>
              </a:solidFill>
            </a:endParaRPr>
          </a:p>
        </p:txBody>
      </p:sp>
      <p:sp>
        <p:nvSpPr>
          <p:cNvPr id="94" name="Google Shape;94;p17"/>
          <p:cNvSpPr txBox="1"/>
          <p:nvPr>
            <p:ph type="title"/>
          </p:nvPr>
        </p:nvSpPr>
        <p:spPr>
          <a:xfrm>
            <a:off x="131225" y="1257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TIM14 Block Diagram</a:t>
            </a:r>
            <a:endParaRPr/>
          </a:p>
        </p:txBody>
      </p:sp>
      <p:cxnSp>
        <p:nvCxnSpPr>
          <p:cNvPr id="95" name="Google Shape;95;p17"/>
          <p:cNvCxnSpPr/>
          <p:nvPr/>
        </p:nvCxnSpPr>
        <p:spPr>
          <a:xfrm>
            <a:off x="3203425" y="2199525"/>
            <a:ext cx="2143200" cy="11400"/>
          </a:xfrm>
          <a:prstGeom prst="straightConnector1">
            <a:avLst/>
          </a:prstGeom>
          <a:noFill/>
          <a:ln cap="flat" cmpd="sng" w="28575">
            <a:solidFill>
              <a:srgbClr val="0000FF"/>
            </a:solidFill>
            <a:prstDash val="solid"/>
            <a:round/>
            <a:headEnd len="med" w="med" type="none"/>
            <a:tailEnd len="med" w="med" type="none"/>
          </a:ln>
        </p:spPr>
      </p:cxnSp>
      <p:cxnSp>
        <p:nvCxnSpPr>
          <p:cNvPr id="96" name="Google Shape;96;p17"/>
          <p:cNvCxnSpPr/>
          <p:nvPr/>
        </p:nvCxnSpPr>
        <p:spPr>
          <a:xfrm flipH="1" rot="10800000">
            <a:off x="2791850" y="3068125"/>
            <a:ext cx="3682800" cy="5400"/>
          </a:xfrm>
          <a:prstGeom prst="straightConnector1">
            <a:avLst/>
          </a:prstGeom>
          <a:noFill/>
          <a:ln cap="flat" cmpd="sng" w="28575">
            <a:solidFill>
              <a:srgbClr val="0000FF"/>
            </a:solidFill>
            <a:prstDash val="solid"/>
            <a:round/>
            <a:headEnd len="med" w="med" type="none"/>
            <a:tailEnd len="med" w="med" type="none"/>
          </a:ln>
        </p:spPr>
      </p:cxnSp>
      <p:cxnSp>
        <p:nvCxnSpPr>
          <p:cNvPr id="97" name="Google Shape;97;p17"/>
          <p:cNvCxnSpPr/>
          <p:nvPr/>
        </p:nvCxnSpPr>
        <p:spPr>
          <a:xfrm>
            <a:off x="6084175" y="2198075"/>
            <a:ext cx="386100" cy="0"/>
          </a:xfrm>
          <a:prstGeom prst="straightConnector1">
            <a:avLst/>
          </a:prstGeom>
          <a:noFill/>
          <a:ln cap="flat" cmpd="sng" w="28575">
            <a:solidFill>
              <a:srgbClr val="0000FF"/>
            </a:solidFill>
            <a:prstDash val="solid"/>
            <a:round/>
            <a:headEnd len="med" w="med" type="none"/>
            <a:tailEnd len="med" w="med" type="none"/>
          </a:ln>
        </p:spPr>
      </p:cxnSp>
      <p:cxnSp>
        <p:nvCxnSpPr>
          <p:cNvPr id="98" name="Google Shape;98;p17"/>
          <p:cNvCxnSpPr/>
          <p:nvPr/>
        </p:nvCxnSpPr>
        <p:spPr>
          <a:xfrm rot="10800000">
            <a:off x="6458900" y="2203775"/>
            <a:ext cx="5700" cy="867900"/>
          </a:xfrm>
          <a:prstGeom prst="straightConnector1">
            <a:avLst/>
          </a:prstGeom>
          <a:noFill/>
          <a:ln cap="flat" cmpd="sng" w="28575">
            <a:solidFill>
              <a:srgbClr val="0000FF"/>
            </a:solidFill>
            <a:prstDash val="solid"/>
            <a:round/>
            <a:headEnd len="med" w="med" type="none"/>
            <a:tailEnd len="med" w="med" type="none"/>
          </a:ln>
        </p:spPr>
      </p:cxnSp>
      <p:cxnSp>
        <p:nvCxnSpPr>
          <p:cNvPr id="99" name="Google Shape;99;p17"/>
          <p:cNvCxnSpPr/>
          <p:nvPr/>
        </p:nvCxnSpPr>
        <p:spPr>
          <a:xfrm flipH="1" rot="10800000">
            <a:off x="2775775" y="3065975"/>
            <a:ext cx="2700" cy="1037100"/>
          </a:xfrm>
          <a:prstGeom prst="straightConnector1">
            <a:avLst/>
          </a:prstGeom>
          <a:noFill/>
          <a:ln cap="flat" cmpd="sng" w="28575">
            <a:solidFill>
              <a:srgbClr val="0000FF"/>
            </a:solidFill>
            <a:prstDash val="solid"/>
            <a:round/>
            <a:headEnd len="med" w="med" type="none"/>
            <a:tailEnd len="med" w="med" type="none"/>
          </a:ln>
        </p:spPr>
      </p:cxnSp>
      <p:cxnSp>
        <p:nvCxnSpPr>
          <p:cNvPr id="100" name="Google Shape;100;p17"/>
          <p:cNvCxnSpPr/>
          <p:nvPr/>
        </p:nvCxnSpPr>
        <p:spPr>
          <a:xfrm flipH="1" rot="10800000">
            <a:off x="2791850" y="4103075"/>
            <a:ext cx="699600" cy="2700"/>
          </a:xfrm>
          <a:prstGeom prst="straightConnector1">
            <a:avLst/>
          </a:prstGeom>
          <a:noFill/>
          <a:ln cap="flat" cmpd="sng" w="28575">
            <a:solidFill>
              <a:srgbClr val="0000FF"/>
            </a:solidFill>
            <a:prstDash val="solid"/>
            <a:round/>
            <a:headEnd len="med" w="med" type="none"/>
            <a:tailEnd len="med" w="med" type="triangle"/>
          </a:ln>
        </p:spPr>
      </p:cxnSp>
      <p:cxnSp>
        <p:nvCxnSpPr>
          <p:cNvPr id="101" name="Google Shape;101;p17"/>
          <p:cNvCxnSpPr/>
          <p:nvPr/>
        </p:nvCxnSpPr>
        <p:spPr>
          <a:xfrm flipH="1" rot="10800000">
            <a:off x="4157275" y="4103075"/>
            <a:ext cx="699600" cy="2700"/>
          </a:xfrm>
          <a:prstGeom prst="straightConnector1">
            <a:avLst/>
          </a:prstGeom>
          <a:noFill/>
          <a:ln cap="flat" cmpd="sng" w="28575">
            <a:solidFill>
              <a:srgbClr val="CC0000"/>
            </a:solidFill>
            <a:prstDash val="solid"/>
            <a:round/>
            <a:headEnd len="med" w="med" type="none"/>
            <a:tailEnd len="med" w="med" type="triangle"/>
          </a:ln>
        </p:spPr>
      </p:cxnSp>
      <p:sp>
        <p:nvSpPr>
          <p:cNvPr id="102" name="Google Shape;102;p17"/>
          <p:cNvSpPr/>
          <p:nvPr/>
        </p:nvSpPr>
        <p:spPr>
          <a:xfrm>
            <a:off x="150450" y="4232825"/>
            <a:ext cx="8843100" cy="1936800"/>
          </a:xfrm>
          <a:prstGeom prst="rect">
            <a:avLst/>
          </a:prstGeom>
          <a:solidFill>
            <a:srgbClr val="FFFFFF">
              <a:alpha val="8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7"/>
          <p:cNvSpPr/>
          <p:nvPr/>
        </p:nvSpPr>
        <p:spPr>
          <a:xfrm>
            <a:off x="3504825" y="3930725"/>
            <a:ext cx="652500" cy="3021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8"/>
          <p:cNvPicPr preferRelativeResize="0"/>
          <p:nvPr/>
        </p:nvPicPr>
        <p:blipFill>
          <a:blip r:embed="rId3">
            <a:alphaModFix/>
          </a:blip>
          <a:stretch>
            <a:fillRect/>
          </a:stretch>
        </p:blipFill>
        <p:spPr>
          <a:xfrm>
            <a:off x="3428341" y="125750"/>
            <a:ext cx="5459833" cy="1992975"/>
          </a:xfrm>
          <a:prstGeom prst="rect">
            <a:avLst/>
          </a:prstGeom>
          <a:noFill/>
          <a:ln>
            <a:noFill/>
          </a:ln>
        </p:spPr>
      </p:pic>
      <p:pic>
        <p:nvPicPr>
          <p:cNvPr id="109" name="Google Shape;109;p18"/>
          <p:cNvPicPr preferRelativeResize="0"/>
          <p:nvPr/>
        </p:nvPicPr>
        <p:blipFill rotWithShape="1">
          <a:blip r:embed="rId4">
            <a:alphaModFix/>
          </a:blip>
          <a:srcRect b="21942" l="0" r="0" t="7912"/>
          <a:stretch/>
        </p:blipFill>
        <p:spPr>
          <a:xfrm>
            <a:off x="3457350" y="2118725"/>
            <a:ext cx="5474825" cy="4596649"/>
          </a:xfrm>
          <a:prstGeom prst="rect">
            <a:avLst/>
          </a:prstGeom>
          <a:noFill/>
          <a:ln>
            <a:noFill/>
          </a:ln>
        </p:spPr>
      </p:pic>
      <p:sp>
        <p:nvSpPr>
          <p:cNvPr id="110" name="Google Shape;110;p18"/>
          <p:cNvSpPr txBox="1"/>
          <p:nvPr>
            <p:ph idx="4294967295" type="title"/>
          </p:nvPr>
        </p:nvSpPr>
        <p:spPr>
          <a:xfrm>
            <a:off x="131225" y="125750"/>
            <a:ext cx="32022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TIM14 Register Map</a:t>
            </a:r>
            <a:endParaRPr sz="2600"/>
          </a:p>
        </p:txBody>
      </p:sp>
      <p:sp>
        <p:nvSpPr>
          <p:cNvPr id="111" name="Google Shape;111;p18"/>
          <p:cNvSpPr/>
          <p:nvPr/>
        </p:nvSpPr>
        <p:spPr>
          <a:xfrm>
            <a:off x="3888350" y="2118725"/>
            <a:ext cx="4954800" cy="3441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txBox="1"/>
          <p:nvPr/>
        </p:nvSpPr>
        <p:spPr>
          <a:xfrm>
            <a:off x="1675325" y="2059925"/>
            <a:ext cx="165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Status register</a:t>
            </a:r>
            <a:endParaRPr sz="1800">
              <a:solidFill>
                <a:srgbClr val="0000FF"/>
              </a:solidFill>
            </a:endParaRPr>
          </a:p>
        </p:txBody>
      </p:sp>
      <p:sp>
        <p:nvSpPr>
          <p:cNvPr id="113" name="Google Shape;113;p18"/>
          <p:cNvSpPr/>
          <p:nvPr/>
        </p:nvSpPr>
        <p:spPr>
          <a:xfrm>
            <a:off x="3888350" y="5034625"/>
            <a:ext cx="4954800" cy="344100"/>
          </a:xfrm>
          <a:prstGeom prst="rect">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8"/>
          <p:cNvSpPr txBox="1"/>
          <p:nvPr/>
        </p:nvSpPr>
        <p:spPr>
          <a:xfrm>
            <a:off x="2199525" y="4975825"/>
            <a:ext cx="125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Counter</a:t>
            </a:r>
            <a:endParaRPr sz="1800">
              <a:solidFill>
                <a:srgbClr val="38761D"/>
              </a:solidFill>
            </a:endParaRPr>
          </a:p>
        </p:txBody>
      </p:sp>
      <p:sp>
        <p:nvSpPr>
          <p:cNvPr id="115" name="Google Shape;115;p18"/>
          <p:cNvSpPr/>
          <p:nvPr/>
        </p:nvSpPr>
        <p:spPr>
          <a:xfrm>
            <a:off x="3888350" y="5581800"/>
            <a:ext cx="4954800" cy="2988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txBox="1"/>
          <p:nvPr/>
        </p:nvSpPr>
        <p:spPr>
          <a:xfrm>
            <a:off x="1838575" y="5500350"/>
            <a:ext cx="181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Prescale value</a:t>
            </a:r>
            <a:endParaRPr sz="1800">
              <a:solidFill>
                <a:srgbClr val="0000FF"/>
              </a:solidFill>
            </a:endParaRPr>
          </a:p>
        </p:txBody>
      </p:sp>
      <p:sp>
        <p:nvSpPr>
          <p:cNvPr id="117" name="Google Shape;117;p18"/>
          <p:cNvSpPr/>
          <p:nvPr/>
        </p:nvSpPr>
        <p:spPr>
          <a:xfrm>
            <a:off x="3888350" y="6083675"/>
            <a:ext cx="4954800" cy="298800"/>
          </a:xfrm>
          <a:prstGeom prst="rect">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8"/>
          <p:cNvSpPr txBox="1"/>
          <p:nvPr/>
        </p:nvSpPr>
        <p:spPr>
          <a:xfrm>
            <a:off x="1500200" y="6002225"/>
            <a:ext cx="215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Auto-reload value</a:t>
            </a:r>
            <a:endParaRPr sz="1800">
              <a:solidFill>
                <a:srgbClr val="38761D"/>
              </a:solidFill>
            </a:endParaRPr>
          </a:p>
        </p:txBody>
      </p:sp>
      <p:sp>
        <p:nvSpPr>
          <p:cNvPr id="119" name="Google Shape;119;p18"/>
          <p:cNvSpPr/>
          <p:nvPr/>
        </p:nvSpPr>
        <p:spPr>
          <a:xfrm>
            <a:off x="3888350" y="590450"/>
            <a:ext cx="4954800" cy="5151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8"/>
          <p:cNvSpPr txBox="1"/>
          <p:nvPr/>
        </p:nvSpPr>
        <p:spPr>
          <a:xfrm>
            <a:off x="1627175" y="702550"/>
            <a:ext cx="175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Control register</a:t>
            </a:r>
            <a:endParaRPr sz="1800">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can you do with a background timer?</a:t>
            </a:r>
            <a:endParaRPr/>
          </a:p>
        </p:txBody>
      </p:sp>
      <p:sp>
        <p:nvSpPr>
          <p:cNvPr id="126" name="Google Shape;126;p1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Blinky, without wasting processor time in a delaying for-loop </a:t>
            </a:r>
            <a:endParaRPr sz="1600"/>
          </a:p>
          <a:p>
            <a:pPr indent="-330200" lvl="0" marL="457200" rtl="0" algn="l">
              <a:spcBef>
                <a:spcPts val="1000"/>
              </a:spcBef>
              <a:spcAft>
                <a:spcPts val="0"/>
              </a:spcAft>
              <a:buSzPts val="1600"/>
              <a:buChar char="●"/>
            </a:pPr>
            <a:r>
              <a:rPr lang="en" sz="1600"/>
              <a:t>Reading a sensor value (e.g., A/D conversion) at fixed intervals</a:t>
            </a:r>
            <a:endParaRPr sz="1600"/>
          </a:p>
          <a:p>
            <a:pPr indent="-330200" lvl="0" marL="457200" rtl="0" algn="l">
              <a:spcBef>
                <a:spcPts val="1000"/>
              </a:spcBef>
              <a:spcAft>
                <a:spcPts val="0"/>
              </a:spcAft>
              <a:buSzPts val="1600"/>
              <a:buChar char="●"/>
            </a:pPr>
            <a:r>
              <a:rPr lang="en" sz="1600"/>
              <a:t>Keeping time, making timestamps</a:t>
            </a:r>
            <a:endParaRPr sz="1600"/>
          </a:p>
          <a:p>
            <a:pPr indent="-330200" lvl="0" marL="457200" rtl="0" algn="l">
              <a:spcBef>
                <a:spcPts val="1000"/>
              </a:spcBef>
              <a:spcAft>
                <a:spcPts val="0"/>
              </a:spcAft>
              <a:buSzPts val="1600"/>
              <a:buChar char="●"/>
            </a:pPr>
            <a:r>
              <a:rPr lang="en" sz="1600"/>
              <a:t>Running a process at regular intervals</a:t>
            </a:r>
            <a:endParaRPr sz="1600"/>
          </a:p>
          <a:p>
            <a:pPr indent="-330200" lvl="0" marL="457200" rtl="0" algn="l">
              <a:spcBef>
                <a:spcPts val="1000"/>
              </a:spcBef>
              <a:spcAft>
                <a:spcPts val="0"/>
              </a:spcAft>
              <a:buSzPts val="1600"/>
              <a:buChar char="●"/>
            </a:pPr>
            <a:r>
              <a:rPr lang="en" sz="1600"/>
              <a:t>Asserting an output for a desired amount of time</a:t>
            </a:r>
            <a:endParaRPr sz="1600"/>
          </a:p>
          <a:p>
            <a:pPr indent="-330200" lvl="0" marL="457200" rtl="0" algn="l">
              <a:spcBef>
                <a:spcPts val="1000"/>
              </a:spcBef>
              <a:spcAft>
                <a:spcPts val="0"/>
              </a:spcAft>
              <a:buSzPts val="1600"/>
              <a:buChar char="●"/>
            </a:pPr>
            <a:r>
              <a:rPr lang="en" sz="1600"/>
              <a:t>Timing how long an input is asserted</a:t>
            </a:r>
            <a:endParaRPr sz="1600"/>
          </a:p>
          <a:p>
            <a:pPr indent="0" lvl="0" marL="457200" rtl="0" algn="l">
              <a:spcBef>
                <a:spcPts val="1000"/>
              </a:spcBef>
              <a:spcAft>
                <a:spcPts val="0"/>
              </a:spcAft>
              <a:buNone/>
            </a:pPr>
            <a:r>
              <a:t/>
            </a:r>
            <a:endParaRPr/>
          </a:p>
          <a:p>
            <a:pPr indent="0" lvl="0" marL="0" rtl="0" algn="l">
              <a:spcBef>
                <a:spcPts val="1000"/>
              </a:spcBef>
              <a:spcAft>
                <a:spcPts val="10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Basic idea for programming a timer/counter</a:t>
            </a:r>
            <a:endParaRPr/>
          </a:p>
        </p:txBody>
      </p:sp>
      <p:sp>
        <p:nvSpPr>
          <p:cNvPr id="132" name="Google Shape;132;p2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Decide how much time needs to pass between interrupts </a:t>
            </a:r>
            <a:br>
              <a:rPr lang="en" sz="1600"/>
            </a:br>
            <a:r>
              <a:rPr lang="en" sz="1600"/>
              <a:t>(1 sec, 200 ms, 429 µs, etc)</a:t>
            </a:r>
            <a:endParaRPr sz="1600"/>
          </a:p>
          <a:p>
            <a:pPr indent="-330200" lvl="0" marL="457200" rtl="0" algn="l">
              <a:spcBef>
                <a:spcPts val="1000"/>
              </a:spcBef>
              <a:spcAft>
                <a:spcPts val="0"/>
              </a:spcAft>
              <a:buSzPts val="1600"/>
              <a:buChar char="●"/>
            </a:pPr>
            <a:r>
              <a:rPr lang="en" sz="1600"/>
              <a:t>Determine a counting rate and a top value</a:t>
            </a:r>
            <a:r>
              <a:rPr lang="en" sz="1600"/>
              <a:t> so that counting from 0 to that value will take the desired amount of time</a:t>
            </a:r>
            <a:endParaRPr sz="1600"/>
          </a:p>
          <a:p>
            <a:pPr indent="-330200" lvl="0" marL="457200" rtl="0" algn="l">
              <a:spcBef>
                <a:spcPts val="1000"/>
              </a:spcBef>
              <a:spcAft>
                <a:spcPts val="0"/>
              </a:spcAft>
              <a:buSzPts val="1600"/>
              <a:buChar char="●"/>
            </a:pPr>
            <a:r>
              <a:rPr lang="en" sz="1600"/>
              <a:t>Configure the control register, the prescale register, the auto-reload register (top value)</a:t>
            </a:r>
            <a:endParaRPr sz="1600"/>
          </a:p>
          <a:p>
            <a:pPr indent="-330200" lvl="0" marL="457200" rtl="0" algn="l">
              <a:spcBef>
                <a:spcPts val="1000"/>
              </a:spcBef>
              <a:spcAft>
                <a:spcPts val="0"/>
              </a:spcAft>
              <a:buSzPts val="1600"/>
              <a:buChar char="●"/>
            </a:pPr>
            <a:r>
              <a:rPr lang="en" sz="1600"/>
              <a:t>Start the timer</a:t>
            </a:r>
            <a:endParaRPr sz="1600"/>
          </a:p>
          <a:p>
            <a:pPr indent="0" lvl="0" marL="0" rtl="0" algn="l">
              <a:spcBef>
                <a:spcPts val="1000"/>
              </a:spcBef>
              <a:spcAft>
                <a:spcPts val="1000"/>
              </a:spcAft>
              <a:buNone/>
            </a:pPr>
            <a:r>
              <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grpSp>
        <p:nvGrpSpPr>
          <p:cNvPr id="137" name="Google Shape;137;p21"/>
          <p:cNvGrpSpPr/>
          <p:nvPr/>
        </p:nvGrpSpPr>
        <p:grpSpPr>
          <a:xfrm>
            <a:off x="428625" y="1672900"/>
            <a:ext cx="8476400" cy="3672701"/>
            <a:chOff x="428625" y="1672900"/>
            <a:chExt cx="8476400" cy="3672701"/>
          </a:xfrm>
        </p:grpSpPr>
        <p:pic>
          <p:nvPicPr>
            <p:cNvPr id="138" name="Google Shape;138;p21"/>
            <p:cNvPicPr preferRelativeResize="0"/>
            <p:nvPr/>
          </p:nvPicPr>
          <p:blipFill rotWithShape="1">
            <a:blip r:embed="rId3">
              <a:alphaModFix/>
            </a:blip>
            <a:srcRect b="0" l="0" r="0" t="7279"/>
            <a:stretch/>
          </p:blipFill>
          <p:spPr>
            <a:xfrm>
              <a:off x="428625" y="1672900"/>
              <a:ext cx="8403674" cy="2844496"/>
            </a:xfrm>
            <a:prstGeom prst="rect">
              <a:avLst/>
            </a:prstGeom>
            <a:noFill/>
            <a:ln>
              <a:noFill/>
            </a:ln>
          </p:spPr>
        </p:pic>
        <p:pic>
          <p:nvPicPr>
            <p:cNvPr id="139" name="Google Shape;139;p21"/>
            <p:cNvPicPr preferRelativeResize="0"/>
            <p:nvPr/>
          </p:nvPicPr>
          <p:blipFill rotWithShape="1">
            <a:blip r:embed="rId4">
              <a:alphaModFix/>
            </a:blip>
            <a:srcRect b="83713" l="0" r="0" t="7913"/>
            <a:stretch/>
          </p:blipFill>
          <p:spPr>
            <a:xfrm>
              <a:off x="442725" y="4497450"/>
              <a:ext cx="8462300" cy="848151"/>
            </a:xfrm>
            <a:prstGeom prst="rect">
              <a:avLst/>
            </a:prstGeom>
            <a:noFill/>
            <a:ln>
              <a:noFill/>
            </a:ln>
          </p:spPr>
        </p:pic>
      </p:grpSp>
      <p:sp>
        <p:nvSpPr>
          <p:cNvPr id="140" name="Google Shape;140;p21"/>
          <p:cNvSpPr txBox="1"/>
          <p:nvPr>
            <p:ph type="title"/>
          </p:nvPr>
        </p:nvSpPr>
        <p:spPr>
          <a:xfrm>
            <a:off x="311700" y="135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Registers: Only a few are needed for simple timing.</a:t>
            </a:r>
            <a:endParaRPr/>
          </a:p>
        </p:txBody>
      </p:sp>
      <p:sp>
        <p:nvSpPr>
          <p:cNvPr id="141" name="Google Shape;141;p21"/>
          <p:cNvSpPr/>
          <p:nvPr/>
        </p:nvSpPr>
        <p:spPr>
          <a:xfrm>
            <a:off x="8526800" y="2188550"/>
            <a:ext cx="256500" cy="76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a:off x="8526800" y="4497450"/>
            <a:ext cx="256500" cy="4959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1"/>
          <p:cNvSpPr/>
          <p:nvPr/>
        </p:nvSpPr>
        <p:spPr>
          <a:xfrm>
            <a:off x="1241725" y="2364725"/>
            <a:ext cx="854400" cy="4281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1"/>
          <p:cNvSpPr/>
          <p:nvPr/>
        </p:nvSpPr>
        <p:spPr>
          <a:xfrm>
            <a:off x="1241725" y="4573700"/>
            <a:ext cx="854400" cy="3699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1"/>
          <p:cNvSpPr txBox="1"/>
          <p:nvPr/>
        </p:nvSpPr>
        <p:spPr>
          <a:xfrm>
            <a:off x="3440700" y="898825"/>
            <a:ext cx="2262600" cy="428100"/>
          </a:xfrm>
          <a:prstGeom prst="rect">
            <a:avLst/>
          </a:prstGeom>
          <a:noFill/>
          <a:ln cap="flat" cmpd="sng" w="28575">
            <a:solidFill>
              <a:srgbClr val="6AA84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6AA84F"/>
                </a:solidFill>
              </a:rPr>
              <a:t>Timer 14</a:t>
            </a:r>
            <a:endParaRPr>
              <a:solidFill>
                <a:srgbClr val="6AA84F"/>
              </a:solidFill>
            </a:endParaRPr>
          </a:p>
        </p:txBody>
      </p:sp>
      <p:sp>
        <p:nvSpPr>
          <p:cNvPr id="146" name="Google Shape;146;p21"/>
          <p:cNvSpPr txBox="1"/>
          <p:nvPr/>
        </p:nvSpPr>
        <p:spPr>
          <a:xfrm>
            <a:off x="6151700" y="1055025"/>
            <a:ext cx="275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Counter Enable (start it)</a:t>
            </a:r>
            <a:endParaRPr sz="1800">
              <a:solidFill>
                <a:srgbClr val="FF0000"/>
              </a:solidFill>
            </a:endParaRPr>
          </a:p>
        </p:txBody>
      </p:sp>
      <p:cxnSp>
        <p:nvCxnSpPr>
          <p:cNvPr id="147" name="Google Shape;147;p21"/>
          <p:cNvCxnSpPr>
            <a:stCxn id="146" idx="2"/>
            <a:endCxn id="141" idx="1"/>
          </p:cNvCxnSpPr>
          <p:nvPr/>
        </p:nvCxnSpPr>
        <p:spPr>
          <a:xfrm>
            <a:off x="7528400" y="1516725"/>
            <a:ext cx="998400" cy="1053600"/>
          </a:xfrm>
          <a:prstGeom prst="straightConnector1">
            <a:avLst/>
          </a:prstGeom>
          <a:noFill/>
          <a:ln cap="flat" cmpd="sng" w="19050">
            <a:solidFill>
              <a:srgbClr val="FF0000"/>
            </a:solidFill>
            <a:prstDash val="solid"/>
            <a:round/>
            <a:headEnd len="med" w="med" type="none"/>
            <a:tailEnd len="med" w="med" type="triangle"/>
          </a:ln>
        </p:spPr>
      </p:cxnSp>
      <p:sp>
        <p:nvSpPr>
          <p:cNvPr id="148" name="Google Shape;148;p21"/>
          <p:cNvSpPr txBox="1"/>
          <p:nvPr/>
        </p:nvSpPr>
        <p:spPr>
          <a:xfrm>
            <a:off x="4739075" y="5591775"/>
            <a:ext cx="4344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Update Interrupt Flag (set by hardware whenever counter updates to 0 after reaching auto-reset value). Your responsibility to clear.</a:t>
            </a:r>
            <a:endParaRPr sz="1800">
              <a:solidFill>
                <a:srgbClr val="FF0000"/>
              </a:solidFill>
            </a:endParaRPr>
          </a:p>
        </p:txBody>
      </p:sp>
      <p:cxnSp>
        <p:nvCxnSpPr>
          <p:cNvPr id="149" name="Google Shape;149;p21"/>
          <p:cNvCxnSpPr>
            <a:stCxn id="148" idx="0"/>
            <a:endCxn id="142" idx="1"/>
          </p:cNvCxnSpPr>
          <p:nvPr/>
        </p:nvCxnSpPr>
        <p:spPr>
          <a:xfrm flipH="1" rot="10800000">
            <a:off x="6911525" y="4745475"/>
            <a:ext cx="1615200" cy="8463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ph type="title"/>
          </p:nvPr>
        </p:nvSpPr>
        <p:spPr>
          <a:xfrm>
            <a:off x="56925" y="160475"/>
            <a:ext cx="516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fast and how far to count?</a:t>
            </a:r>
            <a:endParaRPr/>
          </a:p>
        </p:txBody>
      </p:sp>
      <p:sp>
        <p:nvSpPr>
          <p:cNvPr id="155" name="Google Shape;155;p22"/>
          <p:cNvSpPr txBox="1"/>
          <p:nvPr>
            <p:ph idx="1" type="body"/>
          </p:nvPr>
        </p:nvSpPr>
        <p:spPr>
          <a:xfrm>
            <a:off x="311700" y="1664058"/>
            <a:ext cx="8520600" cy="4555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Compute how many processor clock cycles your desired delay takes</a:t>
            </a:r>
            <a:endParaRPr sz="1600"/>
          </a:p>
          <a:p>
            <a:pPr indent="-330200" lvl="1" marL="914400" rtl="0" algn="l">
              <a:spcBef>
                <a:spcPts val="1000"/>
              </a:spcBef>
              <a:spcAft>
                <a:spcPts val="0"/>
              </a:spcAft>
              <a:buSzPts val="1600"/>
              <a:buChar char="○"/>
            </a:pPr>
            <a:r>
              <a:rPr lang="en" sz="1600"/>
              <a:t>Clock cycles = clock frequency × delay time</a:t>
            </a:r>
            <a:endParaRPr sz="1600"/>
          </a:p>
          <a:p>
            <a:pPr indent="-330200" lvl="1" marL="914400" rtl="0" algn="l">
              <a:spcBef>
                <a:spcPts val="1000"/>
              </a:spcBef>
              <a:spcAft>
                <a:spcPts val="0"/>
              </a:spcAft>
              <a:buSzPts val="1600"/>
              <a:buChar char="○"/>
            </a:pPr>
            <a:r>
              <a:rPr lang="en" sz="1600"/>
              <a:t>Clock frequency (HSI48 RC internal oscillator, scaled down by 4) = 12 MHz</a:t>
            </a:r>
            <a:endParaRPr sz="1600"/>
          </a:p>
          <a:p>
            <a:pPr indent="-330200" lvl="0" marL="457200" rtl="0" algn="l">
              <a:spcBef>
                <a:spcPts val="1000"/>
              </a:spcBef>
              <a:spcAft>
                <a:spcPts val="0"/>
              </a:spcAft>
              <a:buSzPts val="1600"/>
              <a:buChar char="●"/>
            </a:pPr>
            <a:r>
              <a:rPr lang="en" sz="1600"/>
              <a:t>Ex: A 500 ms delay will take ______________clock cycles.</a:t>
            </a:r>
            <a:endParaRPr sz="1600"/>
          </a:p>
          <a:p>
            <a:pPr indent="-330200" lvl="0" marL="457200" rtl="0" algn="l">
              <a:spcBef>
                <a:spcPts val="1000"/>
              </a:spcBef>
              <a:spcAft>
                <a:spcPts val="0"/>
              </a:spcAft>
              <a:buSzPts val="1600"/>
              <a:buChar char="●"/>
            </a:pPr>
            <a:r>
              <a:rPr lang="en" sz="1600"/>
              <a:t>Problem: This number is too large to be stored in a 16-bit register</a:t>
            </a:r>
            <a:endParaRPr sz="1600"/>
          </a:p>
          <a:p>
            <a:pPr indent="-330200" lvl="0" marL="457200" rtl="0" algn="l">
              <a:spcBef>
                <a:spcPts val="1000"/>
              </a:spcBef>
              <a:spcAft>
                <a:spcPts val="1000"/>
              </a:spcAft>
              <a:buSzPts val="1600"/>
              <a:buChar char="●"/>
            </a:pPr>
            <a:r>
              <a:rPr lang="en" sz="1600"/>
              <a:t>Solution: If the desired number of clock cycles is &gt; 65,535 then a </a:t>
            </a:r>
            <a:r>
              <a:rPr b="1" lang="en" sz="1600"/>
              <a:t>prescaler</a:t>
            </a:r>
            <a:r>
              <a:rPr lang="en" sz="1600"/>
              <a:t> must be used to divide down the system clock frequency in order for the counter to count more slowly.</a:t>
            </a:r>
            <a:endParaRPr sz="1600"/>
          </a:p>
        </p:txBody>
      </p:sp>
      <p:sp>
        <p:nvSpPr>
          <p:cNvPr id="156" name="Google Shape;156;p22"/>
          <p:cNvSpPr txBox="1"/>
          <p:nvPr/>
        </p:nvSpPr>
        <p:spPr>
          <a:xfrm>
            <a:off x="5285900" y="134350"/>
            <a:ext cx="3744300" cy="1477500"/>
          </a:xfrm>
          <a:prstGeom prst="rect">
            <a:avLst/>
          </a:prstGeom>
          <a:noFill/>
          <a:ln cap="flat" cmpd="sng" w="19050">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00FF"/>
                </a:solidFill>
              </a:rPr>
              <a:t>Our chip and board come with a lot of clock sources, some internal to the chip, some on the board. Up to 48MHz! We simply use the default internal high speed 48 MHz clock, scaled down by default to 12 MHz. Slower = less energy consumption.</a:t>
            </a:r>
            <a:endParaRPr>
              <a:solidFill>
                <a:srgbClr val="9900FF"/>
              </a:solidFill>
            </a:endParaRPr>
          </a:p>
        </p:txBody>
      </p:sp>
      <p:sp>
        <p:nvSpPr>
          <p:cNvPr id="157" name="Google Shape;157;p22"/>
          <p:cNvSpPr txBox="1"/>
          <p:nvPr/>
        </p:nvSpPr>
        <p:spPr>
          <a:xfrm>
            <a:off x="227850" y="5183375"/>
            <a:ext cx="656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Note: All timers are on the APB bus</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type="title"/>
          </p:nvPr>
        </p:nvSpPr>
        <p:spPr>
          <a:xfrm>
            <a:off x="311700" y="1718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does the Prescaler work?</a:t>
            </a:r>
            <a:endParaRPr/>
          </a:p>
        </p:txBody>
      </p:sp>
      <p:pic>
        <p:nvPicPr>
          <p:cNvPr id="163" name="Google Shape;163;p23"/>
          <p:cNvPicPr preferRelativeResize="0"/>
          <p:nvPr/>
        </p:nvPicPr>
        <p:blipFill rotWithShape="1">
          <a:blip r:embed="rId3">
            <a:alphaModFix/>
          </a:blip>
          <a:srcRect b="83129" l="0" r="0" t="0"/>
          <a:stretch/>
        </p:blipFill>
        <p:spPr>
          <a:xfrm>
            <a:off x="6700" y="935375"/>
            <a:ext cx="7743424" cy="967100"/>
          </a:xfrm>
          <a:prstGeom prst="rect">
            <a:avLst/>
          </a:prstGeom>
          <a:noFill/>
          <a:ln>
            <a:noFill/>
          </a:ln>
        </p:spPr>
      </p:pic>
      <p:sp>
        <p:nvSpPr>
          <p:cNvPr id="164" name="Google Shape;164;p23"/>
          <p:cNvSpPr txBox="1"/>
          <p:nvPr/>
        </p:nvSpPr>
        <p:spPr>
          <a:xfrm>
            <a:off x="7681775" y="1458050"/>
            <a:ext cx="127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clock source</a:t>
            </a:r>
            <a:endParaRPr>
              <a:solidFill>
                <a:srgbClr val="0000FF"/>
              </a:solidFill>
            </a:endParaRPr>
          </a:p>
        </p:txBody>
      </p:sp>
      <p:pic>
        <p:nvPicPr>
          <p:cNvPr id="165" name="Google Shape;165;p23"/>
          <p:cNvPicPr preferRelativeResize="0"/>
          <p:nvPr/>
        </p:nvPicPr>
        <p:blipFill rotWithShape="1">
          <a:blip r:embed="rId3">
            <a:alphaModFix/>
          </a:blip>
          <a:srcRect b="74460" l="0" r="0" t="17193"/>
          <a:stretch/>
        </p:blipFill>
        <p:spPr>
          <a:xfrm>
            <a:off x="6700" y="1902475"/>
            <a:ext cx="7743424" cy="478475"/>
          </a:xfrm>
          <a:prstGeom prst="rect">
            <a:avLst/>
          </a:prstGeom>
          <a:noFill/>
          <a:ln>
            <a:noFill/>
          </a:ln>
        </p:spPr>
      </p:pic>
      <p:pic>
        <p:nvPicPr>
          <p:cNvPr id="166" name="Google Shape;166;p23"/>
          <p:cNvPicPr preferRelativeResize="0"/>
          <p:nvPr/>
        </p:nvPicPr>
        <p:blipFill rotWithShape="1">
          <a:blip r:embed="rId3">
            <a:alphaModFix/>
          </a:blip>
          <a:srcRect b="55457" l="0" r="0" t="25464"/>
          <a:stretch/>
        </p:blipFill>
        <p:spPr>
          <a:xfrm>
            <a:off x="6700" y="2380950"/>
            <a:ext cx="7743424" cy="1093650"/>
          </a:xfrm>
          <a:prstGeom prst="rect">
            <a:avLst/>
          </a:prstGeom>
          <a:noFill/>
          <a:ln>
            <a:noFill/>
          </a:ln>
        </p:spPr>
      </p:pic>
      <p:sp>
        <p:nvSpPr>
          <p:cNvPr id="167" name="Google Shape;167;p23"/>
          <p:cNvSpPr txBox="1"/>
          <p:nvPr/>
        </p:nvSpPr>
        <p:spPr>
          <a:xfrm>
            <a:off x="7681775" y="1941625"/>
            <a:ext cx="138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counter enable</a:t>
            </a:r>
            <a:endParaRPr>
              <a:solidFill>
                <a:srgbClr val="0000FF"/>
              </a:solidFill>
            </a:endParaRPr>
          </a:p>
        </p:txBody>
      </p:sp>
      <p:sp>
        <p:nvSpPr>
          <p:cNvPr id="168" name="Google Shape;168;p23"/>
          <p:cNvSpPr txBox="1"/>
          <p:nvPr/>
        </p:nvSpPr>
        <p:spPr>
          <a:xfrm>
            <a:off x="7681725" y="2425175"/>
            <a:ext cx="1454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timer clock and counter start</a:t>
            </a:r>
            <a:endParaRPr>
              <a:solidFill>
                <a:srgbClr val="0000FF"/>
              </a:solidFill>
            </a:endParaRPr>
          </a:p>
        </p:txBody>
      </p:sp>
      <p:pic>
        <p:nvPicPr>
          <p:cNvPr id="169" name="Google Shape;169;p23"/>
          <p:cNvPicPr preferRelativeResize="0"/>
          <p:nvPr/>
        </p:nvPicPr>
        <p:blipFill rotWithShape="1">
          <a:blip r:embed="rId3">
            <a:alphaModFix/>
          </a:blip>
          <a:srcRect b="46989" l="0" r="0" t="44664"/>
          <a:stretch/>
        </p:blipFill>
        <p:spPr>
          <a:xfrm>
            <a:off x="6700" y="3474600"/>
            <a:ext cx="7743424" cy="478475"/>
          </a:xfrm>
          <a:prstGeom prst="rect">
            <a:avLst/>
          </a:prstGeom>
          <a:noFill/>
          <a:ln>
            <a:noFill/>
          </a:ln>
        </p:spPr>
      </p:pic>
      <p:pic>
        <p:nvPicPr>
          <p:cNvPr id="170" name="Google Shape;170;p23"/>
          <p:cNvPicPr preferRelativeResize="0"/>
          <p:nvPr/>
        </p:nvPicPr>
        <p:blipFill rotWithShape="1">
          <a:blip r:embed="rId3">
            <a:alphaModFix/>
          </a:blip>
          <a:srcRect b="26595" l="0" r="0" t="52515"/>
          <a:stretch/>
        </p:blipFill>
        <p:spPr>
          <a:xfrm>
            <a:off x="6700" y="3955825"/>
            <a:ext cx="7743424" cy="1197474"/>
          </a:xfrm>
          <a:prstGeom prst="rect">
            <a:avLst/>
          </a:prstGeom>
          <a:noFill/>
          <a:ln>
            <a:noFill/>
          </a:ln>
        </p:spPr>
      </p:pic>
      <p:sp>
        <p:nvSpPr>
          <p:cNvPr id="171" name="Google Shape;171;p23"/>
          <p:cNvSpPr txBox="1"/>
          <p:nvPr/>
        </p:nvSpPr>
        <p:spPr>
          <a:xfrm>
            <a:off x="7681775" y="3190500"/>
            <a:ext cx="1568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counter reaches auto-reset value</a:t>
            </a:r>
            <a:endParaRPr>
              <a:solidFill>
                <a:srgbClr val="0000FF"/>
              </a:solidFill>
            </a:endParaRPr>
          </a:p>
        </p:txBody>
      </p:sp>
      <p:sp>
        <p:nvSpPr>
          <p:cNvPr id="172" name="Google Shape;172;p23"/>
          <p:cNvSpPr txBox="1"/>
          <p:nvPr/>
        </p:nvSpPr>
        <p:spPr>
          <a:xfrm>
            <a:off x="7681775" y="3955825"/>
            <a:ext cx="1386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new prescaler value takes effect</a:t>
            </a:r>
            <a:endParaRPr>
              <a:solidFill>
                <a:srgbClr val="0000FF"/>
              </a:solidFill>
            </a:endParaRPr>
          </a:p>
        </p:txBody>
      </p:sp>
      <p:sp>
        <p:nvSpPr>
          <p:cNvPr id="173" name="Google Shape;173;p23"/>
          <p:cNvSpPr/>
          <p:nvPr/>
        </p:nvSpPr>
        <p:spPr>
          <a:xfrm>
            <a:off x="4921350" y="1275900"/>
            <a:ext cx="2760300" cy="402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3"/>
          <p:cNvSpPr/>
          <p:nvPr/>
        </p:nvSpPr>
        <p:spPr>
          <a:xfrm>
            <a:off x="4686425" y="1348550"/>
            <a:ext cx="360300" cy="402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5" name="Google Shape;175;p23"/>
          <p:cNvPicPr preferRelativeResize="0"/>
          <p:nvPr/>
        </p:nvPicPr>
        <p:blipFill rotWithShape="1">
          <a:blip r:embed="rId3">
            <a:alphaModFix/>
          </a:blip>
          <a:srcRect b="32983" l="0" r="62865" t="52515"/>
          <a:stretch/>
        </p:blipFill>
        <p:spPr>
          <a:xfrm>
            <a:off x="6700" y="3953075"/>
            <a:ext cx="2875476" cy="831300"/>
          </a:xfrm>
          <a:prstGeom prst="rect">
            <a:avLst/>
          </a:prstGeom>
          <a:noFill/>
          <a:ln>
            <a:noFill/>
          </a:ln>
        </p:spPr>
      </p:pic>
      <p:pic>
        <p:nvPicPr>
          <p:cNvPr id="176" name="Google Shape;176;p23"/>
          <p:cNvPicPr preferRelativeResize="0"/>
          <p:nvPr/>
        </p:nvPicPr>
        <p:blipFill rotWithShape="1">
          <a:blip r:embed="rId3">
            <a:alphaModFix/>
          </a:blip>
          <a:srcRect b="4883" l="0" r="0" t="83392"/>
          <a:stretch/>
        </p:blipFill>
        <p:spPr>
          <a:xfrm>
            <a:off x="6700" y="5156050"/>
            <a:ext cx="7743424" cy="672149"/>
          </a:xfrm>
          <a:prstGeom prst="rect">
            <a:avLst/>
          </a:prstGeom>
          <a:noFill/>
          <a:ln>
            <a:noFill/>
          </a:ln>
        </p:spPr>
      </p:pic>
      <p:sp>
        <p:nvSpPr>
          <p:cNvPr id="177" name="Google Shape;177;p23"/>
          <p:cNvSpPr txBox="1"/>
          <p:nvPr/>
        </p:nvSpPr>
        <p:spPr>
          <a:xfrm>
            <a:off x="7626725" y="5156050"/>
            <a:ext cx="138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clock divided down by 4</a:t>
            </a:r>
            <a:endParaRPr>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Selecting the prescaler</a:t>
            </a:r>
            <a:endParaRPr/>
          </a:p>
        </p:txBody>
      </p:sp>
      <p:sp>
        <p:nvSpPr>
          <p:cNvPr id="183" name="Google Shape;183;p2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Prescaler divides down the processor clock to a lower frequency</a:t>
            </a:r>
            <a:endParaRPr sz="1600"/>
          </a:p>
          <a:p>
            <a:pPr indent="-330200" lvl="0" marL="457200" rtl="0" algn="l">
              <a:spcBef>
                <a:spcPts val="1000"/>
              </a:spcBef>
              <a:spcAft>
                <a:spcPts val="0"/>
              </a:spcAft>
              <a:buSzPts val="1600"/>
              <a:buChar char="●"/>
            </a:pPr>
            <a:r>
              <a:rPr lang="en" sz="1600"/>
              <a:t>Any integer denominator choice is possible, as long as it fits the 16-bit prescaler register! </a:t>
            </a:r>
            <a:endParaRPr sz="1600"/>
          </a:p>
          <a:p>
            <a:pPr indent="-330200" lvl="1" marL="914400" rtl="0" algn="l">
              <a:spcBef>
                <a:spcPts val="1000"/>
              </a:spcBef>
              <a:spcAft>
                <a:spcPts val="0"/>
              </a:spcAft>
              <a:buSzPts val="1600"/>
              <a:buChar char="○"/>
            </a:pPr>
            <a:r>
              <a:rPr lang="en" sz="1600"/>
              <a:t>So any denominator between 1 and 65,536.</a:t>
            </a:r>
            <a:endParaRPr sz="1600"/>
          </a:p>
          <a:p>
            <a:pPr indent="-330200" lvl="1" marL="914400" rtl="0" algn="l">
              <a:spcBef>
                <a:spcPts val="1000"/>
              </a:spcBef>
              <a:spcAft>
                <a:spcPts val="0"/>
              </a:spcAft>
              <a:buSzPts val="1600"/>
              <a:buChar char="○"/>
            </a:pPr>
            <a:r>
              <a:rPr lang="en" sz="1600"/>
              <a:t>You write (denominator - 1) into the register.</a:t>
            </a:r>
            <a:endParaRPr sz="1600"/>
          </a:p>
          <a:p>
            <a:pPr indent="-330200" lvl="0" marL="457200" rtl="0" algn="l">
              <a:spcBef>
                <a:spcPts val="1000"/>
              </a:spcBef>
              <a:spcAft>
                <a:spcPts val="0"/>
              </a:spcAft>
              <a:buSzPts val="1600"/>
              <a:buChar char="●"/>
            </a:pPr>
            <a:r>
              <a:rPr lang="en" sz="1600"/>
              <a:t>Which denominator would you choose for our 500 ms (6,000,000 system clock cycles) timer?</a:t>
            </a:r>
            <a:endParaRPr sz="1600"/>
          </a:p>
          <a:p>
            <a:pPr indent="0" lvl="0" marL="457200" rtl="0" algn="l">
              <a:spcBef>
                <a:spcPts val="1000"/>
              </a:spcBef>
              <a:spcAft>
                <a:spcPts val="0"/>
              </a:spcAft>
              <a:buNone/>
            </a:pPr>
            <a:r>
              <a:t/>
            </a:r>
            <a:endParaRPr sz="1600"/>
          </a:p>
          <a:p>
            <a:pPr indent="0" lvl="0" marL="0" rtl="0" algn="l">
              <a:spcBef>
                <a:spcPts val="1000"/>
              </a:spcBef>
              <a:spcAft>
                <a:spcPts val="1600"/>
              </a:spcAft>
              <a:buNone/>
            </a:pPr>
            <a:r>
              <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 name="Shape 187"/>
        <p:cNvGrpSpPr/>
        <p:nvPr/>
      </p:nvGrpSpPr>
      <p:grpSpPr>
        <a:xfrm>
          <a:off x="0" y="0"/>
          <a:ext cx="0" cy="0"/>
          <a:chOff x="0" y="0"/>
          <a:chExt cx="0" cy="0"/>
        </a:xfrm>
      </p:grpSpPr>
      <p:sp>
        <p:nvSpPr>
          <p:cNvPr id="188" name="Google Shape;188;p2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Selecting the prescaler</a:t>
            </a:r>
            <a:endParaRPr/>
          </a:p>
        </p:txBody>
      </p:sp>
      <p:sp>
        <p:nvSpPr>
          <p:cNvPr id="189" name="Google Shape;189;p2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Prescaler divides down the processor clock to a lower frequency</a:t>
            </a:r>
            <a:endParaRPr sz="1600"/>
          </a:p>
          <a:p>
            <a:pPr indent="-330200" lvl="0" marL="457200" rtl="0" algn="l">
              <a:spcBef>
                <a:spcPts val="1000"/>
              </a:spcBef>
              <a:spcAft>
                <a:spcPts val="0"/>
              </a:spcAft>
              <a:buSzPts val="1600"/>
              <a:buChar char="●"/>
            </a:pPr>
            <a:r>
              <a:rPr lang="en" sz="1600"/>
              <a:t>Any integer denominator choice is possible, as long as it fits the 16-bit prescaler register! </a:t>
            </a:r>
            <a:endParaRPr sz="1600"/>
          </a:p>
          <a:p>
            <a:pPr indent="-330200" lvl="1" marL="914400" rtl="0" algn="l">
              <a:spcBef>
                <a:spcPts val="1000"/>
              </a:spcBef>
              <a:spcAft>
                <a:spcPts val="0"/>
              </a:spcAft>
              <a:buSzPts val="1600"/>
              <a:buChar char="○"/>
            </a:pPr>
            <a:r>
              <a:rPr lang="en" sz="1600"/>
              <a:t>So any denominator between 1 and 65,536.</a:t>
            </a:r>
            <a:endParaRPr sz="1600"/>
          </a:p>
          <a:p>
            <a:pPr indent="-330200" lvl="1" marL="914400" rtl="0" algn="l">
              <a:spcBef>
                <a:spcPts val="1000"/>
              </a:spcBef>
              <a:spcAft>
                <a:spcPts val="0"/>
              </a:spcAft>
              <a:buSzPts val="1600"/>
              <a:buChar char="○"/>
            </a:pPr>
            <a:r>
              <a:rPr lang="en" sz="1600"/>
              <a:t>You write (denominator - 1) into the register.</a:t>
            </a:r>
            <a:endParaRPr sz="1600"/>
          </a:p>
          <a:p>
            <a:pPr indent="-330200" lvl="0" marL="457200" rtl="0" algn="l">
              <a:spcBef>
                <a:spcPts val="1000"/>
              </a:spcBef>
              <a:spcAft>
                <a:spcPts val="0"/>
              </a:spcAft>
              <a:buSzPts val="1600"/>
              <a:buChar char="●"/>
            </a:pPr>
            <a:r>
              <a:rPr lang="en" sz="1600"/>
              <a:t>Which denominator would you choose for our 500 ms (6,000,000 system clock cycles) timer?</a:t>
            </a:r>
            <a:endParaRPr sz="1600"/>
          </a:p>
          <a:p>
            <a:pPr indent="0" lvl="0" marL="457200" rtl="0" algn="l">
              <a:spcBef>
                <a:spcPts val="1000"/>
              </a:spcBef>
              <a:spcAft>
                <a:spcPts val="0"/>
              </a:spcAft>
              <a:buNone/>
            </a:pPr>
            <a:r>
              <a:t/>
            </a:r>
            <a:endParaRPr sz="1600"/>
          </a:p>
          <a:p>
            <a:pPr indent="0" lvl="0" marL="0" rtl="0" algn="l">
              <a:spcBef>
                <a:spcPts val="1000"/>
              </a:spcBef>
              <a:spcAft>
                <a:spcPts val="1600"/>
              </a:spcAft>
              <a:buNone/>
            </a:pPr>
            <a:r>
              <a:t/>
            </a:r>
            <a:endParaRPr sz="1600"/>
          </a:p>
        </p:txBody>
      </p:sp>
      <p:sp>
        <p:nvSpPr>
          <p:cNvPr id="190" name="Google Shape;190;p25"/>
          <p:cNvSpPr txBox="1"/>
          <p:nvPr/>
        </p:nvSpPr>
        <p:spPr>
          <a:xfrm>
            <a:off x="311700" y="4237825"/>
            <a:ext cx="82893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FF"/>
                </a:solidFill>
              </a:rPr>
              <a:t>Lots of choices:</a:t>
            </a:r>
            <a:endParaRPr sz="1600">
              <a:solidFill>
                <a:srgbClr val="0000FF"/>
              </a:solidFill>
            </a:endParaRPr>
          </a:p>
          <a:p>
            <a:pPr indent="-330200" lvl="0" marL="457200" rtl="0" algn="l">
              <a:spcBef>
                <a:spcPts val="0"/>
              </a:spcBef>
              <a:spcAft>
                <a:spcPts val="0"/>
              </a:spcAft>
              <a:buClr>
                <a:srgbClr val="0000FF"/>
              </a:buClr>
              <a:buSzPts val="1600"/>
              <a:buChar char="●"/>
            </a:pPr>
            <a:r>
              <a:rPr lang="en" sz="1600">
                <a:solidFill>
                  <a:srgbClr val="0000FF"/>
                </a:solidFill>
              </a:rPr>
              <a:t>6,000,000 / 10,000 = 600 (prescaler = 10,000, auto-reload = 600)</a:t>
            </a:r>
            <a:endParaRPr sz="1600">
              <a:solidFill>
                <a:srgbClr val="0000FF"/>
              </a:solidFill>
            </a:endParaRPr>
          </a:p>
          <a:p>
            <a:pPr indent="-330200" lvl="0" marL="457200" rtl="0" algn="l">
              <a:spcBef>
                <a:spcPts val="0"/>
              </a:spcBef>
              <a:spcAft>
                <a:spcPts val="0"/>
              </a:spcAft>
              <a:buClr>
                <a:srgbClr val="0000FF"/>
              </a:buClr>
              <a:buSzPts val="1600"/>
              <a:buChar char="●"/>
            </a:pPr>
            <a:r>
              <a:rPr lang="en" sz="1600">
                <a:solidFill>
                  <a:srgbClr val="0000FF"/>
                </a:solidFill>
              </a:rPr>
              <a:t>6,000,000 / 6000 = 1000 (prescaler = 6000, auto-reload = 1000)</a:t>
            </a:r>
            <a:endParaRPr sz="1600">
              <a:solidFill>
                <a:srgbClr val="0000FF"/>
              </a:solidFill>
            </a:endParaRPr>
          </a:p>
          <a:p>
            <a:pPr indent="-330200" lvl="0" marL="457200" rtl="0" algn="l">
              <a:spcBef>
                <a:spcPts val="0"/>
              </a:spcBef>
              <a:spcAft>
                <a:spcPts val="0"/>
              </a:spcAft>
              <a:buClr>
                <a:srgbClr val="0000FF"/>
              </a:buClr>
              <a:buSzPts val="1600"/>
              <a:buChar char="●"/>
            </a:pPr>
            <a:r>
              <a:rPr lang="en" sz="1600">
                <a:solidFill>
                  <a:srgbClr val="0000FF"/>
                </a:solidFill>
              </a:rPr>
              <a:t>6,000,000 / 12,000 = 500 (prescaler = 12000, auto-reload = 500) </a:t>
            </a:r>
            <a:endParaRPr sz="1600">
              <a:solidFill>
                <a:srgbClr val="0000FF"/>
              </a:solidFill>
            </a:endParaRPr>
          </a:p>
          <a:p>
            <a:pPr indent="-330200" lvl="0" marL="457200" rtl="0" algn="l">
              <a:spcBef>
                <a:spcPts val="0"/>
              </a:spcBef>
              <a:spcAft>
                <a:spcPts val="0"/>
              </a:spcAft>
              <a:buClr>
                <a:srgbClr val="FF0000"/>
              </a:buClr>
              <a:buSzPts val="1600"/>
              <a:buChar char="●"/>
            </a:pPr>
            <a:r>
              <a:rPr lang="en" sz="1600">
                <a:solidFill>
                  <a:srgbClr val="FF0000"/>
                </a:solidFill>
              </a:rPr>
              <a:t>6,000,000 / 60 = 100,000 -&gt; can't count that far</a:t>
            </a:r>
            <a:endParaRPr sz="1600">
              <a:solidFill>
                <a:srgbClr val="FF0000"/>
              </a:solidFill>
            </a:endParaRPr>
          </a:p>
          <a:p>
            <a:pPr indent="-330200" lvl="0" marL="457200" rtl="0" algn="l">
              <a:spcBef>
                <a:spcPts val="0"/>
              </a:spcBef>
              <a:spcAft>
                <a:spcPts val="0"/>
              </a:spcAft>
              <a:buClr>
                <a:srgbClr val="FF0000"/>
              </a:buClr>
              <a:buSzPts val="1600"/>
              <a:buChar char="●"/>
            </a:pPr>
            <a:r>
              <a:rPr lang="en" sz="1600">
                <a:solidFill>
                  <a:srgbClr val="FF0000"/>
                </a:solidFill>
              </a:rPr>
              <a:t>6,000,000 / 65,536 = 91.5527… -&gt; not an integer</a:t>
            </a:r>
            <a:endParaRPr sz="1600">
              <a:solidFill>
                <a:srgbClr val="FF0000"/>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91" name="Google Shape;191;p25"/>
          <p:cNvSpPr txBox="1"/>
          <p:nvPr/>
        </p:nvSpPr>
        <p:spPr>
          <a:xfrm>
            <a:off x="7510850" y="4784650"/>
            <a:ext cx="1321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38761D"/>
                </a:solidFill>
              </a:rPr>
              <a:t>Each counter clock tick is 1ms!</a:t>
            </a:r>
            <a:endParaRPr sz="1200">
              <a:solidFill>
                <a:srgbClr val="38761D"/>
              </a:solidFill>
            </a:endParaRPr>
          </a:p>
        </p:txBody>
      </p:sp>
      <p:cxnSp>
        <p:nvCxnSpPr>
          <p:cNvPr id="192" name="Google Shape;192;p25"/>
          <p:cNvCxnSpPr>
            <a:stCxn id="191" idx="1"/>
          </p:cNvCxnSpPr>
          <p:nvPr/>
        </p:nvCxnSpPr>
        <p:spPr>
          <a:xfrm flipH="1">
            <a:off x="6698450" y="5154100"/>
            <a:ext cx="812400" cy="40800"/>
          </a:xfrm>
          <a:prstGeom prst="straightConnector1">
            <a:avLst/>
          </a:prstGeom>
          <a:noFill/>
          <a:ln cap="flat" cmpd="sng" w="28575">
            <a:solidFill>
              <a:srgbClr val="38761D"/>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txBox="1"/>
          <p:nvPr>
            <p:ph type="title"/>
          </p:nvPr>
        </p:nvSpPr>
        <p:spPr>
          <a:xfrm>
            <a:off x="311700" y="428100"/>
            <a:ext cx="2627400" cy="12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Counter/Timer Setup, 1</a:t>
            </a:r>
            <a:endParaRPr/>
          </a:p>
        </p:txBody>
      </p:sp>
      <p:sp>
        <p:nvSpPr>
          <p:cNvPr id="198" name="Google Shape;198;p26"/>
          <p:cNvSpPr txBox="1"/>
          <p:nvPr>
            <p:ph idx="1" type="body"/>
          </p:nvPr>
        </p:nvSpPr>
        <p:spPr>
          <a:xfrm>
            <a:off x="129425" y="1632925"/>
            <a:ext cx="2536200" cy="975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00FF"/>
              </a:buClr>
              <a:buSzPts val="1600"/>
              <a:buAutoNum type="arabicPeriod"/>
            </a:pPr>
            <a:r>
              <a:rPr lang="en" sz="1600">
                <a:solidFill>
                  <a:srgbClr val="0000FF"/>
                </a:solidFill>
              </a:rPr>
              <a:t>Enable clock access to timer 14 on the APB bus</a:t>
            </a:r>
            <a:endParaRPr sz="1600">
              <a:solidFill>
                <a:srgbClr val="0000FF"/>
              </a:solidFill>
            </a:endParaRPr>
          </a:p>
          <a:p>
            <a:pPr indent="0" lvl="0" marL="0" rtl="0" algn="l">
              <a:spcBef>
                <a:spcPts val="1000"/>
              </a:spcBef>
              <a:spcAft>
                <a:spcPts val="0"/>
              </a:spcAft>
              <a:buNone/>
            </a:pPr>
            <a:r>
              <a:t/>
            </a:r>
            <a:endParaRPr sz="1600">
              <a:solidFill>
                <a:srgbClr val="0000FF"/>
              </a:solidFill>
            </a:endParaRPr>
          </a:p>
          <a:p>
            <a:pPr indent="0" lvl="0" marL="457200" rtl="0" algn="l">
              <a:spcBef>
                <a:spcPts val="1000"/>
              </a:spcBef>
              <a:spcAft>
                <a:spcPts val="1600"/>
              </a:spcAft>
              <a:buNone/>
            </a:pPr>
            <a:r>
              <a:t/>
            </a:r>
            <a:endParaRPr sz="1600"/>
          </a:p>
        </p:txBody>
      </p:sp>
      <p:pic>
        <p:nvPicPr>
          <p:cNvPr id="199" name="Google Shape;199;p26"/>
          <p:cNvPicPr preferRelativeResize="0"/>
          <p:nvPr/>
        </p:nvPicPr>
        <p:blipFill>
          <a:blip r:embed="rId3">
            <a:alphaModFix/>
          </a:blip>
          <a:stretch>
            <a:fillRect/>
          </a:stretch>
        </p:blipFill>
        <p:spPr>
          <a:xfrm>
            <a:off x="2665725" y="197025"/>
            <a:ext cx="6369824" cy="6505652"/>
          </a:xfrm>
          <a:prstGeom prst="rect">
            <a:avLst/>
          </a:prstGeom>
          <a:noFill/>
          <a:ln>
            <a:noFill/>
          </a:ln>
        </p:spPr>
      </p:pic>
      <p:sp>
        <p:nvSpPr>
          <p:cNvPr id="200" name="Google Shape;200;p26"/>
          <p:cNvSpPr/>
          <p:nvPr/>
        </p:nvSpPr>
        <p:spPr>
          <a:xfrm>
            <a:off x="7051675" y="4010000"/>
            <a:ext cx="683400" cy="8886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6"/>
          <p:cNvSpPr/>
          <p:nvPr/>
        </p:nvSpPr>
        <p:spPr>
          <a:xfrm>
            <a:off x="6600300" y="2738400"/>
            <a:ext cx="120900" cy="32196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2" name="Google Shape;202;p26"/>
          <p:cNvGrpSpPr/>
          <p:nvPr/>
        </p:nvGrpSpPr>
        <p:grpSpPr>
          <a:xfrm>
            <a:off x="231975" y="2720527"/>
            <a:ext cx="5341249" cy="2945522"/>
            <a:chOff x="231975" y="2720527"/>
            <a:chExt cx="5341249" cy="2945522"/>
          </a:xfrm>
        </p:grpSpPr>
        <p:pic>
          <p:nvPicPr>
            <p:cNvPr id="203" name="Google Shape;203;p26"/>
            <p:cNvPicPr preferRelativeResize="0"/>
            <p:nvPr/>
          </p:nvPicPr>
          <p:blipFill rotWithShape="1">
            <a:blip r:embed="rId4">
              <a:alphaModFix/>
            </a:blip>
            <a:srcRect b="0" l="0" r="0" t="59958"/>
            <a:stretch/>
          </p:blipFill>
          <p:spPr>
            <a:xfrm>
              <a:off x="231975" y="3213049"/>
              <a:ext cx="5341249" cy="2452999"/>
            </a:xfrm>
            <a:prstGeom prst="rect">
              <a:avLst/>
            </a:prstGeom>
            <a:noFill/>
            <a:ln cap="flat" cmpd="sng" w="28575">
              <a:solidFill>
                <a:srgbClr val="38761D"/>
              </a:solidFill>
              <a:prstDash val="solid"/>
              <a:round/>
              <a:headEnd len="sm" w="sm" type="none"/>
              <a:tailEnd len="sm" w="sm" type="none"/>
            </a:ln>
          </p:spPr>
        </p:pic>
        <p:pic>
          <p:nvPicPr>
            <p:cNvPr id="204" name="Google Shape;204;p26"/>
            <p:cNvPicPr preferRelativeResize="0"/>
            <p:nvPr/>
          </p:nvPicPr>
          <p:blipFill rotWithShape="1">
            <a:blip r:embed="rId4">
              <a:alphaModFix/>
            </a:blip>
            <a:srcRect b="91623" l="0" r="0" t="250"/>
            <a:stretch/>
          </p:blipFill>
          <p:spPr>
            <a:xfrm>
              <a:off x="231975" y="2720527"/>
              <a:ext cx="5341249" cy="497901"/>
            </a:xfrm>
            <a:prstGeom prst="rect">
              <a:avLst/>
            </a:prstGeom>
            <a:noFill/>
            <a:ln cap="flat" cmpd="sng" w="28575">
              <a:solidFill>
                <a:srgbClr val="38761D"/>
              </a:solidFill>
              <a:prstDash val="solid"/>
              <a:round/>
              <a:headEnd len="sm" w="sm" type="none"/>
              <a:tailEnd len="sm" w="sm" type="none"/>
            </a:ln>
          </p:spPr>
        </p:pic>
      </p:grpSp>
      <p:sp>
        <p:nvSpPr>
          <p:cNvPr id="205" name="Google Shape;205;p26"/>
          <p:cNvSpPr/>
          <p:nvPr/>
        </p:nvSpPr>
        <p:spPr>
          <a:xfrm>
            <a:off x="3410550" y="5016800"/>
            <a:ext cx="177900" cy="4281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6"/>
          <p:cNvSpPr txBox="1"/>
          <p:nvPr/>
        </p:nvSpPr>
        <p:spPr>
          <a:xfrm>
            <a:off x="375925" y="5923850"/>
            <a:ext cx="4089900" cy="400200"/>
          </a:xfrm>
          <a:prstGeom prst="rect">
            <a:avLst/>
          </a:prstGeom>
          <a:solidFill>
            <a:schemeClr val="lt1"/>
          </a:solidFill>
          <a:ln cap="flat" cmpd="sng" w="2857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00FF"/>
                </a:solidFill>
                <a:latin typeface="Courier New"/>
                <a:ea typeface="Courier New"/>
                <a:cs typeface="Courier New"/>
                <a:sym typeface="Courier New"/>
              </a:rPr>
              <a:t>RCC-&gt;APBENR2 |= RCC_APBENR2_TIM14EN;</a:t>
            </a:r>
            <a:endParaRPr b="1">
              <a:solidFill>
                <a:srgbClr val="0000FF"/>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197788" y="56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Counter/Timer Setup, 2</a:t>
            </a:r>
            <a:endParaRPr/>
          </a:p>
        </p:txBody>
      </p:sp>
      <p:sp>
        <p:nvSpPr>
          <p:cNvPr id="212" name="Google Shape;212;p27"/>
          <p:cNvSpPr txBox="1"/>
          <p:nvPr/>
        </p:nvSpPr>
        <p:spPr>
          <a:xfrm>
            <a:off x="307400" y="638675"/>
            <a:ext cx="7910100" cy="387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rgbClr val="38761D"/>
                </a:solidFill>
              </a:rPr>
              <a:t>2.  Set prescaler value:</a:t>
            </a:r>
            <a:endParaRPr sz="1600">
              <a:solidFill>
                <a:srgbClr val="38761D"/>
              </a:solidFill>
            </a:endParaRPr>
          </a:p>
          <a:p>
            <a:pPr indent="-330200" lvl="0" marL="457200" rtl="0" algn="l">
              <a:lnSpc>
                <a:spcPct val="115000"/>
              </a:lnSpc>
              <a:spcBef>
                <a:spcPts val="1000"/>
              </a:spcBef>
              <a:spcAft>
                <a:spcPts val="0"/>
              </a:spcAft>
              <a:buClr>
                <a:srgbClr val="38761D"/>
              </a:buClr>
              <a:buSzPts val="1600"/>
              <a:buChar char="●"/>
            </a:pPr>
            <a:r>
              <a:rPr lang="en" sz="1600">
                <a:solidFill>
                  <a:schemeClr val="dk1"/>
                </a:solidFill>
              </a:rPr>
              <a:t>Counter starts counting at 0, so subtract 1 from desired value.</a:t>
            </a:r>
            <a:r>
              <a:rPr lang="en" sz="1600">
                <a:solidFill>
                  <a:srgbClr val="38761D"/>
                </a:solidFill>
              </a:rPr>
              <a:t> </a:t>
            </a:r>
            <a:endParaRPr sz="1600">
              <a:solidFill>
                <a:srgbClr val="38761D"/>
              </a:solidFill>
            </a:endParaRPr>
          </a:p>
          <a:p>
            <a:pPr indent="0" lvl="0" marL="0" rtl="0" algn="l">
              <a:lnSpc>
                <a:spcPct val="115000"/>
              </a:lnSpc>
              <a:spcBef>
                <a:spcPts val="1000"/>
              </a:spcBef>
              <a:spcAft>
                <a:spcPts val="0"/>
              </a:spcAft>
              <a:buNone/>
            </a:pPr>
            <a:r>
              <a:rPr lang="en" sz="1600">
                <a:solidFill>
                  <a:srgbClr val="38761D"/>
                </a:solidFill>
              </a:rPr>
              <a:t>	</a:t>
            </a:r>
            <a:r>
              <a:rPr b="1" lang="en" sz="1600">
                <a:solidFill>
                  <a:srgbClr val="38761D"/>
                </a:solidFill>
                <a:latin typeface="Courier New"/>
                <a:ea typeface="Courier New"/>
                <a:cs typeface="Courier New"/>
                <a:sym typeface="Courier New"/>
              </a:rPr>
              <a:t>#define PSC_FACTOR 12000</a:t>
            </a:r>
            <a:br>
              <a:rPr b="1" lang="en" sz="1600">
                <a:solidFill>
                  <a:srgbClr val="38761D"/>
                </a:solidFill>
                <a:latin typeface="Courier New"/>
                <a:ea typeface="Courier New"/>
                <a:cs typeface="Courier New"/>
                <a:sym typeface="Courier New"/>
              </a:rPr>
            </a:br>
            <a:r>
              <a:rPr b="1" lang="en" sz="1600">
                <a:solidFill>
                  <a:srgbClr val="38761D"/>
                </a:solidFill>
                <a:latin typeface="Courier New"/>
                <a:ea typeface="Courier New"/>
                <a:cs typeface="Courier New"/>
                <a:sym typeface="Courier New"/>
              </a:rPr>
              <a:t>	TIM14-&gt;PSC = PSC_FACTOR - 1;</a:t>
            </a:r>
            <a:r>
              <a:rPr lang="en" sz="1600">
                <a:solidFill>
                  <a:srgbClr val="38761D"/>
                </a:solidFill>
              </a:rPr>
              <a:t> </a:t>
            </a:r>
            <a:endParaRPr sz="1600">
              <a:solidFill>
                <a:srgbClr val="38761D"/>
              </a:solidFill>
            </a:endParaRPr>
          </a:p>
          <a:p>
            <a:pPr indent="0" lvl="0" marL="0" rtl="0" algn="l">
              <a:lnSpc>
                <a:spcPct val="115000"/>
              </a:lnSpc>
              <a:spcBef>
                <a:spcPts val="1000"/>
              </a:spcBef>
              <a:spcAft>
                <a:spcPts val="0"/>
              </a:spcAft>
              <a:buNone/>
            </a:pPr>
            <a:r>
              <a:rPr lang="en" sz="1600">
                <a:solidFill>
                  <a:srgbClr val="CC0000"/>
                </a:solidFill>
              </a:rPr>
              <a:t>3.  Load maximum count into auto-reload register:</a:t>
            </a:r>
            <a:endParaRPr sz="1600">
              <a:solidFill>
                <a:srgbClr val="CC0000"/>
              </a:solidFill>
            </a:endParaRPr>
          </a:p>
          <a:p>
            <a:pPr indent="-330200" lvl="0" marL="457200" rtl="0" algn="l">
              <a:lnSpc>
                <a:spcPct val="115000"/>
              </a:lnSpc>
              <a:spcBef>
                <a:spcPts val="1000"/>
              </a:spcBef>
              <a:spcAft>
                <a:spcPts val="0"/>
              </a:spcAft>
              <a:buClr>
                <a:schemeClr val="dk2"/>
              </a:buClr>
              <a:buSzPts val="1600"/>
              <a:buChar char="●"/>
            </a:pPr>
            <a:r>
              <a:rPr lang="en" sz="1600">
                <a:solidFill>
                  <a:schemeClr val="dk2"/>
                </a:solidFill>
              </a:rPr>
              <a:t>Counter will count to this value, then trigger the interrupt and reset to 0</a:t>
            </a:r>
            <a:endParaRPr sz="1600">
              <a:solidFill>
                <a:schemeClr val="dk2"/>
              </a:solidFill>
            </a:endParaRPr>
          </a:p>
          <a:p>
            <a:pPr indent="0" lvl="0" marL="0" rtl="0" algn="l">
              <a:lnSpc>
                <a:spcPct val="115000"/>
              </a:lnSpc>
              <a:spcBef>
                <a:spcPts val="1000"/>
              </a:spcBef>
              <a:spcAft>
                <a:spcPts val="0"/>
              </a:spcAft>
              <a:buNone/>
            </a:pPr>
            <a:r>
              <a:rPr lang="en" sz="1600">
                <a:solidFill>
                  <a:schemeClr val="dk2"/>
                </a:solidFill>
              </a:rPr>
              <a:t>	</a:t>
            </a:r>
            <a:r>
              <a:rPr b="1" lang="en" sz="1600">
                <a:solidFill>
                  <a:srgbClr val="CC0000"/>
                </a:solidFill>
                <a:latin typeface="Courier New"/>
                <a:ea typeface="Courier New"/>
                <a:cs typeface="Courier New"/>
                <a:sym typeface="Courier New"/>
              </a:rPr>
              <a:t>#define ARR_FACTOR  500</a:t>
            </a:r>
            <a:br>
              <a:rPr b="1" lang="en" sz="1600">
                <a:solidFill>
                  <a:srgbClr val="CC0000"/>
                </a:solidFill>
                <a:latin typeface="Courier New"/>
                <a:ea typeface="Courier New"/>
                <a:cs typeface="Courier New"/>
                <a:sym typeface="Courier New"/>
              </a:rPr>
            </a:br>
            <a:r>
              <a:rPr b="1" lang="en" sz="1600">
                <a:solidFill>
                  <a:srgbClr val="CC0000"/>
                </a:solidFill>
                <a:latin typeface="Courier New"/>
                <a:ea typeface="Courier New"/>
                <a:cs typeface="Courier New"/>
                <a:sym typeface="Courier New"/>
              </a:rPr>
              <a:t>	TIM14-&gt;ARR = ARR_FACTOR - 1;</a:t>
            </a:r>
            <a:endParaRPr b="1" sz="1600">
              <a:solidFill>
                <a:srgbClr val="CC0000"/>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n" sz="1600">
                <a:solidFill>
                  <a:srgbClr val="9900FF"/>
                </a:solidFill>
              </a:rPr>
              <a:t>4. Clear the counter (wouldn't want to start counting at a random value):</a:t>
            </a:r>
            <a:endParaRPr sz="1600">
              <a:solidFill>
                <a:srgbClr val="9900FF"/>
              </a:solidFill>
            </a:endParaRPr>
          </a:p>
          <a:p>
            <a:pPr indent="0" lvl="0" marL="0" rtl="0" algn="l">
              <a:lnSpc>
                <a:spcPct val="115000"/>
              </a:lnSpc>
              <a:spcBef>
                <a:spcPts val="1000"/>
              </a:spcBef>
              <a:spcAft>
                <a:spcPts val="1000"/>
              </a:spcAft>
              <a:buNone/>
            </a:pPr>
            <a:r>
              <a:rPr lang="en" sz="1600">
                <a:solidFill>
                  <a:srgbClr val="9900FF"/>
                </a:solidFill>
              </a:rPr>
              <a:t>	</a:t>
            </a:r>
            <a:r>
              <a:rPr b="1" lang="en" sz="1600">
                <a:solidFill>
                  <a:srgbClr val="9900FF"/>
                </a:solidFill>
                <a:latin typeface="Courier New"/>
                <a:ea typeface="Courier New"/>
                <a:cs typeface="Courier New"/>
                <a:sym typeface="Courier New"/>
              </a:rPr>
              <a:t>TIM14-&gt;CNT = 0;</a:t>
            </a:r>
            <a:endParaRPr b="1" sz="1600">
              <a:solidFill>
                <a:srgbClr val="9900FF"/>
              </a:solidFill>
              <a:latin typeface="Courier New"/>
              <a:ea typeface="Courier New"/>
              <a:cs typeface="Courier New"/>
              <a:sym typeface="Courier New"/>
            </a:endParaRPr>
          </a:p>
        </p:txBody>
      </p:sp>
      <p:pic>
        <p:nvPicPr>
          <p:cNvPr id="213" name="Google Shape;213;p27"/>
          <p:cNvPicPr preferRelativeResize="0"/>
          <p:nvPr/>
        </p:nvPicPr>
        <p:blipFill rotWithShape="1">
          <a:blip r:embed="rId3">
            <a:alphaModFix/>
          </a:blip>
          <a:srcRect b="0" l="6690" r="0" t="0"/>
          <a:stretch/>
        </p:blipFill>
        <p:spPr>
          <a:xfrm>
            <a:off x="698673" y="4568950"/>
            <a:ext cx="6444126" cy="2049050"/>
          </a:xfrm>
          <a:prstGeom prst="rect">
            <a:avLst/>
          </a:prstGeom>
          <a:noFill/>
          <a:ln>
            <a:noFill/>
          </a:ln>
        </p:spPr>
      </p:pic>
      <p:sp>
        <p:nvSpPr>
          <p:cNvPr id="214" name="Google Shape;214;p27"/>
          <p:cNvSpPr/>
          <p:nvPr/>
        </p:nvSpPr>
        <p:spPr>
          <a:xfrm>
            <a:off x="4249225" y="5320075"/>
            <a:ext cx="2882100" cy="4101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7"/>
          <p:cNvSpPr/>
          <p:nvPr/>
        </p:nvSpPr>
        <p:spPr>
          <a:xfrm>
            <a:off x="4249225" y="4618075"/>
            <a:ext cx="2882100" cy="4743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7"/>
          <p:cNvSpPr/>
          <p:nvPr/>
        </p:nvSpPr>
        <p:spPr>
          <a:xfrm>
            <a:off x="4249225" y="5957875"/>
            <a:ext cx="2882100" cy="4101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8"/>
          <p:cNvSpPr txBox="1"/>
          <p:nvPr>
            <p:ph type="title"/>
          </p:nvPr>
        </p:nvSpPr>
        <p:spPr>
          <a:xfrm>
            <a:off x="311700" y="85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Counter/Timer Setup, 3</a:t>
            </a:r>
            <a:endParaRPr/>
          </a:p>
        </p:txBody>
      </p:sp>
      <p:sp>
        <p:nvSpPr>
          <p:cNvPr id="222" name="Google Shape;222;p28"/>
          <p:cNvSpPr txBox="1"/>
          <p:nvPr>
            <p:ph idx="1" type="body"/>
          </p:nvPr>
        </p:nvSpPr>
        <p:spPr>
          <a:xfrm>
            <a:off x="311700" y="771975"/>
            <a:ext cx="8141100" cy="45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800080"/>
                </a:solidFill>
              </a:rPr>
              <a:t>5</a:t>
            </a:r>
            <a:r>
              <a:rPr lang="en" sz="1600">
                <a:solidFill>
                  <a:srgbClr val="800080"/>
                </a:solidFill>
              </a:rPr>
              <a:t>. Enable timer: </a:t>
            </a:r>
            <a:r>
              <a:rPr b="1" lang="en" sz="1600">
                <a:solidFill>
                  <a:srgbClr val="800080"/>
                </a:solidFill>
                <a:latin typeface="Courier New"/>
                <a:ea typeface="Courier New"/>
                <a:cs typeface="Courier New"/>
                <a:sym typeface="Courier New"/>
              </a:rPr>
              <a:t>TIM14-&gt;CR1 |= TIM_CR1_CEN;</a:t>
            </a:r>
            <a:endParaRPr b="1" sz="1600">
              <a:solidFill>
                <a:srgbClr val="800080"/>
              </a:solidFill>
              <a:latin typeface="Courier New"/>
              <a:ea typeface="Courier New"/>
              <a:cs typeface="Courier New"/>
              <a:sym typeface="Courier New"/>
            </a:endParaRPr>
          </a:p>
          <a:p>
            <a:pPr indent="0" lvl="0" marL="0" rtl="0" algn="l">
              <a:spcBef>
                <a:spcPts val="1600"/>
              </a:spcBef>
              <a:spcAft>
                <a:spcPts val="1600"/>
              </a:spcAft>
              <a:buNone/>
            </a:pPr>
            <a:r>
              <a:t/>
            </a:r>
            <a:endParaRPr sz="1600">
              <a:solidFill>
                <a:srgbClr val="980000"/>
              </a:solidFill>
            </a:endParaRPr>
          </a:p>
        </p:txBody>
      </p:sp>
      <p:pic>
        <p:nvPicPr>
          <p:cNvPr id="223" name="Google Shape;223;p28"/>
          <p:cNvPicPr preferRelativeResize="0"/>
          <p:nvPr/>
        </p:nvPicPr>
        <p:blipFill rotWithShape="1">
          <a:blip r:embed="rId3">
            <a:alphaModFix/>
          </a:blip>
          <a:srcRect b="40348" l="0" r="0" t="0"/>
          <a:stretch/>
        </p:blipFill>
        <p:spPr>
          <a:xfrm>
            <a:off x="889269" y="1227975"/>
            <a:ext cx="6985955" cy="1552725"/>
          </a:xfrm>
          <a:prstGeom prst="rect">
            <a:avLst/>
          </a:prstGeom>
          <a:noFill/>
          <a:ln>
            <a:noFill/>
          </a:ln>
        </p:spPr>
      </p:pic>
      <p:sp>
        <p:nvSpPr>
          <p:cNvPr id="224" name="Google Shape;224;p28"/>
          <p:cNvSpPr/>
          <p:nvPr/>
        </p:nvSpPr>
        <p:spPr>
          <a:xfrm>
            <a:off x="7647050" y="1722075"/>
            <a:ext cx="271200" cy="701400"/>
          </a:xfrm>
          <a:prstGeom prst="rect">
            <a:avLst/>
          </a:prstGeom>
          <a:noFill/>
          <a:ln cap="flat" cmpd="sng" w="28575">
            <a:solidFill>
              <a:srgbClr val="800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8"/>
          <p:cNvSpPr txBox="1"/>
          <p:nvPr>
            <p:ph idx="1" type="body"/>
          </p:nvPr>
        </p:nvSpPr>
        <p:spPr>
          <a:xfrm>
            <a:off x="473800" y="3734803"/>
            <a:ext cx="5401500" cy="27381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tim14_500ms_init()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timer 14 (on APB bus)</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APBENR2</a:t>
            </a:r>
            <a:r>
              <a:rPr b="1" lang="en" sz="1200">
                <a:solidFill>
                  <a:schemeClr val="dk1"/>
                </a:solidFill>
                <a:highlight>
                  <a:srgbClr val="FFFFFF"/>
                </a:highlight>
                <a:latin typeface="Courier New"/>
                <a:ea typeface="Courier New"/>
                <a:cs typeface="Courier New"/>
                <a:sym typeface="Courier New"/>
              </a:rPr>
              <a:t> |= RCC_APBENR2_TIM14EN;</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t>
            </a:r>
            <a:r>
              <a:rPr b="1" lang="en" sz="1200" u="sng">
                <a:solidFill>
                  <a:srgbClr val="3F7F5F"/>
                </a:solidFill>
                <a:highlight>
                  <a:srgbClr val="FFFFFF"/>
                </a:highlight>
                <a:latin typeface="Courier New"/>
                <a:ea typeface="Courier New"/>
                <a:cs typeface="Courier New"/>
                <a:sym typeface="Courier New"/>
              </a:rPr>
              <a:t>prescaler</a:t>
            </a:r>
            <a:r>
              <a:rPr b="1" lang="en" sz="1200">
                <a:solidFill>
                  <a:srgbClr val="3F7F5F"/>
                </a:solidFill>
                <a:highlight>
                  <a:srgbClr val="FFFFFF"/>
                </a:highlight>
                <a:latin typeface="Courier New"/>
                <a:ea typeface="Courier New"/>
                <a:cs typeface="Courier New"/>
                <a:sym typeface="Courier New"/>
              </a:rPr>
              <a:t> value</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PSC</a:t>
            </a:r>
            <a:r>
              <a:rPr b="1" lang="en" sz="1200">
                <a:solidFill>
                  <a:schemeClr val="dk1"/>
                </a:solidFill>
                <a:highlight>
                  <a:srgbClr val="FFFFFF"/>
                </a:highlight>
                <a:latin typeface="Courier New"/>
                <a:ea typeface="Courier New"/>
                <a:cs typeface="Courier New"/>
                <a:sym typeface="Courier New"/>
              </a:rPr>
              <a:t> = PSC_FACTOR - 1; </a:t>
            </a:r>
            <a:r>
              <a:rPr b="1" lang="en" sz="1200">
                <a:solidFill>
                  <a:srgbClr val="3F7F5F"/>
                </a:solidFill>
                <a:highlight>
                  <a:srgbClr val="FFFFFF"/>
                </a:highlight>
                <a:latin typeface="Courier New"/>
                <a:ea typeface="Courier New"/>
                <a:cs typeface="Courier New"/>
                <a:sym typeface="Courier New"/>
              </a:rPr>
              <a:t>// starts counting at 0</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auto-reload value</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ARR</a:t>
            </a:r>
            <a:r>
              <a:rPr b="1" lang="en" sz="1200">
                <a:solidFill>
                  <a:schemeClr val="dk1"/>
                </a:solidFill>
                <a:highlight>
                  <a:srgbClr val="FFFFFF"/>
                </a:highlight>
                <a:latin typeface="Courier New"/>
                <a:ea typeface="Courier New"/>
                <a:cs typeface="Courier New"/>
                <a:sym typeface="Courier New"/>
              </a:rPr>
              <a:t> = ARR_FACTOR - 1;</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Clear counter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CNT</a:t>
            </a:r>
            <a:r>
              <a:rPr b="1" lang="en" sz="1200">
                <a:solidFill>
                  <a:schemeClr val="dk1"/>
                </a:solidFill>
                <a:highlight>
                  <a:srgbClr val="FFFFFF"/>
                </a:highlight>
                <a:latin typeface="Courier New"/>
                <a:ea typeface="Courier New"/>
                <a:cs typeface="Courier New"/>
                <a:sym typeface="Courier New"/>
              </a:rPr>
              <a:t> = 0;</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TIM_CR1_CEN;</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1600"/>
              </a:spcAft>
              <a:buNone/>
            </a:pPr>
            <a:r>
              <a:t/>
            </a:r>
            <a:endParaRPr/>
          </a:p>
        </p:txBody>
      </p:sp>
      <p:sp>
        <p:nvSpPr>
          <p:cNvPr id="226" name="Google Shape;226;p28"/>
          <p:cNvSpPr txBox="1"/>
          <p:nvPr>
            <p:ph idx="1" type="body"/>
          </p:nvPr>
        </p:nvSpPr>
        <p:spPr>
          <a:xfrm>
            <a:off x="311700" y="3159200"/>
            <a:ext cx="8141100" cy="45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200">
                <a:solidFill>
                  <a:srgbClr val="0000FF"/>
                </a:solidFill>
              </a:rPr>
              <a:t>Summary: Timer Initialization:</a:t>
            </a:r>
            <a:endParaRPr b="1" sz="2200">
              <a:solidFill>
                <a:srgbClr val="0000FF"/>
              </a:solidFill>
              <a:latin typeface="Courier New"/>
              <a:ea typeface="Courier New"/>
              <a:cs typeface="Courier New"/>
              <a:sym typeface="Courier New"/>
            </a:endParaRPr>
          </a:p>
          <a:p>
            <a:pPr indent="0" lvl="0" marL="0" rtl="0" algn="l">
              <a:spcBef>
                <a:spcPts val="1600"/>
              </a:spcBef>
              <a:spcAft>
                <a:spcPts val="1600"/>
              </a:spcAft>
              <a:buNone/>
            </a:pPr>
            <a:r>
              <a:t/>
            </a:r>
            <a:endParaRPr sz="1600">
              <a:solidFill>
                <a:srgbClr val="98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idx="1" type="body"/>
          </p:nvPr>
        </p:nvSpPr>
        <p:spPr>
          <a:xfrm>
            <a:off x="311700" y="1148974"/>
            <a:ext cx="8520600" cy="884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FF"/>
                </a:solidFill>
              </a:rPr>
              <a:t>Now the counter is running… </a:t>
            </a:r>
            <a:r>
              <a:rPr lang="en">
                <a:solidFill>
                  <a:srgbClr val="0000FF"/>
                </a:solidFill>
              </a:rPr>
              <a:t>How do you know whether it has reached its top (autoreload) value?</a:t>
            </a:r>
            <a:endParaRPr>
              <a:solidFill>
                <a:srgbClr val="0000FF"/>
              </a:solidFill>
            </a:endParaRPr>
          </a:p>
        </p:txBody>
      </p:sp>
      <p:sp>
        <p:nvSpPr>
          <p:cNvPr id="232" name="Google Shape;232;p29"/>
          <p:cNvSpPr txBox="1"/>
          <p:nvPr>
            <p:ph type="title"/>
          </p:nvPr>
        </p:nvSpPr>
        <p:spPr>
          <a:xfrm>
            <a:off x="311700" y="3974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 14 Status Register (TIM14_SR)</a:t>
            </a:r>
            <a:endParaRPr/>
          </a:p>
        </p:txBody>
      </p:sp>
      <p:pic>
        <p:nvPicPr>
          <p:cNvPr id="233" name="Google Shape;233;p29"/>
          <p:cNvPicPr preferRelativeResize="0"/>
          <p:nvPr/>
        </p:nvPicPr>
        <p:blipFill>
          <a:blip r:embed="rId3">
            <a:alphaModFix/>
          </a:blip>
          <a:stretch>
            <a:fillRect/>
          </a:stretch>
        </p:blipFill>
        <p:spPr>
          <a:xfrm>
            <a:off x="946938" y="1881149"/>
            <a:ext cx="7621339" cy="1941850"/>
          </a:xfrm>
          <a:prstGeom prst="rect">
            <a:avLst/>
          </a:prstGeom>
          <a:noFill/>
          <a:ln>
            <a:noFill/>
          </a:ln>
        </p:spPr>
      </p:pic>
      <p:sp>
        <p:nvSpPr>
          <p:cNvPr id="234" name="Google Shape;234;p29"/>
          <p:cNvSpPr/>
          <p:nvPr/>
        </p:nvSpPr>
        <p:spPr>
          <a:xfrm>
            <a:off x="7932725" y="3241925"/>
            <a:ext cx="434700" cy="475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5" name="Google Shape;235;p29" title="Screenshot 2026-02-05 at 12.41.07 PM.png"/>
          <p:cNvPicPr preferRelativeResize="0"/>
          <p:nvPr/>
        </p:nvPicPr>
        <p:blipFill>
          <a:blip r:embed="rId4">
            <a:alphaModFix/>
          </a:blip>
          <a:stretch>
            <a:fillRect/>
          </a:stretch>
        </p:blipFill>
        <p:spPr>
          <a:xfrm>
            <a:off x="516650" y="3776325"/>
            <a:ext cx="7354374" cy="1785775"/>
          </a:xfrm>
          <a:prstGeom prst="rect">
            <a:avLst/>
          </a:prstGeom>
          <a:noFill/>
          <a:ln>
            <a:noFill/>
          </a:ln>
        </p:spPr>
      </p:pic>
      <p:sp>
        <p:nvSpPr>
          <p:cNvPr id="236" name="Google Shape;236;p29"/>
          <p:cNvSpPr txBox="1"/>
          <p:nvPr>
            <p:ph idx="1" type="body"/>
          </p:nvPr>
        </p:nvSpPr>
        <p:spPr>
          <a:xfrm>
            <a:off x="231125" y="5449925"/>
            <a:ext cx="8520600" cy="132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Current Strategy: </a:t>
            </a:r>
            <a:endParaRPr>
              <a:solidFill>
                <a:srgbClr val="0000FF"/>
              </a:solidFill>
            </a:endParaRPr>
          </a:p>
          <a:p>
            <a:pPr indent="-342900" lvl="0" marL="457200" rtl="0" algn="l">
              <a:spcBef>
                <a:spcPts val="1600"/>
              </a:spcBef>
              <a:spcAft>
                <a:spcPts val="0"/>
              </a:spcAft>
              <a:buClr>
                <a:srgbClr val="0000FF"/>
              </a:buClr>
              <a:buSzPts val="1800"/>
              <a:buChar char="●"/>
            </a:pPr>
            <a:r>
              <a:rPr lang="en">
                <a:solidFill>
                  <a:srgbClr val="0000FF"/>
                </a:solidFill>
              </a:rPr>
              <a:t>Continuously check (poll) the UIF. </a:t>
            </a:r>
            <a:endParaRPr>
              <a:solidFill>
                <a:srgbClr val="0000FF"/>
              </a:solidFill>
            </a:endParaRPr>
          </a:p>
          <a:p>
            <a:pPr indent="-342900" lvl="0" marL="457200" rtl="0" algn="l">
              <a:spcBef>
                <a:spcPts val="0"/>
              </a:spcBef>
              <a:spcAft>
                <a:spcPts val="0"/>
              </a:spcAft>
              <a:buClr>
                <a:srgbClr val="0000FF"/>
              </a:buClr>
              <a:buSzPts val="1800"/>
              <a:buChar char="●"/>
            </a:pPr>
            <a:r>
              <a:rPr lang="en">
                <a:solidFill>
                  <a:srgbClr val="0000FF"/>
                </a:solidFill>
              </a:rPr>
              <a:t>Once it goes up, clear the flag and and toggle the LED.</a:t>
            </a:r>
            <a:endParaRPr>
              <a:solidFill>
                <a:srgbClr val="0000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 14 Status Register (TIM14_SR)</a:t>
            </a:r>
            <a:endParaRPr/>
          </a:p>
        </p:txBody>
      </p:sp>
      <p:sp>
        <p:nvSpPr>
          <p:cNvPr id="242" name="Google Shape;242;p30"/>
          <p:cNvSpPr txBox="1"/>
          <p:nvPr>
            <p:ph idx="1" type="body"/>
          </p:nvPr>
        </p:nvSpPr>
        <p:spPr>
          <a:xfrm>
            <a:off x="311700" y="4613174"/>
            <a:ext cx="8520600" cy="203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must clear the UIF bit via</a:t>
            </a:r>
            <a:endParaRPr/>
          </a:p>
          <a:p>
            <a:pPr indent="0" lvl="0" marL="457200" rtl="0" algn="l">
              <a:lnSpc>
                <a:spcPct val="100000"/>
              </a:lnSpc>
              <a:spcBef>
                <a:spcPts val="1600"/>
              </a:spcBef>
              <a:spcAft>
                <a:spcPts val="0"/>
              </a:spcAft>
              <a:buNone/>
            </a:pPr>
            <a:r>
              <a:rPr b="1" lang="en" sz="1300">
                <a:solidFill>
                  <a:srgbClr val="0000FF"/>
                </a:solidFill>
                <a:latin typeface="Courier New"/>
                <a:ea typeface="Courier New"/>
                <a:cs typeface="Courier New"/>
                <a:sym typeface="Courier New"/>
              </a:rPr>
              <a:t>TIM14-&gt;SR </a:t>
            </a:r>
            <a:r>
              <a:rPr b="1" lang="en" sz="1300">
                <a:solidFill>
                  <a:srgbClr val="0000FF"/>
                </a:solidFill>
                <a:highlight>
                  <a:srgbClr val="FFFF00"/>
                </a:highlight>
                <a:latin typeface="Courier New"/>
                <a:ea typeface="Courier New"/>
                <a:cs typeface="Courier New"/>
                <a:sym typeface="Courier New"/>
              </a:rPr>
              <a:t>= ~</a:t>
            </a:r>
            <a:r>
              <a:rPr b="1" lang="en" sz="1300">
                <a:solidFill>
                  <a:srgbClr val="0000FF"/>
                </a:solidFill>
                <a:latin typeface="Courier New"/>
                <a:ea typeface="Courier New"/>
                <a:cs typeface="Courier New"/>
                <a:sym typeface="Courier New"/>
              </a:rPr>
              <a:t>TIM_SR_UIF;</a:t>
            </a:r>
            <a:endParaRPr b="1" sz="1300">
              <a:solidFill>
                <a:srgbClr val="0000FF"/>
              </a:solidFill>
              <a:latin typeface="Courier New"/>
              <a:ea typeface="Courier New"/>
              <a:cs typeface="Courier New"/>
              <a:sym typeface="Courier New"/>
            </a:endParaRPr>
          </a:p>
          <a:p>
            <a:pPr indent="0" lvl="0" marL="457200" rtl="0" algn="l">
              <a:lnSpc>
                <a:spcPct val="100000"/>
              </a:lnSpc>
              <a:spcBef>
                <a:spcPts val="0"/>
              </a:spcBef>
              <a:spcAft>
                <a:spcPts val="0"/>
              </a:spcAft>
              <a:buNone/>
            </a:pPr>
            <a:r>
              <a:t/>
            </a:r>
            <a:endParaRPr b="1" sz="1300">
              <a:solidFill>
                <a:srgbClr val="0000FF"/>
              </a:solidFill>
              <a:latin typeface="Courier New"/>
              <a:ea typeface="Courier New"/>
              <a:cs typeface="Courier New"/>
              <a:sym typeface="Courier New"/>
            </a:endParaRPr>
          </a:p>
          <a:p>
            <a:pPr indent="0" lvl="0" marL="0" rtl="0" algn="l">
              <a:spcBef>
                <a:spcPts val="0"/>
              </a:spcBef>
              <a:spcAft>
                <a:spcPts val="0"/>
              </a:spcAft>
              <a:buNone/>
            </a:pPr>
            <a:r>
              <a:rPr lang="en"/>
              <a:t>Is it also okay to clear this bit via </a:t>
            </a:r>
            <a:endParaRPr/>
          </a:p>
          <a:p>
            <a:pPr indent="0" lvl="0" marL="457200" rtl="0" algn="l">
              <a:lnSpc>
                <a:spcPct val="100000"/>
              </a:lnSpc>
              <a:spcBef>
                <a:spcPts val="1600"/>
              </a:spcBef>
              <a:spcAft>
                <a:spcPts val="0"/>
              </a:spcAft>
              <a:buClr>
                <a:schemeClr val="dk1"/>
              </a:buClr>
              <a:buSzPts val="1100"/>
              <a:buFont typeface="Arial"/>
              <a:buNone/>
            </a:pPr>
            <a:r>
              <a:rPr b="1" lang="en" sz="1300">
                <a:solidFill>
                  <a:srgbClr val="0000FF"/>
                </a:solidFill>
                <a:latin typeface="Courier New"/>
                <a:ea typeface="Courier New"/>
                <a:cs typeface="Courier New"/>
                <a:sym typeface="Courier New"/>
              </a:rPr>
              <a:t>TIM14-&gt;SR &amp;= ~TIM_SR_UIF;  </a:t>
            </a:r>
            <a:r>
              <a:rPr lang="en"/>
              <a:t>??? </a:t>
            </a:r>
            <a:endParaRPr/>
          </a:p>
        </p:txBody>
      </p:sp>
      <p:pic>
        <p:nvPicPr>
          <p:cNvPr id="243" name="Google Shape;243;p30"/>
          <p:cNvPicPr preferRelativeResize="0"/>
          <p:nvPr/>
        </p:nvPicPr>
        <p:blipFill>
          <a:blip r:embed="rId3">
            <a:alphaModFix/>
          </a:blip>
          <a:stretch>
            <a:fillRect/>
          </a:stretch>
        </p:blipFill>
        <p:spPr>
          <a:xfrm>
            <a:off x="219750" y="1284792"/>
            <a:ext cx="8448675" cy="2152650"/>
          </a:xfrm>
          <a:prstGeom prst="rect">
            <a:avLst/>
          </a:prstGeom>
          <a:noFill/>
          <a:ln>
            <a:noFill/>
          </a:ln>
        </p:spPr>
      </p:pic>
      <p:pic>
        <p:nvPicPr>
          <p:cNvPr id="244" name="Google Shape;244;p30"/>
          <p:cNvPicPr preferRelativeResize="0"/>
          <p:nvPr/>
        </p:nvPicPr>
        <p:blipFill rotWithShape="1">
          <a:blip r:embed="rId4">
            <a:alphaModFix/>
          </a:blip>
          <a:srcRect b="0" l="0" r="7236" t="0"/>
          <a:stretch/>
        </p:blipFill>
        <p:spPr>
          <a:xfrm>
            <a:off x="569275" y="3533725"/>
            <a:ext cx="8005450" cy="781050"/>
          </a:xfrm>
          <a:prstGeom prst="rect">
            <a:avLst/>
          </a:prstGeom>
          <a:noFill/>
          <a:ln cap="flat" cmpd="sng" w="28575">
            <a:solidFill>
              <a:srgbClr val="FF0000"/>
            </a:solidFill>
            <a:prstDash val="solid"/>
            <a:round/>
            <a:headEnd len="sm" w="sm" type="none"/>
            <a:tailEnd len="sm" w="sm" type="none"/>
          </a:ln>
        </p:spPr>
      </p:pic>
      <p:sp>
        <p:nvSpPr>
          <p:cNvPr id="245" name="Google Shape;245;p30"/>
          <p:cNvSpPr txBox="1"/>
          <p:nvPr/>
        </p:nvSpPr>
        <p:spPr>
          <a:xfrm>
            <a:off x="6159025" y="5075125"/>
            <a:ext cx="1894200" cy="1015800"/>
          </a:xfrm>
          <a:prstGeom prst="rect">
            <a:avLst/>
          </a:prstGeom>
          <a:solidFill>
            <a:srgbClr val="C9DAF8"/>
          </a:solid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Have we seen something like this before?</a:t>
            </a:r>
            <a:endParaRPr sz="1800">
              <a:solidFill>
                <a:srgbClr val="0000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1"/>
          <p:cNvSpPr txBox="1"/>
          <p:nvPr>
            <p:ph type="title"/>
          </p:nvPr>
        </p:nvSpPr>
        <p:spPr>
          <a:xfrm>
            <a:off x="155850" y="1668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Recall: ADRDY bit in ADC_ISR register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pic>
        <p:nvPicPr>
          <p:cNvPr id="251" name="Google Shape;251;p31"/>
          <p:cNvPicPr preferRelativeResize="0"/>
          <p:nvPr/>
        </p:nvPicPr>
        <p:blipFill rotWithShape="1">
          <a:blip r:embed="rId3">
            <a:alphaModFix/>
          </a:blip>
          <a:srcRect b="0" l="0" r="0" t="19923"/>
          <a:stretch/>
        </p:blipFill>
        <p:spPr>
          <a:xfrm>
            <a:off x="229225" y="2058250"/>
            <a:ext cx="8758926" cy="478525"/>
          </a:xfrm>
          <a:prstGeom prst="rect">
            <a:avLst/>
          </a:prstGeom>
          <a:noFill/>
          <a:ln cap="flat" cmpd="sng" w="28575">
            <a:solidFill>
              <a:srgbClr val="990000"/>
            </a:solidFill>
            <a:prstDash val="solid"/>
            <a:round/>
            <a:headEnd len="sm" w="sm" type="none"/>
            <a:tailEnd len="sm" w="sm" type="none"/>
          </a:ln>
        </p:spPr>
      </p:pic>
      <p:sp>
        <p:nvSpPr>
          <p:cNvPr id="252" name="Google Shape;252;p31"/>
          <p:cNvSpPr txBox="1"/>
          <p:nvPr/>
        </p:nvSpPr>
        <p:spPr>
          <a:xfrm>
            <a:off x="202025" y="2712775"/>
            <a:ext cx="8839200" cy="172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chemeClr val="dk2"/>
                </a:solidFill>
              </a:rPr>
              <a:t>We have to clear a bit (for example ADRDY) in this register using an assignment operator:</a:t>
            </a:r>
            <a:endParaRPr b="1">
              <a:solidFill>
                <a:srgbClr val="0000FF"/>
              </a:solidFill>
              <a:highlight>
                <a:schemeClr val="lt1"/>
              </a:highlight>
              <a:latin typeface="Courier New"/>
              <a:ea typeface="Courier New"/>
              <a:cs typeface="Courier New"/>
              <a:sym typeface="Courier New"/>
            </a:endParaRPr>
          </a:p>
          <a:p>
            <a:pPr indent="45720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ADC1-&gt;ISR </a:t>
            </a:r>
            <a:r>
              <a:rPr b="1" lang="en">
                <a:solidFill>
                  <a:srgbClr val="0000FF"/>
                </a:solidFill>
                <a:highlight>
                  <a:srgbClr val="FFFF00"/>
                </a:highlight>
                <a:latin typeface="Courier New"/>
                <a:ea typeface="Courier New"/>
                <a:cs typeface="Courier New"/>
                <a:sym typeface="Courier New"/>
              </a:rPr>
              <a:t>=</a:t>
            </a:r>
            <a:r>
              <a:rPr b="1" lang="en">
                <a:solidFill>
                  <a:srgbClr val="0000FF"/>
                </a:solidFill>
                <a:highlight>
                  <a:schemeClr val="lt1"/>
                </a:highlight>
                <a:latin typeface="Courier New"/>
                <a:ea typeface="Courier New"/>
                <a:cs typeface="Courier New"/>
                <a:sym typeface="Courier New"/>
              </a:rPr>
              <a:t> ADC_ISR_ADRDY</a:t>
            </a:r>
            <a:r>
              <a:rPr lang="en">
                <a:solidFill>
                  <a:srgbClr val="0000FF"/>
                </a:solidFill>
                <a:highlight>
                  <a:schemeClr val="lt1"/>
                </a:highlight>
                <a:latin typeface="Courier New"/>
                <a:ea typeface="Courier New"/>
                <a:cs typeface="Courier New"/>
                <a:sym typeface="Courier New"/>
              </a:rPr>
              <a:t>;</a:t>
            </a:r>
            <a:endParaRPr>
              <a:solidFill>
                <a:srgbClr val="0000FF"/>
              </a:solidFill>
              <a:highlight>
                <a:schemeClr val="lt1"/>
              </a:highlight>
              <a:latin typeface="Courier New"/>
              <a:ea typeface="Courier New"/>
              <a:cs typeface="Courier New"/>
              <a:sym typeface="Courier New"/>
            </a:endParaRPr>
          </a:p>
          <a:p>
            <a:pPr indent="457200" lvl="0" marL="0" rtl="0" algn="l">
              <a:lnSpc>
                <a:spcPct val="115000"/>
              </a:lnSpc>
              <a:spcBef>
                <a:spcPts val="0"/>
              </a:spcBef>
              <a:spcAft>
                <a:spcPts val="0"/>
              </a:spcAft>
              <a:buClr>
                <a:schemeClr val="dk1"/>
              </a:buClr>
              <a:buSzPts val="1100"/>
              <a:buFont typeface="Arial"/>
              <a:buNone/>
            </a:pPr>
            <a:r>
              <a:t/>
            </a:r>
            <a:endParaRPr>
              <a:solidFill>
                <a:srgbClr val="0000F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800">
                <a:solidFill>
                  <a:schemeClr val="dk2"/>
                </a:solidFill>
              </a:rPr>
              <a:t>What could go wrong if we used the bitwise OR assignment operator instead?</a:t>
            </a:r>
            <a:endParaRPr>
              <a:solidFill>
                <a:srgbClr val="0000FF"/>
              </a:solidFill>
              <a:highlight>
                <a:schemeClr val="lt1"/>
              </a:highlight>
              <a:latin typeface="Courier New"/>
              <a:ea typeface="Courier New"/>
              <a:cs typeface="Courier New"/>
              <a:sym typeface="Courier New"/>
            </a:endParaRPr>
          </a:p>
          <a:p>
            <a:pPr indent="45720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ADC1-&gt;ISR </a:t>
            </a:r>
            <a:r>
              <a:rPr b="1" lang="en">
                <a:solidFill>
                  <a:srgbClr val="0000FF"/>
                </a:solidFill>
                <a:highlight>
                  <a:srgbClr val="FFFF00"/>
                </a:highlight>
                <a:latin typeface="Courier New"/>
                <a:ea typeface="Courier New"/>
                <a:cs typeface="Courier New"/>
                <a:sym typeface="Courier New"/>
              </a:rPr>
              <a:t>|=</a:t>
            </a:r>
            <a:r>
              <a:rPr b="1" lang="en">
                <a:solidFill>
                  <a:srgbClr val="0000FF"/>
                </a:solidFill>
                <a:highlight>
                  <a:schemeClr val="lt1"/>
                </a:highlight>
                <a:latin typeface="Courier New"/>
                <a:ea typeface="Courier New"/>
                <a:cs typeface="Courier New"/>
                <a:sym typeface="Courier New"/>
              </a:rPr>
              <a:t> ADC_ISR_ADRDY</a:t>
            </a:r>
            <a:r>
              <a:rPr lang="en">
                <a:solidFill>
                  <a:srgbClr val="0000FF"/>
                </a:solidFill>
                <a:highlight>
                  <a:schemeClr val="lt1"/>
                </a:highlight>
                <a:latin typeface="Courier New"/>
                <a:ea typeface="Courier New"/>
                <a:cs typeface="Courier New"/>
                <a:sym typeface="Courier New"/>
              </a:rPr>
              <a:t>;</a:t>
            </a:r>
            <a:endParaRPr sz="1800">
              <a:solidFill>
                <a:schemeClr val="dk2"/>
              </a:solidFill>
            </a:endParaRPr>
          </a:p>
        </p:txBody>
      </p:sp>
      <p:pic>
        <p:nvPicPr>
          <p:cNvPr id="253" name="Google Shape;253;p31"/>
          <p:cNvPicPr preferRelativeResize="0"/>
          <p:nvPr/>
        </p:nvPicPr>
        <p:blipFill rotWithShape="1">
          <a:blip r:embed="rId4">
            <a:alphaModFix/>
          </a:blip>
          <a:srcRect b="0" l="0" r="0" t="49967"/>
          <a:stretch/>
        </p:blipFill>
        <p:spPr>
          <a:xfrm>
            <a:off x="152400" y="972360"/>
            <a:ext cx="8839200" cy="946215"/>
          </a:xfrm>
          <a:prstGeom prst="rect">
            <a:avLst/>
          </a:prstGeom>
          <a:noFill/>
          <a:ln>
            <a:noFill/>
          </a:ln>
        </p:spPr>
      </p:pic>
      <p:sp>
        <p:nvSpPr>
          <p:cNvPr id="254" name="Google Shape;254;p31"/>
          <p:cNvSpPr/>
          <p:nvPr/>
        </p:nvSpPr>
        <p:spPr>
          <a:xfrm>
            <a:off x="300425" y="1536750"/>
            <a:ext cx="8627700" cy="2904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type="title"/>
          </p:nvPr>
        </p:nvSpPr>
        <p:spPr>
          <a:xfrm>
            <a:off x="155850" y="1668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a:t>
            </a:r>
            <a:r>
              <a:rPr lang="en"/>
              <a:t>ADRDY bit in ADC_ISR register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60" name="Google Shape;260;p32"/>
          <p:cNvPicPr preferRelativeResize="0"/>
          <p:nvPr/>
        </p:nvPicPr>
        <p:blipFill rotWithShape="1">
          <a:blip r:embed="rId3">
            <a:alphaModFix/>
          </a:blip>
          <a:srcRect b="0" l="0" r="0" t="19923"/>
          <a:stretch/>
        </p:blipFill>
        <p:spPr>
          <a:xfrm>
            <a:off x="229225" y="2058250"/>
            <a:ext cx="8758926" cy="478525"/>
          </a:xfrm>
          <a:prstGeom prst="rect">
            <a:avLst/>
          </a:prstGeom>
          <a:noFill/>
          <a:ln cap="flat" cmpd="sng" w="28575">
            <a:solidFill>
              <a:srgbClr val="990000"/>
            </a:solidFill>
            <a:prstDash val="solid"/>
            <a:round/>
            <a:headEnd len="sm" w="sm" type="none"/>
            <a:tailEnd len="sm" w="sm" type="none"/>
          </a:ln>
        </p:spPr>
      </p:pic>
      <p:sp>
        <p:nvSpPr>
          <p:cNvPr id="261" name="Google Shape;261;p32"/>
          <p:cNvSpPr txBox="1"/>
          <p:nvPr/>
        </p:nvSpPr>
        <p:spPr>
          <a:xfrm>
            <a:off x="202025" y="2712775"/>
            <a:ext cx="88392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We have to clear a bit (for example FPIF4) in this register using an assignment operator:</a:t>
            </a:r>
            <a:endParaRPr b="1">
              <a:solidFill>
                <a:srgbClr val="0000FF"/>
              </a:solidFill>
              <a:highlight>
                <a:schemeClr val="lt1"/>
              </a:highlight>
              <a:latin typeface="Courier New"/>
              <a:ea typeface="Courier New"/>
              <a:cs typeface="Courier New"/>
              <a:sym typeface="Courier New"/>
            </a:endParaRPr>
          </a:p>
          <a:p>
            <a:pPr indent="45720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ADC1-&gt;ISR </a:t>
            </a:r>
            <a:r>
              <a:rPr b="1" lang="en">
                <a:solidFill>
                  <a:srgbClr val="0000FF"/>
                </a:solidFill>
                <a:highlight>
                  <a:srgbClr val="FFFF00"/>
                </a:highlight>
                <a:latin typeface="Courier New"/>
                <a:ea typeface="Courier New"/>
                <a:cs typeface="Courier New"/>
                <a:sym typeface="Courier New"/>
              </a:rPr>
              <a:t>=</a:t>
            </a:r>
            <a:r>
              <a:rPr b="1" lang="en">
                <a:solidFill>
                  <a:srgbClr val="0000FF"/>
                </a:solidFill>
                <a:highlight>
                  <a:schemeClr val="lt1"/>
                </a:highlight>
                <a:latin typeface="Courier New"/>
                <a:ea typeface="Courier New"/>
                <a:cs typeface="Courier New"/>
                <a:sym typeface="Courier New"/>
              </a:rPr>
              <a:t> ADC_ISR_ADRDY</a:t>
            </a:r>
            <a:r>
              <a:rPr lang="en">
                <a:solidFill>
                  <a:srgbClr val="0000FF"/>
                </a:solidFill>
                <a:highlight>
                  <a:schemeClr val="lt1"/>
                </a:highlight>
                <a:latin typeface="Courier New"/>
                <a:ea typeface="Courier New"/>
                <a:cs typeface="Courier New"/>
                <a:sym typeface="Courier New"/>
              </a:rPr>
              <a:t>;</a:t>
            </a:r>
            <a:endParaRPr sz="1800">
              <a:solidFill>
                <a:schemeClr val="dk2"/>
              </a:solidFill>
            </a:endParaRPr>
          </a:p>
        </p:txBody>
      </p:sp>
      <p:graphicFrame>
        <p:nvGraphicFramePr>
          <p:cNvPr id="262" name="Google Shape;262;p32"/>
          <p:cNvGraphicFramePr/>
          <p:nvPr/>
        </p:nvGraphicFramePr>
        <p:xfrm>
          <a:off x="300425" y="3853875"/>
          <a:ext cx="3000000" cy="3000000"/>
        </p:xfrm>
        <a:graphic>
          <a:graphicData uri="http://schemas.openxmlformats.org/drawingml/2006/table">
            <a:tbl>
              <a:tblPr>
                <a:noFill/>
                <a:tableStyleId>{E5BD56B2-36C9-4701-B58B-BE0416E132BA}</a:tableStyleId>
              </a:tblPr>
              <a:tblGrid>
                <a:gridCol w="1727600"/>
                <a:gridCol w="1727600"/>
              </a:tblGrid>
              <a:tr h="192050">
                <a:tc>
                  <a:txBody>
                    <a:bodyPr/>
                    <a:lstStyle/>
                    <a:p>
                      <a:pPr indent="0" lvl="0" marL="0" rtl="0" algn="l">
                        <a:spcBef>
                          <a:spcPts val="0"/>
                        </a:spcBef>
                        <a:spcAft>
                          <a:spcPts val="0"/>
                        </a:spcAft>
                        <a:buNone/>
                      </a:pPr>
                      <a:r>
                        <a:rPr lang="en" sz="1600"/>
                        <a:t>Register name</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Value </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None/>
                      </a:pPr>
                      <a:r>
                        <a:rPr lang="en" sz="1600"/>
                        <a:t>…</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Clr>
                          <a:schemeClr val="dk1"/>
                        </a:buClr>
                        <a:buSzPts val="1100"/>
                        <a:buFont typeface="Arial"/>
                        <a:buNone/>
                      </a:pPr>
                      <a:r>
                        <a:rPr lang="en" sz="1600">
                          <a:solidFill>
                            <a:schemeClr val="dk1"/>
                          </a:solidFill>
                        </a:rPr>
                        <a:t>ADC_ISR</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b="1" lang="en" sz="1600">
                          <a:solidFill>
                            <a:srgbClr val="0000FF"/>
                          </a:solidFill>
                          <a:latin typeface="Courier New"/>
                          <a:ea typeface="Courier New"/>
                          <a:cs typeface="Courier New"/>
                          <a:sym typeface="Courier New"/>
                        </a:rPr>
                        <a:t>  …00010101</a:t>
                      </a:r>
                      <a:endParaRPr b="1" sz="1600">
                        <a:solidFill>
                          <a:srgbClr val="0000FF"/>
                        </a:solidFill>
                        <a:latin typeface="Courier New"/>
                        <a:ea typeface="Courier New"/>
                        <a:cs typeface="Courier New"/>
                        <a:sym typeface="Courier New"/>
                      </a:endParaRPr>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None/>
                      </a:pPr>
                      <a:r>
                        <a:rPr lang="en" sz="1600"/>
                        <a:t>…</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63" name="Google Shape;263;p32"/>
          <p:cNvGraphicFramePr/>
          <p:nvPr/>
        </p:nvGraphicFramePr>
        <p:xfrm>
          <a:off x="5472925" y="3615875"/>
          <a:ext cx="3000000" cy="3000000"/>
        </p:xfrm>
        <a:graphic>
          <a:graphicData uri="http://schemas.openxmlformats.org/drawingml/2006/table">
            <a:tbl>
              <a:tblPr>
                <a:noFill/>
                <a:tableStyleId>{E5BD56B2-36C9-4701-B58B-BE0416E132BA}</a:tableStyleId>
              </a:tblPr>
              <a:tblGrid>
                <a:gridCol w="1727600"/>
                <a:gridCol w="1727600"/>
              </a:tblGrid>
              <a:tr h="192050">
                <a:tc gridSpan="2">
                  <a:txBody>
                    <a:bodyPr/>
                    <a:lstStyle/>
                    <a:p>
                      <a:pPr indent="0" lvl="0" marL="0" rtl="0" algn="ctr">
                        <a:spcBef>
                          <a:spcPts val="0"/>
                        </a:spcBef>
                        <a:spcAft>
                          <a:spcPts val="0"/>
                        </a:spcAft>
                        <a:buNone/>
                      </a:pPr>
                      <a:r>
                        <a:rPr lang="en" sz="1600"/>
                        <a:t>General Purpose Registers</a:t>
                      </a:r>
                      <a:endParaRPr sz="1600"/>
                    </a:p>
                  </a:txBody>
                  <a:tcPr marT="0" marB="0" marR="0" marL="91425">
                    <a:lnR cap="flat" cmpd="sng" w="9525">
                      <a:solidFill>
                        <a:srgbClr val="9E9E9E"/>
                      </a:solidFill>
                      <a:prstDash val="solid"/>
                      <a:round/>
                      <a:headEnd len="sm" w="sm" type="none"/>
                      <a:tailEnd len="sm" w="sm" type="none"/>
                    </a:lnR>
                  </a:tcPr>
                </a:tc>
                <a:tc hMerge="1"/>
              </a:tr>
              <a:tr h="192050">
                <a:tc>
                  <a:txBody>
                    <a:bodyPr/>
                    <a:lstStyle/>
                    <a:p>
                      <a:pPr indent="0" lvl="0" marL="0" rtl="0" algn="l">
                        <a:spcBef>
                          <a:spcPts val="0"/>
                        </a:spcBef>
                        <a:spcAft>
                          <a:spcPts val="0"/>
                        </a:spcAft>
                        <a:buNone/>
                      </a:pPr>
                      <a:r>
                        <a:rPr lang="en" sz="1600"/>
                        <a:t>…</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None/>
                      </a:pPr>
                      <a:r>
                        <a:rPr b="1" lang="en" sz="1600">
                          <a:solidFill>
                            <a:srgbClr val="0000FF"/>
                          </a:solidFill>
                          <a:latin typeface="Courier New"/>
                          <a:ea typeface="Courier New"/>
                          <a:cs typeface="Courier New"/>
                          <a:sym typeface="Courier New"/>
                        </a:rPr>
                        <a:t>  …00000001</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solidFill>
                            <a:schemeClr val="dk1"/>
                          </a:solidFill>
                        </a:rPr>
                        <a:t>R2</a:t>
                      </a:r>
                      <a:endParaRPr sz="1600">
                        <a:solidFill>
                          <a:schemeClr val="dk1"/>
                        </a:solidFill>
                      </a:endParaRPr>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None/>
                      </a:pPr>
                      <a:r>
                        <a:rPr b="1" lang="en" sz="1600">
                          <a:solidFill>
                            <a:srgbClr val="0000FF"/>
                          </a:solidFill>
                          <a:latin typeface="Courier New"/>
                          <a:ea typeface="Courier New"/>
                          <a:cs typeface="Courier New"/>
                          <a:sym typeface="Courier New"/>
                        </a:rPr>
                        <a:t> </a:t>
                      </a:r>
                      <a:r>
                        <a:rPr lang="en" sz="1600">
                          <a:solidFill>
                            <a:schemeClr val="dk1"/>
                          </a:solidFill>
                        </a:rPr>
                        <a:t>…</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R3</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cxnSp>
        <p:nvCxnSpPr>
          <p:cNvPr id="264" name="Google Shape;264;p32"/>
          <p:cNvCxnSpPr/>
          <p:nvPr/>
        </p:nvCxnSpPr>
        <p:spPr>
          <a:xfrm>
            <a:off x="3072975" y="3610125"/>
            <a:ext cx="2573400" cy="637200"/>
          </a:xfrm>
          <a:prstGeom prst="straightConnector1">
            <a:avLst/>
          </a:prstGeom>
          <a:noFill/>
          <a:ln cap="flat" cmpd="sng" w="28575">
            <a:solidFill>
              <a:srgbClr val="0000FF"/>
            </a:solidFill>
            <a:prstDash val="solid"/>
            <a:round/>
            <a:headEnd len="med" w="med" type="none"/>
            <a:tailEnd len="med" w="med" type="triangle"/>
          </a:ln>
        </p:spPr>
      </p:cxnSp>
      <p:cxnSp>
        <p:nvCxnSpPr>
          <p:cNvPr id="265" name="Google Shape;265;p32"/>
          <p:cNvCxnSpPr/>
          <p:nvPr/>
        </p:nvCxnSpPr>
        <p:spPr>
          <a:xfrm flipH="1">
            <a:off x="3572550" y="4334650"/>
            <a:ext cx="1848900" cy="162300"/>
          </a:xfrm>
          <a:prstGeom prst="straightConnector1">
            <a:avLst/>
          </a:prstGeom>
          <a:noFill/>
          <a:ln cap="flat" cmpd="sng" w="28575">
            <a:solidFill>
              <a:srgbClr val="0000FF"/>
            </a:solidFill>
            <a:prstDash val="solid"/>
            <a:round/>
            <a:headEnd len="med" w="med" type="none"/>
            <a:tailEnd len="med" w="med" type="triangle"/>
          </a:ln>
        </p:spPr>
      </p:cxnSp>
      <p:graphicFrame>
        <p:nvGraphicFramePr>
          <p:cNvPr id="266" name="Google Shape;266;p32"/>
          <p:cNvGraphicFramePr/>
          <p:nvPr/>
        </p:nvGraphicFramePr>
        <p:xfrm>
          <a:off x="300425" y="5310350"/>
          <a:ext cx="3000000" cy="3000000"/>
        </p:xfrm>
        <a:graphic>
          <a:graphicData uri="http://schemas.openxmlformats.org/drawingml/2006/table">
            <a:tbl>
              <a:tblPr>
                <a:noFill/>
                <a:tableStyleId>{E5BD56B2-36C9-4701-B58B-BE0416E132BA}</a:tableStyleId>
              </a:tblPr>
              <a:tblGrid>
                <a:gridCol w="1727600"/>
                <a:gridCol w="1727600"/>
              </a:tblGrid>
              <a:tr h="192050">
                <a:tc>
                  <a:txBody>
                    <a:bodyPr/>
                    <a:lstStyle/>
                    <a:p>
                      <a:pPr indent="0" lvl="0" marL="0" rtl="0" algn="l">
                        <a:spcBef>
                          <a:spcPts val="0"/>
                        </a:spcBef>
                        <a:spcAft>
                          <a:spcPts val="0"/>
                        </a:spcAft>
                        <a:buClr>
                          <a:schemeClr val="dk1"/>
                        </a:buClr>
                        <a:buSzPts val="1100"/>
                        <a:buFont typeface="Arial"/>
                        <a:buNone/>
                      </a:pPr>
                      <a:r>
                        <a:rPr lang="en" sz="1600">
                          <a:solidFill>
                            <a:schemeClr val="dk1"/>
                          </a:solidFill>
                        </a:rPr>
                        <a:t>ADC_ISR</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b="1" lang="en" sz="1600">
                          <a:solidFill>
                            <a:srgbClr val="0000FF"/>
                          </a:solidFill>
                          <a:latin typeface="Courier New"/>
                          <a:ea typeface="Courier New"/>
                          <a:cs typeface="Courier New"/>
                          <a:sym typeface="Courier New"/>
                        </a:rPr>
                        <a:t>  …0001010</a:t>
                      </a:r>
                      <a:r>
                        <a:rPr b="1" lang="en" sz="1600">
                          <a:solidFill>
                            <a:srgbClr val="0000FF"/>
                          </a:solidFill>
                          <a:highlight>
                            <a:schemeClr val="accent6"/>
                          </a:highlight>
                          <a:latin typeface="Courier New"/>
                          <a:ea typeface="Courier New"/>
                          <a:cs typeface="Courier New"/>
                          <a:sym typeface="Courier New"/>
                        </a:rPr>
                        <a:t>0</a:t>
                      </a:r>
                      <a:endParaRPr b="1" sz="1600">
                        <a:solidFill>
                          <a:srgbClr val="0000FF"/>
                        </a:solidFill>
                        <a:highlight>
                          <a:schemeClr val="accent6"/>
                        </a:highlight>
                        <a:latin typeface="Courier New"/>
                        <a:ea typeface="Courier New"/>
                        <a:cs typeface="Courier New"/>
                        <a:sym typeface="Courier New"/>
                      </a:endParaRPr>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cxnSp>
        <p:nvCxnSpPr>
          <p:cNvPr id="267" name="Google Shape;267;p32"/>
          <p:cNvCxnSpPr/>
          <p:nvPr/>
        </p:nvCxnSpPr>
        <p:spPr>
          <a:xfrm>
            <a:off x="2019413" y="4913613"/>
            <a:ext cx="0" cy="312300"/>
          </a:xfrm>
          <a:prstGeom prst="straightConnector1">
            <a:avLst/>
          </a:prstGeom>
          <a:noFill/>
          <a:ln cap="flat" cmpd="sng" w="28575">
            <a:solidFill>
              <a:srgbClr val="0000FF"/>
            </a:solidFill>
            <a:prstDash val="solid"/>
            <a:round/>
            <a:headEnd len="med" w="med" type="none"/>
            <a:tailEnd len="med" w="med" type="triangle"/>
          </a:ln>
        </p:spPr>
      </p:cxnSp>
      <p:pic>
        <p:nvPicPr>
          <p:cNvPr id="268" name="Google Shape;268;p32"/>
          <p:cNvPicPr preferRelativeResize="0"/>
          <p:nvPr/>
        </p:nvPicPr>
        <p:blipFill rotWithShape="1">
          <a:blip r:embed="rId4">
            <a:alphaModFix/>
          </a:blip>
          <a:srcRect b="0" l="0" r="0" t="49967"/>
          <a:stretch/>
        </p:blipFill>
        <p:spPr>
          <a:xfrm>
            <a:off x="152400" y="972360"/>
            <a:ext cx="8839200" cy="946215"/>
          </a:xfrm>
          <a:prstGeom prst="rect">
            <a:avLst/>
          </a:prstGeom>
          <a:noFill/>
          <a:ln>
            <a:noFill/>
          </a:ln>
        </p:spPr>
      </p:pic>
      <p:sp>
        <p:nvSpPr>
          <p:cNvPr id="269" name="Google Shape;269;p32"/>
          <p:cNvSpPr/>
          <p:nvPr/>
        </p:nvSpPr>
        <p:spPr>
          <a:xfrm>
            <a:off x="300425" y="1536750"/>
            <a:ext cx="8627700" cy="2904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3"/>
          <p:cNvPicPr preferRelativeResize="0"/>
          <p:nvPr/>
        </p:nvPicPr>
        <p:blipFill rotWithShape="1">
          <a:blip r:embed="rId3">
            <a:alphaModFix/>
          </a:blip>
          <a:srcRect b="0" l="0" r="0" t="49967"/>
          <a:stretch/>
        </p:blipFill>
        <p:spPr>
          <a:xfrm>
            <a:off x="152400" y="972360"/>
            <a:ext cx="8839200" cy="946215"/>
          </a:xfrm>
          <a:prstGeom prst="rect">
            <a:avLst/>
          </a:prstGeom>
          <a:noFill/>
          <a:ln>
            <a:noFill/>
          </a:ln>
        </p:spPr>
      </p:pic>
      <p:sp>
        <p:nvSpPr>
          <p:cNvPr id="275" name="Google Shape;275;p33"/>
          <p:cNvSpPr txBox="1"/>
          <p:nvPr>
            <p:ph type="title"/>
          </p:nvPr>
        </p:nvSpPr>
        <p:spPr>
          <a:xfrm>
            <a:off x="155850" y="1668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ADRDY bit in ADC_ISR register</a:t>
            </a:r>
            <a:endParaRPr/>
          </a:p>
          <a:p>
            <a:pPr indent="0" lvl="0" marL="0" rtl="0" algn="l">
              <a:spcBef>
                <a:spcPts val="0"/>
              </a:spcBef>
              <a:spcAft>
                <a:spcPts val="0"/>
              </a:spcAft>
              <a:buNone/>
            </a:pPr>
            <a:r>
              <a:t/>
            </a:r>
            <a:endParaRPr/>
          </a:p>
        </p:txBody>
      </p:sp>
      <p:pic>
        <p:nvPicPr>
          <p:cNvPr id="276" name="Google Shape;276;p33"/>
          <p:cNvPicPr preferRelativeResize="0"/>
          <p:nvPr/>
        </p:nvPicPr>
        <p:blipFill rotWithShape="1">
          <a:blip r:embed="rId4">
            <a:alphaModFix/>
          </a:blip>
          <a:srcRect b="0" l="0" r="0" t="19923"/>
          <a:stretch/>
        </p:blipFill>
        <p:spPr>
          <a:xfrm>
            <a:off x="229225" y="2058250"/>
            <a:ext cx="8758926" cy="478525"/>
          </a:xfrm>
          <a:prstGeom prst="rect">
            <a:avLst/>
          </a:prstGeom>
          <a:noFill/>
          <a:ln cap="flat" cmpd="sng" w="28575">
            <a:solidFill>
              <a:srgbClr val="990000"/>
            </a:solidFill>
            <a:prstDash val="solid"/>
            <a:round/>
            <a:headEnd len="sm" w="sm" type="none"/>
            <a:tailEnd len="sm" w="sm" type="none"/>
          </a:ln>
        </p:spPr>
      </p:pic>
      <p:sp>
        <p:nvSpPr>
          <p:cNvPr id="277" name="Google Shape;277;p33"/>
          <p:cNvSpPr/>
          <p:nvPr/>
        </p:nvSpPr>
        <p:spPr>
          <a:xfrm>
            <a:off x="300425" y="1536750"/>
            <a:ext cx="8627700" cy="2904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33"/>
          <p:cNvSpPr txBox="1"/>
          <p:nvPr/>
        </p:nvSpPr>
        <p:spPr>
          <a:xfrm>
            <a:off x="202025" y="2712775"/>
            <a:ext cx="8839200" cy="172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We have to clear a bit (for example ADRDY) in this register using an assignment operator:</a:t>
            </a:r>
            <a:endParaRPr b="1">
              <a:solidFill>
                <a:srgbClr val="0000FF"/>
              </a:solidFill>
              <a:highlight>
                <a:schemeClr val="lt1"/>
              </a:highlight>
              <a:latin typeface="Courier New"/>
              <a:ea typeface="Courier New"/>
              <a:cs typeface="Courier New"/>
              <a:sym typeface="Courier New"/>
            </a:endParaRPr>
          </a:p>
          <a:p>
            <a:pPr indent="45720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ADC1-&gt;ISR </a:t>
            </a:r>
            <a:r>
              <a:rPr b="1" lang="en">
                <a:solidFill>
                  <a:srgbClr val="0000FF"/>
                </a:solidFill>
                <a:highlight>
                  <a:srgbClr val="FFFF00"/>
                </a:highlight>
                <a:latin typeface="Courier New"/>
                <a:ea typeface="Courier New"/>
                <a:cs typeface="Courier New"/>
                <a:sym typeface="Courier New"/>
              </a:rPr>
              <a:t>=</a:t>
            </a:r>
            <a:r>
              <a:rPr b="1" lang="en">
                <a:solidFill>
                  <a:srgbClr val="0000FF"/>
                </a:solidFill>
                <a:highlight>
                  <a:schemeClr val="lt1"/>
                </a:highlight>
                <a:latin typeface="Courier New"/>
                <a:ea typeface="Courier New"/>
                <a:cs typeface="Courier New"/>
                <a:sym typeface="Courier New"/>
              </a:rPr>
              <a:t> ADC_ISR_ADRDY</a:t>
            </a:r>
            <a:r>
              <a:rPr lang="en">
                <a:solidFill>
                  <a:srgbClr val="0000FF"/>
                </a:solidFill>
                <a:highlight>
                  <a:schemeClr val="lt1"/>
                </a:highlight>
                <a:latin typeface="Courier New"/>
                <a:ea typeface="Courier New"/>
                <a:cs typeface="Courier New"/>
                <a:sym typeface="Courier New"/>
              </a:rPr>
              <a:t>;</a:t>
            </a:r>
            <a:endParaRPr>
              <a:solidFill>
                <a:srgbClr val="0000FF"/>
              </a:solidFill>
              <a:highlight>
                <a:schemeClr val="lt1"/>
              </a:highlight>
              <a:latin typeface="Courier New"/>
              <a:ea typeface="Courier New"/>
              <a:cs typeface="Courier New"/>
              <a:sym typeface="Courier New"/>
            </a:endParaRPr>
          </a:p>
          <a:p>
            <a:pPr indent="457200" lvl="0" marL="0" rtl="0" algn="l">
              <a:lnSpc>
                <a:spcPct val="115000"/>
              </a:lnSpc>
              <a:spcBef>
                <a:spcPts val="0"/>
              </a:spcBef>
              <a:spcAft>
                <a:spcPts val="0"/>
              </a:spcAft>
              <a:buNone/>
            </a:pPr>
            <a:r>
              <a:t/>
            </a:r>
            <a:endParaRPr>
              <a:solidFill>
                <a:srgbClr val="0000FF"/>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800">
                <a:solidFill>
                  <a:schemeClr val="dk2"/>
                </a:solidFill>
              </a:rPr>
              <a:t>What could go wrong if we used the bitwise OR assignment operator instead?</a:t>
            </a:r>
            <a:endParaRPr>
              <a:solidFill>
                <a:srgbClr val="0000FF"/>
              </a:solidFill>
              <a:highlight>
                <a:schemeClr val="lt1"/>
              </a:highlight>
              <a:latin typeface="Courier New"/>
              <a:ea typeface="Courier New"/>
              <a:cs typeface="Courier New"/>
              <a:sym typeface="Courier New"/>
            </a:endParaRPr>
          </a:p>
          <a:p>
            <a:pPr indent="45720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ADC1-&gt;ISR </a:t>
            </a:r>
            <a:r>
              <a:rPr b="1" lang="en">
                <a:solidFill>
                  <a:srgbClr val="0000FF"/>
                </a:solidFill>
                <a:highlight>
                  <a:srgbClr val="FFFF00"/>
                </a:highlight>
                <a:latin typeface="Courier New"/>
                <a:ea typeface="Courier New"/>
                <a:cs typeface="Courier New"/>
                <a:sym typeface="Courier New"/>
              </a:rPr>
              <a:t>|=</a:t>
            </a:r>
            <a:r>
              <a:rPr b="1" lang="en">
                <a:solidFill>
                  <a:srgbClr val="0000FF"/>
                </a:solidFill>
                <a:highlight>
                  <a:schemeClr val="lt1"/>
                </a:highlight>
                <a:latin typeface="Courier New"/>
                <a:ea typeface="Courier New"/>
                <a:cs typeface="Courier New"/>
                <a:sym typeface="Courier New"/>
              </a:rPr>
              <a:t> ADC_ISR_ADRDY</a:t>
            </a:r>
            <a:r>
              <a:rPr lang="en">
                <a:solidFill>
                  <a:srgbClr val="0000FF"/>
                </a:solidFill>
                <a:highlight>
                  <a:schemeClr val="lt1"/>
                </a:highlight>
                <a:latin typeface="Courier New"/>
                <a:ea typeface="Courier New"/>
                <a:cs typeface="Courier New"/>
                <a:sym typeface="Courier New"/>
              </a:rPr>
              <a:t>;</a:t>
            </a:r>
            <a:endParaRPr sz="1800">
              <a:solidFill>
                <a:schemeClr val="dk2"/>
              </a:solidFill>
            </a:endParaRPr>
          </a:p>
        </p:txBody>
      </p:sp>
      <p:graphicFrame>
        <p:nvGraphicFramePr>
          <p:cNvPr id="279" name="Google Shape;279;p33"/>
          <p:cNvGraphicFramePr/>
          <p:nvPr/>
        </p:nvGraphicFramePr>
        <p:xfrm>
          <a:off x="300425" y="4615875"/>
          <a:ext cx="3000000" cy="3000000"/>
        </p:xfrm>
        <a:graphic>
          <a:graphicData uri="http://schemas.openxmlformats.org/drawingml/2006/table">
            <a:tbl>
              <a:tblPr>
                <a:noFill/>
                <a:tableStyleId>{E5BD56B2-36C9-4701-B58B-BE0416E132BA}</a:tableStyleId>
              </a:tblPr>
              <a:tblGrid>
                <a:gridCol w="1727600"/>
                <a:gridCol w="1727600"/>
              </a:tblGrid>
              <a:tr h="192050">
                <a:tc>
                  <a:txBody>
                    <a:bodyPr/>
                    <a:lstStyle/>
                    <a:p>
                      <a:pPr indent="0" lvl="0" marL="0" rtl="0" algn="l">
                        <a:spcBef>
                          <a:spcPts val="0"/>
                        </a:spcBef>
                        <a:spcAft>
                          <a:spcPts val="0"/>
                        </a:spcAft>
                        <a:buNone/>
                      </a:pPr>
                      <a:r>
                        <a:rPr lang="en" sz="1600"/>
                        <a:t>Register name</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Value </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None/>
                      </a:pPr>
                      <a:r>
                        <a:rPr lang="en" sz="1600"/>
                        <a:t>…</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None/>
                      </a:pPr>
                      <a:r>
                        <a:rPr lang="en" sz="1600"/>
                        <a:t>ADC_ISR</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b="1" lang="en" sz="1600">
                          <a:solidFill>
                            <a:srgbClr val="0000FF"/>
                          </a:solidFill>
                          <a:latin typeface="Courier New"/>
                          <a:ea typeface="Courier New"/>
                          <a:cs typeface="Courier New"/>
                          <a:sym typeface="Courier New"/>
                        </a:rPr>
                        <a:t>  …00010101</a:t>
                      </a:r>
                      <a:endParaRPr b="1" sz="1600">
                        <a:solidFill>
                          <a:srgbClr val="0000FF"/>
                        </a:solidFill>
                        <a:latin typeface="Courier New"/>
                        <a:ea typeface="Courier New"/>
                        <a:cs typeface="Courier New"/>
                        <a:sym typeface="Courier New"/>
                      </a:endParaRPr>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None/>
                      </a:pPr>
                      <a:r>
                        <a:rPr lang="en" sz="1600"/>
                        <a:t>…</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cxnSp>
        <p:nvCxnSpPr>
          <p:cNvPr id="280" name="Google Shape;280;p33"/>
          <p:cNvCxnSpPr/>
          <p:nvPr/>
        </p:nvCxnSpPr>
        <p:spPr>
          <a:xfrm>
            <a:off x="3572650" y="5234075"/>
            <a:ext cx="2011200" cy="24900"/>
          </a:xfrm>
          <a:prstGeom prst="straightConnector1">
            <a:avLst/>
          </a:prstGeom>
          <a:noFill/>
          <a:ln cap="flat" cmpd="sng" w="28575">
            <a:solidFill>
              <a:srgbClr val="0000FF"/>
            </a:solidFill>
            <a:prstDash val="solid"/>
            <a:round/>
            <a:headEnd len="med" w="med" type="none"/>
            <a:tailEnd len="med" w="med" type="triangle"/>
          </a:ln>
        </p:spPr>
      </p:cxnSp>
      <p:graphicFrame>
        <p:nvGraphicFramePr>
          <p:cNvPr id="281" name="Google Shape;281;p33"/>
          <p:cNvGraphicFramePr/>
          <p:nvPr/>
        </p:nvGraphicFramePr>
        <p:xfrm>
          <a:off x="5472925" y="4377875"/>
          <a:ext cx="3000000" cy="3000000"/>
        </p:xfrm>
        <a:graphic>
          <a:graphicData uri="http://schemas.openxmlformats.org/drawingml/2006/table">
            <a:tbl>
              <a:tblPr>
                <a:noFill/>
                <a:tableStyleId>{E5BD56B2-36C9-4701-B58B-BE0416E132BA}</a:tableStyleId>
              </a:tblPr>
              <a:tblGrid>
                <a:gridCol w="1727600"/>
                <a:gridCol w="1727600"/>
              </a:tblGrid>
              <a:tr h="192050">
                <a:tc gridSpan="2">
                  <a:txBody>
                    <a:bodyPr/>
                    <a:lstStyle/>
                    <a:p>
                      <a:pPr indent="0" lvl="0" marL="0" rtl="0" algn="ctr">
                        <a:spcBef>
                          <a:spcPts val="0"/>
                        </a:spcBef>
                        <a:spcAft>
                          <a:spcPts val="0"/>
                        </a:spcAft>
                        <a:buNone/>
                      </a:pPr>
                      <a:r>
                        <a:rPr lang="en" sz="1600"/>
                        <a:t>General Purpose Registers</a:t>
                      </a:r>
                      <a:endParaRPr sz="1600"/>
                    </a:p>
                  </a:txBody>
                  <a:tcPr marT="0" marB="0" marR="0" marL="91425">
                    <a:lnR cap="flat" cmpd="sng" w="9525">
                      <a:solidFill>
                        <a:srgbClr val="9E9E9E"/>
                      </a:solidFill>
                      <a:prstDash val="solid"/>
                      <a:round/>
                      <a:headEnd len="sm" w="sm" type="none"/>
                      <a:tailEnd len="sm" w="sm" type="none"/>
                    </a:lnR>
                  </a:tcPr>
                </a:tc>
                <a:tc hMerge="1"/>
              </a:tr>
              <a:tr h="192050">
                <a:tc>
                  <a:txBody>
                    <a:bodyPr/>
                    <a:lstStyle/>
                    <a:p>
                      <a:pPr indent="0" lvl="0" marL="0" rtl="0" algn="l">
                        <a:spcBef>
                          <a:spcPts val="0"/>
                        </a:spcBef>
                        <a:spcAft>
                          <a:spcPts val="0"/>
                        </a:spcAft>
                        <a:buNone/>
                      </a:pPr>
                      <a:r>
                        <a:rPr lang="en" sz="1600"/>
                        <a:t>…</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None/>
                      </a:pPr>
                      <a:r>
                        <a:rPr b="1" lang="en" sz="1600">
                          <a:solidFill>
                            <a:srgbClr val="0000FF"/>
                          </a:solidFill>
                          <a:latin typeface="Courier New"/>
                          <a:ea typeface="Courier New"/>
                          <a:cs typeface="Courier New"/>
                          <a:sym typeface="Courier New"/>
                        </a:rPr>
                        <a:t>  …00000001</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solidFill>
                            <a:schemeClr val="dk1"/>
                          </a:solidFill>
                        </a:rPr>
                        <a:t>R2</a:t>
                      </a:r>
                      <a:endParaRPr sz="1600">
                        <a:solidFill>
                          <a:schemeClr val="dk1"/>
                        </a:solidFill>
                      </a:endParaRPr>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2050">
                <a:tc>
                  <a:txBody>
                    <a:bodyPr/>
                    <a:lstStyle/>
                    <a:p>
                      <a:pPr indent="0" lvl="0" marL="0" rtl="0" algn="l">
                        <a:spcBef>
                          <a:spcPts val="0"/>
                        </a:spcBef>
                        <a:spcAft>
                          <a:spcPts val="0"/>
                        </a:spcAft>
                        <a:buNone/>
                      </a:pPr>
                      <a:r>
                        <a:rPr b="1" lang="en" sz="1600">
                          <a:solidFill>
                            <a:srgbClr val="0000FF"/>
                          </a:solidFill>
                          <a:latin typeface="Courier New"/>
                          <a:ea typeface="Courier New"/>
                          <a:cs typeface="Courier New"/>
                          <a:sym typeface="Courier New"/>
                        </a:rPr>
                        <a:t>  …00010101</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R3</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cxnSp>
        <p:nvCxnSpPr>
          <p:cNvPr id="282" name="Google Shape;282;p33"/>
          <p:cNvCxnSpPr/>
          <p:nvPr/>
        </p:nvCxnSpPr>
        <p:spPr>
          <a:xfrm>
            <a:off x="3072975" y="4372125"/>
            <a:ext cx="2573400" cy="637200"/>
          </a:xfrm>
          <a:prstGeom prst="straightConnector1">
            <a:avLst/>
          </a:prstGeom>
          <a:noFill/>
          <a:ln cap="flat" cmpd="sng" w="28575">
            <a:solidFill>
              <a:srgbClr val="0000FF"/>
            </a:solidFill>
            <a:prstDash val="solid"/>
            <a:round/>
            <a:headEnd len="med" w="med" type="none"/>
            <a:tailEnd len="med" w="med" type="triangle"/>
          </a:ln>
        </p:spPr>
      </p:cxnSp>
      <p:graphicFrame>
        <p:nvGraphicFramePr>
          <p:cNvPr id="283" name="Google Shape;283;p33"/>
          <p:cNvGraphicFramePr/>
          <p:nvPr/>
        </p:nvGraphicFramePr>
        <p:xfrm>
          <a:off x="5472925" y="5828525"/>
          <a:ext cx="3000000" cy="3000000"/>
        </p:xfrm>
        <a:graphic>
          <a:graphicData uri="http://schemas.openxmlformats.org/drawingml/2006/table">
            <a:tbl>
              <a:tblPr>
                <a:noFill/>
                <a:tableStyleId>{E5BD56B2-36C9-4701-B58B-BE0416E132BA}</a:tableStyleId>
              </a:tblPr>
              <a:tblGrid>
                <a:gridCol w="1727600"/>
                <a:gridCol w="1727600"/>
              </a:tblGrid>
              <a:tr h="192050">
                <a:tc>
                  <a:txBody>
                    <a:bodyPr/>
                    <a:lstStyle/>
                    <a:p>
                      <a:pPr indent="0" lvl="0" marL="0" rtl="0" algn="l">
                        <a:spcBef>
                          <a:spcPts val="0"/>
                        </a:spcBef>
                        <a:spcAft>
                          <a:spcPts val="0"/>
                        </a:spcAft>
                        <a:buNone/>
                      </a:pPr>
                      <a:r>
                        <a:rPr b="1" lang="en" sz="1600">
                          <a:solidFill>
                            <a:srgbClr val="0000FF"/>
                          </a:solidFill>
                          <a:latin typeface="Courier New"/>
                          <a:ea typeface="Courier New"/>
                          <a:cs typeface="Courier New"/>
                          <a:sym typeface="Courier New"/>
                        </a:rPr>
                        <a:t>  …00010101</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600"/>
                        <a:t>R3</a:t>
                      </a:r>
                      <a:endParaRPr sz="1600"/>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cxnSp>
        <p:nvCxnSpPr>
          <p:cNvPr id="284" name="Google Shape;284;p33"/>
          <p:cNvCxnSpPr/>
          <p:nvPr/>
        </p:nvCxnSpPr>
        <p:spPr>
          <a:xfrm>
            <a:off x="7045375" y="5446425"/>
            <a:ext cx="0" cy="312300"/>
          </a:xfrm>
          <a:prstGeom prst="straightConnector1">
            <a:avLst/>
          </a:prstGeom>
          <a:noFill/>
          <a:ln cap="flat" cmpd="sng" w="28575">
            <a:solidFill>
              <a:srgbClr val="0000FF"/>
            </a:solidFill>
            <a:prstDash val="solid"/>
            <a:round/>
            <a:headEnd len="med" w="med" type="none"/>
            <a:tailEnd len="med" w="med" type="triangle"/>
          </a:ln>
        </p:spPr>
      </p:cxnSp>
      <p:sp>
        <p:nvSpPr>
          <p:cNvPr id="285" name="Google Shape;285;p33"/>
          <p:cNvSpPr txBox="1"/>
          <p:nvPr/>
        </p:nvSpPr>
        <p:spPr>
          <a:xfrm>
            <a:off x="7133850" y="5446425"/>
            <a:ext cx="186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Bitwise OR</a:t>
            </a:r>
            <a:endParaRPr sz="1800">
              <a:solidFill>
                <a:schemeClr val="dk2"/>
              </a:solidFill>
            </a:endParaRPr>
          </a:p>
        </p:txBody>
      </p:sp>
      <p:cxnSp>
        <p:nvCxnSpPr>
          <p:cNvPr id="286" name="Google Shape;286;p33"/>
          <p:cNvCxnSpPr/>
          <p:nvPr/>
        </p:nvCxnSpPr>
        <p:spPr>
          <a:xfrm rot="10800000">
            <a:off x="3572575" y="5333875"/>
            <a:ext cx="1811400" cy="637200"/>
          </a:xfrm>
          <a:prstGeom prst="straightConnector1">
            <a:avLst/>
          </a:prstGeom>
          <a:noFill/>
          <a:ln cap="flat" cmpd="sng" w="28575">
            <a:solidFill>
              <a:srgbClr val="0000FF"/>
            </a:solidFill>
            <a:prstDash val="solid"/>
            <a:round/>
            <a:headEnd len="med" w="med" type="none"/>
            <a:tailEnd len="med" w="med" type="triangle"/>
          </a:ln>
        </p:spPr>
      </p:cxnSp>
      <p:graphicFrame>
        <p:nvGraphicFramePr>
          <p:cNvPr id="287" name="Google Shape;287;p33"/>
          <p:cNvGraphicFramePr/>
          <p:nvPr/>
        </p:nvGraphicFramePr>
        <p:xfrm>
          <a:off x="300425" y="6072350"/>
          <a:ext cx="3000000" cy="3000000"/>
        </p:xfrm>
        <a:graphic>
          <a:graphicData uri="http://schemas.openxmlformats.org/drawingml/2006/table">
            <a:tbl>
              <a:tblPr>
                <a:noFill/>
                <a:tableStyleId>{E5BD56B2-36C9-4701-B58B-BE0416E132BA}</a:tableStyleId>
              </a:tblPr>
              <a:tblGrid>
                <a:gridCol w="1727600"/>
                <a:gridCol w="1727600"/>
              </a:tblGrid>
              <a:tr h="192050">
                <a:tc>
                  <a:txBody>
                    <a:bodyPr/>
                    <a:lstStyle/>
                    <a:p>
                      <a:pPr indent="0" lvl="0" marL="0" rtl="0" algn="l">
                        <a:spcBef>
                          <a:spcPts val="0"/>
                        </a:spcBef>
                        <a:spcAft>
                          <a:spcPts val="0"/>
                        </a:spcAft>
                        <a:buNone/>
                      </a:pPr>
                      <a:r>
                        <a:rPr lang="en" sz="1600"/>
                        <a:t>ADC_ISR</a:t>
                      </a:r>
                      <a:endParaRPr sz="1600"/>
                    </a:p>
                  </a:txBody>
                  <a:tcPr marT="0" marB="0" marR="0"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b="1" lang="en" sz="1600">
                          <a:solidFill>
                            <a:srgbClr val="0000FF"/>
                          </a:solidFill>
                          <a:latin typeface="Courier New"/>
                          <a:ea typeface="Courier New"/>
                          <a:cs typeface="Courier New"/>
                          <a:sym typeface="Courier New"/>
                        </a:rPr>
                        <a:t>  …000</a:t>
                      </a:r>
                      <a:r>
                        <a:rPr b="1" lang="en" sz="1600">
                          <a:solidFill>
                            <a:srgbClr val="0000FF"/>
                          </a:solidFill>
                          <a:highlight>
                            <a:schemeClr val="accent6"/>
                          </a:highlight>
                          <a:latin typeface="Courier New"/>
                          <a:ea typeface="Courier New"/>
                          <a:cs typeface="Courier New"/>
                          <a:sym typeface="Courier New"/>
                        </a:rPr>
                        <a:t>0</a:t>
                      </a:r>
                      <a:r>
                        <a:rPr b="1" lang="en" sz="1600">
                          <a:solidFill>
                            <a:srgbClr val="0000FF"/>
                          </a:solidFill>
                          <a:latin typeface="Courier New"/>
                          <a:ea typeface="Courier New"/>
                          <a:cs typeface="Courier New"/>
                          <a:sym typeface="Courier New"/>
                        </a:rPr>
                        <a:t>0</a:t>
                      </a:r>
                      <a:r>
                        <a:rPr b="1" lang="en" sz="1600">
                          <a:solidFill>
                            <a:srgbClr val="0000FF"/>
                          </a:solidFill>
                          <a:highlight>
                            <a:schemeClr val="accent6"/>
                          </a:highlight>
                          <a:latin typeface="Courier New"/>
                          <a:ea typeface="Courier New"/>
                          <a:cs typeface="Courier New"/>
                          <a:sym typeface="Courier New"/>
                        </a:rPr>
                        <a:t>0</a:t>
                      </a:r>
                      <a:r>
                        <a:rPr b="1" lang="en" sz="1600">
                          <a:solidFill>
                            <a:srgbClr val="0000FF"/>
                          </a:solidFill>
                          <a:latin typeface="Courier New"/>
                          <a:ea typeface="Courier New"/>
                          <a:cs typeface="Courier New"/>
                          <a:sym typeface="Courier New"/>
                        </a:rPr>
                        <a:t>0</a:t>
                      </a:r>
                      <a:r>
                        <a:rPr b="1" lang="en" sz="1600">
                          <a:solidFill>
                            <a:srgbClr val="0000FF"/>
                          </a:solidFill>
                          <a:highlight>
                            <a:schemeClr val="accent6"/>
                          </a:highlight>
                          <a:latin typeface="Courier New"/>
                          <a:ea typeface="Courier New"/>
                          <a:cs typeface="Courier New"/>
                          <a:sym typeface="Courier New"/>
                        </a:rPr>
                        <a:t>0</a:t>
                      </a:r>
                      <a:endParaRPr b="1" sz="1600">
                        <a:solidFill>
                          <a:srgbClr val="0000FF"/>
                        </a:solidFill>
                        <a:highlight>
                          <a:schemeClr val="accent6"/>
                        </a:highlight>
                        <a:latin typeface="Courier New"/>
                        <a:ea typeface="Courier New"/>
                        <a:cs typeface="Courier New"/>
                        <a:sym typeface="Courier New"/>
                      </a:endParaRPr>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cxnSp>
        <p:nvCxnSpPr>
          <p:cNvPr id="288" name="Google Shape;288;p33"/>
          <p:cNvCxnSpPr/>
          <p:nvPr/>
        </p:nvCxnSpPr>
        <p:spPr>
          <a:xfrm>
            <a:off x="2019413" y="5675613"/>
            <a:ext cx="0" cy="312300"/>
          </a:xfrm>
          <a:prstGeom prst="straightConnector1">
            <a:avLst/>
          </a:prstGeom>
          <a:noFill/>
          <a:ln cap="flat" cmpd="sng" w="28575">
            <a:solidFill>
              <a:srgbClr val="0000FF"/>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4"/>
          <p:cNvSpPr txBox="1"/>
          <p:nvPr>
            <p:ph type="title"/>
          </p:nvPr>
        </p:nvSpPr>
        <p:spPr>
          <a:xfrm>
            <a:off x="311700" y="302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 to UIF bit in </a:t>
            </a:r>
            <a:r>
              <a:rPr lang="en"/>
              <a:t>TIM14_SR</a:t>
            </a:r>
            <a:endParaRPr/>
          </a:p>
        </p:txBody>
      </p:sp>
      <p:pic>
        <p:nvPicPr>
          <p:cNvPr id="294" name="Google Shape;294;p34"/>
          <p:cNvPicPr preferRelativeResize="0"/>
          <p:nvPr/>
        </p:nvPicPr>
        <p:blipFill rotWithShape="1">
          <a:blip r:embed="rId3">
            <a:alphaModFix/>
          </a:blip>
          <a:srcRect b="0" l="0" r="0" t="51763"/>
          <a:stretch/>
        </p:blipFill>
        <p:spPr>
          <a:xfrm>
            <a:off x="219750" y="872403"/>
            <a:ext cx="8448675" cy="1038350"/>
          </a:xfrm>
          <a:prstGeom prst="rect">
            <a:avLst/>
          </a:prstGeom>
          <a:noFill/>
          <a:ln>
            <a:noFill/>
          </a:ln>
        </p:spPr>
      </p:pic>
      <p:pic>
        <p:nvPicPr>
          <p:cNvPr id="295" name="Google Shape;295;p34"/>
          <p:cNvPicPr preferRelativeResize="0"/>
          <p:nvPr/>
        </p:nvPicPr>
        <p:blipFill rotWithShape="1">
          <a:blip r:embed="rId4">
            <a:alphaModFix/>
          </a:blip>
          <a:srcRect b="0" l="0" r="7236" t="0"/>
          <a:stretch/>
        </p:blipFill>
        <p:spPr>
          <a:xfrm>
            <a:off x="569275" y="2007032"/>
            <a:ext cx="8005450" cy="781050"/>
          </a:xfrm>
          <a:prstGeom prst="rect">
            <a:avLst/>
          </a:prstGeom>
          <a:noFill/>
          <a:ln cap="flat" cmpd="sng" w="28575">
            <a:solidFill>
              <a:srgbClr val="FF0000"/>
            </a:solidFill>
            <a:prstDash val="solid"/>
            <a:round/>
            <a:headEnd len="sm" w="sm" type="none"/>
            <a:tailEnd len="sm" w="sm" type="none"/>
          </a:ln>
        </p:spPr>
      </p:pic>
      <p:pic>
        <p:nvPicPr>
          <p:cNvPr id="296" name="Google Shape;296;p34"/>
          <p:cNvPicPr preferRelativeResize="0"/>
          <p:nvPr/>
        </p:nvPicPr>
        <p:blipFill rotWithShape="1">
          <a:blip r:embed="rId5">
            <a:alphaModFix/>
          </a:blip>
          <a:srcRect b="0" l="0" r="0" t="49967"/>
          <a:stretch/>
        </p:blipFill>
        <p:spPr>
          <a:xfrm>
            <a:off x="152400" y="4595225"/>
            <a:ext cx="8839200" cy="946215"/>
          </a:xfrm>
          <a:prstGeom prst="rect">
            <a:avLst/>
          </a:prstGeom>
          <a:noFill/>
          <a:ln>
            <a:noFill/>
          </a:ln>
        </p:spPr>
      </p:pic>
      <p:sp>
        <p:nvSpPr>
          <p:cNvPr id="297" name="Google Shape;297;p34"/>
          <p:cNvSpPr txBox="1"/>
          <p:nvPr>
            <p:ph type="title"/>
          </p:nvPr>
        </p:nvSpPr>
        <p:spPr>
          <a:xfrm>
            <a:off x="155850" y="378973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Compare with ADRDY bit in ADC_ISR register</a:t>
            </a:r>
            <a:endParaRPr/>
          </a:p>
          <a:p>
            <a:pPr indent="0" lvl="0" marL="0" rtl="0" algn="l">
              <a:spcBef>
                <a:spcPts val="0"/>
              </a:spcBef>
              <a:spcAft>
                <a:spcPts val="0"/>
              </a:spcAft>
              <a:buNone/>
            </a:pPr>
            <a:r>
              <a:t/>
            </a:r>
            <a:endParaRPr/>
          </a:p>
        </p:txBody>
      </p:sp>
      <p:pic>
        <p:nvPicPr>
          <p:cNvPr id="298" name="Google Shape;298;p34"/>
          <p:cNvPicPr preferRelativeResize="0"/>
          <p:nvPr/>
        </p:nvPicPr>
        <p:blipFill rotWithShape="1">
          <a:blip r:embed="rId6">
            <a:alphaModFix/>
          </a:blip>
          <a:srcRect b="0" l="0" r="0" t="19923"/>
          <a:stretch/>
        </p:blipFill>
        <p:spPr>
          <a:xfrm>
            <a:off x="229225" y="5681116"/>
            <a:ext cx="8758926" cy="478525"/>
          </a:xfrm>
          <a:prstGeom prst="rect">
            <a:avLst/>
          </a:prstGeom>
          <a:noFill/>
          <a:ln cap="flat" cmpd="sng" w="28575">
            <a:solidFill>
              <a:srgbClr val="990000"/>
            </a:solidFill>
            <a:prstDash val="solid"/>
            <a:round/>
            <a:headEnd len="sm" w="sm" type="none"/>
            <a:tailEnd len="sm" w="sm" type="none"/>
          </a:ln>
        </p:spPr>
      </p:pic>
      <p:sp>
        <p:nvSpPr>
          <p:cNvPr id="299" name="Google Shape;299;p34"/>
          <p:cNvSpPr/>
          <p:nvPr/>
        </p:nvSpPr>
        <p:spPr>
          <a:xfrm>
            <a:off x="300425" y="5159616"/>
            <a:ext cx="8627700" cy="2904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34"/>
          <p:cNvSpPr/>
          <p:nvPr/>
        </p:nvSpPr>
        <p:spPr>
          <a:xfrm>
            <a:off x="569275" y="1519525"/>
            <a:ext cx="7912500" cy="290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34"/>
          <p:cNvSpPr txBox="1"/>
          <p:nvPr/>
        </p:nvSpPr>
        <p:spPr>
          <a:xfrm>
            <a:off x="189088" y="6299325"/>
            <a:ext cx="8839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chemeClr val="dk2"/>
                </a:solidFill>
              </a:rPr>
              <a:t>Clear ARDY bit via</a:t>
            </a:r>
            <a:r>
              <a:rPr b="1" lang="en">
                <a:solidFill>
                  <a:srgbClr val="0000FF"/>
                </a:solidFill>
                <a:highlight>
                  <a:schemeClr val="lt1"/>
                </a:highlight>
                <a:latin typeface="Courier New"/>
                <a:ea typeface="Courier New"/>
                <a:cs typeface="Courier New"/>
                <a:sym typeface="Courier New"/>
              </a:rPr>
              <a:t> </a:t>
            </a:r>
            <a:r>
              <a:rPr b="1" lang="en">
                <a:solidFill>
                  <a:srgbClr val="0000FF"/>
                </a:solidFill>
                <a:highlight>
                  <a:schemeClr val="lt1"/>
                </a:highlight>
                <a:latin typeface="Courier New"/>
                <a:ea typeface="Courier New"/>
                <a:cs typeface="Courier New"/>
                <a:sym typeface="Courier New"/>
              </a:rPr>
              <a:t>ADC1-&gt;ISR </a:t>
            </a:r>
            <a:r>
              <a:rPr b="1" lang="en">
                <a:solidFill>
                  <a:srgbClr val="0000FF"/>
                </a:solidFill>
                <a:highlight>
                  <a:srgbClr val="FFFF00"/>
                </a:highlight>
                <a:latin typeface="Courier New"/>
                <a:ea typeface="Courier New"/>
                <a:cs typeface="Courier New"/>
                <a:sym typeface="Courier New"/>
              </a:rPr>
              <a:t>=</a:t>
            </a:r>
            <a:r>
              <a:rPr b="1" lang="en">
                <a:solidFill>
                  <a:srgbClr val="0000FF"/>
                </a:solidFill>
                <a:highlight>
                  <a:schemeClr val="lt1"/>
                </a:highlight>
                <a:latin typeface="Courier New"/>
                <a:ea typeface="Courier New"/>
                <a:cs typeface="Courier New"/>
                <a:sym typeface="Courier New"/>
              </a:rPr>
              <a:t> ADC_ISR_ADRDY</a:t>
            </a:r>
            <a:r>
              <a:rPr lang="en">
                <a:solidFill>
                  <a:srgbClr val="0000FF"/>
                </a:solidFill>
                <a:highlight>
                  <a:schemeClr val="lt1"/>
                </a:highlight>
                <a:latin typeface="Courier New"/>
                <a:ea typeface="Courier New"/>
                <a:cs typeface="Courier New"/>
                <a:sym typeface="Courier New"/>
              </a:rPr>
              <a:t>;</a:t>
            </a:r>
            <a:endParaRPr sz="1800">
              <a:solidFill>
                <a:schemeClr val="dk2"/>
              </a:solidFill>
            </a:endParaRPr>
          </a:p>
        </p:txBody>
      </p:sp>
      <p:sp>
        <p:nvSpPr>
          <p:cNvPr id="302" name="Google Shape;302;p34"/>
          <p:cNvSpPr txBox="1"/>
          <p:nvPr/>
        </p:nvSpPr>
        <p:spPr>
          <a:xfrm>
            <a:off x="189075" y="2971725"/>
            <a:ext cx="8839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chemeClr val="dk2"/>
                </a:solidFill>
              </a:rPr>
              <a:t>Clear UIF bit via</a:t>
            </a:r>
            <a:r>
              <a:rPr b="1" lang="en">
                <a:solidFill>
                  <a:srgbClr val="0000FF"/>
                </a:solidFill>
                <a:highlight>
                  <a:schemeClr val="lt1"/>
                </a:highlight>
                <a:latin typeface="Courier New"/>
                <a:ea typeface="Courier New"/>
                <a:cs typeface="Courier New"/>
                <a:sym typeface="Courier New"/>
              </a:rPr>
              <a:t> TIM14-&gt;UIF </a:t>
            </a:r>
            <a:r>
              <a:rPr b="1" lang="en">
                <a:solidFill>
                  <a:srgbClr val="0000FF"/>
                </a:solidFill>
                <a:highlight>
                  <a:srgbClr val="FFFF00"/>
                </a:highlight>
                <a:latin typeface="Courier New"/>
                <a:ea typeface="Courier New"/>
                <a:cs typeface="Courier New"/>
                <a:sym typeface="Courier New"/>
              </a:rPr>
              <a:t>= ~</a:t>
            </a:r>
            <a:r>
              <a:rPr b="1" lang="en">
                <a:solidFill>
                  <a:srgbClr val="0000FF"/>
                </a:solidFill>
                <a:highlight>
                  <a:schemeClr val="lt1"/>
                </a:highlight>
                <a:latin typeface="Courier New"/>
                <a:ea typeface="Courier New"/>
                <a:cs typeface="Courier New"/>
                <a:sym typeface="Courier New"/>
              </a:rPr>
              <a:t>TIM_SR_UIF</a:t>
            </a:r>
            <a:r>
              <a:rPr lang="en">
                <a:solidFill>
                  <a:srgbClr val="0000FF"/>
                </a:solidFill>
                <a:highlight>
                  <a:schemeClr val="lt1"/>
                </a:highlight>
                <a:latin typeface="Courier New"/>
                <a:ea typeface="Courier New"/>
                <a:cs typeface="Courier New"/>
                <a:sym typeface="Courier New"/>
              </a:rPr>
              <a:t>;</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5"/>
          <p:cNvSpPr txBox="1"/>
          <p:nvPr>
            <p:ph type="title"/>
          </p:nvPr>
        </p:nvSpPr>
        <p:spPr>
          <a:xfrm>
            <a:off x="311700" y="2726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moral of the story…</a:t>
            </a:r>
            <a:endParaRPr/>
          </a:p>
        </p:txBody>
      </p:sp>
      <p:sp>
        <p:nvSpPr>
          <p:cNvPr id="308" name="Google Shape;308;p35"/>
          <p:cNvSpPr txBox="1"/>
          <p:nvPr>
            <p:ph idx="1" type="body"/>
          </p:nvPr>
        </p:nvSpPr>
        <p:spPr>
          <a:xfrm>
            <a:off x="311700" y="103618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For all peripheral status registers: bits are of rc_w1 or rc_w0 type.</a:t>
            </a:r>
            <a:endParaRPr/>
          </a:p>
          <a:p>
            <a:pPr indent="-342900" lvl="0" marL="457200" rtl="0" algn="l">
              <a:spcBef>
                <a:spcPts val="0"/>
              </a:spcBef>
              <a:spcAft>
                <a:spcPts val="0"/>
              </a:spcAft>
              <a:buSzPts val="1800"/>
              <a:buChar char="●"/>
            </a:pPr>
            <a:r>
              <a:rPr lang="en"/>
              <a:t>Status registers in peripherals are "changed from inside", i.e. hardware changes their values.</a:t>
            </a:r>
            <a:endParaRPr/>
          </a:p>
          <a:p>
            <a:pPr indent="-342900" lvl="0" marL="457200" rtl="0" algn="l">
              <a:spcBef>
                <a:spcPts val="0"/>
              </a:spcBef>
              <a:spcAft>
                <a:spcPts val="0"/>
              </a:spcAft>
              <a:buSzPts val="1800"/>
              <a:buChar char="●"/>
            </a:pPr>
            <a:r>
              <a:rPr lang="en"/>
              <a:t>Such a changed value (a "flag") indicates a state change of the hardware.</a:t>
            </a:r>
            <a:endParaRPr/>
          </a:p>
          <a:p>
            <a:pPr indent="-342900" lvl="0" marL="457200" rtl="0" algn="l">
              <a:spcBef>
                <a:spcPts val="0"/>
              </a:spcBef>
              <a:spcAft>
                <a:spcPts val="0"/>
              </a:spcAft>
              <a:buSzPts val="1800"/>
              <a:buChar char="●"/>
            </a:pPr>
            <a:r>
              <a:rPr lang="en"/>
              <a:t>The user then "lowers the flag" by writing a certain value to the same register.</a:t>
            </a:r>
            <a:endParaRPr/>
          </a:p>
          <a:p>
            <a:pPr indent="-342900" lvl="0" marL="457200" rtl="0" algn="l">
              <a:spcBef>
                <a:spcPts val="0"/>
              </a:spcBef>
              <a:spcAft>
                <a:spcPts val="0"/>
              </a:spcAft>
              <a:buSzPts val="1800"/>
              <a:buChar char="●"/>
            </a:pPr>
            <a:r>
              <a:rPr lang="en"/>
              <a:t>The various peripherals' IPs in STM32 have various origins (purchased from 3rd parties, developed in-house, historically various purposes, etc).</a:t>
            </a:r>
            <a:endParaRPr/>
          </a:p>
          <a:p>
            <a:pPr indent="-342900" lvl="0" marL="457200" rtl="0" algn="l">
              <a:spcBef>
                <a:spcPts val="0"/>
              </a:spcBef>
              <a:spcAft>
                <a:spcPts val="0"/>
              </a:spcAft>
              <a:buSzPts val="1800"/>
              <a:buChar char="●"/>
            </a:pPr>
            <a:r>
              <a:rPr lang="en"/>
              <a:t>Thus the exact method how the status bits are cleared varies. </a:t>
            </a:r>
            <a:endParaRPr/>
          </a:p>
          <a:p>
            <a:pPr indent="-342900" lvl="0" marL="457200" rtl="0" algn="l">
              <a:spcBef>
                <a:spcPts val="0"/>
              </a:spcBef>
              <a:spcAft>
                <a:spcPts val="0"/>
              </a:spcAft>
              <a:buSzPts val="1800"/>
              <a:buChar char="●"/>
            </a:pPr>
            <a:r>
              <a:rPr lang="en"/>
              <a:t>The correct way to clear a flag in a rc_w0 versus rc_w1 register is by writing a mask, for example:</a:t>
            </a:r>
            <a:endParaRPr/>
          </a:p>
          <a:p>
            <a:pPr indent="-342900" lvl="1" marL="914400" rtl="0" algn="l">
              <a:spcBef>
                <a:spcPts val="0"/>
              </a:spcBef>
              <a:spcAft>
                <a:spcPts val="0"/>
              </a:spcAft>
              <a:buSzPts val="1800"/>
              <a:buFont typeface="Courier New"/>
              <a:buChar char="○"/>
            </a:pPr>
            <a:r>
              <a:rPr b="1" lang="en" sz="1800">
                <a:latin typeface="Courier New"/>
                <a:ea typeface="Courier New"/>
                <a:cs typeface="Courier New"/>
                <a:sym typeface="Courier New"/>
              </a:rPr>
              <a:t>TIM14-&gt;SR = ~TIM_SR_UIF;   		// rc_w0</a:t>
            </a:r>
            <a:endParaRPr b="1" sz="1800">
              <a:latin typeface="Courier New"/>
              <a:ea typeface="Courier New"/>
              <a:cs typeface="Courier New"/>
              <a:sym typeface="Courier New"/>
            </a:endParaRPr>
          </a:p>
          <a:p>
            <a:pPr indent="-342900" lvl="1" marL="914400" rtl="0" algn="l">
              <a:spcBef>
                <a:spcPts val="0"/>
              </a:spcBef>
              <a:spcAft>
                <a:spcPts val="0"/>
              </a:spcAft>
              <a:buSzPts val="1800"/>
              <a:buFont typeface="Courier New"/>
              <a:buChar char="○"/>
            </a:pPr>
            <a:r>
              <a:rPr b="1" lang="en" sz="1800">
                <a:latin typeface="Courier New"/>
                <a:ea typeface="Courier New"/>
                <a:cs typeface="Courier New"/>
                <a:sym typeface="Courier New"/>
              </a:rPr>
              <a:t>ADC-&gt;ISR = ADC_ISR_ADRDY;</a:t>
            </a:r>
            <a:r>
              <a:rPr b="1" lang="en" sz="1800">
                <a:latin typeface="Courier New"/>
                <a:ea typeface="Courier New"/>
                <a:cs typeface="Courier New"/>
                <a:sym typeface="Courier New"/>
              </a:rPr>
              <a:t>        // rc_w1</a:t>
            </a:r>
            <a:endParaRPr b="1" sz="1800">
              <a:latin typeface="Courier New"/>
              <a:ea typeface="Courier New"/>
              <a:cs typeface="Courier New"/>
              <a:sym typeface="Courier New"/>
            </a:endParaRPr>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Example: Blinky with a timer</a:t>
            </a:r>
            <a:endParaRPr/>
          </a:p>
        </p:txBody>
      </p:sp>
      <p:sp>
        <p:nvSpPr>
          <p:cNvPr id="314" name="Google Shape;314;p36"/>
          <p:cNvSpPr txBox="1"/>
          <p:nvPr>
            <p:ph idx="1" type="body"/>
          </p:nvPr>
        </p:nvSpPr>
        <p:spPr>
          <a:xfrm>
            <a:off x="311700" y="1536624"/>
            <a:ext cx="8520600" cy="489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a copy your TemplateProject, call the new project BlinkyTimerPolled.</a:t>
            </a:r>
            <a:endParaRPr/>
          </a:p>
          <a:p>
            <a:pPr indent="0" lvl="0" marL="0" rtl="0" algn="l">
              <a:spcBef>
                <a:spcPts val="1600"/>
              </a:spcBef>
              <a:spcAft>
                <a:spcPts val="0"/>
              </a:spcAft>
              <a:buNone/>
            </a:pPr>
            <a:r>
              <a:rPr lang="en"/>
              <a:t>Download blinkyTimerPolled.c from Canvas and put it in your new project's "Src" folder.</a:t>
            </a:r>
            <a:endParaRPr/>
          </a:p>
          <a:p>
            <a:pPr indent="0" lvl="0" marL="0" rtl="0" algn="l">
              <a:spcBef>
                <a:spcPts val="1600"/>
              </a:spcBef>
              <a:spcAft>
                <a:spcPts val="0"/>
              </a:spcAft>
              <a:buNone/>
            </a:pPr>
            <a:r>
              <a:rPr lang="en"/>
              <a:t>Build and run as per usual. You </a:t>
            </a:r>
            <a:r>
              <a:rPr lang="en"/>
              <a:t>should</a:t>
            </a:r>
            <a:r>
              <a:rPr lang="en"/>
              <a:t> see the on-board LED blink.</a:t>
            </a:r>
            <a:endParaRPr/>
          </a:p>
          <a:p>
            <a:pPr indent="0" lvl="0" marL="0" rtl="0" algn="l">
              <a:spcBef>
                <a:spcPts val="1600"/>
              </a:spcBef>
              <a:spcAft>
                <a:spcPts val="1600"/>
              </a:spcAft>
              <a:buNone/>
            </a:pPr>
            <a:r>
              <a:t/>
            </a:r>
            <a:endParaRPr i="1">
              <a:solidFill>
                <a:srgbClr val="0000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ph type="title"/>
          </p:nvPr>
        </p:nvSpPr>
        <p:spPr>
          <a:xfrm>
            <a:off x="20505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whole thing</a:t>
            </a:r>
            <a:endParaRPr/>
          </a:p>
        </p:txBody>
      </p:sp>
      <p:sp>
        <p:nvSpPr>
          <p:cNvPr id="320" name="Google Shape;320;p37"/>
          <p:cNvSpPr txBox="1"/>
          <p:nvPr/>
        </p:nvSpPr>
        <p:spPr>
          <a:xfrm>
            <a:off x="387325" y="679600"/>
            <a:ext cx="4036800" cy="58866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&lt;stdio.h&gt;</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"ES28.h"</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LED (1U&lt;&lt;5) </a:t>
            </a:r>
            <a:r>
              <a:rPr b="1" lang="en" sz="1200">
                <a:solidFill>
                  <a:srgbClr val="3F7F5F"/>
                </a:solidFill>
                <a:highlight>
                  <a:srgbClr val="FFFFFF"/>
                </a:highlight>
                <a:latin typeface="Courier New"/>
                <a:ea typeface="Courier New"/>
                <a:cs typeface="Courier New"/>
                <a:sym typeface="Courier New"/>
              </a:rPr>
              <a:t>// on-board LED</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PSC_FACTOR	12000 </a:t>
            </a:r>
            <a:r>
              <a:rPr b="1" lang="en" sz="1200">
                <a:solidFill>
                  <a:srgbClr val="3F7F5F"/>
                </a:solidFill>
                <a:highlight>
                  <a:srgbClr val="FFFFFF"/>
                </a:highlight>
                <a:latin typeface="Courier New"/>
                <a:ea typeface="Courier New"/>
                <a:cs typeface="Courier New"/>
                <a:sym typeface="Courier New"/>
              </a:rPr>
              <a:t>// 1 kHz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ARR_FACTOR  500 </a:t>
            </a:r>
            <a:r>
              <a:rPr b="1" lang="en" sz="1200">
                <a:solidFill>
                  <a:srgbClr val="3F7F5F"/>
                </a:solidFill>
                <a:highlight>
                  <a:srgbClr val="FFFFFF"/>
                </a:highlight>
                <a:latin typeface="Courier New"/>
                <a:ea typeface="Courier New"/>
                <a:cs typeface="Courier New"/>
                <a:sym typeface="Courier New"/>
              </a:rPr>
              <a:t>// 2 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tim14_500ms_init();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main(</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IOPENR</a:t>
            </a:r>
            <a:r>
              <a:rPr b="1" lang="en" sz="1200">
                <a:solidFill>
                  <a:schemeClr val="dk1"/>
                </a:solidFill>
                <a:highlight>
                  <a:srgbClr val="FFFFFF"/>
                </a:highlight>
                <a:latin typeface="Courier New"/>
                <a:ea typeface="Courier New"/>
                <a:cs typeface="Courier New"/>
                <a:sym typeface="Courier New"/>
              </a:rPr>
              <a:t> |=  RCC_IOPENR_GPIOAEN;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GPIOA-&gt;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&amp;= ~GPIO_MODER_MODE5_Msk;</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GPIOA-&gt;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 (GPIO_OUTPUT &lt;&lt;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GPIO_MODER_MODE5_Pos);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GPIOA-&gt;</a:t>
            </a:r>
            <a:r>
              <a:rPr b="1" lang="en" sz="1200">
                <a:solidFill>
                  <a:srgbClr val="0000C0"/>
                </a:solidFill>
                <a:highlight>
                  <a:srgbClr val="FFFFFF"/>
                </a:highlight>
                <a:latin typeface="Courier New"/>
                <a:ea typeface="Courier New"/>
                <a:cs typeface="Courier New"/>
                <a:sym typeface="Courier New"/>
              </a:rPr>
              <a:t>ODR</a:t>
            </a:r>
            <a:r>
              <a:rPr b="1" lang="en" sz="1200">
                <a:solidFill>
                  <a:schemeClr val="dk1"/>
                </a:solidFill>
                <a:highlight>
                  <a:srgbClr val="FFFFFF"/>
                </a:highlight>
                <a:latin typeface="Courier New"/>
                <a:ea typeface="Courier New"/>
                <a:cs typeface="Courier New"/>
                <a:sym typeface="Courier New"/>
              </a:rPr>
              <a:t> &amp;= ~(LED);	</a:t>
            </a:r>
            <a:r>
              <a:rPr b="1" lang="en" sz="1200">
                <a:solidFill>
                  <a:srgbClr val="3F7F5F"/>
                </a:solidFill>
                <a:highlight>
                  <a:srgbClr val="FFFFFF"/>
                </a:highlight>
                <a:latin typeface="Courier New"/>
                <a:ea typeface="Courier New"/>
                <a:cs typeface="Courier New"/>
                <a:sym typeface="Courier New"/>
              </a:rPr>
              <a:t>// LED is off</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tim14_500ms_init();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(1)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SR</a:t>
            </a:r>
            <a:r>
              <a:rPr b="1" lang="en" sz="1200">
                <a:solidFill>
                  <a:schemeClr val="dk1"/>
                </a:solidFill>
                <a:highlight>
                  <a:srgbClr val="FFFFFF"/>
                </a:highlight>
                <a:latin typeface="Courier New"/>
                <a:ea typeface="Courier New"/>
                <a:cs typeface="Courier New"/>
                <a:sym typeface="Courier New"/>
              </a:rPr>
              <a:t> &amp; TIM_SR_UIF)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Clear UIF in status register</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SR</a:t>
            </a:r>
            <a:r>
              <a:rPr b="1" lang="en" sz="1200">
                <a:solidFill>
                  <a:schemeClr val="dk1"/>
                </a:solidFill>
                <a:highlight>
                  <a:srgbClr val="FFFFFF"/>
                </a:highlight>
                <a:latin typeface="Courier New"/>
                <a:ea typeface="Courier New"/>
                <a:cs typeface="Courier New"/>
                <a:sym typeface="Courier New"/>
              </a:rPr>
              <a:t> &amp;= ~TIM_SR_UIF;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GPIOA-&gt;</a:t>
            </a:r>
            <a:r>
              <a:rPr b="1" lang="en" sz="1200">
                <a:solidFill>
                  <a:srgbClr val="0000C0"/>
                </a:solidFill>
                <a:highlight>
                  <a:srgbClr val="FFFFFF"/>
                </a:highlight>
                <a:latin typeface="Courier New"/>
                <a:ea typeface="Courier New"/>
                <a:cs typeface="Courier New"/>
                <a:sym typeface="Courier New"/>
              </a:rPr>
              <a:t>ODR</a:t>
            </a:r>
            <a:r>
              <a:rPr b="1" lang="en" sz="1200">
                <a:solidFill>
                  <a:schemeClr val="dk1"/>
                </a:solidFill>
                <a:highlight>
                  <a:srgbClr val="FFFFFF"/>
                </a:highlight>
                <a:latin typeface="Courier New"/>
                <a:ea typeface="Courier New"/>
                <a:cs typeface="Courier New"/>
                <a:sym typeface="Courier New"/>
              </a:rPr>
              <a:t> ^= LED; </a:t>
            </a:r>
            <a:r>
              <a:rPr b="1" lang="en" sz="1200">
                <a:solidFill>
                  <a:srgbClr val="3F7F5F"/>
                </a:solidFill>
                <a:highlight>
                  <a:srgbClr val="FFFFFF"/>
                </a:highlight>
                <a:latin typeface="Courier New"/>
                <a:ea typeface="Courier New"/>
                <a:cs typeface="Courier New"/>
                <a:sym typeface="Courier New"/>
              </a:rPr>
              <a:t>// toggle LED</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rgbClr val="3F7F5F"/>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Could do other stuff like poll</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3F7F5F"/>
                </a:solidFill>
                <a:highlight>
                  <a:srgbClr val="FFFFFF"/>
                </a:highlight>
                <a:latin typeface="Courier New"/>
                <a:ea typeface="Courier New"/>
                <a:cs typeface="Courier New"/>
                <a:sym typeface="Courier New"/>
              </a:rPr>
              <a:t>    // a button here.</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return 1;</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latin typeface="Courier New"/>
              <a:ea typeface="Courier New"/>
              <a:cs typeface="Courier New"/>
              <a:sym typeface="Courier New"/>
            </a:endParaRPr>
          </a:p>
        </p:txBody>
      </p:sp>
      <p:sp>
        <p:nvSpPr>
          <p:cNvPr id="321" name="Google Shape;321;p37"/>
          <p:cNvSpPr txBox="1"/>
          <p:nvPr/>
        </p:nvSpPr>
        <p:spPr>
          <a:xfrm>
            <a:off x="4796050" y="679600"/>
            <a:ext cx="4036800" cy="58866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tim14_500ms_init()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timer 14</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APBENR2</a:t>
            </a:r>
            <a:r>
              <a:rPr b="1" lang="en" sz="1200">
                <a:solidFill>
                  <a:schemeClr val="dk1"/>
                </a:solidFill>
                <a:highlight>
                  <a:srgbClr val="FFFFFF"/>
                </a:highlight>
                <a:latin typeface="Courier New"/>
                <a:ea typeface="Courier New"/>
                <a:cs typeface="Courier New"/>
                <a:sym typeface="Courier New"/>
              </a:rPr>
              <a:t> |= RCC_APBENR2_TIM14EN;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t>
            </a:r>
            <a:r>
              <a:rPr b="1" lang="en" sz="1200" u="sng">
                <a:solidFill>
                  <a:srgbClr val="3F7F5F"/>
                </a:solidFill>
                <a:highlight>
                  <a:srgbClr val="FFFFFF"/>
                </a:highlight>
                <a:latin typeface="Courier New"/>
                <a:ea typeface="Courier New"/>
                <a:cs typeface="Courier New"/>
                <a:sym typeface="Courier New"/>
              </a:rPr>
              <a:t>prescaler</a:t>
            </a:r>
            <a:r>
              <a:rPr b="1" lang="en" sz="1200">
                <a:solidFill>
                  <a:srgbClr val="3F7F5F"/>
                </a:solidFill>
                <a:highlight>
                  <a:srgbClr val="FFFFFF"/>
                </a:highlight>
                <a:latin typeface="Courier New"/>
                <a:ea typeface="Courier New"/>
                <a:cs typeface="Courier New"/>
                <a:sym typeface="Courier New"/>
              </a:rPr>
              <a:t> value</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PSC</a:t>
            </a:r>
            <a:r>
              <a:rPr b="1" lang="en" sz="1200">
                <a:solidFill>
                  <a:schemeClr val="dk1"/>
                </a:solidFill>
                <a:highlight>
                  <a:srgbClr val="FFFFFF"/>
                </a:highlight>
                <a:latin typeface="Courier New"/>
                <a:ea typeface="Courier New"/>
                <a:cs typeface="Courier New"/>
                <a:sym typeface="Courier New"/>
              </a:rPr>
              <a:t> = PSC_FACTOR - 1;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auto-reload value</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ARR</a:t>
            </a:r>
            <a:r>
              <a:rPr b="1" lang="en" sz="1200">
                <a:solidFill>
                  <a:schemeClr val="dk1"/>
                </a:solidFill>
                <a:highlight>
                  <a:srgbClr val="FFFFFF"/>
                </a:highlight>
                <a:latin typeface="Courier New"/>
                <a:ea typeface="Courier New"/>
                <a:cs typeface="Courier New"/>
                <a:sym typeface="Courier New"/>
              </a:rPr>
              <a:t> = ARR_FACTOR - 1;</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Clear counter</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CNT</a:t>
            </a:r>
            <a:r>
              <a:rPr b="1" lang="en" sz="1200">
                <a:solidFill>
                  <a:schemeClr val="dk1"/>
                </a:solidFill>
                <a:highlight>
                  <a:srgbClr val="FFFFFF"/>
                </a:highlight>
                <a:latin typeface="Courier New"/>
                <a:ea typeface="Courier New"/>
                <a:cs typeface="Courier New"/>
                <a:sym typeface="Courier New"/>
              </a:rPr>
              <a:t> = 0;</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TIM_CR1_CEN;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 to Interrupts</a:t>
            </a:r>
            <a:endParaRPr/>
          </a:p>
        </p:txBody>
      </p:sp>
      <p:sp>
        <p:nvSpPr>
          <p:cNvPr id="327" name="Google Shape;327;p3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the button race game from Lab 2?</a:t>
            </a:r>
            <a:endParaRPr/>
          </a:p>
          <a:p>
            <a:pPr indent="-342900" lvl="0" marL="457200" rtl="0" algn="l">
              <a:spcBef>
                <a:spcPts val="1600"/>
              </a:spcBef>
              <a:spcAft>
                <a:spcPts val="0"/>
              </a:spcAft>
              <a:buSzPts val="1800"/>
              <a:buChar char="●"/>
            </a:pPr>
            <a:r>
              <a:rPr lang="en"/>
              <a:t>Two players, each has a button and an LED</a:t>
            </a:r>
            <a:endParaRPr/>
          </a:p>
          <a:p>
            <a:pPr indent="-342900" lvl="0" marL="457200" rtl="0" algn="l">
              <a:spcBef>
                <a:spcPts val="0"/>
              </a:spcBef>
              <a:spcAft>
                <a:spcPts val="0"/>
              </a:spcAft>
              <a:buSzPts val="1800"/>
              <a:buChar char="●"/>
            </a:pPr>
            <a:r>
              <a:rPr lang="en"/>
              <a:t>Game LED flashes three times (a countdown)</a:t>
            </a:r>
            <a:endParaRPr/>
          </a:p>
          <a:p>
            <a:pPr indent="-342900" lvl="0" marL="457200" rtl="0" algn="l">
              <a:spcBef>
                <a:spcPts val="0"/>
              </a:spcBef>
              <a:spcAft>
                <a:spcPts val="0"/>
              </a:spcAft>
              <a:buSzPts val="1800"/>
              <a:buChar char="●"/>
            </a:pPr>
            <a:r>
              <a:rPr lang="en"/>
              <a:t>When game LED comes on steady the players race to push their button as quickly as possible.</a:t>
            </a:r>
            <a:endParaRPr/>
          </a:p>
          <a:p>
            <a:pPr indent="-342900" lvl="0" marL="457200" rtl="0" algn="l">
              <a:spcBef>
                <a:spcPts val="0"/>
              </a:spcBef>
              <a:spcAft>
                <a:spcPts val="0"/>
              </a:spcAft>
              <a:buSzPts val="1800"/>
              <a:buChar char="●"/>
            </a:pPr>
            <a:r>
              <a:rPr lang="en"/>
              <a:t>The player whose button is pushed first wins.</a:t>
            </a:r>
            <a:endParaRPr/>
          </a:p>
          <a:p>
            <a:pPr indent="0" lvl="0" marL="0" rtl="0" algn="l">
              <a:spcBef>
                <a:spcPts val="1600"/>
              </a:spcBef>
              <a:spcAft>
                <a:spcPts val="0"/>
              </a:spcAft>
              <a:buNone/>
            </a:pPr>
            <a:r>
              <a:rPr lang="en"/>
              <a:t>Trying to prevent "false starts" during the countdown period was challenging, especially while the code was "stuck" in a delaying for-loop.</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We could now do this better, using our timer! But… still not great to constantly ask whether the timer has elapsed or the button has been pushed!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Analogy</a:t>
            </a:r>
            <a:endParaRPr/>
          </a:p>
        </p:txBody>
      </p:sp>
      <p:sp>
        <p:nvSpPr>
          <p:cNvPr id="333" name="Google Shape;333;p3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You are working on your next ENGS28 lab assignment. You have a clarification question and just sent off a message to Professor Bonfert-Taylor. Two strategies:</a:t>
            </a:r>
            <a:endParaRPr sz="1600"/>
          </a:p>
          <a:p>
            <a:pPr indent="-330200" lvl="0" marL="457200" rtl="0" algn="l">
              <a:spcBef>
                <a:spcPts val="1600"/>
              </a:spcBef>
              <a:spcAft>
                <a:spcPts val="0"/>
              </a:spcAft>
              <a:buSzPts val="1600"/>
              <a:buChar char="●"/>
            </a:pPr>
            <a:r>
              <a:rPr lang="en" sz="1600"/>
              <a:t>(1) You stare at your email program to will it to show you a response. After you hear from Professor Bonfert-Taylor you return to your lab.</a:t>
            </a:r>
            <a:br>
              <a:rPr lang="en" sz="1600"/>
            </a:br>
            <a:endParaRPr sz="1600"/>
          </a:p>
          <a:p>
            <a:pPr indent="-330200" lvl="0" marL="457200" rtl="0" algn="l">
              <a:spcBef>
                <a:spcPts val="0"/>
              </a:spcBef>
              <a:spcAft>
                <a:spcPts val="0"/>
              </a:spcAft>
              <a:buSzPts val="1600"/>
              <a:buChar char="●"/>
            </a:pPr>
            <a:r>
              <a:rPr lang="en" sz="1600"/>
              <a:t>(1a) You continue working through the lab. After every 20 characters read from the handout, you check your email for a response from Professor Bonfert-Taylor.</a:t>
            </a:r>
            <a:br>
              <a:rPr lang="en" sz="1600"/>
            </a:br>
            <a:endParaRPr sz="1600"/>
          </a:p>
          <a:p>
            <a:pPr indent="-330200" lvl="0" marL="457200" rtl="0" algn="l">
              <a:spcBef>
                <a:spcPts val="0"/>
              </a:spcBef>
              <a:spcAft>
                <a:spcPts val="0"/>
              </a:spcAft>
              <a:buSzPts val="1600"/>
              <a:buChar char="●"/>
            </a:pPr>
            <a:r>
              <a:rPr lang="en" sz="1600"/>
              <a:t>(2) You continue working through the lab. When your email program pings you with a notification, you check your email and find Professor Bonfert-Taylor's reply.</a:t>
            </a:r>
            <a:endParaRPr sz="1600"/>
          </a:p>
          <a:p>
            <a:pPr indent="0" lvl="0" marL="0" rtl="0" algn="ctr">
              <a:spcBef>
                <a:spcPts val="1600"/>
              </a:spcBef>
              <a:spcAft>
                <a:spcPts val="1600"/>
              </a:spcAft>
              <a:buNone/>
            </a:pPr>
            <a:r>
              <a:rPr b="1" lang="en" sz="1600">
                <a:solidFill>
                  <a:srgbClr val="0000FF"/>
                </a:solidFill>
              </a:rPr>
              <a:t>Which strategy is more efficient? Why?</a:t>
            </a:r>
            <a:endParaRPr b="1" sz="1600">
              <a:solidFill>
                <a:srgbClr val="0000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Interrupts</a:t>
            </a:r>
            <a:endParaRPr/>
          </a:p>
        </p:txBody>
      </p:sp>
      <p:sp>
        <p:nvSpPr>
          <p:cNvPr id="339" name="Google Shape;339;p4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 Methods 1 and 1a, you are polling your inbox (and not getting much work done).  In Method 2 you continue working until your email program </a:t>
            </a:r>
            <a:r>
              <a:rPr b="1" lang="en" sz="1600"/>
              <a:t>interrupts</a:t>
            </a:r>
            <a:r>
              <a:rPr lang="en" sz="1600"/>
              <a:t> your thoughts to notify you that you have a new message.</a:t>
            </a:r>
            <a:br>
              <a:rPr lang="en" sz="1600"/>
            </a:br>
            <a:br>
              <a:rPr lang="en" sz="1600"/>
            </a:br>
            <a:r>
              <a:rPr lang="en" sz="1600"/>
              <a:t>We can do the same in programming. Rather than using processor cycles to continuously poll each peripheral device, the responsibility to notify rests with the device, via an </a:t>
            </a:r>
            <a:r>
              <a:rPr b="1" lang="en" sz="1600"/>
              <a:t>interrupt </a:t>
            </a:r>
            <a:r>
              <a:rPr lang="en" sz="1600"/>
              <a:t>signal to the processor.</a:t>
            </a:r>
            <a:endParaRPr sz="1600"/>
          </a:p>
          <a:p>
            <a:pPr indent="0" lvl="0" marL="0" rtl="0" algn="l">
              <a:spcBef>
                <a:spcPts val="1600"/>
              </a:spcBef>
              <a:spcAft>
                <a:spcPts val="0"/>
              </a:spcAft>
              <a:buClr>
                <a:schemeClr val="dk1"/>
              </a:buClr>
              <a:buSzPts val="1100"/>
              <a:buFont typeface="Arial"/>
              <a:buNone/>
            </a:pPr>
            <a:r>
              <a:rPr lang="en" sz="1600"/>
              <a:t>What can a processor do with the cycles that it saves by not polling?</a:t>
            </a:r>
            <a:endParaRPr sz="1600"/>
          </a:p>
          <a:p>
            <a:pPr indent="-330200" lvl="0" marL="457200" rtl="0" algn="l">
              <a:spcBef>
                <a:spcPts val="1600"/>
              </a:spcBef>
              <a:spcAft>
                <a:spcPts val="0"/>
              </a:spcAft>
              <a:buSzPts val="1600"/>
              <a:buChar char="●"/>
            </a:pPr>
            <a:r>
              <a:rPr lang="en" sz="1600"/>
              <a:t>It can do lots of calculations, since interrupts are relatively infrequent.</a:t>
            </a:r>
            <a:endParaRPr sz="1600"/>
          </a:p>
          <a:p>
            <a:pPr indent="-330200" lvl="0" marL="457200" rtl="0" algn="l">
              <a:spcBef>
                <a:spcPts val="1000"/>
              </a:spcBef>
              <a:spcAft>
                <a:spcPts val="0"/>
              </a:spcAft>
              <a:buSzPts val="1600"/>
              <a:buChar char="●"/>
            </a:pPr>
            <a:r>
              <a:rPr lang="en" sz="1600"/>
              <a:t>It can go into sleep mode to save power (very important for battery-powered systems).  The interrupt wakes the processor long enough to handle the interrupting event, then the processor goes back to sleep.</a:t>
            </a:r>
            <a:endParaRPr sz="1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1"/>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interrupts work (machine level)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txBox="1"/>
          <p:nvPr>
            <p:ph type="title"/>
          </p:nvPr>
        </p:nvSpPr>
        <p:spPr>
          <a:xfrm>
            <a:off x="311700" y="288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8761D"/>
                </a:solidFill>
              </a:rPr>
              <a:t>Normal</a:t>
            </a:r>
            <a:r>
              <a:rPr lang="en"/>
              <a:t> program execution</a:t>
            </a:r>
            <a:endParaRPr/>
          </a:p>
        </p:txBody>
      </p:sp>
      <p:pic>
        <p:nvPicPr>
          <p:cNvPr id="350" name="Google Shape;350;p42"/>
          <p:cNvPicPr preferRelativeResize="0"/>
          <p:nvPr/>
        </p:nvPicPr>
        <p:blipFill>
          <a:blip r:embed="rId3">
            <a:alphaModFix/>
          </a:blip>
          <a:stretch>
            <a:fillRect/>
          </a:stretch>
        </p:blipFill>
        <p:spPr>
          <a:xfrm>
            <a:off x="1555850" y="1622225"/>
            <a:ext cx="7588149" cy="4930975"/>
          </a:xfrm>
          <a:prstGeom prst="rect">
            <a:avLst/>
          </a:prstGeom>
          <a:noFill/>
          <a:ln>
            <a:noFill/>
          </a:ln>
        </p:spPr>
      </p:pic>
      <p:sp>
        <p:nvSpPr>
          <p:cNvPr id="351" name="Google Shape;351;p42"/>
          <p:cNvSpPr txBox="1"/>
          <p:nvPr/>
        </p:nvSpPr>
        <p:spPr>
          <a:xfrm>
            <a:off x="6960350" y="1397125"/>
            <a:ext cx="1576200" cy="3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DATAPATH</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3"/>
          <p:cNvSpPr txBox="1"/>
          <p:nvPr>
            <p:ph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when a </a:t>
            </a:r>
            <a:r>
              <a:rPr b="1" lang="en">
                <a:solidFill>
                  <a:srgbClr val="0000FF"/>
                </a:solidFill>
              </a:rPr>
              <a:t>function is called</a:t>
            </a:r>
            <a:endParaRPr b="1">
              <a:solidFill>
                <a:srgbClr val="0000FF"/>
              </a:solidFill>
            </a:endParaRPr>
          </a:p>
        </p:txBody>
      </p:sp>
      <p:pic>
        <p:nvPicPr>
          <p:cNvPr id="357" name="Google Shape;357;p43"/>
          <p:cNvPicPr preferRelativeResize="0"/>
          <p:nvPr/>
        </p:nvPicPr>
        <p:blipFill>
          <a:blip r:embed="rId3">
            <a:alphaModFix/>
          </a:blip>
          <a:stretch>
            <a:fillRect/>
          </a:stretch>
        </p:blipFill>
        <p:spPr>
          <a:xfrm>
            <a:off x="1433025" y="1678975"/>
            <a:ext cx="7710975" cy="4950425"/>
          </a:xfrm>
          <a:prstGeom prst="rect">
            <a:avLst/>
          </a:prstGeom>
          <a:noFill/>
          <a:ln>
            <a:noFill/>
          </a:ln>
        </p:spPr>
      </p:pic>
      <p:sp>
        <p:nvSpPr>
          <p:cNvPr id="358" name="Google Shape;358;p43"/>
          <p:cNvSpPr txBox="1"/>
          <p:nvPr/>
        </p:nvSpPr>
        <p:spPr>
          <a:xfrm>
            <a:off x="199025" y="3739725"/>
            <a:ext cx="3608700" cy="28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000FF"/>
                </a:solidFill>
              </a:rPr>
              <a:t>Function call</a:t>
            </a:r>
            <a:r>
              <a:rPr b="1" lang="en" sz="1700">
                <a:solidFill>
                  <a:srgbClr val="0000FF"/>
                </a:solidFill>
              </a:rPr>
              <a:t>:</a:t>
            </a:r>
            <a:r>
              <a:rPr lang="en" sz="1700"/>
              <a:t>	</a:t>
            </a:r>
            <a:endParaRPr sz="1700"/>
          </a:p>
          <a:p>
            <a:pPr indent="-336550" lvl="0" marL="457200" rtl="0" algn="l">
              <a:spcBef>
                <a:spcPts val="0"/>
              </a:spcBef>
              <a:spcAft>
                <a:spcPts val="0"/>
              </a:spcAft>
              <a:buClr>
                <a:srgbClr val="0000FF"/>
              </a:buClr>
              <a:buSzPts val="1700"/>
              <a:buChar char="●"/>
            </a:pPr>
            <a:r>
              <a:rPr lang="en" sz="1700">
                <a:solidFill>
                  <a:srgbClr val="0000FF"/>
                </a:solidFill>
              </a:rPr>
              <a:t>Push machine state (PC + certain GP registers)  onto stack.</a:t>
            </a:r>
            <a:endParaRPr sz="1700">
              <a:solidFill>
                <a:srgbClr val="0000FF"/>
              </a:solidFill>
            </a:endParaRPr>
          </a:p>
          <a:p>
            <a:pPr indent="-336550" lvl="0" marL="457200" rtl="0" algn="l">
              <a:spcBef>
                <a:spcPts val="0"/>
              </a:spcBef>
              <a:spcAft>
                <a:spcPts val="0"/>
              </a:spcAft>
              <a:buClr>
                <a:srgbClr val="0000FF"/>
              </a:buClr>
              <a:buSzPts val="1700"/>
              <a:buChar char="●"/>
            </a:pPr>
            <a:r>
              <a:rPr lang="en" sz="1700">
                <a:solidFill>
                  <a:srgbClr val="0000FF"/>
                </a:solidFill>
              </a:rPr>
              <a:t>Load address of function start into PC and continue.</a:t>
            </a:r>
            <a:endParaRPr sz="1700">
              <a:solidFill>
                <a:srgbClr val="0000FF"/>
              </a:solidFill>
            </a:endParaRPr>
          </a:p>
          <a:p>
            <a:pPr indent="0" lvl="0" marL="0" rtl="0" algn="l">
              <a:spcBef>
                <a:spcPts val="0"/>
              </a:spcBef>
              <a:spcAft>
                <a:spcPts val="0"/>
              </a:spcAft>
              <a:buNone/>
            </a:pPr>
            <a:r>
              <a:t/>
            </a:r>
            <a:endParaRPr sz="1700"/>
          </a:p>
          <a:p>
            <a:pPr indent="0" lvl="0" marL="0" rtl="0" algn="l">
              <a:spcBef>
                <a:spcPts val="0"/>
              </a:spcBef>
              <a:spcAft>
                <a:spcPts val="0"/>
              </a:spcAft>
              <a:buNone/>
            </a:pPr>
            <a:r>
              <a:rPr b="1" lang="en" sz="1700">
                <a:solidFill>
                  <a:srgbClr val="0000FF"/>
                </a:solidFill>
              </a:rPr>
              <a:t>Return:</a:t>
            </a:r>
            <a:r>
              <a:rPr lang="en" sz="1700"/>
              <a:t>	</a:t>
            </a:r>
            <a:endParaRPr sz="1700"/>
          </a:p>
          <a:p>
            <a:pPr indent="-336550" lvl="0" marL="457200" rtl="0" algn="l">
              <a:spcBef>
                <a:spcPts val="0"/>
              </a:spcBef>
              <a:spcAft>
                <a:spcPts val="0"/>
              </a:spcAft>
              <a:buClr>
                <a:srgbClr val="0000FF"/>
              </a:buClr>
              <a:buSzPts val="1700"/>
              <a:buChar char="●"/>
            </a:pPr>
            <a:r>
              <a:rPr lang="en" sz="1700">
                <a:solidFill>
                  <a:srgbClr val="0000FF"/>
                </a:solidFill>
              </a:rPr>
              <a:t>Pop machine state from stack.</a:t>
            </a:r>
            <a:endParaRPr sz="1700">
              <a:solidFill>
                <a:srgbClr val="0000FF"/>
              </a:solidFill>
            </a:endParaRPr>
          </a:p>
          <a:p>
            <a:pPr indent="-336550" lvl="0" marL="457200" rtl="0" algn="l">
              <a:spcBef>
                <a:spcPts val="0"/>
              </a:spcBef>
              <a:spcAft>
                <a:spcPts val="0"/>
              </a:spcAft>
              <a:buClr>
                <a:srgbClr val="0000FF"/>
              </a:buClr>
              <a:buSzPts val="1700"/>
              <a:buChar char="●"/>
            </a:pPr>
            <a:r>
              <a:rPr lang="en" sz="1700">
                <a:solidFill>
                  <a:srgbClr val="0000FF"/>
                </a:solidFill>
              </a:rPr>
              <a:t>Increment PC and continue.</a:t>
            </a:r>
            <a:endParaRPr sz="1700">
              <a:solidFill>
                <a:srgbClr val="0000FF"/>
              </a:solidFill>
            </a:endParaRPr>
          </a:p>
        </p:txBody>
      </p:sp>
      <p:sp>
        <p:nvSpPr>
          <p:cNvPr id="359" name="Google Shape;359;p43"/>
          <p:cNvSpPr txBox="1"/>
          <p:nvPr/>
        </p:nvSpPr>
        <p:spPr>
          <a:xfrm>
            <a:off x="6826125" y="1417600"/>
            <a:ext cx="1576200" cy="3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DATAPATH</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id="364" name="Google Shape;364;p44"/>
          <p:cNvPicPr preferRelativeResize="0"/>
          <p:nvPr/>
        </p:nvPicPr>
        <p:blipFill>
          <a:blip r:embed="rId3">
            <a:alphaModFix/>
          </a:blip>
          <a:stretch>
            <a:fillRect/>
          </a:stretch>
        </p:blipFill>
        <p:spPr>
          <a:xfrm>
            <a:off x="1353925" y="987425"/>
            <a:ext cx="7790076" cy="5641975"/>
          </a:xfrm>
          <a:prstGeom prst="rect">
            <a:avLst/>
          </a:prstGeom>
          <a:noFill/>
          <a:ln>
            <a:noFill/>
          </a:ln>
        </p:spPr>
      </p:pic>
      <p:sp>
        <p:nvSpPr>
          <p:cNvPr id="365" name="Google Shape;365;p44"/>
          <p:cNvSpPr txBox="1"/>
          <p:nvPr>
            <p:ph type="title"/>
          </p:nvPr>
        </p:nvSpPr>
        <p:spPr>
          <a:xfrm>
            <a:off x="201300" y="2239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when an </a:t>
            </a:r>
            <a:r>
              <a:rPr b="1" lang="en">
                <a:solidFill>
                  <a:srgbClr val="FF0000"/>
                </a:solidFill>
              </a:rPr>
              <a:t>interrupt</a:t>
            </a:r>
            <a:r>
              <a:rPr lang="en"/>
              <a:t> occurs</a:t>
            </a:r>
            <a:endParaRPr/>
          </a:p>
        </p:txBody>
      </p:sp>
      <p:sp>
        <p:nvSpPr>
          <p:cNvPr id="366" name="Google Shape;366;p44"/>
          <p:cNvSpPr txBox="1"/>
          <p:nvPr/>
        </p:nvSpPr>
        <p:spPr>
          <a:xfrm>
            <a:off x="81875" y="3648725"/>
            <a:ext cx="3725700" cy="28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p:txBody>
      </p:sp>
      <p:sp>
        <p:nvSpPr>
          <p:cNvPr id="367" name="Google Shape;367;p44"/>
          <p:cNvSpPr txBox="1"/>
          <p:nvPr/>
        </p:nvSpPr>
        <p:spPr>
          <a:xfrm>
            <a:off x="142000" y="3648725"/>
            <a:ext cx="3799200" cy="30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FF0000"/>
                </a:solidFill>
              </a:rPr>
              <a:t>When interrupt occurs:</a:t>
            </a:r>
            <a:endParaRPr b="1" sz="1700">
              <a:solidFill>
                <a:srgbClr val="FF0000"/>
              </a:solidFill>
            </a:endParaRPr>
          </a:p>
          <a:p>
            <a:pPr indent="0" lvl="0" marL="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rgbClr val="FF0000"/>
              </a:buClr>
              <a:buSzPts val="1700"/>
              <a:buChar char="●"/>
            </a:pPr>
            <a:r>
              <a:rPr lang="en" sz="1700">
                <a:solidFill>
                  <a:srgbClr val="FF0000"/>
                </a:solidFill>
              </a:rPr>
              <a:t>Push machine state onto stack.</a:t>
            </a:r>
            <a:endParaRPr sz="1700">
              <a:solidFill>
                <a:srgbClr val="FF0000"/>
              </a:solidFill>
            </a:endParaRPr>
          </a:p>
          <a:p>
            <a:pPr indent="-336550" lvl="0" marL="457200" rtl="0" algn="l">
              <a:spcBef>
                <a:spcPts val="0"/>
              </a:spcBef>
              <a:spcAft>
                <a:spcPts val="0"/>
              </a:spcAft>
              <a:buClr>
                <a:srgbClr val="FF0000"/>
              </a:buClr>
              <a:buSzPts val="1700"/>
              <a:buChar char="●"/>
            </a:pPr>
            <a:r>
              <a:rPr lang="en" sz="1700">
                <a:solidFill>
                  <a:srgbClr val="FF0000"/>
                </a:solidFill>
              </a:rPr>
              <a:t>Interrupt controller loads vector (address of ISR) into PC.</a:t>
            </a:r>
            <a:endParaRPr sz="1700">
              <a:solidFill>
                <a:srgbClr val="FF0000"/>
              </a:solidFill>
            </a:endParaRPr>
          </a:p>
          <a:p>
            <a:pPr indent="-336550" lvl="0" marL="457200" rtl="0" algn="l">
              <a:spcBef>
                <a:spcPts val="0"/>
              </a:spcBef>
              <a:spcAft>
                <a:spcPts val="0"/>
              </a:spcAft>
              <a:buClr>
                <a:srgbClr val="FF0000"/>
              </a:buClr>
              <a:buSzPts val="1700"/>
              <a:buChar char="●"/>
            </a:pPr>
            <a:r>
              <a:rPr lang="en" sz="1700">
                <a:solidFill>
                  <a:srgbClr val="FF0000"/>
                </a:solidFill>
              </a:rPr>
              <a:t>Jump to ISR (address in flash).</a:t>
            </a:r>
            <a:endParaRPr sz="1700">
              <a:solidFill>
                <a:srgbClr val="FF0000"/>
              </a:solidFill>
            </a:endParaRPr>
          </a:p>
          <a:p>
            <a:pPr indent="0" lvl="0" marL="457200" rtl="0" algn="l">
              <a:spcBef>
                <a:spcPts val="0"/>
              </a:spcBef>
              <a:spcAft>
                <a:spcPts val="0"/>
              </a:spcAft>
              <a:buNone/>
            </a:pPr>
            <a:r>
              <a:t/>
            </a:r>
            <a:endParaRPr sz="1700">
              <a:solidFill>
                <a:srgbClr val="FF0000"/>
              </a:solidFill>
            </a:endParaRPr>
          </a:p>
          <a:p>
            <a:pPr indent="-336550" lvl="0" marL="457200" rtl="0" algn="l">
              <a:spcBef>
                <a:spcPts val="0"/>
              </a:spcBef>
              <a:spcAft>
                <a:spcPts val="0"/>
              </a:spcAft>
              <a:buClr>
                <a:srgbClr val="FF0000"/>
              </a:buClr>
              <a:buSzPts val="1700"/>
              <a:buChar char="●"/>
            </a:pPr>
            <a:r>
              <a:rPr lang="en" sz="1700">
                <a:solidFill>
                  <a:srgbClr val="FF0000"/>
                </a:solidFill>
              </a:rPr>
              <a:t>When ISR returns, pop machine state from stack.</a:t>
            </a:r>
            <a:endParaRPr sz="1700">
              <a:solidFill>
                <a:srgbClr val="FF0000"/>
              </a:solidFill>
            </a:endParaRPr>
          </a:p>
          <a:p>
            <a:pPr indent="-336550" lvl="0" marL="457200" rtl="0" algn="l">
              <a:spcBef>
                <a:spcPts val="0"/>
              </a:spcBef>
              <a:spcAft>
                <a:spcPts val="0"/>
              </a:spcAft>
              <a:buClr>
                <a:srgbClr val="FF0000"/>
              </a:buClr>
              <a:buSzPts val="1700"/>
              <a:buChar char="●"/>
            </a:pPr>
            <a:r>
              <a:rPr lang="en" sz="1700">
                <a:solidFill>
                  <a:srgbClr val="FF0000"/>
                </a:solidFill>
              </a:rPr>
              <a:t>Execute next instruction before processing another interrupt.</a:t>
            </a:r>
            <a:endParaRPr sz="1700">
              <a:solidFill>
                <a:srgbClr val="FF0000"/>
              </a:solidFill>
            </a:endParaRPr>
          </a:p>
        </p:txBody>
      </p:sp>
      <p:sp>
        <p:nvSpPr>
          <p:cNvPr id="368" name="Google Shape;368;p44"/>
          <p:cNvSpPr txBox="1"/>
          <p:nvPr/>
        </p:nvSpPr>
        <p:spPr>
          <a:xfrm>
            <a:off x="6884150" y="1549525"/>
            <a:ext cx="1576200" cy="3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DATAPATH</a:t>
            </a:r>
            <a:endParaRPr sz="1800"/>
          </a:p>
        </p:txBody>
      </p:sp>
      <p:sp>
        <p:nvSpPr>
          <p:cNvPr id="369" name="Google Shape;369;p44"/>
          <p:cNvSpPr txBox="1"/>
          <p:nvPr/>
        </p:nvSpPr>
        <p:spPr>
          <a:xfrm>
            <a:off x="6858000" y="188250"/>
            <a:ext cx="2191800" cy="10158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What if we get two interrupts at the same time???</a:t>
            </a:r>
            <a:endParaRPr sz="18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id="374" name="Google Shape;374;p45"/>
          <p:cNvPicPr preferRelativeResize="0"/>
          <p:nvPr/>
        </p:nvPicPr>
        <p:blipFill>
          <a:blip r:embed="rId3">
            <a:alphaModFix/>
          </a:blip>
          <a:stretch>
            <a:fillRect/>
          </a:stretch>
        </p:blipFill>
        <p:spPr>
          <a:xfrm>
            <a:off x="1353925" y="987425"/>
            <a:ext cx="7790076" cy="5641975"/>
          </a:xfrm>
          <a:prstGeom prst="rect">
            <a:avLst/>
          </a:prstGeom>
          <a:noFill/>
          <a:ln>
            <a:noFill/>
          </a:ln>
        </p:spPr>
      </p:pic>
      <p:sp>
        <p:nvSpPr>
          <p:cNvPr id="375" name="Google Shape;375;p45"/>
          <p:cNvSpPr txBox="1"/>
          <p:nvPr>
            <p:ph type="title"/>
          </p:nvPr>
        </p:nvSpPr>
        <p:spPr>
          <a:xfrm>
            <a:off x="201300" y="2239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when an </a:t>
            </a:r>
            <a:r>
              <a:rPr b="1" lang="en">
                <a:solidFill>
                  <a:srgbClr val="0000FF"/>
                </a:solidFill>
              </a:rPr>
              <a:t>interrupt</a:t>
            </a:r>
            <a:r>
              <a:rPr lang="en"/>
              <a:t> occurs</a:t>
            </a:r>
            <a:endParaRPr/>
          </a:p>
        </p:txBody>
      </p:sp>
      <p:sp>
        <p:nvSpPr>
          <p:cNvPr id="376" name="Google Shape;376;p45"/>
          <p:cNvSpPr txBox="1"/>
          <p:nvPr/>
        </p:nvSpPr>
        <p:spPr>
          <a:xfrm>
            <a:off x="81875" y="3648725"/>
            <a:ext cx="3725700" cy="28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p:txBody>
      </p:sp>
      <p:sp>
        <p:nvSpPr>
          <p:cNvPr id="377" name="Google Shape;377;p45"/>
          <p:cNvSpPr txBox="1"/>
          <p:nvPr/>
        </p:nvSpPr>
        <p:spPr>
          <a:xfrm>
            <a:off x="294425" y="3947250"/>
            <a:ext cx="3646800" cy="25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F0000"/>
                </a:solidFill>
              </a:rPr>
              <a:t>When interrupt occurs:</a:t>
            </a:r>
            <a:endParaRPr b="1" sz="2100">
              <a:solidFill>
                <a:srgbClr val="FF0000"/>
              </a:solidFill>
            </a:endParaRPr>
          </a:p>
          <a:p>
            <a:pPr indent="0" lvl="0" marL="0" rtl="0" algn="l">
              <a:spcBef>
                <a:spcPts val="0"/>
              </a:spcBef>
              <a:spcAft>
                <a:spcPts val="0"/>
              </a:spcAft>
              <a:buNone/>
            </a:pPr>
            <a:r>
              <a:t/>
            </a:r>
            <a:endParaRPr b="1" sz="2100">
              <a:solidFill>
                <a:schemeClr val="dk1"/>
              </a:solidFill>
            </a:endParaRPr>
          </a:p>
          <a:p>
            <a:pPr indent="0" lvl="0" marL="0" rtl="0" algn="l">
              <a:spcBef>
                <a:spcPts val="0"/>
              </a:spcBef>
              <a:spcAft>
                <a:spcPts val="0"/>
              </a:spcAft>
              <a:buNone/>
            </a:pPr>
            <a:r>
              <a:rPr b="1" lang="en" sz="2100">
                <a:solidFill>
                  <a:srgbClr val="0000FF"/>
                </a:solidFill>
              </a:rPr>
              <a:t>Check priority level - service interrupt with highest priority first.</a:t>
            </a:r>
            <a:endParaRPr b="1" sz="2100">
              <a:solidFill>
                <a:srgbClr val="0000FF"/>
              </a:solidFill>
            </a:endParaRPr>
          </a:p>
          <a:p>
            <a:pPr indent="0" lvl="0" marL="0" rtl="0" algn="l">
              <a:spcBef>
                <a:spcPts val="0"/>
              </a:spcBef>
              <a:spcAft>
                <a:spcPts val="0"/>
              </a:spcAft>
              <a:buNone/>
            </a:pPr>
            <a:r>
              <a:t/>
            </a:r>
            <a:endParaRPr sz="2100"/>
          </a:p>
        </p:txBody>
      </p:sp>
      <p:sp>
        <p:nvSpPr>
          <p:cNvPr id="378" name="Google Shape;378;p45"/>
          <p:cNvSpPr txBox="1"/>
          <p:nvPr/>
        </p:nvSpPr>
        <p:spPr>
          <a:xfrm>
            <a:off x="6884150" y="1549525"/>
            <a:ext cx="1576200" cy="36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DATAPATH</a:t>
            </a:r>
            <a:endParaRPr sz="1800"/>
          </a:p>
        </p:txBody>
      </p:sp>
      <p:sp>
        <p:nvSpPr>
          <p:cNvPr id="379" name="Google Shape;379;p45"/>
          <p:cNvSpPr txBox="1"/>
          <p:nvPr/>
        </p:nvSpPr>
        <p:spPr>
          <a:xfrm>
            <a:off x="6858000" y="188250"/>
            <a:ext cx="2191800" cy="10158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What if we get two interrupts at the same time???</a:t>
            </a:r>
            <a:endParaRPr sz="1800">
              <a:solidFill>
                <a:srgbClr val="0000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Programming for interrupts</a:t>
            </a:r>
            <a:endParaRPr sz="180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7"/>
          <p:cNvSpPr txBox="1"/>
          <p:nvPr>
            <p:ph type="title"/>
          </p:nvPr>
        </p:nvSpPr>
        <p:spPr>
          <a:xfrm>
            <a:off x="311700" y="170001"/>
            <a:ext cx="8520600" cy="59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 to our example:</a:t>
            </a:r>
            <a:endParaRPr/>
          </a:p>
        </p:txBody>
      </p:sp>
      <p:sp>
        <p:nvSpPr>
          <p:cNvPr id="390" name="Google Shape;390;p47"/>
          <p:cNvSpPr txBox="1"/>
          <p:nvPr>
            <p:ph idx="1" type="body"/>
          </p:nvPr>
        </p:nvSpPr>
        <p:spPr>
          <a:xfrm>
            <a:off x="311700" y="974575"/>
            <a:ext cx="8520600" cy="565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Our timer can be programmed to generate an interrupt when it reaches its autoreload value.</a:t>
            </a:r>
            <a:endParaRPr sz="1600"/>
          </a:p>
          <a:p>
            <a:pPr indent="0" lvl="0" marL="0" rtl="0" algn="l">
              <a:spcBef>
                <a:spcPts val="1000"/>
              </a:spcBef>
              <a:spcAft>
                <a:spcPts val="0"/>
              </a:spcAft>
              <a:buNone/>
            </a:pPr>
            <a:r>
              <a:rPr b="1" lang="en" sz="1600">
                <a:solidFill>
                  <a:srgbClr val="38761D"/>
                </a:solidFill>
              </a:rPr>
              <a:t>Interrupt requests (IRQs)</a:t>
            </a:r>
            <a:r>
              <a:rPr lang="en" sz="1600"/>
              <a:t> are handled by the </a:t>
            </a:r>
            <a:r>
              <a:rPr b="1" lang="en" sz="1600">
                <a:solidFill>
                  <a:srgbClr val="38761D"/>
                </a:solidFill>
              </a:rPr>
              <a:t>Nested Vector Interrupt Controller (NVIC) </a:t>
            </a:r>
            <a:r>
              <a:rPr lang="en" sz="1600"/>
              <a:t>which interacts with the CPU to process the IRQs. </a:t>
            </a:r>
            <a:endParaRPr sz="1600"/>
          </a:p>
          <a:p>
            <a:pPr indent="0" lvl="0" marL="0" rtl="0" algn="l">
              <a:spcBef>
                <a:spcPts val="1000"/>
              </a:spcBef>
              <a:spcAft>
                <a:spcPts val="1000"/>
              </a:spcAft>
              <a:buNone/>
            </a:pPr>
            <a:r>
              <a:rPr lang="en" sz="1600"/>
              <a:t>When an IRQ is processed, an </a:t>
            </a:r>
            <a:r>
              <a:rPr b="1" lang="en" sz="1600">
                <a:solidFill>
                  <a:srgbClr val="38761D"/>
                </a:solidFill>
              </a:rPr>
              <a:t>Interrupt Service Routine (ISR)</a:t>
            </a:r>
            <a:r>
              <a:rPr lang="en" sz="1600"/>
              <a:t>, which you program, is executed. When the ISR terminates the processor resumes normal program execution.</a:t>
            </a:r>
            <a:endParaRPr sz="1200">
              <a:latin typeface="Courier New"/>
              <a:ea typeface="Courier New"/>
              <a:cs typeface="Courier New"/>
              <a:sym typeface="Courier New"/>
            </a:endParaRPr>
          </a:p>
        </p:txBody>
      </p:sp>
      <p:pic>
        <p:nvPicPr>
          <p:cNvPr id="391" name="Google Shape;391;p47" title="Screenshot 2026-02-07 at 12.31.08 PM.png"/>
          <p:cNvPicPr preferRelativeResize="0"/>
          <p:nvPr/>
        </p:nvPicPr>
        <p:blipFill rotWithShape="1">
          <a:blip r:embed="rId3">
            <a:alphaModFix/>
          </a:blip>
          <a:srcRect b="3900" l="0" r="0" t="3900"/>
          <a:stretch/>
        </p:blipFill>
        <p:spPr>
          <a:xfrm>
            <a:off x="0" y="2880218"/>
            <a:ext cx="9144004" cy="388441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8"/>
          <p:cNvSpPr txBox="1"/>
          <p:nvPr>
            <p:ph type="title"/>
          </p:nvPr>
        </p:nvSpPr>
        <p:spPr>
          <a:xfrm>
            <a:off x="202650" y="169550"/>
            <a:ext cx="4798800" cy="9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ADC operation while blinking an LED</a:t>
            </a:r>
            <a:endParaRPr/>
          </a:p>
        </p:txBody>
      </p:sp>
      <p:grpSp>
        <p:nvGrpSpPr>
          <p:cNvPr id="397" name="Google Shape;397;p48"/>
          <p:cNvGrpSpPr/>
          <p:nvPr/>
        </p:nvGrpSpPr>
        <p:grpSpPr>
          <a:xfrm>
            <a:off x="594550" y="1223750"/>
            <a:ext cx="2095325" cy="4934074"/>
            <a:chOff x="594550" y="1223750"/>
            <a:chExt cx="2095325" cy="4934074"/>
          </a:xfrm>
        </p:grpSpPr>
        <p:sp>
          <p:nvSpPr>
            <p:cNvPr id="398" name="Google Shape;398;p48"/>
            <p:cNvSpPr/>
            <p:nvPr/>
          </p:nvSpPr>
          <p:spPr>
            <a:xfrm>
              <a:off x="1223775" y="1223750"/>
              <a:ext cx="1466100" cy="5088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Initialize ADC and Timer</a:t>
              </a:r>
              <a:endParaRPr/>
            </a:p>
          </p:txBody>
        </p:sp>
        <p:sp>
          <p:nvSpPr>
            <p:cNvPr id="399" name="Google Shape;399;p48"/>
            <p:cNvSpPr/>
            <p:nvPr/>
          </p:nvSpPr>
          <p:spPr>
            <a:xfrm>
              <a:off x="1223775" y="2406066"/>
              <a:ext cx="1466100" cy="508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Start ADC Conversion</a:t>
              </a:r>
              <a:endParaRPr/>
            </a:p>
          </p:txBody>
        </p:sp>
        <p:sp>
          <p:nvSpPr>
            <p:cNvPr id="400" name="Google Shape;400;p48"/>
            <p:cNvSpPr/>
            <p:nvPr/>
          </p:nvSpPr>
          <p:spPr>
            <a:xfrm>
              <a:off x="1223775" y="3358166"/>
              <a:ext cx="1466100" cy="508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Read Sensor Value</a:t>
              </a:r>
              <a:endParaRPr/>
            </a:p>
          </p:txBody>
        </p:sp>
        <p:sp>
          <p:nvSpPr>
            <p:cNvPr id="401" name="Google Shape;401;p48"/>
            <p:cNvSpPr/>
            <p:nvPr/>
          </p:nvSpPr>
          <p:spPr>
            <a:xfrm>
              <a:off x="1223775" y="4310266"/>
              <a:ext cx="1466100" cy="508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 Value</a:t>
              </a:r>
              <a:endParaRPr/>
            </a:p>
          </p:txBody>
        </p:sp>
        <p:sp>
          <p:nvSpPr>
            <p:cNvPr id="402" name="Google Shape;402;p48"/>
            <p:cNvSpPr/>
            <p:nvPr/>
          </p:nvSpPr>
          <p:spPr>
            <a:xfrm>
              <a:off x="1223775" y="5262366"/>
              <a:ext cx="1466100" cy="508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Kill Time</a:t>
              </a:r>
              <a:endParaRPr/>
            </a:p>
          </p:txBody>
        </p:sp>
        <p:cxnSp>
          <p:nvCxnSpPr>
            <p:cNvPr id="403" name="Google Shape;403;p48"/>
            <p:cNvCxnSpPr>
              <a:stCxn id="398" idx="2"/>
              <a:endCxn id="399" idx="0"/>
            </p:cNvCxnSpPr>
            <p:nvPr/>
          </p:nvCxnSpPr>
          <p:spPr>
            <a:xfrm>
              <a:off x="1956825" y="1732550"/>
              <a:ext cx="0" cy="673500"/>
            </a:xfrm>
            <a:prstGeom prst="straightConnector1">
              <a:avLst/>
            </a:prstGeom>
            <a:noFill/>
            <a:ln cap="flat" cmpd="sng" w="28575">
              <a:solidFill>
                <a:schemeClr val="dk2"/>
              </a:solidFill>
              <a:prstDash val="solid"/>
              <a:round/>
              <a:headEnd len="med" w="med" type="none"/>
              <a:tailEnd len="med" w="med" type="triangle"/>
            </a:ln>
          </p:spPr>
        </p:cxnSp>
        <p:cxnSp>
          <p:nvCxnSpPr>
            <p:cNvPr id="404" name="Google Shape;404;p48"/>
            <p:cNvCxnSpPr>
              <a:stCxn id="399" idx="2"/>
              <a:endCxn id="400" idx="0"/>
            </p:cNvCxnSpPr>
            <p:nvPr/>
          </p:nvCxnSpPr>
          <p:spPr>
            <a:xfrm>
              <a:off x="1956825" y="2914866"/>
              <a:ext cx="0" cy="443400"/>
            </a:xfrm>
            <a:prstGeom prst="straightConnector1">
              <a:avLst/>
            </a:prstGeom>
            <a:noFill/>
            <a:ln cap="flat" cmpd="sng" w="28575">
              <a:solidFill>
                <a:schemeClr val="dk2"/>
              </a:solidFill>
              <a:prstDash val="solid"/>
              <a:round/>
              <a:headEnd len="med" w="med" type="none"/>
              <a:tailEnd len="med" w="med" type="triangle"/>
            </a:ln>
          </p:spPr>
        </p:cxnSp>
        <p:cxnSp>
          <p:nvCxnSpPr>
            <p:cNvPr id="405" name="Google Shape;405;p48"/>
            <p:cNvCxnSpPr/>
            <p:nvPr/>
          </p:nvCxnSpPr>
          <p:spPr>
            <a:xfrm>
              <a:off x="1956825" y="3866916"/>
              <a:ext cx="0" cy="443400"/>
            </a:xfrm>
            <a:prstGeom prst="straightConnector1">
              <a:avLst/>
            </a:prstGeom>
            <a:noFill/>
            <a:ln cap="flat" cmpd="sng" w="28575">
              <a:solidFill>
                <a:schemeClr val="dk2"/>
              </a:solidFill>
              <a:prstDash val="solid"/>
              <a:round/>
              <a:headEnd len="med" w="med" type="none"/>
              <a:tailEnd len="med" w="med" type="triangle"/>
            </a:ln>
          </p:spPr>
        </p:cxnSp>
        <p:cxnSp>
          <p:nvCxnSpPr>
            <p:cNvPr id="406" name="Google Shape;406;p48"/>
            <p:cNvCxnSpPr/>
            <p:nvPr/>
          </p:nvCxnSpPr>
          <p:spPr>
            <a:xfrm>
              <a:off x="1956825" y="4819066"/>
              <a:ext cx="0" cy="443400"/>
            </a:xfrm>
            <a:prstGeom prst="straightConnector1">
              <a:avLst/>
            </a:prstGeom>
            <a:noFill/>
            <a:ln cap="flat" cmpd="sng" w="28575">
              <a:solidFill>
                <a:schemeClr val="dk2"/>
              </a:solidFill>
              <a:prstDash val="solid"/>
              <a:round/>
              <a:headEnd len="med" w="med" type="none"/>
              <a:tailEnd len="med" w="med" type="triangle"/>
            </a:ln>
          </p:spPr>
        </p:cxnSp>
        <p:cxnSp>
          <p:nvCxnSpPr>
            <p:cNvPr id="407" name="Google Shape;407;p48"/>
            <p:cNvCxnSpPr>
              <a:stCxn id="402" idx="2"/>
            </p:cNvCxnSpPr>
            <p:nvPr/>
          </p:nvCxnSpPr>
          <p:spPr>
            <a:xfrm flipH="1">
              <a:off x="1950825" y="5771166"/>
              <a:ext cx="6000" cy="384000"/>
            </a:xfrm>
            <a:prstGeom prst="straightConnector1">
              <a:avLst/>
            </a:prstGeom>
            <a:noFill/>
            <a:ln cap="flat" cmpd="sng" w="28575">
              <a:solidFill>
                <a:schemeClr val="dk2"/>
              </a:solidFill>
              <a:prstDash val="solid"/>
              <a:round/>
              <a:headEnd len="med" w="med" type="none"/>
              <a:tailEnd len="med" w="med" type="none"/>
            </a:ln>
          </p:spPr>
        </p:cxnSp>
        <p:cxnSp>
          <p:nvCxnSpPr>
            <p:cNvPr id="408" name="Google Shape;408;p48"/>
            <p:cNvCxnSpPr/>
            <p:nvPr/>
          </p:nvCxnSpPr>
          <p:spPr>
            <a:xfrm flipH="1">
              <a:off x="600675" y="2084050"/>
              <a:ext cx="29400" cy="4071000"/>
            </a:xfrm>
            <a:prstGeom prst="straightConnector1">
              <a:avLst/>
            </a:prstGeom>
            <a:noFill/>
            <a:ln cap="flat" cmpd="sng" w="28575">
              <a:solidFill>
                <a:schemeClr val="dk2"/>
              </a:solidFill>
              <a:prstDash val="solid"/>
              <a:round/>
              <a:headEnd len="med" w="med" type="none"/>
              <a:tailEnd len="med" w="med" type="none"/>
            </a:ln>
          </p:spPr>
        </p:cxnSp>
        <p:cxnSp>
          <p:nvCxnSpPr>
            <p:cNvPr id="409" name="Google Shape;409;p48"/>
            <p:cNvCxnSpPr/>
            <p:nvPr/>
          </p:nvCxnSpPr>
          <p:spPr>
            <a:xfrm>
              <a:off x="594550" y="6151824"/>
              <a:ext cx="1371000" cy="6000"/>
            </a:xfrm>
            <a:prstGeom prst="straightConnector1">
              <a:avLst/>
            </a:prstGeom>
            <a:noFill/>
            <a:ln cap="flat" cmpd="sng" w="28575">
              <a:solidFill>
                <a:schemeClr val="dk2"/>
              </a:solidFill>
              <a:prstDash val="solid"/>
              <a:round/>
              <a:headEnd len="med" w="med" type="none"/>
              <a:tailEnd len="med" w="med" type="none"/>
            </a:ln>
          </p:spPr>
        </p:cxnSp>
        <p:cxnSp>
          <p:nvCxnSpPr>
            <p:cNvPr id="410" name="Google Shape;410;p48"/>
            <p:cNvCxnSpPr/>
            <p:nvPr/>
          </p:nvCxnSpPr>
          <p:spPr>
            <a:xfrm flipH="1" rot="10800000">
              <a:off x="630075" y="2087050"/>
              <a:ext cx="1323600" cy="9000"/>
            </a:xfrm>
            <a:prstGeom prst="straightConnector1">
              <a:avLst/>
            </a:prstGeom>
            <a:noFill/>
            <a:ln cap="flat" cmpd="sng" w="28575">
              <a:solidFill>
                <a:schemeClr val="dk2"/>
              </a:solidFill>
              <a:prstDash val="solid"/>
              <a:round/>
              <a:headEnd len="med" w="med" type="none"/>
              <a:tailEnd len="med" w="med" type="triangle"/>
            </a:ln>
          </p:spPr>
        </p:cxnSp>
      </p:grpSp>
      <p:sp>
        <p:nvSpPr>
          <p:cNvPr id="411" name="Google Shape;411;p48"/>
          <p:cNvSpPr/>
          <p:nvPr/>
        </p:nvSpPr>
        <p:spPr>
          <a:xfrm>
            <a:off x="3041268" y="2181000"/>
            <a:ext cx="387600" cy="3913800"/>
          </a:xfrm>
          <a:prstGeom prst="downArrow">
            <a:avLst>
              <a:gd fmla="val 50000" name="adj1"/>
              <a:gd fmla="val 50000" name="adj2"/>
            </a:avLst>
          </a:prstGeom>
          <a:solidFill>
            <a:srgbClr val="D9D2E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48"/>
          <p:cNvSpPr/>
          <p:nvPr/>
        </p:nvSpPr>
        <p:spPr>
          <a:xfrm>
            <a:off x="4059075" y="2253700"/>
            <a:ext cx="1623600" cy="508800"/>
          </a:xfrm>
          <a:prstGeom prst="ellipse">
            <a:avLst/>
          </a:prstGeom>
          <a:solidFill>
            <a:srgbClr val="D9EAD3"/>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80000"/>
                </a:solidFill>
              </a:rPr>
              <a:t>Timer Interrupt</a:t>
            </a:r>
            <a:endParaRPr b="1">
              <a:solidFill>
                <a:srgbClr val="980000"/>
              </a:solidFill>
            </a:endParaRPr>
          </a:p>
        </p:txBody>
      </p:sp>
      <p:cxnSp>
        <p:nvCxnSpPr>
          <p:cNvPr id="413" name="Google Shape;413;p48"/>
          <p:cNvCxnSpPr/>
          <p:nvPr/>
        </p:nvCxnSpPr>
        <p:spPr>
          <a:xfrm>
            <a:off x="3332075" y="3089725"/>
            <a:ext cx="2738400" cy="12000"/>
          </a:xfrm>
          <a:prstGeom prst="straightConnector1">
            <a:avLst/>
          </a:prstGeom>
          <a:noFill/>
          <a:ln cap="flat" cmpd="sng" w="28575">
            <a:solidFill>
              <a:srgbClr val="38761D"/>
            </a:solidFill>
            <a:prstDash val="solid"/>
            <a:round/>
            <a:headEnd len="med" w="med" type="none"/>
            <a:tailEnd len="med" w="med" type="triangle"/>
          </a:ln>
        </p:spPr>
      </p:cxnSp>
      <p:cxnSp>
        <p:nvCxnSpPr>
          <p:cNvPr id="414" name="Google Shape;414;p48"/>
          <p:cNvCxnSpPr/>
          <p:nvPr/>
        </p:nvCxnSpPr>
        <p:spPr>
          <a:xfrm>
            <a:off x="6046182" y="3101842"/>
            <a:ext cx="0" cy="557400"/>
          </a:xfrm>
          <a:prstGeom prst="straightConnector1">
            <a:avLst/>
          </a:prstGeom>
          <a:noFill/>
          <a:ln cap="flat" cmpd="sng" w="28575">
            <a:solidFill>
              <a:srgbClr val="38761D"/>
            </a:solidFill>
            <a:prstDash val="solid"/>
            <a:round/>
            <a:headEnd len="med" w="med" type="none"/>
            <a:tailEnd len="med" w="med" type="triangle"/>
          </a:ln>
        </p:spPr>
      </p:cxnSp>
      <p:sp>
        <p:nvSpPr>
          <p:cNvPr id="415" name="Google Shape;415;p48"/>
          <p:cNvSpPr/>
          <p:nvPr/>
        </p:nvSpPr>
        <p:spPr>
          <a:xfrm>
            <a:off x="4265157" y="3653159"/>
            <a:ext cx="3537900" cy="11538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Timer Interrupt Service Routine (ISR)</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Clear the Timer Interrupt Flag</a:t>
            </a:r>
            <a:endParaRPr/>
          </a:p>
          <a:p>
            <a:pPr indent="0" lvl="0" marL="0" rtl="0" algn="ctr">
              <a:spcBef>
                <a:spcPts val="0"/>
              </a:spcBef>
              <a:spcAft>
                <a:spcPts val="0"/>
              </a:spcAft>
              <a:buNone/>
            </a:pPr>
            <a:r>
              <a:rPr lang="en"/>
              <a:t>Toggle LED</a:t>
            </a:r>
            <a:endParaRPr/>
          </a:p>
        </p:txBody>
      </p:sp>
      <p:cxnSp>
        <p:nvCxnSpPr>
          <p:cNvPr id="416" name="Google Shape;416;p48"/>
          <p:cNvCxnSpPr/>
          <p:nvPr/>
        </p:nvCxnSpPr>
        <p:spPr>
          <a:xfrm>
            <a:off x="6034107" y="4798425"/>
            <a:ext cx="0" cy="557400"/>
          </a:xfrm>
          <a:prstGeom prst="straightConnector1">
            <a:avLst/>
          </a:prstGeom>
          <a:noFill/>
          <a:ln cap="flat" cmpd="sng" w="28575">
            <a:solidFill>
              <a:srgbClr val="38761D"/>
            </a:solidFill>
            <a:prstDash val="solid"/>
            <a:round/>
            <a:headEnd len="med" w="med" type="none"/>
            <a:tailEnd len="med" w="med" type="triangle"/>
          </a:ln>
        </p:spPr>
      </p:cxnSp>
      <p:cxnSp>
        <p:nvCxnSpPr>
          <p:cNvPr id="417" name="Google Shape;417;p48"/>
          <p:cNvCxnSpPr/>
          <p:nvPr/>
        </p:nvCxnSpPr>
        <p:spPr>
          <a:xfrm>
            <a:off x="4022725" y="5331300"/>
            <a:ext cx="2023500" cy="12000"/>
          </a:xfrm>
          <a:prstGeom prst="straightConnector1">
            <a:avLst/>
          </a:prstGeom>
          <a:noFill/>
          <a:ln cap="flat" cmpd="sng" w="28575">
            <a:solidFill>
              <a:srgbClr val="38761D"/>
            </a:solidFill>
            <a:prstDash val="solid"/>
            <a:round/>
            <a:headEnd len="med" w="med" type="triangle"/>
            <a:tailEnd len="med" w="med" type="none"/>
          </a:ln>
        </p:spPr>
      </p:cxnSp>
      <p:cxnSp>
        <p:nvCxnSpPr>
          <p:cNvPr id="418" name="Google Shape;418;p48"/>
          <p:cNvCxnSpPr/>
          <p:nvPr/>
        </p:nvCxnSpPr>
        <p:spPr>
          <a:xfrm flipH="1">
            <a:off x="4031767" y="3356300"/>
            <a:ext cx="27300" cy="1975200"/>
          </a:xfrm>
          <a:prstGeom prst="straightConnector1">
            <a:avLst/>
          </a:prstGeom>
          <a:noFill/>
          <a:ln cap="flat" cmpd="sng" w="28575">
            <a:solidFill>
              <a:srgbClr val="38761D"/>
            </a:solidFill>
            <a:prstDash val="solid"/>
            <a:round/>
            <a:headEnd len="med" w="med" type="none"/>
            <a:tailEnd len="med" w="med" type="none"/>
          </a:ln>
        </p:spPr>
      </p:cxnSp>
      <p:cxnSp>
        <p:nvCxnSpPr>
          <p:cNvPr id="419" name="Google Shape;419;p48"/>
          <p:cNvCxnSpPr/>
          <p:nvPr/>
        </p:nvCxnSpPr>
        <p:spPr>
          <a:xfrm rot="10800000">
            <a:off x="3344275" y="3102025"/>
            <a:ext cx="726900" cy="266400"/>
          </a:xfrm>
          <a:prstGeom prst="straightConnector1">
            <a:avLst/>
          </a:prstGeom>
          <a:noFill/>
          <a:ln cap="flat" cmpd="sng" w="28575">
            <a:solidFill>
              <a:srgbClr val="38761D"/>
            </a:solidFill>
            <a:prstDash val="solid"/>
            <a:round/>
            <a:headEnd len="med" w="med" type="none"/>
            <a:tailEnd len="med" w="med" type="triangle"/>
          </a:ln>
        </p:spPr>
      </p:cxnSp>
      <p:cxnSp>
        <p:nvCxnSpPr>
          <p:cNvPr id="420" name="Google Shape;420;p48"/>
          <p:cNvCxnSpPr>
            <a:stCxn id="412" idx="2"/>
          </p:cNvCxnSpPr>
          <p:nvPr/>
        </p:nvCxnSpPr>
        <p:spPr>
          <a:xfrm flipH="1">
            <a:off x="3380475" y="2508100"/>
            <a:ext cx="678600" cy="545400"/>
          </a:xfrm>
          <a:prstGeom prst="straightConnector1">
            <a:avLst/>
          </a:prstGeom>
          <a:noFill/>
          <a:ln cap="flat" cmpd="sng" w="28575">
            <a:solidFill>
              <a:srgbClr val="980000"/>
            </a:solidFill>
            <a:prstDash val="solid"/>
            <a:round/>
            <a:headEnd len="med" w="med" type="none"/>
            <a:tailEnd len="med" w="med" type="triangle"/>
          </a:ln>
        </p:spPr>
      </p:cxnSp>
      <p:cxnSp>
        <p:nvCxnSpPr>
          <p:cNvPr id="421" name="Google Shape;421;p48"/>
          <p:cNvCxnSpPr/>
          <p:nvPr/>
        </p:nvCxnSpPr>
        <p:spPr>
          <a:xfrm>
            <a:off x="3344175" y="5537300"/>
            <a:ext cx="375600" cy="12000"/>
          </a:xfrm>
          <a:prstGeom prst="straightConnector1">
            <a:avLst/>
          </a:prstGeom>
          <a:noFill/>
          <a:ln cap="flat" cmpd="sng" w="28575">
            <a:solidFill>
              <a:srgbClr val="38761D"/>
            </a:solidFill>
            <a:prstDash val="dash"/>
            <a:round/>
            <a:headEnd len="med" w="med" type="none"/>
            <a:tailEnd len="med" w="med" type="none"/>
          </a:ln>
        </p:spPr>
      </p:cxnSp>
      <p:cxnSp>
        <p:nvCxnSpPr>
          <p:cNvPr id="422" name="Google Shape;422;p48"/>
          <p:cNvCxnSpPr/>
          <p:nvPr/>
        </p:nvCxnSpPr>
        <p:spPr>
          <a:xfrm flipH="1">
            <a:off x="3683500" y="3465350"/>
            <a:ext cx="36300" cy="2084400"/>
          </a:xfrm>
          <a:prstGeom prst="straightConnector1">
            <a:avLst/>
          </a:prstGeom>
          <a:noFill/>
          <a:ln cap="flat" cmpd="sng" w="28575">
            <a:solidFill>
              <a:srgbClr val="38761D"/>
            </a:solidFill>
            <a:prstDash val="dash"/>
            <a:round/>
            <a:headEnd len="med" w="med" type="triangle"/>
            <a:tailEnd len="med" w="med" type="none"/>
          </a:ln>
        </p:spPr>
      </p:cxnSp>
      <p:cxnSp>
        <p:nvCxnSpPr>
          <p:cNvPr id="423" name="Google Shape;423;p48"/>
          <p:cNvCxnSpPr/>
          <p:nvPr/>
        </p:nvCxnSpPr>
        <p:spPr>
          <a:xfrm flipH="1" rot="10800000">
            <a:off x="3695617" y="3489692"/>
            <a:ext cx="1902300" cy="12000"/>
          </a:xfrm>
          <a:prstGeom prst="straightConnector1">
            <a:avLst/>
          </a:prstGeom>
          <a:noFill/>
          <a:ln cap="flat" cmpd="sng" w="28575">
            <a:solidFill>
              <a:srgbClr val="38761D"/>
            </a:solidFill>
            <a:prstDash val="dash"/>
            <a:round/>
            <a:headEnd len="med" w="med" type="none"/>
            <a:tailEnd len="med" w="med" type="triangle"/>
          </a:ln>
        </p:spPr>
      </p:cxnSp>
      <p:cxnSp>
        <p:nvCxnSpPr>
          <p:cNvPr id="424" name="Google Shape;424;p48"/>
          <p:cNvCxnSpPr>
            <a:endCxn id="415" idx="0"/>
          </p:cNvCxnSpPr>
          <p:nvPr/>
        </p:nvCxnSpPr>
        <p:spPr>
          <a:xfrm>
            <a:off x="5609907" y="3489659"/>
            <a:ext cx="424200" cy="163500"/>
          </a:xfrm>
          <a:prstGeom prst="straightConnector1">
            <a:avLst/>
          </a:prstGeom>
          <a:noFill/>
          <a:ln cap="flat" cmpd="sng" w="28575">
            <a:solidFill>
              <a:srgbClr val="38761D"/>
            </a:solidFill>
            <a:prstDash val="dash"/>
            <a:round/>
            <a:headEnd len="med" w="med" type="none"/>
            <a:tailEnd len="med" w="med" type="none"/>
          </a:ln>
        </p:spPr>
      </p:cxnSp>
      <p:cxnSp>
        <p:nvCxnSpPr>
          <p:cNvPr id="425" name="Google Shape;425;p48"/>
          <p:cNvCxnSpPr/>
          <p:nvPr/>
        </p:nvCxnSpPr>
        <p:spPr>
          <a:xfrm>
            <a:off x="6034107" y="4807009"/>
            <a:ext cx="375600" cy="354600"/>
          </a:xfrm>
          <a:prstGeom prst="straightConnector1">
            <a:avLst/>
          </a:prstGeom>
          <a:noFill/>
          <a:ln cap="flat" cmpd="sng" w="28575">
            <a:solidFill>
              <a:srgbClr val="38761D"/>
            </a:solidFill>
            <a:prstDash val="dash"/>
            <a:round/>
            <a:headEnd len="med" w="med" type="none"/>
            <a:tailEnd len="med" w="med" type="none"/>
          </a:ln>
        </p:spPr>
      </p:cxnSp>
      <p:cxnSp>
        <p:nvCxnSpPr>
          <p:cNvPr id="426" name="Google Shape;426;p48"/>
          <p:cNvCxnSpPr/>
          <p:nvPr/>
        </p:nvCxnSpPr>
        <p:spPr>
          <a:xfrm>
            <a:off x="6409707" y="5161600"/>
            <a:ext cx="0" cy="557400"/>
          </a:xfrm>
          <a:prstGeom prst="straightConnector1">
            <a:avLst/>
          </a:prstGeom>
          <a:noFill/>
          <a:ln cap="flat" cmpd="sng" w="28575">
            <a:solidFill>
              <a:srgbClr val="38761D"/>
            </a:solidFill>
            <a:prstDash val="dash"/>
            <a:round/>
            <a:headEnd len="med" w="med" type="none"/>
            <a:tailEnd len="med" w="med" type="triangle"/>
          </a:ln>
        </p:spPr>
      </p:cxnSp>
      <p:cxnSp>
        <p:nvCxnSpPr>
          <p:cNvPr id="427" name="Google Shape;427;p48"/>
          <p:cNvCxnSpPr/>
          <p:nvPr/>
        </p:nvCxnSpPr>
        <p:spPr>
          <a:xfrm flipH="1" rot="10800000">
            <a:off x="3622875" y="5709750"/>
            <a:ext cx="2793000" cy="9300"/>
          </a:xfrm>
          <a:prstGeom prst="straightConnector1">
            <a:avLst/>
          </a:prstGeom>
          <a:noFill/>
          <a:ln cap="flat" cmpd="sng" w="28575">
            <a:solidFill>
              <a:srgbClr val="38761D"/>
            </a:solidFill>
            <a:prstDash val="dash"/>
            <a:round/>
            <a:headEnd len="med" w="med" type="triangle"/>
            <a:tailEnd len="med" w="med" type="none"/>
          </a:ln>
        </p:spPr>
      </p:cxnSp>
      <p:cxnSp>
        <p:nvCxnSpPr>
          <p:cNvPr id="428" name="Google Shape;428;p48"/>
          <p:cNvCxnSpPr/>
          <p:nvPr/>
        </p:nvCxnSpPr>
        <p:spPr>
          <a:xfrm>
            <a:off x="3332094" y="5537309"/>
            <a:ext cx="278700" cy="181800"/>
          </a:xfrm>
          <a:prstGeom prst="straightConnector1">
            <a:avLst/>
          </a:prstGeom>
          <a:noFill/>
          <a:ln cap="flat" cmpd="sng" w="28575">
            <a:solidFill>
              <a:srgbClr val="38761D"/>
            </a:solidFill>
            <a:prstDash val="dash"/>
            <a:round/>
            <a:headEnd len="med" w="med" type="none"/>
            <a:tailEnd len="med" w="med" type="none"/>
          </a:ln>
        </p:spPr>
      </p:cxnSp>
      <p:sp>
        <p:nvSpPr>
          <p:cNvPr id="429" name="Google Shape;429;p48"/>
          <p:cNvSpPr/>
          <p:nvPr/>
        </p:nvSpPr>
        <p:spPr>
          <a:xfrm>
            <a:off x="3838950" y="6012325"/>
            <a:ext cx="1623600" cy="508800"/>
          </a:xfrm>
          <a:prstGeom prst="ellipse">
            <a:avLst/>
          </a:prstGeom>
          <a:solidFill>
            <a:srgbClr val="D9EAD3"/>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80000"/>
                </a:solidFill>
              </a:rPr>
              <a:t>Next </a:t>
            </a:r>
            <a:r>
              <a:rPr b="1" lang="en">
                <a:solidFill>
                  <a:srgbClr val="980000"/>
                </a:solidFill>
              </a:rPr>
              <a:t>Timer Interrupt</a:t>
            </a:r>
            <a:endParaRPr b="1">
              <a:solidFill>
                <a:srgbClr val="980000"/>
              </a:solidFill>
            </a:endParaRPr>
          </a:p>
        </p:txBody>
      </p:sp>
      <p:cxnSp>
        <p:nvCxnSpPr>
          <p:cNvPr id="430" name="Google Shape;430;p48"/>
          <p:cNvCxnSpPr/>
          <p:nvPr/>
        </p:nvCxnSpPr>
        <p:spPr>
          <a:xfrm rot="10800000">
            <a:off x="3404775" y="5646200"/>
            <a:ext cx="434100" cy="572100"/>
          </a:xfrm>
          <a:prstGeom prst="straightConnector1">
            <a:avLst/>
          </a:prstGeom>
          <a:noFill/>
          <a:ln cap="flat" cmpd="sng" w="28575">
            <a:solidFill>
              <a:srgbClr val="980000"/>
            </a:solidFill>
            <a:prstDash val="solid"/>
            <a:round/>
            <a:headEnd len="med" w="med" type="none"/>
            <a:tailEnd len="med" w="med" type="triangle"/>
          </a:ln>
        </p:spPr>
      </p:cxnSp>
      <p:sp>
        <p:nvSpPr>
          <p:cNvPr id="431" name="Google Shape;431;p48"/>
          <p:cNvSpPr txBox="1"/>
          <p:nvPr/>
        </p:nvSpPr>
        <p:spPr>
          <a:xfrm>
            <a:off x="5149550" y="64150"/>
            <a:ext cx="38493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80000"/>
                </a:solidFill>
              </a:rPr>
              <a:t>H</a:t>
            </a:r>
            <a:r>
              <a:rPr b="1" lang="en" sz="2000">
                <a:solidFill>
                  <a:srgbClr val="980000"/>
                </a:solidFill>
              </a:rPr>
              <a:t>andling an Interrupt Request</a:t>
            </a:r>
            <a:endParaRPr b="1" sz="2000">
              <a:solidFill>
                <a:srgbClr val="980000"/>
              </a:solidFill>
            </a:endParaRPr>
          </a:p>
          <a:p>
            <a:pPr indent="-355600" lvl="0" marL="457200" rtl="0" algn="l">
              <a:spcBef>
                <a:spcPts val="0"/>
              </a:spcBef>
              <a:spcAft>
                <a:spcPts val="0"/>
              </a:spcAft>
              <a:buClr>
                <a:srgbClr val="980000"/>
              </a:buClr>
              <a:buSzPts val="2000"/>
              <a:buAutoNum type="arabicPeriod"/>
            </a:pPr>
            <a:r>
              <a:rPr lang="en" sz="2000">
                <a:solidFill>
                  <a:srgbClr val="980000"/>
                </a:solidFill>
              </a:rPr>
              <a:t>Suspend main thread</a:t>
            </a:r>
            <a:endParaRPr sz="2000">
              <a:solidFill>
                <a:srgbClr val="980000"/>
              </a:solidFill>
            </a:endParaRPr>
          </a:p>
          <a:p>
            <a:pPr indent="-355600" lvl="0" marL="457200" rtl="0" algn="l">
              <a:spcBef>
                <a:spcPts val="0"/>
              </a:spcBef>
              <a:spcAft>
                <a:spcPts val="0"/>
              </a:spcAft>
              <a:buClr>
                <a:srgbClr val="980000"/>
              </a:buClr>
              <a:buSzPts val="2000"/>
              <a:buAutoNum type="arabicPeriod"/>
            </a:pPr>
            <a:r>
              <a:rPr lang="en" sz="2000">
                <a:solidFill>
                  <a:srgbClr val="980000"/>
                </a:solidFill>
              </a:rPr>
              <a:t>Save CPU state</a:t>
            </a:r>
            <a:endParaRPr sz="2000">
              <a:solidFill>
                <a:srgbClr val="980000"/>
              </a:solidFill>
            </a:endParaRPr>
          </a:p>
          <a:p>
            <a:pPr indent="-355600" lvl="0" marL="457200" rtl="0" algn="l">
              <a:spcBef>
                <a:spcPts val="0"/>
              </a:spcBef>
              <a:spcAft>
                <a:spcPts val="0"/>
              </a:spcAft>
              <a:buClr>
                <a:srgbClr val="980000"/>
              </a:buClr>
              <a:buSzPts val="2000"/>
              <a:buAutoNum type="arabicPeriod"/>
            </a:pPr>
            <a:r>
              <a:rPr lang="en" sz="2000">
                <a:solidFill>
                  <a:srgbClr val="980000"/>
                </a:solidFill>
              </a:rPr>
              <a:t>Execute ISR</a:t>
            </a:r>
            <a:endParaRPr sz="2000">
              <a:solidFill>
                <a:srgbClr val="980000"/>
              </a:solidFill>
            </a:endParaRPr>
          </a:p>
          <a:p>
            <a:pPr indent="-355600" lvl="0" marL="457200" rtl="0" algn="l">
              <a:spcBef>
                <a:spcPts val="0"/>
              </a:spcBef>
              <a:spcAft>
                <a:spcPts val="0"/>
              </a:spcAft>
              <a:buClr>
                <a:srgbClr val="980000"/>
              </a:buClr>
              <a:buSzPts val="2000"/>
              <a:buAutoNum type="arabicPeriod"/>
            </a:pPr>
            <a:r>
              <a:rPr lang="en" sz="2000">
                <a:solidFill>
                  <a:srgbClr val="980000"/>
                </a:solidFill>
              </a:rPr>
              <a:t>Restore CPU state</a:t>
            </a:r>
            <a:endParaRPr sz="2000">
              <a:solidFill>
                <a:srgbClr val="980000"/>
              </a:solidFill>
            </a:endParaRPr>
          </a:p>
          <a:p>
            <a:pPr indent="-355600" lvl="0" marL="457200" rtl="0" algn="l">
              <a:spcBef>
                <a:spcPts val="0"/>
              </a:spcBef>
              <a:spcAft>
                <a:spcPts val="0"/>
              </a:spcAft>
              <a:buClr>
                <a:srgbClr val="980000"/>
              </a:buClr>
              <a:buSzPts val="2000"/>
              <a:buAutoNum type="arabicPeriod"/>
            </a:pPr>
            <a:r>
              <a:rPr lang="en" sz="2000">
                <a:solidFill>
                  <a:srgbClr val="980000"/>
                </a:solidFill>
              </a:rPr>
              <a:t>Resume main thread</a:t>
            </a:r>
            <a:endParaRPr sz="2000">
              <a:solidFill>
                <a:srgbClr val="98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9"/>
          <p:cNvSpPr txBox="1"/>
          <p:nvPr>
            <p:ph type="title"/>
          </p:nvPr>
        </p:nvSpPr>
        <p:spPr>
          <a:xfrm>
            <a:off x="195000" y="303600"/>
            <a:ext cx="87540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need to do to program a timer interrupt</a:t>
            </a:r>
            <a:endParaRPr/>
          </a:p>
        </p:txBody>
      </p:sp>
      <p:sp>
        <p:nvSpPr>
          <p:cNvPr id="437" name="Google Shape;437;p49"/>
          <p:cNvSpPr txBox="1"/>
          <p:nvPr>
            <p:ph idx="1" type="body"/>
          </p:nvPr>
        </p:nvSpPr>
        <p:spPr>
          <a:xfrm>
            <a:off x="311700" y="1163199"/>
            <a:ext cx="8520600" cy="4928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Configure timer:</a:t>
            </a:r>
            <a:endParaRPr/>
          </a:p>
          <a:p>
            <a:pPr indent="-330200" lvl="1" marL="914400" rtl="0" algn="l">
              <a:spcBef>
                <a:spcPts val="0"/>
              </a:spcBef>
              <a:spcAft>
                <a:spcPts val="0"/>
              </a:spcAft>
              <a:buSzPts val="1600"/>
              <a:buChar char="○"/>
            </a:pPr>
            <a:r>
              <a:rPr lang="en" sz="1600"/>
              <a:t>Decide how much time needs to pass between interrupts (1 sec, 200 ms, 429 µs, etc)</a:t>
            </a:r>
            <a:endParaRPr sz="1600"/>
          </a:p>
          <a:p>
            <a:pPr indent="-330200" lvl="1" marL="914400" rtl="0" algn="l">
              <a:spcBef>
                <a:spcPts val="1000"/>
              </a:spcBef>
              <a:spcAft>
                <a:spcPts val="0"/>
              </a:spcAft>
              <a:buSzPts val="1600"/>
              <a:buChar char="○"/>
            </a:pPr>
            <a:r>
              <a:rPr lang="en" sz="1600"/>
              <a:t>Determine a counting rate and a top value so that counting from 0 to that value will take the desired amount of time</a:t>
            </a:r>
            <a:endParaRPr sz="1600"/>
          </a:p>
          <a:p>
            <a:pPr indent="-330200" lvl="1" marL="914400" rtl="0" algn="l">
              <a:spcBef>
                <a:spcPts val="1000"/>
              </a:spcBef>
              <a:spcAft>
                <a:spcPts val="0"/>
              </a:spcAft>
              <a:buSzPts val="1600"/>
              <a:buChar char="○"/>
            </a:pPr>
            <a:r>
              <a:rPr lang="en" sz="1600"/>
              <a:t>Configure the control register, prescale register, auto-reload register (top value)</a:t>
            </a:r>
            <a:endParaRPr sz="1600"/>
          </a:p>
          <a:p>
            <a:pPr indent="-330200" lvl="1" marL="914400" rtl="0" algn="l">
              <a:spcBef>
                <a:spcPts val="1000"/>
              </a:spcBef>
              <a:spcAft>
                <a:spcPts val="0"/>
              </a:spcAft>
              <a:buSzPts val="1600"/>
              <a:buChar char="○"/>
            </a:pPr>
            <a:r>
              <a:rPr b="1" lang="en" sz="1600">
                <a:solidFill>
                  <a:srgbClr val="0000FF"/>
                </a:solidFill>
              </a:rPr>
              <a:t>Enable timer interrupts in the timer itself</a:t>
            </a:r>
            <a:endParaRPr sz="1600"/>
          </a:p>
          <a:p>
            <a:pPr indent="-330200" lvl="1" marL="914400" rtl="0" algn="l">
              <a:spcBef>
                <a:spcPts val="1000"/>
              </a:spcBef>
              <a:spcAft>
                <a:spcPts val="0"/>
              </a:spcAft>
              <a:buClr>
                <a:srgbClr val="0000FF"/>
              </a:buClr>
              <a:buSzPts val="1600"/>
              <a:buChar char="○"/>
            </a:pPr>
            <a:r>
              <a:rPr b="1" lang="en" sz="1600">
                <a:solidFill>
                  <a:srgbClr val="0000FF"/>
                </a:solidFill>
              </a:rPr>
              <a:t>Enable timer interrupt in the NVIC</a:t>
            </a:r>
            <a:endParaRPr b="1" sz="1600">
              <a:solidFill>
                <a:srgbClr val="0000FF"/>
              </a:solidFill>
            </a:endParaRPr>
          </a:p>
          <a:p>
            <a:pPr indent="-330200" lvl="1" marL="914400" rtl="0" algn="l">
              <a:spcBef>
                <a:spcPts val="1000"/>
              </a:spcBef>
              <a:spcAft>
                <a:spcPts val="0"/>
              </a:spcAft>
              <a:buSzPts val="1600"/>
              <a:buChar char="○"/>
            </a:pPr>
            <a:r>
              <a:rPr lang="en" sz="1600"/>
              <a:t>Start the timer</a:t>
            </a:r>
            <a:endParaRPr/>
          </a:p>
          <a:p>
            <a:pPr indent="-342900" lvl="0" marL="457200" rtl="0" algn="l">
              <a:spcBef>
                <a:spcPts val="1000"/>
              </a:spcBef>
              <a:spcAft>
                <a:spcPts val="0"/>
              </a:spcAft>
              <a:buClr>
                <a:srgbClr val="0000FF"/>
              </a:buClr>
              <a:buSzPts val="1800"/>
              <a:buChar char="●"/>
            </a:pPr>
            <a:r>
              <a:rPr b="1" lang="en">
                <a:solidFill>
                  <a:srgbClr val="0000FF"/>
                </a:solidFill>
              </a:rPr>
              <a:t>Write an ISR</a:t>
            </a:r>
            <a:endParaRPr b="1">
              <a:solidFill>
                <a:srgbClr val="0000FF"/>
              </a:solidFill>
            </a:endParaRPr>
          </a:p>
          <a:p>
            <a:pPr indent="-317500" lvl="1" marL="914400" rtl="0" algn="l">
              <a:spcBef>
                <a:spcPts val="0"/>
              </a:spcBef>
              <a:spcAft>
                <a:spcPts val="0"/>
              </a:spcAft>
              <a:buClr>
                <a:srgbClr val="0000FF"/>
              </a:buClr>
              <a:buSzPts val="1400"/>
              <a:buChar char="○"/>
            </a:pPr>
            <a:r>
              <a:rPr lang="en">
                <a:solidFill>
                  <a:srgbClr val="0000FF"/>
                </a:solidFill>
              </a:rPr>
              <a:t>Clear the interrupt flag</a:t>
            </a:r>
            <a:endParaRPr>
              <a:solidFill>
                <a:srgbClr val="0000FF"/>
              </a:solidFill>
            </a:endParaRPr>
          </a:p>
          <a:p>
            <a:pPr indent="-317500" lvl="1" marL="914400" rtl="0" algn="l">
              <a:spcBef>
                <a:spcPts val="0"/>
              </a:spcBef>
              <a:spcAft>
                <a:spcPts val="0"/>
              </a:spcAft>
              <a:buClr>
                <a:srgbClr val="0000FF"/>
              </a:buClr>
              <a:buSzPts val="1400"/>
              <a:buChar char="○"/>
            </a:pPr>
            <a:r>
              <a:rPr lang="en">
                <a:solidFill>
                  <a:srgbClr val="0000FF"/>
                </a:solidFill>
              </a:rPr>
              <a:t>Communicate with main program via global variables</a:t>
            </a:r>
            <a:endParaRPr>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grpSp>
        <p:nvGrpSpPr>
          <p:cNvPr id="442" name="Google Shape;442;p50"/>
          <p:cNvGrpSpPr/>
          <p:nvPr/>
        </p:nvGrpSpPr>
        <p:grpSpPr>
          <a:xfrm>
            <a:off x="428625" y="1672900"/>
            <a:ext cx="8476400" cy="3672701"/>
            <a:chOff x="428625" y="1672900"/>
            <a:chExt cx="8476400" cy="3672701"/>
          </a:xfrm>
        </p:grpSpPr>
        <p:pic>
          <p:nvPicPr>
            <p:cNvPr id="443" name="Google Shape;443;p50"/>
            <p:cNvPicPr preferRelativeResize="0"/>
            <p:nvPr/>
          </p:nvPicPr>
          <p:blipFill rotWithShape="1">
            <a:blip r:embed="rId3">
              <a:alphaModFix/>
            </a:blip>
            <a:srcRect b="0" l="0" r="0" t="7279"/>
            <a:stretch/>
          </p:blipFill>
          <p:spPr>
            <a:xfrm>
              <a:off x="428625" y="1672900"/>
              <a:ext cx="8403674" cy="2844496"/>
            </a:xfrm>
            <a:prstGeom prst="rect">
              <a:avLst/>
            </a:prstGeom>
            <a:noFill/>
            <a:ln>
              <a:noFill/>
            </a:ln>
          </p:spPr>
        </p:pic>
        <p:pic>
          <p:nvPicPr>
            <p:cNvPr id="444" name="Google Shape;444;p50"/>
            <p:cNvPicPr preferRelativeResize="0"/>
            <p:nvPr/>
          </p:nvPicPr>
          <p:blipFill rotWithShape="1">
            <a:blip r:embed="rId4">
              <a:alphaModFix/>
            </a:blip>
            <a:srcRect b="83713" l="0" r="0" t="7913"/>
            <a:stretch/>
          </p:blipFill>
          <p:spPr>
            <a:xfrm>
              <a:off x="442725" y="4497450"/>
              <a:ext cx="8462300" cy="848151"/>
            </a:xfrm>
            <a:prstGeom prst="rect">
              <a:avLst/>
            </a:prstGeom>
            <a:noFill/>
            <a:ln>
              <a:noFill/>
            </a:ln>
          </p:spPr>
        </p:pic>
      </p:grpSp>
      <p:sp>
        <p:nvSpPr>
          <p:cNvPr id="445" name="Google Shape;445;p50"/>
          <p:cNvSpPr txBox="1"/>
          <p:nvPr>
            <p:ph type="title"/>
          </p:nvPr>
        </p:nvSpPr>
        <p:spPr>
          <a:xfrm>
            <a:off x="311700" y="135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Enable Timer Interrupt in the Timer Itself</a:t>
            </a:r>
            <a:endParaRPr/>
          </a:p>
        </p:txBody>
      </p:sp>
      <p:sp>
        <p:nvSpPr>
          <p:cNvPr id="446" name="Google Shape;446;p50"/>
          <p:cNvSpPr/>
          <p:nvPr/>
        </p:nvSpPr>
        <p:spPr>
          <a:xfrm>
            <a:off x="8526800" y="2188550"/>
            <a:ext cx="256500" cy="763500"/>
          </a:xfrm>
          <a:prstGeom prst="rect">
            <a:avLst/>
          </a:prstGeom>
          <a:noFill/>
          <a:ln cap="flat" cmpd="sng" w="2857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0"/>
          <p:cNvSpPr/>
          <p:nvPr/>
        </p:nvSpPr>
        <p:spPr>
          <a:xfrm>
            <a:off x="8526800" y="3714325"/>
            <a:ext cx="256500" cy="4959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0"/>
          <p:cNvSpPr/>
          <p:nvPr/>
        </p:nvSpPr>
        <p:spPr>
          <a:xfrm>
            <a:off x="8526800" y="4497450"/>
            <a:ext cx="256500" cy="495900"/>
          </a:xfrm>
          <a:prstGeom prst="rect">
            <a:avLst/>
          </a:prstGeom>
          <a:noFill/>
          <a:ln cap="flat" cmpd="sng" w="2857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50"/>
          <p:cNvSpPr/>
          <p:nvPr/>
        </p:nvSpPr>
        <p:spPr>
          <a:xfrm>
            <a:off x="1241725" y="2364725"/>
            <a:ext cx="854400" cy="428100"/>
          </a:xfrm>
          <a:prstGeom prst="rect">
            <a:avLst/>
          </a:prstGeom>
          <a:noFill/>
          <a:ln cap="flat" cmpd="sng" w="2857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0"/>
          <p:cNvSpPr/>
          <p:nvPr/>
        </p:nvSpPr>
        <p:spPr>
          <a:xfrm>
            <a:off x="1241725" y="3772075"/>
            <a:ext cx="854400" cy="3699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0"/>
          <p:cNvSpPr/>
          <p:nvPr/>
        </p:nvSpPr>
        <p:spPr>
          <a:xfrm>
            <a:off x="1241725" y="4573700"/>
            <a:ext cx="854400" cy="369900"/>
          </a:xfrm>
          <a:prstGeom prst="rect">
            <a:avLst/>
          </a:prstGeom>
          <a:noFill/>
          <a:ln cap="flat" cmpd="sng" w="2857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0"/>
          <p:cNvSpPr txBox="1"/>
          <p:nvPr/>
        </p:nvSpPr>
        <p:spPr>
          <a:xfrm>
            <a:off x="3440700" y="898825"/>
            <a:ext cx="2262600" cy="428100"/>
          </a:xfrm>
          <a:prstGeom prst="rect">
            <a:avLst/>
          </a:prstGeom>
          <a:noFill/>
          <a:ln cap="flat" cmpd="sng" w="28575">
            <a:solidFill>
              <a:srgbClr val="6AA84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6AA84F"/>
                </a:solidFill>
              </a:rPr>
              <a:t>Timer 14</a:t>
            </a:r>
            <a:endParaRPr>
              <a:solidFill>
                <a:srgbClr val="6AA84F"/>
              </a:solidFill>
            </a:endParaRPr>
          </a:p>
        </p:txBody>
      </p:sp>
      <p:sp>
        <p:nvSpPr>
          <p:cNvPr id="453" name="Google Shape;453;p50"/>
          <p:cNvSpPr txBox="1"/>
          <p:nvPr/>
        </p:nvSpPr>
        <p:spPr>
          <a:xfrm>
            <a:off x="6151700" y="1055025"/>
            <a:ext cx="275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EA9999"/>
                </a:solidFill>
              </a:rPr>
              <a:t>Counter Enable (start it)</a:t>
            </a:r>
            <a:endParaRPr sz="1800">
              <a:solidFill>
                <a:srgbClr val="EA9999"/>
              </a:solidFill>
            </a:endParaRPr>
          </a:p>
        </p:txBody>
      </p:sp>
      <p:cxnSp>
        <p:nvCxnSpPr>
          <p:cNvPr id="454" name="Google Shape;454;p50"/>
          <p:cNvCxnSpPr>
            <a:stCxn id="453" idx="2"/>
            <a:endCxn id="446" idx="1"/>
          </p:cNvCxnSpPr>
          <p:nvPr/>
        </p:nvCxnSpPr>
        <p:spPr>
          <a:xfrm>
            <a:off x="7528400" y="1516725"/>
            <a:ext cx="998400" cy="1053600"/>
          </a:xfrm>
          <a:prstGeom prst="straightConnector1">
            <a:avLst/>
          </a:prstGeom>
          <a:noFill/>
          <a:ln cap="flat" cmpd="sng" w="19050">
            <a:solidFill>
              <a:srgbClr val="F4CCCC"/>
            </a:solidFill>
            <a:prstDash val="solid"/>
            <a:round/>
            <a:headEnd len="med" w="med" type="none"/>
            <a:tailEnd len="med" w="med" type="triangle"/>
          </a:ln>
        </p:spPr>
      </p:cxnSp>
      <p:sp>
        <p:nvSpPr>
          <p:cNvPr id="455" name="Google Shape;455;p50"/>
          <p:cNvSpPr txBox="1"/>
          <p:nvPr/>
        </p:nvSpPr>
        <p:spPr>
          <a:xfrm>
            <a:off x="428625" y="5591775"/>
            <a:ext cx="4052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Update Interrupt Enable (interrupt whenever counter updates to 0 after reaching auto-reset value)</a:t>
            </a:r>
            <a:endParaRPr b="1" sz="1800">
              <a:solidFill>
                <a:srgbClr val="FF0000"/>
              </a:solidFill>
            </a:endParaRPr>
          </a:p>
        </p:txBody>
      </p:sp>
      <p:cxnSp>
        <p:nvCxnSpPr>
          <p:cNvPr id="456" name="Google Shape;456;p50"/>
          <p:cNvCxnSpPr>
            <a:stCxn id="455" idx="0"/>
            <a:endCxn id="447" idx="1"/>
          </p:cNvCxnSpPr>
          <p:nvPr/>
        </p:nvCxnSpPr>
        <p:spPr>
          <a:xfrm flipH="1" rot="10800000">
            <a:off x="2454825" y="3962175"/>
            <a:ext cx="6072000" cy="1629600"/>
          </a:xfrm>
          <a:prstGeom prst="straightConnector1">
            <a:avLst/>
          </a:prstGeom>
          <a:noFill/>
          <a:ln cap="flat" cmpd="sng" w="19050">
            <a:solidFill>
              <a:srgbClr val="FF0000"/>
            </a:solidFill>
            <a:prstDash val="solid"/>
            <a:round/>
            <a:headEnd len="med" w="med" type="none"/>
            <a:tailEnd len="med" w="med" type="triangle"/>
          </a:ln>
        </p:spPr>
      </p:cxnSp>
      <p:sp>
        <p:nvSpPr>
          <p:cNvPr id="457" name="Google Shape;457;p50"/>
          <p:cNvSpPr txBox="1"/>
          <p:nvPr/>
        </p:nvSpPr>
        <p:spPr>
          <a:xfrm>
            <a:off x="4739075" y="5591775"/>
            <a:ext cx="4344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EA9999"/>
                </a:solidFill>
              </a:rPr>
              <a:t>Update Interrupt Flag (set by hardware whenever counter updates to 0 after reaching auto-reset value). Your responsibility to clear.</a:t>
            </a:r>
            <a:endParaRPr sz="1800">
              <a:solidFill>
                <a:srgbClr val="EA9999"/>
              </a:solidFill>
            </a:endParaRPr>
          </a:p>
        </p:txBody>
      </p:sp>
      <p:cxnSp>
        <p:nvCxnSpPr>
          <p:cNvPr id="458" name="Google Shape;458;p50"/>
          <p:cNvCxnSpPr>
            <a:stCxn id="457" idx="0"/>
            <a:endCxn id="448" idx="1"/>
          </p:cNvCxnSpPr>
          <p:nvPr/>
        </p:nvCxnSpPr>
        <p:spPr>
          <a:xfrm flipH="1" rot="10800000">
            <a:off x="6911525" y="4745475"/>
            <a:ext cx="1615200" cy="846300"/>
          </a:xfrm>
          <a:prstGeom prst="straightConnector1">
            <a:avLst/>
          </a:prstGeom>
          <a:noFill/>
          <a:ln cap="flat" cmpd="sng" w="19050">
            <a:solidFill>
              <a:srgbClr val="F4CCCC"/>
            </a:solidFill>
            <a:prstDash val="solid"/>
            <a:round/>
            <a:headEnd len="med" w="med" type="none"/>
            <a:tailEnd len="med" w="med" type="triangle"/>
          </a:ln>
        </p:spPr>
      </p:cxnSp>
      <p:sp>
        <p:nvSpPr>
          <p:cNvPr id="459" name="Google Shape;459;p50"/>
          <p:cNvSpPr/>
          <p:nvPr/>
        </p:nvSpPr>
        <p:spPr>
          <a:xfrm>
            <a:off x="493075" y="3670017"/>
            <a:ext cx="8347500" cy="8463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1"/>
          <p:cNvSpPr txBox="1"/>
          <p:nvPr>
            <p:ph type="title"/>
          </p:nvPr>
        </p:nvSpPr>
        <p:spPr>
          <a:xfrm>
            <a:off x="311700" y="84429"/>
            <a:ext cx="8520600" cy="10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the NVIC to enable interrupts from Timer 14: CMSIS function </a:t>
            </a:r>
            <a:r>
              <a:rPr b="1" lang="en"/>
              <a:t>NVIC_EnableIRQ()</a:t>
            </a:r>
            <a:endParaRPr b="1"/>
          </a:p>
        </p:txBody>
      </p:sp>
      <p:sp>
        <p:nvSpPr>
          <p:cNvPr id="465" name="Google Shape;465;p51"/>
          <p:cNvSpPr txBox="1"/>
          <p:nvPr>
            <p:ph idx="1" type="body"/>
          </p:nvPr>
        </p:nvSpPr>
        <p:spPr>
          <a:xfrm>
            <a:off x="311700" y="1177025"/>
            <a:ext cx="8520600" cy="10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CMSIS = Common Microcontroller Software Interface Standard</a:t>
            </a:r>
            <a:endParaRPr/>
          </a:p>
          <a:p>
            <a:pPr indent="0" lvl="0" marL="0" rtl="0" algn="l">
              <a:spcBef>
                <a:spcPts val="1600"/>
              </a:spcBef>
              <a:spcAft>
                <a:spcPts val="1600"/>
              </a:spcAft>
              <a:buNone/>
            </a:pPr>
            <a:r>
              <a:rPr lang="en"/>
              <a:t>Prototype: </a:t>
            </a:r>
            <a:r>
              <a:rPr b="1" lang="en">
                <a:solidFill>
                  <a:srgbClr val="0000FF"/>
                </a:solidFill>
                <a:latin typeface="Courier New"/>
                <a:ea typeface="Courier New"/>
                <a:cs typeface="Courier New"/>
                <a:sym typeface="Courier New"/>
              </a:rPr>
              <a:t>void NVIC_EnableIRQ(IRQn_Type IRQn);</a:t>
            </a:r>
            <a:endParaRPr b="1">
              <a:solidFill>
                <a:srgbClr val="0000FF"/>
              </a:solidFill>
            </a:endParaRPr>
          </a:p>
        </p:txBody>
      </p:sp>
      <p:pic>
        <p:nvPicPr>
          <p:cNvPr id="466" name="Google Shape;466;p51"/>
          <p:cNvPicPr preferRelativeResize="0"/>
          <p:nvPr/>
        </p:nvPicPr>
        <p:blipFill rotWithShape="1">
          <a:blip r:embed="rId3">
            <a:alphaModFix/>
          </a:blip>
          <a:srcRect b="41038" l="0" r="0" t="0"/>
          <a:stretch/>
        </p:blipFill>
        <p:spPr>
          <a:xfrm>
            <a:off x="993575" y="2161575"/>
            <a:ext cx="6566475" cy="2236750"/>
          </a:xfrm>
          <a:prstGeom prst="rect">
            <a:avLst/>
          </a:prstGeom>
          <a:noFill/>
          <a:ln>
            <a:noFill/>
          </a:ln>
        </p:spPr>
      </p:pic>
      <p:sp>
        <p:nvSpPr>
          <p:cNvPr id="467" name="Google Shape;467;p51"/>
          <p:cNvSpPr txBox="1"/>
          <p:nvPr/>
        </p:nvSpPr>
        <p:spPr>
          <a:xfrm>
            <a:off x="1189050" y="6210650"/>
            <a:ext cx="765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8C00"/>
                </a:solidFill>
                <a:latin typeface="Courier New"/>
                <a:ea typeface="Courier New"/>
                <a:cs typeface="Courier New"/>
                <a:sym typeface="Courier New"/>
              </a:rPr>
              <a:t>NVIC_EnableIRQ(TIM14_IRQn);</a:t>
            </a:r>
            <a:endParaRPr b="1" sz="1800">
              <a:solidFill>
                <a:srgbClr val="008C00"/>
              </a:solidFill>
              <a:latin typeface="Courier New"/>
              <a:ea typeface="Courier New"/>
              <a:cs typeface="Courier New"/>
              <a:sym typeface="Courier New"/>
            </a:endParaRPr>
          </a:p>
        </p:txBody>
      </p:sp>
      <p:pic>
        <p:nvPicPr>
          <p:cNvPr id="468" name="Google Shape;468;p51" title="Screenshot 2026-02-07 at 2.43.14 PM.png"/>
          <p:cNvPicPr preferRelativeResize="0"/>
          <p:nvPr/>
        </p:nvPicPr>
        <p:blipFill rotWithShape="1">
          <a:blip r:embed="rId4">
            <a:alphaModFix/>
          </a:blip>
          <a:srcRect b="0" l="0" r="0" t="4571"/>
          <a:stretch/>
        </p:blipFill>
        <p:spPr>
          <a:xfrm>
            <a:off x="1076550" y="4594887"/>
            <a:ext cx="6375200" cy="1441163"/>
          </a:xfrm>
          <a:prstGeom prst="rect">
            <a:avLst/>
          </a:prstGeom>
          <a:noFill/>
          <a:ln>
            <a:noFill/>
          </a:ln>
        </p:spPr>
      </p:pic>
      <p:sp>
        <p:nvSpPr>
          <p:cNvPr id="469" name="Google Shape;469;p51"/>
          <p:cNvSpPr txBox="1"/>
          <p:nvPr/>
        </p:nvSpPr>
        <p:spPr>
          <a:xfrm>
            <a:off x="3894950" y="4028442"/>
            <a:ext cx="649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00">
                <a:solidFill>
                  <a:schemeClr val="dk2"/>
                </a:solidFill>
              </a:rPr>
              <a:t>…</a:t>
            </a:r>
            <a:endParaRPr b="1" sz="3400">
              <a:solidFill>
                <a:schemeClr val="dk2"/>
              </a:solidFill>
            </a:endParaRPr>
          </a:p>
        </p:txBody>
      </p:sp>
      <p:sp>
        <p:nvSpPr>
          <p:cNvPr id="470" name="Google Shape;470;p51"/>
          <p:cNvSpPr/>
          <p:nvPr/>
        </p:nvSpPr>
        <p:spPr>
          <a:xfrm>
            <a:off x="1075975" y="4594875"/>
            <a:ext cx="6401700" cy="3246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2"/>
          <p:cNvSpPr txBox="1"/>
          <p:nvPr>
            <p:ph type="title"/>
          </p:nvPr>
        </p:nvSpPr>
        <p:spPr>
          <a:xfrm>
            <a:off x="311700" y="181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Complete Timer Configuration:</a:t>
            </a:r>
            <a:endParaRPr/>
          </a:p>
        </p:txBody>
      </p:sp>
      <p:sp>
        <p:nvSpPr>
          <p:cNvPr id="476" name="Google Shape;476;p52"/>
          <p:cNvSpPr txBox="1"/>
          <p:nvPr>
            <p:ph idx="1" type="body"/>
          </p:nvPr>
        </p:nvSpPr>
        <p:spPr>
          <a:xfrm>
            <a:off x="311700" y="1163200"/>
            <a:ext cx="8520600" cy="51132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400">
                <a:solidFill>
                  <a:srgbClr val="7F0055"/>
                </a:solidFill>
                <a:highlight>
                  <a:srgbClr val="FFFFFF"/>
                </a:highlight>
                <a:latin typeface="Courier New"/>
                <a:ea typeface="Courier New"/>
                <a:cs typeface="Courier New"/>
                <a:sym typeface="Courier New"/>
              </a:rPr>
              <a:t>void</a:t>
            </a:r>
            <a:r>
              <a:rPr b="1" lang="en" sz="1400">
                <a:solidFill>
                  <a:schemeClr val="dk1"/>
                </a:solidFill>
                <a:highlight>
                  <a:srgbClr val="FFFFFF"/>
                </a:highlight>
                <a:latin typeface="Courier New"/>
                <a:ea typeface="Courier New"/>
                <a:cs typeface="Courier New"/>
                <a:sym typeface="Courier New"/>
              </a:rPr>
              <a:t> tim14_500ms_interrupt_init() {</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3F7F5F"/>
                </a:solidFill>
                <a:highlight>
                  <a:srgbClr val="FFFFFF"/>
                </a:highlight>
                <a:latin typeface="Courier New"/>
                <a:ea typeface="Courier New"/>
                <a:cs typeface="Courier New"/>
                <a:sym typeface="Courier New"/>
              </a:rPr>
              <a:t>// disable global interrupt</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__disable_irq();</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3F7F5F"/>
                </a:solidFill>
                <a:highlight>
                  <a:srgbClr val="FFFFFF"/>
                </a:highlight>
                <a:latin typeface="Courier New"/>
                <a:ea typeface="Courier New"/>
                <a:cs typeface="Courier New"/>
                <a:sym typeface="Courier New"/>
              </a:rPr>
              <a:t>// enable clock access to timer 14 (on APB bus)</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RCC-&gt;</a:t>
            </a:r>
            <a:r>
              <a:rPr b="1" lang="en" sz="1400">
                <a:solidFill>
                  <a:srgbClr val="0000C0"/>
                </a:solidFill>
                <a:highlight>
                  <a:srgbClr val="FFFFFF"/>
                </a:highlight>
                <a:latin typeface="Courier New"/>
                <a:ea typeface="Courier New"/>
                <a:cs typeface="Courier New"/>
                <a:sym typeface="Courier New"/>
              </a:rPr>
              <a:t>APBENR2</a:t>
            </a:r>
            <a:r>
              <a:rPr b="1" lang="en" sz="1400">
                <a:solidFill>
                  <a:schemeClr val="dk1"/>
                </a:solidFill>
                <a:highlight>
                  <a:srgbClr val="FFFFFF"/>
                </a:highlight>
                <a:latin typeface="Courier New"/>
                <a:ea typeface="Courier New"/>
                <a:cs typeface="Courier New"/>
                <a:sym typeface="Courier New"/>
              </a:rPr>
              <a:t> |= RCC_APBENR2_TIM14EN;</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3F7F5F"/>
                </a:solidFill>
                <a:highlight>
                  <a:srgbClr val="FFFFFF"/>
                </a:highlight>
                <a:latin typeface="Courier New"/>
                <a:ea typeface="Courier New"/>
                <a:cs typeface="Courier New"/>
                <a:sym typeface="Courier New"/>
              </a:rPr>
              <a:t>// Set </a:t>
            </a:r>
            <a:r>
              <a:rPr b="1" lang="en" sz="1400" u="sng">
                <a:solidFill>
                  <a:srgbClr val="3F7F5F"/>
                </a:solidFill>
                <a:highlight>
                  <a:srgbClr val="FFFFFF"/>
                </a:highlight>
                <a:latin typeface="Courier New"/>
                <a:ea typeface="Courier New"/>
                <a:cs typeface="Courier New"/>
                <a:sym typeface="Courier New"/>
              </a:rPr>
              <a:t>prescaler</a:t>
            </a:r>
            <a:r>
              <a:rPr b="1" lang="en" sz="1400">
                <a:solidFill>
                  <a:srgbClr val="3F7F5F"/>
                </a:solidFill>
                <a:highlight>
                  <a:srgbClr val="FFFFFF"/>
                </a:highlight>
                <a:latin typeface="Courier New"/>
                <a:ea typeface="Courier New"/>
                <a:cs typeface="Courier New"/>
                <a:sym typeface="Courier New"/>
              </a:rPr>
              <a:t> value</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TIM14-&gt;</a:t>
            </a:r>
            <a:r>
              <a:rPr b="1" lang="en" sz="1400">
                <a:solidFill>
                  <a:srgbClr val="0000C0"/>
                </a:solidFill>
                <a:highlight>
                  <a:srgbClr val="FFFFFF"/>
                </a:highlight>
                <a:latin typeface="Courier New"/>
                <a:ea typeface="Courier New"/>
                <a:cs typeface="Courier New"/>
                <a:sym typeface="Courier New"/>
              </a:rPr>
              <a:t>PSC</a:t>
            </a:r>
            <a:r>
              <a:rPr b="1" lang="en" sz="1400">
                <a:solidFill>
                  <a:schemeClr val="dk1"/>
                </a:solidFill>
                <a:highlight>
                  <a:srgbClr val="FFFFFF"/>
                </a:highlight>
                <a:latin typeface="Courier New"/>
                <a:ea typeface="Courier New"/>
                <a:cs typeface="Courier New"/>
                <a:sym typeface="Courier New"/>
              </a:rPr>
              <a:t> = PSC_FACTOR - 1; </a:t>
            </a:r>
            <a:r>
              <a:rPr b="1" lang="en" sz="1400">
                <a:solidFill>
                  <a:srgbClr val="3F7F5F"/>
                </a:solidFill>
                <a:highlight>
                  <a:srgbClr val="FFFFFF"/>
                </a:highlight>
                <a:latin typeface="Courier New"/>
                <a:ea typeface="Courier New"/>
                <a:cs typeface="Courier New"/>
                <a:sym typeface="Courier New"/>
              </a:rPr>
              <a:t>// starts counting at 0</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3F7F5F"/>
                </a:solidFill>
                <a:highlight>
                  <a:srgbClr val="FFFFFF"/>
                </a:highlight>
                <a:latin typeface="Courier New"/>
                <a:ea typeface="Courier New"/>
                <a:cs typeface="Courier New"/>
                <a:sym typeface="Courier New"/>
              </a:rPr>
              <a:t>// Set auto-reload value</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TIM14-&gt;</a:t>
            </a:r>
            <a:r>
              <a:rPr b="1" lang="en" sz="1400">
                <a:solidFill>
                  <a:srgbClr val="0000C0"/>
                </a:solidFill>
                <a:highlight>
                  <a:srgbClr val="FFFFFF"/>
                </a:highlight>
                <a:latin typeface="Courier New"/>
                <a:ea typeface="Courier New"/>
                <a:cs typeface="Courier New"/>
                <a:sym typeface="Courier New"/>
              </a:rPr>
              <a:t>ARR</a:t>
            </a:r>
            <a:r>
              <a:rPr b="1" lang="en" sz="1400">
                <a:solidFill>
                  <a:schemeClr val="dk1"/>
                </a:solidFill>
                <a:highlight>
                  <a:srgbClr val="FFFFFF"/>
                </a:highlight>
                <a:latin typeface="Courier New"/>
                <a:ea typeface="Courier New"/>
                <a:cs typeface="Courier New"/>
                <a:sym typeface="Courier New"/>
              </a:rPr>
              <a:t> = ARR_FACTOR - 1;</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3F7F5F"/>
                </a:solidFill>
                <a:highlight>
                  <a:srgbClr val="FFFFFF"/>
                </a:highlight>
                <a:latin typeface="Courier New"/>
                <a:ea typeface="Courier New"/>
                <a:cs typeface="Courier New"/>
                <a:sym typeface="Courier New"/>
              </a:rPr>
              <a:t>// Clear counter</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TIM14-&gt;</a:t>
            </a:r>
            <a:r>
              <a:rPr b="1" lang="en" sz="1400">
                <a:solidFill>
                  <a:srgbClr val="0000C0"/>
                </a:solidFill>
                <a:highlight>
                  <a:srgbClr val="FFFFFF"/>
                </a:highlight>
                <a:latin typeface="Courier New"/>
                <a:ea typeface="Courier New"/>
                <a:cs typeface="Courier New"/>
                <a:sym typeface="Courier New"/>
              </a:rPr>
              <a:t>CNT</a:t>
            </a:r>
            <a:r>
              <a:rPr b="1" lang="en" sz="1400">
                <a:solidFill>
                  <a:schemeClr val="dk1"/>
                </a:solidFill>
                <a:highlight>
                  <a:srgbClr val="FFFFFF"/>
                </a:highlight>
                <a:latin typeface="Courier New"/>
                <a:ea typeface="Courier New"/>
                <a:cs typeface="Courier New"/>
                <a:sym typeface="Courier New"/>
              </a:rPr>
              <a:t> = 0;</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3F7F5F"/>
                </a:solidFill>
                <a:highlight>
                  <a:srgbClr val="FFFFFF"/>
                </a:highlight>
                <a:latin typeface="Courier New"/>
                <a:ea typeface="Courier New"/>
                <a:cs typeface="Courier New"/>
                <a:sym typeface="Courier New"/>
              </a:rPr>
              <a:t>// Enable update interrupt</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TIM14-&gt;</a:t>
            </a:r>
            <a:r>
              <a:rPr b="1" lang="en" sz="1400">
                <a:solidFill>
                  <a:srgbClr val="0000C0"/>
                </a:solidFill>
                <a:highlight>
                  <a:srgbClr val="FFFFFF"/>
                </a:highlight>
                <a:latin typeface="Courier New"/>
                <a:ea typeface="Courier New"/>
                <a:cs typeface="Courier New"/>
                <a:sym typeface="Courier New"/>
              </a:rPr>
              <a:t>DIER</a:t>
            </a:r>
            <a:r>
              <a:rPr b="1" lang="en" sz="1400">
                <a:solidFill>
                  <a:schemeClr val="dk1"/>
                </a:solidFill>
                <a:highlight>
                  <a:srgbClr val="FFFFFF"/>
                </a:highlight>
                <a:latin typeface="Courier New"/>
                <a:ea typeface="Courier New"/>
                <a:cs typeface="Courier New"/>
                <a:sym typeface="Courier New"/>
              </a:rPr>
              <a:t> |= TIM_DIER_UIE;</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3F7F5F"/>
                </a:solidFill>
                <a:highlight>
                  <a:srgbClr val="FFFFFF"/>
                </a:highlight>
                <a:latin typeface="Courier New"/>
                <a:ea typeface="Courier New"/>
                <a:cs typeface="Courier New"/>
                <a:sym typeface="Courier New"/>
              </a:rPr>
              <a:t>// Enable timer interrupt in NVIC</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NVIC_EnableIRQ(</a:t>
            </a:r>
            <a:r>
              <a:rPr b="1" i="1" lang="en" sz="1400">
                <a:solidFill>
                  <a:srgbClr val="0000C0"/>
                </a:solidFill>
                <a:highlight>
                  <a:srgbClr val="FFFFFF"/>
                </a:highlight>
                <a:latin typeface="Courier New"/>
                <a:ea typeface="Courier New"/>
                <a:cs typeface="Courier New"/>
                <a:sym typeface="Courier New"/>
              </a:rPr>
              <a:t>TIM14_IRQn</a:t>
            </a:r>
            <a:r>
              <a:rPr b="1" lang="en" sz="1400">
                <a:solidFill>
                  <a:schemeClr val="dk1"/>
                </a:solidFill>
                <a:highlight>
                  <a:srgbClr val="FFFFFF"/>
                </a:highlight>
                <a:latin typeface="Courier New"/>
                <a:ea typeface="Courier New"/>
                <a:cs typeface="Courier New"/>
                <a:sym typeface="Courier New"/>
              </a:rPr>
              <a:t>);</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3F7F5F"/>
                </a:solidFill>
                <a:highlight>
                  <a:srgbClr val="FFFFFF"/>
                </a:highlight>
                <a:latin typeface="Courier New"/>
                <a:ea typeface="Courier New"/>
                <a:cs typeface="Courier New"/>
                <a:sym typeface="Courier New"/>
              </a:rPr>
              <a:t>// Enable timer</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TIM14-&gt;</a:t>
            </a:r>
            <a:r>
              <a:rPr b="1" lang="en" sz="1400">
                <a:solidFill>
                  <a:srgbClr val="0000C0"/>
                </a:solidFill>
                <a:highlight>
                  <a:srgbClr val="FFFFFF"/>
                </a:highlight>
                <a:latin typeface="Courier New"/>
                <a:ea typeface="Courier New"/>
                <a:cs typeface="Courier New"/>
                <a:sym typeface="Courier New"/>
              </a:rPr>
              <a:t>CR1</a:t>
            </a:r>
            <a:r>
              <a:rPr b="1" lang="en" sz="1400">
                <a:solidFill>
                  <a:schemeClr val="dk1"/>
                </a:solidFill>
                <a:highlight>
                  <a:srgbClr val="FFFFFF"/>
                </a:highlight>
                <a:latin typeface="Courier New"/>
                <a:ea typeface="Courier New"/>
                <a:cs typeface="Courier New"/>
                <a:sym typeface="Courier New"/>
              </a:rPr>
              <a:t> |= TIM_CR1_CEN;</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3F7F5F"/>
                </a:solidFill>
                <a:highlight>
                  <a:srgbClr val="FFFFFF"/>
                </a:highlight>
                <a:latin typeface="Courier New"/>
                <a:ea typeface="Courier New"/>
                <a:cs typeface="Courier New"/>
                <a:sym typeface="Courier New"/>
              </a:rPr>
              <a:t>// Enable global interrupts</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__enable_irq();</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a:t>
            </a:r>
            <a:endParaRPr b="1" sz="14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1600"/>
              </a:spcAft>
              <a:buNone/>
            </a:pPr>
            <a:r>
              <a:t/>
            </a:r>
            <a:endParaRPr/>
          </a:p>
        </p:txBody>
      </p:sp>
      <p:sp>
        <p:nvSpPr>
          <p:cNvPr id="477" name="Google Shape;477;p52"/>
          <p:cNvSpPr/>
          <p:nvPr/>
        </p:nvSpPr>
        <p:spPr>
          <a:xfrm>
            <a:off x="617950" y="3950025"/>
            <a:ext cx="3954000" cy="10419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3"/>
          <p:cNvSpPr txBox="1"/>
          <p:nvPr>
            <p:ph type="title"/>
          </p:nvPr>
        </p:nvSpPr>
        <p:spPr>
          <a:xfrm>
            <a:off x="146725" y="177025"/>
            <a:ext cx="83568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 an </a:t>
            </a:r>
            <a:r>
              <a:rPr lang="en"/>
              <a:t>Interrupt Service Routine (ISR)</a:t>
            </a:r>
            <a:endParaRPr/>
          </a:p>
        </p:txBody>
      </p:sp>
      <p:sp>
        <p:nvSpPr>
          <p:cNvPr id="483" name="Google Shape;483;p53"/>
          <p:cNvSpPr txBox="1"/>
          <p:nvPr/>
        </p:nvSpPr>
        <p:spPr>
          <a:xfrm>
            <a:off x="371175" y="832450"/>
            <a:ext cx="8229300" cy="1221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ISRs have special names (must get this right!)  </a:t>
            </a:r>
            <a:endParaRPr sz="1600"/>
          </a:p>
          <a:p>
            <a:pPr indent="-330200" lvl="0" marL="457200" rtl="0" algn="l">
              <a:spcBef>
                <a:spcPts val="0"/>
              </a:spcBef>
              <a:spcAft>
                <a:spcPts val="0"/>
              </a:spcAft>
              <a:buSzPts val="1600"/>
              <a:buChar char="●"/>
            </a:pPr>
            <a:r>
              <a:rPr lang="en" sz="1600">
                <a:solidFill>
                  <a:schemeClr val="dk1"/>
                </a:solidFill>
              </a:rPr>
              <a:t>No values may be returned.</a:t>
            </a:r>
            <a:endParaRPr sz="1600">
              <a:solidFill>
                <a:schemeClr val="dk1"/>
              </a:solidFill>
            </a:endParaRPr>
          </a:p>
          <a:p>
            <a:pPr indent="-330200" lvl="0" marL="457200" rtl="0" algn="l">
              <a:spcBef>
                <a:spcPts val="0"/>
              </a:spcBef>
              <a:spcAft>
                <a:spcPts val="0"/>
              </a:spcAft>
              <a:buSzPts val="1600"/>
              <a:buChar char="●"/>
            </a:pPr>
            <a:r>
              <a:rPr lang="en" sz="1600"/>
              <a:t>No arguments may be passed in.</a:t>
            </a:r>
            <a:endParaRPr sz="1600"/>
          </a:p>
          <a:p>
            <a:pPr indent="-330200" lvl="0" marL="457200" rtl="0" algn="l">
              <a:spcBef>
                <a:spcPts val="0"/>
              </a:spcBef>
              <a:spcAft>
                <a:spcPts val="0"/>
              </a:spcAft>
              <a:buSzPts val="1600"/>
              <a:buChar char="●"/>
            </a:pPr>
            <a:r>
              <a:rPr lang="en" sz="1600"/>
              <a:t>The actual code inside the ISR is simple.  Don’t hang out in an ISR!</a:t>
            </a:r>
            <a:endParaRPr sz="1600">
              <a:latin typeface="Courier New"/>
              <a:ea typeface="Courier New"/>
              <a:cs typeface="Courier New"/>
              <a:sym typeface="Courier New"/>
            </a:endParaRPr>
          </a:p>
          <a:p>
            <a:pPr indent="0" lvl="0" marL="0" rtl="0" algn="l">
              <a:spcBef>
                <a:spcPts val="0"/>
              </a:spcBef>
              <a:spcAft>
                <a:spcPts val="0"/>
              </a:spcAft>
              <a:buNone/>
            </a:pPr>
            <a:r>
              <a:t/>
            </a:r>
            <a:endParaRPr sz="1600">
              <a:latin typeface="Courier New"/>
              <a:ea typeface="Courier New"/>
              <a:cs typeface="Courier New"/>
              <a:sym typeface="Courier New"/>
            </a:endParaRPr>
          </a:p>
        </p:txBody>
      </p:sp>
      <p:graphicFrame>
        <p:nvGraphicFramePr>
          <p:cNvPr id="484" name="Google Shape;484;p53"/>
          <p:cNvGraphicFramePr/>
          <p:nvPr/>
        </p:nvGraphicFramePr>
        <p:xfrm>
          <a:off x="479300" y="2053750"/>
          <a:ext cx="3000000" cy="3000000"/>
        </p:xfrm>
        <a:graphic>
          <a:graphicData uri="http://schemas.openxmlformats.org/drawingml/2006/table">
            <a:tbl>
              <a:tblPr>
                <a:noFill/>
                <a:tableStyleId>{E5BD56B2-36C9-4701-B58B-BE0416E132BA}</a:tableStyleId>
              </a:tblPr>
              <a:tblGrid>
                <a:gridCol w="802075"/>
                <a:gridCol w="1522700"/>
                <a:gridCol w="2567600"/>
                <a:gridCol w="2591625"/>
              </a:tblGrid>
              <a:tr h="381000">
                <a:tc>
                  <a:txBody>
                    <a:bodyPr/>
                    <a:lstStyle/>
                    <a:p>
                      <a:pPr indent="0" lvl="0" marL="0" rtl="0" algn="l">
                        <a:spcBef>
                          <a:spcPts val="0"/>
                        </a:spcBef>
                        <a:spcAft>
                          <a:spcPts val="0"/>
                        </a:spcAft>
                        <a:buNone/>
                      </a:pPr>
                      <a:r>
                        <a:rPr lang="en"/>
                        <a:t>Priority</a:t>
                      </a:r>
                      <a:endParaRPr/>
                    </a:p>
                  </a:txBody>
                  <a:tcPr marT="91425" marB="91425" marR="91425" marL="91425"/>
                </a:tc>
                <a:tc>
                  <a:txBody>
                    <a:bodyPr/>
                    <a:lstStyle/>
                    <a:p>
                      <a:pPr indent="0" lvl="0" marL="0" rtl="0" algn="l">
                        <a:spcBef>
                          <a:spcPts val="0"/>
                        </a:spcBef>
                        <a:spcAft>
                          <a:spcPts val="0"/>
                        </a:spcAft>
                        <a:buNone/>
                      </a:pPr>
                      <a:r>
                        <a:rPr lang="en"/>
                        <a:t>Interrupt Name</a:t>
                      </a:r>
                      <a:endParaRPr/>
                    </a:p>
                  </a:txBody>
                  <a:tcPr marT="91425" marB="91425" marR="91425" marL="91425"/>
                </a:tc>
                <a:tc>
                  <a:txBody>
                    <a:bodyPr/>
                    <a:lstStyle/>
                    <a:p>
                      <a:pPr indent="0" lvl="0" marL="0" rtl="0" algn="l">
                        <a:spcBef>
                          <a:spcPts val="0"/>
                        </a:spcBef>
                        <a:spcAft>
                          <a:spcPts val="0"/>
                        </a:spcAft>
                        <a:buNone/>
                      </a:pPr>
                      <a:r>
                        <a:rPr lang="en"/>
                        <a:t>Description</a:t>
                      </a:r>
                      <a:endParaRPr/>
                    </a:p>
                  </a:txBody>
                  <a:tcPr marT="91425" marB="91425" marR="91425" marL="91425"/>
                </a:tc>
                <a:tc>
                  <a:txBody>
                    <a:bodyPr/>
                    <a:lstStyle/>
                    <a:p>
                      <a:pPr indent="0" lvl="0" marL="0" rtl="0" algn="l">
                        <a:spcBef>
                          <a:spcPts val="0"/>
                        </a:spcBef>
                        <a:spcAft>
                          <a:spcPts val="0"/>
                        </a:spcAft>
                        <a:buNone/>
                      </a:pPr>
                      <a:r>
                        <a:rPr lang="en"/>
                        <a:t>IRQ Handler</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12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EXTI0_1_IRQn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EXTI line 0 &amp; 1 interrupt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EXTI0_1_IRQHandler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13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EXTI2_3_IRQn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000000"/>
                          </a:solidFill>
                        </a:rPr>
                        <a:t>EXTI line 2 &amp; 3 interrupt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EXTI2_3_IRQHandler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14</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t>EXTI4_</a:t>
                      </a:r>
                      <a:r>
                        <a:rPr lang="en">
                          <a:solidFill>
                            <a:schemeClr val="dk1"/>
                          </a:solidFill>
                        </a:rPr>
                        <a:t>15</a:t>
                      </a:r>
                      <a:r>
                        <a:rPr lang="en"/>
                        <a:t>_IRQn</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solidFill>
                            <a:schemeClr val="dk1"/>
                          </a:solidFill>
                        </a:rPr>
                        <a:t>EXTI line 4 to 15 interrupt</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t>EXTI4_1</a:t>
                      </a:r>
                      <a:r>
                        <a:rPr lang="en">
                          <a:solidFill>
                            <a:schemeClr val="dk1"/>
                          </a:solidFill>
                        </a:rPr>
                        <a:t>5</a:t>
                      </a:r>
                      <a:r>
                        <a:rPr lang="en"/>
                        <a:t>_IRQHandler</a:t>
                      </a:r>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19</a:t>
                      </a:r>
                      <a:endParaRPr/>
                    </a:p>
                  </a:txBody>
                  <a:tcPr marT="91425" marB="91425" marR="91425" marL="91425"/>
                </a:tc>
                <a:tc>
                  <a:txBody>
                    <a:bodyPr/>
                    <a:lstStyle/>
                    <a:p>
                      <a:pPr indent="0" lvl="0" marL="0" rtl="0" algn="l">
                        <a:spcBef>
                          <a:spcPts val="0"/>
                        </a:spcBef>
                        <a:spcAft>
                          <a:spcPts val="0"/>
                        </a:spcAft>
                        <a:buNone/>
                      </a:pPr>
                      <a:r>
                        <a:rPr lang="en"/>
                        <a:t>ADC1_IRQn</a:t>
                      </a:r>
                      <a:endParaRPr/>
                    </a:p>
                  </a:txBody>
                  <a:tcPr marT="91425" marB="91425" marR="91425" marL="91425"/>
                </a:tc>
                <a:tc>
                  <a:txBody>
                    <a:bodyPr/>
                    <a:lstStyle/>
                    <a:p>
                      <a:pPr indent="0" lvl="0" marL="0" rtl="0" algn="l">
                        <a:spcBef>
                          <a:spcPts val="0"/>
                        </a:spcBef>
                        <a:spcAft>
                          <a:spcPts val="0"/>
                        </a:spcAft>
                        <a:buNone/>
                      </a:pPr>
                      <a:r>
                        <a:rPr lang="en"/>
                        <a:t>ADC interrupt</a:t>
                      </a:r>
                      <a:endParaRPr/>
                    </a:p>
                  </a:txBody>
                  <a:tcPr marT="91425" marB="91425" marR="91425" marL="91425"/>
                </a:tc>
                <a:tc>
                  <a:txBody>
                    <a:bodyPr/>
                    <a:lstStyle/>
                    <a:p>
                      <a:pPr indent="0" lvl="0" marL="0" rtl="0" algn="l">
                        <a:spcBef>
                          <a:spcPts val="0"/>
                        </a:spcBef>
                        <a:spcAft>
                          <a:spcPts val="0"/>
                        </a:spcAft>
                        <a:buNone/>
                      </a:pPr>
                      <a:r>
                        <a:rPr lang="en"/>
                        <a:t>ADC_IRQHandler</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26</a:t>
                      </a:r>
                      <a:endParaRPr/>
                    </a:p>
                  </a:txBody>
                  <a:tcPr marT="91425" marB="91425" marR="91425" marL="91425"/>
                </a:tc>
                <a:tc>
                  <a:txBody>
                    <a:bodyPr/>
                    <a:lstStyle/>
                    <a:p>
                      <a:pPr indent="0" lvl="0" marL="0" rtl="0" algn="l">
                        <a:spcBef>
                          <a:spcPts val="0"/>
                        </a:spcBef>
                        <a:spcAft>
                          <a:spcPts val="0"/>
                        </a:spcAft>
                        <a:buNone/>
                      </a:pPr>
                      <a:r>
                        <a:rPr lang="en"/>
                        <a:t>TIM14_IRQn</a:t>
                      </a:r>
                      <a:endParaRPr/>
                    </a:p>
                  </a:txBody>
                  <a:tcPr marT="91425" marB="91425" marR="91425" marL="91425"/>
                </a:tc>
                <a:tc>
                  <a:txBody>
                    <a:bodyPr/>
                    <a:lstStyle/>
                    <a:p>
                      <a:pPr indent="0" lvl="0" marL="0" rtl="0" algn="l">
                        <a:spcBef>
                          <a:spcPts val="0"/>
                        </a:spcBef>
                        <a:spcAft>
                          <a:spcPts val="0"/>
                        </a:spcAft>
                        <a:buNone/>
                      </a:pPr>
                      <a:r>
                        <a:rPr lang="en"/>
                        <a:t>Timer 14 Interrupt</a:t>
                      </a:r>
                      <a:endParaRPr/>
                    </a:p>
                  </a:txBody>
                  <a:tcPr marT="91425" marB="91425" marR="91425" marL="91425"/>
                </a:tc>
                <a:tc>
                  <a:txBody>
                    <a:bodyPr/>
                    <a:lstStyle/>
                    <a:p>
                      <a:pPr indent="0" lvl="0" marL="0" rtl="0" algn="l">
                        <a:spcBef>
                          <a:spcPts val="0"/>
                        </a:spcBef>
                        <a:spcAft>
                          <a:spcPts val="0"/>
                        </a:spcAft>
                        <a:buNone/>
                      </a:pPr>
                      <a:r>
                        <a:rPr lang="en"/>
                        <a:t>TIM14_IRQHandler</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35</a:t>
                      </a:r>
                      <a:endParaRPr/>
                    </a:p>
                  </a:txBody>
                  <a:tcPr marT="91425" marB="91425" marR="91425" marL="91425"/>
                </a:tc>
                <a:tc>
                  <a:txBody>
                    <a:bodyPr/>
                    <a:lstStyle/>
                    <a:p>
                      <a:pPr indent="0" lvl="0" marL="0" rtl="0" algn="l">
                        <a:spcBef>
                          <a:spcPts val="0"/>
                        </a:spcBef>
                        <a:spcAft>
                          <a:spcPts val="0"/>
                        </a:spcAft>
                        <a:buNone/>
                      </a:pPr>
                      <a:r>
                        <a:rPr lang="en"/>
                        <a:t>USART2_IRQn</a:t>
                      </a:r>
                      <a:endParaRPr/>
                    </a:p>
                  </a:txBody>
                  <a:tcPr marT="91425" marB="91425" marR="91425" marL="91425"/>
                </a:tc>
                <a:tc>
                  <a:txBody>
                    <a:bodyPr/>
                    <a:lstStyle/>
                    <a:p>
                      <a:pPr indent="0" lvl="0" marL="0" rtl="0" algn="l">
                        <a:spcBef>
                          <a:spcPts val="0"/>
                        </a:spcBef>
                        <a:spcAft>
                          <a:spcPts val="0"/>
                        </a:spcAft>
                        <a:buNone/>
                      </a:pPr>
                      <a:r>
                        <a:rPr lang="en"/>
                        <a:t>USART2 global interrupt</a:t>
                      </a:r>
                      <a:endParaRPr/>
                    </a:p>
                  </a:txBody>
                  <a:tcPr marT="91425" marB="91425" marR="91425" marL="91425"/>
                </a:tc>
                <a:tc>
                  <a:txBody>
                    <a:bodyPr/>
                    <a:lstStyle/>
                    <a:p>
                      <a:pPr indent="0" lvl="0" marL="0" rtl="0" algn="l">
                        <a:spcBef>
                          <a:spcPts val="0"/>
                        </a:spcBef>
                        <a:spcAft>
                          <a:spcPts val="0"/>
                        </a:spcAft>
                        <a:buNone/>
                      </a:pPr>
                      <a:r>
                        <a:rPr lang="en"/>
                        <a:t>USART2_IRQHandler</a:t>
                      </a:r>
                      <a:endParaRPr/>
                    </a:p>
                  </a:txBody>
                  <a:tcPr marT="91425" marB="91425" marR="91425" marL="91425"/>
                </a:tc>
              </a:tr>
            </a:tbl>
          </a:graphicData>
        </a:graphic>
      </p:graphicFrame>
      <p:sp>
        <p:nvSpPr>
          <p:cNvPr id="485" name="Google Shape;485;p53"/>
          <p:cNvSpPr/>
          <p:nvPr/>
        </p:nvSpPr>
        <p:spPr>
          <a:xfrm>
            <a:off x="1281375" y="5223350"/>
            <a:ext cx="1522800" cy="396300"/>
          </a:xfrm>
          <a:prstGeom prst="ellipse">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53"/>
          <p:cNvSpPr/>
          <p:nvPr/>
        </p:nvSpPr>
        <p:spPr>
          <a:xfrm>
            <a:off x="5371675" y="5223350"/>
            <a:ext cx="2034000" cy="396300"/>
          </a:xfrm>
          <a:prstGeom prst="ellipse">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53"/>
          <p:cNvSpPr txBox="1"/>
          <p:nvPr/>
        </p:nvSpPr>
        <p:spPr>
          <a:xfrm>
            <a:off x="6393500" y="4034750"/>
            <a:ext cx="2034000" cy="461700"/>
          </a:xfrm>
          <a:prstGeom prst="rect">
            <a:avLst/>
          </a:prstGeom>
          <a:solidFill>
            <a:schemeClr val="lt1"/>
          </a:solidFill>
          <a:ln cap="flat" cmpd="sng" w="28575">
            <a:solidFill>
              <a:srgbClr val="98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80000"/>
                </a:solidFill>
              </a:rPr>
              <a:t>Name of the ISR</a:t>
            </a:r>
            <a:endParaRPr sz="1800">
              <a:solidFill>
                <a:srgbClr val="980000"/>
              </a:solidFill>
            </a:endParaRPr>
          </a:p>
        </p:txBody>
      </p:sp>
      <p:cxnSp>
        <p:nvCxnSpPr>
          <p:cNvPr id="488" name="Google Shape;488;p53"/>
          <p:cNvCxnSpPr>
            <a:stCxn id="487" idx="2"/>
            <a:endCxn id="486" idx="0"/>
          </p:cNvCxnSpPr>
          <p:nvPr/>
        </p:nvCxnSpPr>
        <p:spPr>
          <a:xfrm flipH="1">
            <a:off x="6388700" y="4496450"/>
            <a:ext cx="1021800" cy="726900"/>
          </a:xfrm>
          <a:prstGeom prst="straightConnector1">
            <a:avLst/>
          </a:prstGeom>
          <a:noFill/>
          <a:ln cap="flat" cmpd="sng" w="28575">
            <a:solidFill>
              <a:srgbClr val="98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4"/>
          <p:cNvSpPr txBox="1"/>
          <p:nvPr>
            <p:ph type="title"/>
          </p:nvPr>
        </p:nvSpPr>
        <p:spPr>
          <a:xfrm>
            <a:off x="49700" y="69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Blinky with a timer</a:t>
            </a:r>
            <a:endParaRPr/>
          </a:p>
        </p:txBody>
      </p:sp>
      <p:sp>
        <p:nvSpPr>
          <p:cNvPr id="494" name="Google Shape;494;p54"/>
          <p:cNvSpPr txBox="1"/>
          <p:nvPr/>
        </p:nvSpPr>
        <p:spPr>
          <a:xfrm>
            <a:off x="109025" y="737725"/>
            <a:ext cx="4666500" cy="6104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&lt;stdio.h&gt;</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"ES28.h"</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LED (1U&lt;&lt;5) </a:t>
            </a:r>
            <a:r>
              <a:rPr b="1" lang="en" sz="1200">
                <a:solidFill>
                  <a:srgbClr val="3F7F5F"/>
                </a:solidFill>
                <a:highlight>
                  <a:srgbClr val="FFFFFF"/>
                </a:highlight>
                <a:latin typeface="Courier New"/>
                <a:ea typeface="Courier New"/>
                <a:cs typeface="Courier New"/>
                <a:sym typeface="Courier New"/>
              </a:rPr>
              <a:t>// blinking the on-board LED</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PSC_FACTOR 12000 </a:t>
            </a:r>
            <a:r>
              <a:rPr b="1" lang="en" sz="1200">
                <a:solidFill>
                  <a:srgbClr val="3F7F5F"/>
                </a:solidFill>
                <a:highlight>
                  <a:srgbClr val="FFFFFF"/>
                </a:highlight>
                <a:latin typeface="Courier New"/>
                <a:ea typeface="Courier New"/>
                <a:cs typeface="Courier New"/>
                <a:sym typeface="Courier New"/>
              </a:rPr>
              <a:t>// 12 MHz/12000 = 1 kHz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ARR_FACTOR 500   </a:t>
            </a:r>
            <a:r>
              <a:rPr b="1" lang="en" sz="1200">
                <a:solidFill>
                  <a:srgbClr val="3F7F5F"/>
                </a:solidFill>
                <a:highlight>
                  <a:srgbClr val="FFFFFF"/>
                </a:highlight>
                <a:latin typeface="Courier New"/>
                <a:ea typeface="Courier New"/>
                <a:cs typeface="Courier New"/>
                <a:sym typeface="Courier New"/>
              </a:rPr>
              <a:t>// 1 kHz/500 = 2 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tim14_500ms_interrupt_init();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CD7FF"/>
                </a:highlight>
                <a:latin typeface="Courier New"/>
                <a:ea typeface="Courier New"/>
                <a:cs typeface="Courier New"/>
                <a:sym typeface="Courier New"/>
              </a:rPr>
              <a:t>volatile int</a:t>
            </a:r>
            <a:r>
              <a:rPr b="1" lang="en" sz="1200">
                <a:solidFill>
                  <a:schemeClr val="dk1"/>
                </a:solidFill>
                <a:highlight>
                  <a:srgbClr val="FCD7FF"/>
                </a:highlight>
                <a:latin typeface="Courier New"/>
                <a:ea typeface="Courier New"/>
                <a:cs typeface="Courier New"/>
                <a:sym typeface="Courier New"/>
              </a:rPr>
              <a:t> timerElapsed; </a:t>
            </a:r>
            <a:r>
              <a:rPr b="1" lang="en" sz="1200">
                <a:solidFill>
                  <a:srgbClr val="3F7F5F"/>
                </a:solidFill>
                <a:highlight>
                  <a:srgbClr val="FCD7FF"/>
                </a:highlight>
                <a:latin typeface="Courier New"/>
                <a:ea typeface="Courier New"/>
                <a:cs typeface="Courier New"/>
                <a:sym typeface="Courier New"/>
              </a:rPr>
              <a:t>// global flag</a:t>
            </a:r>
            <a:endParaRPr b="1" sz="1200">
              <a:solidFill>
                <a:srgbClr val="3F7F5F"/>
              </a:solidFill>
              <a:highlight>
                <a:srgbClr val="FCD7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main(</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GPIOA</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IOPENR</a:t>
            </a:r>
            <a:r>
              <a:rPr b="1" lang="en" sz="1200">
                <a:solidFill>
                  <a:schemeClr val="dk1"/>
                </a:solidFill>
                <a:highlight>
                  <a:srgbClr val="FFFFFF"/>
                </a:highlight>
                <a:latin typeface="Courier New"/>
                <a:ea typeface="Courier New"/>
                <a:cs typeface="Courier New"/>
                <a:sym typeface="Courier New"/>
              </a:rPr>
              <a:t> |=  RCC_IOPENR_GPIOAEN;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PA5 as output pin</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GPIOA-&gt;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&amp;= ~GPIO_MODER_MODE5_Msk;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GPIOA-&gt;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 (GPIO_OUTPUT &lt;&lt; </a:t>
            </a:r>
            <a:endParaRPr b="1" sz="1200">
              <a:solidFill>
                <a:schemeClr val="dk1"/>
              </a:solidFill>
              <a:highlight>
                <a:srgbClr val="FFFFFF"/>
              </a:highlight>
              <a:latin typeface="Courier New"/>
              <a:ea typeface="Courier New"/>
              <a:cs typeface="Courier New"/>
              <a:sym typeface="Courier New"/>
            </a:endParaRPr>
          </a:p>
          <a:p>
            <a:pPr indent="431800" lvl="0" marL="13970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GPIO_MODER_MODE5_Pos); </a:t>
            </a:r>
            <a:endParaRPr b="1" sz="1200">
              <a:solidFill>
                <a:schemeClr val="dk1"/>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GPIOA-&gt;</a:t>
            </a:r>
            <a:r>
              <a:rPr b="1" lang="en" sz="1200">
                <a:solidFill>
                  <a:srgbClr val="0000C0"/>
                </a:solidFill>
                <a:highlight>
                  <a:srgbClr val="FFFFFF"/>
                </a:highlight>
                <a:latin typeface="Courier New"/>
                <a:ea typeface="Courier New"/>
                <a:cs typeface="Courier New"/>
                <a:sym typeface="Courier New"/>
              </a:rPr>
              <a:t>ODR</a:t>
            </a:r>
            <a:r>
              <a:rPr b="1" lang="en" sz="1200">
                <a:solidFill>
                  <a:schemeClr val="dk1"/>
                </a:solidFill>
                <a:highlight>
                  <a:srgbClr val="FFFFFF"/>
                </a:highlight>
                <a:latin typeface="Courier New"/>
                <a:ea typeface="Courier New"/>
                <a:cs typeface="Courier New"/>
                <a:sym typeface="Courier New"/>
              </a:rPr>
              <a:t> &amp;= ~(LED); </a:t>
            </a:r>
            <a:r>
              <a:rPr b="1" lang="en" sz="1200">
                <a:solidFill>
                  <a:srgbClr val="3F7F5F"/>
                </a:solidFill>
                <a:highlight>
                  <a:schemeClr val="lt1"/>
                </a:highlight>
                <a:latin typeface="Courier New"/>
                <a:ea typeface="Courier New"/>
                <a:cs typeface="Courier New"/>
                <a:sym typeface="Courier New"/>
              </a:rPr>
              <a:t>// Start LED as off</a:t>
            </a:r>
            <a:endParaRPr b="1" sz="12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timerElapsed = 0; </a:t>
            </a:r>
            <a:r>
              <a:rPr b="1" lang="en" sz="1200">
                <a:solidFill>
                  <a:srgbClr val="3F7F5F"/>
                </a:solidFill>
                <a:highlight>
                  <a:srgbClr val="FCD7FF"/>
                </a:highlight>
                <a:latin typeface="Courier New"/>
                <a:ea typeface="Courier New"/>
                <a:cs typeface="Courier New"/>
                <a:sym typeface="Courier New"/>
              </a:rPr>
              <a:t>// initialize flag</a:t>
            </a:r>
            <a:endParaRPr b="1" sz="1200">
              <a:solidFill>
                <a:srgbClr val="3F7F5F"/>
              </a:solidFill>
              <a:highlight>
                <a:srgbClr val="FCD7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rgbClr val="3F7F5F"/>
                </a:solidFill>
                <a:highlight>
                  <a:schemeClr val="lt1"/>
                </a:highlight>
                <a:latin typeface="Courier New"/>
                <a:ea typeface="Courier New"/>
                <a:cs typeface="Courier New"/>
                <a:sym typeface="Courier New"/>
              </a:rPr>
              <a:t>// Initialize the 500 ms timer</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tim14_500ms_interrupt_init();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(1)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CD7FF"/>
                </a:highlight>
                <a:latin typeface="Courier New"/>
                <a:ea typeface="Courier New"/>
                <a:cs typeface="Courier New"/>
                <a:sym typeface="Courier New"/>
              </a:rPr>
              <a:t>if</a:t>
            </a:r>
            <a:r>
              <a:rPr b="1" lang="en" sz="1200">
                <a:solidFill>
                  <a:schemeClr val="dk1"/>
                </a:solidFill>
                <a:highlight>
                  <a:srgbClr val="FCD7FF"/>
                </a:highlight>
                <a:latin typeface="Courier New"/>
                <a:ea typeface="Courier New"/>
                <a:cs typeface="Courier New"/>
                <a:sym typeface="Courier New"/>
              </a:rPr>
              <a:t> (timerElapsed) {</a:t>
            </a:r>
            <a:endParaRPr b="1" sz="1200">
              <a:solidFill>
                <a:schemeClr val="dk1"/>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			timerElapsed = 0; </a:t>
            </a:r>
            <a:r>
              <a:rPr b="1" lang="en" sz="1200">
                <a:solidFill>
                  <a:srgbClr val="3F7F5F"/>
                </a:solidFill>
                <a:highlight>
                  <a:srgbClr val="FCD7FF"/>
                </a:highlight>
                <a:latin typeface="Courier New"/>
                <a:ea typeface="Courier New"/>
                <a:cs typeface="Courier New"/>
                <a:sym typeface="Courier New"/>
              </a:rPr>
              <a:t>// clear flag</a:t>
            </a:r>
            <a:endParaRPr b="1" sz="1200">
              <a:solidFill>
                <a:schemeClr val="dk1"/>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			GPIOA-&gt;</a:t>
            </a:r>
            <a:r>
              <a:rPr b="1" lang="en" sz="1200">
                <a:solidFill>
                  <a:srgbClr val="0000C0"/>
                </a:solidFill>
                <a:highlight>
                  <a:srgbClr val="FCD7FF"/>
                </a:highlight>
                <a:latin typeface="Courier New"/>
                <a:ea typeface="Courier New"/>
                <a:cs typeface="Courier New"/>
                <a:sym typeface="Courier New"/>
              </a:rPr>
              <a:t>ODR</a:t>
            </a:r>
            <a:r>
              <a:rPr b="1" lang="en" sz="1200">
                <a:solidFill>
                  <a:schemeClr val="dk1"/>
                </a:solidFill>
                <a:highlight>
                  <a:srgbClr val="FCD7FF"/>
                </a:highlight>
                <a:latin typeface="Courier New"/>
                <a:ea typeface="Courier New"/>
                <a:cs typeface="Courier New"/>
                <a:sym typeface="Courier New"/>
              </a:rPr>
              <a:t> ^= LED; </a:t>
            </a:r>
            <a:r>
              <a:rPr b="1" lang="en" sz="1200">
                <a:solidFill>
                  <a:srgbClr val="3F7F5F"/>
                </a:solidFill>
                <a:highlight>
                  <a:srgbClr val="FCD7FF"/>
                </a:highlight>
                <a:latin typeface="Courier New"/>
                <a:ea typeface="Courier New"/>
                <a:cs typeface="Courier New"/>
                <a:sym typeface="Courier New"/>
              </a:rPr>
              <a:t>// toggle LED</a:t>
            </a:r>
            <a:endParaRPr b="1" sz="1200">
              <a:solidFill>
                <a:srgbClr val="3F7F5F"/>
              </a:solidFill>
              <a:highlight>
                <a:srgbClr val="FCD7FF"/>
              </a:highlight>
              <a:latin typeface="Courier New"/>
              <a:ea typeface="Courier New"/>
              <a:cs typeface="Courier New"/>
              <a:sym typeface="Courier New"/>
            </a:endParaRPr>
          </a:p>
          <a:p>
            <a:pPr indent="431800" lvl="0" marL="4826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a:t>
            </a:r>
            <a:endParaRPr b="1" sz="1200">
              <a:solidFill>
                <a:srgbClr val="3F7F5F"/>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sz="1200">
              <a:solidFill>
                <a:schemeClr val="dk2"/>
              </a:solidFill>
            </a:endParaRPr>
          </a:p>
        </p:txBody>
      </p:sp>
      <p:sp>
        <p:nvSpPr>
          <p:cNvPr id="495" name="Google Shape;495;p54"/>
          <p:cNvSpPr txBox="1"/>
          <p:nvPr/>
        </p:nvSpPr>
        <p:spPr>
          <a:xfrm>
            <a:off x="4857475" y="58050"/>
            <a:ext cx="4203600" cy="6741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tim14_500ms_interrupt_init()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disable global interrupt</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__disable_irq();</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timer 14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APBENR2</a:t>
            </a:r>
            <a:r>
              <a:rPr b="1" lang="en" sz="1200">
                <a:solidFill>
                  <a:schemeClr val="dk1"/>
                </a:solidFill>
                <a:highlight>
                  <a:srgbClr val="FFFFFF"/>
                </a:highlight>
                <a:latin typeface="Courier New"/>
                <a:ea typeface="Courier New"/>
                <a:cs typeface="Courier New"/>
                <a:sym typeface="Courier New"/>
              </a:rPr>
              <a:t> |= RCC_APBENR2_TIM14EN;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t>
            </a:r>
            <a:r>
              <a:rPr b="1" lang="en" sz="1200" u="sng">
                <a:solidFill>
                  <a:srgbClr val="3F7F5F"/>
                </a:solidFill>
                <a:highlight>
                  <a:srgbClr val="FFFFFF"/>
                </a:highlight>
                <a:latin typeface="Courier New"/>
                <a:ea typeface="Courier New"/>
                <a:cs typeface="Courier New"/>
                <a:sym typeface="Courier New"/>
              </a:rPr>
              <a:t>prescaler</a:t>
            </a:r>
            <a:r>
              <a:rPr b="1" lang="en" sz="1200">
                <a:solidFill>
                  <a:srgbClr val="3F7F5F"/>
                </a:solidFill>
                <a:highlight>
                  <a:srgbClr val="FFFFFF"/>
                </a:highlight>
                <a:latin typeface="Courier New"/>
                <a:ea typeface="Courier New"/>
                <a:cs typeface="Courier New"/>
                <a:sym typeface="Courier New"/>
              </a:rPr>
              <a:t> value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PSC</a:t>
            </a:r>
            <a:r>
              <a:rPr b="1" lang="en" sz="1200">
                <a:solidFill>
                  <a:schemeClr val="dk1"/>
                </a:solidFill>
                <a:highlight>
                  <a:srgbClr val="FFFFFF"/>
                </a:highlight>
                <a:latin typeface="Courier New"/>
                <a:ea typeface="Courier New"/>
                <a:cs typeface="Courier New"/>
                <a:sym typeface="Courier New"/>
              </a:rPr>
              <a:t> = PSC_FACTOR - 1;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auto-reload value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ARR</a:t>
            </a:r>
            <a:r>
              <a:rPr b="1" lang="en" sz="1200">
                <a:solidFill>
                  <a:schemeClr val="dk1"/>
                </a:solidFill>
                <a:highlight>
                  <a:srgbClr val="FFFFFF"/>
                </a:highlight>
                <a:latin typeface="Courier New"/>
                <a:ea typeface="Courier New"/>
                <a:cs typeface="Courier New"/>
                <a:sym typeface="Courier New"/>
              </a:rPr>
              <a:t> = ARR_FACTOR - 1;</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Clear counter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CNT</a:t>
            </a:r>
            <a:r>
              <a:rPr b="1" lang="en" sz="1200">
                <a:solidFill>
                  <a:schemeClr val="dk1"/>
                </a:solidFill>
                <a:highlight>
                  <a:srgbClr val="FFFFFF"/>
                </a:highlight>
                <a:latin typeface="Courier New"/>
                <a:ea typeface="Courier New"/>
                <a:cs typeface="Courier New"/>
                <a:sym typeface="Courier New"/>
              </a:rPr>
              <a:t> = 0;</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update interrupt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DIER</a:t>
            </a:r>
            <a:r>
              <a:rPr b="1" lang="en" sz="1200">
                <a:solidFill>
                  <a:schemeClr val="dk1"/>
                </a:solidFill>
                <a:highlight>
                  <a:srgbClr val="FFFFFF"/>
                </a:highlight>
                <a:latin typeface="Courier New"/>
                <a:ea typeface="Courier New"/>
                <a:cs typeface="Courier New"/>
                <a:sym typeface="Courier New"/>
              </a:rPr>
              <a:t> |= TIM_DIER_UIE;</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 interrupt in NVIC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NVIC_EnableIRQ(</a:t>
            </a:r>
            <a:r>
              <a:rPr b="1" i="1" lang="en" sz="1200">
                <a:solidFill>
                  <a:srgbClr val="0000C0"/>
                </a:solidFill>
                <a:highlight>
                  <a:srgbClr val="FFFFFF"/>
                </a:highlight>
                <a:latin typeface="Courier New"/>
                <a:ea typeface="Courier New"/>
                <a:cs typeface="Courier New"/>
                <a:sym typeface="Courier New"/>
              </a:rPr>
              <a:t>TIM14_IRQn</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TIM_CR1_CEN;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global interrupt</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__enable_irq();</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chemeClr val="lt1"/>
                </a:highlight>
                <a:latin typeface="Courier New"/>
                <a:ea typeface="Courier New"/>
                <a:cs typeface="Courier New"/>
                <a:sym typeface="Courier New"/>
              </a:rPr>
              <a:t>void</a:t>
            </a:r>
            <a:r>
              <a:rPr b="1" lang="en" sz="1200">
                <a:solidFill>
                  <a:schemeClr val="dk1"/>
                </a:solidFill>
                <a:highlight>
                  <a:schemeClr val="lt1"/>
                </a:highlight>
                <a:latin typeface="Courier New"/>
                <a:ea typeface="Courier New"/>
                <a:cs typeface="Courier New"/>
                <a:sym typeface="Courier New"/>
              </a:rPr>
              <a:t> TIM14_IRQHandler(</a:t>
            </a:r>
            <a:r>
              <a:rPr b="1" lang="en" sz="1200">
                <a:solidFill>
                  <a:srgbClr val="7F0055"/>
                </a:solidFill>
                <a:highlight>
                  <a:schemeClr val="lt1"/>
                </a:highlight>
                <a:latin typeface="Courier New"/>
                <a:ea typeface="Courier New"/>
                <a:cs typeface="Courier New"/>
                <a:sym typeface="Courier New"/>
              </a:rPr>
              <a:t>void</a:t>
            </a:r>
            <a:r>
              <a:rPr b="1" lang="en" sz="1200">
                <a:solidFill>
                  <a:schemeClr val="dk1"/>
                </a:solidFill>
                <a:highlight>
                  <a:schemeClr val="lt1"/>
                </a:highlight>
                <a:latin typeface="Courier New"/>
                <a:ea typeface="Courier New"/>
                <a:cs typeface="Courier New"/>
                <a:sym typeface="Courier New"/>
              </a:rPr>
              <a: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disable global interrupt</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__disable_irq();</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TIM14-&gt;</a:t>
            </a:r>
            <a:r>
              <a:rPr b="1" lang="en" sz="1200">
                <a:solidFill>
                  <a:srgbClr val="0000C0"/>
                </a:solidFill>
                <a:highlight>
                  <a:schemeClr val="lt1"/>
                </a:highlight>
                <a:latin typeface="Courier New"/>
                <a:ea typeface="Courier New"/>
                <a:cs typeface="Courier New"/>
                <a:sym typeface="Courier New"/>
              </a:rPr>
              <a:t>SR</a:t>
            </a:r>
            <a:r>
              <a:rPr b="1" lang="en" sz="1200">
                <a:solidFill>
                  <a:schemeClr val="dk1"/>
                </a:solidFill>
                <a:highlight>
                  <a:schemeClr val="lt1"/>
                </a:highlight>
                <a:latin typeface="Courier New"/>
                <a:ea typeface="Courier New"/>
                <a:cs typeface="Courier New"/>
                <a:sym typeface="Courier New"/>
              </a:rPr>
              <a:t> = ~TIM_SR_UIF; </a:t>
            </a:r>
            <a:r>
              <a:rPr b="1" lang="en" sz="1200">
                <a:solidFill>
                  <a:srgbClr val="3F7F5F"/>
                </a:solidFill>
                <a:highlight>
                  <a:schemeClr val="lt1"/>
                </a:highlight>
                <a:latin typeface="Courier New"/>
                <a:ea typeface="Courier New"/>
                <a:cs typeface="Courier New"/>
                <a:sym typeface="Courier New"/>
              </a:rPr>
              <a:t>// Clear UIF </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chemeClr val="dk1"/>
                </a:solidFill>
                <a:highlight>
                  <a:srgbClr val="FCD7FF"/>
                </a:highlight>
                <a:latin typeface="Courier New"/>
                <a:ea typeface="Courier New"/>
                <a:cs typeface="Courier New"/>
                <a:sym typeface="Courier New"/>
              </a:rPr>
              <a:t>timerElapsed = 1;  </a:t>
            </a:r>
            <a:r>
              <a:rPr b="1" lang="en" sz="1200">
                <a:solidFill>
                  <a:srgbClr val="3F7F5F"/>
                </a:solidFill>
                <a:highlight>
                  <a:srgbClr val="FCD7FF"/>
                </a:highlight>
                <a:latin typeface="Courier New"/>
                <a:ea typeface="Courier New"/>
                <a:cs typeface="Courier New"/>
                <a:sym typeface="Courier New"/>
              </a:rPr>
              <a:t>// set global flag</a:t>
            </a:r>
            <a:endParaRPr b="1" sz="1200">
              <a:solidFill>
                <a:srgbClr val="3F7F5F"/>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Enable global interrupts</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__enable_irq();</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5"/>
          <p:cNvSpPr txBox="1"/>
          <p:nvPr>
            <p:ph type="title"/>
          </p:nvPr>
        </p:nvSpPr>
        <p:spPr>
          <a:xfrm>
            <a:off x="311700" y="2934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Communicating with ISRs</a:t>
            </a:r>
            <a:endParaRPr/>
          </a:p>
        </p:txBody>
      </p:sp>
      <p:sp>
        <p:nvSpPr>
          <p:cNvPr id="501" name="Google Shape;501;p55"/>
          <p:cNvSpPr txBox="1"/>
          <p:nvPr>
            <p:ph idx="1" type="body"/>
          </p:nvPr>
        </p:nvSpPr>
        <p:spPr>
          <a:xfrm>
            <a:off x="0" y="1575550"/>
            <a:ext cx="4125600" cy="4555200"/>
          </a:xfrm>
          <a:prstGeom prst="rect">
            <a:avLst/>
          </a:prstGeom>
          <a:noFill/>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highlight>
                  <a:srgbClr val="00FFFF"/>
                </a:highlight>
              </a:rPr>
              <a:t>Global variables</a:t>
            </a:r>
            <a:r>
              <a:rPr lang="en" sz="1600"/>
              <a:t> can be shared between main code and ISRs</a:t>
            </a:r>
            <a:endParaRPr sz="1600"/>
          </a:p>
          <a:p>
            <a:pPr indent="-330200" lvl="0" marL="457200" rtl="0" algn="l">
              <a:spcBef>
                <a:spcPts val="1000"/>
              </a:spcBef>
              <a:spcAft>
                <a:spcPts val="0"/>
              </a:spcAft>
              <a:buSzPts val="1600"/>
              <a:buChar char="●"/>
            </a:pPr>
            <a:r>
              <a:rPr lang="en" sz="1600"/>
              <a:t>ISRs can modify global variables, other code can check for changes in those variables</a:t>
            </a:r>
            <a:endParaRPr sz="1600"/>
          </a:p>
          <a:p>
            <a:pPr indent="-330200" lvl="0" marL="457200" rtl="0" algn="l">
              <a:spcBef>
                <a:spcPts val="1000"/>
              </a:spcBef>
              <a:spcAft>
                <a:spcPts val="0"/>
              </a:spcAft>
              <a:buSzPts val="1600"/>
              <a:buChar char="●"/>
            </a:pPr>
            <a:r>
              <a:rPr lang="en" sz="1600"/>
              <a:t>A </a:t>
            </a:r>
            <a:r>
              <a:rPr b="1" lang="en" sz="1600"/>
              <a:t>flag</a:t>
            </a:r>
            <a:r>
              <a:rPr lang="en" sz="1600"/>
              <a:t> is a variable that indicates whether a desired event has occurred. Steps:</a:t>
            </a:r>
            <a:endParaRPr sz="1600"/>
          </a:p>
          <a:p>
            <a:pPr indent="-330200" lvl="1" marL="914400" rtl="0" algn="l">
              <a:spcBef>
                <a:spcPts val="0"/>
              </a:spcBef>
              <a:spcAft>
                <a:spcPts val="0"/>
              </a:spcAft>
              <a:buSzPts val="1600"/>
              <a:buChar char="○"/>
            </a:pPr>
            <a:r>
              <a:rPr lang="en" sz="1600">
                <a:highlight>
                  <a:srgbClr val="00FFFF"/>
                </a:highlight>
              </a:rPr>
              <a:t>Initialize global flag to 0</a:t>
            </a:r>
            <a:endParaRPr sz="1600">
              <a:highlight>
                <a:srgbClr val="00FFFF"/>
              </a:highlight>
            </a:endParaRPr>
          </a:p>
          <a:p>
            <a:pPr indent="-330200" lvl="1" marL="914400" rtl="0" algn="l">
              <a:spcBef>
                <a:spcPts val="0"/>
              </a:spcBef>
              <a:spcAft>
                <a:spcPts val="0"/>
              </a:spcAft>
              <a:buSzPts val="1600"/>
              <a:buChar char="○"/>
            </a:pPr>
            <a:r>
              <a:rPr lang="en" sz="1600">
                <a:highlight>
                  <a:srgbClr val="FF00FF"/>
                </a:highlight>
              </a:rPr>
              <a:t>ISR sets flag (if event has occurred)</a:t>
            </a:r>
            <a:endParaRPr sz="1600">
              <a:highlight>
                <a:srgbClr val="FF00FF"/>
              </a:highlight>
            </a:endParaRPr>
          </a:p>
          <a:p>
            <a:pPr indent="-330200" lvl="1" marL="914400" rtl="0" algn="l">
              <a:spcBef>
                <a:spcPts val="0"/>
              </a:spcBef>
              <a:spcAft>
                <a:spcPts val="0"/>
              </a:spcAft>
              <a:buSzPts val="1600"/>
              <a:buChar char="○"/>
            </a:pPr>
            <a:r>
              <a:rPr lang="en" sz="1600">
                <a:highlight>
                  <a:srgbClr val="00FF00"/>
                </a:highlight>
              </a:rPr>
              <a:t>Other code checks flag, then resets to 0.</a:t>
            </a:r>
            <a:endParaRPr sz="1600">
              <a:highlight>
                <a:srgbClr val="00FF00"/>
              </a:highlight>
            </a:endParaRPr>
          </a:p>
        </p:txBody>
      </p:sp>
      <p:sp>
        <p:nvSpPr>
          <p:cNvPr id="502" name="Google Shape;502;p55"/>
          <p:cNvSpPr txBox="1"/>
          <p:nvPr/>
        </p:nvSpPr>
        <p:spPr>
          <a:xfrm>
            <a:off x="4468200" y="1057000"/>
            <a:ext cx="4675800" cy="5592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004A43"/>
                </a:solidFill>
                <a:highlight>
                  <a:srgbClr val="FFFFFF"/>
                </a:highlight>
                <a:latin typeface="Courier New"/>
                <a:ea typeface="Courier New"/>
                <a:cs typeface="Courier New"/>
                <a:sym typeface="Courier New"/>
              </a:rPr>
              <a:t>#include "ES28.h"</a:t>
            </a:r>
            <a:r>
              <a:rPr b="1" lang="en" sz="1200">
                <a:solidFill>
                  <a:srgbClr val="004A43"/>
                </a:solidFill>
                <a:highlight>
                  <a:srgbClr val="FFFFFF"/>
                </a:highlight>
                <a:latin typeface="Courier New"/>
                <a:ea typeface="Courier New"/>
                <a:cs typeface="Courier New"/>
                <a:sym typeface="Courier New"/>
              </a:rPr>
              <a:t>		</a:t>
            </a:r>
            <a:br>
              <a:rPr b="1" lang="en" sz="1200">
                <a:solidFill>
                  <a:srgbClr val="696969"/>
                </a:solidFill>
                <a:highlight>
                  <a:srgbClr val="FFFFFF"/>
                </a:highlight>
                <a:latin typeface="Courier New"/>
                <a:ea typeface="Courier New"/>
                <a:cs typeface="Courier New"/>
                <a:sym typeface="Courier New"/>
              </a:rPr>
            </a:br>
            <a:br>
              <a:rPr b="1" lang="en" sz="1200">
                <a:solidFill>
                  <a:schemeClr val="dk1"/>
                </a:solidFill>
                <a:highlight>
                  <a:srgbClr val="FFFFFF"/>
                </a:highlight>
                <a:latin typeface="Courier New"/>
                <a:ea typeface="Courier New"/>
                <a:cs typeface="Courier New"/>
                <a:sym typeface="Courier New"/>
              </a:rPr>
            </a:br>
            <a:r>
              <a:rPr b="1" lang="en" sz="1200">
                <a:solidFill>
                  <a:srgbClr val="800000"/>
                </a:solidFill>
                <a:highlight>
                  <a:srgbClr val="FFFFFF"/>
                </a:highlight>
                <a:latin typeface="Courier New"/>
                <a:ea typeface="Courier New"/>
                <a:cs typeface="Courier New"/>
                <a:sym typeface="Courier New"/>
              </a:rPr>
              <a:t>volatile</a:t>
            </a:r>
            <a:r>
              <a:rPr b="1" lang="en" sz="1200">
                <a:solidFill>
                  <a:schemeClr val="dk1"/>
                </a:solidFill>
                <a:highlight>
                  <a:srgbClr val="FFFFFF"/>
                </a:highlight>
                <a:latin typeface="Courier New"/>
                <a:ea typeface="Courier New"/>
                <a:cs typeface="Courier New"/>
                <a:sym typeface="Courier New"/>
              </a:rPr>
              <a:t> </a:t>
            </a:r>
            <a:r>
              <a:rPr b="1" lang="en" sz="1200">
                <a:solidFill>
                  <a:schemeClr val="dk1"/>
                </a:solidFill>
                <a:highlight>
                  <a:srgbClr val="00FFFF"/>
                </a:highlight>
                <a:latin typeface="Courier New"/>
                <a:ea typeface="Courier New"/>
                <a:cs typeface="Courier New"/>
                <a:sym typeface="Courier New"/>
              </a:rPr>
              <a:t>int timerElapsed</a:t>
            </a:r>
            <a:r>
              <a:rPr b="1" lang="en" sz="1200">
                <a:solidFill>
                  <a:srgbClr val="800080"/>
                </a:solidFill>
                <a:highlight>
                  <a:srgbClr val="00FFFF"/>
                </a:highlight>
                <a:latin typeface="Courier New"/>
                <a:ea typeface="Courier New"/>
                <a:cs typeface="Courier New"/>
                <a:sym typeface="Courier New"/>
              </a:rPr>
              <a:t>;</a:t>
            </a:r>
            <a:r>
              <a:rPr b="1" lang="en" sz="1200">
                <a:solidFill>
                  <a:schemeClr val="dk1"/>
                </a:solidFill>
                <a:highlight>
                  <a:srgbClr val="FFFFFF"/>
                </a:highlight>
                <a:latin typeface="Courier New"/>
                <a:ea typeface="Courier New"/>
                <a:cs typeface="Courier New"/>
                <a:sym typeface="Courier New"/>
              </a:rPr>
              <a:t> </a:t>
            </a:r>
            <a:r>
              <a:rPr b="1" lang="en" sz="1200">
                <a:solidFill>
                  <a:srgbClr val="696969"/>
                </a:solidFill>
                <a:highlight>
                  <a:srgbClr val="FFFFFF"/>
                </a:highlight>
                <a:latin typeface="Courier New"/>
                <a:ea typeface="Courier New"/>
                <a:cs typeface="Courier New"/>
                <a:sym typeface="Courier New"/>
              </a:rPr>
              <a:t>// shared variable</a:t>
            </a:r>
            <a:br>
              <a:rPr b="1" lang="en" sz="1200">
                <a:solidFill>
                  <a:schemeClr val="dk1"/>
                </a:solidFill>
                <a:highlight>
                  <a:srgbClr val="FFFFFF"/>
                </a:highlight>
                <a:latin typeface="Courier New"/>
                <a:ea typeface="Courier New"/>
                <a:cs typeface="Courier New"/>
                <a:sym typeface="Courier New"/>
              </a:rPr>
            </a:br>
            <a:br>
              <a:rPr b="1" lang="en" sz="1200">
                <a:solidFill>
                  <a:schemeClr val="dk1"/>
                </a:solidFill>
                <a:highlight>
                  <a:srgbClr val="FFFFFF"/>
                </a:highlight>
                <a:latin typeface="Courier New"/>
                <a:ea typeface="Courier New"/>
                <a:cs typeface="Courier New"/>
                <a:sym typeface="Courier New"/>
              </a:rPr>
            </a:br>
            <a:r>
              <a:rPr b="1" lang="en" sz="1200">
                <a:solidFill>
                  <a:srgbClr val="800000"/>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a:t>
            </a:r>
            <a:r>
              <a:rPr b="1" lang="en" sz="1200">
                <a:solidFill>
                  <a:srgbClr val="400000"/>
                </a:solidFill>
                <a:highlight>
                  <a:srgbClr val="FFFFFF"/>
                </a:highlight>
                <a:latin typeface="Courier New"/>
                <a:ea typeface="Courier New"/>
                <a:cs typeface="Courier New"/>
                <a:sym typeface="Courier New"/>
              </a:rPr>
              <a:t>main</a:t>
            </a:r>
            <a:r>
              <a:rPr b="1" lang="en" sz="1200">
                <a:solidFill>
                  <a:srgbClr val="808030"/>
                </a:solidFill>
                <a:highlight>
                  <a:srgbClr val="FFFFFF"/>
                </a:highlight>
                <a:latin typeface="Courier New"/>
                <a:ea typeface="Courier New"/>
                <a:cs typeface="Courier New"/>
                <a:sym typeface="Courier New"/>
              </a:rPr>
              <a:t>(</a:t>
            </a:r>
            <a:r>
              <a:rPr b="1" lang="en" sz="1200">
                <a:solidFill>
                  <a:srgbClr val="800000"/>
                </a:solidFill>
                <a:highlight>
                  <a:srgbClr val="FFFFFF"/>
                </a:highlight>
                <a:latin typeface="Courier New"/>
                <a:ea typeface="Courier New"/>
                <a:cs typeface="Courier New"/>
                <a:sym typeface="Courier New"/>
              </a:rPr>
              <a:t>void</a:t>
            </a:r>
            <a:r>
              <a:rPr b="1" lang="en" sz="1200">
                <a:solidFill>
                  <a:srgbClr val="808030"/>
                </a:solidFill>
                <a:highlight>
                  <a:srgbClr val="FFFFFF"/>
                </a:highlight>
                <a:latin typeface="Courier New"/>
                <a:ea typeface="Courier New"/>
                <a:cs typeface="Courier New"/>
                <a:sym typeface="Courier New"/>
              </a:rPr>
              <a:t>)</a:t>
            </a:r>
            <a:r>
              <a:rPr b="1" lang="en" sz="1200">
                <a:solidFill>
                  <a:schemeClr val="dk1"/>
                </a:solidFill>
                <a:highlight>
                  <a:srgbClr val="FFFFFF"/>
                </a:highlight>
                <a:latin typeface="Courier New"/>
                <a:ea typeface="Courier New"/>
                <a:cs typeface="Courier New"/>
                <a:sym typeface="Courier New"/>
              </a:rPr>
              <a:t> </a:t>
            </a:r>
            <a:r>
              <a:rPr b="1" lang="en" sz="1200">
                <a:solidFill>
                  <a:srgbClr val="800080"/>
                </a:solidFill>
                <a:highlight>
                  <a:srgbClr val="FFFFFF"/>
                </a:highlight>
                <a:latin typeface="Courier New"/>
                <a:ea typeface="Courier New"/>
                <a:cs typeface="Courier New"/>
                <a:sym typeface="Courier New"/>
              </a:rPr>
              <a:t>{</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a:t>
            </a:r>
            <a:r>
              <a:rPr b="1" lang="en" sz="1200">
                <a:solidFill>
                  <a:schemeClr val="dk1"/>
                </a:solidFill>
                <a:highlight>
                  <a:srgbClr val="00FFFF"/>
                </a:highlight>
                <a:latin typeface="Courier New"/>
                <a:ea typeface="Courier New"/>
                <a:cs typeface="Courier New"/>
                <a:sym typeface="Courier New"/>
              </a:rPr>
              <a:t>timerElapsed</a:t>
            </a:r>
            <a:r>
              <a:rPr b="1" lang="en" sz="1200">
                <a:solidFill>
                  <a:schemeClr val="dk1"/>
                </a:solidFill>
                <a:highlight>
                  <a:srgbClr val="00FFFF"/>
                </a:highlight>
                <a:latin typeface="Courier New"/>
                <a:ea typeface="Courier New"/>
                <a:cs typeface="Courier New"/>
                <a:sym typeface="Courier New"/>
              </a:rPr>
              <a:t> </a:t>
            </a:r>
            <a:r>
              <a:rPr b="1" lang="en" sz="1200">
                <a:solidFill>
                  <a:srgbClr val="808030"/>
                </a:solidFill>
                <a:highlight>
                  <a:srgbClr val="00FFFF"/>
                </a:highlight>
                <a:latin typeface="Courier New"/>
                <a:ea typeface="Courier New"/>
                <a:cs typeface="Courier New"/>
                <a:sym typeface="Courier New"/>
              </a:rPr>
              <a:t>=</a:t>
            </a:r>
            <a:r>
              <a:rPr b="1" lang="en" sz="1200">
                <a:solidFill>
                  <a:schemeClr val="dk1"/>
                </a:solidFill>
                <a:highlight>
                  <a:srgbClr val="00FFFF"/>
                </a:highlight>
                <a:latin typeface="Courier New"/>
                <a:ea typeface="Courier New"/>
                <a:cs typeface="Courier New"/>
                <a:sym typeface="Courier New"/>
              </a:rPr>
              <a:t> </a:t>
            </a:r>
            <a:r>
              <a:rPr b="1" lang="en" sz="1200">
                <a:solidFill>
                  <a:srgbClr val="008C00"/>
                </a:solidFill>
                <a:highlight>
                  <a:srgbClr val="00FFFF"/>
                </a:highlight>
                <a:latin typeface="Courier New"/>
                <a:ea typeface="Courier New"/>
                <a:cs typeface="Courier New"/>
                <a:sym typeface="Courier New"/>
              </a:rPr>
              <a:t>0</a:t>
            </a:r>
            <a:r>
              <a:rPr b="1" lang="en" sz="1200">
                <a:solidFill>
                  <a:srgbClr val="800080"/>
                </a:solidFill>
                <a:highlight>
                  <a:srgbClr val="00FFFF"/>
                </a:highlight>
                <a:latin typeface="Courier New"/>
                <a:ea typeface="Courier New"/>
                <a:cs typeface="Courier New"/>
                <a:sym typeface="Courier New"/>
              </a:rPr>
              <a:t>;</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a:t>
            </a:r>
            <a:br>
              <a:rPr b="1" lang="en" sz="1200">
                <a:solidFill>
                  <a:srgbClr val="603000"/>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a:t>
            </a:r>
            <a:r>
              <a:rPr b="1" lang="en" sz="1200">
                <a:solidFill>
                  <a:srgbClr val="800000"/>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a:t>
            </a:r>
            <a:r>
              <a:rPr b="1" lang="en" sz="1200">
                <a:solidFill>
                  <a:srgbClr val="808030"/>
                </a:solidFill>
                <a:highlight>
                  <a:srgbClr val="FFFFFF"/>
                </a:highlight>
                <a:latin typeface="Courier New"/>
                <a:ea typeface="Courier New"/>
                <a:cs typeface="Courier New"/>
                <a:sym typeface="Courier New"/>
              </a:rPr>
              <a:t>(</a:t>
            </a:r>
            <a:r>
              <a:rPr b="1" lang="en" sz="1200">
                <a:solidFill>
                  <a:srgbClr val="008C00"/>
                </a:solidFill>
                <a:highlight>
                  <a:srgbClr val="FFFFFF"/>
                </a:highlight>
                <a:latin typeface="Courier New"/>
                <a:ea typeface="Courier New"/>
                <a:cs typeface="Courier New"/>
                <a:sym typeface="Courier New"/>
              </a:rPr>
              <a:t>1</a:t>
            </a:r>
            <a:r>
              <a:rPr b="1" lang="en" sz="1200">
                <a:solidFill>
                  <a:srgbClr val="808030"/>
                </a:solidFill>
                <a:highlight>
                  <a:srgbClr val="FFFFFF"/>
                </a:highlight>
                <a:latin typeface="Courier New"/>
                <a:ea typeface="Courier New"/>
                <a:cs typeface="Courier New"/>
                <a:sym typeface="Courier New"/>
              </a:rPr>
              <a:t>)</a:t>
            </a:r>
            <a:r>
              <a:rPr b="1" lang="en" sz="1200">
                <a:solidFill>
                  <a:schemeClr val="dk1"/>
                </a:solidFill>
                <a:highlight>
                  <a:srgbClr val="FFFFFF"/>
                </a:highlight>
                <a:latin typeface="Courier New"/>
                <a:ea typeface="Courier New"/>
                <a:cs typeface="Courier New"/>
                <a:sym typeface="Courier New"/>
              </a:rPr>
              <a:t> </a:t>
            </a:r>
            <a:r>
              <a:rPr b="1" lang="en" sz="1200">
                <a:solidFill>
                  <a:srgbClr val="800080"/>
                </a:solidFill>
                <a:highlight>
                  <a:srgbClr val="FFFFFF"/>
                </a:highlight>
                <a:latin typeface="Courier New"/>
                <a:ea typeface="Courier New"/>
                <a:cs typeface="Courier New"/>
                <a:sym typeface="Courier New"/>
              </a:rPr>
              <a:t>{</a:t>
            </a:r>
            <a:r>
              <a:rPr b="1" lang="en" sz="1200">
                <a:solidFill>
                  <a:schemeClr val="dk1"/>
                </a:solidFill>
                <a:highlight>
                  <a:srgbClr val="FFFFFF"/>
                </a:highlight>
                <a:latin typeface="Courier New"/>
                <a:ea typeface="Courier New"/>
                <a:cs typeface="Courier New"/>
                <a:sym typeface="Courier New"/>
              </a:rPr>
              <a:t>  </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a:t>
            </a:r>
            <a:r>
              <a:rPr b="1" lang="en" sz="1200">
                <a:solidFill>
                  <a:srgbClr val="800000"/>
                </a:solidFill>
                <a:highlight>
                  <a:srgbClr val="00FF00"/>
                </a:highlight>
                <a:latin typeface="Courier New"/>
                <a:ea typeface="Courier New"/>
                <a:cs typeface="Courier New"/>
                <a:sym typeface="Courier New"/>
              </a:rPr>
              <a:t>if</a:t>
            </a:r>
            <a:r>
              <a:rPr b="1" lang="en" sz="1200">
                <a:solidFill>
                  <a:schemeClr val="dk1"/>
                </a:solidFill>
                <a:highlight>
                  <a:srgbClr val="00FF00"/>
                </a:highlight>
                <a:latin typeface="Courier New"/>
                <a:ea typeface="Courier New"/>
                <a:cs typeface="Courier New"/>
                <a:sym typeface="Courier New"/>
              </a:rPr>
              <a:t> </a:t>
            </a:r>
            <a:r>
              <a:rPr b="1" lang="en" sz="1200">
                <a:solidFill>
                  <a:srgbClr val="808030"/>
                </a:solidFill>
                <a:highlight>
                  <a:srgbClr val="00FF00"/>
                </a:highlight>
                <a:latin typeface="Courier New"/>
                <a:ea typeface="Courier New"/>
                <a:cs typeface="Courier New"/>
                <a:sym typeface="Courier New"/>
              </a:rPr>
              <a:t>(</a:t>
            </a:r>
            <a:r>
              <a:rPr b="1" lang="en" sz="1200">
                <a:solidFill>
                  <a:schemeClr val="dk1"/>
                </a:solidFill>
                <a:highlight>
                  <a:srgbClr val="00FF00"/>
                </a:highlight>
                <a:latin typeface="Courier New"/>
                <a:ea typeface="Courier New"/>
                <a:cs typeface="Courier New"/>
                <a:sym typeface="Courier New"/>
              </a:rPr>
              <a:t>timerElapsed</a:t>
            </a:r>
            <a:r>
              <a:rPr b="1" lang="en" sz="1200">
                <a:solidFill>
                  <a:srgbClr val="808030"/>
                </a:solidFill>
                <a:highlight>
                  <a:srgbClr val="00FF00"/>
                </a:highlight>
                <a:latin typeface="Courier New"/>
                <a:ea typeface="Courier New"/>
                <a:cs typeface="Courier New"/>
                <a:sym typeface="Courier New"/>
              </a:rPr>
              <a:t>)</a:t>
            </a:r>
            <a:r>
              <a:rPr b="1" lang="en" sz="1200">
                <a:solidFill>
                  <a:schemeClr val="dk1"/>
                </a:solidFill>
                <a:highlight>
                  <a:srgbClr val="FFFFFF"/>
                </a:highlight>
                <a:latin typeface="Courier New"/>
                <a:ea typeface="Courier New"/>
                <a:cs typeface="Courier New"/>
                <a:sym typeface="Courier New"/>
              </a:rPr>
              <a:t> </a:t>
            </a:r>
            <a:r>
              <a:rPr b="1" lang="en" sz="1200">
                <a:solidFill>
                  <a:srgbClr val="800080"/>
                </a:solidFill>
                <a:highlight>
                  <a:srgbClr val="FFFFFF"/>
                </a:highlight>
                <a:latin typeface="Courier New"/>
                <a:ea typeface="Courier New"/>
                <a:cs typeface="Courier New"/>
                <a:sym typeface="Courier New"/>
              </a:rPr>
              <a:t>{</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 do something      </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a:t>
            </a:r>
            <a:r>
              <a:rPr b="1" lang="en" sz="1200">
                <a:solidFill>
                  <a:schemeClr val="dk1"/>
                </a:solidFill>
                <a:highlight>
                  <a:srgbClr val="00FF00"/>
                </a:highlight>
                <a:latin typeface="Courier New"/>
                <a:ea typeface="Courier New"/>
                <a:cs typeface="Courier New"/>
                <a:sym typeface="Courier New"/>
              </a:rPr>
              <a:t>timerElapsed</a:t>
            </a:r>
            <a:r>
              <a:rPr b="1" lang="en" sz="1200">
                <a:solidFill>
                  <a:schemeClr val="dk1"/>
                </a:solidFill>
                <a:highlight>
                  <a:srgbClr val="00FF00"/>
                </a:highlight>
                <a:latin typeface="Courier New"/>
                <a:ea typeface="Courier New"/>
                <a:cs typeface="Courier New"/>
                <a:sym typeface="Courier New"/>
              </a:rPr>
              <a:t> </a:t>
            </a:r>
            <a:r>
              <a:rPr b="1" lang="en" sz="1200">
                <a:solidFill>
                  <a:srgbClr val="808030"/>
                </a:solidFill>
                <a:highlight>
                  <a:srgbClr val="00FF00"/>
                </a:highlight>
                <a:latin typeface="Courier New"/>
                <a:ea typeface="Courier New"/>
                <a:cs typeface="Courier New"/>
                <a:sym typeface="Courier New"/>
              </a:rPr>
              <a:t>=</a:t>
            </a:r>
            <a:r>
              <a:rPr b="1" lang="en" sz="1200">
                <a:solidFill>
                  <a:schemeClr val="dk1"/>
                </a:solidFill>
                <a:highlight>
                  <a:srgbClr val="00FF00"/>
                </a:highlight>
                <a:latin typeface="Courier New"/>
                <a:ea typeface="Courier New"/>
                <a:cs typeface="Courier New"/>
                <a:sym typeface="Courier New"/>
              </a:rPr>
              <a:t> </a:t>
            </a:r>
            <a:r>
              <a:rPr b="1" lang="en" sz="1200">
                <a:solidFill>
                  <a:srgbClr val="008C00"/>
                </a:solidFill>
                <a:highlight>
                  <a:srgbClr val="00FF00"/>
                </a:highlight>
                <a:latin typeface="Courier New"/>
                <a:ea typeface="Courier New"/>
                <a:cs typeface="Courier New"/>
                <a:sym typeface="Courier New"/>
              </a:rPr>
              <a:t>0</a:t>
            </a:r>
            <a:r>
              <a:rPr b="1" lang="en" sz="1200">
                <a:solidFill>
                  <a:srgbClr val="800080"/>
                </a:solidFill>
                <a:highlight>
                  <a:srgbClr val="00FF00"/>
                </a:highlight>
                <a:latin typeface="Courier New"/>
                <a:ea typeface="Courier New"/>
                <a:cs typeface="Courier New"/>
                <a:sym typeface="Courier New"/>
              </a:rPr>
              <a:t>;</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a:t>
            </a:r>
            <a:r>
              <a:rPr b="1" lang="en" sz="1200">
                <a:solidFill>
                  <a:srgbClr val="800080"/>
                </a:solidFill>
                <a:highlight>
                  <a:srgbClr val="FFFFFF"/>
                </a:highlight>
                <a:latin typeface="Courier New"/>
                <a:ea typeface="Courier New"/>
                <a:cs typeface="Courier New"/>
                <a:sym typeface="Courier New"/>
              </a:rPr>
              <a:t>}</a:t>
            </a:r>
            <a:r>
              <a:rPr b="1" lang="en" sz="1200">
                <a:solidFill>
                  <a:schemeClr val="dk1"/>
                </a:solidFill>
                <a:highlight>
                  <a:srgbClr val="FFFFFF"/>
                </a:highlight>
                <a:latin typeface="Courier New"/>
                <a:ea typeface="Courier New"/>
                <a:cs typeface="Courier New"/>
                <a:sym typeface="Courier New"/>
              </a:rPr>
              <a:t> </a:t>
            </a:r>
            <a:r>
              <a:rPr b="1" lang="en" sz="1200">
                <a:solidFill>
                  <a:srgbClr val="800000"/>
                </a:solidFill>
                <a:highlight>
                  <a:srgbClr val="FFFFFF"/>
                </a:highlight>
                <a:latin typeface="Courier New"/>
                <a:ea typeface="Courier New"/>
                <a:cs typeface="Courier New"/>
                <a:sym typeface="Courier New"/>
              </a:rPr>
              <a:t>else</a:t>
            </a:r>
            <a:r>
              <a:rPr b="1" lang="en" sz="1200">
                <a:solidFill>
                  <a:schemeClr val="dk1"/>
                </a:solidFill>
                <a:highlight>
                  <a:srgbClr val="FFFFFF"/>
                </a:highlight>
                <a:latin typeface="Courier New"/>
                <a:ea typeface="Courier New"/>
                <a:cs typeface="Courier New"/>
                <a:sym typeface="Courier New"/>
              </a:rPr>
              <a:t> </a:t>
            </a:r>
            <a:r>
              <a:rPr b="1" lang="en" sz="1200">
                <a:solidFill>
                  <a:srgbClr val="800080"/>
                </a:solidFill>
                <a:highlight>
                  <a:srgbClr val="FFFFFF"/>
                </a:highlight>
                <a:latin typeface="Courier New"/>
                <a:ea typeface="Courier New"/>
                <a:cs typeface="Courier New"/>
                <a:sym typeface="Courier New"/>
              </a:rPr>
              <a:t>{</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 do something else</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a:t>
            </a:r>
            <a:r>
              <a:rPr b="1" lang="en" sz="1200">
                <a:solidFill>
                  <a:srgbClr val="800080"/>
                </a:solidFill>
                <a:highlight>
                  <a:srgbClr val="FFFFFF"/>
                </a:highlight>
                <a:latin typeface="Courier New"/>
                <a:ea typeface="Courier New"/>
                <a:cs typeface="Courier New"/>
                <a:sym typeface="Courier New"/>
              </a:rPr>
              <a:t>}</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a:t>
            </a:r>
            <a:r>
              <a:rPr b="1" lang="en" sz="1200">
                <a:solidFill>
                  <a:srgbClr val="800080"/>
                </a:solidFill>
                <a:highlight>
                  <a:srgbClr val="FFFFFF"/>
                </a:highlight>
                <a:latin typeface="Courier New"/>
                <a:ea typeface="Courier New"/>
                <a:cs typeface="Courier New"/>
                <a:sym typeface="Courier New"/>
              </a:rPr>
              <a:t>}</a:t>
            </a:r>
            <a:br>
              <a:rPr b="1" lang="en" sz="1200">
                <a:solidFill>
                  <a:schemeClr val="dk1"/>
                </a:solidFill>
                <a:highlight>
                  <a:srgbClr val="FFFFFF"/>
                </a:highlight>
                <a:latin typeface="Courier New"/>
                <a:ea typeface="Courier New"/>
                <a:cs typeface="Courier New"/>
                <a:sym typeface="Courier New"/>
              </a:rPr>
            </a:br>
            <a:r>
              <a:rPr b="1" lang="en" sz="1200">
                <a:solidFill>
                  <a:schemeClr val="dk1"/>
                </a:solidFill>
                <a:highlight>
                  <a:srgbClr val="FFFFFF"/>
                </a:highlight>
                <a:latin typeface="Courier New"/>
                <a:ea typeface="Courier New"/>
                <a:cs typeface="Courier New"/>
                <a:sym typeface="Courier New"/>
              </a:rPr>
              <a:t>  </a:t>
            </a:r>
            <a:r>
              <a:rPr b="1" lang="en" sz="1200">
                <a:solidFill>
                  <a:srgbClr val="800000"/>
                </a:solidFill>
                <a:highlight>
                  <a:srgbClr val="FFFFFF"/>
                </a:highlight>
                <a:latin typeface="Courier New"/>
                <a:ea typeface="Courier New"/>
                <a:cs typeface="Courier New"/>
                <a:sym typeface="Courier New"/>
              </a:rPr>
              <a:t>return</a:t>
            </a:r>
            <a:r>
              <a:rPr b="1" lang="en" sz="1200">
                <a:solidFill>
                  <a:schemeClr val="dk1"/>
                </a:solidFill>
                <a:highlight>
                  <a:srgbClr val="FFFFFF"/>
                </a:highlight>
                <a:latin typeface="Courier New"/>
                <a:ea typeface="Courier New"/>
                <a:cs typeface="Courier New"/>
                <a:sym typeface="Courier New"/>
              </a:rPr>
              <a:t> </a:t>
            </a:r>
            <a:r>
              <a:rPr b="1" lang="en" sz="1200">
                <a:solidFill>
                  <a:srgbClr val="008C00"/>
                </a:solidFill>
                <a:highlight>
                  <a:srgbClr val="FFFFFF"/>
                </a:highlight>
                <a:latin typeface="Courier New"/>
                <a:ea typeface="Courier New"/>
                <a:cs typeface="Courier New"/>
                <a:sym typeface="Courier New"/>
              </a:rPr>
              <a:t>0</a:t>
            </a:r>
            <a:r>
              <a:rPr b="1" lang="en" sz="1200">
                <a:solidFill>
                  <a:srgbClr val="800080"/>
                </a:solidFill>
                <a:highlight>
                  <a:srgbClr val="FFFFFF"/>
                </a:highlight>
                <a:latin typeface="Courier New"/>
                <a:ea typeface="Courier New"/>
                <a:cs typeface="Courier New"/>
                <a:sym typeface="Courier New"/>
              </a:rPr>
              <a:t>;</a:t>
            </a:r>
            <a:br>
              <a:rPr b="1" lang="en" sz="1200">
                <a:solidFill>
                  <a:schemeClr val="dk1"/>
                </a:solidFill>
                <a:highlight>
                  <a:srgbClr val="FFFFFF"/>
                </a:highlight>
                <a:latin typeface="Courier New"/>
                <a:ea typeface="Courier New"/>
                <a:cs typeface="Courier New"/>
                <a:sym typeface="Courier New"/>
              </a:rPr>
            </a:br>
            <a:r>
              <a:rPr b="1" lang="en" sz="1200">
                <a:solidFill>
                  <a:srgbClr val="800080"/>
                </a:solidFill>
                <a:highlight>
                  <a:srgbClr val="FFFFFF"/>
                </a:highlight>
                <a:latin typeface="Courier New"/>
                <a:ea typeface="Courier New"/>
                <a:cs typeface="Courier New"/>
                <a:sym typeface="Courier New"/>
              </a:rPr>
              <a:t>}</a:t>
            </a:r>
            <a:endParaRPr b="1" sz="1200">
              <a:solidFill>
                <a:srgbClr val="800080"/>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solidFill>
                <a:srgbClr val="800080"/>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chemeClr val="lt1"/>
                </a:highlight>
                <a:latin typeface="Courier New"/>
                <a:ea typeface="Courier New"/>
                <a:cs typeface="Courier New"/>
                <a:sym typeface="Courier New"/>
              </a:rPr>
              <a:t>void</a:t>
            </a:r>
            <a:r>
              <a:rPr b="1" lang="en" sz="1200">
                <a:solidFill>
                  <a:schemeClr val="dk1"/>
                </a:solidFill>
                <a:highlight>
                  <a:schemeClr val="lt1"/>
                </a:highlight>
                <a:latin typeface="Courier New"/>
                <a:ea typeface="Courier New"/>
                <a:cs typeface="Courier New"/>
                <a:sym typeface="Courier New"/>
              </a:rPr>
              <a:t> TIM14_IRQHandler(</a:t>
            </a:r>
            <a:r>
              <a:rPr b="1" lang="en" sz="1200">
                <a:solidFill>
                  <a:srgbClr val="7F0055"/>
                </a:solidFill>
                <a:highlight>
                  <a:schemeClr val="lt1"/>
                </a:highlight>
                <a:latin typeface="Courier New"/>
                <a:ea typeface="Courier New"/>
                <a:cs typeface="Courier New"/>
                <a:sym typeface="Courier New"/>
              </a:rPr>
              <a:t>void</a:t>
            </a:r>
            <a:r>
              <a:rPr b="1" lang="en" sz="1200">
                <a:solidFill>
                  <a:schemeClr val="dk1"/>
                </a:solidFill>
                <a:highlight>
                  <a:schemeClr val="lt1"/>
                </a:highlight>
                <a:latin typeface="Courier New"/>
                <a:ea typeface="Courier New"/>
                <a:cs typeface="Courier New"/>
                <a:sym typeface="Courier New"/>
              </a:rPr>
              <a: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_disable_irq(); </a:t>
            </a:r>
            <a:r>
              <a:rPr b="1" lang="en" sz="1200">
                <a:solidFill>
                  <a:srgbClr val="3F7F59"/>
                </a:solidFill>
                <a:highlight>
                  <a:schemeClr val="lt1"/>
                </a:highlight>
                <a:latin typeface="Courier New"/>
                <a:ea typeface="Courier New"/>
                <a:cs typeface="Courier New"/>
                <a:sym typeface="Courier New"/>
              </a:rPr>
              <a:t>// disable global interrupts</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TIM14-&gt;</a:t>
            </a:r>
            <a:r>
              <a:rPr b="1" lang="en" sz="1200">
                <a:solidFill>
                  <a:srgbClr val="0000C0"/>
                </a:solidFill>
                <a:highlight>
                  <a:schemeClr val="lt1"/>
                </a:highlight>
                <a:latin typeface="Courier New"/>
                <a:ea typeface="Courier New"/>
                <a:cs typeface="Courier New"/>
                <a:sym typeface="Courier New"/>
              </a:rPr>
              <a:t>SR</a:t>
            </a:r>
            <a:r>
              <a:rPr b="1" lang="en" sz="1200">
                <a:solidFill>
                  <a:schemeClr val="dk1"/>
                </a:solidFill>
                <a:highlight>
                  <a:schemeClr val="lt1"/>
                </a:highlight>
                <a:latin typeface="Courier New"/>
                <a:ea typeface="Courier New"/>
                <a:cs typeface="Courier New"/>
                <a:sym typeface="Courier New"/>
              </a:rPr>
              <a:t> = ~TIM_SR_UIF; </a:t>
            </a:r>
            <a:r>
              <a:rPr b="1" lang="en" sz="1200">
                <a:solidFill>
                  <a:srgbClr val="3F7F5F"/>
                </a:solidFill>
                <a:highlight>
                  <a:schemeClr val="lt1"/>
                </a:highlight>
                <a:latin typeface="Courier New"/>
                <a:ea typeface="Courier New"/>
                <a:cs typeface="Courier New"/>
                <a:sym typeface="Courier New"/>
              </a:rPr>
              <a:t>// Clear UIF </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chemeClr val="dk1"/>
                </a:solidFill>
                <a:highlight>
                  <a:srgbClr val="FF00FF"/>
                </a:highlight>
                <a:latin typeface="Courier New"/>
                <a:ea typeface="Courier New"/>
                <a:cs typeface="Courier New"/>
                <a:sym typeface="Courier New"/>
              </a:rPr>
              <a:t>timerElapsed = 1; </a:t>
            </a:r>
            <a:endParaRPr b="1" sz="1200">
              <a:solidFill>
                <a:schemeClr val="dk1"/>
              </a:solidFill>
              <a:highlight>
                <a:srgbClr val="FF00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__enable_irq();  </a:t>
            </a:r>
            <a:r>
              <a:rPr b="1" lang="en" sz="1200">
                <a:solidFill>
                  <a:srgbClr val="3F7F59"/>
                </a:solidFill>
                <a:highlight>
                  <a:schemeClr val="lt1"/>
                </a:highlight>
                <a:latin typeface="Courier New"/>
                <a:ea typeface="Courier New"/>
                <a:cs typeface="Courier New"/>
                <a:sym typeface="Courier New"/>
              </a:rPr>
              <a:t>// Enable global interrupts</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Don't dawdle inside an ISR!</a:t>
            </a:r>
            <a:endParaRPr/>
          </a:p>
        </p:txBody>
      </p:sp>
      <p:sp>
        <p:nvSpPr>
          <p:cNvPr id="508" name="Google Shape;508;p5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Why not? </a:t>
            </a:r>
            <a:endParaRPr sz="1600"/>
          </a:p>
          <a:p>
            <a:pPr indent="-330200" lvl="1" marL="914400" rtl="0" algn="l">
              <a:spcBef>
                <a:spcPts val="0"/>
              </a:spcBef>
              <a:spcAft>
                <a:spcPts val="0"/>
              </a:spcAft>
              <a:buSzPts val="1600"/>
              <a:buChar char="○"/>
            </a:pPr>
            <a:r>
              <a:rPr lang="en" sz="1600"/>
              <a:t>At the start of the ISR we are disabling global interrupts so that another interrupt cannot interrupt us.</a:t>
            </a:r>
            <a:endParaRPr sz="1600"/>
          </a:p>
          <a:p>
            <a:pPr indent="-330200" lvl="1" marL="914400" rtl="0" algn="l">
              <a:spcBef>
                <a:spcPts val="1000"/>
              </a:spcBef>
              <a:spcAft>
                <a:spcPts val="0"/>
              </a:spcAft>
              <a:buSzPts val="1600"/>
              <a:buChar char="○"/>
            </a:pPr>
            <a:r>
              <a:rPr lang="en" sz="1600"/>
              <a:t>T</a:t>
            </a:r>
            <a:r>
              <a:rPr lang="en" sz="1600"/>
              <a:t>echnically you don't have to disable interrupts here since our chip has the ability to keep track of nested interrupts. But can you imagine the mess this could cause?</a:t>
            </a:r>
            <a:endParaRPr sz="1600"/>
          </a:p>
          <a:p>
            <a:pPr indent="-330200" lvl="0" marL="457200" rtl="0" algn="l">
              <a:spcBef>
                <a:spcPts val="1000"/>
              </a:spcBef>
              <a:spcAft>
                <a:spcPts val="0"/>
              </a:spcAft>
              <a:buSzPts val="1600"/>
              <a:buChar char="●"/>
            </a:pPr>
            <a:r>
              <a:rPr lang="en" sz="1600"/>
              <a:t>Huh?</a:t>
            </a:r>
            <a:endParaRPr sz="1600"/>
          </a:p>
          <a:p>
            <a:pPr indent="-330200" lvl="1" marL="914400" rtl="0" algn="l">
              <a:spcBef>
                <a:spcPts val="0"/>
              </a:spcBef>
              <a:spcAft>
                <a:spcPts val="0"/>
              </a:spcAft>
              <a:buSzPts val="1600"/>
              <a:buChar char="○"/>
            </a:pPr>
            <a:r>
              <a:rPr lang="en" sz="1600"/>
              <a:t>If you do lots of stuff inside one ISR, other interrupts could occur (and be ignored) during that time, delaying important actions.</a:t>
            </a:r>
            <a:endParaRPr sz="1600"/>
          </a:p>
          <a:p>
            <a:pPr indent="-330200" lvl="0" marL="457200" rtl="0" algn="l">
              <a:spcBef>
                <a:spcPts val="1000"/>
              </a:spcBef>
              <a:spcAft>
                <a:spcPts val="0"/>
              </a:spcAft>
              <a:buSzPts val="1600"/>
              <a:buChar char="●"/>
            </a:pPr>
            <a:r>
              <a:rPr lang="en" sz="1600"/>
              <a:t>We repeat: </a:t>
            </a:r>
            <a:endParaRPr sz="1600"/>
          </a:p>
          <a:p>
            <a:pPr indent="-330200" lvl="1" marL="914400" rtl="0" algn="l">
              <a:spcBef>
                <a:spcPts val="0"/>
              </a:spcBef>
              <a:spcAft>
                <a:spcPts val="0"/>
              </a:spcAft>
              <a:buSzPts val="1600"/>
              <a:buChar char="○"/>
            </a:pPr>
            <a:r>
              <a:rPr lang="en" sz="1600"/>
              <a:t>Never do long-latency work inside an ISR.</a:t>
            </a:r>
            <a:endParaRPr sz="1600"/>
          </a:p>
          <a:p>
            <a:pPr indent="-330200" lvl="1" marL="914400" rtl="0" algn="l">
              <a:spcBef>
                <a:spcPts val="0"/>
              </a:spcBef>
              <a:spcAft>
                <a:spcPts val="0"/>
              </a:spcAft>
              <a:buSzPts val="1600"/>
              <a:buChar char="○"/>
            </a:pPr>
            <a:r>
              <a:rPr lang="en" sz="1600"/>
              <a:t>Get in and out of an ISR quickly.</a:t>
            </a:r>
            <a:endParaRPr sz="1600"/>
          </a:p>
          <a:p>
            <a:pPr indent="-330200" lvl="1" marL="914400" rtl="0" algn="l">
              <a:spcBef>
                <a:spcPts val="0"/>
              </a:spcBef>
              <a:spcAft>
                <a:spcPts val="0"/>
              </a:spcAft>
              <a:buSzPts val="1600"/>
              <a:buChar char="○"/>
            </a:pPr>
            <a:r>
              <a:rPr lang="en" sz="1600"/>
              <a:t>Do not call functions within an ISR that will take a long time to complete.</a:t>
            </a:r>
            <a:endParaRPr sz="1600"/>
          </a:p>
          <a:p>
            <a:pPr indent="-330200" lvl="0" marL="457200" rtl="0" algn="l">
              <a:spcBef>
                <a:spcPts val="1000"/>
              </a:spcBef>
              <a:spcAft>
                <a:spcPts val="0"/>
              </a:spcAft>
              <a:buSzPts val="1600"/>
              <a:buChar char="●"/>
            </a:pPr>
            <a:r>
              <a:rPr lang="en" sz="1600"/>
              <a:t>Instead: Set a flag in the ISR and do the actual work elsewhere.</a:t>
            </a:r>
            <a:endParaRPr sz="16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7"/>
          <p:cNvSpPr txBox="1"/>
          <p:nvPr>
            <p:ph type="title"/>
          </p:nvPr>
        </p:nvSpPr>
        <p:spPr>
          <a:xfrm>
            <a:off x="311700" y="593375"/>
            <a:ext cx="34143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“Volatile” variables</a:t>
            </a:r>
            <a:endParaRPr/>
          </a:p>
        </p:txBody>
      </p:sp>
      <p:sp>
        <p:nvSpPr>
          <p:cNvPr id="514" name="Google Shape;514;p57"/>
          <p:cNvSpPr txBox="1"/>
          <p:nvPr>
            <p:ph idx="1" type="body"/>
          </p:nvPr>
        </p:nvSpPr>
        <p:spPr>
          <a:xfrm>
            <a:off x="311700" y="1326825"/>
            <a:ext cx="38754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compiler can be too helpful…</a:t>
            </a:r>
            <a:endParaRPr sz="1600"/>
          </a:p>
          <a:p>
            <a:pPr indent="0" lvl="0" marL="0" rtl="0" algn="l">
              <a:spcBef>
                <a:spcPts val="1600"/>
              </a:spcBef>
              <a:spcAft>
                <a:spcPts val="0"/>
              </a:spcAft>
              <a:buNone/>
            </a:pPr>
            <a:r>
              <a:rPr lang="en" sz="1600"/>
              <a:t>If "volatile" is left out:</a:t>
            </a:r>
            <a:endParaRPr sz="1600"/>
          </a:p>
          <a:p>
            <a:pPr indent="-330200" lvl="0" marL="457200" rtl="0" algn="l">
              <a:spcBef>
                <a:spcPts val="1600"/>
              </a:spcBef>
              <a:spcAft>
                <a:spcPts val="0"/>
              </a:spcAft>
              <a:buSzPts val="1600"/>
              <a:buChar char="●"/>
            </a:pPr>
            <a:r>
              <a:rPr lang="en" sz="1600"/>
              <a:t>Compiler notices that </a:t>
            </a:r>
            <a:r>
              <a:rPr b="1" lang="en" sz="1600">
                <a:latin typeface="Courier New"/>
                <a:ea typeface="Courier New"/>
                <a:cs typeface="Courier New"/>
                <a:sym typeface="Courier New"/>
              </a:rPr>
              <a:t>timerElapsed </a:t>
            </a:r>
            <a:r>
              <a:rPr lang="en" sz="1600"/>
              <a:t> never changes inside </a:t>
            </a:r>
            <a:r>
              <a:rPr b="1" lang="en" sz="1600">
                <a:latin typeface="Courier New"/>
                <a:ea typeface="Courier New"/>
                <a:cs typeface="Courier New"/>
                <a:sym typeface="Courier New"/>
              </a:rPr>
              <a:t>main()</a:t>
            </a:r>
            <a:r>
              <a:rPr lang="en" sz="1600"/>
              <a:t> (it’s always 0)</a:t>
            </a:r>
            <a:r>
              <a:rPr lang="en" sz="1600"/>
              <a:t>. </a:t>
            </a:r>
            <a:endParaRPr sz="1600"/>
          </a:p>
          <a:p>
            <a:pPr indent="-330200" lvl="0" marL="457200" rtl="0" algn="l">
              <a:spcBef>
                <a:spcPts val="1000"/>
              </a:spcBef>
              <a:spcAft>
                <a:spcPts val="0"/>
              </a:spcAft>
              <a:buSzPts val="1600"/>
              <a:buChar char="●"/>
            </a:pPr>
            <a:r>
              <a:rPr lang="en" sz="1600"/>
              <a:t>Compiler “optimizes” the code, to avoid reading </a:t>
            </a:r>
            <a:r>
              <a:rPr b="1" lang="en" sz="1600">
                <a:latin typeface="Courier New"/>
                <a:ea typeface="Courier New"/>
                <a:cs typeface="Courier New"/>
                <a:sym typeface="Courier New"/>
              </a:rPr>
              <a:t>timerElapsed </a:t>
            </a:r>
            <a:r>
              <a:rPr lang="en" sz="1600"/>
              <a:t>from memory all the time.</a:t>
            </a:r>
            <a:endParaRPr sz="1600"/>
          </a:p>
          <a:p>
            <a:pPr indent="-330200" lvl="0" marL="457200" rtl="0" algn="l">
              <a:spcBef>
                <a:spcPts val="1000"/>
              </a:spcBef>
              <a:spcAft>
                <a:spcPts val="0"/>
              </a:spcAft>
              <a:buSzPts val="1600"/>
              <a:buChar char="●"/>
            </a:pPr>
            <a:r>
              <a:rPr lang="en" sz="1600"/>
              <a:t>Consequently:</a:t>
            </a:r>
            <a:endParaRPr sz="1600"/>
          </a:p>
          <a:p>
            <a:pPr indent="0" lvl="0" marL="914400" rtl="0" algn="l">
              <a:spcBef>
                <a:spcPts val="0"/>
              </a:spcBef>
              <a:spcAft>
                <a:spcPts val="1600"/>
              </a:spcAft>
              <a:buClr>
                <a:schemeClr val="dk1"/>
              </a:buClr>
              <a:buSzPts val="1100"/>
              <a:buFont typeface="Arial"/>
              <a:buNone/>
            </a:pPr>
            <a:r>
              <a:rPr b="1" lang="en" sz="1200">
                <a:solidFill>
                  <a:srgbClr val="800000"/>
                </a:solidFill>
                <a:latin typeface="Courier New"/>
                <a:ea typeface="Courier New"/>
                <a:cs typeface="Courier New"/>
                <a:sym typeface="Courier New"/>
              </a:rPr>
              <a:t>while</a:t>
            </a:r>
            <a:r>
              <a:rPr b="1" lang="en" sz="1200">
                <a:solidFill>
                  <a:schemeClr val="dk1"/>
                </a:solidFill>
                <a:latin typeface="Courier New"/>
                <a:ea typeface="Courier New"/>
                <a:cs typeface="Courier New"/>
                <a:sym typeface="Courier New"/>
              </a:rPr>
              <a:t> </a:t>
            </a:r>
            <a:r>
              <a:rPr b="1" lang="en" sz="1200">
                <a:solidFill>
                  <a:srgbClr val="808030"/>
                </a:solidFill>
                <a:latin typeface="Courier New"/>
                <a:ea typeface="Courier New"/>
                <a:cs typeface="Courier New"/>
                <a:sym typeface="Courier New"/>
              </a:rPr>
              <a:t>(</a:t>
            </a:r>
            <a:r>
              <a:rPr b="1" lang="en" sz="1200">
                <a:solidFill>
                  <a:srgbClr val="008C00"/>
                </a:solidFill>
                <a:latin typeface="Courier New"/>
                <a:ea typeface="Courier New"/>
                <a:cs typeface="Courier New"/>
                <a:sym typeface="Courier New"/>
              </a:rPr>
              <a:t>1</a:t>
            </a:r>
            <a:r>
              <a:rPr b="1" lang="en" sz="1200">
                <a:solidFill>
                  <a:srgbClr val="80803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00"/>
                </a:solidFill>
                <a:latin typeface="Courier New"/>
                <a:ea typeface="Courier New"/>
                <a:cs typeface="Courier New"/>
                <a:sym typeface="Courier New"/>
              </a:rPr>
              <a:t>if</a:t>
            </a:r>
            <a:r>
              <a:rPr b="1" lang="en" sz="1200">
                <a:solidFill>
                  <a:schemeClr val="dk1"/>
                </a:solidFill>
                <a:latin typeface="Courier New"/>
                <a:ea typeface="Courier New"/>
                <a:cs typeface="Courier New"/>
                <a:sym typeface="Courier New"/>
              </a:rPr>
              <a:t> </a:t>
            </a:r>
            <a:r>
              <a:rPr b="1" lang="en" sz="1200">
                <a:solidFill>
                  <a:srgbClr val="80803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0</a:t>
            </a:r>
            <a:r>
              <a:rPr b="1" lang="en" sz="1200">
                <a:solidFill>
                  <a:srgbClr val="80803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 do something      </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800000"/>
                </a:solidFill>
                <a:latin typeface="Courier New"/>
                <a:ea typeface="Courier New"/>
                <a:cs typeface="Courier New"/>
                <a:sym typeface="Courier New"/>
              </a:rPr>
              <a:t>else</a:t>
            </a: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 do something else</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endParaRPr b="1" sz="1900"/>
          </a:p>
        </p:txBody>
      </p:sp>
      <p:sp>
        <p:nvSpPr>
          <p:cNvPr id="515" name="Google Shape;515;p57"/>
          <p:cNvSpPr txBox="1"/>
          <p:nvPr/>
        </p:nvSpPr>
        <p:spPr>
          <a:xfrm>
            <a:off x="4325450" y="164900"/>
            <a:ext cx="4818600" cy="6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t>But, d</a:t>
            </a:r>
            <a:r>
              <a:rPr lang="en" sz="1600"/>
              <a:t>eclaring a global variable as </a:t>
            </a:r>
            <a:r>
              <a:rPr lang="en" sz="1600">
                <a:highlight>
                  <a:srgbClr val="FFFF00"/>
                </a:highlight>
              </a:rPr>
              <a:t>volatile</a:t>
            </a:r>
            <a:r>
              <a:rPr lang="en" sz="1600"/>
              <a:t> tells the compiler not to optimize the code but always to get the latest value of the variable.</a:t>
            </a:r>
            <a:endParaRPr sz="1600"/>
          </a:p>
          <a:p>
            <a:pPr indent="0" lvl="0" marL="0" rtl="0" algn="l">
              <a:lnSpc>
                <a:spcPct val="115000"/>
              </a:lnSpc>
              <a:spcBef>
                <a:spcPts val="1600"/>
              </a:spcBef>
              <a:spcAft>
                <a:spcPts val="0"/>
              </a:spcAft>
              <a:buClr>
                <a:schemeClr val="dk1"/>
              </a:buClr>
              <a:buSzPts val="1100"/>
              <a:buFont typeface="Arial"/>
              <a:buNone/>
            </a:pPr>
            <a:r>
              <a:rPr b="1" lang="en" sz="1100">
                <a:solidFill>
                  <a:srgbClr val="800000"/>
                </a:solidFill>
                <a:highlight>
                  <a:srgbClr val="FFFF00"/>
                </a:highlight>
                <a:latin typeface="Courier New"/>
                <a:ea typeface="Courier New"/>
                <a:cs typeface="Courier New"/>
                <a:sym typeface="Courier New"/>
              </a:rPr>
              <a:t>volatile</a:t>
            </a:r>
            <a:r>
              <a:rPr b="1" lang="en" sz="1100">
                <a:solidFill>
                  <a:schemeClr val="dk1"/>
                </a:solidFill>
                <a:highlight>
                  <a:srgbClr val="FFFF00"/>
                </a:highlight>
                <a:latin typeface="Courier New"/>
                <a:ea typeface="Courier New"/>
                <a:cs typeface="Courier New"/>
                <a:sym typeface="Courier New"/>
              </a:rPr>
              <a:t> uint8_t timerElapsed</a:t>
            </a:r>
            <a:r>
              <a:rPr b="1" lang="en" sz="1100">
                <a:solidFill>
                  <a:srgbClr val="800080"/>
                </a:solidFill>
                <a:highlight>
                  <a:srgbClr val="FFFF00"/>
                </a:highlight>
                <a:latin typeface="Courier New"/>
                <a:ea typeface="Courier New"/>
                <a:cs typeface="Courier New"/>
                <a:sym typeface="Courier New"/>
              </a:rPr>
              <a:t>;</a:t>
            </a:r>
            <a:r>
              <a:rPr b="1" lang="en" sz="1100">
                <a:solidFill>
                  <a:schemeClr val="dk1"/>
                </a:solidFill>
                <a:highlight>
                  <a:srgbClr val="FFFF00"/>
                </a:highlight>
                <a:latin typeface="Courier New"/>
                <a:ea typeface="Courier New"/>
                <a:cs typeface="Courier New"/>
                <a:sym typeface="Courier New"/>
              </a:rPr>
              <a:t> </a:t>
            </a:r>
            <a:r>
              <a:rPr b="1" lang="en" sz="1100">
                <a:solidFill>
                  <a:srgbClr val="696969"/>
                </a:solidFill>
                <a:highlight>
                  <a:srgbClr val="FFFF00"/>
                </a:highlight>
                <a:latin typeface="Courier New"/>
                <a:ea typeface="Courier New"/>
                <a:cs typeface="Courier New"/>
                <a:sym typeface="Courier New"/>
              </a:rPr>
              <a:t>// shared variable</a:t>
            </a:r>
            <a:endParaRPr b="1" sz="1100">
              <a:solidFill>
                <a:srgbClr val="696969"/>
              </a:solidFill>
              <a:highlight>
                <a:srgbClr val="FFFF00"/>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br>
              <a:rPr b="1" lang="en" sz="1100">
                <a:solidFill>
                  <a:schemeClr val="dk1"/>
                </a:solidFill>
                <a:highlight>
                  <a:schemeClr val="lt1"/>
                </a:highlight>
                <a:latin typeface="Courier New"/>
                <a:ea typeface="Courier New"/>
                <a:cs typeface="Courier New"/>
                <a:sym typeface="Courier New"/>
              </a:rPr>
            </a:br>
            <a:r>
              <a:rPr b="1" lang="en" sz="1200">
                <a:solidFill>
                  <a:srgbClr val="800000"/>
                </a:solidFill>
                <a:latin typeface="Courier New"/>
                <a:ea typeface="Courier New"/>
                <a:cs typeface="Courier New"/>
                <a:sym typeface="Courier New"/>
              </a:rPr>
              <a:t>int</a:t>
            </a:r>
            <a:r>
              <a:rPr b="1" lang="en" sz="1200">
                <a:solidFill>
                  <a:schemeClr val="dk1"/>
                </a:solidFill>
                <a:latin typeface="Courier New"/>
                <a:ea typeface="Courier New"/>
                <a:cs typeface="Courier New"/>
                <a:sym typeface="Courier New"/>
              </a:rPr>
              <a:t> </a:t>
            </a:r>
            <a:r>
              <a:rPr b="1" lang="en" sz="1200">
                <a:solidFill>
                  <a:srgbClr val="400000"/>
                </a:solidFill>
                <a:latin typeface="Courier New"/>
                <a:ea typeface="Courier New"/>
                <a:cs typeface="Courier New"/>
                <a:sym typeface="Courier New"/>
              </a:rPr>
              <a:t>main</a:t>
            </a:r>
            <a:r>
              <a:rPr b="1" lang="en" sz="1200">
                <a:solidFill>
                  <a:srgbClr val="808030"/>
                </a:solidFill>
                <a:latin typeface="Courier New"/>
                <a:ea typeface="Courier New"/>
                <a:cs typeface="Courier New"/>
                <a:sym typeface="Courier New"/>
              </a:rPr>
              <a:t>(</a:t>
            </a:r>
            <a:r>
              <a:rPr b="1" lang="en" sz="1200">
                <a:solidFill>
                  <a:srgbClr val="800000"/>
                </a:solidFill>
                <a:latin typeface="Courier New"/>
                <a:ea typeface="Courier New"/>
                <a:cs typeface="Courier New"/>
                <a:sym typeface="Courier New"/>
              </a:rPr>
              <a:t>void</a:t>
            </a:r>
            <a:r>
              <a:rPr b="1" lang="en" sz="1200">
                <a:solidFill>
                  <a:srgbClr val="80803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timerElapsed </a:t>
            </a:r>
            <a:r>
              <a:rPr b="1" lang="en" sz="1200">
                <a:solidFill>
                  <a:srgbClr val="80803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008C00"/>
                </a:solidFill>
                <a:latin typeface="Courier New"/>
                <a:ea typeface="Courier New"/>
                <a:cs typeface="Courier New"/>
                <a:sym typeface="Courier New"/>
              </a:rPr>
              <a:t>0</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br>
              <a:rPr b="1" lang="en" sz="1200">
                <a:solidFill>
                  <a:srgbClr val="603000"/>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00"/>
                </a:solidFill>
                <a:latin typeface="Courier New"/>
                <a:ea typeface="Courier New"/>
                <a:cs typeface="Courier New"/>
                <a:sym typeface="Courier New"/>
              </a:rPr>
              <a:t>while</a:t>
            </a:r>
            <a:r>
              <a:rPr b="1" lang="en" sz="1200">
                <a:solidFill>
                  <a:schemeClr val="dk1"/>
                </a:solidFill>
                <a:latin typeface="Courier New"/>
                <a:ea typeface="Courier New"/>
                <a:cs typeface="Courier New"/>
                <a:sym typeface="Courier New"/>
              </a:rPr>
              <a:t> </a:t>
            </a:r>
            <a:r>
              <a:rPr b="1" lang="en" sz="1200">
                <a:solidFill>
                  <a:srgbClr val="808030"/>
                </a:solidFill>
                <a:latin typeface="Courier New"/>
                <a:ea typeface="Courier New"/>
                <a:cs typeface="Courier New"/>
                <a:sym typeface="Courier New"/>
              </a:rPr>
              <a:t>(</a:t>
            </a:r>
            <a:r>
              <a:rPr b="1" lang="en" sz="1200">
                <a:solidFill>
                  <a:srgbClr val="008C00"/>
                </a:solidFill>
                <a:latin typeface="Courier New"/>
                <a:ea typeface="Courier New"/>
                <a:cs typeface="Courier New"/>
                <a:sym typeface="Courier New"/>
              </a:rPr>
              <a:t>1</a:t>
            </a:r>
            <a:r>
              <a:rPr b="1" lang="en" sz="1200">
                <a:solidFill>
                  <a:srgbClr val="80803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00"/>
                </a:solidFill>
                <a:latin typeface="Courier New"/>
                <a:ea typeface="Courier New"/>
                <a:cs typeface="Courier New"/>
                <a:sym typeface="Courier New"/>
              </a:rPr>
              <a:t>if</a:t>
            </a:r>
            <a:r>
              <a:rPr b="1" lang="en" sz="1200">
                <a:solidFill>
                  <a:schemeClr val="dk1"/>
                </a:solidFill>
                <a:latin typeface="Courier New"/>
                <a:ea typeface="Courier New"/>
                <a:cs typeface="Courier New"/>
                <a:sym typeface="Courier New"/>
              </a:rPr>
              <a:t> </a:t>
            </a:r>
            <a:r>
              <a:rPr b="1" lang="en" sz="1200">
                <a:solidFill>
                  <a:srgbClr val="80803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timerElapsed</a:t>
            </a:r>
            <a:r>
              <a:rPr b="1" lang="en" sz="1200">
                <a:solidFill>
                  <a:srgbClr val="80803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 do something      </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timerElapsed </a:t>
            </a:r>
            <a:r>
              <a:rPr b="1" lang="en" sz="1200">
                <a:solidFill>
                  <a:srgbClr val="80803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008C00"/>
                </a:solidFill>
                <a:latin typeface="Courier New"/>
                <a:ea typeface="Courier New"/>
                <a:cs typeface="Courier New"/>
                <a:sym typeface="Courier New"/>
              </a:rPr>
              <a:t>0</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800000"/>
                </a:solidFill>
                <a:latin typeface="Courier New"/>
                <a:ea typeface="Courier New"/>
                <a:cs typeface="Courier New"/>
                <a:sym typeface="Courier New"/>
              </a:rPr>
              <a:t>else</a:t>
            </a: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 do something else</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chemeClr val="dk1"/>
                </a:solidFill>
                <a:latin typeface="Courier New"/>
                <a:ea typeface="Courier New"/>
                <a:cs typeface="Courier New"/>
                <a:sym typeface="Courier New"/>
              </a:rPr>
              <a:t>  </a:t>
            </a:r>
            <a:r>
              <a:rPr b="1" lang="en" sz="1200">
                <a:solidFill>
                  <a:srgbClr val="800000"/>
                </a:solidFill>
                <a:latin typeface="Courier New"/>
                <a:ea typeface="Courier New"/>
                <a:cs typeface="Courier New"/>
                <a:sym typeface="Courier New"/>
              </a:rPr>
              <a:t>return</a:t>
            </a:r>
            <a:r>
              <a:rPr b="1" lang="en" sz="1200">
                <a:solidFill>
                  <a:schemeClr val="dk1"/>
                </a:solidFill>
                <a:latin typeface="Courier New"/>
                <a:ea typeface="Courier New"/>
                <a:cs typeface="Courier New"/>
                <a:sym typeface="Courier New"/>
              </a:rPr>
              <a:t> </a:t>
            </a:r>
            <a:r>
              <a:rPr b="1" lang="en" sz="1200">
                <a:solidFill>
                  <a:srgbClr val="008C00"/>
                </a:solidFill>
                <a:latin typeface="Courier New"/>
                <a:ea typeface="Courier New"/>
                <a:cs typeface="Courier New"/>
                <a:sym typeface="Courier New"/>
              </a:rPr>
              <a:t>0</a:t>
            </a:r>
            <a:r>
              <a:rPr b="1" lang="en" sz="1200">
                <a:solidFill>
                  <a:srgbClr val="800080"/>
                </a:solidFill>
                <a:latin typeface="Courier New"/>
                <a:ea typeface="Courier New"/>
                <a:cs typeface="Courier New"/>
                <a:sym typeface="Courier New"/>
              </a:rPr>
              <a:t>;</a:t>
            </a:r>
            <a:br>
              <a:rPr b="1" lang="en" sz="1200">
                <a:solidFill>
                  <a:schemeClr val="dk1"/>
                </a:solidFill>
                <a:latin typeface="Courier New"/>
                <a:ea typeface="Courier New"/>
                <a:cs typeface="Courier New"/>
                <a:sym typeface="Courier New"/>
              </a:rPr>
            </a:br>
            <a:r>
              <a:rPr b="1" lang="en" sz="1200">
                <a:solidFill>
                  <a:srgbClr val="800080"/>
                </a:solidFill>
                <a:latin typeface="Courier New"/>
                <a:ea typeface="Courier New"/>
                <a:cs typeface="Courier New"/>
                <a:sym typeface="Courier New"/>
              </a:rPr>
              <a:t>}</a:t>
            </a:r>
            <a:endParaRPr b="1" sz="1200">
              <a:solidFill>
                <a:srgbClr val="80008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rgbClr val="800080"/>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latin typeface="Courier New"/>
                <a:ea typeface="Courier New"/>
                <a:cs typeface="Courier New"/>
                <a:sym typeface="Courier New"/>
              </a:rPr>
              <a:t>void</a:t>
            </a:r>
            <a:r>
              <a:rPr b="1" lang="en" sz="1200">
                <a:solidFill>
                  <a:schemeClr val="dk1"/>
                </a:solidFill>
                <a:latin typeface="Courier New"/>
                <a:ea typeface="Courier New"/>
                <a:cs typeface="Courier New"/>
                <a:sym typeface="Courier New"/>
              </a:rPr>
              <a:t> TIM14_IRQHandler(</a:t>
            </a:r>
            <a:r>
              <a:rPr b="1" lang="en" sz="1200">
                <a:solidFill>
                  <a:srgbClr val="7F0055"/>
                </a:solidFill>
                <a:latin typeface="Courier New"/>
                <a:ea typeface="Courier New"/>
                <a:cs typeface="Courier New"/>
                <a:sym typeface="Courier New"/>
              </a:rPr>
              <a:t>void</a:t>
            </a:r>
            <a:r>
              <a:rPr b="1" lang="en" sz="1200">
                <a:solidFill>
                  <a:schemeClr val="dk1"/>
                </a:solidFill>
                <a:latin typeface="Courier New"/>
                <a:ea typeface="Courier New"/>
                <a:cs typeface="Courier New"/>
                <a:sym typeface="Courier New"/>
              </a:rPr>
              <a:t>)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_disable_irq(); </a:t>
            </a:r>
            <a:r>
              <a:rPr b="1" lang="en" sz="1200">
                <a:solidFill>
                  <a:srgbClr val="3F7F59"/>
                </a:solidFill>
                <a:latin typeface="Courier New"/>
                <a:ea typeface="Courier New"/>
                <a:cs typeface="Courier New"/>
                <a:sym typeface="Courier New"/>
              </a:rPr>
              <a:t>// disable global interrupts</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TIM14-&gt;</a:t>
            </a:r>
            <a:r>
              <a:rPr b="1" lang="en" sz="1200">
                <a:solidFill>
                  <a:srgbClr val="0000C0"/>
                </a:solidFill>
                <a:latin typeface="Courier New"/>
                <a:ea typeface="Courier New"/>
                <a:cs typeface="Courier New"/>
                <a:sym typeface="Courier New"/>
              </a:rPr>
              <a:t>SR</a:t>
            </a:r>
            <a:r>
              <a:rPr b="1" lang="en" sz="1200">
                <a:solidFill>
                  <a:schemeClr val="dk1"/>
                </a:solidFill>
                <a:latin typeface="Courier New"/>
                <a:ea typeface="Courier New"/>
                <a:cs typeface="Courier New"/>
                <a:sym typeface="Courier New"/>
              </a:rPr>
              <a:t> = ~TIM_SR_UIF; </a:t>
            </a:r>
            <a:r>
              <a:rPr b="1" lang="en" sz="1200">
                <a:solidFill>
                  <a:srgbClr val="3F7F5F"/>
                </a:solidFill>
                <a:latin typeface="Courier New"/>
                <a:ea typeface="Courier New"/>
                <a:cs typeface="Courier New"/>
                <a:sym typeface="Courier New"/>
              </a:rPr>
              <a:t>// Clear UIF </a:t>
            </a:r>
            <a:endParaRPr b="1" sz="1200">
              <a:solidFill>
                <a:srgbClr val="3F7F5F"/>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timerElapsed = 1;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__enable_irq();  </a:t>
            </a:r>
            <a:r>
              <a:rPr b="1" lang="en" sz="1200">
                <a:solidFill>
                  <a:srgbClr val="3F7F59"/>
                </a:solidFill>
                <a:latin typeface="Courier New"/>
                <a:ea typeface="Courier New"/>
                <a:cs typeface="Courier New"/>
                <a:sym typeface="Courier New"/>
              </a:rPr>
              <a:t>// Enable global interrupts</a:t>
            </a:r>
            <a:endParaRPr b="1" sz="1200">
              <a:solidFill>
                <a:schemeClr val="dk1"/>
              </a:solidFill>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200">
              <a:solidFill>
                <a:srgbClr val="80000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latin typeface="Courier New"/>
              <a:ea typeface="Courier New"/>
              <a:cs typeface="Courier New"/>
              <a:sym typeface="Courier New"/>
            </a:endParaRPr>
          </a:p>
          <a:p>
            <a:pPr indent="0" lvl="0" marL="0" rtl="0" algn="l">
              <a:lnSpc>
                <a:spcPct val="115000"/>
              </a:lnSpc>
              <a:spcBef>
                <a:spcPts val="1600"/>
              </a:spcBef>
              <a:spcAft>
                <a:spcPts val="1600"/>
              </a:spcAft>
              <a:buClr>
                <a:schemeClr val="dk1"/>
              </a:buClr>
              <a:buSzPts val="1100"/>
              <a:buFont typeface="Arial"/>
              <a:buNone/>
            </a:pPr>
            <a:br>
              <a:rPr lang="en" sz="1100">
                <a:solidFill>
                  <a:schemeClr val="dk1"/>
                </a:solidFill>
                <a:highlight>
                  <a:srgbClr val="FFFF00"/>
                </a:highlight>
                <a:latin typeface="Courier New"/>
                <a:ea typeface="Courier New"/>
                <a:cs typeface="Courier New"/>
                <a:sym typeface="Courier New"/>
              </a:rPr>
            </a:br>
            <a:endParaRPr>
              <a:highlight>
                <a:srgbClr val="FFFF00"/>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8"/>
          <p:cNvSpPr txBox="1"/>
          <p:nvPr>
            <p:ph type="title"/>
          </p:nvPr>
        </p:nvSpPr>
        <p:spPr>
          <a:xfrm>
            <a:off x="311700" y="2022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For any interrupt</a:t>
            </a:r>
            <a:endParaRPr/>
          </a:p>
        </p:txBody>
      </p:sp>
      <p:sp>
        <p:nvSpPr>
          <p:cNvPr id="521" name="Google Shape;521;p58"/>
          <p:cNvSpPr txBox="1"/>
          <p:nvPr>
            <p:ph idx="1" type="body"/>
          </p:nvPr>
        </p:nvSpPr>
        <p:spPr>
          <a:xfrm>
            <a:off x="311700" y="1056075"/>
            <a:ext cx="8520600" cy="5355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Define the appropriate ISR: be sure to use the correct name, check whether your desired event occurred, clear that event's pending flag, set a flag (via a global volatile variable) that you then check in your main code.</a:t>
            </a:r>
            <a:endParaRPr sz="1600"/>
          </a:p>
          <a:p>
            <a:pPr indent="0" lvl="0" marL="914400" rtl="0" algn="l">
              <a:spcBef>
                <a:spcPts val="1600"/>
              </a:spcBef>
              <a:spcAft>
                <a:spcPts val="0"/>
              </a:spcAft>
              <a:buNone/>
            </a:pPr>
            <a:r>
              <a:rPr b="1" lang="en" sz="1200">
                <a:solidFill>
                  <a:srgbClr val="0000FF"/>
                </a:solidFill>
                <a:latin typeface="Courier New"/>
                <a:ea typeface="Courier New"/>
                <a:cs typeface="Courier New"/>
                <a:sym typeface="Courier New"/>
              </a:rPr>
              <a:t>void TIM14_IRQHandler(void)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_disable_irq(); // disable global interrupts</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TIM14-&gt;SR = ~TIM_SR_UIF; // Clear UIF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timerElapsed = 1;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__enable_irq();  // Enable global interrupts</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a:t>
            </a:r>
            <a:endParaRPr b="1" sz="1200">
              <a:solidFill>
                <a:srgbClr val="0000FF"/>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rgbClr val="0000FF"/>
              </a:solidFill>
              <a:latin typeface="Courier New"/>
              <a:ea typeface="Courier New"/>
              <a:cs typeface="Courier New"/>
              <a:sym typeface="Courier New"/>
            </a:endParaRPr>
          </a:p>
          <a:p>
            <a:pPr indent="-330200" lvl="0" marL="457200" rtl="0" algn="l">
              <a:spcBef>
                <a:spcPts val="0"/>
              </a:spcBef>
              <a:spcAft>
                <a:spcPts val="0"/>
              </a:spcAft>
              <a:buSzPts val="1600"/>
              <a:buAutoNum type="arabicPeriod"/>
            </a:pPr>
            <a:r>
              <a:rPr lang="en" sz="1600"/>
              <a:t>During initialization, enable the interrupt source.</a:t>
            </a:r>
            <a:endParaRPr sz="1600"/>
          </a:p>
          <a:p>
            <a:pPr indent="0" lvl="0" marL="914400" rtl="0" algn="l">
              <a:spcBef>
                <a:spcPts val="1600"/>
              </a:spcBef>
              <a:spcAft>
                <a:spcPts val="0"/>
              </a:spcAft>
              <a:buNone/>
            </a:pPr>
            <a:r>
              <a:rPr b="1" lang="en" sz="1200">
                <a:solidFill>
                  <a:srgbClr val="0000FF"/>
                </a:solidFill>
                <a:latin typeface="Courier New"/>
                <a:ea typeface="Courier New"/>
                <a:cs typeface="Courier New"/>
                <a:sym typeface="Courier New"/>
              </a:rPr>
              <a:t>// Enable update interrupt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TIM14-&gt;DIER |= TIM_DIER_UIE;</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 Enable timer interrupt in NVIC </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rPr b="1" lang="en" sz="1200">
                <a:solidFill>
                  <a:srgbClr val="0000FF"/>
                </a:solidFill>
                <a:latin typeface="Courier New"/>
                <a:ea typeface="Courier New"/>
                <a:cs typeface="Courier New"/>
                <a:sym typeface="Courier New"/>
              </a:rPr>
              <a:t>NVIC_EnableIRQ(TIM14_IRQn);</a:t>
            </a:r>
            <a:endParaRPr b="1" sz="1200">
              <a:solidFill>
                <a:srgbClr val="0000FF"/>
              </a:solidFill>
              <a:latin typeface="Courier New"/>
              <a:ea typeface="Courier New"/>
              <a:cs typeface="Courier New"/>
              <a:sym typeface="Courier New"/>
            </a:endParaRPr>
          </a:p>
          <a:p>
            <a:pPr indent="0" lvl="0" marL="914400" rtl="0" algn="l">
              <a:spcBef>
                <a:spcPts val="0"/>
              </a:spcBef>
              <a:spcAft>
                <a:spcPts val="0"/>
              </a:spcAft>
              <a:buNone/>
            </a:pPr>
            <a:r>
              <a:t/>
            </a:r>
            <a:endParaRPr b="1" sz="1200">
              <a:solidFill>
                <a:srgbClr val="0000FF"/>
              </a:solidFill>
              <a:latin typeface="Courier New"/>
              <a:ea typeface="Courier New"/>
              <a:cs typeface="Courier New"/>
              <a:sym typeface="Courier New"/>
            </a:endParaRPr>
          </a:p>
          <a:p>
            <a:pPr indent="-330200" lvl="0" marL="457200" rtl="0" algn="l">
              <a:spcBef>
                <a:spcPts val="0"/>
              </a:spcBef>
              <a:spcAft>
                <a:spcPts val="0"/>
              </a:spcAft>
              <a:buSzPts val="1600"/>
              <a:buAutoNum type="arabicPeriod"/>
            </a:pPr>
            <a:r>
              <a:rPr lang="en" sz="1600"/>
              <a:t>Wait for the interrupt to occur or invoke behavior that will eventually lead to an interrupt, e.g., </a:t>
            </a:r>
            <a:r>
              <a:rPr lang="en" sz="1600">
                <a:solidFill>
                  <a:srgbClr val="0000E6"/>
                </a:solidFill>
              </a:rPr>
              <a:t>timer resets to 0 upon reaching autoreload value</a:t>
            </a:r>
            <a:r>
              <a:rPr lang="en" sz="1600">
                <a:solidFill>
                  <a:srgbClr val="0000E6"/>
                </a:solidFill>
              </a:rPr>
              <a:t>.</a:t>
            </a:r>
            <a:endParaRPr sz="1600">
              <a:solidFill>
                <a:srgbClr val="0000E6"/>
              </a:solidFill>
            </a:endParaRPr>
          </a:p>
          <a:p>
            <a:pPr indent="0" lvl="0" marL="914400" rtl="0" algn="l">
              <a:spcBef>
                <a:spcPts val="1600"/>
              </a:spcBef>
              <a:spcAft>
                <a:spcPts val="1600"/>
              </a:spcAft>
              <a:buNone/>
            </a:pPr>
            <a:r>
              <a:t/>
            </a:r>
            <a:endParaRPr>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9"/>
          <p:cNvSpPr txBox="1"/>
          <p:nvPr>
            <p:ph type="title"/>
          </p:nvPr>
        </p:nvSpPr>
        <p:spPr>
          <a:xfrm>
            <a:off x="49700" y="69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Blinky with a timer</a:t>
            </a:r>
            <a:endParaRPr/>
          </a:p>
        </p:txBody>
      </p:sp>
      <p:sp>
        <p:nvSpPr>
          <p:cNvPr id="527" name="Google Shape;527;p59"/>
          <p:cNvSpPr txBox="1"/>
          <p:nvPr/>
        </p:nvSpPr>
        <p:spPr>
          <a:xfrm>
            <a:off x="109025" y="737725"/>
            <a:ext cx="4666500" cy="6104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&lt;stdio.h&gt;</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#include</a:t>
            </a:r>
            <a:r>
              <a:rPr b="1" lang="en" sz="1200">
                <a:solidFill>
                  <a:schemeClr val="dk1"/>
                </a:solidFill>
                <a:highlight>
                  <a:srgbClr val="FFFFFF"/>
                </a:highlight>
                <a:latin typeface="Courier New"/>
                <a:ea typeface="Courier New"/>
                <a:cs typeface="Courier New"/>
                <a:sym typeface="Courier New"/>
              </a:rPr>
              <a:t> </a:t>
            </a:r>
            <a:r>
              <a:rPr b="1" lang="en" sz="1200">
                <a:solidFill>
                  <a:srgbClr val="2A00FF"/>
                </a:solidFill>
                <a:highlight>
                  <a:srgbClr val="FFFFFF"/>
                </a:highlight>
                <a:latin typeface="Courier New"/>
                <a:ea typeface="Courier New"/>
                <a:cs typeface="Courier New"/>
                <a:sym typeface="Courier New"/>
              </a:rPr>
              <a:t>"ES28.h"</a:t>
            </a:r>
            <a:endParaRPr b="1" sz="1200">
              <a:solidFill>
                <a:srgbClr val="2A00F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LED (1U&lt;&lt;5) </a:t>
            </a:r>
            <a:r>
              <a:rPr b="1" lang="en" sz="1200">
                <a:solidFill>
                  <a:srgbClr val="3F7F5F"/>
                </a:solidFill>
                <a:highlight>
                  <a:srgbClr val="FFFFFF"/>
                </a:highlight>
                <a:latin typeface="Courier New"/>
                <a:ea typeface="Courier New"/>
                <a:cs typeface="Courier New"/>
                <a:sym typeface="Courier New"/>
              </a:rPr>
              <a:t>// blinking the on-board LED</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PSC_FACTOR 12000 </a:t>
            </a:r>
            <a:r>
              <a:rPr b="1" lang="en" sz="1200">
                <a:solidFill>
                  <a:srgbClr val="3F7F5F"/>
                </a:solidFill>
                <a:highlight>
                  <a:srgbClr val="FFFFFF"/>
                </a:highlight>
                <a:latin typeface="Courier New"/>
                <a:ea typeface="Courier New"/>
                <a:cs typeface="Courier New"/>
                <a:sym typeface="Courier New"/>
              </a:rPr>
              <a:t>// 12 MHz/12000 = 1 kHz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#define</a:t>
            </a:r>
            <a:r>
              <a:rPr b="1" lang="en" sz="1200">
                <a:solidFill>
                  <a:schemeClr val="dk1"/>
                </a:solidFill>
                <a:highlight>
                  <a:srgbClr val="FFFFFF"/>
                </a:highlight>
                <a:latin typeface="Courier New"/>
                <a:ea typeface="Courier New"/>
                <a:cs typeface="Courier New"/>
                <a:sym typeface="Courier New"/>
              </a:rPr>
              <a:t> ARR_FACTOR 500   </a:t>
            </a:r>
            <a:r>
              <a:rPr b="1" lang="en" sz="1200">
                <a:solidFill>
                  <a:srgbClr val="3F7F5F"/>
                </a:solidFill>
                <a:highlight>
                  <a:srgbClr val="FFFFFF"/>
                </a:highlight>
                <a:latin typeface="Courier New"/>
                <a:ea typeface="Courier New"/>
                <a:cs typeface="Courier New"/>
                <a:sym typeface="Courier New"/>
              </a:rPr>
              <a:t>// 1 kHz/500 = 2 Hz</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tim14_500ms_interrupt_init();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CD7FF"/>
                </a:highlight>
                <a:latin typeface="Courier New"/>
                <a:ea typeface="Courier New"/>
                <a:cs typeface="Courier New"/>
                <a:sym typeface="Courier New"/>
              </a:rPr>
              <a:t>volatile int</a:t>
            </a:r>
            <a:r>
              <a:rPr b="1" lang="en" sz="1200">
                <a:solidFill>
                  <a:schemeClr val="dk1"/>
                </a:solidFill>
                <a:highlight>
                  <a:srgbClr val="FCD7FF"/>
                </a:highlight>
                <a:latin typeface="Courier New"/>
                <a:ea typeface="Courier New"/>
                <a:cs typeface="Courier New"/>
                <a:sym typeface="Courier New"/>
              </a:rPr>
              <a:t> timerElapsed; </a:t>
            </a:r>
            <a:r>
              <a:rPr b="1" lang="en" sz="1200">
                <a:solidFill>
                  <a:srgbClr val="3F7F5F"/>
                </a:solidFill>
                <a:highlight>
                  <a:srgbClr val="FCD7FF"/>
                </a:highlight>
                <a:latin typeface="Courier New"/>
                <a:ea typeface="Courier New"/>
                <a:cs typeface="Courier New"/>
                <a:sym typeface="Courier New"/>
              </a:rPr>
              <a:t>// global flag</a:t>
            </a:r>
            <a:endParaRPr b="1" sz="1200">
              <a:solidFill>
                <a:srgbClr val="3F7F5F"/>
              </a:solidFill>
              <a:highlight>
                <a:srgbClr val="FCD7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2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main(</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GPIOA</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IOPENR</a:t>
            </a:r>
            <a:r>
              <a:rPr b="1" lang="en" sz="1200">
                <a:solidFill>
                  <a:schemeClr val="dk1"/>
                </a:solidFill>
                <a:highlight>
                  <a:srgbClr val="FFFFFF"/>
                </a:highlight>
                <a:latin typeface="Courier New"/>
                <a:ea typeface="Courier New"/>
                <a:cs typeface="Courier New"/>
                <a:sym typeface="Courier New"/>
              </a:rPr>
              <a:t> |=  RCC_IOPENR_GPIOAEN;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PA5 as output pin</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GPIOA-&gt;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&amp;= ~GPIO_MODER_MODE5_Msk;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GPIOA-&gt;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 (GPIO_OUTPUT &lt;&lt; </a:t>
            </a:r>
            <a:endParaRPr b="1" sz="1200">
              <a:solidFill>
                <a:schemeClr val="dk1"/>
              </a:solidFill>
              <a:highlight>
                <a:srgbClr val="FFFFFF"/>
              </a:highlight>
              <a:latin typeface="Courier New"/>
              <a:ea typeface="Courier New"/>
              <a:cs typeface="Courier New"/>
              <a:sym typeface="Courier New"/>
            </a:endParaRPr>
          </a:p>
          <a:p>
            <a:pPr indent="431800" lvl="0" marL="13970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GPIO_MODER_MODE5_Pos); </a:t>
            </a:r>
            <a:endParaRPr b="1" sz="1200">
              <a:solidFill>
                <a:schemeClr val="dk1"/>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GPIOA-&gt;</a:t>
            </a:r>
            <a:r>
              <a:rPr b="1" lang="en" sz="1200">
                <a:solidFill>
                  <a:srgbClr val="0000C0"/>
                </a:solidFill>
                <a:highlight>
                  <a:srgbClr val="FFFFFF"/>
                </a:highlight>
                <a:latin typeface="Courier New"/>
                <a:ea typeface="Courier New"/>
                <a:cs typeface="Courier New"/>
                <a:sym typeface="Courier New"/>
              </a:rPr>
              <a:t>ODR</a:t>
            </a:r>
            <a:r>
              <a:rPr b="1" lang="en" sz="1200">
                <a:solidFill>
                  <a:schemeClr val="dk1"/>
                </a:solidFill>
                <a:highlight>
                  <a:srgbClr val="FFFFFF"/>
                </a:highlight>
                <a:latin typeface="Courier New"/>
                <a:ea typeface="Courier New"/>
                <a:cs typeface="Courier New"/>
                <a:sym typeface="Courier New"/>
              </a:rPr>
              <a:t> &amp;= ~(LED); </a:t>
            </a:r>
            <a:r>
              <a:rPr b="1" lang="en" sz="1200">
                <a:solidFill>
                  <a:srgbClr val="3F7F5F"/>
                </a:solidFill>
                <a:highlight>
                  <a:schemeClr val="lt1"/>
                </a:highlight>
                <a:latin typeface="Courier New"/>
                <a:ea typeface="Courier New"/>
                <a:cs typeface="Courier New"/>
                <a:sym typeface="Courier New"/>
              </a:rPr>
              <a:t>// Start LED as off</a:t>
            </a:r>
            <a:endParaRPr b="1" sz="12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timerElapsed = 0; </a:t>
            </a:r>
            <a:r>
              <a:rPr b="1" lang="en" sz="1200">
                <a:solidFill>
                  <a:srgbClr val="3F7F5F"/>
                </a:solidFill>
                <a:highlight>
                  <a:srgbClr val="FCD7FF"/>
                </a:highlight>
                <a:latin typeface="Courier New"/>
                <a:ea typeface="Courier New"/>
                <a:cs typeface="Courier New"/>
                <a:sym typeface="Courier New"/>
              </a:rPr>
              <a:t>// initialize flag</a:t>
            </a:r>
            <a:endParaRPr b="1" sz="1200">
              <a:solidFill>
                <a:srgbClr val="3F7F5F"/>
              </a:solidFill>
              <a:highlight>
                <a:srgbClr val="FCD7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 sz="1200">
                <a:solidFill>
                  <a:srgbClr val="3F7F5F"/>
                </a:solidFill>
                <a:highlight>
                  <a:schemeClr val="lt1"/>
                </a:highlight>
                <a:latin typeface="Courier New"/>
                <a:ea typeface="Courier New"/>
                <a:cs typeface="Courier New"/>
                <a:sym typeface="Courier New"/>
              </a:rPr>
              <a:t>// Initialize the 500 ms timer</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tim14_500ms_interrupt_init();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(1)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CD7FF"/>
                </a:highlight>
                <a:latin typeface="Courier New"/>
                <a:ea typeface="Courier New"/>
                <a:cs typeface="Courier New"/>
                <a:sym typeface="Courier New"/>
              </a:rPr>
              <a:t>if</a:t>
            </a:r>
            <a:r>
              <a:rPr b="1" lang="en" sz="1200">
                <a:solidFill>
                  <a:schemeClr val="dk1"/>
                </a:solidFill>
                <a:highlight>
                  <a:srgbClr val="FCD7FF"/>
                </a:highlight>
                <a:latin typeface="Courier New"/>
                <a:ea typeface="Courier New"/>
                <a:cs typeface="Courier New"/>
                <a:sym typeface="Courier New"/>
              </a:rPr>
              <a:t> (timerElapsed) {</a:t>
            </a:r>
            <a:endParaRPr b="1" sz="1200">
              <a:solidFill>
                <a:schemeClr val="dk1"/>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			timerElapsed = 0; </a:t>
            </a:r>
            <a:r>
              <a:rPr b="1" lang="en" sz="1200">
                <a:solidFill>
                  <a:srgbClr val="3F7F5F"/>
                </a:solidFill>
                <a:highlight>
                  <a:srgbClr val="FCD7FF"/>
                </a:highlight>
                <a:latin typeface="Courier New"/>
                <a:ea typeface="Courier New"/>
                <a:cs typeface="Courier New"/>
                <a:sym typeface="Courier New"/>
              </a:rPr>
              <a:t>// clear flag</a:t>
            </a:r>
            <a:endParaRPr b="1" sz="1200">
              <a:solidFill>
                <a:schemeClr val="dk1"/>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			GPIOA-&gt;</a:t>
            </a:r>
            <a:r>
              <a:rPr b="1" lang="en" sz="1200">
                <a:solidFill>
                  <a:srgbClr val="0000C0"/>
                </a:solidFill>
                <a:highlight>
                  <a:srgbClr val="FCD7FF"/>
                </a:highlight>
                <a:latin typeface="Courier New"/>
                <a:ea typeface="Courier New"/>
                <a:cs typeface="Courier New"/>
                <a:sym typeface="Courier New"/>
              </a:rPr>
              <a:t>ODR</a:t>
            </a:r>
            <a:r>
              <a:rPr b="1" lang="en" sz="1200">
                <a:solidFill>
                  <a:schemeClr val="dk1"/>
                </a:solidFill>
                <a:highlight>
                  <a:srgbClr val="FCD7FF"/>
                </a:highlight>
                <a:latin typeface="Courier New"/>
                <a:ea typeface="Courier New"/>
                <a:cs typeface="Courier New"/>
                <a:sym typeface="Courier New"/>
              </a:rPr>
              <a:t> ^= LED; </a:t>
            </a:r>
            <a:r>
              <a:rPr b="1" lang="en" sz="1200">
                <a:solidFill>
                  <a:srgbClr val="3F7F5F"/>
                </a:solidFill>
                <a:highlight>
                  <a:srgbClr val="FCD7FF"/>
                </a:highlight>
                <a:latin typeface="Courier New"/>
                <a:ea typeface="Courier New"/>
                <a:cs typeface="Courier New"/>
                <a:sym typeface="Courier New"/>
              </a:rPr>
              <a:t>// toggle LED</a:t>
            </a:r>
            <a:endParaRPr b="1" sz="1200">
              <a:solidFill>
                <a:srgbClr val="3F7F5F"/>
              </a:solidFill>
              <a:highlight>
                <a:srgbClr val="FCD7FF"/>
              </a:highlight>
              <a:latin typeface="Courier New"/>
              <a:ea typeface="Courier New"/>
              <a:cs typeface="Courier New"/>
              <a:sym typeface="Courier New"/>
            </a:endParaRPr>
          </a:p>
          <a:p>
            <a:pPr indent="431800" lvl="0" marL="482600" rtl="0" algn="l">
              <a:lnSpc>
                <a:spcPct val="115000"/>
              </a:lnSpc>
              <a:spcBef>
                <a:spcPts val="0"/>
              </a:spcBef>
              <a:spcAft>
                <a:spcPts val="0"/>
              </a:spcAft>
              <a:buClr>
                <a:schemeClr val="dk1"/>
              </a:buClr>
              <a:buSzPts val="1100"/>
              <a:buFont typeface="Arial"/>
              <a:buNone/>
            </a:pPr>
            <a:r>
              <a:rPr b="1" lang="en" sz="1200">
                <a:solidFill>
                  <a:schemeClr val="dk1"/>
                </a:solidFill>
                <a:highlight>
                  <a:srgbClr val="FCD7FF"/>
                </a:highlight>
                <a:latin typeface="Courier New"/>
                <a:ea typeface="Courier New"/>
                <a:cs typeface="Courier New"/>
                <a:sym typeface="Courier New"/>
              </a:rPr>
              <a:t>}</a:t>
            </a:r>
            <a:endParaRPr b="1" sz="1200">
              <a:solidFill>
                <a:srgbClr val="3F7F5F"/>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sz="1200">
              <a:solidFill>
                <a:schemeClr val="dk2"/>
              </a:solidFill>
            </a:endParaRPr>
          </a:p>
        </p:txBody>
      </p:sp>
      <p:sp>
        <p:nvSpPr>
          <p:cNvPr id="528" name="Google Shape;528;p59"/>
          <p:cNvSpPr txBox="1"/>
          <p:nvPr/>
        </p:nvSpPr>
        <p:spPr>
          <a:xfrm>
            <a:off x="4857475" y="58050"/>
            <a:ext cx="4203600" cy="6741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tim14_500ms_interrupt_init()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disable global interrupt</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__disable_irq();</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timer 14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APBENR2</a:t>
            </a:r>
            <a:r>
              <a:rPr b="1" lang="en" sz="1200">
                <a:solidFill>
                  <a:schemeClr val="dk1"/>
                </a:solidFill>
                <a:highlight>
                  <a:srgbClr val="FFFFFF"/>
                </a:highlight>
                <a:latin typeface="Courier New"/>
                <a:ea typeface="Courier New"/>
                <a:cs typeface="Courier New"/>
                <a:sym typeface="Courier New"/>
              </a:rPr>
              <a:t> |= RCC_APBENR2_TIM14EN;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t>
            </a:r>
            <a:r>
              <a:rPr b="1" lang="en" sz="1200" u="sng">
                <a:solidFill>
                  <a:srgbClr val="3F7F5F"/>
                </a:solidFill>
                <a:highlight>
                  <a:srgbClr val="FFFFFF"/>
                </a:highlight>
                <a:latin typeface="Courier New"/>
                <a:ea typeface="Courier New"/>
                <a:cs typeface="Courier New"/>
                <a:sym typeface="Courier New"/>
              </a:rPr>
              <a:t>prescaler</a:t>
            </a:r>
            <a:r>
              <a:rPr b="1" lang="en" sz="1200">
                <a:solidFill>
                  <a:srgbClr val="3F7F5F"/>
                </a:solidFill>
                <a:highlight>
                  <a:srgbClr val="FFFFFF"/>
                </a:highlight>
                <a:latin typeface="Courier New"/>
                <a:ea typeface="Courier New"/>
                <a:cs typeface="Courier New"/>
                <a:sym typeface="Courier New"/>
              </a:rPr>
              <a:t> value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PSC</a:t>
            </a:r>
            <a:r>
              <a:rPr b="1" lang="en" sz="1200">
                <a:solidFill>
                  <a:schemeClr val="dk1"/>
                </a:solidFill>
                <a:highlight>
                  <a:srgbClr val="FFFFFF"/>
                </a:highlight>
                <a:latin typeface="Courier New"/>
                <a:ea typeface="Courier New"/>
                <a:cs typeface="Courier New"/>
                <a:sym typeface="Courier New"/>
              </a:rPr>
              <a:t> = PSC_FACTOR - 1;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auto-reload value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ARR</a:t>
            </a:r>
            <a:r>
              <a:rPr b="1" lang="en" sz="1200">
                <a:solidFill>
                  <a:schemeClr val="dk1"/>
                </a:solidFill>
                <a:highlight>
                  <a:srgbClr val="FFFFFF"/>
                </a:highlight>
                <a:latin typeface="Courier New"/>
                <a:ea typeface="Courier New"/>
                <a:cs typeface="Courier New"/>
                <a:sym typeface="Courier New"/>
              </a:rPr>
              <a:t> = ARR_FACTOR - 1;</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Clear counter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CNT</a:t>
            </a:r>
            <a:r>
              <a:rPr b="1" lang="en" sz="1200">
                <a:solidFill>
                  <a:schemeClr val="dk1"/>
                </a:solidFill>
                <a:highlight>
                  <a:srgbClr val="FFFFFF"/>
                </a:highlight>
                <a:latin typeface="Courier New"/>
                <a:ea typeface="Courier New"/>
                <a:cs typeface="Courier New"/>
                <a:sym typeface="Courier New"/>
              </a:rPr>
              <a:t> = 0;</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update interrupt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DIER</a:t>
            </a:r>
            <a:r>
              <a:rPr b="1" lang="en" sz="1200">
                <a:solidFill>
                  <a:schemeClr val="dk1"/>
                </a:solidFill>
                <a:highlight>
                  <a:srgbClr val="FFFFFF"/>
                </a:highlight>
                <a:latin typeface="Courier New"/>
                <a:ea typeface="Courier New"/>
                <a:cs typeface="Courier New"/>
                <a:sym typeface="Courier New"/>
              </a:rPr>
              <a:t> |= TIM_DIER_UIE;</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 interrupt in NVIC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NVIC_EnableIRQ(</a:t>
            </a:r>
            <a:r>
              <a:rPr b="1" i="1" lang="en" sz="1200">
                <a:solidFill>
                  <a:srgbClr val="0000C0"/>
                </a:solidFill>
                <a:highlight>
                  <a:srgbClr val="FFFFFF"/>
                </a:highlight>
                <a:latin typeface="Courier New"/>
                <a:ea typeface="Courier New"/>
                <a:cs typeface="Courier New"/>
                <a:sym typeface="Courier New"/>
              </a:rPr>
              <a:t>TIM14_IRQn</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timer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TIM14-&gt;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TIM_CR1_CEN;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global interrupt</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__enable_irq();</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rgbClr val="7F0055"/>
                </a:solidFill>
                <a:highlight>
                  <a:schemeClr val="lt1"/>
                </a:highlight>
                <a:latin typeface="Courier New"/>
                <a:ea typeface="Courier New"/>
                <a:cs typeface="Courier New"/>
                <a:sym typeface="Courier New"/>
              </a:rPr>
              <a:t>void</a:t>
            </a:r>
            <a:r>
              <a:rPr b="1" lang="en" sz="1200">
                <a:solidFill>
                  <a:schemeClr val="dk1"/>
                </a:solidFill>
                <a:highlight>
                  <a:schemeClr val="lt1"/>
                </a:highlight>
                <a:latin typeface="Courier New"/>
                <a:ea typeface="Courier New"/>
                <a:cs typeface="Courier New"/>
                <a:sym typeface="Courier New"/>
              </a:rPr>
              <a:t> TIM14_IRQHandler(</a:t>
            </a:r>
            <a:r>
              <a:rPr b="1" lang="en" sz="1200">
                <a:solidFill>
                  <a:srgbClr val="7F0055"/>
                </a:solidFill>
                <a:highlight>
                  <a:schemeClr val="lt1"/>
                </a:highlight>
                <a:latin typeface="Courier New"/>
                <a:ea typeface="Courier New"/>
                <a:cs typeface="Courier New"/>
                <a:sym typeface="Courier New"/>
              </a:rPr>
              <a:t>void</a:t>
            </a:r>
            <a:r>
              <a:rPr b="1" lang="en" sz="1200">
                <a:solidFill>
                  <a:schemeClr val="dk1"/>
                </a:solidFill>
                <a:highlight>
                  <a:schemeClr val="lt1"/>
                </a:highlight>
                <a:latin typeface="Courier New"/>
                <a:ea typeface="Courier New"/>
                <a:cs typeface="Courier New"/>
                <a:sym typeface="Courier New"/>
              </a:rPr>
              <a: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disable global interrupt</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__disable_irq();</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TIM14-&gt;</a:t>
            </a:r>
            <a:r>
              <a:rPr b="1" lang="en" sz="1200">
                <a:solidFill>
                  <a:srgbClr val="0000C0"/>
                </a:solidFill>
                <a:highlight>
                  <a:schemeClr val="lt1"/>
                </a:highlight>
                <a:latin typeface="Courier New"/>
                <a:ea typeface="Courier New"/>
                <a:cs typeface="Courier New"/>
                <a:sym typeface="Courier New"/>
              </a:rPr>
              <a:t>SR</a:t>
            </a:r>
            <a:r>
              <a:rPr b="1" lang="en" sz="1200">
                <a:solidFill>
                  <a:schemeClr val="dk1"/>
                </a:solidFill>
                <a:highlight>
                  <a:schemeClr val="lt1"/>
                </a:highlight>
                <a:latin typeface="Courier New"/>
                <a:ea typeface="Courier New"/>
                <a:cs typeface="Courier New"/>
                <a:sym typeface="Courier New"/>
              </a:rPr>
              <a:t> = ~TIM_SR_UIF; </a:t>
            </a:r>
            <a:r>
              <a:rPr b="1" lang="en" sz="1200">
                <a:solidFill>
                  <a:srgbClr val="3F7F5F"/>
                </a:solidFill>
                <a:highlight>
                  <a:schemeClr val="lt1"/>
                </a:highlight>
                <a:latin typeface="Courier New"/>
                <a:ea typeface="Courier New"/>
                <a:cs typeface="Courier New"/>
                <a:sym typeface="Courier New"/>
              </a:rPr>
              <a:t>// Clear UIF </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a:t>
            </a:r>
            <a:r>
              <a:rPr b="1" lang="en" sz="1200">
                <a:solidFill>
                  <a:schemeClr val="dk1"/>
                </a:solidFill>
                <a:highlight>
                  <a:srgbClr val="FCD7FF"/>
                </a:highlight>
                <a:latin typeface="Courier New"/>
                <a:ea typeface="Courier New"/>
                <a:cs typeface="Courier New"/>
                <a:sym typeface="Courier New"/>
              </a:rPr>
              <a:t>timerElapsed = 1;  </a:t>
            </a:r>
            <a:r>
              <a:rPr b="1" lang="en" sz="1200">
                <a:solidFill>
                  <a:srgbClr val="3F7F5F"/>
                </a:solidFill>
                <a:highlight>
                  <a:srgbClr val="FCD7FF"/>
                </a:highlight>
                <a:latin typeface="Courier New"/>
                <a:ea typeface="Courier New"/>
                <a:cs typeface="Courier New"/>
                <a:sym typeface="Courier New"/>
              </a:rPr>
              <a:t>// set global flag</a:t>
            </a:r>
            <a:endParaRPr b="1" sz="1200">
              <a:solidFill>
                <a:srgbClr val="3F7F5F"/>
              </a:solidFill>
              <a:highlight>
                <a:srgbClr val="FCD7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Enable global interrupts</a:t>
            </a:r>
            <a:endParaRPr b="1" sz="1200">
              <a:solidFill>
                <a:srgbClr val="3F7F5F"/>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	__enable_irq();</a:t>
            </a:r>
            <a:endParaRPr b="1" sz="1200">
              <a:solidFill>
                <a:schemeClr val="dk1"/>
              </a:solidFill>
              <a:highlight>
                <a:schemeClr val="lt1"/>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chemeClr val="lt1"/>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p:txBody>
      </p:sp>
      <p:sp>
        <p:nvSpPr>
          <p:cNvPr id="529" name="Google Shape;529;p59"/>
          <p:cNvSpPr txBox="1"/>
          <p:nvPr/>
        </p:nvSpPr>
        <p:spPr>
          <a:xfrm>
            <a:off x="5070925" y="1174575"/>
            <a:ext cx="2798100" cy="874500"/>
          </a:xfrm>
          <a:prstGeom prst="rect">
            <a:avLst/>
          </a:prstGeom>
          <a:solidFill>
            <a:schemeClr val="lt1"/>
          </a:solid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FF"/>
                </a:solidFill>
              </a:rPr>
              <a:t>Note: Since you will never call an ISR from within your code, it does not need a prototype.</a:t>
            </a:r>
            <a:endParaRPr b="1">
              <a:solidFill>
                <a:srgbClr val="0000FF"/>
              </a:solidFill>
            </a:endParaRPr>
          </a:p>
        </p:txBody>
      </p:sp>
      <p:cxnSp>
        <p:nvCxnSpPr>
          <p:cNvPr id="530" name="Google Shape;530;p59"/>
          <p:cNvCxnSpPr>
            <a:stCxn id="529" idx="1"/>
          </p:cNvCxnSpPr>
          <p:nvPr/>
        </p:nvCxnSpPr>
        <p:spPr>
          <a:xfrm flipH="1">
            <a:off x="1091725" y="1611825"/>
            <a:ext cx="3979200" cy="1050600"/>
          </a:xfrm>
          <a:prstGeom prst="straightConnector1">
            <a:avLst/>
          </a:prstGeom>
          <a:noFill/>
          <a:ln cap="flat" cmpd="sng" w="28575">
            <a:solidFill>
              <a:srgbClr val="0000FF"/>
            </a:solidFill>
            <a:prstDash val="dot"/>
            <a:round/>
            <a:headEnd len="med" w="med" type="none"/>
            <a:tailEnd len="med" w="med" type="triangle"/>
          </a:ln>
        </p:spPr>
      </p:cxnSp>
      <p:sp>
        <p:nvSpPr>
          <p:cNvPr id="531" name="Google Shape;531;p59"/>
          <p:cNvSpPr/>
          <p:nvPr/>
        </p:nvSpPr>
        <p:spPr>
          <a:xfrm>
            <a:off x="3306050" y="2732275"/>
            <a:ext cx="2076600" cy="1980900"/>
          </a:xfrm>
          <a:prstGeom prst="foldedCorner">
            <a:avLst>
              <a:gd fmla="val 16667" name="adj"/>
            </a:avLst>
          </a:prstGeom>
          <a:solidFill>
            <a:srgbClr val="F9FF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Upload</a:t>
            </a:r>
            <a:r>
              <a:rPr lang="en"/>
              <a:t> this code to Canvas, it's already in the IDE</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Add a second version that toggles directly in the ISR?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Run blinkyTimerInt!</a:t>
            </a:r>
            <a:endParaRPr/>
          </a:p>
        </p:txBody>
      </p:sp>
      <p:sp>
        <p:nvSpPr>
          <p:cNvPr id="537" name="Google Shape;537;p6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 the resource configurations: </a:t>
            </a:r>
            <a:endParaRPr/>
          </a:p>
          <a:p>
            <a:pPr indent="-342900" lvl="0" marL="457200" rtl="0" algn="l">
              <a:spcBef>
                <a:spcPts val="1600"/>
              </a:spcBef>
              <a:spcAft>
                <a:spcPts val="0"/>
              </a:spcAft>
              <a:buSzPts val="1800"/>
              <a:buChar char="●"/>
            </a:pPr>
            <a:r>
              <a:rPr lang="en"/>
              <a:t>Exclude blinkyTimerPolled.c from the build configuration and </a:t>
            </a:r>
            <a:endParaRPr/>
          </a:p>
          <a:p>
            <a:pPr indent="-342900" lvl="0" marL="457200" rtl="0" algn="l">
              <a:spcBef>
                <a:spcPts val="0"/>
              </a:spcBef>
              <a:spcAft>
                <a:spcPts val="0"/>
              </a:spcAft>
              <a:buSzPts val="1800"/>
              <a:buChar char="●"/>
            </a:pPr>
            <a:r>
              <a:rPr lang="en"/>
              <a:t>Include blinkyTimerInt.c instead.</a:t>
            </a:r>
            <a:endParaRPr/>
          </a:p>
          <a:p>
            <a:pPr indent="0" lvl="0" marL="0" rtl="0" algn="l">
              <a:spcBef>
                <a:spcPts val="1600"/>
              </a:spcBef>
              <a:spcAft>
                <a:spcPts val="1600"/>
              </a:spcAft>
              <a:buNone/>
            </a:pPr>
            <a:r>
              <a:rPr lang="en"/>
              <a:t>Compile and upload to your Nucleo, observe how the on-board LED blinks just as nicely.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 for Tuesday:</a:t>
            </a:r>
            <a:endParaRPr/>
          </a:p>
        </p:txBody>
      </p:sp>
      <p:sp>
        <p:nvSpPr>
          <p:cNvPr id="543" name="Google Shape;543;p6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04A43"/>
                </a:solidFill>
              </a:rPr>
              <a:t>Modify</a:t>
            </a:r>
            <a:r>
              <a:rPr lang="en" sz="2500"/>
              <a:t> </a:t>
            </a:r>
            <a:endParaRPr sz="2500"/>
          </a:p>
          <a:p>
            <a:pPr indent="0" lvl="0" marL="0" rtl="0" algn="ctr">
              <a:spcBef>
                <a:spcPts val="1600"/>
              </a:spcBef>
              <a:spcAft>
                <a:spcPts val="0"/>
              </a:spcAft>
              <a:buClr>
                <a:schemeClr val="dk1"/>
              </a:buClr>
              <a:buSzPts val="1100"/>
              <a:buFont typeface="Arial"/>
              <a:buNone/>
            </a:pPr>
            <a:r>
              <a:rPr lang="en" sz="2500">
                <a:latin typeface="Consolas"/>
                <a:ea typeface="Consolas"/>
                <a:cs typeface="Consolas"/>
                <a:sym typeface="Consolas"/>
              </a:rPr>
              <a:t>ADCPot.c</a:t>
            </a:r>
            <a:endParaRPr sz="2500"/>
          </a:p>
          <a:p>
            <a:pPr indent="0" lvl="0" marL="0" rtl="0" algn="l">
              <a:spcBef>
                <a:spcPts val="1600"/>
              </a:spcBef>
              <a:spcAft>
                <a:spcPts val="0"/>
              </a:spcAft>
              <a:buNone/>
            </a:pPr>
            <a:r>
              <a:rPr lang="en" sz="2500"/>
              <a:t>so that in addition to performing the ADC readings, </a:t>
            </a:r>
            <a:r>
              <a:rPr lang="en" sz="2500">
                <a:solidFill>
                  <a:srgbClr val="0000E6"/>
                </a:solidFill>
              </a:rPr>
              <a:t>the on-board LED is blinking at a steady rate of ⅓ second on, ⅓ second off, using a timer interrupt.</a:t>
            </a:r>
            <a:r>
              <a:rPr lang="en" sz="2500"/>
              <a:t>  </a:t>
            </a:r>
            <a:endParaRPr sz="2500"/>
          </a:p>
          <a:p>
            <a:pPr indent="0" lvl="0" marL="0" rtl="0" algn="l">
              <a:spcBef>
                <a:spcPts val="1600"/>
              </a:spcBef>
              <a:spcAft>
                <a:spcPts val="1600"/>
              </a:spcAft>
              <a:buNone/>
            </a:pPr>
            <a:r>
              <a:rPr lang="en" sz="2500"/>
              <a:t>Hint: You may wish to toggle the LED directly in the ISR.</a:t>
            </a:r>
            <a:endParaRPr sz="2500"/>
          </a:p>
        </p:txBody>
      </p:sp>
      <p:sp>
        <p:nvSpPr>
          <p:cNvPr id="544" name="Google Shape;544;p61"/>
          <p:cNvSpPr/>
          <p:nvPr/>
        </p:nvSpPr>
        <p:spPr>
          <a:xfrm>
            <a:off x="6475475" y="314225"/>
            <a:ext cx="2076600" cy="1980900"/>
          </a:xfrm>
          <a:prstGeom prst="foldedCorner">
            <a:avLst>
              <a:gd fmla="val 16667" name="adj"/>
            </a:avLst>
          </a:prstGeom>
          <a:solidFill>
            <a:srgbClr val="F9FF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Update the Canvas assignment.</a:t>
            </a:r>
            <a:endParaRPr/>
          </a:p>
        </p:txBody>
      </p:sp>
      <p:sp>
        <p:nvSpPr>
          <p:cNvPr id="545" name="Google Shape;545;p61"/>
          <p:cNvSpPr txBox="1"/>
          <p:nvPr/>
        </p:nvSpPr>
        <p:spPr>
          <a:xfrm>
            <a:off x="273225" y="5314275"/>
            <a:ext cx="7869000" cy="10158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Hmmm… Should we instead have them use two timers, one for the LED, one for the ADC readings, so that we don't have the delay_ms in the ADCPot code?</a:t>
            </a:r>
            <a:endParaRPr sz="1800">
              <a:solidFill>
                <a:schemeClr val="dk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grpSp>
        <p:nvGrpSpPr>
          <p:cNvPr id="550" name="Google Shape;550;p62"/>
          <p:cNvGrpSpPr/>
          <p:nvPr/>
        </p:nvGrpSpPr>
        <p:grpSpPr>
          <a:xfrm>
            <a:off x="594550" y="1223750"/>
            <a:ext cx="2095325" cy="4934074"/>
            <a:chOff x="594550" y="1223750"/>
            <a:chExt cx="2095325" cy="4934074"/>
          </a:xfrm>
        </p:grpSpPr>
        <p:sp>
          <p:nvSpPr>
            <p:cNvPr id="551" name="Google Shape;551;p62"/>
            <p:cNvSpPr/>
            <p:nvPr/>
          </p:nvSpPr>
          <p:spPr>
            <a:xfrm>
              <a:off x="1223775" y="1223750"/>
              <a:ext cx="1466100" cy="5088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Initialize ADC and Timer</a:t>
              </a:r>
              <a:endParaRPr/>
            </a:p>
          </p:txBody>
        </p:sp>
        <p:sp>
          <p:nvSpPr>
            <p:cNvPr id="552" name="Google Shape;552;p62"/>
            <p:cNvSpPr/>
            <p:nvPr/>
          </p:nvSpPr>
          <p:spPr>
            <a:xfrm>
              <a:off x="1223775" y="2406066"/>
              <a:ext cx="1466100" cy="508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Start ADC Conversion</a:t>
              </a:r>
              <a:endParaRPr/>
            </a:p>
          </p:txBody>
        </p:sp>
        <p:sp>
          <p:nvSpPr>
            <p:cNvPr id="553" name="Google Shape;553;p62"/>
            <p:cNvSpPr/>
            <p:nvPr/>
          </p:nvSpPr>
          <p:spPr>
            <a:xfrm>
              <a:off x="1223775" y="3358166"/>
              <a:ext cx="1466100" cy="508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Read Sensor Value</a:t>
              </a:r>
              <a:endParaRPr/>
            </a:p>
          </p:txBody>
        </p:sp>
        <p:sp>
          <p:nvSpPr>
            <p:cNvPr id="554" name="Google Shape;554;p62"/>
            <p:cNvSpPr/>
            <p:nvPr/>
          </p:nvSpPr>
          <p:spPr>
            <a:xfrm>
              <a:off x="1223775" y="4310266"/>
              <a:ext cx="1466100" cy="508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 Value</a:t>
              </a:r>
              <a:endParaRPr/>
            </a:p>
          </p:txBody>
        </p:sp>
        <p:sp>
          <p:nvSpPr>
            <p:cNvPr id="555" name="Google Shape;555;p62"/>
            <p:cNvSpPr/>
            <p:nvPr/>
          </p:nvSpPr>
          <p:spPr>
            <a:xfrm>
              <a:off x="1223775" y="5262366"/>
              <a:ext cx="1466100" cy="508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Kill Time</a:t>
              </a:r>
              <a:endParaRPr/>
            </a:p>
          </p:txBody>
        </p:sp>
        <p:cxnSp>
          <p:nvCxnSpPr>
            <p:cNvPr id="556" name="Google Shape;556;p62"/>
            <p:cNvCxnSpPr>
              <a:stCxn id="551" idx="2"/>
              <a:endCxn id="552" idx="0"/>
            </p:cNvCxnSpPr>
            <p:nvPr/>
          </p:nvCxnSpPr>
          <p:spPr>
            <a:xfrm>
              <a:off x="1956825" y="1732550"/>
              <a:ext cx="0" cy="673500"/>
            </a:xfrm>
            <a:prstGeom prst="straightConnector1">
              <a:avLst/>
            </a:prstGeom>
            <a:noFill/>
            <a:ln cap="flat" cmpd="sng" w="28575">
              <a:solidFill>
                <a:schemeClr val="dk2"/>
              </a:solidFill>
              <a:prstDash val="solid"/>
              <a:round/>
              <a:headEnd len="med" w="med" type="none"/>
              <a:tailEnd len="med" w="med" type="triangle"/>
            </a:ln>
          </p:spPr>
        </p:cxnSp>
        <p:cxnSp>
          <p:nvCxnSpPr>
            <p:cNvPr id="557" name="Google Shape;557;p62"/>
            <p:cNvCxnSpPr>
              <a:stCxn id="552" idx="2"/>
              <a:endCxn id="553" idx="0"/>
            </p:cNvCxnSpPr>
            <p:nvPr/>
          </p:nvCxnSpPr>
          <p:spPr>
            <a:xfrm>
              <a:off x="1956825" y="2914866"/>
              <a:ext cx="0" cy="443400"/>
            </a:xfrm>
            <a:prstGeom prst="straightConnector1">
              <a:avLst/>
            </a:prstGeom>
            <a:noFill/>
            <a:ln cap="flat" cmpd="sng" w="28575">
              <a:solidFill>
                <a:schemeClr val="dk2"/>
              </a:solidFill>
              <a:prstDash val="solid"/>
              <a:round/>
              <a:headEnd len="med" w="med" type="none"/>
              <a:tailEnd len="med" w="med" type="triangle"/>
            </a:ln>
          </p:spPr>
        </p:cxnSp>
        <p:cxnSp>
          <p:nvCxnSpPr>
            <p:cNvPr id="558" name="Google Shape;558;p62"/>
            <p:cNvCxnSpPr/>
            <p:nvPr/>
          </p:nvCxnSpPr>
          <p:spPr>
            <a:xfrm>
              <a:off x="1956825" y="3866916"/>
              <a:ext cx="0" cy="443400"/>
            </a:xfrm>
            <a:prstGeom prst="straightConnector1">
              <a:avLst/>
            </a:prstGeom>
            <a:noFill/>
            <a:ln cap="flat" cmpd="sng" w="28575">
              <a:solidFill>
                <a:schemeClr val="dk2"/>
              </a:solidFill>
              <a:prstDash val="solid"/>
              <a:round/>
              <a:headEnd len="med" w="med" type="none"/>
              <a:tailEnd len="med" w="med" type="triangle"/>
            </a:ln>
          </p:spPr>
        </p:cxnSp>
        <p:cxnSp>
          <p:nvCxnSpPr>
            <p:cNvPr id="559" name="Google Shape;559;p62"/>
            <p:cNvCxnSpPr/>
            <p:nvPr/>
          </p:nvCxnSpPr>
          <p:spPr>
            <a:xfrm>
              <a:off x="1956825" y="4819066"/>
              <a:ext cx="0" cy="443400"/>
            </a:xfrm>
            <a:prstGeom prst="straightConnector1">
              <a:avLst/>
            </a:prstGeom>
            <a:noFill/>
            <a:ln cap="flat" cmpd="sng" w="28575">
              <a:solidFill>
                <a:schemeClr val="dk2"/>
              </a:solidFill>
              <a:prstDash val="solid"/>
              <a:round/>
              <a:headEnd len="med" w="med" type="none"/>
              <a:tailEnd len="med" w="med" type="triangle"/>
            </a:ln>
          </p:spPr>
        </p:cxnSp>
        <p:cxnSp>
          <p:nvCxnSpPr>
            <p:cNvPr id="560" name="Google Shape;560;p62"/>
            <p:cNvCxnSpPr>
              <a:stCxn id="555" idx="2"/>
            </p:cNvCxnSpPr>
            <p:nvPr/>
          </p:nvCxnSpPr>
          <p:spPr>
            <a:xfrm flipH="1">
              <a:off x="1950825" y="5771166"/>
              <a:ext cx="6000" cy="384000"/>
            </a:xfrm>
            <a:prstGeom prst="straightConnector1">
              <a:avLst/>
            </a:prstGeom>
            <a:noFill/>
            <a:ln cap="flat" cmpd="sng" w="28575">
              <a:solidFill>
                <a:schemeClr val="dk2"/>
              </a:solidFill>
              <a:prstDash val="solid"/>
              <a:round/>
              <a:headEnd len="med" w="med" type="none"/>
              <a:tailEnd len="med" w="med" type="none"/>
            </a:ln>
          </p:spPr>
        </p:cxnSp>
        <p:cxnSp>
          <p:nvCxnSpPr>
            <p:cNvPr id="561" name="Google Shape;561;p62"/>
            <p:cNvCxnSpPr/>
            <p:nvPr/>
          </p:nvCxnSpPr>
          <p:spPr>
            <a:xfrm flipH="1">
              <a:off x="600675" y="2084050"/>
              <a:ext cx="29400" cy="4071000"/>
            </a:xfrm>
            <a:prstGeom prst="straightConnector1">
              <a:avLst/>
            </a:prstGeom>
            <a:noFill/>
            <a:ln cap="flat" cmpd="sng" w="28575">
              <a:solidFill>
                <a:schemeClr val="dk2"/>
              </a:solidFill>
              <a:prstDash val="solid"/>
              <a:round/>
              <a:headEnd len="med" w="med" type="none"/>
              <a:tailEnd len="med" w="med" type="none"/>
            </a:ln>
          </p:spPr>
        </p:cxnSp>
        <p:cxnSp>
          <p:nvCxnSpPr>
            <p:cNvPr id="562" name="Google Shape;562;p62"/>
            <p:cNvCxnSpPr/>
            <p:nvPr/>
          </p:nvCxnSpPr>
          <p:spPr>
            <a:xfrm>
              <a:off x="594550" y="6151824"/>
              <a:ext cx="1371000" cy="6000"/>
            </a:xfrm>
            <a:prstGeom prst="straightConnector1">
              <a:avLst/>
            </a:prstGeom>
            <a:noFill/>
            <a:ln cap="flat" cmpd="sng" w="28575">
              <a:solidFill>
                <a:schemeClr val="dk2"/>
              </a:solidFill>
              <a:prstDash val="solid"/>
              <a:round/>
              <a:headEnd len="med" w="med" type="none"/>
              <a:tailEnd len="med" w="med" type="none"/>
            </a:ln>
          </p:spPr>
        </p:cxnSp>
        <p:cxnSp>
          <p:nvCxnSpPr>
            <p:cNvPr id="563" name="Google Shape;563;p62"/>
            <p:cNvCxnSpPr/>
            <p:nvPr/>
          </p:nvCxnSpPr>
          <p:spPr>
            <a:xfrm flipH="1" rot="10800000">
              <a:off x="630075" y="2087050"/>
              <a:ext cx="1323600" cy="9000"/>
            </a:xfrm>
            <a:prstGeom prst="straightConnector1">
              <a:avLst/>
            </a:prstGeom>
            <a:noFill/>
            <a:ln cap="flat" cmpd="sng" w="28575">
              <a:solidFill>
                <a:schemeClr val="dk2"/>
              </a:solidFill>
              <a:prstDash val="solid"/>
              <a:round/>
              <a:headEnd len="med" w="med" type="none"/>
              <a:tailEnd len="med" w="med" type="triangle"/>
            </a:ln>
          </p:spPr>
        </p:cxnSp>
      </p:grpSp>
      <p:sp>
        <p:nvSpPr>
          <p:cNvPr id="564" name="Google Shape;564;p62"/>
          <p:cNvSpPr/>
          <p:nvPr/>
        </p:nvSpPr>
        <p:spPr>
          <a:xfrm>
            <a:off x="3041268" y="2181000"/>
            <a:ext cx="387600" cy="3913800"/>
          </a:xfrm>
          <a:prstGeom prst="downArrow">
            <a:avLst>
              <a:gd fmla="val 50000" name="adj1"/>
              <a:gd fmla="val 50000" name="adj2"/>
            </a:avLst>
          </a:prstGeom>
          <a:solidFill>
            <a:srgbClr val="D9D2E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62"/>
          <p:cNvSpPr/>
          <p:nvPr/>
        </p:nvSpPr>
        <p:spPr>
          <a:xfrm>
            <a:off x="4059075" y="2253700"/>
            <a:ext cx="1623600" cy="508800"/>
          </a:xfrm>
          <a:prstGeom prst="ellipse">
            <a:avLst/>
          </a:prstGeom>
          <a:solidFill>
            <a:srgbClr val="D9EAD3"/>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80000"/>
                </a:solidFill>
              </a:rPr>
              <a:t>Timer Interrupt</a:t>
            </a:r>
            <a:endParaRPr b="1">
              <a:solidFill>
                <a:srgbClr val="980000"/>
              </a:solidFill>
            </a:endParaRPr>
          </a:p>
        </p:txBody>
      </p:sp>
      <p:cxnSp>
        <p:nvCxnSpPr>
          <p:cNvPr id="566" name="Google Shape;566;p62"/>
          <p:cNvCxnSpPr/>
          <p:nvPr/>
        </p:nvCxnSpPr>
        <p:spPr>
          <a:xfrm>
            <a:off x="3332075" y="3089725"/>
            <a:ext cx="2738400" cy="12000"/>
          </a:xfrm>
          <a:prstGeom prst="straightConnector1">
            <a:avLst/>
          </a:prstGeom>
          <a:noFill/>
          <a:ln cap="flat" cmpd="sng" w="28575">
            <a:solidFill>
              <a:srgbClr val="38761D"/>
            </a:solidFill>
            <a:prstDash val="solid"/>
            <a:round/>
            <a:headEnd len="med" w="med" type="none"/>
            <a:tailEnd len="med" w="med" type="triangle"/>
          </a:ln>
        </p:spPr>
      </p:cxnSp>
      <p:cxnSp>
        <p:nvCxnSpPr>
          <p:cNvPr id="567" name="Google Shape;567;p62"/>
          <p:cNvCxnSpPr/>
          <p:nvPr/>
        </p:nvCxnSpPr>
        <p:spPr>
          <a:xfrm>
            <a:off x="6046182" y="3101842"/>
            <a:ext cx="0" cy="557400"/>
          </a:xfrm>
          <a:prstGeom prst="straightConnector1">
            <a:avLst/>
          </a:prstGeom>
          <a:noFill/>
          <a:ln cap="flat" cmpd="sng" w="28575">
            <a:solidFill>
              <a:srgbClr val="38761D"/>
            </a:solidFill>
            <a:prstDash val="solid"/>
            <a:round/>
            <a:headEnd len="med" w="med" type="none"/>
            <a:tailEnd len="med" w="med" type="triangle"/>
          </a:ln>
        </p:spPr>
      </p:cxnSp>
      <p:sp>
        <p:nvSpPr>
          <p:cNvPr id="568" name="Google Shape;568;p62"/>
          <p:cNvSpPr/>
          <p:nvPr/>
        </p:nvSpPr>
        <p:spPr>
          <a:xfrm>
            <a:off x="4265157" y="3653159"/>
            <a:ext cx="3537900" cy="11538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Timer Interrupt Service Routine (ISR)</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Clear the Timer Interrupt Flag</a:t>
            </a:r>
            <a:endParaRPr/>
          </a:p>
          <a:p>
            <a:pPr indent="0" lvl="0" marL="0" rtl="0" algn="ctr">
              <a:spcBef>
                <a:spcPts val="0"/>
              </a:spcBef>
              <a:spcAft>
                <a:spcPts val="0"/>
              </a:spcAft>
              <a:buNone/>
            </a:pPr>
            <a:r>
              <a:rPr lang="en"/>
              <a:t>Toggle LED</a:t>
            </a:r>
            <a:endParaRPr/>
          </a:p>
        </p:txBody>
      </p:sp>
      <p:cxnSp>
        <p:nvCxnSpPr>
          <p:cNvPr id="569" name="Google Shape;569;p62"/>
          <p:cNvCxnSpPr/>
          <p:nvPr/>
        </p:nvCxnSpPr>
        <p:spPr>
          <a:xfrm>
            <a:off x="6034107" y="4798425"/>
            <a:ext cx="0" cy="557400"/>
          </a:xfrm>
          <a:prstGeom prst="straightConnector1">
            <a:avLst/>
          </a:prstGeom>
          <a:noFill/>
          <a:ln cap="flat" cmpd="sng" w="28575">
            <a:solidFill>
              <a:srgbClr val="38761D"/>
            </a:solidFill>
            <a:prstDash val="solid"/>
            <a:round/>
            <a:headEnd len="med" w="med" type="none"/>
            <a:tailEnd len="med" w="med" type="triangle"/>
          </a:ln>
        </p:spPr>
      </p:cxnSp>
      <p:cxnSp>
        <p:nvCxnSpPr>
          <p:cNvPr id="570" name="Google Shape;570;p62"/>
          <p:cNvCxnSpPr/>
          <p:nvPr/>
        </p:nvCxnSpPr>
        <p:spPr>
          <a:xfrm>
            <a:off x="4022725" y="5331300"/>
            <a:ext cx="2023500" cy="12000"/>
          </a:xfrm>
          <a:prstGeom prst="straightConnector1">
            <a:avLst/>
          </a:prstGeom>
          <a:noFill/>
          <a:ln cap="flat" cmpd="sng" w="28575">
            <a:solidFill>
              <a:srgbClr val="38761D"/>
            </a:solidFill>
            <a:prstDash val="solid"/>
            <a:round/>
            <a:headEnd len="med" w="med" type="triangle"/>
            <a:tailEnd len="med" w="med" type="none"/>
          </a:ln>
        </p:spPr>
      </p:cxnSp>
      <p:cxnSp>
        <p:nvCxnSpPr>
          <p:cNvPr id="571" name="Google Shape;571;p62"/>
          <p:cNvCxnSpPr/>
          <p:nvPr/>
        </p:nvCxnSpPr>
        <p:spPr>
          <a:xfrm flipH="1">
            <a:off x="4031767" y="3356300"/>
            <a:ext cx="27300" cy="1975200"/>
          </a:xfrm>
          <a:prstGeom prst="straightConnector1">
            <a:avLst/>
          </a:prstGeom>
          <a:noFill/>
          <a:ln cap="flat" cmpd="sng" w="28575">
            <a:solidFill>
              <a:srgbClr val="38761D"/>
            </a:solidFill>
            <a:prstDash val="solid"/>
            <a:round/>
            <a:headEnd len="med" w="med" type="none"/>
            <a:tailEnd len="med" w="med" type="none"/>
          </a:ln>
        </p:spPr>
      </p:cxnSp>
      <p:cxnSp>
        <p:nvCxnSpPr>
          <p:cNvPr id="572" name="Google Shape;572;p62"/>
          <p:cNvCxnSpPr/>
          <p:nvPr/>
        </p:nvCxnSpPr>
        <p:spPr>
          <a:xfrm rot="10800000">
            <a:off x="3344275" y="3102025"/>
            <a:ext cx="726900" cy="266400"/>
          </a:xfrm>
          <a:prstGeom prst="straightConnector1">
            <a:avLst/>
          </a:prstGeom>
          <a:noFill/>
          <a:ln cap="flat" cmpd="sng" w="28575">
            <a:solidFill>
              <a:srgbClr val="38761D"/>
            </a:solidFill>
            <a:prstDash val="solid"/>
            <a:round/>
            <a:headEnd len="med" w="med" type="none"/>
            <a:tailEnd len="med" w="med" type="triangle"/>
          </a:ln>
        </p:spPr>
      </p:cxnSp>
      <p:cxnSp>
        <p:nvCxnSpPr>
          <p:cNvPr id="573" name="Google Shape;573;p62"/>
          <p:cNvCxnSpPr>
            <a:stCxn id="565" idx="2"/>
          </p:cNvCxnSpPr>
          <p:nvPr/>
        </p:nvCxnSpPr>
        <p:spPr>
          <a:xfrm flipH="1">
            <a:off x="3380475" y="2508100"/>
            <a:ext cx="678600" cy="545400"/>
          </a:xfrm>
          <a:prstGeom prst="straightConnector1">
            <a:avLst/>
          </a:prstGeom>
          <a:noFill/>
          <a:ln cap="flat" cmpd="sng" w="28575">
            <a:solidFill>
              <a:srgbClr val="980000"/>
            </a:solidFill>
            <a:prstDash val="solid"/>
            <a:round/>
            <a:headEnd len="med" w="med" type="none"/>
            <a:tailEnd len="med" w="med" type="triangle"/>
          </a:ln>
        </p:spPr>
      </p:cxnSp>
      <p:cxnSp>
        <p:nvCxnSpPr>
          <p:cNvPr id="574" name="Google Shape;574;p62"/>
          <p:cNvCxnSpPr/>
          <p:nvPr/>
        </p:nvCxnSpPr>
        <p:spPr>
          <a:xfrm>
            <a:off x="3344175" y="5537300"/>
            <a:ext cx="375600" cy="12000"/>
          </a:xfrm>
          <a:prstGeom prst="straightConnector1">
            <a:avLst/>
          </a:prstGeom>
          <a:noFill/>
          <a:ln cap="flat" cmpd="sng" w="28575">
            <a:solidFill>
              <a:srgbClr val="38761D"/>
            </a:solidFill>
            <a:prstDash val="dash"/>
            <a:round/>
            <a:headEnd len="med" w="med" type="none"/>
            <a:tailEnd len="med" w="med" type="none"/>
          </a:ln>
        </p:spPr>
      </p:cxnSp>
      <p:cxnSp>
        <p:nvCxnSpPr>
          <p:cNvPr id="575" name="Google Shape;575;p62"/>
          <p:cNvCxnSpPr/>
          <p:nvPr/>
        </p:nvCxnSpPr>
        <p:spPr>
          <a:xfrm flipH="1">
            <a:off x="3683500" y="3465350"/>
            <a:ext cx="36300" cy="2084400"/>
          </a:xfrm>
          <a:prstGeom prst="straightConnector1">
            <a:avLst/>
          </a:prstGeom>
          <a:noFill/>
          <a:ln cap="flat" cmpd="sng" w="28575">
            <a:solidFill>
              <a:srgbClr val="38761D"/>
            </a:solidFill>
            <a:prstDash val="dash"/>
            <a:round/>
            <a:headEnd len="med" w="med" type="triangle"/>
            <a:tailEnd len="med" w="med" type="none"/>
          </a:ln>
        </p:spPr>
      </p:cxnSp>
      <p:cxnSp>
        <p:nvCxnSpPr>
          <p:cNvPr id="576" name="Google Shape;576;p62"/>
          <p:cNvCxnSpPr/>
          <p:nvPr/>
        </p:nvCxnSpPr>
        <p:spPr>
          <a:xfrm flipH="1" rot="10800000">
            <a:off x="3695617" y="3489692"/>
            <a:ext cx="1902300" cy="12000"/>
          </a:xfrm>
          <a:prstGeom prst="straightConnector1">
            <a:avLst/>
          </a:prstGeom>
          <a:noFill/>
          <a:ln cap="flat" cmpd="sng" w="28575">
            <a:solidFill>
              <a:srgbClr val="38761D"/>
            </a:solidFill>
            <a:prstDash val="dash"/>
            <a:round/>
            <a:headEnd len="med" w="med" type="none"/>
            <a:tailEnd len="med" w="med" type="triangle"/>
          </a:ln>
        </p:spPr>
      </p:cxnSp>
      <p:cxnSp>
        <p:nvCxnSpPr>
          <p:cNvPr id="577" name="Google Shape;577;p62"/>
          <p:cNvCxnSpPr>
            <a:endCxn id="568" idx="0"/>
          </p:cNvCxnSpPr>
          <p:nvPr/>
        </p:nvCxnSpPr>
        <p:spPr>
          <a:xfrm>
            <a:off x="5609907" y="3489659"/>
            <a:ext cx="424200" cy="163500"/>
          </a:xfrm>
          <a:prstGeom prst="straightConnector1">
            <a:avLst/>
          </a:prstGeom>
          <a:noFill/>
          <a:ln cap="flat" cmpd="sng" w="28575">
            <a:solidFill>
              <a:srgbClr val="38761D"/>
            </a:solidFill>
            <a:prstDash val="dash"/>
            <a:round/>
            <a:headEnd len="med" w="med" type="none"/>
            <a:tailEnd len="med" w="med" type="none"/>
          </a:ln>
        </p:spPr>
      </p:cxnSp>
      <p:cxnSp>
        <p:nvCxnSpPr>
          <p:cNvPr id="578" name="Google Shape;578;p62"/>
          <p:cNvCxnSpPr/>
          <p:nvPr/>
        </p:nvCxnSpPr>
        <p:spPr>
          <a:xfrm>
            <a:off x="6034107" y="4807009"/>
            <a:ext cx="375600" cy="354600"/>
          </a:xfrm>
          <a:prstGeom prst="straightConnector1">
            <a:avLst/>
          </a:prstGeom>
          <a:noFill/>
          <a:ln cap="flat" cmpd="sng" w="28575">
            <a:solidFill>
              <a:srgbClr val="38761D"/>
            </a:solidFill>
            <a:prstDash val="dash"/>
            <a:round/>
            <a:headEnd len="med" w="med" type="none"/>
            <a:tailEnd len="med" w="med" type="none"/>
          </a:ln>
        </p:spPr>
      </p:cxnSp>
      <p:cxnSp>
        <p:nvCxnSpPr>
          <p:cNvPr id="579" name="Google Shape;579;p62"/>
          <p:cNvCxnSpPr/>
          <p:nvPr/>
        </p:nvCxnSpPr>
        <p:spPr>
          <a:xfrm>
            <a:off x="6409707" y="5161600"/>
            <a:ext cx="0" cy="557400"/>
          </a:xfrm>
          <a:prstGeom prst="straightConnector1">
            <a:avLst/>
          </a:prstGeom>
          <a:noFill/>
          <a:ln cap="flat" cmpd="sng" w="28575">
            <a:solidFill>
              <a:srgbClr val="38761D"/>
            </a:solidFill>
            <a:prstDash val="dash"/>
            <a:round/>
            <a:headEnd len="med" w="med" type="none"/>
            <a:tailEnd len="med" w="med" type="triangle"/>
          </a:ln>
        </p:spPr>
      </p:cxnSp>
      <p:cxnSp>
        <p:nvCxnSpPr>
          <p:cNvPr id="580" name="Google Shape;580;p62"/>
          <p:cNvCxnSpPr/>
          <p:nvPr/>
        </p:nvCxnSpPr>
        <p:spPr>
          <a:xfrm flipH="1" rot="10800000">
            <a:off x="3622875" y="5709750"/>
            <a:ext cx="2793000" cy="9300"/>
          </a:xfrm>
          <a:prstGeom prst="straightConnector1">
            <a:avLst/>
          </a:prstGeom>
          <a:noFill/>
          <a:ln cap="flat" cmpd="sng" w="28575">
            <a:solidFill>
              <a:srgbClr val="38761D"/>
            </a:solidFill>
            <a:prstDash val="dash"/>
            <a:round/>
            <a:headEnd len="med" w="med" type="triangle"/>
            <a:tailEnd len="med" w="med" type="none"/>
          </a:ln>
        </p:spPr>
      </p:cxnSp>
      <p:cxnSp>
        <p:nvCxnSpPr>
          <p:cNvPr id="581" name="Google Shape;581;p62"/>
          <p:cNvCxnSpPr/>
          <p:nvPr/>
        </p:nvCxnSpPr>
        <p:spPr>
          <a:xfrm>
            <a:off x="3332094" y="5537309"/>
            <a:ext cx="278700" cy="181800"/>
          </a:xfrm>
          <a:prstGeom prst="straightConnector1">
            <a:avLst/>
          </a:prstGeom>
          <a:noFill/>
          <a:ln cap="flat" cmpd="sng" w="28575">
            <a:solidFill>
              <a:srgbClr val="38761D"/>
            </a:solidFill>
            <a:prstDash val="dash"/>
            <a:round/>
            <a:headEnd len="med" w="med" type="none"/>
            <a:tailEnd len="med" w="med" type="none"/>
          </a:ln>
        </p:spPr>
      </p:cxnSp>
      <p:sp>
        <p:nvSpPr>
          <p:cNvPr id="582" name="Google Shape;582;p62"/>
          <p:cNvSpPr/>
          <p:nvPr/>
        </p:nvSpPr>
        <p:spPr>
          <a:xfrm>
            <a:off x="3838950" y="6012325"/>
            <a:ext cx="1623600" cy="508800"/>
          </a:xfrm>
          <a:prstGeom prst="ellipse">
            <a:avLst/>
          </a:prstGeom>
          <a:solidFill>
            <a:srgbClr val="D9EAD3"/>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80000"/>
                </a:solidFill>
              </a:rPr>
              <a:t>Next Timer Interrupt</a:t>
            </a:r>
            <a:endParaRPr b="1">
              <a:solidFill>
                <a:srgbClr val="980000"/>
              </a:solidFill>
            </a:endParaRPr>
          </a:p>
        </p:txBody>
      </p:sp>
      <p:cxnSp>
        <p:nvCxnSpPr>
          <p:cNvPr id="583" name="Google Shape;583;p62"/>
          <p:cNvCxnSpPr/>
          <p:nvPr/>
        </p:nvCxnSpPr>
        <p:spPr>
          <a:xfrm rot="10800000">
            <a:off x="3404775" y="5646200"/>
            <a:ext cx="434100" cy="572100"/>
          </a:xfrm>
          <a:prstGeom prst="straightConnector1">
            <a:avLst/>
          </a:prstGeom>
          <a:noFill/>
          <a:ln cap="flat" cmpd="sng" w="28575">
            <a:solidFill>
              <a:srgbClr val="980000"/>
            </a:solidFill>
            <a:prstDash val="solid"/>
            <a:round/>
            <a:headEnd len="med" w="med" type="none"/>
            <a:tailEnd len="med" w="med" type="triangle"/>
          </a:ln>
        </p:spPr>
      </p:cxnSp>
      <p:sp>
        <p:nvSpPr>
          <p:cNvPr id="584" name="Google Shape;584;p62"/>
          <p:cNvSpPr txBox="1"/>
          <p:nvPr>
            <p:ph type="title"/>
          </p:nvPr>
        </p:nvSpPr>
        <p:spPr>
          <a:xfrm>
            <a:off x="188750" y="215575"/>
            <a:ext cx="40191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 for Tuesday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6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Coding Challenge:  Blinky with T</a:t>
            </a:r>
            <a:r>
              <a:rPr baseline="-25000" lang="en"/>
              <a:t>on</a:t>
            </a:r>
            <a:r>
              <a:rPr lang="en"/>
              <a:t> ≠ T</a:t>
            </a:r>
            <a:r>
              <a:rPr baseline="-25000" lang="en"/>
              <a:t>off</a:t>
            </a:r>
            <a:endParaRPr baseline="-25000"/>
          </a:p>
        </p:txBody>
      </p:sp>
      <p:sp>
        <p:nvSpPr>
          <p:cNvPr id="590" name="Google Shape;590;p6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as practically useful, but a good intellectual exercise.</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This one is just for fun. No need to upload a solution.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4" name="Shape 594"/>
        <p:cNvGrpSpPr/>
        <p:nvPr/>
      </p:nvGrpSpPr>
      <p:grpSpPr>
        <a:xfrm>
          <a:off x="0" y="0"/>
          <a:ext cx="0" cy="0"/>
          <a:chOff x="0" y="0"/>
          <a:chExt cx="0" cy="0"/>
        </a:xfrm>
      </p:grpSpPr>
      <p:sp>
        <p:nvSpPr>
          <p:cNvPr id="595" name="Google Shape;595;p64"/>
          <p:cNvSpPr txBox="1"/>
          <p:nvPr>
            <p:ph type="title"/>
          </p:nvPr>
        </p:nvSpPr>
        <p:spPr>
          <a:xfrm>
            <a:off x="202400" y="179525"/>
            <a:ext cx="46299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Blinky with timer: </a:t>
            </a:r>
            <a:endParaRPr/>
          </a:p>
          <a:p>
            <a:pPr indent="0" lvl="0" marL="0" rtl="0" algn="l">
              <a:spcBef>
                <a:spcPts val="0"/>
              </a:spcBef>
              <a:spcAft>
                <a:spcPts val="0"/>
              </a:spcAft>
              <a:buNone/>
            </a:pPr>
            <a:r>
              <a:rPr lang="en"/>
              <a:t>T</a:t>
            </a:r>
            <a:r>
              <a:rPr baseline="-25000" lang="en"/>
              <a:t>ON</a:t>
            </a:r>
            <a:r>
              <a:rPr lang="en"/>
              <a:t> ≠ T</a:t>
            </a:r>
            <a:r>
              <a:rPr baseline="-25000" lang="en"/>
              <a:t>OFF</a:t>
            </a:r>
            <a:endParaRPr baseline="-25000"/>
          </a:p>
        </p:txBody>
      </p:sp>
      <p:sp>
        <p:nvSpPr>
          <p:cNvPr id="596" name="Google Shape;596;p64"/>
          <p:cNvSpPr txBox="1"/>
          <p:nvPr>
            <p:ph idx="1" type="body"/>
          </p:nvPr>
        </p:nvSpPr>
        <p:spPr>
          <a:xfrm>
            <a:off x="355750" y="1475375"/>
            <a:ext cx="3843300" cy="23037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"tim.h"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LED	(1U&lt;&lt;5) </a:t>
            </a:r>
            <a:r>
              <a:rPr b="1" lang="en" sz="1100">
                <a:solidFill>
                  <a:srgbClr val="3F7F5F"/>
                </a:solidFill>
                <a:highlight>
                  <a:srgbClr val="FFFFFF"/>
                </a:highlight>
                <a:latin typeface="Courier New"/>
                <a:ea typeface="Courier New"/>
                <a:cs typeface="Courier New"/>
                <a:sym typeface="Courier New"/>
              </a:rPr>
              <a:t>// on-board LED</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T_ON     200    </a:t>
            </a:r>
            <a:r>
              <a:rPr b="1" lang="en" sz="1100">
                <a:solidFill>
                  <a:srgbClr val="3F7F5F"/>
                </a:solidFill>
                <a:highlight>
                  <a:srgbClr val="FFFFFF"/>
                </a:highlight>
                <a:latin typeface="Courier New"/>
                <a:ea typeface="Courier New"/>
                <a:cs typeface="Courier New"/>
                <a:sym typeface="Courier New"/>
              </a:rPr>
              <a:t>// 200 </a:t>
            </a:r>
            <a:r>
              <a:rPr b="1" lang="en" sz="1100" u="sng">
                <a:solidFill>
                  <a:srgbClr val="3F7F5F"/>
                </a:solidFill>
                <a:highlight>
                  <a:srgbClr val="FFFFFF"/>
                </a:highlight>
                <a:latin typeface="Courier New"/>
                <a:ea typeface="Courier New"/>
                <a:cs typeface="Courier New"/>
                <a:sym typeface="Courier New"/>
              </a:rPr>
              <a:t>ms</a:t>
            </a:r>
            <a:endParaRPr b="1" sz="1100" u="sng">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latin typeface="Courier New"/>
                <a:ea typeface="Courier New"/>
                <a:cs typeface="Courier New"/>
                <a:sym typeface="Courier New"/>
              </a:rPr>
              <a:t>T_OFF</a:t>
            </a:r>
            <a:r>
              <a:rPr b="1" lang="en" sz="1100">
                <a:solidFill>
                  <a:schemeClr val="dk1"/>
                </a:solidFill>
                <a:highlight>
                  <a:srgbClr val="FFFFFF"/>
                </a:highlight>
                <a:latin typeface="Courier New"/>
                <a:ea typeface="Courier New"/>
                <a:cs typeface="Courier New"/>
                <a:sym typeface="Courier New"/>
              </a:rPr>
              <a:t>    800    </a:t>
            </a:r>
            <a:r>
              <a:rPr b="1" lang="en" sz="1100">
                <a:solidFill>
                  <a:srgbClr val="3F7F5F"/>
                </a:solidFill>
                <a:highlight>
                  <a:srgbClr val="FFFFFF"/>
                </a:highlight>
                <a:latin typeface="Courier New"/>
                <a:ea typeface="Courier New"/>
                <a:cs typeface="Courier New"/>
                <a:sym typeface="Courier New"/>
              </a:rPr>
              <a:t>// 800 </a:t>
            </a:r>
            <a:r>
              <a:rPr b="1" lang="en" sz="1100" u="sng">
                <a:solidFill>
                  <a:srgbClr val="3F7F5F"/>
                </a:solidFill>
                <a:highlight>
                  <a:srgbClr val="FFFFFF"/>
                </a:highlight>
                <a:latin typeface="Courier New"/>
                <a:ea typeface="Courier New"/>
                <a:cs typeface="Courier New"/>
                <a:sym typeface="Courier New"/>
              </a:rPr>
              <a:t>ms</a:t>
            </a:r>
            <a:endParaRPr b="1" sz="1100" u="sng">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typedef</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enum</a:t>
            </a:r>
            <a:r>
              <a:rPr b="1" lang="en" sz="1100">
                <a:solidFill>
                  <a:schemeClr val="dk1"/>
                </a:solidFill>
                <a:highlight>
                  <a:srgbClr val="FFFFFF"/>
                </a:highlight>
                <a:latin typeface="Courier New"/>
                <a:ea typeface="Courier New"/>
                <a:cs typeface="Courier New"/>
                <a:sym typeface="Courier New"/>
              </a:rPr>
              <a:t> {</a:t>
            </a:r>
            <a:r>
              <a:rPr b="1" i="1" lang="en" sz="1100">
                <a:solidFill>
                  <a:srgbClr val="0000C0"/>
                </a:solidFill>
                <a:highlight>
                  <a:srgbClr val="FFFFFF"/>
                </a:highlight>
                <a:latin typeface="Courier New"/>
                <a:ea typeface="Courier New"/>
                <a:cs typeface="Courier New"/>
                <a:sym typeface="Courier New"/>
              </a:rPr>
              <a:t>LEDON</a:t>
            </a:r>
            <a:r>
              <a:rPr b="1" lang="en" sz="1100">
                <a:solidFill>
                  <a:schemeClr val="dk1"/>
                </a:solidFill>
                <a:highlight>
                  <a:srgbClr val="FFFFFF"/>
                </a:highlight>
                <a:latin typeface="Courier New"/>
                <a:ea typeface="Courier New"/>
                <a:cs typeface="Courier New"/>
                <a:sym typeface="Courier New"/>
              </a:rPr>
              <a:t>, </a:t>
            </a:r>
            <a:r>
              <a:rPr b="1" i="1" lang="en" sz="1100">
                <a:solidFill>
                  <a:srgbClr val="0000C0"/>
                </a:solidFill>
                <a:highlight>
                  <a:srgbClr val="FFFFFF"/>
                </a:highlight>
                <a:latin typeface="Courier New"/>
                <a:ea typeface="Courier New"/>
                <a:cs typeface="Courier New"/>
                <a:sym typeface="Courier New"/>
              </a:rPr>
              <a:t>LEDOFF</a:t>
            </a:r>
            <a:r>
              <a:rPr b="1" lang="en" sz="1100">
                <a:solidFill>
                  <a:schemeClr val="dk1"/>
                </a:solidFill>
                <a:highlight>
                  <a:srgbClr val="FFFFFF"/>
                </a:highlight>
                <a:latin typeface="Courier New"/>
                <a:ea typeface="Courier New"/>
                <a:cs typeface="Courier New"/>
                <a:sym typeface="Courier New"/>
              </a:rPr>
              <a:t>} </a:t>
            </a:r>
            <a:r>
              <a:rPr b="1" lang="en" sz="1100">
                <a:solidFill>
                  <a:srgbClr val="005032"/>
                </a:solidFill>
                <a:highlight>
                  <a:srgbClr val="FFFFFF"/>
                </a:highlight>
                <a:latin typeface="Courier New"/>
                <a:ea typeface="Courier New"/>
                <a:cs typeface="Courier New"/>
                <a:sym typeface="Courier New"/>
              </a:rPr>
              <a:t>state_t</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005032"/>
                </a:solidFill>
                <a:highlight>
                  <a:srgbClr val="FFFFFF"/>
                </a:highlight>
                <a:latin typeface="Courier New"/>
                <a:ea typeface="Courier New"/>
                <a:cs typeface="Courier New"/>
                <a:sym typeface="Courier New"/>
              </a:rPr>
              <a:t>state_t</a:t>
            </a:r>
            <a:r>
              <a:rPr b="1" lang="en" sz="1100">
                <a:solidFill>
                  <a:schemeClr val="dk1"/>
                </a:solidFill>
                <a:highlight>
                  <a:srgbClr val="FFFFFF"/>
                </a:highlight>
                <a:latin typeface="Courier New"/>
                <a:ea typeface="Courier New"/>
                <a:cs typeface="Courier New"/>
                <a:sym typeface="Courier New"/>
              </a:rPr>
              <a:t> state;</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timerFlag;</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latin typeface="Courier New"/>
              <a:ea typeface="Courier New"/>
              <a:cs typeface="Courier New"/>
              <a:sym typeface="Courier New"/>
            </a:endParaRPr>
          </a:p>
        </p:txBody>
      </p:sp>
      <p:sp>
        <p:nvSpPr>
          <p:cNvPr id="597" name="Google Shape;597;p64"/>
          <p:cNvSpPr txBox="1"/>
          <p:nvPr>
            <p:ph idx="1" type="body"/>
          </p:nvPr>
        </p:nvSpPr>
        <p:spPr>
          <a:xfrm>
            <a:off x="4199050" y="5275425"/>
            <a:ext cx="3934500" cy="15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TIM14_IRQHandler(</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__disable_irq();</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Clear UIF in status register */</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 ~TIM_SR_UIF;</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timerFlag = 1;</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__enable_irq();</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latin typeface="Courier New"/>
              <a:ea typeface="Courier New"/>
              <a:cs typeface="Courier New"/>
              <a:sym typeface="Courier New"/>
            </a:endParaRPr>
          </a:p>
        </p:txBody>
      </p:sp>
      <p:sp>
        <p:nvSpPr>
          <p:cNvPr id="598" name="Google Shape;598;p64"/>
          <p:cNvSpPr txBox="1"/>
          <p:nvPr>
            <p:ph idx="1" type="body"/>
          </p:nvPr>
        </p:nvSpPr>
        <p:spPr>
          <a:xfrm>
            <a:off x="4199050" y="375200"/>
            <a:ext cx="4807200" cy="50064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IOPENR</a:t>
            </a:r>
            <a:r>
              <a:rPr b="1" lang="en" sz="1100">
                <a:solidFill>
                  <a:schemeClr val="dk1"/>
                </a:solidFill>
                <a:highlight>
                  <a:srgbClr val="FFFFFF"/>
                </a:highlight>
                <a:latin typeface="Courier New"/>
                <a:ea typeface="Courier New"/>
                <a:cs typeface="Courier New"/>
                <a:sym typeface="Courier New"/>
              </a:rPr>
              <a:t> |=  RCC_IOPENR_GPIOAEN;</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(1U&lt;&lt;10);  </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&amp;=~(1U&lt;&lt;11); </a:t>
            </a:r>
            <a:endParaRPr b="1" sz="1100">
              <a:solidFill>
                <a:schemeClr val="dk1"/>
              </a:solidFill>
              <a:highlight>
                <a:srgbClr val="FFFFFF"/>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GPIOA-&gt;</a:t>
            </a:r>
            <a:r>
              <a:rPr b="1" lang="en" sz="1100">
                <a:solidFill>
                  <a:srgbClr val="0000C0"/>
                </a:solidFill>
                <a:highlight>
                  <a:srgbClr val="FFFFFF"/>
                </a:highlight>
                <a:latin typeface="Courier New"/>
                <a:ea typeface="Courier New"/>
                <a:cs typeface="Courier New"/>
                <a:sym typeface="Courier New"/>
              </a:rPr>
              <a:t>ODR</a:t>
            </a:r>
            <a:r>
              <a:rPr b="1" lang="en" sz="1100">
                <a:solidFill>
                  <a:schemeClr val="dk1"/>
                </a:solidFill>
                <a:highlight>
                  <a:srgbClr val="FFFFFF"/>
                </a:highlight>
                <a:latin typeface="Courier New"/>
                <a:ea typeface="Courier New"/>
                <a:cs typeface="Courier New"/>
                <a:sym typeface="Courier New"/>
              </a:rPr>
              <a:t> &amp;= ~(LED);	   </a:t>
            </a:r>
            <a:r>
              <a:rPr b="1" lang="en" sz="1100">
                <a:solidFill>
                  <a:srgbClr val="3F7F5F"/>
                </a:solidFill>
                <a:highlight>
                  <a:srgbClr val="FFFFFF"/>
                </a:highlight>
                <a:latin typeface="Courier New"/>
                <a:ea typeface="Courier New"/>
                <a:cs typeface="Courier New"/>
                <a:sym typeface="Courier New"/>
              </a:rPr>
              <a:t>// LED is off</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state = </a:t>
            </a:r>
            <a:r>
              <a:rPr b="1" i="1" lang="en" sz="1100">
                <a:solidFill>
                  <a:srgbClr val="0000C0"/>
                </a:solidFill>
                <a:highlight>
                  <a:srgbClr val="FFFFFF"/>
                </a:highlight>
                <a:latin typeface="Courier New"/>
                <a:ea typeface="Courier New"/>
                <a:cs typeface="Courier New"/>
                <a:sym typeface="Courier New"/>
              </a:rPr>
              <a:t>LEDOFF</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tim14_ms_interrupt_init(T_OFF);</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(timerFlag)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a:t>
            </a:r>
            <a:r>
              <a:rPr b="1" lang="en" sz="1100">
                <a:solidFill>
                  <a:srgbClr val="0000C0"/>
                </a:solidFill>
                <a:highlight>
                  <a:srgbClr val="FFFFFF"/>
                </a:highlight>
                <a:latin typeface="Courier New"/>
                <a:ea typeface="Courier New"/>
                <a:cs typeface="Courier New"/>
                <a:sym typeface="Courier New"/>
              </a:rPr>
              <a:t>ODR</a:t>
            </a:r>
            <a:r>
              <a:rPr b="1" lang="en" sz="1100">
                <a:solidFill>
                  <a:schemeClr val="dk1"/>
                </a:solidFill>
                <a:highlight>
                  <a:srgbClr val="FFFFFF"/>
                </a:highlight>
                <a:latin typeface="Courier New"/>
                <a:ea typeface="Courier New"/>
                <a:cs typeface="Courier New"/>
                <a:sym typeface="Courier New"/>
              </a:rPr>
              <a:t> ^= LED;							</a:t>
            </a:r>
            <a:r>
              <a:rPr b="1" lang="en" sz="1100">
                <a:solidFill>
                  <a:srgbClr val="7F0055"/>
                </a:solidFill>
                <a:highlight>
                  <a:srgbClr val="FFFFFF"/>
                </a:highlight>
                <a:latin typeface="Courier New"/>
                <a:ea typeface="Courier New"/>
                <a:cs typeface="Courier New"/>
                <a:sym typeface="Courier New"/>
              </a:rPr>
              <a:t>switch</a:t>
            </a:r>
            <a:r>
              <a:rPr b="1" lang="en" sz="1100">
                <a:solidFill>
                  <a:schemeClr val="dk1"/>
                </a:solidFill>
                <a:highlight>
                  <a:srgbClr val="FFFFFF"/>
                </a:highlight>
                <a:latin typeface="Courier New"/>
                <a:ea typeface="Courier New"/>
                <a:cs typeface="Courier New"/>
                <a:sym typeface="Courier New"/>
              </a:rPr>
              <a:t> (state)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case</a:t>
            </a:r>
            <a:r>
              <a:rPr b="1" lang="en" sz="1100">
                <a:solidFill>
                  <a:schemeClr val="dk1"/>
                </a:solidFill>
                <a:highlight>
                  <a:srgbClr val="FFFFFF"/>
                </a:highlight>
                <a:latin typeface="Courier New"/>
                <a:ea typeface="Courier New"/>
                <a:cs typeface="Courier New"/>
                <a:sym typeface="Courier New"/>
              </a:rPr>
              <a:t> </a:t>
            </a:r>
            <a:r>
              <a:rPr b="1" i="1" lang="en" sz="1100">
                <a:solidFill>
                  <a:srgbClr val="0000C0"/>
                </a:solidFill>
                <a:highlight>
                  <a:srgbClr val="FFFFFF"/>
                </a:highlight>
                <a:latin typeface="Courier New"/>
                <a:ea typeface="Courier New"/>
                <a:cs typeface="Courier New"/>
                <a:sym typeface="Courier New"/>
              </a:rPr>
              <a:t>LEDOFF</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T_ON-1;</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state = </a:t>
            </a:r>
            <a:r>
              <a:rPr b="1" i="1" lang="en" sz="1100">
                <a:solidFill>
                  <a:srgbClr val="0000C0"/>
                </a:solidFill>
                <a:highlight>
                  <a:srgbClr val="FFFFFF"/>
                </a:highlight>
                <a:latin typeface="Courier New"/>
                <a:ea typeface="Courier New"/>
                <a:cs typeface="Courier New"/>
                <a:sym typeface="Courier New"/>
              </a:rPr>
              <a:t>LEDON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break</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case</a:t>
            </a:r>
            <a:r>
              <a:rPr b="1" lang="en" sz="1100">
                <a:solidFill>
                  <a:schemeClr val="dk1"/>
                </a:solidFill>
                <a:highlight>
                  <a:srgbClr val="FFFFFF"/>
                </a:highlight>
                <a:latin typeface="Courier New"/>
                <a:ea typeface="Courier New"/>
                <a:cs typeface="Courier New"/>
                <a:sym typeface="Courier New"/>
              </a:rPr>
              <a:t> </a:t>
            </a:r>
            <a:r>
              <a:rPr b="1" i="1" lang="en" sz="1100">
                <a:solidFill>
                  <a:srgbClr val="0000C0"/>
                </a:solidFill>
                <a:highlight>
                  <a:srgbClr val="FFFFFF"/>
                </a:highlight>
                <a:latin typeface="Courier New"/>
                <a:ea typeface="Courier New"/>
                <a:cs typeface="Courier New"/>
                <a:sym typeface="Courier New"/>
              </a:rPr>
              <a:t>LEDON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TIM14-&gt;</a:t>
            </a:r>
            <a:r>
              <a:rPr b="1" lang="en" sz="1100">
                <a:solidFill>
                  <a:srgbClr val="0000C0"/>
                </a:solidFill>
                <a:highlight>
                  <a:srgbClr val="FFFFFF"/>
                </a:highlight>
                <a:latin typeface="Courier New"/>
                <a:ea typeface="Courier New"/>
                <a:cs typeface="Courier New"/>
                <a:sym typeface="Courier New"/>
              </a:rPr>
              <a:t>ARR</a:t>
            </a:r>
            <a:r>
              <a:rPr b="1" lang="en" sz="1100">
                <a:solidFill>
                  <a:schemeClr val="dk1"/>
                </a:solidFill>
                <a:highlight>
                  <a:srgbClr val="FFFFFF"/>
                </a:highlight>
                <a:latin typeface="Courier New"/>
                <a:ea typeface="Courier New"/>
                <a:cs typeface="Courier New"/>
                <a:sym typeface="Courier New"/>
              </a:rPr>
              <a:t> = T_OFF-1;</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state = </a:t>
            </a:r>
            <a:r>
              <a:rPr b="1" i="1" lang="en" sz="1100">
                <a:solidFill>
                  <a:srgbClr val="0000C0"/>
                </a:solidFill>
                <a:highlight>
                  <a:srgbClr val="FFFFFF"/>
                </a:highlight>
                <a:latin typeface="Courier New"/>
                <a:ea typeface="Courier New"/>
                <a:cs typeface="Courier New"/>
                <a:sym typeface="Courier New"/>
              </a:rPr>
              <a:t>LEDOFF</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break</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timerFlag = 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100">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