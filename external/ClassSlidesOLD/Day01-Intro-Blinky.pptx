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08A230-F3E5-4931-8A8E-7B242848911A}">
  <a:tblStyle styleId="{F408A230-F3E5-4931-8A8E-7B242848911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education.com/watch?v=EGSyw2dHhrc"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b4ec8313d8_0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b4ec8313d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230ae8de24_0_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230ae8de2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c4cb47f82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c4cb47f8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Moved to discussion forum </a:t>
            </a:r>
            <a:r>
              <a:rPr lang="en"/>
              <a:t>before</a:t>
            </a:r>
            <a:r>
              <a:rPr lang="en"/>
              <a:t> class.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Think for a minute, discuss with neighbor, then share out. - processor, sensor, actuator, tools: group student answers into these categories without labelling them (on whiteboard)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c4cb47f824_0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c4cb47f82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a4eb31dee1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a4eb31dee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https://www.youtubeeducation.com/watch?v=EGSyw2dHhrc</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Hand out Arduinos. Video has details.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ea5f6022bb_0_8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2ea5f6022bb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a:t>
            </a:r>
            <a:r>
              <a:rPr lang="en"/>
              <a:t>he 32kHz crystal oscillator is primarily used to provide a precise, low-power clock signal for the real-time clock RTC module (which requires a highly accurate and low-power clock source to maintain time and date even when the main system is in low-power or sleep modes), enabling accurate timekeeping and efficient time-triggered operations while keeping the overall power consumption of the system as low as possible.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0a5799b983_0_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10a5799b983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GPIO system of the STM32 is designed around ports and bits rather than physical pin numbers. Each port (like PORT A) is a 16-bit register, where each bit controls one specific pin’s state (high or low). For example, PORT A, Bit 5 controls pin PA5. By referencing pins through their port and bit, the software becomes more portable across different package variants of the STM32C031 (or other STM32 microcontrollers), which may assign different physical pins to the same logical GPIO. STM32 documentation uses the port/bit nomenclature (e.g., PA5) for clarity and consistency. Pin 16 on your specific package happens to be PA5, but the physical pin number depends on the microcontroller’s package type (e.g., LQFP vs. QFN).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ea5f6022bb_0_14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2ea5f6022bb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4ec8313d8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b4ec8313d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GPIO system of the STM32 is designed around ports and bits rather than physical pin numbers. Each port (like PORT A) is a 16-bit register, where each bit controls one specific pin’s state (high or low). For example, PORT A, Bit 5 controls pin PA5. By referencing pins through their port and bit, the software becomes more portable across different package variants of the STM32C031 (or other STM32 microcontrollers), which may assign different physical pins to the same logical GPIO. STM32 documentation uses the port/bit nomenclature (e.g., PA5) for clarity and consistency. Pin 16 on your specific package happens to be PA5, but the physical pin number depends on the microcontroller’s package type (e.g., LQFP vs. QFN).</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efcf65116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efcf6511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Postponing what "GPIO-&gt;ODR" means -- "Just trust the syntax for now, will explain soon."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If you don't really remember binary and hexadecimal numbers, no worries. You'll be watching a video reviewing all this for next class.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eb15ba3e20_0_5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g2eb15ba3e20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eb15ba3e20_0_6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2eb15ba3e20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eb15ba3e20_0_9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2eb15ba3e20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eb15ba3e20_0_9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g2eb15ba3e20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eb15ba3e20_0_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2eb15ba3e20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eb15ba3e20_0_10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g2eb15ba3e20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eb15ba3e20_0_11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g2eb15ba3e20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2" name="Google Shape;45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0a583de4e9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0a583de4e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c4cb47f824_0_3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c4cb47f82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www.youtube.com/watch?v=EGSyw2dHhrc" TargetMode="Externa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canvas.dartmouth.edu/courses/56764/pages/coding-style?wrap=1"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latin typeface="Comic Sans MS"/>
                <a:ea typeface="Comic Sans MS"/>
                <a:cs typeface="Comic Sans MS"/>
                <a:sym typeface="Comic Sans MS"/>
              </a:rPr>
              <a:t>Embedded Systems</a:t>
            </a:r>
            <a:endParaRPr>
              <a:latin typeface="Comic Sans MS"/>
              <a:ea typeface="Comic Sans MS"/>
              <a:cs typeface="Comic Sans MS"/>
              <a:sym typeface="Comic Sans MS"/>
            </a:endParaRPr>
          </a:p>
        </p:txBody>
      </p:sp>
      <p:sp>
        <p:nvSpPr>
          <p:cNvPr id="55" name="Google Shape;55;p13"/>
          <p:cNvSpPr txBox="1"/>
          <p:nvPr>
            <p:ph idx="1" type="subTitle"/>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Comic Sans MS"/>
                <a:ea typeface="Comic Sans MS"/>
                <a:cs typeface="Comic Sans MS"/>
                <a:sym typeface="Comic Sans MS"/>
              </a:rPr>
              <a:t>ENGS 28</a:t>
            </a:r>
            <a:endParaRPr>
              <a:latin typeface="Comic Sans MS"/>
              <a:ea typeface="Comic Sans MS"/>
              <a:cs typeface="Comic Sans MS"/>
              <a:sym typeface="Comic Sans MS"/>
            </a:endParaRPr>
          </a:p>
          <a:p>
            <a:pPr indent="0" lvl="0" marL="0" rtl="0" algn="ctr">
              <a:lnSpc>
                <a:spcPct val="100000"/>
              </a:lnSpc>
              <a:spcBef>
                <a:spcPts val="0"/>
              </a:spcBef>
              <a:spcAft>
                <a:spcPts val="0"/>
              </a:spcAft>
              <a:buSzPts val="2800"/>
              <a:buNone/>
            </a:pPr>
            <a:r>
              <a:rPr lang="en">
                <a:latin typeface="Comic Sans MS"/>
                <a:ea typeface="Comic Sans MS"/>
                <a:cs typeface="Comic Sans MS"/>
                <a:sym typeface="Comic Sans MS"/>
              </a:rPr>
              <a:t>Day 1:  Blinky</a:t>
            </a:r>
            <a:endParaRPr>
              <a:latin typeface="Comic Sans MS"/>
              <a:ea typeface="Comic Sans MS"/>
              <a:cs typeface="Comic Sans MS"/>
              <a:sym typeface="Comic Sans MS"/>
            </a:endParaRPr>
          </a:p>
        </p:txBody>
      </p:sp>
      <p:pic>
        <p:nvPicPr>
          <p:cNvPr id="56" name="Google Shape;56;p13"/>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57" name="Google Shape;57;p13"/>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p:cNvPicPr preferRelativeResize="0"/>
          <p:nvPr/>
        </p:nvPicPr>
        <p:blipFill>
          <a:blip r:embed="rId3">
            <a:alphaModFix/>
          </a:blip>
          <a:stretch>
            <a:fillRect/>
          </a:stretch>
        </p:blipFill>
        <p:spPr>
          <a:xfrm>
            <a:off x="2842337" y="5323488"/>
            <a:ext cx="1103550" cy="1334750"/>
          </a:xfrm>
          <a:prstGeom prst="rect">
            <a:avLst/>
          </a:prstGeom>
          <a:noFill/>
          <a:ln>
            <a:noFill/>
          </a:ln>
        </p:spPr>
      </p:pic>
      <p:pic>
        <p:nvPicPr>
          <p:cNvPr id="63" name="Google Shape;63;p14"/>
          <p:cNvPicPr preferRelativeResize="0"/>
          <p:nvPr/>
        </p:nvPicPr>
        <p:blipFill rotWithShape="1">
          <a:blip r:embed="rId4">
            <a:alphaModFix/>
          </a:blip>
          <a:srcRect b="9076" l="0" r="0" t="10103"/>
          <a:stretch/>
        </p:blipFill>
        <p:spPr>
          <a:xfrm>
            <a:off x="5084175" y="5139675"/>
            <a:ext cx="1543875" cy="1718325"/>
          </a:xfrm>
          <a:prstGeom prst="rect">
            <a:avLst/>
          </a:prstGeom>
          <a:noFill/>
          <a:ln>
            <a:noFill/>
          </a:ln>
        </p:spPr>
      </p:pic>
      <p:sp>
        <p:nvSpPr>
          <p:cNvPr id="64" name="Google Shape;64;p14"/>
          <p:cNvSpPr/>
          <p:nvPr/>
        </p:nvSpPr>
        <p:spPr>
          <a:xfrm>
            <a:off x="3419050" y="298733"/>
            <a:ext cx="1152900" cy="141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334675" y="635750"/>
            <a:ext cx="22083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Nina </a:t>
            </a:r>
            <a:endParaRPr b="1" sz="2200">
              <a:solidFill>
                <a:srgbClr val="0000FF"/>
              </a:solidFill>
            </a:endParaRPr>
          </a:p>
          <a:p>
            <a:pPr indent="0" lvl="0" marL="0" rtl="0" algn="ctr">
              <a:spcBef>
                <a:spcPts val="0"/>
              </a:spcBef>
              <a:spcAft>
                <a:spcPts val="0"/>
              </a:spcAft>
              <a:buNone/>
            </a:pPr>
            <a:r>
              <a:rPr b="1" lang="en" sz="2200">
                <a:solidFill>
                  <a:srgbClr val="0000FF"/>
                </a:solidFill>
              </a:rPr>
              <a:t>Tiffany</a:t>
            </a:r>
            <a:endParaRPr b="1" sz="2200">
              <a:solidFill>
                <a:srgbClr val="0000FF"/>
              </a:solidFill>
            </a:endParaRPr>
          </a:p>
          <a:p>
            <a:pPr indent="0" lvl="0" marL="0" rtl="0" algn="ctr">
              <a:spcBef>
                <a:spcPts val="0"/>
              </a:spcBef>
              <a:spcAft>
                <a:spcPts val="0"/>
              </a:spcAft>
              <a:buNone/>
            </a:pPr>
            <a:r>
              <a:rPr b="1" lang="en" sz="2200">
                <a:solidFill>
                  <a:srgbClr val="0000FF"/>
                </a:solidFill>
              </a:rPr>
              <a:t>Teaen</a:t>
            </a:r>
            <a:endParaRPr b="1" sz="2200">
              <a:solidFill>
                <a:srgbClr val="0000FF"/>
              </a:solidFill>
            </a:endParaRPr>
          </a:p>
          <a:p>
            <a:pPr indent="0" lvl="0" marL="0" rtl="0" algn="ctr">
              <a:spcBef>
                <a:spcPts val="0"/>
              </a:spcBef>
              <a:spcAft>
                <a:spcPts val="0"/>
              </a:spcAft>
              <a:buNone/>
            </a:pPr>
            <a:r>
              <a:rPr b="1" lang="en" sz="2200">
                <a:solidFill>
                  <a:srgbClr val="0000FF"/>
                </a:solidFill>
              </a:rPr>
              <a:t>Jeff</a:t>
            </a:r>
            <a:endParaRPr b="1" sz="2200">
              <a:solidFill>
                <a:srgbClr val="0000FF"/>
              </a:solidFill>
            </a:endParaRPr>
          </a:p>
        </p:txBody>
      </p:sp>
      <p:sp>
        <p:nvSpPr>
          <p:cNvPr id="66" name="Google Shape;66;p14"/>
          <p:cNvSpPr/>
          <p:nvPr/>
        </p:nvSpPr>
        <p:spPr>
          <a:xfrm>
            <a:off x="334675" y="2699775"/>
            <a:ext cx="22083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Papa </a:t>
            </a:r>
            <a:endParaRPr b="1" sz="2200">
              <a:solidFill>
                <a:srgbClr val="0000FF"/>
              </a:solidFill>
            </a:endParaRPr>
          </a:p>
          <a:p>
            <a:pPr indent="0" lvl="0" marL="0" rtl="0" algn="ctr">
              <a:spcBef>
                <a:spcPts val="0"/>
              </a:spcBef>
              <a:spcAft>
                <a:spcPts val="0"/>
              </a:spcAft>
              <a:buNone/>
            </a:pPr>
            <a:r>
              <a:rPr b="1" lang="en" sz="2200">
                <a:solidFill>
                  <a:srgbClr val="0000FF"/>
                </a:solidFill>
              </a:rPr>
              <a:t>Chase</a:t>
            </a:r>
            <a:endParaRPr b="1" sz="2200">
              <a:solidFill>
                <a:srgbClr val="0000FF"/>
              </a:solidFill>
            </a:endParaRPr>
          </a:p>
          <a:p>
            <a:pPr indent="0" lvl="0" marL="0" rtl="0" algn="ctr">
              <a:spcBef>
                <a:spcPts val="0"/>
              </a:spcBef>
              <a:spcAft>
                <a:spcPts val="0"/>
              </a:spcAft>
              <a:buNone/>
            </a:pPr>
            <a:r>
              <a:rPr b="1" lang="en" sz="2200">
                <a:solidFill>
                  <a:srgbClr val="0000FF"/>
                </a:solidFill>
              </a:rPr>
              <a:t>Ryan </a:t>
            </a:r>
            <a:endParaRPr b="1" sz="2200">
              <a:solidFill>
                <a:srgbClr val="0000FF"/>
              </a:solidFill>
            </a:endParaRPr>
          </a:p>
          <a:p>
            <a:pPr indent="0" lvl="0" marL="0" rtl="0" algn="ctr">
              <a:spcBef>
                <a:spcPts val="0"/>
              </a:spcBef>
              <a:spcAft>
                <a:spcPts val="0"/>
              </a:spcAft>
              <a:buNone/>
            </a:pPr>
            <a:r>
              <a:rPr b="1" lang="en" sz="2200">
                <a:solidFill>
                  <a:srgbClr val="0000FF"/>
                </a:solidFill>
              </a:rPr>
              <a:t>Owen</a:t>
            </a:r>
            <a:endParaRPr b="1" sz="2200">
              <a:solidFill>
                <a:srgbClr val="0000FF"/>
              </a:solidFill>
            </a:endParaRPr>
          </a:p>
          <a:p>
            <a:pPr indent="0" lvl="0" marL="0" rtl="0" algn="ctr">
              <a:spcBef>
                <a:spcPts val="0"/>
              </a:spcBef>
              <a:spcAft>
                <a:spcPts val="0"/>
              </a:spcAft>
              <a:buNone/>
            </a:pPr>
            <a:r>
              <a:rPr b="1" lang="en" sz="2200">
                <a:solidFill>
                  <a:srgbClr val="0000FF"/>
                </a:solidFill>
              </a:rPr>
              <a:t>Holden </a:t>
            </a:r>
            <a:endParaRPr b="1" sz="2200">
              <a:solidFill>
                <a:srgbClr val="0000FF"/>
              </a:solidFill>
            </a:endParaRPr>
          </a:p>
        </p:txBody>
      </p:sp>
      <p:sp>
        <p:nvSpPr>
          <p:cNvPr id="67" name="Google Shape;67;p14"/>
          <p:cNvSpPr/>
          <p:nvPr/>
        </p:nvSpPr>
        <p:spPr>
          <a:xfrm>
            <a:off x="334675" y="4763800"/>
            <a:ext cx="2208300" cy="1664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Simrah</a:t>
            </a:r>
            <a:endParaRPr b="1" sz="2200">
              <a:solidFill>
                <a:srgbClr val="0000FF"/>
              </a:solidFill>
            </a:endParaRPr>
          </a:p>
          <a:p>
            <a:pPr indent="0" lvl="0" marL="0" rtl="0" algn="ctr">
              <a:spcBef>
                <a:spcPts val="0"/>
              </a:spcBef>
              <a:spcAft>
                <a:spcPts val="0"/>
              </a:spcAft>
              <a:buNone/>
            </a:pPr>
            <a:r>
              <a:rPr b="1" lang="en" sz="2200">
                <a:solidFill>
                  <a:srgbClr val="0000FF"/>
                </a:solidFill>
              </a:rPr>
              <a:t>Leah </a:t>
            </a:r>
            <a:endParaRPr b="1" sz="2200">
              <a:solidFill>
                <a:srgbClr val="0000FF"/>
              </a:solidFill>
            </a:endParaRPr>
          </a:p>
          <a:p>
            <a:pPr indent="0" lvl="0" marL="0" rtl="0" algn="ctr">
              <a:spcBef>
                <a:spcPts val="0"/>
              </a:spcBef>
              <a:spcAft>
                <a:spcPts val="0"/>
              </a:spcAft>
              <a:buNone/>
            </a:pPr>
            <a:r>
              <a:rPr b="1" lang="en" sz="2200">
                <a:solidFill>
                  <a:srgbClr val="0000FF"/>
                </a:solidFill>
              </a:rPr>
              <a:t>Claire</a:t>
            </a:r>
            <a:endParaRPr b="1" sz="2200">
              <a:solidFill>
                <a:srgbClr val="0000FF"/>
              </a:solidFill>
            </a:endParaRPr>
          </a:p>
          <a:p>
            <a:pPr indent="0" lvl="0" marL="0" rtl="0" algn="ctr">
              <a:spcBef>
                <a:spcPts val="0"/>
              </a:spcBef>
              <a:spcAft>
                <a:spcPts val="0"/>
              </a:spcAft>
              <a:buNone/>
            </a:pPr>
            <a:r>
              <a:rPr b="1" lang="en" sz="2200">
                <a:solidFill>
                  <a:srgbClr val="0000FF"/>
                </a:solidFill>
              </a:rPr>
              <a:t>Renata </a:t>
            </a:r>
            <a:endParaRPr b="1" sz="2200">
              <a:solidFill>
                <a:srgbClr val="0000FF"/>
              </a:solidFill>
            </a:endParaRPr>
          </a:p>
        </p:txBody>
      </p:sp>
      <p:sp>
        <p:nvSpPr>
          <p:cNvPr id="68" name="Google Shape;68;p14"/>
          <p:cNvSpPr/>
          <p:nvPr/>
        </p:nvSpPr>
        <p:spPr>
          <a:xfrm>
            <a:off x="2753350" y="289400"/>
            <a:ext cx="17571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Peyton </a:t>
            </a:r>
            <a:endParaRPr b="1" sz="2200">
              <a:solidFill>
                <a:srgbClr val="0000FF"/>
              </a:solidFill>
            </a:endParaRPr>
          </a:p>
          <a:p>
            <a:pPr indent="0" lvl="0" marL="0" rtl="0" algn="ctr">
              <a:spcBef>
                <a:spcPts val="0"/>
              </a:spcBef>
              <a:spcAft>
                <a:spcPts val="0"/>
              </a:spcAft>
              <a:buNone/>
            </a:pPr>
            <a:r>
              <a:rPr b="1" lang="en" sz="2200">
                <a:solidFill>
                  <a:srgbClr val="0000FF"/>
                </a:solidFill>
              </a:rPr>
              <a:t>Gent </a:t>
            </a:r>
            <a:endParaRPr b="1" sz="2200">
              <a:solidFill>
                <a:srgbClr val="0000FF"/>
              </a:solidFill>
            </a:endParaRPr>
          </a:p>
          <a:p>
            <a:pPr indent="0" lvl="0" marL="0" rtl="0" algn="ctr">
              <a:spcBef>
                <a:spcPts val="0"/>
              </a:spcBef>
              <a:spcAft>
                <a:spcPts val="0"/>
              </a:spcAft>
              <a:buNone/>
            </a:pPr>
            <a:r>
              <a:rPr b="1" lang="en" sz="2200">
                <a:solidFill>
                  <a:srgbClr val="0000FF"/>
                </a:solidFill>
              </a:rPr>
              <a:t>Thor </a:t>
            </a:r>
            <a:endParaRPr b="1" sz="2200">
              <a:solidFill>
                <a:srgbClr val="0000FF"/>
              </a:solidFill>
            </a:endParaRPr>
          </a:p>
          <a:p>
            <a:pPr indent="0" lvl="0" marL="0" rtl="0" algn="ctr">
              <a:spcBef>
                <a:spcPts val="0"/>
              </a:spcBef>
              <a:spcAft>
                <a:spcPts val="0"/>
              </a:spcAft>
              <a:buNone/>
            </a:pPr>
            <a:r>
              <a:rPr b="1" lang="en" sz="2200">
                <a:solidFill>
                  <a:srgbClr val="0000FF"/>
                </a:solidFill>
              </a:rPr>
              <a:t>Oliver </a:t>
            </a:r>
            <a:endParaRPr b="1" sz="2200">
              <a:solidFill>
                <a:srgbClr val="0000FF"/>
              </a:solidFill>
            </a:endParaRPr>
          </a:p>
        </p:txBody>
      </p:sp>
      <p:sp>
        <p:nvSpPr>
          <p:cNvPr id="69" name="Google Shape;69;p14"/>
          <p:cNvSpPr/>
          <p:nvPr/>
        </p:nvSpPr>
        <p:spPr>
          <a:xfrm>
            <a:off x="4721450" y="268550"/>
            <a:ext cx="17571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Napu </a:t>
            </a:r>
            <a:endParaRPr b="1" sz="2200">
              <a:solidFill>
                <a:srgbClr val="0000FF"/>
              </a:solidFill>
            </a:endParaRPr>
          </a:p>
          <a:p>
            <a:pPr indent="0" lvl="0" marL="0" rtl="0" algn="ctr">
              <a:spcBef>
                <a:spcPts val="0"/>
              </a:spcBef>
              <a:spcAft>
                <a:spcPts val="0"/>
              </a:spcAft>
              <a:buNone/>
            </a:pPr>
            <a:r>
              <a:rPr b="1" lang="en" sz="2200">
                <a:solidFill>
                  <a:srgbClr val="0000FF"/>
                </a:solidFill>
              </a:rPr>
              <a:t>Alex </a:t>
            </a:r>
            <a:endParaRPr b="1" sz="2200">
              <a:solidFill>
                <a:srgbClr val="0000FF"/>
              </a:solidFill>
            </a:endParaRPr>
          </a:p>
          <a:p>
            <a:pPr indent="0" lvl="0" marL="0" rtl="0" algn="ctr">
              <a:spcBef>
                <a:spcPts val="0"/>
              </a:spcBef>
              <a:spcAft>
                <a:spcPts val="0"/>
              </a:spcAft>
              <a:buNone/>
            </a:pPr>
            <a:r>
              <a:rPr b="1" lang="en" sz="2200">
                <a:solidFill>
                  <a:srgbClr val="0000FF"/>
                </a:solidFill>
              </a:rPr>
              <a:t>JP</a:t>
            </a:r>
            <a:endParaRPr b="1" sz="2200">
              <a:solidFill>
                <a:srgbClr val="0000FF"/>
              </a:solidFill>
            </a:endParaRPr>
          </a:p>
          <a:p>
            <a:pPr indent="0" lvl="0" marL="0" rtl="0" algn="ctr">
              <a:spcBef>
                <a:spcPts val="0"/>
              </a:spcBef>
              <a:spcAft>
                <a:spcPts val="0"/>
              </a:spcAft>
              <a:buNone/>
            </a:pPr>
            <a:r>
              <a:rPr b="1" lang="en" sz="2200">
                <a:solidFill>
                  <a:srgbClr val="0000FF"/>
                </a:solidFill>
              </a:rPr>
              <a:t>Andrew</a:t>
            </a:r>
            <a:endParaRPr b="1" sz="2200">
              <a:solidFill>
                <a:srgbClr val="0000FF"/>
              </a:solidFill>
            </a:endParaRPr>
          </a:p>
        </p:txBody>
      </p:sp>
      <p:sp>
        <p:nvSpPr>
          <p:cNvPr id="70" name="Google Shape;70;p14"/>
          <p:cNvSpPr/>
          <p:nvPr/>
        </p:nvSpPr>
        <p:spPr>
          <a:xfrm>
            <a:off x="6628050" y="4763850"/>
            <a:ext cx="2171400" cy="16641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Hope</a:t>
            </a:r>
            <a:endParaRPr b="1" sz="2200">
              <a:solidFill>
                <a:srgbClr val="0000FF"/>
              </a:solidFill>
            </a:endParaRPr>
          </a:p>
          <a:p>
            <a:pPr indent="0" lvl="0" marL="0" rtl="0" algn="ctr">
              <a:spcBef>
                <a:spcPts val="0"/>
              </a:spcBef>
              <a:spcAft>
                <a:spcPts val="0"/>
              </a:spcAft>
              <a:buNone/>
            </a:pPr>
            <a:r>
              <a:rPr b="1" lang="en" sz="2200">
                <a:solidFill>
                  <a:srgbClr val="0000FF"/>
                </a:solidFill>
              </a:rPr>
              <a:t>Brianna</a:t>
            </a:r>
            <a:endParaRPr b="1" sz="2200">
              <a:solidFill>
                <a:srgbClr val="0000FF"/>
              </a:solidFill>
            </a:endParaRPr>
          </a:p>
          <a:p>
            <a:pPr indent="0" lvl="0" marL="0" rtl="0" algn="ctr">
              <a:spcBef>
                <a:spcPts val="0"/>
              </a:spcBef>
              <a:spcAft>
                <a:spcPts val="0"/>
              </a:spcAft>
              <a:buNone/>
            </a:pPr>
            <a:r>
              <a:rPr b="1" lang="en" sz="2200">
                <a:solidFill>
                  <a:srgbClr val="0000FF"/>
                </a:solidFill>
              </a:rPr>
              <a:t>Rachel</a:t>
            </a:r>
            <a:endParaRPr b="1" sz="2200">
              <a:solidFill>
                <a:srgbClr val="0000FF"/>
              </a:solidFill>
            </a:endParaRPr>
          </a:p>
          <a:p>
            <a:pPr indent="0" lvl="0" marL="0" rtl="0" algn="ctr">
              <a:spcBef>
                <a:spcPts val="0"/>
              </a:spcBef>
              <a:spcAft>
                <a:spcPts val="0"/>
              </a:spcAft>
              <a:buNone/>
            </a:pPr>
            <a:r>
              <a:rPr b="1" lang="en" sz="2200">
                <a:solidFill>
                  <a:srgbClr val="0000FF"/>
                </a:solidFill>
              </a:rPr>
              <a:t>Maya</a:t>
            </a:r>
            <a:endParaRPr b="1" sz="2200">
              <a:solidFill>
                <a:srgbClr val="0000FF"/>
              </a:solidFill>
            </a:endParaRPr>
          </a:p>
        </p:txBody>
      </p:sp>
      <p:sp>
        <p:nvSpPr>
          <p:cNvPr id="71" name="Google Shape;71;p14"/>
          <p:cNvSpPr/>
          <p:nvPr/>
        </p:nvSpPr>
        <p:spPr>
          <a:xfrm>
            <a:off x="6628050" y="2699776"/>
            <a:ext cx="21714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Stefan</a:t>
            </a:r>
            <a:endParaRPr b="1" sz="2200">
              <a:solidFill>
                <a:srgbClr val="0000FF"/>
              </a:solidFill>
            </a:endParaRPr>
          </a:p>
          <a:p>
            <a:pPr indent="0" lvl="0" marL="0" rtl="0" algn="ctr">
              <a:spcBef>
                <a:spcPts val="0"/>
              </a:spcBef>
              <a:spcAft>
                <a:spcPts val="0"/>
              </a:spcAft>
              <a:buNone/>
            </a:pPr>
            <a:r>
              <a:rPr b="1" lang="en" sz="2200">
                <a:solidFill>
                  <a:srgbClr val="0000FF"/>
                </a:solidFill>
              </a:rPr>
              <a:t>Konstantinos </a:t>
            </a:r>
            <a:endParaRPr b="1" sz="2200">
              <a:solidFill>
                <a:srgbClr val="0000FF"/>
              </a:solidFill>
            </a:endParaRPr>
          </a:p>
          <a:p>
            <a:pPr indent="0" lvl="0" marL="0" rtl="0" algn="ctr">
              <a:spcBef>
                <a:spcPts val="0"/>
              </a:spcBef>
              <a:spcAft>
                <a:spcPts val="0"/>
              </a:spcAft>
              <a:buNone/>
            </a:pPr>
            <a:r>
              <a:rPr b="1" lang="en" sz="2200">
                <a:solidFill>
                  <a:srgbClr val="0000FF"/>
                </a:solidFill>
              </a:rPr>
              <a:t>Jaden</a:t>
            </a:r>
            <a:endParaRPr b="1" sz="2200">
              <a:solidFill>
                <a:srgbClr val="0000FF"/>
              </a:solidFill>
            </a:endParaRPr>
          </a:p>
          <a:p>
            <a:pPr indent="0" lvl="0" marL="0" rtl="0" algn="ctr">
              <a:spcBef>
                <a:spcPts val="0"/>
              </a:spcBef>
              <a:spcAft>
                <a:spcPts val="0"/>
              </a:spcAft>
              <a:buNone/>
            </a:pPr>
            <a:r>
              <a:rPr b="1" lang="en" sz="2200">
                <a:solidFill>
                  <a:srgbClr val="0000FF"/>
                </a:solidFill>
              </a:rPr>
              <a:t>Alkins </a:t>
            </a:r>
            <a:endParaRPr b="1" sz="2200">
              <a:solidFill>
                <a:srgbClr val="0000FF"/>
              </a:solidFill>
            </a:endParaRPr>
          </a:p>
        </p:txBody>
      </p:sp>
      <p:sp>
        <p:nvSpPr>
          <p:cNvPr id="72" name="Google Shape;72;p14"/>
          <p:cNvSpPr/>
          <p:nvPr/>
        </p:nvSpPr>
        <p:spPr>
          <a:xfrm>
            <a:off x="6628050" y="635750"/>
            <a:ext cx="2171400" cy="18534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rgbClr val="0000FF"/>
                </a:solidFill>
              </a:rPr>
              <a:t>Molly </a:t>
            </a:r>
            <a:endParaRPr b="1" sz="2200">
              <a:solidFill>
                <a:srgbClr val="0000FF"/>
              </a:solidFill>
            </a:endParaRPr>
          </a:p>
          <a:p>
            <a:pPr indent="0" lvl="0" marL="0" rtl="0" algn="ctr">
              <a:spcBef>
                <a:spcPts val="0"/>
              </a:spcBef>
              <a:spcAft>
                <a:spcPts val="0"/>
              </a:spcAft>
              <a:buNone/>
            </a:pPr>
            <a:r>
              <a:rPr b="1" lang="en" sz="2200">
                <a:solidFill>
                  <a:srgbClr val="0000FF"/>
                </a:solidFill>
              </a:rPr>
              <a:t>Soleil </a:t>
            </a:r>
            <a:endParaRPr b="1" sz="2200">
              <a:solidFill>
                <a:srgbClr val="0000FF"/>
              </a:solidFill>
            </a:endParaRPr>
          </a:p>
          <a:p>
            <a:pPr indent="0" lvl="0" marL="0" rtl="0" algn="ctr">
              <a:spcBef>
                <a:spcPts val="0"/>
              </a:spcBef>
              <a:spcAft>
                <a:spcPts val="0"/>
              </a:spcAft>
              <a:buNone/>
            </a:pPr>
            <a:r>
              <a:rPr b="1" lang="en" sz="2200">
                <a:solidFill>
                  <a:srgbClr val="0000FF"/>
                </a:solidFill>
              </a:rPr>
              <a:t>Meiirzhan </a:t>
            </a:r>
            <a:endParaRPr b="1" sz="2200">
              <a:solidFill>
                <a:srgbClr val="0000FF"/>
              </a:solidFill>
            </a:endParaRPr>
          </a:p>
          <a:p>
            <a:pPr indent="0" lvl="0" marL="0" rtl="0" algn="ctr">
              <a:spcBef>
                <a:spcPts val="0"/>
              </a:spcBef>
              <a:spcAft>
                <a:spcPts val="0"/>
              </a:spcAft>
              <a:buNone/>
            </a:pPr>
            <a:r>
              <a:rPr b="1" lang="en" sz="2200">
                <a:solidFill>
                  <a:srgbClr val="0000FF"/>
                </a:solidFill>
              </a:rPr>
              <a:t>Ollie</a:t>
            </a:r>
            <a:endParaRPr b="1" sz="2200">
              <a:solidFill>
                <a:srgbClr val="0000FF"/>
              </a:solidFill>
            </a:endParaRPr>
          </a:p>
          <a:p>
            <a:pPr indent="0" lvl="0" marL="0" rtl="0" algn="ctr">
              <a:spcBef>
                <a:spcPts val="0"/>
              </a:spcBef>
              <a:spcAft>
                <a:spcPts val="0"/>
              </a:spcAft>
              <a:buNone/>
            </a:pPr>
            <a:r>
              <a:rPr b="1" lang="en" sz="2200">
                <a:solidFill>
                  <a:srgbClr val="0000FF"/>
                </a:solidFill>
              </a:rPr>
              <a:t>Starlone</a:t>
            </a:r>
            <a:endParaRPr b="1" sz="2200">
              <a:solidFill>
                <a:srgbClr val="0000FF"/>
              </a:solidFill>
            </a:endParaRPr>
          </a:p>
        </p:txBody>
      </p:sp>
      <p:sp>
        <p:nvSpPr>
          <p:cNvPr id="73" name="Google Shape;73;p14"/>
          <p:cNvSpPr txBox="1"/>
          <p:nvPr>
            <p:ph type="ctrTitle"/>
          </p:nvPr>
        </p:nvSpPr>
        <p:spPr>
          <a:xfrm>
            <a:off x="2638875" y="2413200"/>
            <a:ext cx="3839700" cy="1853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latin typeface="Comic Sans MS"/>
                <a:ea typeface="Comic Sans MS"/>
                <a:cs typeface="Comic Sans MS"/>
                <a:sym typeface="Comic Sans MS"/>
              </a:rPr>
              <a:t>Embedded </a:t>
            </a:r>
            <a:endParaRPr>
              <a:latin typeface="Comic Sans MS"/>
              <a:ea typeface="Comic Sans MS"/>
              <a:cs typeface="Comic Sans MS"/>
              <a:sym typeface="Comic Sans MS"/>
            </a:endParaRPr>
          </a:p>
          <a:p>
            <a:pPr indent="0" lvl="0" marL="0" rtl="0" algn="ctr">
              <a:lnSpc>
                <a:spcPct val="100000"/>
              </a:lnSpc>
              <a:spcBef>
                <a:spcPts val="0"/>
              </a:spcBef>
              <a:spcAft>
                <a:spcPts val="0"/>
              </a:spcAft>
              <a:buSzPts val="5200"/>
              <a:buNone/>
            </a:pPr>
            <a:r>
              <a:rPr lang="en">
                <a:latin typeface="Comic Sans MS"/>
                <a:ea typeface="Comic Sans MS"/>
                <a:cs typeface="Comic Sans MS"/>
                <a:sym typeface="Comic Sans MS"/>
              </a:rPr>
              <a:t>Systems</a:t>
            </a:r>
            <a:endParaRPr>
              <a:latin typeface="Comic Sans MS"/>
              <a:ea typeface="Comic Sans MS"/>
              <a:cs typeface="Comic Sans MS"/>
              <a:sym typeface="Comic Sans MS"/>
            </a:endParaRPr>
          </a:p>
        </p:txBody>
      </p:sp>
      <p:sp>
        <p:nvSpPr>
          <p:cNvPr id="74" name="Google Shape;74;p14"/>
          <p:cNvSpPr txBox="1"/>
          <p:nvPr>
            <p:ph idx="1" type="subTitle"/>
          </p:nvPr>
        </p:nvSpPr>
        <p:spPr>
          <a:xfrm>
            <a:off x="2638875" y="4266600"/>
            <a:ext cx="3839700" cy="1056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Comic Sans MS"/>
                <a:ea typeface="Comic Sans MS"/>
                <a:cs typeface="Comic Sans MS"/>
                <a:sym typeface="Comic Sans MS"/>
              </a:rPr>
              <a:t>ENGS 28</a:t>
            </a:r>
            <a:endParaRPr>
              <a:latin typeface="Comic Sans MS"/>
              <a:ea typeface="Comic Sans MS"/>
              <a:cs typeface="Comic Sans MS"/>
              <a:sym typeface="Comic Sans MS"/>
            </a:endParaRPr>
          </a:p>
          <a:p>
            <a:pPr indent="0" lvl="0" marL="0" rtl="0" algn="ctr">
              <a:lnSpc>
                <a:spcPct val="100000"/>
              </a:lnSpc>
              <a:spcBef>
                <a:spcPts val="0"/>
              </a:spcBef>
              <a:spcAft>
                <a:spcPts val="0"/>
              </a:spcAft>
              <a:buSzPts val="2800"/>
              <a:buNone/>
            </a:pPr>
            <a:r>
              <a:rPr lang="en">
                <a:latin typeface="Comic Sans MS"/>
                <a:ea typeface="Comic Sans MS"/>
                <a:cs typeface="Comic Sans MS"/>
                <a:sym typeface="Comic Sans MS"/>
              </a:rPr>
              <a:t>Day 1:  Blinky</a:t>
            </a:r>
            <a:endParaRPr>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questions do you have about the course?</a:t>
            </a:r>
            <a:endParaRPr/>
          </a:p>
        </p:txBody>
      </p:sp>
      <p:sp>
        <p:nvSpPr>
          <p:cNvPr id="80" name="Google Shape;80;p1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is the level of difficulty of C for this course?</a:t>
            </a:r>
            <a:endParaRPr/>
          </a:p>
          <a:p>
            <a:pPr indent="-342900" lvl="0" marL="457200" rtl="0" algn="l">
              <a:spcBef>
                <a:spcPts val="0"/>
              </a:spcBef>
              <a:spcAft>
                <a:spcPts val="0"/>
              </a:spcAft>
              <a:buSzPts val="1800"/>
              <a:buChar char="●"/>
            </a:pPr>
            <a:r>
              <a:rPr lang="en"/>
              <a:t>If someone does not feel confident enough in coding, though open to learn, is that a problem in this course?</a:t>
            </a:r>
            <a:endParaRPr/>
          </a:p>
          <a:p>
            <a:pPr indent="-342900" lvl="0" marL="457200" rtl="0" algn="l">
              <a:spcBef>
                <a:spcPts val="0"/>
              </a:spcBef>
              <a:spcAft>
                <a:spcPts val="0"/>
              </a:spcAft>
              <a:buSzPts val="1800"/>
              <a:buChar char="●"/>
            </a:pPr>
            <a:r>
              <a:rPr lang="en"/>
              <a:t>Will we have a practice quiz before the first quiz so we can know the format?</a:t>
            </a:r>
            <a:endParaRPr/>
          </a:p>
        </p:txBody>
      </p:sp>
      <p:sp>
        <p:nvSpPr>
          <p:cNvPr id="81" name="Google Shape;81;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could automate anything in your dorm room…</a:t>
            </a:r>
            <a:endParaRPr/>
          </a:p>
        </p:txBody>
      </p:sp>
      <p:sp>
        <p:nvSpPr>
          <p:cNvPr id="87" name="Google Shape;87;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Roll my</a:t>
            </a:r>
            <a:r>
              <a:rPr lang="en"/>
              <a:t> chair back into position after every use</a:t>
            </a:r>
            <a:endParaRPr/>
          </a:p>
          <a:p>
            <a:pPr indent="-342900" lvl="0" marL="457200" rtl="0" algn="l">
              <a:spcBef>
                <a:spcPts val="0"/>
              </a:spcBef>
              <a:spcAft>
                <a:spcPts val="0"/>
              </a:spcAft>
              <a:buSzPts val="1800"/>
              <a:buChar char="●"/>
            </a:pPr>
            <a:r>
              <a:rPr lang="en"/>
              <a:t>Flip pages in a book without me having to pull out my arms from under covers</a:t>
            </a:r>
            <a:endParaRPr/>
          </a:p>
          <a:p>
            <a:pPr indent="-342900" lvl="0" marL="457200" rtl="0" algn="l">
              <a:spcBef>
                <a:spcPts val="0"/>
              </a:spcBef>
              <a:spcAft>
                <a:spcPts val="0"/>
              </a:spcAft>
              <a:buSzPts val="1800"/>
              <a:buChar char="●"/>
            </a:pPr>
            <a:r>
              <a:rPr lang="en"/>
              <a:t>Window shades to open and close with sunlight/sunset or on a timer</a:t>
            </a:r>
            <a:endParaRPr/>
          </a:p>
          <a:p>
            <a:pPr indent="-342900" lvl="0" marL="457200" rtl="0" algn="l">
              <a:spcBef>
                <a:spcPts val="0"/>
              </a:spcBef>
              <a:spcAft>
                <a:spcPts val="0"/>
              </a:spcAft>
              <a:buSzPts val="1800"/>
              <a:buChar char="●"/>
            </a:pPr>
            <a:r>
              <a:rPr lang="en"/>
              <a:t>Turn each of my lamps on and off via remote control from my bed</a:t>
            </a:r>
            <a:endParaRPr/>
          </a:p>
          <a:p>
            <a:pPr indent="-342900" lvl="0" marL="457200" rtl="0" algn="l">
              <a:spcBef>
                <a:spcPts val="0"/>
              </a:spcBef>
              <a:spcAft>
                <a:spcPts val="0"/>
              </a:spcAft>
              <a:buSzPts val="1800"/>
              <a:buChar char="●"/>
            </a:pPr>
            <a:r>
              <a:rPr lang="en"/>
              <a:t>Heating system in our house to run on a timer</a:t>
            </a:r>
            <a:endParaRPr/>
          </a:p>
          <a:p>
            <a:pPr indent="-342900" lvl="0" marL="457200" rtl="0" algn="l">
              <a:spcBef>
                <a:spcPts val="0"/>
              </a:spcBef>
              <a:spcAft>
                <a:spcPts val="0"/>
              </a:spcAft>
              <a:buSzPts val="1800"/>
              <a:buChar char="●"/>
            </a:pPr>
            <a:r>
              <a:rPr lang="en"/>
              <a:t>Dorm room cleaning</a:t>
            </a:r>
            <a:endParaRPr/>
          </a:p>
          <a:p>
            <a:pPr indent="-342900" lvl="0" marL="457200" rtl="0" algn="l">
              <a:spcBef>
                <a:spcPts val="0"/>
              </a:spcBef>
              <a:spcAft>
                <a:spcPts val="0"/>
              </a:spcAft>
              <a:buSzPts val="1800"/>
              <a:buChar char="●"/>
            </a:pPr>
            <a:r>
              <a:rPr lang="en"/>
              <a:t>Windows opening when it gets too hot in my room</a:t>
            </a:r>
            <a:endParaRPr/>
          </a:p>
          <a:p>
            <a:pPr indent="-342900" lvl="0" marL="457200" rtl="0" algn="l">
              <a:spcBef>
                <a:spcPts val="0"/>
              </a:spcBef>
              <a:spcAft>
                <a:spcPts val="0"/>
              </a:spcAft>
              <a:buSzPts val="1800"/>
              <a:buChar char="●"/>
            </a:pPr>
            <a:r>
              <a:rPr lang="en"/>
              <a:t>Lights turning on 10 minutes before alarm goes off</a:t>
            </a:r>
            <a:endParaRPr/>
          </a:p>
          <a:p>
            <a:pPr indent="-342900" lvl="0" marL="457200" rtl="0" algn="l">
              <a:spcBef>
                <a:spcPts val="0"/>
              </a:spcBef>
              <a:spcAft>
                <a:spcPts val="0"/>
              </a:spcAft>
              <a:buSzPts val="1800"/>
              <a:buChar char="●"/>
            </a:pPr>
            <a:r>
              <a:rPr lang="en"/>
              <a:t>Putting my shoes away onto a shoe rack from by the door</a:t>
            </a:r>
            <a:endParaRPr/>
          </a:p>
          <a:p>
            <a:pPr indent="-342900" lvl="0" marL="457200" rtl="0" algn="l">
              <a:spcBef>
                <a:spcPts val="0"/>
              </a:spcBef>
              <a:spcAft>
                <a:spcPts val="0"/>
              </a:spcAft>
              <a:buSzPts val="1800"/>
              <a:buChar char="●"/>
            </a:pPr>
            <a:r>
              <a:rPr lang="en"/>
              <a:t>Making my bed</a:t>
            </a:r>
            <a:endParaRPr/>
          </a:p>
          <a:p>
            <a:pPr indent="-342900" lvl="0" marL="457200" rtl="0" algn="l">
              <a:spcBef>
                <a:spcPts val="0"/>
              </a:spcBef>
              <a:spcAft>
                <a:spcPts val="0"/>
              </a:spcAft>
              <a:buSzPts val="1800"/>
              <a:buChar char="●"/>
            </a:pPr>
            <a:r>
              <a:rPr lang="en"/>
              <a:t>Laundry folding</a:t>
            </a:r>
            <a:endParaRPr/>
          </a:p>
          <a:p>
            <a:pPr indent="-342900" lvl="0" marL="457200" rtl="0" algn="l">
              <a:spcBef>
                <a:spcPts val="0"/>
              </a:spcBef>
              <a:spcAft>
                <a:spcPts val="0"/>
              </a:spcAft>
              <a:buSzPts val="1800"/>
              <a:buChar char="●"/>
            </a:pPr>
            <a:r>
              <a:rPr lang="en"/>
              <a:t>Clean salt off my shoes</a:t>
            </a:r>
            <a:endParaRPr/>
          </a:p>
          <a:p>
            <a:pPr indent="0" lvl="0" marL="0" rtl="0" algn="l">
              <a:spcBef>
                <a:spcPts val="0"/>
              </a:spcBef>
              <a:spcAft>
                <a:spcPts val="0"/>
              </a:spcAft>
              <a:buNone/>
            </a:pPr>
            <a:r>
              <a:t/>
            </a:r>
            <a:endParaRPr/>
          </a:p>
        </p:txBody>
      </p:sp>
      <p:sp>
        <p:nvSpPr>
          <p:cNvPr id="88" name="Google Shape;88;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263175" y="2427733"/>
            <a:ext cx="8520600" cy="1122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rPr lang="en"/>
              <a:t>What do you need to build some of these great ideas?</a:t>
            </a:r>
            <a:endParaRPr/>
          </a:p>
        </p:txBody>
      </p:sp>
      <p:sp>
        <p:nvSpPr>
          <p:cNvPr id="94" name="Google Shape;94;p1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00" name="Google Shape;100;p18"/>
          <p:cNvSpPr txBox="1"/>
          <p:nvPr/>
        </p:nvSpPr>
        <p:spPr>
          <a:xfrm>
            <a:off x="656075" y="1373650"/>
            <a:ext cx="30480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Light sensor</a:t>
            </a:r>
            <a:endParaRPr sz="1800">
              <a:solidFill>
                <a:srgbClr val="0000FF"/>
              </a:solidFill>
            </a:endParaRPr>
          </a:p>
          <a:p>
            <a:pPr indent="0" lvl="0" marL="0" rtl="0" algn="l">
              <a:spcBef>
                <a:spcPts val="0"/>
              </a:spcBef>
              <a:spcAft>
                <a:spcPts val="0"/>
              </a:spcAft>
              <a:buNone/>
            </a:pPr>
            <a:r>
              <a:rPr lang="en" sz="1800">
                <a:solidFill>
                  <a:srgbClr val="0000FF"/>
                </a:solidFill>
              </a:rPr>
              <a:t>Temperature sensor</a:t>
            </a:r>
            <a:endParaRPr sz="1800">
              <a:solidFill>
                <a:srgbClr val="0000FF"/>
              </a:solidFill>
            </a:endParaRPr>
          </a:p>
          <a:p>
            <a:pPr indent="0" lvl="0" marL="0" rtl="0" algn="l">
              <a:spcBef>
                <a:spcPts val="0"/>
              </a:spcBef>
              <a:spcAft>
                <a:spcPts val="0"/>
              </a:spcAft>
              <a:buNone/>
            </a:pPr>
            <a:r>
              <a:rPr lang="en" sz="1800">
                <a:solidFill>
                  <a:srgbClr val="0000FF"/>
                </a:solidFill>
              </a:rPr>
              <a:t>Motion sensor</a:t>
            </a:r>
            <a:endParaRPr sz="1800">
              <a:solidFill>
                <a:srgbClr val="0000FF"/>
              </a:solidFill>
            </a:endParaRPr>
          </a:p>
          <a:p>
            <a:pPr indent="0" lvl="0" marL="0" rtl="0" algn="l">
              <a:spcBef>
                <a:spcPts val="0"/>
              </a:spcBef>
              <a:spcAft>
                <a:spcPts val="0"/>
              </a:spcAft>
              <a:buNone/>
            </a:pPr>
            <a:r>
              <a:rPr lang="en" sz="1800">
                <a:solidFill>
                  <a:srgbClr val="0000FF"/>
                </a:solidFill>
              </a:rPr>
              <a:t>Weather tracker</a:t>
            </a:r>
            <a:endParaRPr sz="1800">
              <a:solidFill>
                <a:srgbClr val="0000FF"/>
              </a:solidFill>
            </a:endParaRPr>
          </a:p>
          <a:p>
            <a:pPr indent="0" lvl="0" marL="0" rtl="0" algn="l">
              <a:spcBef>
                <a:spcPts val="0"/>
              </a:spcBef>
              <a:spcAft>
                <a:spcPts val="0"/>
              </a:spcAft>
              <a:buNone/>
            </a:pPr>
            <a:r>
              <a:rPr lang="en" sz="1800">
                <a:solidFill>
                  <a:srgbClr val="0000FF"/>
                </a:solidFill>
              </a:rPr>
              <a:t>"Shoe sensor"</a:t>
            </a:r>
            <a:endParaRPr sz="1800">
              <a:solidFill>
                <a:srgbClr val="0000FF"/>
              </a:solidFill>
            </a:endParaRPr>
          </a:p>
          <a:p>
            <a:pPr indent="0" lvl="0" marL="0" rtl="0" algn="l">
              <a:spcBef>
                <a:spcPts val="0"/>
              </a:spcBef>
              <a:spcAft>
                <a:spcPts val="0"/>
              </a:spcAft>
              <a:buNone/>
            </a:pPr>
            <a:r>
              <a:rPr lang="en" sz="1800">
                <a:solidFill>
                  <a:srgbClr val="0000FF"/>
                </a:solidFill>
              </a:rPr>
              <a:t>Camera (is the bed made?)</a:t>
            </a:r>
            <a:endParaRPr sz="1800">
              <a:solidFill>
                <a:srgbClr val="0000FF"/>
              </a:solidFill>
            </a:endParaRPr>
          </a:p>
          <a:p>
            <a:pPr indent="0" lvl="0" marL="0" rtl="0" algn="l">
              <a:spcBef>
                <a:spcPts val="0"/>
              </a:spcBef>
              <a:spcAft>
                <a:spcPts val="0"/>
              </a:spcAft>
              <a:buNone/>
            </a:pPr>
            <a:r>
              <a:t/>
            </a:r>
            <a:endParaRPr sz="1800">
              <a:solidFill>
                <a:srgbClr val="0000FF"/>
              </a:solidFill>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101" name="Google Shape;101;p18"/>
          <p:cNvSpPr txBox="1"/>
          <p:nvPr/>
        </p:nvSpPr>
        <p:spPr>
          <a:xfrm>
            <a:off x="6147725" y="1373650"/>
            <a:ext cx="22479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74E13"/>
                </a:solidFill>
              </a:rPr>
              <a:t>Motor</a:t>
            </a:r>
            <a:endParaRPr sz="1800">
              <a:solidFill>
                <a:srgbClr val="274E13"/>
              </a:solidFill>
            </a:endParaRPr>
          </a:p>
          <a:p>
            <a:pPr indent="0" lvl="0" marL="0" rtl="0" algn="l">
              <a:spcBef>
                <a:spcPts val="0"/>
              </a:spcBef>
              <a:spcAft>
                <a:spcPts val="0"/>
              </a:spcAft>
              <a:buNone/>
            </a:pPr>
            <a:r>
              <a:rPr lang="en" sz="1800">
                <a:solidFill>
                  <a:srgbClr val="274E13"/>
                </a:solidFill>
              </a:rPr>
              <a:t>Switch</a:t>
            </a:r>
            <a:endParaRPr sz="1800">
              <a:solidFill>
                <a:srgbClr val="274E13"/>
              </a:solidFill>
            </a:endParaRPr>
          </a:p>
          <a:p>
            <a:pPr indent="0" lvl="0" marL="0" rtl="0" algn="l">
              <a:spcBef>
                <a:spcPts val="0"/>
              </a:spcBef>
              <a:spcAft>
                <a:spcPts val="0"/>
              </a:spcAft>
              <a:buNone/>
            </a:pPr>
            <a:r>
              <a:rPr lang="en" sz="1800">
                <a:solidFill>
                  <a:srgbClr val="274E13"/>
                </a:solidFill>
              </a:rPr>
              <a:t>Heating</a:t>
            </a:r>
            <a:endParaRPr sz="1800">
              <a:solidFill>
                <a:srgbClr val="274E13"/>
              </a:solidFill>
            </a:endParaRPr>
          </a:p>
          <a:p>
            <a:pPr indent="0" lvl="0" marL="0" rtl="0" algn="l">
              <a:spcBef>
                <a:spcPts val="0"/>
              </a:spcBef>
              <a:spcAft>
                <a:spcPts val="0"/>
              </a:spcAft>
              <a:buNone/>
            </a:pPr>
            <a:r>
              <a:rPr lang="en" sz="1800">
                <a:solidFill>
                  <a:srgbClr val="274E13"/>
                </a:solidFill>
              </a:rPr>
              <a:t>Cooling</a:t>
            </a:r>
            <a:endParaRPr sz="1800">
              <a:solidFill>
                <a:srgbClr val="274E13"/>
              </a:solidFill>
            </a:endParaRPr>
          </a:p>
          <a:p>
            <a:pPr indent="0" lvl="0" marL="0" rtl="0" algn="l">
              <a:spcBef>
                <a:spcPts val="0"/>
              </a:spcBef>
              <a:spcAft>
                <a:spcPts val="0"/>
              </a:spcAft>
              <a:buNone/>
            </a:pPr>
            <a:r>
              <a:rPr lang="en" sz="1800">
                <a:solidFill>
                  <a:srgbClr val="274E13"/>
                </a:solidFill>
              </a:rPr>
              <a:t>Pressurized air</a:t>
            </a:r>
            <a:endParaRPr sz="1800">
              <a:solidFill>
                <a:srgbClr val="274E13"/>
              </a:solidFill>
            </a:endParaRPr>
          </a:p>
          <a:p>
            <a:pPr indent="0" lvl="0" marL="0" rtl="0" algn="l">
              <a:spcBef>
                <a:spcPts val="0"/>
              </a:spcBef>
              <a:spcAft>
                <a:spcPts val="0"/>
              </a:spcAft>
              <a:buNone/>
            </a:pPr>
            <a:r>
              <a:rPr lang="en" sz="1800">
                <a:solidFill>
                  <a:srgbClr val="274E13"/>
                </a:solidFill>
              </a:rPr>
              <a:t>Robotic arm</a:t>
            </a:r>
            <a:endParaRPr sz="1800">
              <a:solidFill>
                <a:srgbClr val="274E13"/>
              </a:solidFill>
            </a:endParaRPr>
          </a:p>
          <a:p>
            <a:pPr indent="0" lvl="0" marL="0" rtl="0" algn="l">
              <a:spcBef>
                <a:spcPts val="0"/>
              </a:spcBef>
              <a:spcAft>
                <a:spcPts val="0"/>
              </a:spcAft>
              <a:buNone/>
            </a:pPr>
            <a:r>
              <a:rPr lang="en" sz="1800">
                <a:solidFill>
                  <a:srgbClr val="274E13"/>
                </a:solidFill>
              </a:rPr>
              <a:t>Relay</a:t>
            </a:r>
            <a:endParaRPr sz="1800">
              <a:solidFill>
                <a:srgbClr val="274E13"/>
              </a:solidFill>
            </a:endParaRPr>
          </a:p>
          <a:p>
            <a:pPr indent="0" lvl="0" marL="0" rtl="0" algn="l">
              <a:spcBef>
                <a:spcPts val="0"/>
              </a:spcBef>
              <a:spcAft>
                <a:spcPts val="0"/>
              </a:spcAft>
              <a:buNone/>
            </a:pPr>
            <a:r>
              <a:rPr lang="en" sz="1800">
                <a:solidFill>
                  <a:srgbClr val="274E13"/>
                </a:solidFill>
              </a:rPr>
              <a:t>Self-driving </a:t>
            </a:r>
            <a:r>
              <a:rPr lang="en" sz="1800">
                <a:solidFill>
                  <a:srgbClr val="274E13"/>
                </a:solidFill>
              </a:rPr>
              <a:t>vacuum</a:t>
            </a:r>
            <a:endParaRPr sz="1800"/>
          </a:p>
        </p:txBody>
      </p:sp>
      <p:sp>
        <p:nvSpPr>
          <p:cNvPr id="102" name="Google Shape;102;p18"/>
          <p:cNvSpPr txBox="1"/>
          <p:nvPr/>
        </p:nvSpPr>
        <p:spPr>
          <a:xfrm>
            <a:off x="1972925" y="4372975"/>
            <a:ext cx="56382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741B47"/>
                </a:solidFill>
              </a:rPr>
              <a:t>Deciding what action to take based on measurement</a:t>
            </a:r>
            <a:endParaRPr sz="1800">
              <a:solidFill>
                <a:srgbClr val="741B47"/>
              </a:solidFill>
            </a:endParaRPr>
          </a:p>
          <a:p>
            <a:pPr indent="0" lvl="0" marL="0" rtl="0" algn="l">
              <a:spcBef>
                <a:spcPts val="0"/>
              </a:spcBef>
              <a:spcAft>
                <a:spcPts val="0"/>
              </a:spcAft>
              <a:buNone/>
            </a:pPr>
            <a:r>
              <a:rPr lang="en" sz="1800">
                <a:solidFill>
                  <a:srgbClr val="741B47"/>
                </a:solidFill>
              </a:rPr>
              <a:t>Time keeping</a:t>
            </a:r>
            <a:endParaRPr sz="1800">
              <a:solidFill>
                <a:srgbClr val="741B47"/>
              </a:solidFill>
            </a:endParaRPr>
          </a:p>
          <a:p>
            <a:pPr indent="0" lvl="0" marL="0" rtl="0" algn="l">
              <a:spcBef>
                <a:spcPts val="0"/>
              </a:spcBef>
              <a:spcAft>
                <a:spcPts val="0"/>
              </a:spcAft>
              <a:buNone/>
            </a:pPr>
            <a:r>
              <a:rPr lang="en" sz="1800">
                <a:solidFill>
                  <a:srgbClr val="741B47"/>
                </a:solidFill>
              </a:rPr>
              <a:t>…</a:t>
            </a:r>
            <a:endParaRPr sz="1800">
              <a:solidFill>
                <a:srgbClr val="741B47"/>
              </a:solidFill>
            </a:endParaRPr>
          </a:p>
          <a:p>
            <a:pPr indent="0" lvl="0" marL="0" rtl="0" algn="l">
              <a:spcBef>
                <a:spcPts val="0"/>
              </a:spcBef>
              <a:spcAft>
                <a:spcPts val="0"/>
              </a:spcAft>
              <a:buNone/>
            </a:pPr>
            <a:r>
              <a:t/>
            </a:r>
            <a:endParaRPr sz="1800">
              <a:solidFill>
                <a:srgbClr val="741B47"/>
              </a:solidFill>
            </a:endParaRPr>
          </a:p>
        </p:txBody>
      </p:sp>
      <p:sp>
        <p:nvSpPr>
          <p:cNvPr id="103" name="Google Shape;103;p18"/>
          <p:cNvSpPr txBox="1"/>
          <p:nvPr>
            <p:ph type="title"/>
          </p:nvPr>
        </p:nvSpPr>
        <p:spPr>
          <a:xfrm>
            <a:off x="260475" y="316567"/>
            <a:ext cx="8520600" cy="763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t>What do you need to build some of these great ideas?</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descr="; #film" id="109" name="Google Shape;109;p19" title="Wallace and Gromit  - The Wrong Trousers -  Breakfast scene">
            <a:hlinkClick r:id="rId3"/>
          </p:cNvPr>
          <p:cNvPicPr preferRelativeResize="0"/>
          <p:nvPr/>
        </p:nvPicPr>
        <p:blipFill>
          <a:blip r:embed="rId4">
            <a:alphaModFix/>
          </a:blip>
          <a:stretch>
            <a:fillRect/>
          </a:stretch>
        </p:blipFill>
        <p:spPr>
          <a:xfrm>
            <a:off x="0" y="857237"/>
            <a:ext cx="9067800" cy="51006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0"/>
          <p:cNvPicPr preferRelativeResize="0"/>
          <p:nvPr/>
        </p:nvPicPr>
        <p:blipFill rotWithShape="1">
          <a:blip r:embed="rId3">
            <a:alphaModFix/>
          </a:blip>
          <a:srcRect b="10007" l="15882" r="0" t="8441"/>
          <a:stretch/>
        </p:blipFill>
        <p:spPr>
          <a:xfrm>
            <a:off x="4760125" y="2552875"/>
            <a:ext cx="3843950" cy="2675176"/>
          </a:xfrm>
          <a:prstGeom prst="rect">
            <a:avLst/>
          </a:prstGeom>
          <a:noFill/>
          <a:ln>
            <a:noFill/>
          </a:ln>
        </p:spPr>
      </p:pic>
      <p:pic>
        <p:nvPicPr>
          <p:cNvPr id="115" name="Google Shape;115;p20"/>
          <p:cNvPicPr preferRelativeResize="0"/>
          <p:nvPr/>
        </p:nvPicPr>
        <p:blipFill rotWithShape="1">
          <a:blip r:embed="rId4">
            <a:alphaModFix/>
          </a:blip>
          <a:srcRect b="0" l="0" r="0" t="0"/>
          <a:stretch/>
        </p:blipFill>
        <p:spPr>
          <a:xfrm>
            <a:off x="59175" y="2570712"/>
            <a:ext cx="4340137" cy="4254400"/>
          </a:xfrm>
          <a:prstGeom prst="rect">
            <a:avLst/>
          </a:prstGeom>
          <a:noFill/>
          <a:ln>
            <a:noFill/>
          </a:ln>
        </p:spPr>
      </p:pic>
      <p:sp>
        <p:nvSpPr>
          <p:cNvPr id="116" name="Google Shape;116;p20"/>
          <p:cNvSpPr txBox="1"/>
          <p:nvPr>
            <p:ph type="title"/>
          </p:nvPr>
        </p:nvSpPr>
        <p:spPr>
          <a:xfrm>
            <a:off x="194125" y="8681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STM32 Nucleo-64 board</a:t>
            </a:r>
            <a:endParaRPr/>
          </a:p>
        </p:txBody>
      </p:sp>
      <p:sp>
        <p:nvSpPr>
          <p:cNvPr id="117" name="Google Shape;117;p20"/>
          <p:cNvSpPr txBox="1"/>
          <p:nvPr>
            <p:ph idx="1" type="body"/>
          </p:nvPr>
        </p:nvSpPr>
        <p:spPr>
          <a:xfrm>
            <a:off x="311700" y="780000"/>
            <a:ext cx="7563000" cy="1551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In this class we use the </a:t>
            </a:r>
            <a:r>
              <a:rPr b="1" lang="en" sz="1600"/>
              <a:t>STM32 Nucleo-64 board</a:t>
            </a:r>
            <a:r>
              <a:rPr lang="en" sz="1600"/>
              <a:t>.</a:t>
            </a:r>
            <a:endParaRPr sz="1600"/>
          </a:p>
          <a:p>
            <a:pPr indent="-330200" lvl="0" marL="457200" rtl="0" algn="l">
              <a:lnSpc>
                <a:spcPct val="115000"/>
              </a:lnSpc>
              <a:spcBef>
                <a:spcPts val="0"/>
              </a:spcBef>
              <a:spcAft>
                <a:spcPts val="0"/>
              </a:spcAft>
              <a:buSzPts val="1600"/>
              <a:buChar char="●"/>
            </a:pPr>
            <a:r>
              <a:rPr lang="en" sz="1600"/>
              <a:t>The main processor chip is the </a:t>
            </a:r>
            <a:r>
              <a:rPr lang="en" sz="1600"/>
              <a:t>STM32C031C6 microcontroller based on the Arm® Cortex®-M0+ processor.</a:t>
            </a:r>
            <a:endParaRPr sz="1600"/>
          </a:p>
          <a:p>
            <a:pPr indent="-330200" lvl="0" marL="457200" rtl="0" algn="l">
              <a:lnSpc>
                <a:spcPct val="115000"/>
              </a:lnSpc>
              <a:spcBef>
                <a:spcPts val="0"/>
              </a:spcBef>
              <a:spcAft>
                <a:spcPts val="0"/>
              </a:spcAft>
              <a:buSzPts val="1600"/>
              <a:buChar char="●"/>
            </a:pPr>
            <a:r>
              <a:rPr lang="en" sz="1600"/>
              <a:t>Our main goal is to work with the </a:t>
            </a:r>
            <a:r>
              <a:rPr lang="en" sz="1600"/>
              <a:t>STM32C031C6</a:t>
            </a:r>
            <a:r>
              <a:rPr lang="en" sz="1600"/>
              <a:t>.</a:t>
            </a:r>
            <a:endParaRPr sz="1600"/>
          </a:p>
          <a:p>
            <a:pPr indent="-330200" lvl="0" marL="457200" rtl="0" algn="l">
              <a:lnSpc>
                <a:spcPct val="115000"/>
              </a:lnSpc>
              <a:spcBef>
                <a:spcPts val="0"/>
              </a:spcBef>
              <a:spcAft>
                <a:spcPts val="0"/>
              </a:spcAft>
              <a:buSzPts val="1600"/>
              <a:buChar char="●"/>
            </a:pPr>
            <a:r>
              <a:rPr lang="en" sz="1600"/>
              <a:t>The Nucleo board is a convenient way for us to access the chip.</a:t>
            </a:r>
            <a:endParaRPr sz="1400"/>
          </a:p>
        </p:txBody>
      </p:sp>
      <p:sp>
        <p:nvSpPr>
          <p:cNvPr id="118" name="Google Shape;118;p2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19" name="Google Shape;119;p20"/>
          <p:cNvSpPr txBox="1"/>
          <p:nvPr/>
        </p:nvSpPr>
        <p:spPr>
          <a:xfrm>
            <a:off x="4605625" y="5947225"/>
            <a:ext cx="1546200" cy="582300"/>
          </a:xfrm>
          <a:prstGeom prst="rect">
            <a:avLst/>
          </a:prstGeom>
          <a:solidFill>
            <a:schemeClr val="dk1"/>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FF9900"/>
                </a:solidFill>
              </a:rPr>
              <a:t>STM32C031C6</a:t>
            </a:r>
            <a:r>
              <a:rPr b="1" i="0" lang="en" sz="1400" u="none" cap="none" strike="noStrike">
                <a:solidFill>
                  <a:srgbClr val="FF9900"/>
                </a:solidFill>
              </a:rPr>
              <a:t> microcontroll</a:t>
            </a:r>
            <a:r>
              <a:rPr b="1" lang="en">
                <a:solidFill>
                  <a:srgbClr val="FF9900"/>
                </a:solidFill>
              </a:rPr>
              <a:t>e</a:t>
            </a:r>
            <a:r>
              <a:rPr b="1" i="0" lang="en" sz="1400" u="none" cap="none" strike="noStrike">
                <a:solidFill>
                  <a:srgbClr val="FF9900"/>
                </a:solidFill>
              </a:rPr>
              <a:t>r</a:t>
            </a:r>
            <a:endParaRPr b="1" i="0" sz="1400" u="none" cap="none" strike="noStrike">
              <a:solidFill>
                <a:srgbClr val="FF9900"/>
              </a:solidFill>
            </a:endParaRPr>
          </a:p>
        </p:txBody>
      </p:sp>
      <p:cxnSp>
        <p:nvCxnSpPr>
          <p:cNvPr id="120" name="Google Shape;120;p20"/>
          <p:cNvCxnSpPr>
            <a:stCxn id="119" idx="0"/>
          </p:cNvCxnSpPr>
          <p:nvPr/>
        </p:nvCxnSpPr>
        <p:spPr>
          <a:xfrm flipH="1" rot="10800000">
            <a:off x="5378725" y="4539325"/>
            <a:ext cx="178800" cy="1407900"/>
          </a:xfrm>
          <a:prstGeom prst="straightConnector1">
            <a:avLst/>
          </a:prstGeom>
          <a:noFill/>
          <a:ln cap="flat" cmpd="sng" w="28575">
            <a:solidFill>
              <a:srgbClr val="FF9900"/>
            </a:solidFill>
            <a:prstDash val="solid"/>
            <a:round/>
            <a:headEnd len="sm" w="sm" type="none"/>
            <a:tailEnd len="med" w="med" type="triangle"/>
          </a:ln>
        </p:spPr>
      </p:cxnSp>
      <p:cxnSp>
        <p:nvCxnSpPr>
          <p:cNvPr id="121" name="Google Shape;121;p20"/>
          <p:cNvCxnSpPr>
            <a:stCxn id="119" idx="0"/>
          </p:cNvCxnSpPr>
          <p:nvPr/>
        </p:nvCxnSpPr>
        <p:spPr>
          <a:xfrm rot="10800000">
            <a:off x="2404525" y="5508625"/>
            <a:ext cx="2974200" cy="438600"/>
          </a:xfrm>
          <a:prstGeom prst="straightConnector1">
            <a:avLst/>
          </a:prstGeom>
          <a:noFill/>
          <a:ln cap="flat" cmpd="sng" w="28575">
            <a:solidFill>
              <a:srgbClr val="FF9900"/>
            </a:solidFill>
            <a:prstDash val="solid"/>
            <a:round/>
            <a:headEnd len="sm" w="sm" type="none"/>
            <a:tailEnd len="med" w="med" type="triangle"/>
          </a:ln>
        </p:spPr>
      </p:cxnSp>
      <p:sp>
        <p:nvSpPr>
          <p:cNvPr id="122" name="Google Shape;122;p20"/>
          <p:cNvSpPr txBox="1"/>
          <p:nvPr/>
        </p:nvSpPr>
        <p:spPr>
          <a:xfrm>
            <a:off x="6358150" y="5449325"/>
            <a:ext cx="2523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00FF"/>
                </a:solidFill>
              </a:rPr>
              <a:t>Microcontroller pins</a:t>
            </a:r>
            <a:r>
              <a:rPr lang="en" sz="1600">
                <a:solidFill>
                  <a:schemeClr val="dk2"/>
                </a:solidFill>
              </a:rPr>
              <a:t> are connected to </a:t>
            </a:r>
            <a:r>
              <a:rPr lang="en" sz="1600">
                <a:solidFill>
                  <a:srgbClr val="FF00FF"/>
                </a:solidFill>
              </a:rPr>
              <a:t>header pins</a:t>
            </a:r>
            <a:r>
              <a:rPr lang="en" sz="1600">
                <a:solidFill>
                  <a:schemeClr val="dk2"/>
                </a:solidFill>
              </a:rPr>
              <a:t> (where we plug things in).</a:t>
            </a:r>
            <a:endParaRPr sz="1600">
              <a:solidFill>
                <a:schemeClr val="dk2"/>
              </a:solidFill>
            </a:endParaRPr>
          </a:p>
        </p:txBody>
      </p:sp>
      <p:sp>
        <p:nvSpPr>
          <p:cNvPr id="123" name="Google Shape;123;p20"/>
          <p:cNvSpPr/>
          <p:nvPr/>
        </p:nvSpPr>
        <p:spPr>
          <a:xfrm rot="-735606">
            <a:off x="5898356" y="4075557"/>
            <a:ext cx="312221" cy="888534"/>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FF"/>
              </a:solidFill>
            </a:endParaRPr>
          </a:p>
        </p:txBody>
      </p:sp>
      <p:cxnSp>
        <p:nvCxnSpPr>
          <p:cNvPr id="124" name="Google Shape;124;p20"/>
          <p:cNvCxnSpPr>
            <a:endCxn id="123" idx="5"/>
          </p:cNvCxnSpPr>
          <p:nvPr/>
        </p:nvCxnSpPr>
        <p:spPr>
          <a:xfrm rot="10800000">
            <a:off x="6229157" y="4803338"/>
            <a:ext cx="358800" cy="717300"/>
          </a:xfrm>
          <a:prstGeom prst="straightConnector1">
            <a:avLst/>
          </a:prstGeom>
          <a:noFill/>
          <a:ln cap="flat" cmpd="sng" w="28575">
            <a:solidFill>
              <a:srgbClr val="FF00FF"/>
            </a:solidFill>
            <a:prstDash val="solid"/>
            <a:round/>
            <a:headEnd len="sm" w="sm" type="none"/>
            <a:tailEnd len="med" w="med" type="triangle"/>
          </a:ln>
        </p:spPr>
      </p:cxnSp>
      <p:sp>
        <p:nvSpPr>
          <p:cNvPr id="125" name="Google Shape;125;p20"/>
          <p:cNvSpPr/>
          <p:nvPr/>
        </p:nvSpPr>
        <p:spPr>
          <a:xfrm rot="-736547">
            <a:off x="8039093" y="2493181"/>
            <a:ext cx="663163" cy="1759886"/>
          </a:xfrm>
          <a:prstGeom prst="ellipse">
            <a:avLst/>
          </a:prstGeom>
          <a:noFill/>
          <a:ln cap="flat" cmpd="sng" w="3810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FF"/>
              </a:solidFill>
            </a:endParaRPr>
          </a:p>
        </p:txBody>
      </p:sp>
      <p:cxnSp>
        <p:nvCxnSpPr>
          <p:cNvPr id="126" name="Google Shape;126;p20"/>
          <p:cNvCxnSpPr>
            <a:endCxn id="125" idx="4"/>
          </p:cNvCxnSpPr>
          <p:nvPr/>
        </p:nvCxnSpPr>
        <p:spPr>
          <a:xfrm flipH="1" rot="10800000">
            <a:off x="8472375" y="4232925"/>
            <a:ext cx="85500" cy="1575300"/>
          </a:xfrm>
          <a:prstGeom prst="straightConnector1">
            <a:avLst/>
          </a:prstGeom>
          <a:noFill/>
          <a:ln cap="flat" cmpd="sng" w="28575">
            <a:solidFill>
              <a:srgbClr val="FF00FF"/>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1"/>
          <p:cNvPicPr preferRelativeResize="0"/>
          <p:nvPr/>
        </p:nvPicPr>
        <p:blipFill>
          <a:blip r:embed="rId3">
            <a:alphaModFix/>
          </a:blip>
          <a:stretch>
            <a:fillRect/>
          </a:stretch>
        </p:blipFill>
        <p:spPr>
          <a:xfrm>
            <a:off x="1949851" y="799658"/>
            <a:ext cx="5027574" cy="5901568"/>
          </a:xfrm>
          <a:prstGeom prst="rect">
            <a:avLst/>
          </a:prstGeom>
          <a:noFill/>
          <a:ln>
            <a:noFill/>
          </a:ln>
        </p:spPr>
      </p:pic>
      <p:sp>
        <p:nvSpPr>
          <p:cNvPr id="132" name="Google Shape;132;p21"/>
          <p:cNvSpPr txBox="1"/>
          <p:nvPr>
            <p:ph type="title"/>
          </p:nvPr>
        </p:nvSpPr>
        <p:spPr>
          <a:xfrm>
            <a:off x="194125" y="8681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STM32 Nucleo-64 board</a:t>
            </a:r>
            <a:endParaRPr/>
          </a:p>
        </p:txBody>
      </p:sp>
      <p:sp>
        <p:nvSpPr>
          <p:cNvPr id="133" name="Google Shape;133;p2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34" name="Google Shape;134;p21"/>
          <p:cNvSpPr txBox="1"/>
          <p:nvPr/>
        </p:nvSpPr>
        <p:spPr>
          <a:xfrm>
            <a:off x="7309350" y="5477275"/>
            <a:ext cx="1546200" cy="582300"/>
          </a:xfrm>
          <a:prstGeom prst="rect">
            <a:avLst/>
          </a:prstGeom>
          <a:solidFill>
            <a:schemeClr val="dk1"/>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FF9900"/>
                </a:solidFill>
              </a:rPr>
              <a:t>STM32C031C6</a:t>
            </a:r>
            <a:r>
              <a:rPr b="1" i="0" lang="en" sz="1400" u="none" cap="none" strike="noStrike">
                <a:solidFill>
                  <a:srgbClr val="FF9900"/>
                </a:solidFill>
              </a:rPr>
              <a:t> microcontroll</a:t>
            </a:r>
            <a:r>
              <a:rPr b="1" lang="en">
                <a:solidFill>
                  <a:srgbClr val="FF9900"/>
                </a:solidFill>
              </a:rPr>
              <a:t>e</a:t>
            </a:r>
            <a:r>
              <a:rPr b="1" i="0" lang="en" sz="1400" u="none" cap="none" strike="noStrike">
                <a:solidFill>
                  <a:srgbClr val="FF9900"/>
                </a:solidFill>
              </a:rPr>
              <a:t>r</a:t>
            </a:r>
            <a:endParaRPr b="1" i="0" sz="1400" u="none" cap="none" strike="noStrike">
              <a:solidFill>
                <a:srgbClr val="FF9900"/>
              </a:solidFill>
            </a:endParaRPr>
          </a:p>
        </p:txBody>
      </p:sp>
      <p:sp>
        <p:nvSpPr>
          <p:cNvPr id="135" name="Google Shape;135;p21"/>
          <p:cNvSpPr txBox="1"/>
          <p:nvPr/>
        </p:nvSpPr>
        <p:spPr>
          <a:xfrm>
            <a:off x="405600" y="3703563"/>
            <a:ext cx="1425600" cy="58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Arial"/>
                <a:ea typeface="Arial"/>
                <a:cs typeface="Arial"/>
                <a:sym typeface="Arial"/>
              </a:rPr>
              <a:t>Power and ground </a:t>
            </a:r>
            <a:r>
              <a:rPr lang="en">
                <a:solidFill>
                  <a:srgbClr val="FF0000"/>
                </a:solidFill>
              </a:rPr>
              <a:t>header</a:t>
            </a:r>
            <a:endParaRPr b="0" i="0" sz="1400" u="none" cap="none" strike="noStrike">
              <a:solidFill>
                <a:srgbClr val="FF0000"/>
              </a:solidFill>
              <a:latin typeface="Arial"/>
              <a:ea typeface="Arial"/>
              <a:cs typeface="Arial"/>
              <a:sym typeface="Arial"/>
            </a:endParaRPr>
          </a:p>
        </p:txBody>
      </p:sp>
      <p:cxnSp>
        <p:nvCxnSpPr>
          <p:cNvPr id="136" name="Google Shape;136;p21"/>
          <p:cNvCxnSpPr>
            <a:stCxn id="134" idx="1"/>
            <a:endCxn id="137" idx="3"/>
          </p:cNvCxnSpPr>
          <p:nvPr/>
        </p:nvCxnSpPr>
        <p:spPr>
          <a:xfrm rot="10800000">
            <a:off x="4665750" y="4961125"/>
            <a:ext cx="2643600" cy="807300"/>
          </a:xfrm>
          <a:prstGeom prst="straightConnector1">
            <a:avLst/>
          </a:prstGeom>
          <a:noFill/>
          <a:ln cap="flat" cmpd="sng" w="28575">
            <a:solidFill>
              <a:srgbClr val="FF9900"/>
            </a:solidFill>
            <a:prstDash val="solid"/>
            <a:round/>
            <a:headEnd len="sm" w="sm" type="none"/>
            <a:tailEnd len="med" w="med" type="triangle"/>
          </a:ln>
        </p:spPr>
      </p:cxnSp>
      <p:sp>
        <p:nvSpPr>
          <p:cNvPr id="138" name="Google Shape;138;p21"/>
          <p:cNvSpPr txBox="1"/>
          <p:nvPr/>
        </p:nvSpPr>
        <p:spPr>
          <a:xfrm>
            <a:off x="194125" y="802625"/>
            <a:ext cx="1318200" cy="52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Arial"/>
                <a:ea typeface="Arial"/>
                <a:cs typeface="Arial"/>
                <a:sym typeface="Arial"/>
              </a:rPr>
              <a:t>USB interface</a:t>
            </a:r>
            <a:endParaRPr b="0" i="0" sz="1400" u="none" cap="none" strike="noStrike">
              <a:solidFill>
                <a:srgbClr val="FF0000"/>
              </a:solidFill>
              <a:latin typeface="Arial"/>
              <a:ea typeface="Arial"/>
              <a:cs typeface="Arial"/>
              <a:sym typeface="Arial"/>
            </a:endParaRPr>
          </a:p>
        </p:txBody>
      </p:sp>
      <p:cxnSp>
        <p:nvCxnSpPr>
          <p:cNvPr id="139" name="Google Shape;139;p21"/>
          <p:cNvCxnSpPr/>
          <p:nvPr/>
        </p:nvCxnSpPr>
        <p:spPr>
          <a:xfrm>
            <a:off x="1600975" y="1003175"/>
            <a:ext cx="3432600" cy="123600"/>
          </a:xfrm>
          <a:prstGeom prst="straightConnector1">
            <a:avLst/>
          </a:prstGeom>
          <a:noFill/>
          <a:ln cap="flat" cmpd="sng" w="19050">
            <a:solidFill>
              <a:srgbClr val="FF0000"/>
            </a:solidFill>
            <a:prstDash val="solid"/>
            <a:round/>
            <a:headEnd len="sm" w="sm" type="none"/>
            <a:tailEnd len="med" w="med" type="triangle"/>
          </a:ln>
        </p:spPr>
      </p:cxnSp>
      <p:sp>
        <p:nvSpPr>
          <p:cNvPr id="140" name="Google Shape;140;p21"/>
          <p:cNvSpPr txBox="1"/>
          <p:nvPr/>
        </p:nvSpPr>
        <p:spPr>
          <a:xfrm>
            <a:off x="194125" y="1717025"/>
            <a:ext cx="1255800" cy="34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Reset button</a:t>
            </a:r>
            <a:endParaRPr b="0" i="0" sz="1400" u="none" cap="none" strike="noStrike">
              <a:solidFill>
                <a:schemeClr val="dk1"/>
              </a:solidFill>
              <a:latin typeface="Arial"/>
              <a:ea typeface="Arial"/>
              <a:cs typeface="Arial"/>
              <a:sym typeface="Arial"/>
            </a:endParaRPr>
          </a:p>
        </p:txBody>
      </p:sp>
      <p:cxnSp>
        <p:nvCxnSpPr>
          <p:cNvPr id="141" name="Google Shape;141;p21"/>
          <p:cNvCxnSpPr>
            <a:stCxn id="140" idx="3"/>
          </p:cNvCxnSpPr>
          <p:nvPr/>
        </p:nvCxnSpPr>
        <p:spPr>
          <a:xfrm>
            <a:off x="1449925" y="1889525"/>
            <a:ext cx="3501000" cy="984300"/>
          </a:xfrm>
          <a:prstGeom prst="straightConnector1">
            <a:avLst/>
          </a:prstGeom>
          <a:noFill/>
          <a:ln cap="flat" cmpd="sng" w="19050">
            <a:solidFill>
              <a:srgbClr val="000000"/>
            </a:solidFill>
            <a:prstDash val="solid"/>
            <a:round/>
            <a:headEnd len="sm" w="sm" type="none"/>
            <a:tailEnd len="med" w="med" type="triangle"/>
          </a:ln>
        </p:spPr>
      </p:cxnSp>
      <p:sp>
        <p:nvSpPr>
          <p:cNvPr id="142" name="Google Shape;142;p21"/>
          <p:cNvSpPr txBox="1"/>
          <p:nvPr/>
        </p:nvSpPr>
        <p:spPr>
          <a:xfrm>
            <a:off x="361075" y="5768425"/>
            <a:ext cx="1318200" cy="524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FF0000"/>
                </a:solidFill>
              </a:rPr>
              <a:t>Analog input header</a:t>
            </a:r>
            <a:endParaRPr b="0" i="0" sz="1400" u="none" cap="none" strike="noStrike">
              <a:solidFill>
                <a:srgbClr val="FF0000"/>
              </a:solidFill>
              <a:latin typeface="Arial"/>
              <a:ea typeface="Arial"/>
              <a:cs typeface="Arial"/>
              <a:sym typeface="Arial"/>
            </a:endParaRPr>
          </a:p>
        </p:txBody>
      </p:sp>
      <p:cxnSp>
        <p:nvCxnSpPr>
          <p:cNvPr id="143" name="Google Shape;143;p21"/>
          <p:cNvCxnSpPr>
            <a:stCxn id="142" idx="3"/>
          </p:cNvCxnSpPr>
          <p:nvPr/>
        </p:nvCxnSpPr>
        <p:spPr>
          <a:xfrm flipH="1" rot="10800000">
            <a:off x="1679275" y="5981275"/>
            <a:ext cx="1032600" cy="49500"/>
          </a:xfrm>
          <a:prstGeom prst="straightConnector1">
            <a:avLst/>
          </a:prstGeom>
          <a:noFill/>
          <a:ln cap="flat" cmpd="sng" w="19050">
            <a:solidFill>
              <a:srgbClr val="FF0000"/>
            </a:solidFill>
            <a:prstDash val="solid"/>
            <a:round/>
            <a:headEnd len="sm" w="sm" type="none"/>
            <a:tailEnd len="med" w="med" type="triangle"/>
          </a:ln>
        </p:spPr>
      </p:cxnSp>
      <p:sp>
        <p:nvSpPr>
          <p:cNvPr id="144" name="Google Shape;144;p21"/>
          <p:cNvSpPr txBox="1"/>
          <p:nvPr/>
        </p:nvSpPr>
        <p:spPr>
          <a:xfrm>
            <a:off x="6977425" y="3469200"/>
            <a:ext cx="1877400" cy="4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FF0000"/>
                </a:solidFill>
              </a:rPr>
              <a:t>Digital </a:t>
            </a:r>
            <a:r>
              <a:rPr b="0" i="0" lang="en" sz="1400" u="none" cap="none" strike="noStrike">
                <a:solidFill>
                  <a:srgbClr val="FF0000"/>
                </a:solidFill>
                <a:latin typeface="Arial"/>
                <a:ea typeface="Arial"/>
                <a:cs typeface="Arial"/>
                <a:sym typeface="Arial"/>
              </a:rPr>
              <a:t>I/O </a:t>
            </a:r>
            <a:r>
              <a:rPr lang="en">
                <a:solidFill>
                  <a:srgbClr val="FF0000"/>
                </a:solidFill>
              </a:rPr>
              <a:t>header</a:t>
            </a:r>
            <a:endParaRPr b="0" i="0" sz="1400" u="none" cap="none" strike="noStrike">
              <a:solidFill>
                <a:srgbClr val="FF0000"/>
              </a:solidFill>
              <a:latin typeface="Arial"/>
              <a:ea typeface="Arial"/>
              <a:cs typeface="Arial"/>
              <a:sym typeface="Arial"/>
            </a:endParaRPr>
          </a:p>
        </p:txBody>
      </p:sp>
      <p:cxnSp>
        <p:nvCxnSpPr>
          <p:cNvPr id="145" name="Google Shape;145;p21"/>
          <p:cNvCxnSpPr/>
          <p:nvPr/>
        </p:nvCxnSpPr>
        <p:spPr>
          <a:xfrm flipH="1">
            <a:off x="6139525" y="3698825"/>
            <a:ext cx="944400" cy="1434900"/>
          </a:xfrm>
          <a:prstGeom prst="straightConnector1">
            <a:avLst/>
          </a:prstGeom>
          <a:noFill/>
          <a:ln cap="flat" cmpd="sng" w="19050">
            <a:solidFill>
              <a:srgbClr val="FF0000"/>
            </a:solidFill>
            <a:prstDash val="solid"/>
            <a:round/>
            <a:headEnd len="sm" w="sm" type="none"/>
            <a:tailEnd len="med" w="med" type="triangle"/>
          </a:ln>
        </p:spPr>
      </p:cxnSp>
      <p:cxnSp>
        <p:nvCxnSpPr>
          <p:cNvPr id="146" name="Google Shape;146;p21"/>
          <p:cNvCxnSpPr>
            <a:endCxn id="147" idx="1"/>
          </p:cNvCxnSpPr>
          <p:nvPr/>
        </p:nvCxnSpPr>
        <p:spPr>
          <a:xfrm>
            <a:off x="1665325" y="4012750"/>
            <a:ext cx="1007400" cy="542700"/>
          </a:xfrm>
          <a:prstGeom prst="straightConnector1">
            <a:avLst/>
          </a:prstGeom>
          <a:noFill/>
          <a:ln cap="flat" cmpd="sng" w="19050">
            <a:solidFill>
              <a:srgbClr val="FF0000"/>
            </a:solidFill>
            <a:prstDash val="solid"/>
            <a:round/>
            <a:headEnd len="sm" w="sm" type="none"/>
            <a:tailEnd len="med" w="med" type="triangle"/>
          </a:ln>
        </p:spPr>
      </p:cxnSp>
      <p:sp>
        <p:nvSpPr>
          <p:cNvPr id="148" name="Google Shape;148;p21"/>
          <p:cNvSpPr txBox="1"/>
          <p:nvPr/>
        </p:nvSpPr>
        <p:spPr>
          <a:xfrm>
            <a:off x="7641775" y="2062025"/>
            <a:ext cx="976500" cy="3450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rgbClr val="38761D"/>
                </a:solidFill>
              </a:rPr>
              <a:t>User </a:t>
            </a:r>
            <a:r>
              <a:rPr b="0" lang="en" sz="1400" u="none" cap="none" strike="noStrike">
                <a:solidFill>
                  <a:srgbClr val="38761D"/>
                </a:solidFill>
                <a:latin typeface="Arial"/>
                <a:ea typeface="Arial"/>
                <a:cs typeface="Arial"/>
                <a:sym typeface="Arial"/>
              </a:rPr>
              <a:t>LED</a:t>
            </a:r>
            <a:endParaRPr b="0" sz="1400" u="none" cap="none" strike="noStrike">
              <a:solidFill>
                <a:srgbClr val="38761D"/>
              </a:solidFill>
              <a:latin typeface="Arial"/>
              <a:ea typeface="Arial"/>
              <a:cs typeface="Arial"/>
              <a:sym typeface="Arial"/>
            </a:endParaRPr>
          </a:p>
        </p:txBody>
      </p:sp>
      <p:cxnSp>
        <p:nvCxnSpPr>
          <p:cNvPr id="149" name="Google Shape;149;p21"/>
          <p:cNvCxnSpPr/>
          <p:nvPr/>
        </p:nvCxnSpPr>
        <p:spPr>
          <a:xfrm flipH="1">
            <a:off x="5851975" y="2272925"/>
            <a:ext cx="1789800" cy="574800"/>
          </a:xfrm>
          <a:prstGeom prst="straightConnector1">
            <a:avLst/>
          </a:prstGeom>
          <a:noFill/>
          <a:ln cap="flat" cmpd="sng" w="19050">
            <a:solidFill>
              <a:srgbClr val="38761D"/>
            </a:solidFill>
            <a:prstDash val="solid"/>
            <a:round/>
            <a:headEnd len="sm" w="sm" type="none"/>
            <a:tailEnd len="med" w="med" type="triangle"/>
          </a:ln>
        </p:spPr>
      </p:cxnSp>
      <p:sp>
        <p:nvSpPr>
          <p:cNvPr id="147" name="Google Shape;147;p21"/>
          <p:cNvSpPr/>
          <p:nvPr/>
        </p:nvSpPr>
        <p:spPr>
          <a:xfrm>
            <a:off x="2672725" y="4293100"/>
            <a:ext cx="162000" cy="524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1"/>
          <p:cNvSpPr txBox="1"/>
          <p:nvPr/>
        </p:nvSpPr>
        <p:spPr>
          <a:xfrm>
            <a:off x="256525" y="2502725"/>
            <a:ext cx="1255800" cy="34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0000FF"/>
                </a:solidFill>
              </a:rPr>
              <a:t>User</a:t>
            </a:r>
            <a:r>
              <a:rPr b="0" i="0" lang="en" sz="1400" u="none" cap="none" strike="noStrike">
                <a:solidFill>
                  <a:srgbClr val="0000FF"/>
                </a:solidFill>
                <a:latin typeface="Arial"/>
                <a:ea typeface="Arial"/>
                <a:cs typeface="Arial"/>
                <a:sym typeface="Arial"/>
              </a:rPr>
              <a:t> button</a:t>
            </a:r>
            <a:endParaRPr b="0" i="0" sz="1400" u="none" cap="none" strike="noStrike">
              <a:solidFill>
                <a:srgbClr val="0000FF"/>
              </a:solidFill>
              <a:latin typeface="Arial"/>
              <a:ea typeface="Arial"/>
              <a:cs typeface="Arial"/>
              <a:sym typeface="Arial"/>
            </a:endParaRPr>
          </a:p>
        </p:txBody>
      </p:sp>
      <p:cxnSp>
        <p:nvCxnSpPr>
          <p:cNvPr id="151" name="Google Shape;151;p21"/>
          <p:cNvCxnSpPr>
            <a:stCxn id="150" idx="3"/>
          </p:cNvCxnSpPr>
          <p:nvPr/>
        </p:nvCxnSpPr>
        <p:spPr>
          <a:xfrm>
            <a:off x="1512325" y="2675225"/>
            <a:ext cx="2340600" cy="311400"/>
          </a:xfrm>
          <a:prstGeom prst="straightConnector1">
            <a:avLst/>
          </a:prstGeom>
          <a:noFill/>
          <a:ln cap="flat" cmpd="sng" w="19050">
            <a:solidFill>
              <a:srgbClr val="0000FF"/>
            </a:solidFill>
            <a:prstDash val="solid"/>
            <a:round/>
            <a:headEnd len="sm" w="sm" type="none"/>
            <a:tailEnd len="med" w="med" type="triangle"/>
          </a:ln>
        </p:spPr>
      </p:cxnSp>
      <p:sp>
        <p:nvSpPr>
          <p:cNvPr id="152" name="Google Shape;152;p21"/>
          <p:cNvSpPr txBox="1"/>
          <p:nvPr/>
        </p:nvSpPr>
        <p:spPr>
          <a:xfrm>
            <a:off x="7695750" y="1435775"/>
            <a:ext cx="1108500" cy="3450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rgbClr val="38761D"/>
                </a:solidFill>
              </a:rPr>
              <a:t>Power</a:t>
            </a:r>
            <a:r>
              <a:rPr b="0" lang="en" sz="1400" u="none" cap="none" strike="noStrike">
                <a:solidFill>
                  <a:srgbClr val="38761D"/>
                </a:solidFill>
                <a:latin typeface="Arial"/>
                <a:ea typeface="Arial"/>
                <a:cs typeface="Arial"/>
                <a:sym typeface="Arial"/>
              </a:rPr>
              <a:t>LED</a:t>
            </a:r>
            <a:endParaRPr b="0" sz="1400" u="none" cap="none" strike="noStrike">
              <a:solidFill>
                <a:srgbClr val="38761D"/>
              </a:solidFill>
              <a:latin typeface="Arial"/>
              <a:ea typeface="Arial"/>
              <a:cs typeface="Arial"/>
              <a:sym typeface="Arial"/>
            </a:endParaRPr>
          </a:p>
        </p:txBody>
      </p:sp>
      <p:cxnSp>
        <p:nvCxnSpPr>
          <p:cNvPr id="153" name="Google Shape;153;p21"/>
          <p:cNvCxnSpPr>
            <a:stCxn id="152" idx="1"/>
          </p:cNvCxnSpPr>
          <p:nvPr/>
        </p:nvCxnSpPr>
        <p:spPr>
          <a:xfrm flipH="1">
            <a:off x="5643150" y="1608275"/>
            <a:ext cx="2052600" cy="1213200"/>
          </a:xfrm>
          <a:prstGeom prst="straightConnector1">
            <a:avLst/>
          </a:prstGeom>
          <a:noFill/>
          <a:ln cap="flat" cmpd="sng" w="19050">
            <a:solidFill>
              <a:srgbClr val="38761D"/>
            </a:solidFill>
            <a:prstDash val="solid"/>
            <a:round/>
            <a:headEnd len="sm" w="sm" type="none"/>
            <a:tailEnd len="med" w="med" type="triangle"/>
          </a:ln>
        </p:spPr>
      </p:cxnSp>
      <p:sp>
        <p:nvSpPr>
          <p:cNvPr id="137" name="Google Shape;137;p21"/>
          <p:cNvSpPr/>
          <p:nvPr/>
        </p:nvSpPr>
        <p:spPr>
          <a:xfrm>
            <a:off x="4308475" y="4788725"/>
            <a:ext cx="357300" cy="345000"/>
          </a:xfrm>
          <a:prstGeom prst="rect">
            <a:avLst/>
          </a:prstGeom>
          <a:noFill/>
          <a:ln cap="flat" cmpd="sng" w="762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21"/>
          <p:cNvSpPr txBox="1"/>
          <p:nvPr/>
        </p:nvSpPr>
        <p:spPr>
          <a:xfrm>
            <a:off x="7143750" y="2901913"/>
            <a:ext cx="1877400" cy="4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EA9999"/>
                </a:solidFill>
              </a:rPr>
              <a:t>Morpho connector</a:t>
            </a:r>
            <a:endParaRPr b="0" i="0" sz="1400" u="none" cap="none" strike="noStrike">
              <a:solidFill>
                <a:srgbClr val="EA9999"/>
              </a:solidFill>
              <a:latin typeface="Arial"/>
              <a:ea typeface="Arial"/>
              <a:cs typeface="Arial"/>
              <a:sym typeface="Arial"/>
            </a:endParaRPr>
          </a:p>
        </p:txBody>
      </p:sp>
      <p:cxnSp>
        <p:nvCxnSpPr>
          <p:cNvPr id="155" name="Google Shape;155;p21"/>
          <p:cNvCxnSpPr/>
          <p:nvPr/>
        </p:nvCxnSpPr>
        <p:spPr>
          <a:xfrm flipH="1">
            <a:off x="6596675" y="3105400"/>
            <a:ext cx="742800" cy="813600"/>
          </a:xfrm>
          <a:prstGeom prst="straightConnector1">
            <a:avLst/>
          </a:prstGeom>
          <a:noFill/>
          <a:ln cap="flat" cmpd="sng" w="19050">
            <a:solidFill>
              <a:srgbClr val="EA9999"/>
            </a:solidFill>
            <a:prstDash val="solid"/>
            <a:round/>
            <a:headEnd len="sm" w="sm" type="none"/>
            <a:tailEnd len="med" w="med" type="triangle"/>
          </a:ln>
        </p:spPr>
      </p:cxnSp>
      <p:sp>
        <p:nvSpPr>
          <p:cNvPr id="156" name="Google Shape;156;p21"/>
          <p:cNvSpPr/>
          <p:nvPr/>
        </p:nvSpPr>
        <p:spPr>
          <a:xfrm>
            <a:off x="3648575" y="4592975"/>
            <a:ext cx="162000" cy="297900"/>
          </a:xfrm>
          <a:prstGeom prst="rect">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1"/>
          <p:cNvSpPr txBox="1"/>
          <p:nvPr/>
        </p:nvSpPr>
        <p:spPr>
          <a:xfrm>
            <a:off x="194125" y="2899350"/>
            <a:ext cx="1652100" cy="58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9900FF"/>
                </a:solidFill>
              </a:rPr>
              <a:t>Crystal oscillator 32 kHz</a:t>
            </a:r>
            <a:endParaRPr b="0" i="0" sz="1400" u="none" cap="none" strike="noStrike">
              <a:solidFill>
                <a:srgbClr val="9900FF"/>
              </a:solidFill>
              <a:latin typeface="Arial"/>
              <a:ea typeface="Arial"/>
              <a:cs typeface="Arial"/>
              <a:sym typeface="Arial"/>
            </a:endParaRPr>
          </a:p>
        </p:txBody>
      </p:sp>
      <p:cxnSp>
        <p:nvCxnSpPr>
          <p:cNvPr id="158" name="Google Shape;158;p21"/>
          <p:cNvCxnSpPr>
            <a:endCxn id="156" idx="1"/>
          </p:cNvCxnSpPr>
          <p:nvPr/>
        </p:nvCxnSpPr>
        <p:spPr>
          <a:xfrm>
            <a:off x="1714475" y="3170825"/>
            <a:ext cx="1934100" cy="1571100"/>
          </a:xfrm>
          <a:prstGeom prst="straightConnector1">
            <a:avLst/>
          </a:prstGeom>
          <a:noFill/>
          <a:ln cap="flat" cmpd="sng" w="19050">
            <a:solidFill>
              <a:srgbClr val="9900FF"/>
            </a:solidFill>
            <a:prstDash val="solid"/>
            <a:round/>
            <a:headEnd len="sm" w="sm" type="none"/>
            <a:tailEnd len="med" w="med" type="triangle"/>
          </a:ln>
        </p:spPr>
      </p:cxnSp>
      <p:sp>
        <p:nvSpPr>
          <p:cNvPr id="159" name="Google Shape;159;p21"/>
          <p:cNvSpPr/>
          <p:nvPr/>
        </p:nvSpPr>
        <p:spPr>
          <a:xfrm>
            <a:off x="3573600" y="4966675"/>
            <a:ext cx="162000" cy="297900"/>
          </a:xfrm>
          <a:prstGeom prst="rect">
            <a:avLst/>
          </a:prstGeom>
          <a:noFill/>
          <a:ln cap="flat" cmpd="sng" w="19050">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1"/>
          <p:cNvSpPr txBox="1"/>
          <p:nvPr/>
        </p:nvSpPr>
        <p:spPr>
          <a:xfrm>
            <a:off x="361075" y="5191488"/>
            <a:ext cx="1652100" cy="58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9900FF"/>
                </a:solidFill>
              </a:rPr>
              <a:t>Crystal oscillator 48 MHz</a:t>
            </a:r>
            <a:endParaRPr b="0" i="0" sz="1400" u="none" cap="none" strike="noStrike">
              <a:solidFill>
                <a:srgbClr val="9900FF"/>
              </a:solidFill>
              <a:latin typeface="Arial"/>
              <a:ea typeface="Arial"/>
              <a:cs typeface="Arial"/>
              <a:sym typeface="Arial"/>
            </a:endParaRPr>
          </a:p>
        </p:txBody>
      </p:sp>
      <p:cxnSp>
        <p:nvCxnSpPr>
          <p:cNvPr id="161" name="Google Shape;161;p21"/>
          <p:cNvCxnSpPr>
            <a:endCxn id="159" idx="1"/>
          </p:cNvCxnSpPr>
          <p:nvPr/>
        </p:nvCxnSpPr>
        <p:spPr>
          <a:xfrm flipH="1" rot="10800000">
            <a:off x="1644000" y="5115625"/>
            <a:ext cx="1929600" cy="454200"/>
          </a:xfrm>
          <a:prstGeom prst="straightConnector1">
            <a:avLst/>
          </a:prstGeom>
          <a:noFill/>
          <a:ln cap="flat" cmpd="sng" w="19050">
            <a:solidFill>
              <a:srgbClr val="9900FF"/>
            </a:solidFill>
            <a:prstDash val="solid"/>
            <a:round/>
            <a:headEnd len="sm" w="sm" type="none"/>
            <a:tailEnd len="med" w="med" type="triangle"/>
          </a:ln>
        </p:spPr>
      </p:cxnSp>
      <p:sp>
        <p:nvSpPr>
          <p:cNvPr id="162" name="Google Shape;162;p21"/>
          <p:cNvSpPr/>
          <p:nvPr/>
        </p:nvSpPr>
        <p:spPr>
          <a:xfrm>
            <a:off x="2672725" y="4811525"/>
            <a:ext cx="162000" cy="345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1"/>
          <p:cNvSpPr txBox="1"/>
          <p:nvPr/>
        </p:nvSpPr>
        <p:spPr>
          <a:xfrm>
            <a:off x="433275" y="4371313"/>
            <a:ext cx="1425600" cy="582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rgbClr val="FF0000"/>
                </a:solidFill>
              </a:rPr>
              <a:t>External p</a:t>
            </a:r>
            <a:r>
              <a:rPr b="0" i="0" lang="en" sz="1400" u="none" cap="none" strike="noStrike">
                <a:solidFill>
                  <a:srgbClr val="FF0000"/>
                </a:solidFill>
                <a:latin typeface="Arial"/>
                <a:ea typeface="Arial"/>
                <a:cs typeface="Arial"/>
                <a:sym typeface="Arial"/>
              </a:rPr>
              <a:t>ower and ground</a:t>
            </a:r>
            <a:endParaRPr b="0" i="0" sz="1400" u="none" cap="none" strike="noStrike">
              <a:solidFill>
                <a:srgbClr val="FF0000"/>
              </a:solidFill>
              <a:latin typeface="Arial"/>
              <a:ea typeface="Arial"/>
              <a:cs typeface="Arial"/>
              <a:sym typeface="Arial"/>
            </a:endParaRPr>
          </a:p>
        </p:txBody>
      </p:sp>
      <p:cxnSp>
        <p:nvCxnSpPr>
          <p:cNvPr id="164" name="Google Shape;164;p21"/>
          <p:cNvCxnSpPr>
            <a:endCxn id="162" idx="1"/>
          </p:cNvCxnSpPr>
          <p:nvPr/>
        </p:nvCxnSpPr>
        <p:spPr>
          <a:xfrm>
            <a:off x="1696225" y="4731725"/>
            <a:ext cx="976500" cy="252300"/>
          </a:xfrm>
          <a:prstGeom prst="straightConnector1">
            <a:avLst/>
          </a:prstGeom>
          <a:noFill/>
          <a:ln cap="flat" cmpd="sng" w="19050">
            <a:solidFill>
              <a:srgbClr val="FF0000"/>
            </a:solidFill>
            <a:prstDash val="solid"/>
            <a:round/>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2"/>
          <p:cNvPicPr preferRelativeResize="0"/>
          <p:nvPr/>
        </p:nvPicPr>
        <p:blipFill>
          <a:blip r:embed="rId3">
            <a:alphaModFix/>
          </a:blip>
          <a:stretch>
            <a:fillRect/>
          </a:stretch>
        </p:blipFill>
        <p:spPr>
          <a:xfrm>
            <a:off x="281838" y="2469550"/>
            <a:ext cx="8580326" cy="3395675"/>
          </a:xfrm>
          <a:prstGeom prst="rect">
            <a:avLst/>
          </a:prstGeom>
          <a:noFill/>
          <a:ln>
            <a:noFill/>
          </a:ln>
        </p:spPr>
      </p:pic>
      <p:sp>
        <p:nvSpPr>
          <p:cNvPr id="170" name="Google Shape;170;p22"/>
          <p:cNvSpPr txBox="1"/>
          <p:nvPr>
            <p:ph idx="1" type="body"/>
          </p:nvPr>
        </p:nvSpPr>
        <p:spPr>
          <a:xfrm>
            <a:off x="311700" y="1356875"/>
            <a:ext cx="8520600" cy="512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Prior to today’s class, you were instructed to install the </a:t>
            </a:r>
            <a:r>
              <a:rPr lang="en"/>
              <a:t>STM32 Cube IDE</a:t>
            </a:r>
            <a:r>
              <a:rPr lang="en"/>
              <a:t>, which we use to program the </a:t>
            </a:r>
            <a:r>
              <a:rPr lang="en"/>
              <a:t>STM32C031C6</a:t>
            </a:r>
            <a:r>
              <a:rPr lang="en"/>
              <a:t> microcontroller.  You must have that software installed before you can go any farther.</a:t>
            </a:r>
            <a:br>
              <a:rPr lang="en"/>
            </a:br>
            <a:br>
              <a:rPr lang="en"/>
            </a:br>
            <a:br>
              <a:rPr lang="en"/>
            </a:br>
            <a:endParaRPr/>
          </a:p>
          <a:p>
            <a:pPr indent="0" lvl="0" marL="457200" rtl="0" algn="l">
              <a:lnSpc>
                <a:spcPct val="115000"/>
              </a:lnSpc>
              <a:spcBef>
                <a:spcPts val="0"/>
              </a:spcBef>
              <a:spcAft>
                <a:spcPts val="0"/>
              </a:spcAft>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rPr lang="en"/>
              <a:t>If you do not have the software installed at this point please raise your hand so that someone can help.</a:t>
            </a:r>
            <a:endParaRPr/>
          </a:p>
        </p:txBody>
      </p:sp>
      <p:sp>
        <p:nvSpPr>
          <p:cNvPr id="171" name="Google Shape;171;p2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Install Necessary Software on your Computer</a:t>
            </a:r>
            <a:endParaRPr/>
          </a:p>
        </p:txBody>
      </p:sp>
      <p:sp>
        <p:nvSpPr>
          <p:cNvPr id="172" name="Google Shape;172;p2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73" name="Google Shape;173;p22"/>
          <p:cNvSpPr/>
          <p:nvPr/>
        </p:nvSpPr>
        <p:spPr>
          <a:xfrm>
            <a:off x="1809050" y="3211500"/>
            <a:ext cx="1778100" cy="444300"/>
          </a:xfrm>
          <a:prstGeom prst="roundRect">
            <a:avLst>
              <a:gd fmla="val 16667" name="adj"/>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3"/>
          <p:cNvPicPr preferRelativeResize="0"/>
          <p:nvPr/>
        </p:nvPicPr>
        <p:blipFill>
          <a:blip r:embed="rId3">
            <a:alphaModFix/>
          </a:blip>
          <a:stretch>
            <a:fillRect/>
          </a:stretch>
        </p:blipFill>
        <p:spPr>
          <a:xfrm>
            <a:off x="819272" y="2597650"/>
            <a:ext cx="6382302" cy="2525799"/>
          </a:xfrm>
          <a:prstGeom prst="rect">
            <a:avLst/>
          </a:prstGeom>
          <a:noFill/>
          <a:ln>
            <a:noFill/>
          </a:ln>
        </p:spPr>
      </p:pic>
      <p:pic>
        <p:nvPicPr>
          <p:cNvPr id="179" name="Google Shape;179;p23"/>
          <p:cNvPicPr preferRelativeResize="0"/>
          <p:nvPr/>
        </p:nvPicPr>
        <p:blipFill>
          <a:blip r:embed="rId4">
            <a:alphaModFix/>
          </a:blip>
          <a:stretch>
            <a:fillRect/>
          </a:stretch>
        </p:blipFill>
        <p:spPr>
          <a:xfrm>
            <a:off x="0" y="5123452"/>
            <a:ext cx="9144003" cy="1232297"/>
          </a:xfrm>
          <a:prstGeom prst="rect">
            <a:avLst/>
          </a:prstGeom>
          <a:noFill/>
          <a:ln>
            <a:noFill/>
          </a:ln>
        </p:spPr>
      </p:pic>
      <p:sp>
        <p:nvSpPr>
          <p:cNvPr id="180" name="Google Shape;180;p23"/>
          <p:cNvSpPr txBox="1"/>
          <p:nvPr>
            <p:ph type="title"/>
          </p:nvPr>
        </p:nvSpPr>
        <p:spPr>
          <a:xfrm>
            <a:off x="311700" y="20381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Blink an LED</a:t>
            </a:r>
            <a:endParaRPr/>
          </a:p>
        </p:txBody>
      </p:sp>
      <p:sp>
        <p:nvSpPr>
          <p:cNvPr id="181" name="Google Shape;181;p23"/>
          <p:cNvSpPr txBox="1"/>
          <p:nvPr>
            <p:ph idx="1" type="body"/>
          </p:nvPr>
        </p:nvSpPr>
        <p:spPr>
          <a:xfrm>
            <a:off x="311700" y="870300"/>
            <a:ext cx="8073600" cy="180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This is the “hello, world” of embedded system programming.  Follow the instructions on the Canvas page. If you get stuck simply ask one of the instructors / LFs for help.</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a:t>Once you have it running, we’ll talk about how the program works.</a:t>
            </a:r>
            <a:endParaRPr/>
          </a:p>
          <a:p>
            <a:pPr indent="0" lvl="0" marL="457200" rtl="0" algn="l">
              <a:lnSpc>
                <a:spcPct val="115000"/>
              </a:lnSpc>
              <a:spcBef>
                <a:spcPts val="1600"/>
              </a:spcBef>
              <a:spcAft>
                <a:spcPts val="1600"/>
              </a:spcAft>
              <a:buSzPts val="1800"/>
              <a:buNone/>
            </a:pPr>
            <a:r>
              <a:t/>
            </a:r>
            <a:endParaRPr/>
          </a:p>
        </p:txBody>
      </p:sp>
      <p:sp>
        <p:nvSpPr>
          <p:cNvPr id="182" name="Google Shape;182;p2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83" name="Google Shape;183;p23"/>
          <p:cNvSpPr/>
          <p:nvPr/>
        </p:nvSpPr>
        <p:spPr>
          <a:xfrm>
            <a:off x="1983550" y="3422275"/>
            <a:ext cx="1260000" cy="6870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3"/>
          <p:cNvSpPr/>
          <p:nvPr/>
        </p:nvSpPr>
        <p:spPr>
          <a:xfrm>
            <a:off x="6122350" y="5461300"/>
            <a:ext cx="2898900" cy="3486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24"/>
          <p:cNvPicPr preferRelativeResize="0"/>
          <p:nvPr/>
        </p:nvPicPr>
        <p:blipFill>
          <a:blip r:embed="rId3">
            <a:alphaModFix/>
          </a:blip>
          <a:stretch>
            <a:fillRect/>
          </a:stretch>
        </p:blipFill>
        <p:spPr>
          <a:xfrm>
            <a:off x="3726351" y="721283"/>
            <a:ext cx="5027575" cy="5901568"/>
          </a:xfrm>
          <a:prstGeom prst="rect">
            <a:avLst/>
          </a:prstGeom>
          <a:noFill/>
          <a:ln>
            <a:noFill/>
          </a:ln>
        </p:spPr>
      </p:pic>
      <p:sp>
        <p:nvSpPr>
          <p:cNvPr id="190" name="Google Shape;190;p24"/>
          <p:cNvSpPr txBox="1"/>
          <p:nvPr>
            <p:ph type="title"/>
          </p:nvPr>
        </p:nvSpPr>
        <p:spPr>
          <a:xfrm>
            <a:off x="233325" y="306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How does the program blink the LED?</a:t>
            </a:r>
            <a:endParaRPr/>
          </a:p>
        </p:txBody>
      </p:sp>
      <p:sp>
        <p:nvSpPr>
          <p:cNvPr id="191" name="Google Shape;191;p2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192" name="Google Shape;192;p24"/>
          <p:cNvSpPr/>
          <p:nvPr/>
        </p:nvSpPr>
        <p:spPr>
          <a:xfrm>
            <a:off x="7827650" y="3726400"/>
            <a:ext cx="177600" cy="14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24"/>
          <p:cNvSpPr txBox="1"/>
          <p:nvPr/>
        </p:nvSpPr>
        <p:spPr>
          <a:xfrm>
            <a:off x="530400" y="4702525"/>
            <a:ext cx="2112000" cy="9831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1" lang="en" sz="1400" u="none" cap="none" strike="noStrike">
                <a:solidFill>
                  <a:srgbClr val="FF0000"/>
                </a:solidFill>
                <a:latin typeface="Arial"/>
                <a:ea typeface="Arial"/>
                <a:cs typeface="Arial"/>
                <a:sym typeface="Arial"/>
              </a:rPr>
              <a:t>LED at header pin D13</a:t>
            </a:r>
            <a:endParaRPr i="1">
              <a:solidFill>
                <a:srgbClr val="FF0000"/>
              </a:solidFill>
            </a:endParaRPr>
          </a:p>
          <a:p>
            <a:pPr indent="0" lvl="0" marL="0" marR="0" rtl="0" algn="r">
              <a:lnSpc>
                <a:spcPct val="100000"/>
              </a:lnSpc>
              <a:spcBef>
                <a:spcPts val="0"/>
              </a:spcBef>
              <a:spcAft>
                <a:spcPts val="0"/>
              </a:spcAft>
              <a:buClr>
                <a:srgbClr val="000000"/>
              </a:buClr>
              <a:buSzPts val="1400"/>
              <a:buFont typeface="Arial"/>
              <a:buNone/>
            </a:pPr>
            <a:r>
              <a:rPr i="1" lang="en">
                <a:solidFill>
                  <a:srgbClr val="FF0000"/>
                </a:solidFill>
              </a:rPr>
              <a:t>wired to </a:t>
            </a:r>
            <a:endParaRPr i="1">
              <a:solidFill>
                <a:srgbClr val="FF0000"/>
              </a:solidFill>
            </a:endParaRPr>
          </a:p>
          <a:p>
            <a:pPr indent="0" lvl="0" marL="0" marR="0" rtl="0" algn="r">
              <a:lnSpc>
                <a:spcPct val="100000"/>
              </a:lnSpc>
              <a:spcBef>
                <a:spcPts val="0"/>
              </a:spcBef>
              <a:spcAft>
                <a:spcPts val="0"/>
              </a:spcAft>
              <a:buClr>
                <a:srgbClr val="000000"/>
              </a:buClr>
              <a:buSzPts val="1400"/>
              <a:buFont typeface="Arial"/>
              <a:buNone/>
            </a:pPr>
            <a:r>
              <a:rPr i="1" lang="en">
                <a:solidFill>
                  <a:srgbClr val="FF0000"/>
                </a:solidFill>
              </a:rPr>
              <a:t>STM32C0</a:t>
            </a:r>
            <a:r>
              <a:rPr b="0" i="1" lang="en" sz="1400" u="none" cap="none" strike="noStrike">
                <a:solidFill>
                  <a:srgbClr val="FF0000"/>
                </a:solidFill>
                <a:latin typeface="Arial"/>
                <a:ea typeface="Arial"/>
                <a:cs typeface="Arial"/>
                <a:sym typeface="Arial"/>
              </a:rPr>
              <a:t> pin </a:t>
            </a:r>
            <a:r>
              <a:rPr i="1" lang="en">
                <a:solidFill>
                  <a:srgbClr val="FF0000"/>
                </a:solidFill>
              </a:rPr>
              <a:t>16</a:t>
            </a:r>
            <a:endParaRPr b="0" i="1" sz="1400" u="none" cap="none" strike="noStrike">
              <a:solidFill>
                <a:srgbClr val="FF0000"/>
              </a:solidFill>
              <a:latin typeface="Arial"/>
              <a:ea typeface="Arial"/>
              <a:cs typeface="Arial"/>
              <a:sym typeface="Arial"/>
            </a:endParaRPr>
          </a:p>
        </p:txBody>
      </p:sp>
      <p:cxnSp>
        <p:nvCxnSpPr>
          <p:cNvPr id="194" name="Google Shape;194;p24"/>
          <p:cNvCxnSpPr>
            <a:endCxn id="192" idx="1"/>
          </p:cNvCxnSpPr>
          <p:nvPr/>
        </p:nvCxnSpPr>
        <p:spPr>
          <a:xfrm flipH="1" rot="10800000">
            <a:off x="2651750" y="3799150"/>
            <a:ext cx="5175900" cy="1047300"/>
          </a:xfrm>
          <a:prstGeom prst="straightConnector1">
            <a:avLst/>
          </a:prstGeom>
          <a:noFill/>
          <a:ln cap="flat" cmpd="sng" w="19050">
            <a:solidFill>
              <a:srgbClr val="FF0000"/>
            </a:solidFill>
            <a:prstDash val="solid"/>
            <a:round/>
            <a:headEnd len="sm" w="sm" type="none"/>
            <a:tailEnd len="med" w="med" type="triangle"/>
          </a:ln>
        </p:spPr>
      </p:cxnSp>
      <p:sp>
        <p:nvSpPr>
          <p:cNvPr id="195" name="Google Shape;195;p24"/>
          <p:cNvSpPr txBox="1"/>
          <p:nvPr/>
        </p:nvSpPr>
        <p:spPr>
          <a:xfrm>
            <a:off x="5788325" y="5194075"/>
            <a:ext cx="672000" cy="323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rgbClr val="FF0000"/>
                </a:solidFill>
              </a:rPr>
              <a:t>16</a:t>
            </a:r>
            <a:endParaRPr b="0" i="0" sz="1200" u="none" cap="none" strike="noStrike">
              <a:solidFill>
                <a:srgbClr val="FF0000"/>
              </a:solidFill>
              <a:latin typeface="Arial"/>
              <a:ea typeface="Arial"/>
              <a:cs typeface="Arial"/>
              <a:sym typeface="Arial"/>
            </a:endParaRPr>
          </a:p>
        </p:txBody>
      </p:sp>
      <p:sp>
        <p:nvSpPr>
          <p:cNvPr id="196" name="Google Shape;196;p24"/>
          <p:cNvSpPr/>
          <p:nvPr/>
        </p:nvSpPr>
        <p:spPr>
          <a:xfrm>
            <a:off x="6035683" y="5022424"/>
            <a:ext cx="177300" cy="145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4"/>
          <p:cNvSpPr txBox="1"/>
          <p:nvPr/>
        </p:nvSpPr>
        <p:spPr>
          <a:xfrm>
            <a:off x="7235625" y="5022433"/>
            <a:ext cx="483300" cy="4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FEFEF"/>
                </a:solidFill>
                <a:latin typeface="Arial"/>
                <a:ea typeface="Arial"/>
                <a:cs typeface="Arial"/>
                <a:sym typeface="Arial"/>
              </a:rPr>
              <a:t>1</a:t>
            </a:r>
            <a:endParaRPr b="0" i="0" sz="1200" u="none" cap="none" strike="noStrike">
              <a:solidFill>
                <a:srgbClr val="EFEFEF"/>
              </a:solidFill>
              <a:latin typeface="Arial"/>
              <a:ea typeface="Arial"/>
              <a:cs typeface="Arial"/>
              <a:sym typeface="Arial"/>
            </a:endParaRPr>
          </a:p>
        </p:txBody>
      </p:sp>
      <p:sp>
        <p:nvSpPr>
          <p:cNvPr id="198" name="Google Shape;198;p24"/>
          <p:cNvSpPr/>
          <p:nvPr/>
        </p:nvSpPr>
        <p:spPr>
          <a:xfrm>
            <a:off x="7541625" y="2508925"/>
            <a:ext cx="177300" cy="4260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4"/>
          <p:cNvSpPr txBox="1"/>
          <p:nvPr/>
        </p:nvSpPr>
        <p:spPr>
          <a:xfrm>
            <a:off x="4936075" y="5032225"/>
            <a:ext cx="483300" cy="32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FEFEF"/>
                </a:solidFill>
                <a:latin typeface="Arial"/>
                <a:ea typeface="Arial"/>
                <a:cs typeface="Arial"/>
                <a:sym typeface="Arial"/>
              </a:rPr>
              <a:t>14</a:t>
            </a:r>
            <a:endParaRPr b="0" i="0" sz="1200" u="none" cap="none" strike="noStrike">
              <a:solidFill>
                <a:srgbClr val="EFEFEF"/>
              </a:solidFill>
              <a:latin typeface="Arial"/>
              <a:ea typeface="Arial"/>
              <a:cs typeface="Arial"/>
              <a:sym typeface="Arial"/>
            </a:endParaRPr>
          </a:p>
        </p:txBody>
      </p:sp>
      <p:sp>
        <p:nvSpPr>
          <p:cNvPr id="200" name="Google Shape;200;p24"/>
          <p:cNvSpPr txBox="1"/>
          <p:nvPr/>
        </p:nvSpPr>
        <p:spPr>
          <a:xfrm>
            <a:off x="7177888" y="5355958"/>
            <a:ext cx="483300" cy="4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FEFEF"/>
                </a:solidFill>
                <a:latin typeface="Arial"/>
                <a:ea typeface="Arial"/>
                <a:cs typeface="Arial"/>
                <a:sym typeface="Arial"/>
              </a:rPr>
              <a:t>28</a:t>
            </a:r>
            <a:endParaRPr b="0" i="0" sz="1200" u="none" cap="none" strike="noStrike">
              <a:solidFill>
                <a:srgbClr val="EFEFEF"/>
              </a:solidFill>
              <a:latin typeface="Arial"/>
              <a:ea typeface="Arial"/>
              <a:cs typeface="Arial"/>
              <a:sym typeface="Arial"/>
            </a:endParaRPr>
          </a:p>
        </p:txBody>
      </p:sp>
      <p:cxnSp>
        <p:nvCxnSpPr>
          <p:cNvPr id="201" name="Google Shape;201;p24"/>
          <p:cNvCxnSpPr>
            <a:stCxn id="193" idx="3"/>
          </p:cNvCxnSpPr>
          <p:nvPr/>
        </p:nvCxnSpPr>
        <p:spPr>
          <a:xfrm>
            <a:off x="2642400" y="5194075"/>
            <a:ext cx="3340200" cy="12000"/>
          </a:xfrm>
          <a:prstGeom prst="straightConnector1">
            <a:avLst/>
          </a:prstGeom>
          <a:noFill/>
          <a:ln cap="flat" cmpd="sng" w="19050">
            <a:solidFill>
              <a:srgbClr val="FF0000"/>
            </a:solidFill>
            <a:prstDash val="solid"/>
            <a:round/>
            <a:headEnd len="sm" w="sm" type="none"/>
            <a:tailEnd len="med" w="med" type="triangle"/>
          </a:ln>
        </p:spPr>
      </p:cxnSp>
      <p:sp>
        <p:nvSpPr>
          <p:cNvPr id="202" name="Google Shape;202;p24"/>
          <p:cNvSpPr txBox="1"/>
          <p:nvPr/>
        </p:nvSpPr>
        <p:spPr>
          <a:xfrm>
            <a:off x="110800" y="1069875"/>
            <a:ext cx="3377100" cy="28785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AutoNum type="arabicPeriod"/>
            </a:pPr>
            <a:r>
              <a:rPr lang="en" sz="1600"/>
              <a:t>Hardware:  Pin 16 of the MCU is wired to the LED and also to header pin D13.</a:t>
            </a:r>
            <a:endParaRPr sz="1600"/>
          </a:p>
          <a:p>
            <a:pPr indent="-330200" lvl="0" marL="457200" rtl="0" algn="l">
              <a:lnSpc>
                <a:spcPct val="115000"/>
              </a:lnSpc>
              <a:spcBef>
                <a:spcPts val="0"/>
              </a:spcBef>
              <a:spcAft>
                <a:spcPts val="0"/>
              </a:spcAft>
              <a:buSzPts val="1600"/>
              <a:buAutoNum type="arabicPeriod"/>
            </a:pPr>
            <a:r>
              <a:rPr lang="en" sz="1600"/>
              <a:t>Software:  Program alternately writes ‘1’ and ‘0’ to Pin 16 (addressed via bit 5 of Port A).</a:t>
            </a:r>
            <a:endParaRPr sz="1600"/>
          </a:p>
          <a:p>
            <a:pPr indent="-330200" lvl="0" marL="457200" rtl="0" algn="l">
              <a:lnSpc>
                <a:spcPct val="115000"/>
              </a:lnSpc>
              <a:spcBef>
                <a:spcPts val="0"/>
              </a:spcBef>
              <a:spcAft>
                <a:spcPts val="0"/>
              </a:spcAft>
              <a:buSzPts val="1600"/>
              <a:buAutoNum type="arabicPeriod"/>
            </a:pPr>
            <a:r>
              <a:rPr lang="en" sz="1600"/>
              <a:t>Hardware:  Pin 16’s voltage alternates HIGH and LOW, driving current on and off </a:t>
            </a:r>
            <a:r>
              <a:rPr lang="en" sz="1600"/>
              <a:t>through</a:t>
            </a:r>
            <a:r>
              <a:rPr lang="en" sz="1600"/>
              <a:t> the LED.</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152400" y="214925"/>
            <a:ext cx="33327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The Microprocessor </a:t>
            </a:r>
            <a:r>
              <a:rPr lang="en"/>
              <a:t>STM32C031C6</a:t>
            </a:r>
            <a:endParaRPr/>
          </a:p>
        </p:txBody>
      </p:sp>
      <p:sp>
        <p:nvSpPr>
          <p:cNvPr id="208" name="Google Shape;208;p2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09" name="Google Shape;209;p25"/>
          <p:cNvSpPr txBox="1"/>
          <p:nvPr/>
        </p:nvSpPr>
        <p:spPr>
          <a:xfrm>
            <a:off x="4936075" y="5032225"/>
            <a:ext cx="483300" cy="32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EFEFEF"/>
                </a:solidFill>
                <a:latin typeface="Arial"/>
                <a:ea typeface="Arial"/>
                <a:cs typeface="Arial"/>
                <a:sym typeface="Arial"/>
              </a:rPr>
              <a:t>14</a:t>
            </a:r>
            <a:endParaRPr b="0" i="0" sz="1200" u="none" cap="none" strike="noStrike">
              <a:solidFill>
                <a:srgbClr val="EFEFEF"/>
              </a:solidFill>
              <a:latin typeface="Arial"/>
              <a:ea typeface="Arial"/>
              <a:cs typeface="Arial"/>
              <a:sym typeface="Arial"/>
            </a:endParaRPr>
          </a:p>
        </p:txBody>
      </p:sp>
      <p:sp>
        <p:nvSpPr>
          <p:cNvPr id="210" name="Google Shape;210;p25"/>
          <p:cNvSpPr txBox="1"/>
          <p:nvPr/>
        </p:nvSpPr>
        <p:spPr>
          <a:xfrm>
            <a:off x="152400" y="1370325"/>
            <a:ext cx="3858000" cy="17385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0000FF"/>
              </a:buClr>
              <a:buSzPts val="1600"/>
              <a:buAutoNum type="arabicPeriod"/>
            </a:pPr>
            <a:r>
              <a:rPr lang="en" sz="1600">
                <a:solidFill>
                  <a:srgbClr val="0000FF"/>
                </a:solidFill>
              </a:rPr>
              <a:t>The STM32C031C6 has 48 pins</a:t>
            </a:r>
            <a:endParaRPr sz="1600">
              <a:solidFill>
                <a:srgbClr val="0000FF"/>
              </a:solidFill>
            </a:endParaRPr>
          </a:p>
          <a:p>
            <a:pPr indent="-330200" lvl="0" marL="457200" rtl="0" algn="l">
              <a:lnSpc>
                <a:spcPct val="115000"/>
              </a:lnSpc>
              <a:spcBef>
                <a:spcPts val="0"/>
              </a:spcBef>
              <a:spcAft>
                <a:spcPts val="0"/>
              </a:spcAft>
              <a:buClr>
                <a:srgbClr val="0000FF"/>
              </a:buClr>
              <a:buSzPts val="1600"/>
              <a:buAutoNum type="arabicPeriod"/>
            </a:pPr>
            <a:r>
              <a:rPr lang="en" sz="1600">
                <a:solidFill>
                  <a:srgbClr val="0000FF"/>
                </a:solidFill>
              </a:rPr>
              <a:t>The pins are organized into 3 ports: A, B, C.</a:t>
            </a:r>
            <a:endParaRPr sz="1600">
              <a:solidFill>
                <a:srgbClr val="0000FF"/>
              </a:solidFill>
            </a:endParaRPr>
          </a:p>
          <a:p>
            <a:pPr indent="-330200" lvl="0" marL="457200" rtl="0" algn="l">
              <a:lnSpc>
                <a:spcPct val="115000"/>
              </a:lnSpc>
              <a:spcBef>
                <a:spcPts val="0"/>
              </a:spcBef>
              <a:spcAft>
                <a:spcPts val="0"/>
              </a:spcAft>
              <a:buClr>
                <a:srgbClr val="0000FF"/>
              </a:buClr>
              <a:buSzPts val="1600"/>
              <a:buAutoNum type="arabicPeriod"/>
            </a:pPr>
            <a:r>
              <a:rPr lang="en" sz="1600">
                <a:solidFill>
                  <a:srgbClr val="0000FF"/>
                </a:solidFill>
              </a:rPr>
              <a:t>Each port has 16 pins.</a:t>
            </a:r>
            <a:endParaRPr sz="1600">
              <a:solidFill>
                <a:srgbClr val="0000FF"/>
              </a:solidFill>
            </a:endParaRPr>
          </a:p>
        </p:txBody>
      </p:sp>
      <p:pic>
        <p:nvPicPr>
          <p:cNvPr id="211" name="Google Shape;211;p25"/>
          <p:cNvPicPr preferRelativeResize="0"/>
          <p:nvPr/>
        </p:nvPicPr>
        <p:blipFill rotWithShape="1">
          <a:blip r:embed="rId3">
            <a:alphaModFix/>
          </a:blip>
          <a:srcRect b="0" l="0" r="0" t="13322"/>
          <a:stretch/>
        </p:blipFill>
        <p:spPr>
          <a:xfrm>
            <a:off x="4451425" y="161325"/>
            <a:ext cx="4569725" cy="2843124"/>
          </a:xfrm>
          <a:prstGeom prst="rect">
            <a:avLst/>
          </a:prstGeom>
          <a:noFill/>
          <a:ln>
            <a:noFill/>
          </a:ln>
        </p:spPr>
      </p:pic>
      <p:pic>
        <p:nvPicPr>
          <p:cNvPr id="212" name="Google Shape;212;p25"/>
          <p:cNvPicPr preferRelativeResize="0"/>
          <p:nvPr/>
        </p:nvPicPr>
        <p:blipFill rotWithShape="1">
          <a:blip r:embed="rId4">
            <a:alphaModFix/>
          </a:blip>
          <a:srcRect b="3675" l="14867" r="16110" t="14846"/>
          <a:stretch/>
        </p:blipFill>
        <p:spPr>
          <a:xfrm>
            <a:off x="366350" y="2881575"/>
            <a:ext cx="5446625" cy="3845676"/>
          </a:xfrm>
          <a:prstGeom prst="rect">
            <a:avLst/>
          </a:prstGeom>
          <a:noFill/>
          <a:ln>
            <a:noFill/>
          </a:ln>
        </p:spPr>
      </p:pic>
      <p:sp>
        <p:nvSpPr>
          <p:cNvPr id="213" name="Google Shape;213;p25"/>
          <p:cNvSpPr/>
          <p:nvPr/>
        </p:nvSpPr>
        <p:spPr>
          <a:xfrm>
            <a:off x="2602150" y="5892200"/>
            <a:ext cx="177300" cy="7635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ph type="title"/>
          </p:nvPr>
        </p:nvSpPr>
        <p:spPr>
          <a:xfrm>
            <a:off x="311700" y="2199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What's with all the different names?</a:t>
            </a:r>
            <a:endParaRPr/>
          </a:p>
        </p:txBody>
      </p:sp>
      <p:sp>
        <p:nvSpPr>
          <p:cNvPr id="219" name="Google Shape;219;p26"/>
          <p:cNvSpPr txBox="1"/>
          <p:nvPr>
            <p:ph idx="1" type="body"/>
          </p:nvPr>
        </p:nvSpPr>
        <p:spPr>
          <a:xfrm>
            <a:off x="311700" y="896149"/>
            <a:ext cx="8520600" cy="519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rgbClr val="0000FF"/>
                </a:solidFill>
              </a:rPr>
              <a:t>Arduino header pin D13</a:t>
            </a:r>
            <a:r>
              <a:rPr lang="en"/>
              <a:t> </a:t>
            </a:r>
            <a:r>
              <a:rPr i="1" lang="en"/>
              <a:t>versus</a:t>
            </a:r>
            <a:r>
              <a:rPr lang="en"/>
              <a:t> </a:t>
            </a:r>
            <a:r>
              <a:rPr lang="en">
                <a:solidFill>
                  <a:srgbClr val="FF0000"/>
                </a:solidFill>
              </a:rPr>
              <a:t>STM32C031C6</a:t>
            </a:r>
            <a:r>
              <a:rPr lang="en">
                <a:solidFill>
                  <a:srgbClr val="FF0000"/>
                </a:solidFill>
              </a:rPr>
              <a:t> pin 16</a:t>
            </a:r>
            <a:r>
              <a:rPr lang="en"/>
              <a:t> </a:t>
            </a:r>
            <a:r>
              <a:rPr i="1" lang="en"/>
              <a:t>versus</a:t>
            </a:r>
            <a:r>
              <a:rPr lang="en"/>
              <a:t> </a:t>
            </a:r>
            <a:r>
              <a:rPr lang="en">
                <a:solidFill>
                  <a:srgbClr val="38761D"/>
                </a:solidFill>
              </a:rPr>
              <a:t>bit 5 of I/O Port A</a:t>
            </a:r>
            <a:r>
              <a:rPr i="1" lang="en"/>
              <a:t>?</a:t>
            </a:r>
            <a:endParaRPr i="1"/>
          </a:p>
          <a:p>
            <a:pPr indent="-342900" lvl="0" marL="457200" rtl="0" algn="l">
              <a:spcBef>
                <a:spcPts val="1600"/>
              </a:spcBef>
              <a:spcAft>
                <a:spcPts val="0"/>
              </a:spcAft>
              <a:buSzPts val="1800"/>
              <a:buChar char="●"/>
            </a:pPr>
            <a:r>
              <a:rPr lang="en"/>
              <a:t>STM32 GPIOs are organized by ports (A, B, C, …), not by physical pin numbers</a:t>
            </a:r>
            <a:endParaRPr/>
          </a:p>
          <a:p>
            <a:pPr indent="-342900" lvl="0" marL="457200" rtl="0" algn="l">
              <a:spcBef>
                <a:spcPts val="0"/>
              </a:spcBef>
              <a:spcAft>
                <a:spcPts val="0"/>
              </a:spcAft>
              <a:buSzPts val="1800"/>
              <a:buChar char="●"/>
            </a:pPr>
            <a:r>
              <a:rPr lang="en"/>
              <a:t>Each port is a 16-bit register</a:t>
            </a:r>
            <a:endParaRPr/>
          </a:p>
          <a:p>
            <a:pPr indent="-317500" lvl="1" marL="914400" rtl="0" algn="l">
              <a:spcBef>
                <a:spcPts val="0"/>
              </a:spcBef>
              <a:spcAft>
                <a:spcPts val="0"/>
              </a:spcAft>
              <a:buSzPts val="1400"/>
              <a:buChar char="○"/>
            </a:pPr>
            <a:r>
              <a:rPr lang="en"/>
              <a:t>Each bit controls one pin (HIGH or LOW)</a:t>
            </a:r>
            <a:endParaRPr/>
          </a:p>
          <a:p>
            <a:pPr indent="0" lvl="0" marL="0" rtl="0" algn="l">
              <a:spcBef>
                <a:spcPts val="1600"/>
              </a:spcBef>
              <a:spcAft>
                <a:spcPts val="0"/>
              </a:spcAft>
              <a:buNone/>
            </a:pPr>
            <a:r>
              <a:rPr lang="en"/>
              <a:t>Example:</a:t>
            </a:r>
            <a:endParaRPr/>
          </a:p>
          <a:p>
            <a:pPr indent="-342900" lvl="0" marL="457200" rtl="0" algn="l">
              <a:spcBef>
                <a:spcPts val="1600"/>
              </a:spcBef>
              <a:spcAft>
                <a:spcPts val="0"/>
              </a:spcAft>
              <a:buSzPts val="1800"/>
              <a:buChar char="●"/>
            </a:pPr>
            <a:r>
              <a:rPr lang="en"/>
              <a:t>PA5 = Port A, Bit 5</a:t>
            </a:r>
            <a:endParaRPr/>
          </a:p>
          <a:p>
            <a:pPr indent="-342900" lvl="0" marL="457200" rtl="0" algn="l">
              <a:spcBef>
                <a:spcPts val="0"/>
              </a:spcBef>
              <a:spcAft>
                <a:spcPts val="0"/>
              </a:spcAft>
              <a:buSzPts val="1800"/>
              <a:buChar char="●"/>
            </a:pPr>
            <a:r>
              <a:rPr lang="en"/>
              <a:t>Writing to bit 5 of GPIOA controls PA5</a:t>
            </a:r>
            <a:endParaRPr/>
          </a:p>
          <a:p>
            <a:pPr indent="0" lvl="0" marL="0" rtl="0" algn="l">
              <a:lnSpc>
                <a:spcPct val="115000"/>
              </a:lnSpc>
              <a:spcBef>
                <a:spcPts val="1600"/>
              </a:spcBef>
              <a:spcAft>
                <a:spcPts val="1600"/>
              </a:spcAft>
              <a:buSzPts val="1800"/>
              <a:buNone/>
            </a:pPr>
            <a:r>
              <a:t/>
            </a:r>
            <a:endParaRPr/>
          </a:p>
        </p:txBody>
      </p:sp>
      <p:sp>
        <p:nvSpPr>
          <p:cNvPr id="220" name="Google Shape;220;p2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21" name="Google Shape;221;p26"/>
          <p:cNvSpPr txBox="1"/>
          <p:nvPr/>
        </p:nvSpPr>
        <p:spPr>
          <a:xfrm>
            <a:off x="5446800" y="2788025"/>
            <a:ext cx="3385500" cy="31863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rPr>
              <a:t>Why this matters</a:t>
            </a:r>
            <a:endParaRPr b="1" sz="1800">
              <a:solidFill>
                <a:schemeClr val="dk2"/>
              </a:solidFill>
            </a:endParaRPr>
          </a:p>
          <a:p>
            <a:pPr indent="-342900" lvl="0" marL="457200" rtl="0" algn="l">
              <a:lnSpc>
                <a:spcPct val="115000"/>
              </a:lnSpc>
              <a:spcBef>
                <a:spcPts val="1600"/>
              </a:spcBef>
              <a:spcAft>
                <a:spcPts val="0"/>
              </a:spcAft>
              <a:buClr>
                <a:schemeClr val="dk2"/>
              </a:buClr>
              <a:buSzPts val="1800"/>
              <a:buChar char="●"/>
            </a:pPr>
            <a:r>
              <a:rPr lang="en" sz="1800">
                <a:solidFill>
                  <a:schemeClr val="dk2"/>
                </a:solidFill>
              </a:rPr>
              <a:t>Physical pin numbers depend on the chip package (LQFP, QFN, …)</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Port/bit names stay the same</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STM32 documentation and code always use PA5, PB3, etc.</a:t>
            </a:r>
            <a:endParaRPr sz="1800">
              <a:solidFill>
                <a:schemeClr val="dk2"/>
              </a:solidFill>
            </a:endParaRPr>
          </a:p>
          <a:p>
            <a:pPr indent="0" lvl="0" marL="0" rtl="0" algn="l">
              <a:lnSpc>
                <a:spcPct val="115000"/>
              </a:lnSpc>
              <a:spcBef>
                <a:spcPts val="1600"/>
              </a:spcBef>
              <a:spcAft>
                <a:spcPts val="0"/>
              </a:spcAft>
              <a:buClr>
                <a:schemeClr val="dk1"/>
              </a:buClr>
              <a:buSzPts val="1100"/>
              <a:buFont typeface="Arial"/>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222" name="Google Shape;222;p26" title="Screenshot 2026-01-06 at 11.52.57 AM.png"/>
          <p:cNvPicPr preferRelativeResize="0"/>
          <p:nvPr/>
        </p:nvPicPr>
        <p:blipFill>
          <a:blip r:embed="rId3">
            <a:alphaModFix/>
          </a:blip>
          <a:stretch>
            <a:fillRect/>
          </a:stretch>
        </p:blipFill>
        <p:spPr>
          <a:xfrm>
            <a:off x="311700" y="4099106"/>
            <a:ext cx="4891601" cy="26432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7"/>
          <p:cNvPicPr preferRelativeResize="0"/>
          <p:nvPr/>
        </p:nvPicPr>
        <p:blipFill>
          <a:blip r:embed="rId3">
            <a:alphaModFix/>
          </a:blip>
          <a:stretch>
            <a:fillRect/>
          </a:stretch>
        </p:blipFill>
        <p:spPr>
          <a:xfrm>
            <a:off x="205275" y="774050"/>
            <a:ext cx="8733474" cy="5968274"/>
          </a:xfrm>
          <a:prstGeom prst="rect">
            <a:avLst/>
          </a:prstGeom>
          <a:noFill/>
          <a:ln>
            <a:noFill/>
          </a:ln>
        </p:spPr>
      </p:pic>
      <p:sp>
        <p:nvSpPr>
          <p:cNvPr id="228" name="Google Shape;228;p27"/>
          <p:cNvSpPr txBox="1"/>
          <p:nvPr/>
        </p:nvSpPr>
        <p:spPr>
          <a:xfrm>
            <a:off x="181925" y="3422500"/>
            <a:ext cx="1749600" cy="1314600"/>
          </a:xfrm>
          <a:prstGeom prst="rect">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FF0000"/>
                </a:solidFill>
              </a:rPr>
              <a:t>LED at </a:t>
            </a:r>
            <a:br>
              <a:rPr b="1" i="1" lang="en" sz="1400" u="none" cap="none" strike="noStrike">
                <a:solidFill>
                  <a:srgbClr val="FF0000"/>
                </a:solidFill>
              </a:rPr>
            </a:br>
            <a:r>
              <a:rPr b="1" i="1" lang="en" sz="1400" u="none" cap="none" strike="noStrike">
                <a:solidFill>
                  <a:srgbClr val="FF0000"/>
                </a:solidFill>
              </a:rPr>
              <a:t>header pin D13,</a:t>
            </a:r>
            <a:endParaRPr b="1" i="1" sz="1400" u="none" cap="none" strike="noStrike">
              <a:solidFill>
                <a:srgbClr val="FF0000"/>
              </a:solidFill>
            </a:endParaRPr>
          </a:p>
          <a:p>
            <a:pPr indent="0" lvl="0" marL="0" marR="0" rtl="0" algn="l">
              <a:lnSpc>
                <a:spcPct val="100000"/>
              </a:lnSpc>
              <a:spcBef>
                <a:spcPts val="0"/>
              </a:spcBef>
              <a:spcAft>
                <a:spcPts val="0"/>
              </a:spcAft>
              <a:buClr>
                <a:srgbClr val="000000"/>
              </a:buClr>
              <a:buSzPts val="1400"/>
              <a:buFont typeface="Arial"/>
              <a:buNone/>
            </a:pPr>
            <a:r>
              <a:t/>
            </a:r>
            <a:endParaRPr b="1" i="1">
              <a:solidFill>
                <a:srgbClr val="FF0000"/>
              </a:solidFill>
            </a:endParaRPr>
          </a:p>
          <a:p>
            <a:pPr indent="0" lvl="0" marL="0" marR="0" rtl="0" algn="l">
              <a:lnSpc>
                <a:spcPct val="100000"/>
              </a:lnSpc>
              <a:spcBef>
                <a:spcPts val="0"/>
              </a:spcBef>
              <a:spcAft>
                <a:spcPts val="0"/>
              </a:spcAft>
              <a:buClr>
                <a:srgbClr val="000000"/>
              </a:buClr>
              <a:buSzPts val="1400"/>
              <a:buFont typeface="Arial"/>
              <a:buNone/>
            </a:pPr>
            <a:r>
              <a:rPr b="1" i="1" lang="en">
                <a:solidFill>
                  <a:srgbClr val="FF0000"/>
                </a:solidFill>
              </a:rPr>
              <a:t>STM32C0</a:t>
            </a:r>
            <a:r>
              <a:rPr b="1" i="1" lang="en" sz="1400" u="none" cap="none" strike="noStrike">
                <a:solidFill>
                  <a:srgbClr val="FF0000"/>
                </a:solidFill>
              </a:rPr>
              <a:t> pin 1</a:t>
            </a:r>
            <a:r>
              <a:rPr b="1" i="1" lang="en">
                <a:solidFill>
                  <a:srgbClr val="FF0000"/>
                </a:solidFill>
              </a:rPr>
              <a:t>6,</a:t>
            </a:r>
            <a:endParaRPr b="1" i="1" sz="1400" u="none" cap="none" strike="noStrike">
              <a:solidFill>
                <a:srgbClr val="FF0000"/>
              </a:solidFill>
            </a:endParaRPr>
          </a:p>
          <a:p>
            <a:pPr indent="0" lvl="0" marL="0" marR="0" rtl="0" algn="l">
              <a:lnSpc>
                <a:spcPct val="100000"/>
              </a:lnSpc>
              <a:spcBef>
                <a:spcPts val="0"/>
              </a:spcBef>
              <a:spcAft>
                <a:spcPts val="0"/>
              </a:spcAft>
              <a:buClr>
                <a:srgbClr val="000000"/>
              </a:buClr>
              <a:buSzPts val="1400"/>
              <a:buFont typeface="Arial"/>
              <a:buNone/>
            </a:pPr>
            <a:r>
              <a:rPr b="1" i="1" lang="en" sz="1400" u="none" cap="none" strike="noStrike">
                <a:solidFill>
                  <a:srgbClr val="FF0000"/>
                </a:solidFill>
              </a:rPr>
              <a:t>PA5: Port </a:t>
            </a:r>
            <a:r>
              <a:rPr b="1" i="1" lang="en">
                <a:solidFill>
                  <a:srgbClr val="FF0000"/>
                </a:solidFill>
              </a:rPr>
              <a:t>A</a:t>
            </a:r>
            <a:r>
              <a:rPr b="1" i="1" lang="en" sz="1400" u="none" cap="none" strike="noStrike">
                <a:solidFill>
                  <a:srgbClr val="FF0000"/>
                </a:solidFill>
              </a:rPr>
              <a:t>, bit 5</a:t>
            </a:r>
            <a:endParaRPr b="1" i="1" sz="1400" u="none" cap="none" strike="noStrike">
              <a:solidFill>
                <a:srgbClr val="FF0000"/>
              </a:solidFill>
            </a:endParaRPr>
          </a:p>
        </p:txBody>
      </p:sp>
      <p:sp>
        <p:nvSpPr>
          <p:cNvPr id="229" name="Google Shape;229;p27"/>
          <p:cNvSpPr txBox="1"/>
          <p:nvPr>
            <p:ph type="title"/>
          </p:nvPr>
        </p:nvSpPr>
        <p:spPr>
          <a:xfrm>
            <a:off x="311700" y="232742"/>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What’s where on the Nucleo board?</a:t>
            </a:r>
            <a:endParaRPr/>
          </a:p>
        </p:txBody>
      </p:sp>
      <p:sp>
        <p:nvSpPr>
          <p:cNvPr id="230" name="Google Shape;230;p27"/>
          <p:cNvSpPr txBox="1"/>
          <p:nvPr>
            <p:ph idx="12" type="sldNum"/>
          </p:nvPr>
        </p:nvSpPr>
        <p:spPr>
          <a:xfrm>
            <a:off x="859530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31" name="Google Shape;231;p27"/>
          <p:cNvSpPr/>
          <p:nvPr/>
        </p:nvSpPr>
        <p:spPr>
          <a:xfrm rot="10800000">
            <a:off x="6473625" y="3793025"/>
            <a:ext cx="1336200" cy="223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2" name="Google Shape;232;p27"/>
          <p:cNvCxnSpPr>
            <a:stCxn id="228" idx="3"/>
            <a:endCxn id="231" idx="3"/>
          </p:cNvCxnSpPr>
          <p:nvPr/>
        </p:nvCxnSpPr>
        <p:spPr>
          <a:xfrm flipH="1" rot="10800000">
            <a:off x="1931525" y="3904900"/>
            <a:ext cx="4542000" cy="174900"/>
          </a:xfrm>
          <a:prstGeom prst="straightConnector1">
            <a:avLst/>
          </a:prstGeom>
          <a:noFill/>
          <a:ln cap="flat" cmpd="sng" w="38100">
            <a:solidFill>
              <a:srgbClr val="FF0000"/>
            </a:solidFill>
            <a:prstDash val="solid"/>
            <a:round/>
            <a:headEnd len="sm" w="sm" type="none"/>
            <a:tailEnd len="med" w="med" type="triangle"/>
          </a:ln>
        </p:spPr>
      </p:cxnSp>
      <p:sp>
        <p:nvSpPr>
          <p:cNvPr id="233" name="Google Shape;233;p27"/>
          <p:cNvSpPr txBox="1"/>
          <p:nvPr/>
        </p:nvSpPr>
        <p:spPr>
          <a:xfrm>
            <a:off x="6473625" y="996246"/>
            <a:ext cx="753600" cy="284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rgbClr val="4A86E8"/>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Nucleo Digital I/O</a:t>
            </a:r>
            <a:endParaRPr/>
          </a:p>
        </p:txBody>
      </p:sp>
      <p:sp>
        <p:nvSpPr>
          <p:cNvPr id="239" name="Google Shape;239;p28"/>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The </a:t>
            </a:r>
            <a:r>
              <a:rPr lang="en"/>
              <a:t>STM32C031C6</a:t>
            </a:r>
            <a:r>
              <a:rPr lang="en"/>
              <a:t> microcontroller (MCU) has 48 pins.</a:t>
            </a:r>
            <a:endParaRPr/>
          </a:p>
          <a:p>
            <a:pPr indent="-342900" lvl="0" marL="457200" rtl="0" algn="l">
              <a:spcBef>
                <a:spcPts val="0"/>
              </a:spcBef>
              <a:spcAft>
                <a:spcPts val="0"/>
              </a:spcAft>
              <a:buSzPts val="1800"/>
              <a:buChar char="●"/>
            </a:pPr>
            <a:r>
              <a:rPr lang="en"/>
              <a:t>Of these, </a:t>
            </a:r>
            <a:r>
              <a:rPr lang="en"/>
              <a:t>45 pins that can be connected to other devices (LEDs, buttons, motors, etc).</a:t>
            </a:r>
            <a:endParaRPr/>
          </a:p>
          <a:p>
            <a:pPr indent="-342900" lvl="0" marL="457200" rtl="0" algn="l">
              <a:lnSpc>
                <a:spcPct val="115000"/>
              </a:lnSpc>
              <a:spcBef>
                <a:spcPts val="0"/>
              </a:spcBef>
              <a:spcAft>
                <a:spcPts val="0"/>
              </a:spcAft>
              <a:buSzPts val="1800"/>
              <a:buChar char="●"/>
            </a:pPr>
            <a:r>
              <a:rPr b="1" lang="en"/>
              <a:t>O</a:t>
            </a:r>
            <a:r>
              <a:rPr b="1" lang="en"/>
              <a:t>nly 22</a:t>
            </a:r>
            <a:r>
              <a:rPr lang="en"/>
              <a:t> of these lines are programmable on the Arduino header pins.</a:t>
            </a:r>
            <a:br>
              <a:rPr lang="en"/>
            </a:br>
            <a:r>
              <a:rPr lang="en"/>
              <a:t>(11 on port A, 10 on port B, 1 on port C).</a:t>
            </a:r>
            <a:endParaRPr/>
          </a:p>
          <a:p>
            <a:pPr indent="-342900" lvl="0" marL="457200" rtl="0" algn="l">
              <a:lnSpc>
                <a:spcPct val="115000"/>
              </a:lnSpc>
              <a:spcBef>
                <a:spcPts val="0"/>
              </a:spcBef>
              <a:spcAft>
                <a:spcPts val="0"/>
              </a:spcAft>
              <a:buSzPts val="1800"/>
              <a:buChar char="●"/>
            </a:pPr>
            <a:r>
              <a:rPr lang="en"/>
              <a:t>All of the I/O pins are wired to the ST Morpho headers adjacent to the Arduino header (but we won't be using these).</a:t>
            </a:r>
            <a:r>
              <a:rPr lang="en"/>
              <a:t> </a:t>
            </a:r>
            <a:endParaRPr/>
          </a:p>
          <a:p>
            <a:pPr indent="-342900" lvl="0" marL="457200" rtl="0" algn="l">
              <a:lnSpc>
                <a:spcPct val="115000"/>
              </a:lnSpc>
              <a:spcBef>
                <a:spcPts val="0"/>
              </a:spcBef>
              <a:spcAft>
                <a:spcPts val="0"/>
              </a:spcAft>
              <a:buSzPts val="1800"/>
              <a:buChar char="●"/>
            </a:pPr>
            <a:r>
              <a:rPr lang="en"/>
              <a:t>We'll only use the I/O pins on the Arduino headers. BUT: we won't be programming in the Arduino language, so we won't be using the Arduino pin numbers in programming.</a:t>
            </a:r>
            <a:endParaRPr/>
          </a:p>
          <a:p>
            <a:pPr indent="-342900" lvl="0" marL="457200" rtl="0" algn="l">
              <a:lnSpc>
                <a:spcPct val="115000"/>
              </a:lnSpc>
              <a:spcBef>
                <a:spcPts val="0"/>
              </a:spcBef>
              <a:spcAft>
                <a:spcPts val="0"/>
              </a:spcAft>
              <a:buSzPts val="1800"/>
              <a:buChar char="●"/>
            </a:pPr>
            <a:r>
              <a:rPr lang="en"/>
              <a:t>Rather, we'll address pins via their port (letter A, B, C) and bit number within that port (between 0 and 15).</a:t>
            </a:r>
            <a:endParaRPr/>
          </a:p>
        </p:txBody>
      </p:sp>
      <p:sp>
        <p:nvSpPr>
          <p:cNvPr id="240" name="Google Shape;240;p2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txBox="1"/>
          <p:nvPr>
            <p:ph type="title"/>
          </p:nvPr>
        </p:nvSpPr>
        <p:spPr>
          <a:xfrm>
            <a:off x="311700" y="965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a:t>
            </a:r>
            <a:r>
              <a:rPr lang="en"/>
              <a:t> is "Arduino"?</a:t>
            </a:r>
            <a:endParaRPr/>
          </a:p>
        </p:txBody>
      </p:sp>
      <p:sp>
        <p:nvSpPr>
          <p:cNvPr id="246" name="Google Shape;246;p29"/>
          <p:cNvSpPr txBox="1"/>
          <p:nvPr>
            <p:ph idx="1" type="body"/>
          </p:nvPr>
        </p:nvSpPr>
        <p:spPr>
          <a:xfrm>
            <a:off x="311700" y="708329"/>
            <a:ext cx="8520600" cy="2433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Arduino is an Italian company.</a:t>
            </a:r>
            <a:endParaRPr/>
          </a:p>
          <a:p>
            <a:pPr indent="-342900" lvl="0" marL="457200" rtl="0" algn="l">
              <a:spcBef>
                <a:spcPts val="0"/>
              </a:spcBef>
              <a:spcAft>
                <a:spcPts val="0"/>
              </a:spcAft>
              <a:buSzPts val="1800"/>
              <a:buChar char="●"/>
            </a:pPr>
            <a:r>
              <a:rPr lang="en"/>
              <a:t>Arduino makes numerous low-cost boards with different processors, dimensions, input/output pins, and other features (including wireless), but a common programming model and development environment.  </a:t>
            </a:r>
            <a:endParaRPr/>
          </a:p>
          <a:p>
            <a:pPr indent="-342900" lvl="0" marL="457200" rtl="0" algn="l">
              <a:spcBef>
                <a:spcPts val="0"/>
              </a:spcBef>
              <a:spcAft>
                <a:spcPts val="0"/>
              </a:spcAft>
              <a:buSzPts val="1800"/>
              <a:buChar char="●"/>
            </a:pPr>
            <a:r>
              <a:rPr lang="en"/>
              <a:t>Hardware and software are open source, huge user community.  Other companies make Arduino-compatible boards.</a:t>
            </a:r>
            <a:endParaRPr/>
          </a:p>
          <a:p>
            <a:pPr indent="-342900" lvl="0" marL="457200" rtl="0" algn="l">
              <a:spcBef>
                <a:spcPts val="0"/>
              </a:spcBef>
              <a:spcAft>
                <a:spcPts val="0"/>
              </a:spcAft>
              <a:buSzPts val="1800"/>
              <a:buChar char="●"/>
            </a:pPr>
            <a:r>
              <a:rPr lang="en"/>
              <a:t>The Arduino headers on our Nucleo board are Arduino-compatible.</a:t>
            </a:r>
            <a:endParaRPr/>
          </a:p>
          <a:p>
            <a:pPr indent="0" lvl="0" marL="0" rtl="0" algn="l">
              <a:spcBef>
                <a:spcPts val="0"/>
              </a:spcBef>
              <a:spcAft>
                <a:spcPts val="0"/>
              </a:spcAft>
              <a:buNone/>
            </a:pPr>
            <a:r>
              <a:t/>
            </a:r>
            <a:endParaRPr/>
          </a:p>
        </p:txBody>
      </p:sp>
      <p:sp>
        <p:nvSpPr>
          <p:cNvPr id="247" name="Google Shape;247;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48" name="Google Shape;248;p29"/>
          <p:cNvPicPr preferRelativeResize="0"/>
          <p:nvPr/>
        </p:nvPicPr>
        <p:blipFill>
          <a:blip r:embed="rId3">
            <a:alphaModFix/>
          </a:blip>
          <a:stretch>
            <a:fillRect/>
          </a:stretch>
        </p:blipFill>
        <p:spPr>
          <a:xfrm>
            <a:off x="1094713" y="3141577"/>
            <a:ext cx="6651023" cy="3600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0"/>
          <p:cNvSpPr txBox="1"/>
          <p:nvPr>
            <p:ph type="title"/>
          </p:nvPr>
        </p:nvSpPr>
        <p:spPr>
          <a:xfrm>
            <a:off x="311700" y="37251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Software:  What steps are required to blink the LED?</a:t>
            </a:r>
            <a:endParaRPr/>
          </a:p>
        </p:txBody>
      </p:sp>
      <p:sp>
        <p:nvSpPr>
          <p:cNvPr id="254" name="Google Shape;254;p30"/>
          <p:cNvSpPr txBox="1"/>
          <p:nvPr>
            <p:ph idx="1" type="body"/>
          </p:nvPr>
        </p:nvSpPr>
        <p:spPr>
          <a:xfrm>
            <a:off x="311700" y="1205383"/>
            <a:ext cx="8520600" cy="45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Recall: on-board LED is connected to bit 5 of port A.</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AutoNum type="arabicPeriod"/>
            </a:pPr>
            <a:r>
              <a:rPr lang="en"/>
              <a:t>Enable the clock for the GPIO port A.</a:t>
            </a:r>
            <a:endParaRPr/>
          </a:p>
          <a:p>
            <a:pPr indent="-342900" lvl="0" marL="457200" rtl="0" algn="l">
              <a:lnSpc>
                <a:spcPct val="115000"/>
              </a:lnSpc>
              <a:spcBef>
                <a:spcPts val="0"/>
              </a:spcBef>
              <a:spcAft>
                <a:spcPts val="0"/>
              </a:spcAft>
              <a:buSzPts val="1800"/>
              <a:buAutoNum type="arabicPeriod"/>
            </a:pPr>
            <a:r>
              <a:rPr lang="en"/>
              <a:t>Program pin 5 of port A to be an OUTput (to drive something on the board) versus INput (to detect a signal coming from the board).</a:t>
            </a:r>
            <a:endParaRPr/>
          </a:p>
          <a:p>
            <a:pPr indent="-342900" lvl="0" marL="457200" rtl="0" algn="l">
              <a:lnSpc>
                <a:spcPct val="115000"/>
              </a:lnSpc>
              <a:spcBef>
                <a:spcPts val="0"/>
              </a:spcBef>
              <a:spcAft>
                <a:spcPts val="0"/>
              </a:spcAft>
              <a:buSzPts val="1800"/>
              <a:buAutoNum type="arabicPeriod"/>
            </a:pPr>
            <a:r>
              <a:rPr lang="en"/>
              <a:t>Write a ‘1’ to the pin (“set”) to drive its voltage HIGH (turn the LED on).</a:t>
            </a:r>
            <a:endParaRPr/>
          </a:p>
          <a:p>
            <a:pPr indent="-342900" lvl="0" marL="457200" rtl="0" algn="l">
              <a:lnSpc>
                <a:spcPct val="115000"/>
              </a:lnSpc>
              <a:spcBef>
                <a:spcPts val="0"/>
              </a:spcBef>
              <a:spcAft>
                <a:spcPts val="0"/>
              </a:spcAft>
              <a:buSzPts val="1800"/>
              <a:buAutoNum type="arabicPeriod"/>
            </a:pPr>
            <a:r>
              <a:rPr lang="en"/>
              <a:t>Write a ‘0’ to the pin (“clear”) to drive its voltage LOW (turn the LED off).</a:t>
            </a:r>
            <a:endParaRPr/>
          </a:p>
          <a:p>
            <a:pPr indent="0" lvl="0" marL="45720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Each pin of port A is addressed as one bit in a 16-bit number:</a:t>
            </a:r>
            <a:endParaRPr/>
          </a:p>
        </p:txBody>
      </p:sp>
      <p:sp>
        <p:nvSpPr>
          <p:cNvPr id="255" name="Google Shape;255;p3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graphicFrame>
        <p:nvGraphicFramePr>
          <p:cNvPr id="256" name="Google Shape;256;p30"/>
          <p:cNvGraphicFramePr/>
          <p:nvPr/>
        </p:nvGraphicFramePr>
        <p:xfrm>
          <a:off x="311700" y="5254833"/>
          <a:ext cx="3000000" cy="3000000"/>
        </p:xfrm>
        <a:graphic>
          <a:graphicData uri="http://schemas.openxmlformats.org/drawingml/2006/table">
            <a:tbl>
              <a:tblPr>
                <a:noFill/>
                <a:tableStyleId>{F408A230-F3E5-4931-8A8E-7B242848911A}</a:tableStyleId>
              </a:tblPr>
              <a:tblGrid>
                <a:gridCol w="710050"/>
                <a:gridCol w="710050"/>
                <a:gridCol w="71005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600"/>
                        <a:t>Bit 15</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Bit 14</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Bit 8</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7</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6</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5</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4</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3</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2</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1</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0 </a:t>
                      </a:r>
                      <a:endParaRPr sz="1600" u="none" cap="none" strike="noStrike"/>
                    </a:p>
                  </a:txBody>
                  <a:tcPr marT="121900" marB="121900" marR="91425" marL="91425"/>
                </a:tc>
              </a:tr>
            </a:tbl>
          </a:graphicData>
        </a:graphic>
      </p:graphicFrame>
      <p:pic>
        <p:nvPicPr>
          <p:cNvPr id="257" name="Google Shape;257;p30"/>
          <p:cNvPicPr preferRelativeResize="0"/>
          <p:nvPr/>
        </p:nvPicPr>
        <p:blipFill rotWithShape="1">
          <a:blip r:embed="rId3">
            <a:alphaModFix/>
          </a:blip>
          <a:srcRect b="0" l="32858" r="51476" t="0"/>
          <a:stretch/>
        </p:blipFill>
        <p:spPr>
          <a:xfrm>
            <a:off x="4788325" y="4197475"/>
            <a:ext cx="248800" cy="1207100"/>
          </a:xfrm>
          <a:prstGeom prst="rect">
            <a:avLst/>
          </a:prstGeom>
          <a:noFill/>
          <a:ln>
            <a:noFill/>
          </a:ln>
        </p:spPr>
      </p:pic>
      <p:sp>
        <p:nvSpPr>
          <p:cNvPr id="258" name="Google Shape;258;p30"/>
          <p:cNvSpPr txBox="1"/>
          <p:nvPr/>
        </p:nvSpPr>
        <p:spPr>
          <a:xfrm>
            <a:off x="5926150" y="1281100"/>
            <a:ext cx="2128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General Purpose Input/Output</a:t>
            </a:r>
            <a:endParaRPr sz="1800">
              <a:solidFill>
                <a:srgbClr val="0000FF"/>
              </a:solidFill>
            </a:endParaRPr>
          </a:p>
        </p:txBody>
      </p:sp>
      <p:cxnSp>
        <p:nvCxnSpPr>
          <p:cNvPr id="259" name="Google Shape;259;p30"/>
          <p:cNvCxnSpPr>
            <a:stCxn id="258" idx="1"/>
            <a:endCxn id="260" idx="0"/>
          </p:cNvCxnSpPr>
          <p:nvPr/>
        </p:nvCxnSpPr>
        <p:spPr>
          <a:xfrm flipH="1">
            <a:off x="3600550" y="1650550"/>
            <a:ext cx="2325600" cy="248700"/>
          </a:xfrm>
          <a:prstGeom prst="straightConnector1">
            <a:avLst/>
          </a:prstGeom>
          <a:noFill/>
          <a:ln cap="flat" cmpd="sng" w="28575">
            <a:solidFill>
              <a:srgbClr val="0000FF"/>
            </a:solidFill>
            <a:prstDash val="solid"/>
            <a:round/>
            <a:headEnd len="med" w="med" type="none"/>
            <a:tailEnd len="med" w="med" type="triangle"/>
          </a:ln>
        </p:spPr>
      </p:cxnSp>
      <p:sp>
        <p:nvSpPr>
          <p:cNvPr id="260" name="Google Shape;260;p30"/>
          <p:cNvSpPr/>
          <p:nvPr/>
        </p:nvSpPr>
        <p:spPr>
          <a:xfrm>
            <a:off x="3283925" y="1899150"/>
            <a:ext cx="633000" cy="3033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311700" y="270883"/>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Source code: blinky.c</a:t>
            </a:r>
            <a:endParaRPr/>
          </a:p>
        </p:txBody>
      </p:sp>
      <p:sp>
        <p:nvSpPr>
          <p:cNvPr id="266" name="Google Shape;266;p31"/>
          <p:cNvSpPr txBox="1"/>
          <p:nvPr>
            <p:ph idx="1" type="body"/>
          </p:nvPr>
        </p:nvSpPr>
        <p:spPr>
          <a:xfrm>
            <a:off x="311700" y="1034375"/>
            <a:ext cx="8520600" cy="54189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#include "stm32C0xx.h"</a:t>
            </a:r>
            <a:r>
              <a:rPr lang="en" sz="1400">
                <a:latin typeface="Courier New"/>
                <a:ea typeface="Courier New"/>
                <a:cs typeface="Courier New"/>
                <a:sym typeface="Courier New"/>
              </a:rPr>
              <a:t>			// All the port definitions are here</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Bit 0 of RCC_IOPENR enables clock for GPIOA</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#define GPIOAEN		(1U&lt;&lt;0)</a:t>
            </a:r>
            <a:r>
              <a:rPr lang="en" sz="1400">
                <a:latin typeface="Courier New"/>
                <a:ea typeface="Courier New"/>
                <a:cs typeface="Courier New"/>
                <a:sym typeface="Courier New"/>
              </a:rPr>
              <a:t>		// 0b 0000 … 0000 0001 (32-bit)</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Bit 5 of Port A is wired to the LED</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#define LED_PIN		(1U&lt;&lt;5)</a:t>
            </a:r>
            <a:r>
              <a:rPr lang="en" sz="1400">
                <a:latin typeface="Courier New"/>
                <a:ea typeface="Courier New"/>
                <a:cs typeface="Courier New"/>
                <a:sym typeface="Courier New"/>
              </a:rPr>
              <a:t>		// 0b 0000 … 0001 0000</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int main(void)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RCC-&gt;IOPENR |= GPIOAEN;		</a:t>
            </a:r>
            <a:r>
              <a:rPr lang="en" sz="1400">
                <a:solidFill>
                  <a:srgbClr val="FF0000"/>
                </a:solidFill>
                <a:latin typeface="Courier New"/>
                <a:ea typeface="Courier New"/>
                <a:cs typeface="Courier New"/>
                <a:sym typeface="Courier New"/>
              </a:rPr>
              <a:t>// 1. Enable clock access to GPIOA</a:t>
            </a:r>
            <a:endParaRPr sz="1400">
              <a:solidFill>
                <a:srgbClr val="FF0000"/>
              </a:solidFill>
              <a:latin typeface="Courier New"/>
              <a:ea typeface="Courier New"/>
              <a:cs typeface="Courier New"/>
              <a:sym typeface="Courier New"/>
            </a:endParaRPr>
          </a:p>
          <a:p>
            <a:pPr indent="0" lvl="0" marL="0" rtl="0" algn="l">
              <a:lnSpc>
                <a:spcPct val="100000"/>
              </a:lnSpc>
              <a:spcBef>
                <a:spcPts val="0"/>
              </a:spcBef>
              <a:spcAft>
                <a:spcPts val="0"/>
              </a:spcAft>
              <a:buSzPts val="1100"/>
              <a:buNone/>
            </a:pPr>
            <a:r>
              <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GPIOA-&gt;MODER |= (1U&lt;&lt;10);		</a:t>
            </a:r>
            <a:r>
              <a:rPr lang="en" sz="1400">
                <a:solidFill>
                  <a:srgbClr val="FF0000"/>
                </a:solidFill>
                <a:latin typeface="Courier New"/>
                <a:ea typeface="Courier New"/>
                <a:cs typeface="Courier New"/>
                <a:sym typeface="Courier New"/>
              </a:rPr>
              <a:t>// 2. Configure PA5 (Port A, bit 5)</a:t>
            </a:r>
            <a:r>
              <a:rPr b="1" lang="en" sz="1400">
                <a:solidFill>
                  <a:srgbClr val="FF0000"/>
                </a:solidFill>
                <a:latin typeface="Courier New"/>
                <a:ea typeface="Courier New"/>
                <a:cs typeface="Courier New"/>
                <a:sym typeface="Courier New"/>
              </a:rPr>
              <a:t> </a:t>
            </a:r>
            <a:endParaRPr b="1"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solidFill>
                  <a:srgbClr val="FF0000"/>
                </a:solidFill>
                <a:latin typeface="Courier New"/>
                <a:ea typeface="Courier New"/>
                <a:cs typeface="Courier New"/>
                <a:sym typeface="Courier New"/>
              </a:rPr>
              <a:t>	GPIOA-&gt;MODER &amp;= ~(1U&lt;&lt;11);	</a:t>
            </a:r>
            <a:r>
              <a:rPr lang="en" sz="1400">
                <a:solidFill>
                  <a:srgbClr val="FF0000"/>
                </a:solidFill>
                <a:latin typeface="Courier New"/>
                <a:ea typeface="Courier New"/>
                <a:cs typeface="Courier New"/>
                <a:sym typeface="Courier New"/>
              </a:rPr>
              <a:t>//    as output pin</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while(1)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GPIOA-&gt;ODR |= LED_PIN;	</a:t>
            </a:r>
            <a:r>
              <a:rPr lang="en" sz="1400">
                <a:solidFill>
                  <a:srgbClr val="FF0000"/>
                </a:solidFill>
                <a:latin typeface="Courier New"/>
                <a:ea typeface="Courier New"/>
                <a:cs typeface="Courier New"/>
                <a:sym typeface="Courier New"/>
              </a:rPr>
              <a:t>// 3. Set bit 5 to turn LED on</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 (int i=0; i&lt;100000;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endParaRPr sz="1400">
              <a:latin typeface="Courier New"/>
              <a:ea typeface="Courier New"/>
              <a:cs typeface="Courier New"/>
              <a:sym typeface="Courier New"/>
            </a:endParaRPr>
          </a:p>
          <a:p>
            <a:pPr indent="45720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GPIOA-&gt;ODR &amp;= ~LED_PIN;	</a:t>
            </a:r>
            <a:r>
              <a:rPr lang="en" sz="1400">
                <a:solidFill>
                  <a:srgbClr val="FF0000"/>
                </a:solidFill>
                <a:latin typeface="Courier New"/>
                <a:ea typeface="Courier New"/>
                <a:cs typeface="Courier New"/>
                <a:sym typeface="Courier New"/>
              </a:rPr>
              <a:t>// 4. Clear bit 5 to turn LED off</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for(int i = 0; i&lt;</a:t>
            </a:r>
            <a:r>
              <a:rPr b="1" lang="en" sz="1400">
                <a:latin typeface="Courier New"/>
                <a:ea typeface="Courier New"/>
                <a:cs typeface="Courier New"/>
                <a:sym typeface="Courier New"/>
              </a:rPr>
              <a:t>100000</a:t>
            </a:r>
            <a:r>
              <a:rPr b="1" lang="en" sz="1400">
                <a:latin typeface="Courier New"/>
                <a:ea typeface="Courier New"/>
                <a:cs typeface="Courier New"/>
                <a:sym typeface="Courier New"/>
              </a:rPr>
              <a:t>;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	return 0;					</a:t>
            </a:r>
            <a:r>
              <a:rPr lang="en" sz="1400">
                <a:latin typeface="Courier New"/>
                <a:ea typeface="Courier New"/>
                <a:cs typeface="Courier New"/>
                <a:sym typeface="Courier New"/>
              </a:rPr>
              <a:t>// never reached</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1600"/>
              </a:spcAft>
              <a:buSzPts val="1800"/>
              <a:buNone/>
            </a:pPr>
            <a:r>
              <a:t/>
            </a:r>
            <a:endParaRPr sz="1400">
              <a:latin typeface="Courier New"/>
              <a:ea typeface="Courier New"/>
              <a:cs typeface="Courier New"/>
              <a:sym typeface="Courier New"/>
            </a:endParaRPr>
          </a:p>
        </p:txBody>
      </p:sp>
      <p:sp>
        <p:nvSpPr>
          <p:cNvPr id="267" name="Google Shape;267;p3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68" name="Google Shape;268;p31"/>
          <p:cNvSpPr txBox="1"/>
          <p:nvPr/>
        </p:nvSpPr>
        <p:spPr>
          <a:xfrm>
            <a:off x="4227150" y="123650"/>
            <a:ext cx="4794000" cy="5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The four steps are shown in </a:t>
            </a:r>
            <a:r>
              <a:rPr lang="en" sz="1800">
                <a:solidFill>
                  <a:srgbClr val="FF0000"/>
                </a:solidFill>
              </a:rPr>
              <a:t>red</a:t>
            </a:r>
            <a:r>
              <a:rPr lang="en" sz="1800"/>
              <a:t>. </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2"/>
          <p:cNvSpPr txBox="1"/>
          <p:nvPr>
            <p:ph idx="1" type="body"/>
          </p:nvPr>
        </p:nvSpPr>
        <p:spPr>
          <a:xfrm>
            <a:off x="311700" y="887825"/>
            <a:ext cx="8520600" cy="2723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GPIOA-&gt;ODR</a:t>
            </a:r>
            <a:r>
              <a:rPr lang="en"/>
              <a:t> = "Output Data Register for GPIO Port A" is a 16-bit register: one bit for each pin to determine whether it's high (1) or low (0).</a:t>
            </a:r>
            <a:br>
              <a:rPr lang="en"/>
            </a:br>
            <a:endParaRPr/>
          </a:p>
          <a:p>
            <a:pPr indent="-342900" lvl="0" marL="457200" rtl="0" algn="l">
              <a:lnSpc>
                <a:spcPct val="115000"/>
              </a:lnSpc>
              <a:spcBef>
                <a:spcPts val="0"/>
              </a:spcBef>
              <a:spcAft>
                <a:spcPts val="0"/>
              </a:spcAft>
              <a:buSzPts val="1800"/>
              <a:buChar char="●"/>
            </a:pPr>
            <a:r>
              <a:rPr lang="en"/>
              <a:t>(1U&lt;&lt;5) = 0b 0000 0000 0000 0000 0000 0000 0010 0000</a:t>
            </a:r>
            <a:endParaRPr/>
          </a:p>
          <a:p>
            <a:pPr indent="0" lvl="0" marL="0" rtl="0" algn="l">
              <a:lnSpc>
                <a:spcPct val="115000"/>
              </a:lnSpc>
              <a:spcBef>
                <a:spcPts val="1600"/>
              </a:spcBef>
              <a:spcAft>
                <a:spcPts val="0"/>
              </a:spcAft>
              <a:buSzPts val="1800"/>
              <a:buNone/>
            </a:pPr>
            <a:r>
              <a:rPr lang="en"/>
              <a:t>GPIOA-&gt;ODR:</a:t>
            </a:r>
            <a:endParaRPr/>
          </a:p>
        </p:txBody>
      </p:sp>
      <p:sp>
        <p:nvSpPr>
          <p:cNvPr id="274" name="Google Shape;274;p32"/>
          <p:cNvSpPr txBox="1"/>
          <p:nvPr>
            <p:ph type="title"/>
          </p:nvPr>
        </p:nvSpPr>
        <p:spPr>
          <a:xfrm>
            <a:off x="570575" y="130975"/>
            <a:ext cx="8573400" cy="6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2400">
                <a:solidFill>
                  <a:srgbClr val="FF0000"/>
                </a:solidFill>
              </a:rPr>
              <a:t>GPIOA-&gt;ODR |= (1U&lt;&lt;5);</a:t>
            </a:r>
            <a:endParaRPr sz="2400">
              <a:solidFill>
                <a:srgbClr val="FF0000"/>
              </a:solidFill>
            </a:endParaRPr>
          </a:p>
        </p:txBody>
      </p:sp>
      <p:sp>
        <p:nvSpPr>
          <p:cNvPr id="275" name="Google Shape;275;p3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graphicFrame>
        <p:nvGraphicFramePr>
          <p:cNvPr id="276" name="Google Shape;276;p32"/>
          <p:cNvGraphicFramePr/>
          <p:nvPr/>
        </p:nvGraphicFramePr>
        <p:xfrm>
          <a:off x="311700" y="3627670"/>
          <a:ext cx="3000000" cy="3000000"/>
        </p:xfrm>
        <a:graphic>
          <a:graphicData uri="http://schemas.openxmlformats.org/drawingml/2006/table">
            <a:tbl>
              <a:tblPr>
                <a:noFill/>
                <a:tableStyleId>{F408A230-F3E5-4931-8A8E-7B242848911A}</a:tableStyleId>
              </a:tblPr>
              <a:tblGrid>
                <a:gridCol w="710050"/>
                <a:gridCol w="710050"/>
                <a:gridCol w="71005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600"/>
                        <a:t>Bit 15</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Bit 14</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Bit 8</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a:t>
                      </a:r>
                      <a:r>
                        <a:rPr lang="en" sz="1600"/>
                        <a:t>7</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a:t>
                      </a:r>
                      <a:r>
                        <a:rPr lang="en" sz="1600"/>
                        <a:t>6</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a:t>
                      </a:r>
                      <a:r>
                        <a:rPr lang="en" sz="1600"/>
                        <a:t>5</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a:t>
                      </a:r>
                      <a:r>
                        <a:rPr lang="en" sz="1600"/>
                        <a:t>4</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a:t>Bit 3</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2</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1</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0 </a:t>
                      </a:r>
                      <a:endParaRPr sz="1600" u="none" cap="none" strike="noStrike"/>
                    </a:p>
                  </a:txBody>
                  <a:tcPr marT="121900" marB="121900" marR="91425" marL="91425"/>
                </a:tc>
              </a:tr>
            </a:tbl>
          </a:graphicData>
        </a:graphic>
      </p:graphicFrame>
      <p:sp>
        <p:nvSpPr>
          <p:cNvPr id="277" name="Google Shape;277;p32"/>
          <p:cNvSpPr txBox="1"/>
          <p:nvPr/>
        </p:nvSpPr>
        <p:spPr>
          <a:xfrm>
            <a:off x="7042050" y="1564900"/>
            <a:ext cx="82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bit 5</a:t>
            </a:r>
            <a:endParaRPr sz="1800">
              <a:solidFill>
                <a:srgbClr val="0000FF"/>
              </a:solidFill>
            </a:endParaRPr>
          </a:p>
        </p:txBody>
      </p:sp>
      <p:cxnSp>
        <p:nvCxnSpPr>
          <p:cNvPr id="278" name="Google Shape;278;p32"/>
          <p:cNvCxnSpPr>
            <a:stCxn id="277" idx="1"/>
          </p:cNvCxnSpPr>
          <p:nvPr/>
        </p:nvCxnSpPr>
        <p:spPr>
          <a:xfrm flipH="1">
            <a:off x="6063750" y="1795750"/>
            <a:ext cx="978300" cy="117300"/>
          </a:xfrm>
          <a:prstGeom prst="straightConnector1">
            <a:avLst/>
          </a:prstGeom>
          <a:noFill/>
          <a:ln cap="flat" cmpd="sng" w="28575">
            <a:solidFill>
              <a:srgbClr val="0000FF"/>
            </a:solidFill>
            <a:prstDash val="solid"/>
            <a:round/>
            <a:headEnd len="med" w="med" type="none"/>
            <a:tailEnd len="med" w="med" type="triangle"/>
          </a:ln>
        </p:spPr>
      </p:cxnSp>
      <p:sp>
        <p:nvSpPr>
          <p:cNvPr id="279" name="Google Shape;279;p32"/>
          <p:cNvSpPr/>
          <p:nvPr/>
        </p:nvSpPr>
        <p:spPr>
          <a:xfrm>
            <a:off x="4622538" y="3631250"/>
            <a:ext cx="623400" cy="461700"/>
          </a:xfrm>
          <a:prstGeom prst="ellipse">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32"/>
          <p:cNvSpPr/>
          <p:nvPr/>
        </p:nvSpPr>
        <p:spPr>
          <a:xfrm>
            <a:off x="8211100" y="3631250"/>
            <a:ext cx="548700" cy="461700"/>
          </a:xfrm>
          <a:prstGeom prst="ellipse">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32"/>
          <p:cNvSpPr/>
          <p:nvPr/>
        </p:nvSpPr>
        <p:spPr>
          <a:xfrm>
            <a:off x="311700" y="3631250"/>
            <a:ext cx="623400" cy="461700"/>
          </a:xfrm>
          <a:prstGeom prst="ellipse">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32"/>
          <p:cNvSpPr txBox="1"/>
          <p:nvPr/>
        </p:nvSpPr>
        <p:spPr>
          <a:xfrm>
            <a:off x="4444738" y="2706075"/>
            <a:ext cx="1063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data for pin 5</a:t>
            </a:r>
            <a:endParaRPr sz="1800">
              <a:solidFill>
                <a:srgbClr val="38761D"/>
              </a:solidFill>
            </a:endParaRPr>
          </a:p>
        </p:txBody>
      </p:sp>
      <p:sp>
        <p:nvSpPr>
          <p:cNvPr id="283" name="Google Shape;283;p32"/>
          <p:cNvSpPr txBox="1"/>
          <p:nvPr/>
        </p:nvSpPr>
        <p:spPr>
          <a:xfrm>
            <a:off x="7953550" y="2763525"/>
            <a:ext cx="1063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data for </a:t>
            </a:r>
            <a:r>
              <a:rPr lang="en" sz="1800">
                <a:solidFill>
                  <a:srgbClr val="38761D"/>
                </a:solidFill>
              </a:rPr>
              <a:t>pin 0</a:t>
            </a:r>
            <a:endParaRPr sz="1800">
              <a:solidFill>
                <a:srgbClr val="38761D"/>
              </a:solidFill>
            </a:endParaRPr>
          </a:p>
        </p:txBody>
      </p:sp>
      <p:sp>
        <p:nvSpPr>
          <p:cNvPr id="284" name="Google Shape;284;p32"/>
          <p:cNvSpPr txBox="1"/>
          <p:nvPr/>
        </p:nvSpPr>
        <p:spPr>
          <a:xfrm>
            <a:off x="205600" y="2763525"/>
            <a:ext cx="97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data for</a:t>
            </a:r>
            <a:r>
              <a:rPr lang="en" sz="1800">
                <a:solidFill>
                  <a:srgbClr val="38761D"/>
                </a:solidFill>
              </a:rPr>
              <a:t> pin 15</a:t>
            </a:r>
            <a:endParaRPr sz="1800">
              <a:solidFill>
                <a:srgbClr val="38761D"/>
              </a:solidFill>
            </a:endParaRPr>
          </a:p>
        </p:txBody>
      </p:sp>
      <p:sp>
        <p:nvSpPr>
          <p:cNvPr id="285" name="Google Shape;285;p32"/>
          <p:cNvSpPr txBox="1"/>
          <p:nvPr>
            <p:ph idx="1" type="body"/>
          </p:nvPr>
        </p:nvSpPr>
        <p:spPr>
          <a:xfrm>
            <a:off x="311700" y="4475353"/>
            <a:ext cx="8520600" cy="700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In order to turn our LED on we need to write a '1' to bit 5 of GPIO-&gt;ODR.</a:t>
            </a:r>
            <a:endParaRPr/>
          </a:p>
        </p:txBody>
      </p:sp>
      <p:graphicFrame>
        <p:nvGraphicFramePr>
          <p:cNvPr id="286" name="Google Shape;286;p32"/>
          <p:cNvGraphicFramePr/>
          <p:nvPr/>
        </p:nvGraphicFramePr>
        <p:xfrm>
          <a:off x="311700" y="5239995"/>
          <a:ext cx="3000000" cy="3000000"/>
        </p:xfrm>
        <a:graphic>
          <a:graphicData uri="http://schemas.openxmlformats.org/drawingml/2006/table">
            <a:tbl>
              <a:tblPr>
                <a:noFill/>
                <a:tableStyleId>{F408A230-F3E5-4931-8A8E-7B242848911A}</a:tableStyleId>
              </a:tblPr>
              <a:tblGrid>
                <a:gridCol w="710050"/>
                <a:gridCol w="710050"/>
                <a:gridCol w="71005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000"/>
                        <a:t>Bit 15</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14</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8</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000" u="none" cap="none" strike="noStrike"/>
                        <a:t>Bit </a:t>
                      </a:r>
                      <a:r>
                        <a:rPr lang="en" sz="1000"/>
                        <a:t>7</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6</a:t>
                      </a:r>
                      <a:endParaRPr sz="1000"/>
                    </a:p>
                    <a:p>
                      <a:pPr indent="0" lvl="0" marL="0" marR="0" rtl="0" algn="ctr">
                        <a:lnSpc>
                          <a:spcPct val="100000"/>
                        </a:lnSpc>
                        <a:spcBef>
                          <a:spcPts val="0"/>
                        </a:spcBef>
                        <a:spcAft>
                          <a:spcPts val="0"/>
                        </a:spcAft>
                        <a:buClr>
                          <a:srgbClr val="000000"/>
                        </a:buClr>
                        <a:buSzPts val="1900"/>
                        <a:buFont typeface="Arial"/>
                        <a:buNone/>
                      </a:pPr>
                      <a:r>
                        <a:t/>
                      </a:r>
                      <a:endParaRPr sz="16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5</a:t>
                      </a:r>
                      <a:endParaRPr sz="1000"/>
                    </a:p>
                    <a:p>
                      <a:pPr indent="0" lvl="0" marL="0" marR="0" rtl="0" algn="ctr">
                        <a:lnSpc>
                          <a:spcPct val="100000"/>
                        </a:lnSpc>
                        <a:spcBef>
                          <a:spcPts val="0"/>
                        </a:spcBef>
                        <a:spcAft>
                          <a:spcPts val="0"/>
                        </a:spcAft>
                        <a:buClr>
                          <a:srgbClr val="000000"/>
                        </a:buClr>
                        <a:buSzPts val="1900"/>
                        <a:buFont typeface="Arial"/>
                        <a:buNone/>
                      </a:pPr>
                      <a:r>
                        <a:rPr lang="en" sz="1600"/>
                        <a:t>1</a:t>
                      </a:r>
                      <a:endParaRPr sz="16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4</a:t>
                      </a:r>
                      <a:endParaRPr sz="10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a:t>Bit 3</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2</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1</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0 </a:t>
                      </a:r>
                      <a:endParaRPr sz="1000" u="none" cap="none" strike="noStrike"/>
                    </a:p>
                  </a:txBody>
                  <a:tcPr marT="121900" marB="121900" marR="91425" marL="91425"/>
                </a:tc>
              </a:tr>
            </a:tbl>
          </a:graphicData>
        </a:graphic>
      </p:graphicFrame>
      <p:sp>
        <p:nvSpPr>
          <p:cNvPr id="287" name="Google Shape;287;p32"/>
          <p:cNvSpPr txBox="1"/>
          <p:nvPr>
            <p:ph idx="1" type="body"/>
          </p:nvPr>
        </p:nvSpPr>
        <p:spPr>
          <a:xfrm>
            <a:off x="311700" y="6039975"/>
            <a:ext cx="8520600" cy="544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How does </a:t>
            </a:r>
            <a:r>
              <a:rPr lang="en">
                <a:solidFill>
                  <a:srgbClr val="FF0000"/>
                </a:solidFill>
              </a:rPr>
              <a:t>GPIOA-&gt;ODR |= (1U&lt;&lt;5);</a:t>
            </a:r>
            <a:r>
              <a:rPr lang="en">
                <a:solidFill>
                  <a:srgbClr val="FF0000"/>
                </a:solidFill>
              </a:rPr>
              <a:t> …</a:t>
            </a:r>
            <a:r>
              <a:rPr lang="en"/>
              <a:t> accomplish this???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3"/>
          <p:cNvSpPr txBox="1"/>
          <p:nvPr>
            <p:ph idx="1" type="body"/>
          </p:nvPr>
        </p:nvSpPr>
        <p:spPr>
          <a:xfrm>
            <a:off x="311700" y="1092725"/>
            <a:ext cx="8520600" cy="2574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We could simply write </a:t>
            </a:r>
            <a:r>
              <a:rPr lang="en"/>
              <a:t>GPIOA-&gt;ODR</a:t>
            </a:r>
            <a:r>
              <a:rPr lang="en"/>
              <a:t> = 0b</a:t>
            </a:r>
            <a:r>
              <a:rPr lang="en"/>
              <a:t>0000000000100000</a:t>
            </a:r>
            <a:r>
              <a:rPr lang="en"/>
              <a:t>;</a:t>
            </a:r>
            <a:endParaRPr/>
          </a:p>
          <a:p>
            <a:pPr indent="-317500" lvl="1" marL="914400" rtl="0" algn="l">
              <a:lnSpc>
                <a:spcPct val="115000"/>
              </a:lnSpc>
              <a:spcBef>
                <a:spcPts val="0"/>
              </a:spcBef>
              <a:spcAft>
                <a:spcPts val="0"/>
              </a:spcAft>
              <a:buSzPts val="1400"/>
              <a:buChar char="○"/>
            </a:pPr>
            <a:r>
              <a:rPr lang="en"/>
              <a:t>This sets all bits to '0', except for bit 5, which is set to '1'. </a:t>
            </a:r>
            <a:endParaRPr/>
          </a:p>
          <a:p>
            <a:pPr indent="-317500" lvl="1" marL="914400" rtl="0" algn="l">
              <a:lnSpc>
                <a:spcPct val="115000"/>
              </a:lnSpc>
              <a:spcBef>
                <a:spcPts val="0"/>
              </a:spcBef>
              <a:spcAft>
                <a:spcPts val="0"/>
              </a:spcAft>
              <a:buSzPts val="1400"/>
              <a:buChar char="○"/>
            </a:pPr>
            <a:r>
              <a:rPr lang="en"/>
              <a:t>Not good style (what if some other device were already connected elsewhere?), but let's ignore that issue temporarily.</a:t>
            </a:r>
            <a:endParaRPr/>
          </a:p>
          <a:p>
            <a:pPr indent="-342900" lvl="0" marL="457200" rtl="0" algn="l">
              <a:lnSpc>
                <a:spcPct val="115000"/>
              </a:lnSpc>
              <a:spcBef>
                <a:spcPts val="0"/>
              </a:spcBef>
              <a:spcAft>
                <a:spcPts val="0"/>
              </a:spcAft>
              <a:buSzPts val="1800"/>
              <a:buChar char="●"/>
            </a:pPr>
            <a:r>
              <a:rPr lang="en"/>
              <a:t>We could also write GPIOA-&gt;ODR = 32; or </a:t>
            </a:r>
            <a:r>
              <a:rPr lang="en"/>
              <a:t>GPIOA-&gt;ODR</a:t>
            </a:r>
            <a:r>
              <a:rPr lang="en"/>
              <a:t> = 0x20;</a:t>
            </a:r>
            <a:endParaRPr/>
          </a:p>
          <a:p>
            <a:pPr indent="0" lvl="0" marL="0" rtl="0" algn="l">
              <a:lnSpc>
                <a:spcPct val="115000"/>
              </a:lnSpc>
              <a:spcBef>
                <a:spcPts val="0"/>
              </a:spcBef>
              <a:spcAft>
                <a:spcPts val="0"/>
              </a:spcAft>
              <a:buNone/>
            </a:pPr>
            <a:r>
              <a:rPr lang="en"/>
              <a:t>None of these are very readable, which could lead to difficult debugging.</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Better: </a:t>
            </a:r>
            <a:r>
              <a:rPr lang="en"/>
              <a:t>GPIOA-&gt;ODR</a:t>
            </a:r>
            <a:r>
              <a:rPr lang="en"/>
              <a:t> = (1U &lt;&lt; 5);</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Still better:  #define LED_PIN </a:t>
            </a:r>
            <a:r>
              <a:rPr lang="en"/>
              <a:t>(1U&lt;&lt;5)</a:t>
            </a:r>
            <a:r>
              <a:rPr lang="en"/>
              <a:t> to avoid the “magic number” in your code, then write </a:t>
            </a:r>
            <a:r>
              <a:rPr lang="en"/>
              <a:t>GPIOA-&gt;ODR = LED_PIN;</a:t>
            </a:r>
            <a:r>
              <a:rPr lang="en"/>
              <a:t>  </a:t>
            </a:r>
            <a:endParaRPr/>
          </a:p>
          <a:p>
            <a:pPr indent="-342900" lvl="0" marL="457200" rtl="0" algn="l">
              <a:lnSpc>
                <a:spcPct val="115000"/>
              </a:lnSpc>
              <a:spcBef>
                <a:spcPts val="0"/>
              </a:spcBef>
              <a:spcAft>
                <a:spcPts val="0"/>
              </a:spcAft>
              <a:buSzPts val="1800"/>
              <a:buChar char="●"/>
            </a:pPr>
            <a:r>
              <a:rPr lang="en"/>
              <a:t>The definition for GPIOA-&gt;ODR lives in a header file, </a:t>
            </a:r>
            <a:r>
              <a:rPr lang="en">
                <a:latin typeface="Courier New"/>
                <a:ea typeface="Courier New"/>
                <a:cs typeface="Courier New"/>
                <a:sym typeface="Courier New"/>
              </a:rPr>
              <a:t>"stm32C0xx.h" </a:t>
            </a:r>
            <a:r>
              <a:rPr lang="en"/>
              <a:t>(we'll look into that later.)</a:t>
            </a:r>
            <a:endParaRPr>
              <a:latin typeface="Courier New"/>
              <a:ea typeface="Courier New"/>
              <a:cs typeface="Courier New"/>
              <a:sym typeface="Courier New"/>
            </a:endParaRPr>
          </a:p>
        </p:txBody>
      </p:sp>
      <p:sp>
        <p:nvSpPr>
          <p:cNvPr id="293" name="Google Shape;293;p33"/>
          <p:cNvSpPr txBox="1"/>
          <p:nvPr>
            <p:ph type="title"/>
          </p:nvPr>
        </p:nvSpPr>
        <p:spPr>
          <a:xfrm>
            <a:off x="311700" y="228842"/>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200"/>
              <a:t>The binary number 0b </a:t>
            </a:r>
            <a:r>
              <a:rPr lang="en" sz="2200"/>
              <a:t>0000 0000 0000 0000 0000 0000 0010 0000</a:t>
            </a:r>
            <a:endParaRPr sz="2200"/>
          </a:p>
        </p:txBody>
      </p:sp>
      <p:sp>
        <p:nvSpPr>
          <p:cNvPr id="294" name="Google Shape;294;p3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295" name="Google Shape;295;p33"/>
          <p:cNvSpPr txBox="1"/>
          <p:nvPr/>
        </p:nvSpPr>
        <p:spPr>
          <a:xfrm>
            <a:off x="4062400" y="3767700"/>
            <a:ext cx="3600900" cy="52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Arial"/>
                <a:ea typeface="Arial"/>
                <a:cs typeface="Arial"/>
                <a:sym typeface="Arial"/>
              </a:rPr>
              <a:t>Shift a '1' to the left (in binary) by 5 slots.</a:t>
            </a:r>
            <a:endParaRPr b="0" i="1" sz="1400" u="none" cap="none" strike="noStrike">
              <a:solidFill>
                <a:srgbClr val="000000"/>
              </a:solidFill>
              <a:latin typeface="Arial"/>
              <a:ea typeface="Arial"/>
              <a:cs typeface="Arial"/>
              <a:sym typeface="Arial"/>
            </a:endParaRPr>
          </a:p>
        </p:txBody>
      </p:sp>
      <p:graphicFrame>
        <p:nvGraphicFramePr>
          <p:cNvPr id="296" name="Google Shape;296;p33"/>
          <p:cNvGraphicFramePr/>
          <p:nvPr/>
        </p:nvGraphicFramePr>
        <p:xfrm>
          <a:off x="692700" y="4296000"/>
          <a:ext cx="3000000" cy="3000000"/>
        </p:xfrm>
        <a:graphic>
          <a:graphicData uri="http://schemas.openxmlformats.org/drawingml/2006/table">
            <a:tbl>
              <a:tblPr>
                <a:noFill/>
                <a:tableStyleId>{F408A230-F3E5-4931-8A8E-7B242848911A}</a:tableStyleId>
              </a:tblPr>
              <a:tblGrid>
                <a:gridCol w="352525"/>
                <a:gridCol w="352525"/>
                <a:gridCol w="352525"/>
                <a:gridCol w="352525"/>
                <a:gridCol w="352525"/>
                <a:gridCol w="352525"/>
                <a:gridCol w="352525"/>
                <a:gridCol w="352525"/>
                <a:gridCol w="352525"/>
                <a:gridCol w="305250"/>
              </a:tblGrid>
              <a:tr h="437600">
                <a:tc>
                  <a:txBody>
                    <a:bodyPr/>
                    <a:lstStyle/>
                    <a:p>
                      <a:pPr indent="0" lvl="0" marL="0" marR="0" rtl="0" algn="l">
                        <a:lnSpc>
                          <a:spcPct val="100000"/>
                        </a:lnSpc>
                        <a:spcBef>
                          <a:spcPts val="0"/>
                        </a:spcBef>
                        <a:spcAft>
                          <a:spcPts val="0"/>
                        </a:spcAft>
                        <a:buNone/>
                      </a:pPr>
                      <a:r>
                        <a:rPr lang="en" sz="1900"/>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900"/>
                        <a:t>…</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solidFill>
                            <a:srgbClr val="FF0000"/>
                          </a:solidFill>
                        </a:rPr>
                        <a:t>1</a:t>
                      </a:r>
                      <a:endParaRPr sz="1900" u="none" cap="none" strike="noStrike">
                        <a:solidFill>
                          <a:srgbClr val="FF0000"/>
                        </a:solidFill>
                      </a:endParaRPr>
                    </a:p>
                  </a:txBody>
                  <a:tcPr marT="121900" marB="121900" marR="91425" marL="91425"/>
                </a:tc>
              </a:tr>
            </a:tbl>
          </a:graphicData>
        </a:graphic>
      </p:graphicFrame>
      <p:cxnSp>
        <p:nvCxnSpPr>
          <p:cNvPr id="297" name="Google Shape;297;p33"/>
          <p:cNvCxnSpPr/>
          <p:nvPr/>
        </p:nvCxnSpPr>
        <p:spPr>
          <a:xfrm>
            <a:off x="4327100" y="4513100"/>
            <a:ext cx="442500" cy="0"/>
          </a:xfrm>
          <a:prstGeom prst="straightConnector1">
            <a:avLst/>
          </a:prstGeom>
          <a:noFill/>
          <a:ln cap="flat" cmpd="sng" w="9525">
            <a:solidFill>
              <a:schemeClr val="dk2"/>
            </a:solidFill>
            <a:prstDash val="solid"/>
            <a:round/>
            <a:headEnd len="sm" w="sm" type="none"/>
            <a:tailEnd len="med" w="med" type="triangle"/>
          </a:ln>
        </p:spPr>
      </p:cxnSp>
      <p:graphicFrame>
        <p:nvGraphicFramePr>
          <p:cNvPr id="298" name="Google Shape;298;p33"/>
          <p:cNvGraphicFramePr/>
          <p:nvPr/>
        </p:nvGraphicFramePr>
        <p:xfrm>
          <a:off x="4926100" y="4296000"/>
          <a:ext cx="3000000" cy="3000000"/>
        </p:xfrm>
        <a:graphic>
          <a:graphicData uri="http://schemas.openxmlformats.org/drawingml/2006/table">
            <a:tbl>
              <a:tblPr>
                <a:noFill/>
                <a:tableStyleId>{F408A230-F3E5-4931-8A8E-7B242848911A}</a:tableStyleId>
              </a:tblPr>
              <a:tblGrid>
                <a:gridCol w="352525"/>
                <a:gridCol w="352525"/>
                <a:gridCol w="352525"/>
                <a:gridCol w="352525"/>
                <a:gridCol w="352525"/>
                <a:gridCol w="352525"/>
                <a:gridCol w="352525"/>
                <a:gridCol w="352525"/>
                <a:gridCol w="352525"/>
                <a:gridCol w="305250"/>
              </a:tblGrid>
              <a:tr h="437600">
                <a:tc>
                  <a:txBody>
                    <a:bodyPr/>
                    <a:lstStyle/>
                    <a:p>
                      <a:pPr indent="0" lvl="0" marL="0" marR="0" rtl="0" algn="l">
                        <a:lnSpc>
                          <a:spcPct val="100000"/>
                        </a:lnSpc>
                        <a:spcBef>
                          <a:spcPts val="0"/>
                        </a:spcBef>
                        <a:spcAft>
                          <a:spcPts val="0"/>
                        </a:spcAft>
                        <a:buNone/>
                      </a:pPr>
                      <a:r>
                        <a:rPr lang="en" sz="1900"/>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900"/>
                        <a:t>…</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solidFill>
                            <a:srgbClr val="FF0000"/>
                          </a:solidFill>
                        </a:rPr>
                        <a:t>1</a:t>
                      </a:r>
                      <a:endParaRPr sz="1900" u="none" cap="none" strike="noStrike">
                        <a:solidFill>
                          <a:srgbClr val="FF0000"/>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sp>
        <p:nvSpPr>
          <p:cNvPr id="299" name="Google Shape;299;p33"/>
          <p:cNvSpPr/>
          <p:nvPr/>
        </p:nvSpPr>
        <p:spPr>
          <a:xfrm>
            <a:off x="3673325" y="3932109"/>
            <a:ext cx="376100" cy="284475"/>
          </a:xfrm>
          <a:custGeom>
            <a:rect b="b" l="l" r="r" t="t"/>
            <a:pathLst>
              <a:path extrusionOk="0" h="11379" w="15044">
                <a:moveTo>
                  <a:pt x="15044" y="11379"/>
                </a:moveTo>
                <a:cubicBezTo>
                  <a:pt x="14897" y="10229"/>
                  <a:pt x="15044" y="6364"/>
                  <a:pt x="14159" y="4476"/>
                </a:cubicBezTo>
                <a:cubicBezTo>
                  <a:pt x="13274" y="2588"/>
                  <a:pt x="11563" y="259"/>
                  <a:pt x="9734" y="52"/>
                </a:cubicBezTo>
                <a:cubicBezTo>
                  <a:pt x="7905" y="-154"/>
                  <a:pt x="4808" y="1615"/>
                  <a:pt x="3186" y="3237"/>
                </a:cubicBezTo>
                <a:cubicBezTo>
                  <a:pt x="1564" y="4859"/>
                  <a:pt x="531" y="8695"/>
                  <a:pt x="0" y="9786"/>
                </a:cubicBezTo>
              </a:path>
            </a:pathLst>
          </a:custGeom>
          <a:noFill/>
          <a:ln cap="flat" cmpd="sng" w="19050">
            <a:solidFill>
              <a:srgbClr val="FF0000"/>
            </a:solidFill>
            <a:prstDash val="solid"/>
            <a:round/>
            <a:headEnd len="med" w="med" type="none"/>
            <a:tailEnd len="med" w="med" type="triangle"/>
          </a:ln>
        </p:spPr>
      </p:sp>
      <p:sp>
        <p:nvSpPr>
          <p:cNvPr id="300" name="Google Shape;300;p33"/>
          <p:cNvSpPr/>
          <p:nvPr/>
        </p:nvSpPr>
        <p:spPr>
          <a:xfrm>
            <a:off x="2376825" y="3932097"/>
            <a:ext cx="376100" cy="284475"/>
          </a:xfrm>
          <a:custGeom>
            <a:rect b="b" l="l" r="r" t="t"/>
            <a:pathLst>
              <a:path extrusionOk="0" h="11379" w="15044">
                <a:moveTo>
                  <a:pt x="15044" y="11379"/>
                </a:moveTo>
                <a:cubicBezTo>
                  <a:pt x="14897" y="10229"/>
                  <a:pt x="15044" y="6364"/>
                  <a:pt x="14159" y="4476"/>
                </a:cubicBezTo>
                <a:cubicBezTo>
                  <a:pt x="13274" y="2588"/>
                  <a:pt x="11563" y="259"/>
                  <a:pt x="9734" y="52"/>
                </a:cubicBezTo>
                <a:cubicBezTo>
                  <a:pt x="7905" y="-154"/>
                  <a:pt x="4808" y="1615"/>
                  <a:pt x="3186" y="3237"/>
                </a:cubicBezTo>
                <a:cubicBezTo>
                  <a:pt x="1564" y="4859"/>
                  <a:pt x="531" y="8695"/>
                  <a:pt x="0" y="9786"/>
                </a:cubicBezTo>
              </a:path>
            </a:pathLst>
          </a:custGeom>
          <a:noFill/>
          <a:ln cap="flat" cmpd="sng" w="19050">
            <a:solidFill>
              <a:srgbClr val="FF0000"/>
            </a:solidFill>
            <a:prstDash val="solid"/>
            <a:round/>
            <a:headEnd len="med" w="med" type="none"/>
            <a:tailEnd len="med" w="med" type="triangle"/>
          </a:ln>
        </p:spPr>
      </p:sp>
      <p:sp>
        <p:nvSpPr>
          <p:cNvPr id="301" name="Google Shape;301;p33"/>
          <p:cNvSpPr/>
          <p:nvPr/>
        </p:nvSpPr>
        <p:spPr>
          <a:xfrm>
            <a:off x="2816375" y="3932109"/>
            <a:ext cx="376100" cy="284475"/>
          </a:xfrm>
          <a:custGeom>
            <a:rect b="b" l="l" r="r" t="t"/>
            <a:pathLst>
              <a:path extrusionOk="0" h="11379" w="15044">
                <a:moveTo>
                  <a:pt x="15044" y="11379"/>
                </a:moveTo>
                <a:cubicBezTo>
                  <a:pt x="14897" y="10229"/>
                  <a:pt x="15044" y="6364"/>
                  <a:pt x="14159" y="4476"/>
                </a:cubicBezTo>
                <a:cubicBezTo>
                  <a:pt x="13274" y="2588"/>
                  <a:pt x="11563" y="259"/>
                  <a:pt x="9734" y="52"/>
                </a:cubicBezTo>
                <a:cubicBezTo>
                  <a:pt x="7905" y="-154"/>
                  <a:pt x="4808" y="1615"/>
                  <a:pt x="3186" y="3237"/>
                </a:cubicBezTo>
                <a:cubicBezTo>
                  <a:pt x="1564" y="4859"/>
                  <a:pt x="531" y="8695"/>
                  <a:pt x="0" y="9786"/>
                </a:cubicBezTo>
              </a:path>
            </a:pathLst>
          </a:custGeom>
          <a:noFill/>
          <a:ln cap="flat" cmpd="sng" w="19050">
            <a:solidFill>
              <a:srgbClr val="FF0000"/>
            </a:solidFill>
            <a:prstDash val="solid"/>
            <a:round/>
            <a:headEnd len="med" w="med" type="none"/>
            <a:tailEnd len="med" w="med" type="triangle"/>
          </a:ln>
        </p:spPr>
      </p:sp>
      <p:sp>
        <p:nvSpPr>
          <p:cNvPr id="302" name="Google Shape;302;p33"/>
          <p:cNvSpPr/>
          <p:nvPr/>
        </p:nvSpPr>
        <p:spPr>
          <a:xfrm>
            <a:off x="3255925" y="3932109"/>
            <a:ext cx="376100" cy="284475"/>
          </a:xfrm>
          <a:custGeom>
            <a:rect b="b" l="l" r="r" t="t"/>
            <a:pathLst>
              <a:path extrusionOk="0" h="11379" w="15044">
                <a:moveTo>
                  <a:pt x="15044" y="11379"/>
                </a:moveTo>
                <a:cubicBezTo>
                  <a:pt x="14897" y="10229"/>
                  <a:pt x="15044" y="6364"/>
                  <a:pt x="14159" y="4476"/>
                </a:cubicBezTo>
                <a:cubicBezTo>
                  <a:pt x="13274" y="2588"/>
                  <a:pt x="11563" y="259"/>
                  <a:pt x="9734" y="52"/>
                </a:cubicBezTo>
                <a:cubicBezTo>
                  <a:pt x="7905" y="-154"/>
                  <a:pt x="4808" y="1615"/>
                  <a:pt x="3186" y="3237"/>
                </a:cubicBezTo>
                <a:cubicBezTo>
                  <a:pt x="1564" y="4859"/>
                  <a:pt x="531" y="8695"/>
                  <a:pt x="0" y="9786"/>
                </a:cubicBezTo>
              </a:path>
            </a:pathLst>
          </a:custGeom>
          <a:noFill/>
          <a:ln cap="flat" cmpd="sng" w="19050">
            <a:solidFill>
              <a:srgbClr val="FF0000"/>
            </a:solidFill>
            <a:prstDash val="solid"/>
            <a:round/>
            <a:headEnd len="med" w="med" type="none"/>
            <a:tailEnd len="med" w="med" type="triangle"/>
          </a:ln>
        </p:spPr>
      </p:sp>
      <p:sp>
        <p:nvSpPr>
          <p:cNvPr id="303" name="Google Shape;303;p33"/>
          <p:cNvSpPr/>
          <p:nvPr/>
        </p:nvSpPr>
        <p:spPr>
          <a:xfrm>
            <a:off x="1937275" y="3932109"/>
            <a:ext cx="376100" cy="284475"/>
          </a:xfrm>
          <a:custGeom>
            <a:rect b="b" l="l" r="r" t="t"/>
            <a:pathLst>
              <a:path extrusionOk="0" h="11379" w="15044">
                <a:moveTo>
                  <a:pt x="15044" y="11379"/>
                </a:moveTo>
                <a:cubicBezTo>
                  <a:pt x="14897" y="10229"/>
                  <a:pt x="15044" y="6364"/>
                  <a:pt x="14159" y="4476"/>
                </a:cubicBezTo>
                <a:cubicBezTo>
                  <a:pt x="13274" y="2588"/>
                  <a:pt x="11563" y="259"/>
                  <a:pt x="9734" y="52"/>
                </a:cubicBezTo>
                <a:cubicBezTo>
                  <a:pt x="7905" y="-154"/>
                  <a:pt x="4808" y="1615"/>
                  <a:pt x="3186" y="3237"/>
                </a:cubicBezTo>
                <a:cubicBezTo>
                  <a:pt x="1564" y="4859"/>
                  <a:pt x="531" y="8695"/>
                  <a:pt x="0" y="9786"/>
                </a:cubicBezTo>
              </a:path>
            </a:pathLst>
          </a:custGeom>
          <a:noFill/>
          <a:ln cap="flat" cmpd="sng" w="19050">
            <a:solidFill>
              <a:srgbClr val="FF0000"/>
            </a:solidFill>
            <a:prstDash val="solid"/>
            <a:round/>
            <a:headEnd len="med" w="med" type="none"/>
            <a:tailEnd len="med" w="med" type="triangle"/>
          </a:ln>
        </p:spPr>
      </p:sp>
      <p:sp>
        <p:nvSpPr>
          <p:cNvPr id="304" name="Google Shape;304;p33"/>
          <p:cNvSpPr txBox="1"/>
          <p:nvPr/>
        </p:nvSpPr>
        <p:spPr>
          <a:xfrm>
            <a:off x="7320300" y="749550"/>
            <a:ext cx="1823700" cy="7389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ODR is a 16-bit register, so no need for the extra upfront zeros.</a:t>
            </a:r>
            <a:endParaRPr sz="1200">
              <a:solidFill>
                <a:srgbClr val="0000FF"/>
              </a:solidFill>
            </a:endParaRPr>
          </a:p>
        </p:txBody>
      </p:sp>
      <p:cxnSp>
        <p:nvCxnSpPr>
          <p:cNvPr id="305" name="Google Shape;305;p33"/>
          <p:cNvCxnSpPr>
            <a:stCxn id="304" idx="1"/>
          </p:cNvCxnSpPr>
          <p:nvPr/>
        </p:nvCxnSpPr>
        <p:spPr>
          <a:xfrm flipH="1">
            <a:off x="5202300" y="1119000"/>
            <a:ext cx="2118000" cy="78000"/>
          </a:xfrm>
          <a:prstGeom prst="straightConnector1">
            <a:avLst/>
          </a:prstGeom>
          <a:noFill/>
          <a:ln cap="flat" cmpd="sng" w="9525">
            <a:solidFill>
              <a:srgbClr val="0000FF"/>
            </a:solidFill>
            <a:prstDash val="solid"/>
            <a:round/>
            <a:headEnd len="med" w="med" type="none"/>
            <a:tailEnd len="med" w="med" type="triangle"/>
          </a:ln>
        </p:spPr>
      </p:cxnSp>
      <p:sp>
        <p:nvSpPr>
          <p:cNvPr id="306" name="Google Shape;306;p33"/>
          <p:cNvSpPr txBox="1"/>
          <p:nvPr/>
        </p:nvSpPr>
        <p:spPr>
          <a:xfrm>
            <a:off x="6421700" y="2844300"/>
            <a:ext cx="2516700" cy="9234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The 'U' ensures that the 1 is represented in the 'unsigned integer' data type which is a 32 bit number on our platform</a:t>
            </a:r>
            <a:endParaRPr sz="1200">
              <a:solidFill>
                <a:srgbClr val="0000FF"/>
              </a:solidFill>
            </a:endParaRPr>
          </a:p>
        </p:txBody>
      </p:sp>
      <p:cxnSp>
        <p:nvCxnSpPr>
          <p:cNvPr id="307" name="Google Shape;307;p33"/>
          <p:cNvCxnSpPr>
            <a:stCxn id="306" idx="1"/>
          </p:cNvCxnSpPr>
          <p:nvPr/>
        </p:nvCxnSpPr>
        <p:spPr>
          <a:xfrm flipH="1">
            <a:off x="4486100" y="3306000"/>
            <a:ext cx="1935600" cy="39000"/>
          </a:xfrm>
          <a:prstGeom prst="straightConnector1">
            <a:avLst/>
          </a:prstGeom>
          <a:noFill/>
          <a:ln cap="flat" cmpd="sng" w="9525">
            <a:solidFill>
              <a:srgbClr val="0000FF"/>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4"/>
          <p:cNvSpPr txBox="1"/>
          <p:nvPr>
            <p:ph idx="1" type="body"/>
          </p:nvPr>
        </p:nvSpPr>
        <p:spPr>
          <a:xfrm>
            <a:off x="311700" y="1274700"/>
            <a:ext cx="6764100" cy="45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Suppose </a:t>
            </a:r>
            <a:r>
              <a:rPr lang="en"/>
              <a:t>GPIOA-&gt;ODR</a:t>
            </a:r>
            <a:r>
              <a:rPr lang="en"/>
              <a:t> already has some bits set, for example:</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rPr lang="en"/>
              <a:t>We want to set bit 5 without changing the other bits. Use the logical </a:t>
            </a:r>
            <a:r>
              <a:rPr lang="en">
                <a:solidFill>
                  <a:srgbClr val="0000FF"/>
                </a:solidFill>
              </a:rPr>
              <a:t>bitwise "OR" </a:t>
            </a:r>
            <a:r>
              <a:rPr lang="en">
                <a:solidFill>
                  <a:schemeClr val="dk1"/>
                </a:solidFill>
              </a:rPr>
              <a:t>operation</a:t>
            </a:r>
            <a:r>
              <a:rPr lang="en">
                <a:solidFill>
                  <a:srgbClr val="0000FF"/>
                </a:solidFill>
              </a:rPr>
              <a:t>, |</a:t>
            </a:r>
            <a:r>
              <a:rPr lang="en"/>
              <a:t>. </a:t>
            </a:r>
            <a:endParaRPr/>
          </a:p>
        </p:txBody>
      </p:sp>
      <p:sp>
        <p:nvSpPr>
          <p:cNvPr id="313" name="Google Shape;313;p34"/>
          <p:cNvSpPr txBox="1"/>
          <p:nvPr>
            <p:ph type="title"/>
          </p:nvPr>
        </p:nvSpPr>
        <p:spPr>
          <a:xfrm>
            <a:off x="311700" y="36961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600"/>
              <a:t>Setting bit 5 in </a:t>
            </a:r>
            <a:r>
              <a:rPr lang="en" sz="2600"/>
              <a:t>GPIOA-&gt;ODR</a:t>
            </a:r>
            <a:r>
              <a:rPr lang="en" sz="2600"/>
              <a:t> without changing other bits</a:t>
            </a:r>
            <a:endParaRPr sz="2600"/>
          </a:p>
        </p:txBody>
      </p:sp>
      <p:sp>
        <p:nvSpPr>
          <p:cNvPr id="314" name="Google Shape;314;p3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graphicFrame>
        <p:nvGraphicFramePr>
          <p:cNvPr id="315" name="Google Shape;315;p34"/>
          <p:cNvGraphicFramePr/>
          <p:nvPr/>
        </p:nvGraphicFramePr>
        <p:xfrm>
          <a:off x="1633200" y="1887454"/>
          <a:ext cx="3000000" cy="3000000"/>
        </p:xfrm>
        <a:graphic>
          <a:graphicData uri="http://schemas.openxmlformats.org/drawingml/2006/table">
            <a:tbl>
              <a:tblPr>
                <a:noFill/>
                <a:tableStyleId>{F408A230-F3E5-4931-8A8E-7B242848911A}</a:tableStyleId>
              </a:tblPr>
              <a:tblGrid>
                <a:gridCol w="716225"/>
                <a:gridCol w="716225"/>
                <a:gridCol w="716225"/>
                <a:gridCol w="716225"/>
                <a:gridCol w="716225"/>
                <a:gridCol w="716225"/>
                <a:gridCol w="716225"/>
                <a:gridCol w="716225"/>
                <a:gridCol w="716225"/>
                <a:gridCol w="716225"/>
              </a:tblGrid>
              <a:tr h="664975">
                <a:tc>
                  <a:txBody>
                    <a:bodyPr/>
                    <a:lstStyle/>
                    <a:p>
                      <a:pPr indent="0" lvl="0" marL="0" rtl="0" algn="ctr">
                        <a:spcBef>
                          <a:spcPts val="0"/>
                        </a:spcBef>
                        <a:spcAft>
                          <a:spcPts val="0"/>
                        </a:spcAft>
                        <a:buNone/>
                      </a:pPr>
                      <a:r>
                        <a:rPr lang="en" sz="1300">
                          <a:solidFill>
                            <a:schemeClr val="dk1"/>
                          </a:solidFill>
                        </a:rPr>
                        <a:t>Bit 15</a:t>
                      </a:r>
                      <a:endParaRPr sz="1300">
                        <a:solidFill>
                          <a:schemeClr val="dk1"/>
                        </a:solidFill>
                      </a:endParaRPr>
                    </a:p>
                    <a:p>
                      <a:pPr indent="0" lvl="0" marL="0" rtl="0" algn="ctr">
                        <a:spcBef>
                          <a:spcPts val="0"/>
                        </a:spcBef>
                        <a:spcAft>
                          <a:spcPts val="0"/>
                        </a:spcAft>
                        <a:buClr>
                          <a:schemeClr val="dk1"/>
                        </a:buClr>
                        <a:buSzPts val="1900"/>
                        <a:buFont typeface="Arial"/>
                        <a:buNone/>
                      </a:pPr>
                      <a:r>
                        <a:rPr lang="en" sz="1900">
                          <a:solidFill>
                            <a:schemeClr val="dk1"/>
                          </a:solidFill>
                        </a:rPr>
                        <a:t>1</a:t>
                      </a:r>
                      <a:endParaRPr sz="1300">
                        <a:solidFill>
                          <a:schemeClr val="dk1"/>
                        </a:solidFill>
                      </a:endParaRPr>
                    </a:p>
                  </a:txBody>
                  <a:tcPr marT="121900" marB="121900" marR="91425" marL="91425"/>
                </a:tc>
                <a:tc>
                  <a:txBody>
                    <a:bodyPr/>
                    <a:lstStyle/>
                    <a:p>
                      <a:pPr indent="0" lvl="0" marL="0" rtl="0" algn="ctr">
                        <a:spcBef>
                          <a:spcPts val="0"/>
                        </a:spcBef>
                        <a:spcAft>
                          <a:spcPts val="0"/>
                        </a:spcAft>
                        <a:buNone/>
                      </a:pPr>
                      <a:r>
                        <a:rPr lang="en" sz="1300">
                          <a:solidFill>
                            <a:schemeClr val="dk1"/>
                          </a:solidFill>
                        </a:rPr>
                        <a:t>Bit 14</a:t>
                      </a:r>
                      <a:endParaRPr sz="1300">
                        <a:solidFill>
                          <a:schemeClr val="dk1"/>
                        </a:solidFill>
                      </a:endParaRPr>
                    </a:p>
                    <a:p>
                      <a:pPr indent="0" lvl="0" marL="0" rtl="0" algn="ctr">
                        <a:spcBef>
                          <a:spcPts val="0"/>
                        </a:spcBef>
                        <a:spcAft>
                          <a:spcPts val="0"/>
                        </a:spcAft>
                        <a:buClr>
                          <a:schemeClr val="dk1"/>
                        </a:buClr>
                        <a:buSzPts val="1900"/>
                        <a:buFont typeface="Arial"/>
                        <a:buNone/>
                      </a:pPr>
                      <a:r>
                        <a:rPr lang="en" sz="1900">
                          <a:solidFill>
                            <a:schemeClr val="dk1"/>
                          </a:solidFill>
                        </a:rPr>
                        <a:t>0</a:t>
                      </a:r>
                      <a:endParaRPr sz="1300">
                        <a:solidFill>
                          <a:schemeClr val="dk1"/>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t>…</a:t>
                      </a:r>
                      <a:endParaRPr sz="1900" u="none" cap="none" strike="noStrike"/>
                    </a:p>
                  </a:txBody>
                  <a:tcPr marT="121900" marB="121900" marR="91425" marL="91425"/>
                </a:tc>
                <a:tc>
                  <a:txBody>
                    <a:bodyPr/>
                    <a:lstStyle/>
                    <a:p>
                      <a:pPr indent="0" lvl="0" marL="0" rtl="0" algn="ctr">
                        <a:spcBef>
                          <a:spcPts val="0"/>
                        </a:spcBef>
                        <a:spcAft>
                          <a:spcPts val="0"/>
                        </a:spcAft>
                        <a:buClr>
                          <a:schemeClr val="dk1"/>
                        </a:buClr>
                        <a:buSzPts val="1300"/>
                        <a:buFont typeface="Arial"/>
                        <a:buNone/>
                      </a:pPr>
                      <a:r>
                        <a:rPr lang="en" sz="1300">
                          <a:solidFill>
                            <a:schemeClr val="dk1"/>
                          </a:solidFill>
                        </a:rPr>
                        <a:t>Bit 6</a:t>
                      </a:r>
                      <a:endParaRPr sz="1300">
                        <a:solidFill>
                          <a:schemeClr val="dk1"/>
                        </a:solidFill>
                      </a:endParaRPr>
                    </a:p>
                    <a:p>
                      <a:pPr indent="0" lvl="0" marL="0" rtl="0" algn="ctr">
                        <a:spcBef>
                          <a:spcPts val="0"/>
                        </a:spcBef>
                        <a:spcAft>
                          <a:spcPts val="0"/>
                        </a:spcAft>
                        <a:buClr>
                          <a:schemeClr val="dk1"/>
                        </a:buClr>
                        <a:buSzPts val="1900"/>
                        <a:buFont typeface="Arial"/>
                        <a:buNone/>
                      </a:pPr>
                      <a:r>
                        <a:rPr lang="en" sz="1900">
                          <a:solidFill>
                            <a:schemeClr val="dk1"/>
                          </a:solidFill>
                        </a:rPr>
                        <a:t>1</a:t>
                      </a:r>
                      <a:endParaRPr sz="1300">
                        <a:solidFill>
                          <a:schemeClr val="dk1"/>
                        </a:solidFill>
                      </a:endParaRPr>
                    </a:p>
                  </a:txBody>
                  <a:tcPr marT="121900" marB="121900" marR="91425" marL="91425">
                    <a:lnR cap="flat" cmpd="sng" w="19050">
                      <a:solidFill>
                        <a:srgbClr val="0000FF"/>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a:solidFill>
                            <a:schemeClr val="dk1"/>
                          </a:solidFill>
                        </a:rPr>
                        <a:t>Bit </a:t>
                      </a:r>
                      <a:r>
                        <a:rPr lang="en" sz="1300" u="none" cap="none" strike="noStrike">
                          <a:solidFill>
                            <a:schemeClr val="dk1"/>
                          </a:solidFill>
                        </a:rPr>
                        <a:t>5</a:t>
                      </a:r>
                      <a:endParaRPr sz="1300" u="none" cap="none" strike="noStrike">
                        <a:solidFill>
                          <a:schemeClr val="dk1"/>
                        </a:solidFill>
                      </a:endParaRPr>
                    </a:p>
                    <a:p>
                      <a:pPr indent="0" lvl="0" marL="0" marR="0" rtl="0" algn="ctr">
                        <a:lnSpc>
                          <a:spcPct val="100000"/>
                        </a:lnSpc>
                        <a:spcBef>
                          <a:spcPts val="0"/>
                        </a:spcBef>
                        <a:spcAft>
                          <a:spcPts val="0"/>
                        </a:spcAft>
                        <a:buClr>
                          <a:srgbClr val="000000"/>
                        </a:buClr>
                        <a:buSzPts val="1900"/>
                        <a:buFont typeface="Arial"/>
                        <a:buNone/>
                      </a:pPr>
                      <a:r>
                        <a:rPr lang="en" sz="1900" u="none" cap="none" strike="noStrike">
                          <a:solidFill>
                            <a:schemeClr val="dk1"/>
                          </a:solidFill>
                        </a:rPr>
                        <a:t>0</a:t>
                      </a:r>
                      <a:endParaRPr sz="1900" u="none" cap="none" strike="noStrike">
                        <a:solidFill>
                          <a:schemeClr val="dk1"/>
                        </a:solidFill>
                      </a:endParaRPr>
                    </a:p>
                  </a:txBody>
                  <a:tcPr marT="121900" marB="121900" marR="91425" marL="91425">
                    <a:lnL cap="flat" cmpd="sng" w="19050">
                      <a:solidFill>
                        <a:srgbClr val="0000FF"/>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0000FF"/>
                      </a:solidFill>
                      <a:prstDash val="solid"/>
                      <a:round/>
                      <a:headEnd len="sm" w="sm" type="none"/>
                      <a:tailEnd len="sm" w="sm" type="none"/>
                    </a:lnT>
                    <a:lnB cap="flat" cmpd="sng" w="19050">
                      <a:solidFill>
                        <a:srgbClr val="0000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4</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lnL cap="flat" cmpd="sng" w="19050">
                      <a:solidFill>
                        <a:srgbClr val="0000FF"/>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3</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2</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1</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0</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sp>
        <p:nvSpPr>
          <p:cNvPr id="316" name="Google Shape;316;p34"/>
          <p:cNvSpPr txBox="1"/>
          <p:nvPr/>
        </p:nvSpPr>
        <p:spPr>
          <a:xfrm>
            <a:off x="118525" y="2088725"/>
            <a:ext cx="1398600" cy="52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800"/>
              <a:buFont typeface="Arial"/>
              <a:buNone/>
            </a:pPr>
            <a:r>
              <a:rPr lang="en">
                <a:solidFill>
                  <a:schemeClr val="dk2"/>
                </a:solidFill>
              </a:rPr>
              <a:t>GPIOA-&gt;ODR</a:t>
            </a:r>
            <a:r>
              <a:rPr b="0" i="0" lang="en" u="none" cap="none" strike="noStrike">
                <a:solidFill>
                  <a:schemeClr val="dk2"/>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graphicFrame>
        <p:nvGraphicFramePr>
          <p:cNvPr id="317" name="Google Shape;317;p34"/>
          <p:cNvGraphicFramePr/>
          <p:nvPr/>
        </p:nvGraphicFramePr>
        <p:xfrm>
          <a:off x="6874775" y="2857392"/>
          <a:ext cx="3000000" cy="3000000"/>
        </p:xfrm>
        <a:graphic>
          <a:graphicData uri="http://schemas.openxmlformats.org/drawingml/2006/table">
            <a:tbl>
              <a:tblPr>
                <a:noFill/>
                <a:tableStyleId>{F408A230-F3E5-4931-8A8E-7B242848911A}</a:tableStyleId>
              </a:tblPr>
              <a:tblGrid>
                <a:gridCol w="383100"/>
                <a:gridCol w="383100"/>
                <a:gridCol w="383100"/>
              </a:tblGrid>
              <a:tr h="352000">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solidFill>
                            <a:srgbClr val="0000FF"/>
                          </a:solidFill>
                        </a:rPr>
                        <a:t>|</a:t>
                      </a:r>
                      <a:endParaRPr sz="1600" u="none" cap="none" strike="noStrike">
                        <a:solidFill>
                          <a:srgbClr val="0000FF"/>
                        </a:solidFill>
                      </a:endParaRPr>
                    </a:p>
                  </a:txBody>
                  <a:tcPr marT="27425" marB="27425" marR="91425" marL="91425">
                    <a:solidFill>
                      <a:srgbClr val="B7B7B7"/>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0</a:t>
                      </a:r>
                      <a:endParaRPr sz="1600" u="none" cap="none" strike="noStrike"/>
                    </a:p>
                  </a:txBody>
                  <a:tcPr marT="27425" marB="27425" marR="91425" marL="91425">
                    <a:solidFill>
                      <a:srgbClr val="B7B7B7"/>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1</a:t>
                      </a:r>
                      <a:endParaRPr sz="1600" u="none" cap="none" strike="noStrike"/>
                    </a:p>
                  </a:txBody>
                  <a:tcPr marT="27425" marB="27425" marR="91425" marL="91425">
                    <a:solidFill>
                      <a:srgbClr val="B7B7B7"/>
                    </a:solidFill>
                  </a:tcPr>
                </a:tc>
              </a:tr>
              <a:tr h="352000">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0</a:t>
                      </a:r>
                      <a:endParaRPr sz="1600" u="none" cap="none" strike="noStrike"/>
                    </a:p>
                  </a:txBody>
                  <a:tcPr marT="27425" marB="27425" marR="91425" marL="91425">
                    <a:solidFill>
                      <a:srgbClr val="B7B7B7"/>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0</a:t>
                      </a:r>
                      <a:endParaRPr sz="1600" u="none" cap="none" strike="noStrike"/>
                    </a:p>
                  </a:txBody>
                  <a:tcPr marT="27425" marB="27425"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1</a:t>
                      </a:r>
                      <a:endParaRPr sz="1600" u="none" cap="none" strike="noStrike"/>
                    </a:p>
                  </a:txBody>
                  <a:tcPr marT="27425" marB="27425" marR="91425" marL="91425"/>
                </a:tc>
              </a:tr>
              <a:tr h="352000">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1</a:t>
                      </a:r>
                      <a:endParaRPr sz="1600" u="none" cap="none" strike="noStrike"/>
                    </a:p>
                  </a:txBody>
                  <a:tcPr marT="27425" marB="27425" marR="91425" marL="91425">
                    <a:solidFill>
                      <a:srgbClr val="B7B7B7"/>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1</a:t>
                      </a:r>
                      <a:endParaRPr sz="1600" u="none" cap="none" strike="noStrike"/>
                    </a:p>
                  </a:txBody>
                  <a:tcPr marT="27425" marB="27425"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1</a:t>
                      </a:r>
                      <a:endParaRPr sz="1600" u="none" cap="none" strike="noStrike"/>
                    </a:p>
                  </a:txBody>
                  <a:tcPr marT="27425" marB="27425" marR="91425" marL="91425"/>
                </a:tc>
              </a:tr>
            </a:tbl>
          </a:graphicData>
        </a:graphic>
      </p:graphicFrame>
      <p:sp>
        <p:nvSpPr>
          <p:cNvPr id="318" name="Google Shape;318;p34"/>
          <p:cNvSpPr txBox="1"/>
          <p:nvPr/>
        </p:nvSpPr>
        <p:spPr>
          <a:xfrm>
            <a:off x="311700" y="3952250"/>
            <a:ext cx="8160600" cy="52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800">
                <a:solidFill>
                  <a:srgbClr val="FF0000"/>
                </a:solidFill>
              </a:rPr>
              <a:t>GPIOA-&gt;ODR</a:t>
            </a:r>
            <a:r>
              <a:rPr b="0" i="0" lang="en" sz="1800" u="none" cap="none" strike="noStrike">
                <a:solidFill>
                  <a:srgbClr val="FF0000"/>
                </a:solidFill>
                <a:latin typeface="Arial"/>
                <a:ea typeface="Arial"/>
                <a:cs typeface="Arial"/>
                <a:sym typeface="Arial"/>
              </a:rPr>
              <a:t> = </a:t>
            </a:r>
            <a:r>
              <a:rPr lang="en" sz="1800">
                <a:solidFill>
                  <a:srgbClr val="FF0000"/>
                </a:solidFill>
              </a:rPr>
              <a:t>GPIOA-&gt;ODR</a:t>
            </a:r>
            <a:r>
              <a:rPr b="0" i="0" lang="en" sz="1800" u="none" cap="none" strike="noStrike">
                <a:solidFill>
                  <a:srgbClr val="FF0000"/>
                </a:solidFill>
                <a:latin typeface="Arial"/>
                <a:ea typeface="Arial"/>
                <a:cs typeface="Arial"/>
                <a:sym typeface="Arial"/>
              </a:rPr>
              <a:t> | (1U &lt;&lt; 5);</a:t>
            </a:r>
            <a:r>
              <a:rPr b="0" i="0" lang="en" sz="1800" u="none" cap="none" strike="noStrike">
                <a:solidFill>
                  <a:srgbClr val="000000"/>
                </a:solidFill>
                <a:latin typeface="Arial"/>
                <a:ea typeface="Arial"/>
                <a:cs typeface="Arial"/>
                <a:sym typeface="Arial"/>
              </a:rPr>
              <a:t> accomplishes what we want:</a:t>
            </a:r>
            <a:br>
              <a:rPr b="0" i="0" lang="en"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p:txBody>
      </p:sp>
      <p:sp>
        <p:nvSpPr>
          <p:cNvPr id="319" name="Google Shape;319;p34"/>
          <p:cNvSpPr txBox="1"/>
          <p:nvPr/>
        </p:nvSpPr>
        <p:spPr>
          <a:xfrm>
            <a:off x="311700" y="6217625"/>
            <a:ext cx="5113200" cy="52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a:r>
            <a:r>
              <a:rPr b="0" i="0" lang="en" sz="1800" u="none" cap="none" strike="noStrike">
                <a:solidFill>
                  <a:srgbClr val="000000"/>
                </a:solidFill>
                <a:latin typeface="Arial"/>
                <a:ea typeface="Arial"/>
                <a:cs typeface="Arial"/>
                <a:sym typeface="Arial"/>
              </a:rPr>
              <a:t>Alternative:  </a:t>
            </a:r>
            <a:r>
              <a:rPr lang="en" sz="1800">
                <a:solidFill>
                  <a:srgbClr val="FF0000"/>
                </a:solidFill>
              </a:rPr>
              <a:t>GPIOA-&gt;ODR</a:t>
            </a:r>
            <a:r>
              <a:rPr b="0" i="0" lang="en" sz="1800" u="none" cap="none" strike="noStrike">
                <a:solidFill>
                  <a:srgbClr val="FF0000"/>
                </a:solidFill>
                <a:latin typeface="Arial"/>
                <a:ea typeface="Arial"/>
                <a:cs typeface="Arial"/>
                <a:sym typeface="Arial"/>
              </a:rPr>
              <a:t> |= (1U &lt;&lt; 5);</a:t>
            </a:r>
            <a:r>
              <a:rPr b="0" i="0" lang="en" sz="1800" u="none" cap="none" strike="noStrike">
                <a:solidFill>
                  <a:srgbClr val="000000"/>
                </a:solidFill>
                <a:latin typeface="Arial"/>
                <a:ea typeface="Arial"/>
                <a:cs typeface="Arial"/>
                <a:sym typeface="Arial"/>
              </a:rPr>
              <a:t> </a:t>
            </a:r>
            <a:br>
              <a:rPr b="0" i="0" lang="en"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p:txBody>
      </p:sp>
      <p:graphicFrame>
        <p:nvGraphicFramePr>
          <p:cNvPr id="320" name="Google Shape;320;p34"/>
          <p:cNvGraphicFramePr/>
          <p:nvPr/>
        </p:nvGraphicFramePr>
        <p:xfrm>
          <a:off x="639275" y="4519400"/>
          <a:ext cx="3000000" cy="3000000"/>
        </p:xfrm>
        <a:graphic>
          <a:graphicData uri="http://schemas.openxmlformats.org/drawingml/2006/table">
            <a:tbl>
              <a:tblPr>
                <a:noFill/>
                <a:tableStyleId>{F408A230-F3E5-4931-8A8E-7B242848911A}</a:tableStyleId>
              </a:tblPr>
              <a:tblGrid>
                <a:gridCol w="307750"/>
                <a:gridCol w="307750"/>
                <a:gridCol w="307750"/>
                <a:gridCol w="307750"/>
                <a:gridCol w="307750"/>
                <a:gridCol w="307750"/>
                <a:gridCol w="307750"/>
                <a:gridCol w="307750"/>
                <a:gridCol w="307750"/>
                <a:gridCol w="307750"/>
              </a:tblGrid>
              <a:tr h="394575">
                <a:tc>
                  <a:txBody>
                    <a:bodyPr/>
                    <a:lstStyle/>
                    <a:p>
                      <a:pPr indent="0" lvl="0" marL="0" rtl="0" algn="l">
                        <a:spcBef>
                          <a:spcPts val="0"/>
                        </a:spcBef>
                        <a:spcAft>
                          <a:spcPts val="0"/>
                        </a:spcAft>
                        <a:buClr>
                          <a:schemeClr val="dk1"/>
                        </a:buClr>
                        <a:buSzPts val="1900"/>
                        <a:buFont typeface="Arial"/>
                        <a:buNone/>
                      </a:pPr>
                      <a:r>
                        <a:rPr lang="en" sz="1900">
                          <a:solidFill>
                            <a:schemeClr val="dk1"/>
                          </a:solidFill>
                        </a:rPr>
                        <a:t>1</a:t>
                      </a:r>
                      <a:endParaRPr sz="1900" u="none" cap="none" strike="noStrike"/>
                    </a:p>
                  </a:txBody>
                  <a:tcPr marT="121900" marB="121900" marR="91425" marL="91425"/>
                </a:tc>
                <a:tc>
                  <a:txBody>
                    <a:bodyPr/>
                    <a:lstStyle/>
                    <a:p>
                      <a:pPr indent="0" lvl="0" marL="0" rtl="0" algn="l">
                        <a:spcBef>
                          <a:spcPts val="0"/>
                        </a:spcBef>
                        <a:spcAft>
                          <a:spcPts val="0"/>
                        </a:spcAft>
                        <a:buClr>
                          <a:schemeClr val="dk1"/>
                        </a:buClr>
                        <a:buSzPts val="1900"/>
                        <a:buFont typeface="Arial"/>
                        <a:buNone/>
                      </a:pPr>
                      <a:r>
                        <a:rPr lang="en" sz="1900">
                          <a:solidFill>
                            <a:schemeClr val="dk1"/>
                          </a:solidFill>
                        </a:rPr>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500"/>
                        <a:t>…</a:t>
                      </a:r>
                      <a:endParaRPr sz="1500" u="none" cap="none" strike="noStrike"/>
                    </a:p>
                  </a:txBody>
                  <a:tcPr marT="121900" marB="121900" marR="91425" marL="91425"/>
                </a:tc>
                <a:tc>
                  <a:txBody>
                    <a:bodyPr/>
                    <a:lstStyle/>
                    <a:p>
                      <a:pPr indent="0" lvl="0" marL="0" rtl="0" algn="l">
                        <a:spcBef>
                          <a:spcPts val="0"/>
                        </a:spcBef>
                        <a:spcAft>
                          <a:spcPts val="0"/>
                        </a:spcAft>
                        <a:buClr>
                          <a:schemeClr val="dk1"/>
                        </a:buClr>
                        <a:buSzPts val="1900"/>
                        <a:buFont typeface="Arial"/>
                        <a:buNone/>
                      </a:pPr>
                      <a:r>
                        <a:rPr lang="en" sz="1900">
                          <a:solidFill>
                            <a:schemeClr val="dk1"/>
                          </a:solidFill>
                        </a:rPr>
                        <a:t>1</a:t>
                      </a:r>
                      <a:endParaRPr sz="1900" u="none" cap="none" strike="noStrike"/>
                    </a:p>
                  </a:txBody>
                  <a:tcPr marT="121900" marB="121900" marR="91425" marL="91425">
                    <a:lnR cap="flat" cmpd="sng" w="19050">
                      <a:solidFill>
                        <a:srgbClr val="0000F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lnL cap="flat" cmpd="sng" w="19050">
                      <a:solidFill>
                        <a:srgbClr val="0000FF"/>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0000FF"/>
                      </a:solidFill>
                      <a:prstDash val="solid"/>
                      <a:round/>
                      <a:headEnd len="sm" w="sm" type="none"/>
                      <a:tailEnd len="sm" w="sm" type="none"/>
                    </a:lnT>
                    <a:lnB cap="flat" cmpd="sng" w="19050">
                      <a:solidFill>
                        <a:srgbClr val="0000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lnL cap="flat" cmpd="sng" w="19050">
                      <a:solidFill>
                        <a:srgbClr val="0000FF"/>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graphicFrame>
        <p:nvGraphicFramePr>
          <p:cNvPr id="321" name="Google Shape;321;p34"/>
          <p:cNvGraphicFramePr/>
          <p:nvPr/>
        </p:nvGraphicFramePr>
        <p:xfrm>
          <a:off x="639275" y="5518567"/>
          <a:ext cx="3000000" cy="3000000"/>
        </p:xfrm>
        <a:graphic>
          <a:graphicData uri="http://schemas.openxmlformats.org/drawingml/2006/table">
            <a:tbl>
              <a:tblPr>
                <a:noFill/>
                <a:tableStyleId>{F408A230-F3E5-4931-8A8E-7B242848911A}</a:tableStyleId>
              </a:tblPr>
              <a:tblGrid>
                <a:gridCol w="307750"/>
                <a:gridCol w="307750"/>
                <a:gridCol w="307750"/>
                <a:gridCol w="307750"/>
                <a:gridCol w="307750"/>
                <a:gridCol w="307750"/>
                <a:gridCol w="307750"/>
                <a:gridCol w="307750"/>
                <a:gridCol w="307750"/>
                <a:gridCol w="307750"/>
              </a:tblGrid>
              <a:tr h="414225">
                <a:tc>
                  <a:txBody>
                    <a:bodyPr/>
                    <a:lstStyle/>
                    <a:p>
                      <a:pPr indent="0" lvl="0" marL="0" marR="0" rtl="0" algn="l">
                        <a:lnSpc>
                          <a:spcPct val="100000"/>
                        </a:lnSpc>
                        <a:spcBef>
                          <a:spcPts val="0"/>
                        </a:spcBef>
                        <a:spcAft>
                          <a:spcPts val="0"/>
                        </a:spcAft>
                        <a:buNone/>
                      </a:pPr>
                      <a:r>
                        <a:rPr lang="en" sz="1900"/>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900"/>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500"/>
                        <a:t>…</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solidFill>
                            <a:srgbClr val="FF0000"/>
                          </a:solidFill>
                        </a:rPr>
                        <a:t>1</a:t>
                      </a:r>
                      <a:endParaRPr sz="1900" u="none" cap="none" strike="noStrike">
                        <a:solidFill>
                          <a:srgbClr val="FF0000"/>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cxnSp>
        <p:nvCxnSpPr>
          <p:cNvPr id="322" name="Google Shape;322;p34"/>
          <p:cNvCxnSpPr/>
          <p:nvPr/>
        </p:nvCxnSpPr>
        <p:spPr>
          <a:xfrm>
            <a:off x="201715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23" name="Google Shape;323;p34"/>
          <p:cNvCxnSpPr/>
          <p:nvPr/>
        </p:nvCxnSpPr>
        <p:spPr>
          <a:xfrm>
            <a:off x="232130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24" name="Google Shape;324;p34"/>
          <p:cNvCxnSpPr/>
          <p:nvPr/>
        </p:nvCxnSpPr>
        <p:spPr>
          <a:xfrm>
            <a:off x="262545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25" name="Google Shape;325;p34"/>
          <p:cNvCxnSpPr/>
          <p:nvPr/>
        </p:nvCxnSpPr>
        <p:spPr>
          <a:xfrm>
            <a:off x="292960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26" name="Google Shape;326;p34"/>
          <p:cNvCxnSpPr/>
          <p:nvPr/>
        </p:nvCxnSpPr>
        <p:spPr>
          <a:xfrm>
            <a:off x="323375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27" name="Google Shape;327;p34"/>
          <p:cNvCxnSpPr/>
          <p:nvPr/>
        </p:nvCxnSpPr>
        <p:spPr>
          <a:xfrm>
            <a:off x="353790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28" name="Google Shape;328;p34"/>
          <p:cNvCxnSpPr/>
          <p:nvPr/>
        </p:nvCxnSpPr>
        <p:spPr>
          <a:xfrm>
            <a:off x="171300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29" name="Google Shape;329;p34"/>
          <p:cNvCxnSpPr/>
          <p:nvPr/>
        </p:nvCxnSpPr>
        <p:spPr>
          <a:xfrm>
            <a:off x="1104700" y="5047333"/>
            <a:ext cx="0" cy="471900"/>
          </a:xfrm>
          <a:prstGeom prst="straightConnector1">
            <a:avLst/>
          </a:prstGeom>
          <a:noFill/>
          <a:ln cap="flat" cmpd="sng" w="9525">
            <a:solidFill>
              <a:srgbClr val="0000FF"/>
            </a:solidFill>
            <a:prstDash val="solid"/>
            <a:round/>
            <a:headEnd len="med" w="med" type="stealth"/>
            <a:tailEnd len="med" w="med" type="stealth"/>
          </a:ln>
        </p:spPr>
      </p:cxnSp>
      <p:sp>
        <p:nvSpPr>
          <p:cNvPr id="330" name="Google Shape;330;p34"/>
          <p:cNvSpPr txBox="1"/>
          <p:nvPr/>
        </p:nvSpPr>
        <p:spPr>
          <a:xfrm>
            <a:off x="3754825" y="4646000"/>
            <a:ext cx="8295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FF"/>
                </a:solidFill>
                <a:latin typeface="Arial"/>
                <a:ea typeface="Arial"/>
                <a:cs typeface="Arial"/>
                <a:sym typeface="Arial"/>
              </a:rPr>
              <a:t>Bitwise OR</a:t>
            </a:r>
            <a:endParaRPr b="0" i="0" sz="1400" u="none" cap="none" strike="noStrike">
              <a:solidFill>
                <a:srgbClr val="0000FF"/>
              </a:solidFill>
              <a:latin typeface="Arial"/>
              <a:ea typeface="Arial"/>
              <a:cs typeface="Arial"/>
              <a:sym typeface="Arial"/>
            </a:endParaRPr>
          </a:p>
        </p:txBody>
      </p:sp>
      <p:cxnSp>
        <p:nvCxnSpPr>
          <p:cNvPr id="331" name="Google Shape;331;p34"/>
          <p:cNvCxnSpPr/>
          <p:nvPr/>
        </p:nvCxnSpPr>
        <p:spPr>
          <a:xfrm>
            <a:off x="3960175" y="5298333"/>
            <a:ext cx="418800" cy="0"/>
          </a:xfrm>
          <a:prstGeom prst="straightConnector1">
            <a:avLst/>
          </a:prstGeom>
          <a:noFill/>
          <a:ln cap="flat" cmpd="sng" w="28575">
            <a:solidFill>
              <a:srgbClr val="38761D"/>
            </a:solidFill>
            <a:prstDash val="solid"/>
            <a:round/>
            <a:headEnd len="sm" w="sm" type="none"/>
            <a:tailEnd len="med" w="med" type="triangle"/>
          </a:ln>
        </p:spPr>
      </p:cxnSp>
      <p:sp>
        <p:nvSpPr>
          <p:cNvPr id="332" name="Google Shape;332;p34"/>
          <p:cNvSpPr txBox="1"/>
          <p:nvPr/>
        </p:nvSpPr>
        <p:spPr>
          <a:xfrm>
            <a:off x="8079225" y="3100925"/>
            <a:ext cx="951600" cy="32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Logical OR truth table</a:t>
            </a:r>
            <a:endParaRPr sz="1200"/>
          </a:p>
        </p:txBody>
      </p:sp>
      <p:graphicFrame>
        <p:nvGraphicFramePr>
          <p:cNvPr id="333" name="Google Shape;333;p34"/>
          <p:cNvGraphicFramePr/>
          <p:nvPr/>
        </p:nvGraphicFramePr>
        <p:xfrm>
          <a:off x="4682450" y="5026375"/>
          <a:ext cx="3000000" cy="3000000"/>
        </p:xfrm>
        <a:graphic>
          <a:graphicData uri="http://schemas.openxmlformats.org/drawingml/2006/table">
            <a:tbl>
              <a:tblPr>
                <a:noFill/>
                <a:tableStyleId>{F408A230-F3E5-4931-8A8E-7B242848911A}</a:tableStyleId>
              </a:tblPr>
              <a:tblGrid>
                <a:gridCol w="307750"/>
                <a:gridCol w="307750"/>
                <a:gridCol w="307750"/>
                <a:gridCol w="307750"/>
                <a:gridCol w="307750"/>
                <a:gridCol w="307750"/>
                <a:gridCol w="307750"/>
                <a:gridCol w="307750"/>
                <a:gridCol w="307750"/>
                <a:gridCol w="307750"/>
              </a:tblGrid>
              <a:tr h="394575">
                <a:tc>
                  <a:txBody>
                    <a:bodyPr/>
                    <a:lstStyle/>
                    <a:p>
                      <a:pPr indent="0" lvl="0" marL="0" rtl="0" algn="l">
                        <a:spcBef>
                          <a:spcPts val="0"/>
                        </a:spcBef>
                        <a:spcAft>
                          <a:spcPts val="0"/>
                        </a:spcAft>
                        <a:buNone/>
                      </a:pPr>
                      <a:r>
                        <a:rPr lang="en" sz="1900">
                          <a:solidFill>
                            <a:schemeClr val="dk1"/>
                          </a:solidFill>
                        </a:rPr>
                        <a:t>1</a:t>
                      </a:r>
                      <a:endParaRPr sz="1900" u="none" cap="none" strike="noStrike"/>
                    </a:p>
                  </a:txBody>
                  <a:tcPr marT="121900" marB="121900" marR="91425" marL="91425"/>
                </a:tc>
                <a:tc>
                  <a:txBody>
                    <a:bodyPr/>
                    <a:lstStyle/>
                    <a:p>
                      <a:pPr indent="0" lvl="0" marL="0" rtl="0" algn="l">
                        <a:spcBef>
                          <a:spcPts val="0"/>
                        </a:spcBef>
                        <a:spcAft>
                          <a:spcPts val="0"/>
                        </a:spcAft>
                        <a:buNone/>
                      </a:pPr>
                      <a:r>
                        <a:rPr lang="en" sz="1900">
                          <a:solidFill>
                            <a:schemeClr val="dk1"/>
                          </a:solidFill>
                        </a:rPr>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500"/>
                        <a:t>…</a:t>
                      </a:r>
                      <a:endParaRPr sz="1500" u="none" cap="none" strike="noStrike"/>
                    </a:p>
                  </a:txBody>
                  <a:tcPr marT="121900" marB="121900" marR="91425" marL="91425"/>
                </a:tc>
                <a:tc>
                  <a:txBody>
                    <a:bodyPr/>
                    <a:lstStyle/>
                    <a:p>
                      <a:pPr indent="0" lvl="0" marL="0" rtl="0" algn="l">
                        <a:spcBef>
                          <a:spcPts val="0"/>
                        </a:spcBef>
                        <a:spcAft>
                          <a:spcPts val="0"/>
                        </a:spcAft>
                        <a:buClr>
                          <a:schemeClr val="dk1"/>
                        </a:buClr>
                        <a:buSzPts val="1900"/>
                        <a:buFont typeface="Arial"/>
                        <a:buNone/>
                      </a:pPr>
                      <a:r>
                        <a:rPr lang="en" sz="1900">
                          <a:solidFill>
                            <a:schemeClr val="dk1"/>
                          </a:solidFill>
                        </a:rPr>
                        <a:t>1</a:t>
                      </a:r>
                      <a:endParaRPr sz="1900" u="none" cap="none" strike="noStrike"/>
                    </a:p>
                  </a:txBody>
                  <a:tcPr marT="121900" marB="121900" marR="91425" marL="91425">
                    <a:lnR cap="flat" cmpd="sng" w="19050">
                      <a:solidFill>
                        <a:srgbClr val="0000FF"/>
                      </a:solidFill>
                      <a:prstDash val="solid"/>
                      <a:round/>
                      <a:headEnd len="sm" w="sm" type="none"/>
                      <a:tailEnd len="sm" w="sm" type="none"/>
                    </a:lnR>
                  </a:tcPr>
                </a:tc>
                <a:tc>
                  <a:txBody>
                    <a:bodyPr/>
                    <a:lstStyle/>
                    <a:p>
                      <a:pPr indent="0" lvl="0" marL="0" rtl="0" algn="l">
                        <a:spcBef>
                          <a:spcPts val="0"/>
                        </a:spcBef>
                        <a:spcAft>
                          <a:spcPts val="0"/>
                        </a:spcAft>
                        <a:buClr>
                          <a:schemeClr val="dk1"/>
                        </a:buClr>
                        <a:buSzPts val="1900"/>
                        <a:buFont typeface="Arial"/>
                        <a:buNone/>
                      </a:pPr>
                      <a:r>
                        <a:rPr lang="en" sz="1900">
                          <a:solidFill>
                            <a:srgbClr val="FF0000"/>
                          </a:solidFill>
                        </a:rPr>
                        <a:t>1</a:t>
                      </a:r>
                      <a:endParaRPr sz="1900" u="none" cap="none" strike="noStrike"/>
                    </a:p>
                  </a:txBody>
                  <a:tcPr marT="121900" marB="121900" marR="91425" marL="91425">
                    <a:lnL cap="flat" cmpd="sng" w="19050">
                      <a:solidFill>
                        <a:srgbClr val="0000FF"/>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0000FF"/>
                      </a:solidFill>
                      <a:prstDash val="solid"/>
                      <a:round/>
                      <a:headEnd len="sm" w="sm" type="none"/>
                      <a:tailEnd len="sm" w="sm" type="none"/>
                    </a:lnT>
                    <a:lnB cap="flat" cmpd="sng" w="19050">
                      <a:solidFill>
                        <a:srgbClr val="0000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lnL cap="flat" cmpd="sng" w="19050">
                      <a:solidFill>
                        <a:srgbClr val="0000FF"/>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cxnSp>
        <p:nvCxnSpPr>
          <p:cNvPr id="334" name="Google Shape;334;p34"/>
          <p:cNvCxnSpPr/>
          <p:nvPr/>
        </p:nvCxnSpPr>
        <p:spPr>
          <a:xfrm>
            <a:off x="800550" y="5047333"/>
            <a:ext cx="0" cy="471900"/>
          </a:xfrm>
          <a:prstGeom prst="straightConnector1">
            <a:avLst/>
          </a:prstGeom>
          <a:noFill/>
          <a:ln cap="flat" cmpd="sng" w="9525">
            <a:solidFill>
              <a:srgbClr val="0000FF"/>
            </a:solidFill>
            <a:prstDash val="solid"/>
            <a:round/>
            <a:headEnd len="med" w="med" type="stealth"/>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dk2"/>
                </a:solidFill>
              </a:rPr>
              <a:t>So</a:t>
            </a:r>
            <a:r>
              <a:rPr lang="en">
                <a:solidFill>
                  <a:srgbClr val="FF0000"/>
                </a:solidFill>
              </a:rPr>
              <a:t> GPIOA-&gt;ODR |= LED_PIN; </a:t>
            </a:r>
            <a:r>
              <a:rPr lang="en">
                <a:solidFill>
                  <a:schemeClr val="dk2"/>
                </a:solidFill>
              </a:rPr>
              <a:t>turns the LED on.</a:t>
            </a:r>
            <a:endParaRPr>
              <a:solidFill>
                <a:schemeClr val="dk2"/>
              </a:solidFill>
            </a:endParaRPr>
          </a:p>
        </p:txBody>
      </p:sp>
      <p:sp>
        <p:nvSpPr>
          <p:cNvPr id="340" name="Google Shape;340;p3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341" name="Google Shape;341;p35"/>
          <p:cNvSpPr txBox="1"/>
          <p:nvPr>
            <p:ph idx="1" type="body"/>
          </p:nvPr>
        </p:nvSpPr>
        <p:spPr>
          <a:xfrm>
            <a:off x="311700" y="1731350"/>
            <a:ext cx="8520600" cy="4111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#define LED_PIN		(1U&lt;&lt;5)</a:t>
            </a:r>
            <a:r>
              <a:rPr lang="en" sz="1400">
                <a:latin typeface="Courier New"/>
                <a:ea typeface="Courier New"/>
                <a:cs typeface="Courier New"/>
                <a:sym typeface="Courier New"/>
              </a:rPr>
              <a:t>		// 0b 0000 … 0010 0000</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int main(void)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RCC-&gt;IOPENR |= GPIOAEN;		</a:t>
            </a:r>
            <a:r>
              <a:rPr lang="en" sz="1400">
                <a:latin typeface="Courier New"/>
                <a:ea typeface="Courier New"/>
                <a:cs typeface="Courier New"/>
                <a:sym typeface="Courier New"/>
              </a:rPr>
              <a:t>// 1. Enable clock access to GPIOA</a:t>
            </a:r>
            <a:endParaRPr sz="1400">
              <a:latin typeface="Courier New"/>
              <a:ea typeface="Courier New"/>
              <a:cs typeface="Courier New"/>
              <a:sym typeface="Courier New"/>
            </a:endParaRPr>
          </a:p>
          <a:p>
            <a:pPr indent="0" lvl="0" marL="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GPIOA-&gt;MODER |= (1U&lt;&lt;10);		</a:t>
            </a:r>
            <a:r>
              <a:rPr lang="en" sz="1400">
                <a:latin typeface="Courier New"/>
                <a:ea typeface="Courier New"/>
                <a:cs typeface="Courier New"/>
                <a:sym typeface="Courier New"/>
              </a:rPr>
              <a:t>// 2. Configure PA5 (Port A, bit 5)</a:t>
            </a:r>
            <a:r>
              <a:rPr b="1" lang="en" sz="1400">
                <a:latin typeface="Courier New"/>
                <a:ea typeface="Courier New"/>
                <a:cs typeface="Courier New"/>
                <a:sym typeface="Courier New"/>
              </a:rPr>
              <a:t>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	GPIOA-&gt;MODER &amp;= ~(1U&lt;&lt;11);	</a:t>
            </a:r>
            <a:r>
              <a:rPr lang="en" sz="1400">
                <a:latin typeface="Courier New"/>
                <a:ea typeface="Courier New"/>
                <a:cs typeface="Courier New"/>
                <a:sym typeface="Courier New"/>
              </a:rPr>
              <a:t>//    as output pin</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while(1)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GPIOA-&gt;ODR |= LED_PIN;	</a:t>
            </a:r>
            <a:r>
              <a:rPr lang="en" sz="1400">
                <a:solidFill>
                  <a:srgbClr val="FF0000"/>
                </a:solidFill>
                <a:latin typeface="Courier New"/>
                <a:ea typeface="Courier New"/>
                <a:cs typeface="Courier New"/>
                <a:sym typeface="Courier New"/>
              </a:rPr>
              <a:t>// 3. Set bit 5 to turn LED on</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 (int i=0; i&lt;100000;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endParaRPr sz="1400">
              <a:latin typeface="Courier New"/>
              <a:ea typeface="Courier New"/>
              <a:cs typeface="Courier New"/>
              <a:sym typeface="Courier New"/>
            </a:endParaRPr>
          </a:p>
          <a:p>
            <a:pPr indent="45720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GPIOA-&gt;ODR &amp;= ~LED_PIN;	</a:t>
            </a:r>
            <a:r>
              <a:rPr lang="en" sz="1400">
                <a:latin typeface="Courier New"/>
                <a:ea typeface="Courier New"/>
                <a:cs typeface="Courier New"/>
                <a:sym typeface="Courier New"/>
              </a:rPr>
              <a:t>// 4. Clear bit 5 to turn LED off</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for(int i = 0; i&lt;</a:t>
            </a:r>
            <a:r>
              <a:rPr b="1" lang="en" sz="1400">
                <a:latin typeface="Courier New"/>
                <a:ea typeface="Courier New"/>
                <a:cs typeface="Courier New"/>
                <a:sym typeface="Courier New"/>
              </a:rPr>
              <a:t>100000</a:t>
            </a:r>
            <a:r>
              <a:rPr b="1" lang="en" sz="1400">
                <a:latin typeface="Courier New"/>
                <a:ea typeface="Courier New"/>
                <a:cs typeface="Courier New"/>
                <a:sym typeface="Courier New"/>
              </a:rPr>
              <a:t>;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	return 0;					</a:t>
            </a:r>
            <a:r>
              <a:rPr lang="en" sz="1400">
                <a:latin typeface="Courier New"/>
                <a:ea typeface="Courier New"/>
                <a:cs typeface="Courier New"/>
                <a:sym typeface="Courier New"/>
              </a:rPr>
              <a:t>// never reached</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1600"/>
              </a:spcAft>
              <a:buSzPts val="1800"/>
              <a:buNone/>
            </a:pPr>
            <a:r>
              <a:t/>
            </a:r>
            <a:endParaRPr sz="1400">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dk2"/>
                </a:solidFill>
              </a:rPr>
              <a:t>What does</a:t>
            </a:r>
            <a:r>
              <a:rPr lang="en">
                <a:solidFill>
                  <a:srgbClr val="FF0000"/>
                </a:solidFill>
              </a:rPr>
              <a:t> GPIOA-&gt;ODR &amp;= ~LED_PIN; </a:t>
            </a:r>
            <a:r>
              <a:rPr lang="en">
                <a:solidFill>
                  <a:schemeClr val="dk2"/>
                </a:solidFill>
              </a:rPr>
              <a:t>do?</a:t>
            </a:r>
            <a:endParaRPr>
              <a:solidFill>
                <a:schemeClr val="dk2"/>
              </a:solidFill>
            </a:endParaRPr>
          </a:p>
        </p:txBody>
      </p:sp>
      <p:sp>
        <p:nvSpPr>
          <p:cNvPr id="347" name="Google Shape;347;p3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348" name="Google Shape;348;p36"/>
          <p:cNvSpPr txBox="1"/>
          <p:nvPr>
            <p:ph idx="1" type="body"/>
          </p:nvPr>
        </p:nvSpPr>
        <p:spPr>
          <a:xfrm>
            <a:off x="311700" y="1731350"/>
            <a:ext cx="8520600" cy="4111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#define LED_PIN		(1U&lt;&lt;5)</a:t>
            </a:r>
            <a:r>
              <a:rPr lang="en" sz="1400">
                <a:latin typeface="Courier New"/>
                <a:ea typeface="Courier New"/>
                <a:cs typeface="Courier New"/>
                <a:sym typeface="Courier New"/>
              </a:rPr>
              <a:t>		// 0b 0000 … 0010 0000</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int main(void)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RCC-&gt;IOPENR |= GPIOAEN;		</a:t>
            </a:r>
            <a:r>
              <a:rPr lang="en" sz="1400">
                <a:latin typeface="Courier New"/>
                <a:ea typeface="Courier New"/>
                <a:cs typeface="Courier New"/>
                <a:sym typeface="Courier New"/>
              </a:rPr>
              <a:t>// 1. Enable clock access to GPIOA</a:t>
            </a:r>
            <a:endParaRPr sz="1400">
              <a:latin typeface="Courier New"/>
              <a:ea typeface="Courier New"/>
              <a:cs typeface="Courier New"/>
              <a:sym typeface="Courier New"/>
            </a:endParaRPr>
          </a:p>
          <a:p>
            <a:pPr indent="0" lvl="0" marL="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GPIOA-&gt;MODER |= (1U&lt;&lt;10);		</a:t>
            </a:r>
            <a:r>
              <a:rPr lang="en" sz="1400">
                <a:latin typeface="Courier New"/>
                <a:ea typeface="Courier New"/>
                <a:cs typeface="Courier New"/>
                <a:sym typeface="Courier New"/>
              </a:rPr>
              <a:t>// 2. Configure PA5 (Port A, bit 5)</a:t>
            </a:r>
            <a:r>
              <a:rPr b="1" lang="en" sz="1400">
                <a:latin typeface="Courier New"/>
                <a:ea typeface="Courier New"/>
                <a:cs typeface="Courier New"/>
                <a:sym typeface="Courier New"/>
              </a:rPr>
              <a:t>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	GPIOA-&gt;MODER &amp;= ~(1U&lt;&lt;11);	</a:t>
            </a:r>
            <a:r>
              <a:rPr lang="en" sz="1400">
                <a:latin typeface="Courier New"/>
                <a:ea typeface="Courier New"/>
                <a:cs typeface="Courier New"/>
                <a:sym typeface="Courier New"/>
              </a:rPr>
              <a:t>//    as output pin</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while(1)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GPIOA-&gt;ODR |= LED_PIN;	</a:t>
            </a:r>
            <a:r>
              <a:rPr lang="en" sz="1400">
                <a:latin typeface="Courier New"/>
                <a:ea typeface="Courier New"/>
                <a:cs typeface="Courier New"/>
                <a:sym typeface="Courier New"/>
              </a:rPr>
              <a:t>// 3. Set bit 5 to turn LED on</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 (int i=0; i&lt;100000;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endParaRPr sz="1400">
              <a:latin typeface="Courier New"/>
              <a:ea typeface="Courier New"/>
              <a:cs typeface="Courier New"/>
              <a:sym typeface="Courier New"/>
            </a:endParaRPr>
          </a:p>
          <a:p>
            <a:pPr indent="45720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GPIOA-&gt;ODR &amp;= ~LED_PIN;	</a:t>
            </a:r>
            <a:r>
              <a:rPr lang="en" sz="1400">
                <a:solidFill>
                  <a:srgbClr val="FF0000"/>
                </a:solidFill>
                <a:latin typeface="Courier New"/>
                <a:ea typeface="Courier New"/>
                <a:cs typeface="Courier New"/>
                <a:sym typeface="Courier New"/>
              </a:rPr>
              <a:t>// 4. Clear bit 5 to turn LED off</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for(int i = 0; i&lt;</a:t>
            </a:r>
            <a:r>
              <a:rPr b="1" lang="en" sz="1400">
                <a:latin typeface="Courier New"/>
                <a:ea typeface="Courier New"/>
                <a:cs typeface="Courier New"/>
                <a:sym typeface="Courier New"/>
              </a:rPr>
              <a:t>100000</a:t>
            </a:r>
            <a:r>
              <a:rPr b="1" lang="en" sz="1400">
                <a:latin typeface="Courier New"/>
                <a:ea typeface="Courier New"/>
                <a:cs typeface="Courier New"/>
                <a:sym typeface="Courier New"/>
              </a:rPr>
              <a:t>;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	return 0;					</a:t>
            </a:r>
            <a:r>
              <a:rPr lang="en" sz="1400">
                <a:latin typeface="Courier New"/>
                <a:ea typeface="Courier New"/>
                <a:cs typeface="Courier New"/>
                <a:sym typeface="Courier New"/>
              </a:rPr>
              <a:t>// never reached</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1600"/>
              </a:spcAft>
              <a:buSzPts val="1800"/>
              <a:buNone/>
            </a:pPr>
            <a:r>
              <a:t/>
            </a:r>
            <a:endParaRPr sz="1400">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7"/>
          <p:cNvSpPr txBox="1"/>
          <p:nvPr>
            <p:ph idx="1" type="body"/>
          </p:nvPr>
        </p:nvSpPr>
        <p:spPr>
          <a:xfrm>
            <a:off x="311700" y="1274700"/>
            <a:ext cx="6764100" cy="324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Suppose GPIOA-&gt;ODR already has some bits set, for example:</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rPr lang="en"/>
              <a:t>We want to clear bit 5 without changing the other bits. Flip each bit in (1U&lt;&lt;5) and use the logical </a:t>
            </a:r>
            <a:r>
              <a:rPr lang="en">
                <a:solidFill>
                  <a:srgbClr val="0000FF"/>
                </a:solidFill>
              </a:rPr>
              <a:t>bitwise "AND" </a:t>
            </a:r>
            <a:r>
              <a:rPr lang="en">
                <a:solidFill>
                  <a:schemeClr val="dk1"/>
                </a:solidFill>
              </a:rPr>
              <a:t>operation</a:t>
            </a:r>
            <a:r>
              <a:rPr lang="en">
                <a:solidFill>
                  <a:srgbClr val="0000FF"/>
                </a:solidFill>
              </a:rPr>
              <a:t>, &amp;.</a:t>
            </a:r>
            <a:r>
              <a:rPr lang="en"/>
              <a:t> </a:t>
            </a:r>
            <a:endParaRPr/>
          </a:p>
        </p:txBody>
      </p:sp>
      <p:sp>
        <p:nvSpPr>
          <p:cNvPr id="354" name="Google Shape;354;p37"/>
          <p:cNvSpPr txBox="1"/>
          <p:nvPr>
            <p:ph type="title"/>
          </p:nvPr>
        </p:nvSpPr>
        <p:spPr>
          <a:xfrm>
            <a:off x="190200" y="369625"/>
            <a:ext cx="87600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600"/>
              <a:t>Clearing</a:t>
            </a:r>
            <a:r>
              <a:rPr lang="en" sz="2600"/>
              <a:t> bit 5 in GPIOA-&gt;ODR without changing other bits</a:t>
            </a:r>
            <a:endParaRPr sz="2600"/>
          </a:p>
        </p:txBody>
      </p:sp>
      <p:sp>
        <p:nvSpPr>
          <p:cNvPr id="355" name="Google Shape;355;p3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graphicFrame>
        <p:nvGraphicFramePr>
          <p:cNvPr id="356" name="Google Shape;356;p37"/>
          <p:cNvGraphicFramePr/>
          <p:nvPr/>
        </p:nvGraphicFramePr>
        <p:xfrm>
          <a:off x="1633200" y="1887454"/>
          <a:ext cx="3000000" cy="3000000"/>
        </p:xfrm>
        <a:graphic>
          <a:graphicData uri="http://schemas.openxmlformats.org/drawingml/2006/table">
            <a:tbl>
              <a:tblPr>
                <a:noFill/>
                <a:tableStyleId>{F408A230-F3E5-4931-8A8E-7B242848911A}</a:tableStyleId>
              </a:tblPr>
              <a:tblGrid>
                <a:gridCol w="716225"/>
                <a:gridCol w="716225"/>
                <a:gridCol w="716225"/>
                <a:gridCol w="716225"/>
                <a:gridCol w="716225"/>
                <a:gridCol w="716225"/>
                <a:gridCol w="716225"/>
                <a:gridCol w="716225"/>
                <a:gridCol w="716225"/>
                <a:gridCol w="716225"/>
              </a:tblGrid>
              <a:tr h="664975">
                <a:tc>
                  <a:txBody>
                    <a:bodyPr/>
                    <a:lstStyle/>
                    <a:p>
                      <a:pPr indent="0" lvl="0" marL="0" rtl="0" algn="ctr">
                        <a:spcBef>
                          <a:spcPts val="0"/>
                        </a:spcBef>
                        <a:spcAft>
                          <a:spcPts val="0"/>
                        </a:spcAft>
                        <a:buNone/>
                      </a:pPr>
                      <a:r>
                        <a:rPr lang="en" sz="1300">
                          <a:solidFill>
                            <a:schemeClr val="dk1"/>
                          </a:solidFill>
                        </a:rPr>
                        <a:t>Bit 15</a:t>
                      </a:r>
                      <a:endParaRPr sz="1300">
                        <a:solidFill>
                          <a:schemeClr val="dk1"/>
                        </a:solidFill>
                      </a:endParaRPr>
                    </a:p>
                    <a:p>
                      <a:pPr indent="0" lvl="0" marL="0" rtl="0" algn="ctr">
                        <a:spcBef>
                          <a:spcPts val="0"/>
                        </a:spcBef>
                        <a:spcAft>
                          <a:spcPts val="0"/>
                        </a:spcAft>
                        <a:buNone/>
                      </a:pPr>
                      <a:r>
                        <a:rPr lang="en" sz="1900">
                          <a:solidFill>
                            <a:schemeClr val="dk1"/>
                          </a:solidFill>
                        </a:rPr>
                        <a:t>1</a:t>
                      </a:r>
                      <a:endParaRPr sz="1300">
                        <a:solidFill>
                          <a:schemeClr val="dk1"/>
                        </a:solidFill>
                      </a:endParaRPr>
                    </a:p>
                  </a:txBody>
                  <a:tcPr marT="121900" marB="121900" marR="91425" marL="91425"/>
                </a:tc>
                <a:tc>
                  <a:txBody>
                    <a:bodyPr/>
                    <a:lstStyle/>
                    <a:p>
                      <a:pPr indent="0" lvl="0" marL="0" rtl="0" algn="ctr">
                        <a:spcBef>
                          <a:spcPts val="0"/>
                        </a:spcBef>
                        <a:spcAft>
                          <a:spcPts val="0"/>
                        </a:spcAft>
                        <a:buNone/>
                      </a:pPr>
                      <a:r>
                        <a:rPr lang="en" sz="1300">
                          <a:solidFill>
                            <a:schemeClr val="dk1"/>
                          </a:solidFill>
                        </a:rPr>
                        <a:t>Bit 14</a:t>
                      </a:r>
                      <a:endParaRPr sz="1300">
                        <a:solidFill>
                          <a:schemeClr val="dk1"/>
                        </a:solidFill>
                      </a:endParaRPr>
                    </a:p>
                    <a:p>
                      <a:pPr indent="0" lvl="0" marL="0" rtl="0" algn="ctr">
                        <a:spcBef>
                          <a:spcPts val="0"/>
                        </a:spcBef>
                        <a:spcAft>
                          <a:spcPts val="0"/>
                        </a:spcAft>
                        <a:buNone/>
                      </a:pPr>
                      <a:r>
                        <a:rPr lang="en" sz="1900">
                          <a:solidFill>
                            <a:schemeClr val="dk1"/>
                          </a:solidFill>
                        </a:rPr>
                        <a:t>0</a:t>
                      </a:r>
                      <a:endParaRPr sz="1300">
                        <a:solidFill>
                          <a:schemeClr val="dk1"/>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t>…</a:t>
                      </a:r>
                      <a:endParaRPr sz="1900" u="none" cap="none" strike="noStrike"/>
                    </a:p>
                  </a:txBody>
                  <a:tcPr marT="121900" marB="121900" marR="91425" marL="91425"/>
                </a:tc>
                <a:tc>
                  <a:txBody>
                    <a:bodyPr/>
                    <a:lstStyle/>
                    <a:p>
                      <a:pPr indent="0" lvl="0" marL="0" rtl="0" algn="ctr">
                        <a:spcBef>
                          <a:spcPts val="0"/>
                        </a:spcBef>
                        <a:spcAft>
                          <a:spcPts val="0"/>
                        </a:spcAft>
                        <a:buClr>
                          <a:schemeClr val="dk1"/>
                        </a:buClr>
                        <a:buSzPts val="1300"/>
                        <a:buFont typeface="Arial"/>
                        <a:buNone/>
                      </a:pPr>
                      <a:r>
                        <a:rPr lang="en" sz="1300">
                          <a:solidFill>
                            <a:schemeClr val="dk1"/>
                          </a:solidFill>
                        </a:rPr>
                        <a:t>Bit 6</a:t>
                      </a:r>
                      <a:endParaRPr sz="1300">
                        <a:solidFill>
                          <a:schemeClr val="dk1"/>
                        </a:solidFill>
                      </a:endParaRPr>
                    </a:p>
                    <a:p>
                      <a:pPr indent="0" lvl="0" marL="0" rtl="0" algn="ctr">
                        <a:spcBef>
                          <a:spcPts val="0"/>
                        </a:spcBef>
                        <a:spcAft>
                          <a:spcPts val="0"/>
                        </a:spcAft>
                        <a:buClr>
                          <a:schemeClr val="dk1"/>
                        </a:buClr>
                        <a:buSzPts val="1900"/>
                        <a:buFont typeface="Arial"/>
                        <a:buNone/>
                      </a:pPr>
                      <a:r>
                        <a:rPr lang="en" sz="1900">
                          <a:solidFill>
                            <a:schemeClr val="dk1"/>
                          </a:solidFill>
                        </a:rPr>
                        <a:t>1</a:t>
                      </a:r>
                      <a:endParaRPr sz="1300">
                        <a:solidFill>
                          <a:schemeClr val="dk1"/>
                        </a:solidFill>
                      </a:endParaRPr>
                    </a:p>
                  </a:txBody>
                  <a:tcPr marT="121900" marB="121900" marR="91425" marL="91425">
                    <a:lnR cap="flat" cmpd="sng" w="19050">
                      <a:solidFill>
                        <a:srgbClr val="0000FF"/>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a:solidFill>
                            <a:schemeClr val="dk1"/>
                          </a:solidFill>
                        </a:rPr>
                        <a:t>Bit </a:t>
                      </a:r>
                      <a:r>
                        <a:rPr lang="en" sz="1300" u="none" cap="none" strike="noStrike">
                          <a:solidFill>
                            <a:schemeClr val="dk1"/>
                          </a:solidFill>
                        </a:rPr>
                        <a:t>5</a:t>
                      </a:r>
                      <a:endParaRPr sz="1300" u="none" cap="none" strike="noStrike">
                        <a:solidFill>
                          <a:schemeClr val="dk1"/>
                        </a:solidFill>
                      </a:endParaRPr>
                    </a:p>
                    <a:p>
                      <a:pPr indent="0" lvl="0" marL="0" marR="0" rtl="0" algn="ctr">
                        <a:lnSpc>
                          <a:spcPct val="100000"/>
                        </a:lnSpc>
                        <a:spcBef>
                          <a:spcPts val="0"/>
                        </a:spcBef>
                        <a:spcAft>
                          <a:spcPts val="0"/>
                        </a:spcAft>
                        <a:buClr>
                          <a:srgbClr val="000000"/>
                        </a:buClr>
                        <a:buSzPts val="1900"/>
                        <a:buFont typeface="Arial"/>
                        <a:buNone/>
                      </a:pPr>
                      <a:r>
                        <a:rPr lang="en" sz="1900">
                          <a:solidFill>
                            <a:schemeClr val="dk1"/>
                          </a:solidFill>
                        </a:rPr>
                        <a:t>1</a:t>
                      </a:r>
                      <a:endParaRPr sz="1900" u="none" cap="none" strike="noStrike">
                        <a:solidFill>
                          <a:schemeClr val="dk1"/>
                        </a:solidFill>
                      </a:endParaRPr>
                    </a:p>
                  </a:txBody>
                  <a:tcPr marT="121900" marB="121900" marR="91425" marL="91425">
                    <a:lnL cap="flat" cmpd="sng" w="19050">
                      <a:solidFill>
                        <a:srgbClr val="0000FF"/>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0000FF"/>
                      </a:solidFill>
                      <a:prstDash val="solid"/>
                      <a:round/>
                      <a:headEnd len="sm" w="sm" type="none"/>
                      <a:tailEnd len="sm" w="sm" type="none"/>
                    </a:lnT>
                    <a:lnB cap="flat" cmpd="sng" w="19050">
                      <a:solidFill>
                        <a:srgbClr val="0000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4</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lnL cap="flat" cmpd="sng" w="19050">
                      <a:solidFill>
                        <a:srgbClr val="0000FF"/>
                      </a:solidFill>
                      <a:prstDash val="solid"/>
                      <a:round/>
                      <a:headEnd len="sm" w="sm" type="none"/>
                      <a:tailEnd len="sm" w="sm" type="none"/>
                    </a:lnL>
                  </a:tcPr>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3</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2</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1</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lang="en" sz="1300"/>
                        <a:t>Bit </a:t>
                      </a:r>
                      <a:r>
                        <a:rPr lang="en" sz="1300" u="none" cap="none" strike="noStrike"/>
                        <a:t>0</a:t>
                      </a:r>
                      <a:endParaRPr sz="1300" u="none" cap="none" strike="noStrike"/>
                    </a:p>
                    <a:p>
                      <a:pPr indent="0" lvl="0" marL="0" marR="0" rtl="0" algn="ctr">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sp>
        <p:nvSpPr>
          <p:cNvPr id="357" name="Google Shape;357;p37"/>
          <p:cNvSpPr txBox="1"/>
          <p:nvPr/>
        </p:nvSpPr>
        <p:spPr>
          <a:xfrm>
            <a:off x="118525" y="2088725"/>
            <a:ext cx="1398600" cy="52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800"/>
              <a:buFont typeface="Arial"/>
              <a:buNone/>
            </a:pPr>
            <a:r>
              <a:rPr lang="en">
                <a:solidFill>
                  <a:schemeClr val="dk2"/>
                </a:solidFill>
              </a:rPr>
              <a:t>GPIOA-&gt;ODR</a:t>
            </a:r>
            <a:r>
              <a:rPr b="0" i="0" lang="en" u="none" cap="none" strike="noStrike">
                <a:solidFill>
                  <a:schemeClr val="dk2"/>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graphicFrame>
        <p:nvGraphicFramePr>
          <p:cNvPr id="358" name="Google Shape;358;p37"/>
          <p:cNvGraphicFramePr/>
          <p:nvPr/>
        </p:nvGraphicFramePr>
        <p:xfrm>
          <a:off x="6950975" y="2857392"/>
          <a:ext cx="3000000" cy="3000000"/>
        </p:xfrm>
        <a:graphic>
          <a:graphicData uri="http://schemas.openxmlformats.org/drawingml/2006/table">
            <a:tbl>
              <a:tblPr>
                <a:noFill/>
                <a:tableStyleId>{F408A230-F3E5-4931-8A8E-7B242848911A}</a:tableStyleId>
              </a:tblPr>
              <a:tblGrid>
                <a:gridCol w="383100"/>
                <a:gridCol w="383100"/>
                <a:gridCol w="383100"/>
              </a:tblGrid>
              <a:tr h="352000">
                <a:tc>
                  <a:txBody>
                    <a:bodyPr/>
                    <a:lstStyle/>
                    <a:p>
                      <a:pPr indent="0" lvl="0" marL="0" marR="0" rtl="0" algn="ctr">
                        <a:lnSpc>
                          <a:spcPct val="100000"/>
                        </a:lnSpc>
                        <a:spcBef>
                          <a:spcPts val="0"/>
                        </a:spcBef>
                        <a:spcAft>
                          <a:spcPts val="0"/>
                        </a:spcAft>
                        <a:buClr>
                          <a:srgbClr val="000000"/>
                        </a:buClr>
                        <a:buSzPts val="1900"/>
                        <a:buFont typeface="Arial"/>
                        <a:buNone/>
                      </a:pPr>
                      <a:r>
                        <a:rPr lang="en" sz="1600">
                          <a:solidFill>
                            <a:srgbClr val="0000FF"/>
                          </a:solidFill>
                        </a:rPr>
                        <a:t>&amp;</a:t>
                      </a:r>
                      <a:endParaRPr sz="1600" u="none" cap="none" strike="noStrike">
                        <a:solidFill>
                          <a:srgbClr val="0000FF"/>
                        </a:solidFill>
                      </a:endParaRPr>
                    </a:p>
                  </a:txBody>
                  <a:tcPr marT="27425" marB="27425" marR="91425" marL="91425">
                    <a:solidFill>
                      <a:srgbClr val="B7B7B7"/>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0</a:t>
                      </a:r>
                      <a:endParaRPr sz="1600" u="none" cap="none" strike="noStrike"/>
                    </a:p>
                  </a:txBody>
                  <a:tcPr marT="27425" marB="27425" marR="91425" marL="91425">
                    <a:solidFill>
                      <a:srgbClr val="B7B7B7"/>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1</a:t>
                      </a:r>
                      <a:endParaRPr sz="1600" u="none" cap="none" strike="noStrike"/>
                    </a:p>
                  </a:txBody>
                  <a:tcPr marT="27425" marB="27425" marR="91425" marL="91425">
                    <a:solidFill>
                      <a:srgbClr val="B7B7B7"/>
                    </a:solidFill>
                  </a:tcPr>
                </a:tc>
              </a:tr>
              <a:tr h="352000">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0</a:t>
                      </a:r>
                      <a:endParaRPr sz="1600" u="none" cap="none" strike="noStrike"/>
                    </a:p>
                  </a:txBody>
                  <a:tcPr marT="27425" marB="27425" marR="91425" marL="91425">
                    <a:solidFill>
                      <a:srgbClr val="B7B7B7"/>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0</a:t>
                      </a:r>
                      <a:endParaRPr sz="1600" u="none" cap="none" strike="noStrike"/>
                    </a:p>
                  </a:txBody>
                  <a:tcPr marT="27425" marB="27425"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a:t>0</a:t>
                      </a:r>
                      <a:endParaRPr sz="1600" u="none" cap="none" strike="noStrike"/>
                    </a:p>
                  </a:txBody>
                  <a:tcPr marT="27425" marB="27425" marR="91425" marL="91425"/>
                </a:tc>
              </a:tr>
              <a:tr h="352000">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1</a:t>
                      </a:r>
                      <a:endParaRPr sz="1600" u="none" cap="none" strike="noStrike"/>
                    </a:p>
                  </a:txBody>
                  <a:tcPr marT="27425" marB="27425" marR="91425" marL="91425">
                    <a:solidFill>
                      <a:srgbClr val="B7B7B7"/>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a:t>0</a:t>
                      </a:r>
                      <a:endParaRPr sz="1600" u="none" cap="none" strike="noStrike"/>
                    </a:p>
                  </a:txBody>
                  <a:tcPr marT="27425" marB="27425"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1</a:t>
                      </a:r>
                      <a:endParaRPr sz="1600" u="none" cap="none" strike="noStrike"/>
                    </a:p>
                  </a:txBody>
                  <a:tcPr marT="27425" marB="27425" marR="91425" marL="91425"/>
                </a:tc>
              </a:tr>
            </a:tbl>
          </a:graphicData>
        </a:graphic>
      </p:graphicFrame>
      <p:sp>
        <p:nvSpPr>
          <p:cNvPr id="359" name="Google Shape;359;p37"/>
          <p:cNvSpPr txBox="1"/>
          <p:nvPr/>
        </p:nvSpPr>
        <p:spPr>
          <a:xfrm>
            <a:off x="311700" y="3952250"/>
            <a:ext cx="8160600" cy="52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800">
                <a:solidFill>
                  <a:srgbClr val="FF0000"/>
                </a:solidFill>
              </a:rPr>
              <a:t>GPIOA-&gt;ODR</a:t>
            </a:r>
            <a:r>
              <a:rPr b="0" i="0" lang="en" sz="1800" u="none" cap="none" strike="noStrike">
                <a:solidFill>
                  <a:srgbClr val="FF0000"/>
                </a:solidFill>
                <a:latin typeface="Arial"/>
                <a:ea typeface="Arial"/>
                <a:cs typeface="Arial"/>
                <a:sym typeface="Arial"/>
              </a:rPr>
              <a:t> &amp;= ~(1U &lt;&lt; 5);</a:t>
            </a:r>
            <a:r>
              <a:rPr b="0" i="0" lang="en" sz="1800" u="none" cap="none" strike="noStrike">
                <a:solidFill>
                  <a:srgbClr val="000000"/>
                </a:solidFill>
                <a:latin typeface="Arial"/>
                <a:ea typeface="Arial"/>
                <a:cs typeface="Arial"/>
                <a:sym typeface="Arial"/>
              </a:rPr>
              <a:t> accomplishes what we want:</a:t>
            </a:r>
            <a:br>
              <a:rPr b="0" i="0" lang="en"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p:txBody>
      </p:sp>
      <p:graphicFrame>
        <p:nvGraphicFramePr>
          <p:cNvPr id="360" name="Google Shape;360;p37"/>
          <p:cNvGraphicFramePr/>
          <p:nvPr/>
        </p:nvGraphicFramePr>
        <p:xfrm>
          <a:off x="4677875" y="4519400"/>
          <a:ext cx="3000000" cy="3000000"/>
        </p:xfrm>
        <a:graphic>
          <a:graphicData uri="http://schemas.openxmlformats.org/drawingml/2006/table">
            <a:tbl>
              <a:tblPr>
                <a:noFill/>
                <a:tableStyleId>{F408A230-F3E5-4931-8A8E-7B242848911A}</a:tableStyleId>
              </a:tblPr>
              <a:tblGrid>
                <a:gridCol w="307750"/>
                <a:gridCol w="307750"/>
                <a:gridCol w="307750"/>
                <a:gridCol w="307750"/>
                <a:gridCol w="307750"/>
                <a:gridCol w="307750"/>
                <a:gridCol w="307750"/>
                <a:gridCol w="307750"/>
                <a:gridCol w="307750"/>
                <a:gridCol w="307750"/>
              </a:tblGrid>
              <a:tr h="394575">
                <a:tc>
                  <a:txBody>
                    <a:bodyPr/>
                    <a:lstStyle/>
                    <a:p>
                      <a:pPr indent="0" lvl="0" marL="0" rtl="0" algn="l">
                        <a:spcBef>
                          <a:spcPts val="0"/>
                        </a:spcBef>
                        <a:spcAft>
                          <a:spcPts val="0"/>
                        </a:spcAft>
                        <a:buNone/>
                      </a:pPr>
                      <a:r>
                        <a:rPr lang="en" sz="1900">
                          <a:solidFill>
                            <a:schemeClr val="dk1"/>
                          </a:solidFill>
                        </a:rPr>
                        <a:t>1</a:t>
                      </a:r>
                      <a:endParaRPr sz="1900" u="none" cap="none" strike="noStrike"/>
                    </a:p>
                  </a:txBody>
                  <a:tcPr marT="121900" marB="121900" marR="91425" marL="91425"/>
                </a:tc>
                <a:tc>
                  <a:txBody>
                    <a:bodyPr/>
                    <a:lstStyle/>
                    <a:p>
                      <a:pPr indent="0" lvl="0" marL="0" rtl="0" algn="l">
                        <a:spcBef>
                          <a:spcPts val="0"/>
                        </a:spcBef>
                        <a:spcAft>
                          <a:spcPts val="0"/>
                        </a:spcAft>
                        <a:buNone/>
                      </a:pPr>
                      <a:r>
                        <a:rPr lang="en" sz="1900">
                          <a:solidFill>
                            <a:schemeClr val="dk1"/>
                          </a:solidFill>
                        </a:rPr>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500"/>
                        <a:t>…</a:t>
                      </a:r>
                      <a:endParaRPr sz="1500" u="none" cap="none" strike="noStrike"/>
                    </a:p>
                  </a:txBody>
                  <a:tcPr marT="121900" marB="121900" marR="91425" marL="91425"/>
                </a:tc>
                <a:tc>
                  <a:txBody>
                    <a:bodyPr/>
                    <a:lstStyle/>
                    <a:p>
                      <a:pPr indent="0" lvl="0" marL="0" rtl="0" algn="l">
                        <a:spcBef>
                          <a:spcPts val="0"/>
                        </a:spcBef>
                        <a:spcAft>
                          <a:spcPts val="0"/>
                        </a:spcAft>
                        <a:buClr>
                          <a:schemeClr val="dk1"/>
                        </a:buClr>
                        <a:buSzPts val="1900"/>
                        <a:buFont typeface="Arial"/>
                        <a:buNone/>
                      </a:pPr>
                      <a:r>
                        <a:rPr lang="en" sz="1900">
                          <a:solidFill>
                            <a:schemeClr val="dk1"/>
                          </a:solidFill>
                        </a:rPr>
                        <a:t>1</a:t>
                      </a:r>
                      <a:endParaRPr sz="1900" u="none" cap="none" strike="noStrike"/>
                    </a:p>
                  </a:txBody>
                  <a:tcPr marT="121900" marB="121900" marR="91425" marL="91425">
                    <a:lnR cap="flat" cmpd="sng" w="19050">
                      <a:solidFill>
                        <a:srgbClr val="0000F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a:solidFill>
                            <a:schemeClr val="dk1"/>
                          </a:solidFill>
                        </a:rPr>
                        <a:t>1</a:t>
                      </a:r>
                      <a:endParaRPr sz="1900" u="none" cap="none" strike="noStrike">
                        <a:solidFill>
                          <a:schemeClr val="dk1"/>
                        </a:solidFill>
                      </a:endParaRPr>
                    </a:p>
                  </a:txBody>
                  <a:tcPr marT="121900" marB="121900" marR="91425" marL="91425">
                    <a:lnL cap="flat" cmpd="sng" w="19050">
                      <a:solidFill>
                        <a:srgbClr val="0000FF"/>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0000FF"/>
                      </a:solidFill>
                      <a:prstDash val="solid"/>
                      <a:round/>
                      <a:headEnd len="sm" w="sm" type="none"/>
                      <a:tailEnd len="sm" w="sm" type="none"/>
                    </a:lnT>
                    <a:lnB cap="flat" cmpd="sng" w="19050">
                      <a:solidFill>
                        <a:srgbClr val="0000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lnL cap="flat" cmpd="sng" w="19050">
                      <a:solidFill>
                        <a:srgbClr val="0000FF"/>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graphicFrame>
        <p:nvGraphicFramePr>
          <p:cNvPr id="361" name="Google Shape;361;p37"/>
          <p:cNvGraphicFramePr/>
          <p:nvPr/>
        </p:nvGraphicFramePr>
        <p:xfrm>
          <a:off x="4677875" y="5518567"/>
          <a:ext cx="3000000" cy="3000000"/>
        </p:xfrm>
        <a:graphic>
          <a:graphicData uri="http://schemas.openxmlformats.org/drawingml/2006/table">
            <a:tbl>
              <a:tblPr>
                <a:noFill/>
                <a:tableStyleId>{F408A230-F3E5-4931-8A8E-7B242848911A}</a:tableStyleId>
              </a:tblPr>
              <a:tblGrid>
                <a:gridCol w="307750"/>
                <a:gridCol w="307750"/>
                <a:gridCol w="307750"/>
                <a:gridCol w="307750"/>
                <a:gridCol w="307750"/>
                <a:gridCol w="307750"/>
                <a:gridCol w="307750"/>
                <a:gridCol w="307750"/>
                <a:gridCol w="307750"/>
                <a:gridCol w="307750"/>
              </a:tblGrid>
              <a:tr h="414225">
                <a:tc>
                  <a:txBody>
                    <a:bodyPr/>
                    <a:lstStyle/>
                    <a:p>
                      <a:pPr indent="0" lvl="0" marL="0" marR="0" rtl="0" algn="l">
                        <a:lnSpc>
                          <a:spcPct val="100000"/>
                        </a:lnSpc>
                        <a:spcBef>
                          <a:spcPts val="0"/>
                        </a:spcBef>
                        <a:spcAft>
                          <a:spcPts val="0"/>
                        </a:spcAft>
                        <a:buNone/>
                      </a:pPr>
                      <a:r>
                        <a:rPr lang="en" sz="1900"/>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900"/>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500"/>
                        <a:t>…</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solidFill>
                            <a:srgbClr val="FF0000"/>
                          </a:solidFill>
                        </a:rPr>
                        <a:t>0</a:t>
                      </a:r>
                      <a:endParaRPr sz="1900" u="none" cap="none" strike="noStrike">
                        <a:solidFill>
                          <a:srgbClr val="FF0000"/>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a:t>1</a:t>
                      </a:r>
                      <a:endParaRPr sz="1900" u="none" cap="none" strike="noStrike"/>
                    </a:p>
                  </a:txBody>
                  <a:tcPr marT="121900" marB="121900" marR="91425" marL="91425"/>
                </a:tc>
              </a:tr>
            </a:tbl>
          </a:graphicData>
        </a:graphic>
      </p:graphicFrame>
      <p:cxnSp>
        <p:nvCxnSpPr>
          <p:cNvPr id="362" name="Google Shape;362;p37"/>
          <p:cNvCxnSpPr/>
          <p:nvPr/>
        </p:nvCxnSpPr>
        <p:spPr>
          <a:xfrm>
            <a:off x="605575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63" name="Google Shape;363;p37"/>
          <p:cNvCxnSpPr/>
          <p:nvPr/>
        </p:nvCxnSpPr>
        <p:spPr>
          <a:xfrm>
            <a:off x="635990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64" name="Google Shape;364;p37"/>
          <p:cNvCxnSpPr/>
          <p:nvPr/>
        </p:nvCxnSpPr>
        <p:spPr>
          <a:xfrm>
            <a:off x="666405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65" name="Google Shape;365;p37"/>
          <p:cNvCxnSpPr/>
          <p:nvPr/>
        </p:nvCxnSpPr>
        <p:spPr>
          <a:xfrm>
            <a:off x="696820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66" name="Google Shape;366;p37"/>
          <p:cNvCxnSpPr/>
          <p:nvPr/>
        </p:nvCxnSpPr>
        <p:spPr>
          <a:xfrm>
            <a:off x="727235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67" name="Google Shape;367;p37"/>
          <p:cNvCxnSpPr/>
          <p:nvPr/>
        </p:nvCxnSpPr>
        <p:spPr>
          <a:xfrm>
            <a:off x="757650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68" name="Google Shape;368;p37"/>
          <p:cNvCxnSpPr/>
          <p:nvPr/>
        </p:nvCxnSpPr>
        <p:spPr>
          <a:xfrm>
            <a:off x="5751600" y="5047333"/>
            <a:ext cx="0" cy="471900"/>
          </a:xfrm>
          <a:prstGeom prst="straightConnector1">
            <a:avLst/>
          </a:prstGeom>
          <a:noFill/>
          <a:ln cap="flat" cmpd="sng" w="9525">
            <a:solidFill>
              <a:srgbClr val="0000FF"/>
            </a:solidFill>
            <a:prstDash val="solid"/>
            <a:round/>
            <a:headEnd len="med" w="med" type="stealth"/>
            <a:tailEnd len="med" w="med" type="stealth"/>
          </a:ln>
        </p:spPr>
      </p:cxnSp>
      <p:cxnSp>
        <p:nvCxnSpPr>
          <p:cNvPr id="369" name="Google Shape;369;p37"/>
          <p:cNvCxnSpPr/>
          <p:nvPr/>
        </p:nvCxnSpPr>
        <p:spPr>
          <a:xfrm>
            <a:off x="5143300" y="5047333"/>
            <a:ext cx="0" cy="471900"/>
          </a:xfrm>
          <a:prstGeom prst="straightConnector1">
            <a:avLst/>
          </a:prstGeom>
          <a:noFill/>
          <a:ln cap="flat" cmpd="sng" w="9525">
            <a:solidFill>
              <a:srgbClr val="0000FF"/>
            </a:solidFill>
            <a:prstDash val="solid"/>
            <a:round/>
            <a:headEnd len="med" w="med" type="stealth"/>
            <a:tailEnd len="med" w="med" type="stealth"/>
          </a:ln>
        </p:spPr>
      </p:cxnSp>
      <p:sp>
        <p:nvSpPr>
          <p:cNvPr id="370" name="Google Shape;370;p37"/>
          <p:cNvSpPr txBox="1"/>
          <p:nvPr/>
        </p:nvSpPr>
        <p:spPr>
          <a:xfrm>
            <a:off x="7793425" y="4646000"/>
            <a:ext cx="8295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FF"/>
                </a:solidFill>
                <a:latin typeface="Arial"/>
                <a:ea typeface="Arial"/>
                <a:cs typeface="Arial"/>
                <a:sym typeface="Arial"/>
              </a:rPr>
              <a:t>Bitwise </a:t>
            </a:r>
            <a:r>
              <a:rPr lang="en">
                <a:solidFill>
                  <a:srgbClr val="0000FF"/>
                </a:solidFill>
              </a:rPr>
              <a:t>AND</a:t>
            </a:r>
            <a:endParaRPr b="0" i="0" sz="1400" u="none" cap="none" strike="noStrike">
              <a:solidFill>
                <a:srgbClr val="0000FF"/>
              </a:solidFill>
              <a:latin typeface="Arial"/>
              <a:ea typeface="Arial"/>
              <a:cs typeface="Arial"/>
              <a:sym typeface="Arial"/>
            </a:endParaRPr>
          </a:p>
        </p:txBody>
      </p:sp>
      <p:cxnSp>
        <p:nvCxnSpPr>
          <p:cNvPr id="371" name="Google Shape;371;p37"/>
          <p:cNvCxnSpPr/>
          <p:nvPr/>
        </p:nvCxnSpPr>
        <p:spPr>
          <a:xfrm flipH="1">
            <a:off x="8265550" y="5263545"/>
            <a:ext cx="22500" cy="1290900"/>
          </a:xfrm>
          <a:prstGeom prst="straightConnector1">
            <a:avLst/>
          </a:prstGeom>
          <a:noFill/>
          <a:ln cap="flat" cmpd="sng" w="28575">
            <a:solidFill>
              <a:srgbClr val="38761D"/>
            </a:solidFill>
            <a:prstDash val="solid"/>
            <a:round/>
            <a:headEnd len="sm" w="sm" type="none"/>
            <a:tailEnd len="med" w="med" type="triangle"/>
          </a:ln>
        </p:spPr>
      </p:cxnSp>
      <p:sp>
        <p:nvSpPr>
          <p:cNvPr id="372" name="Google Shape;372;p37"/>
          <p:cNvSpPr txBox="1"/>
          <p:nvPr/>
        </p:nvSpPr>
        <p:spPr>
          <a:xfrm>
            <a:off x="8079225" y="3123238"/>
            <a:ext cx="951600" cy="32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t>Logical AND truth table</a:t>
            </a:r>
            <a:endParaRPr sz="1200"/>
          </a:p>
        </p:txBody>
      </p:sp>
      <p:graphicFrame>
        <p:nvGraphicFramePr>
          <p:cNvPr id="373" name="Google Shape;373;p37"/>
          <p:cNvGraphicFramePr/>
          <p:nvPr/>
        </p:nvGraphicFramePr>
        <p:xfrm>
          <a:off x="4682450" y="6245575"/>
          <a:ext cx="3000000" cy="3000000"/>
        </p:xfrm>
        <a:graphic>
          <a:graphicData uri="http://schemas.openxmlformats.org/drawingml/2006/table">
            <a:tbl>
              <a:tblPr>
                <a:noFill/>
                <a:tableStyleId>{F408A230-F3E5-4931-8A8E-7B242848911A}</a:tableStyleId>
              </a:tblPr>
              <a:tblGrid>
                <a:gridCol w="307750"/>
                <a:gridCol w="307750"/>
                <a:gridCol w="307750"/>
                <a:gridCol w="307750"/>
                <a:gridCol w="307750"/>
                <a:gridCol w="307750"/>
                <a:gridCol w="307750"/>
                <a:gridCol w="307750"/>
                <a:gridCol w="307750"/>
                <a:gridCol w="307750"/>
              </a:tblGrid>
              <a:tr h="394575">
                <a:tc>
                  <a:txBody>
                    <a:bodyPr/>
                    <a:lstStyle/>
                    <a:p>
                      <a:pPr indent="0" lvl="0" marL="0" rtl="0" algn="l">
                        <a:spcBef>
                          <a:spcPts val="0"/>
                        </a:spcBef>
                        <a:spcAft>
                          <a:spcPts val="0"/>
                        </a:spcAft>
                        <a:buNone/>
                      </a:pPr>
                      <a:r>
                        <a:rPr lang="en" sz="1900">
                          <a:solidFill>
                            <a:schemeClr val="dk1"/>
                          </a:solidFill>
                        </a:rPr>
                        <a:t>1</a:t>
                      </a:r>
                      <a:endParaRPr sz="1900" u="none" cap="none" strike="noStrike"/>
                    </a:p>
                  </a:txBody>
                  <a:tcPr marT="121900" marB="121900" marR="91425" marL="91425"/>
                </a:tc>
                <a:tc>
                  <a:txBody>
                    <a:bodyPr/>
                    <a:lstStyle/>
                    <a:p>
                      <a:pPr indent="0" lvl="0" marL="0" rtl="0" algn="l">
                        <a:spcBef>
                          <a:spcPts val="0"/>
                        </a:spcBef>
                        <a:spcAft>
                          <a:spcPts val="0"/>
                        </a:spcAft>
                        <a:buNone/>
                      </a:pPr>
                      <a:r>
                        <a:rPr lang="en" sz="1900">
                          <a:solidFill>
                            <a:schemeClr val="dk1"/>
                          </a:solidFill>
                        </a:rPr>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500"/>
                        <a:t>…</a:t>
                      </a:r>
                      <a:endParaRPr sz="1500" u="none" cap="none" strike="noStrike"/>
                    </a:p>
                  </a:txBody>
                  <a:tcPr marT="121900" marB="121900" marR="91425" marL="91425"/>
                </a:tc>
                <a:tc>
                  <a:txBody>
                    <a:bodyPr/>
                    <a:lstStyle/>
                    <a:p>
                      <a:pPr indent="0" lvl="0" marL="0" rtl="0" algn="l">
                        <a:spcBef>
                          <a:spcPts val="0"/>
                        </a:spcBef>
                        <a:spcAft>
                          <a:spcPts val="0"/>
                        </a:spcAft>
                        <a:buClr>
                          <a:schemeClr val="dk1"/>
                        </a:buClr>
                        <a:buSzPts val="1900"/>
                        <a:buFont typeface="Arial"/>
                        <a:buNone/>
                      </a:pPr>
                      <a:r>
                        <a:rPr lang="en" sz="1900">
                          <a:solidFill>
                            <a:schemeClr val="dk1"/>
                          </a:solidFill>
                        </a:rPr>
                        <a:t>1</a:t>
                      </a:r>
                      <a:endParaRPr sz="1900" u="none" cap="none" strike="noStrike"/>
                    </a:p>
                  </a:txBody>
                  <a:tcPr marT="121900" marB="121900" marR="91425" marL="91425"/>
                </a:tc>
                <a:tc>
                  <a:txBody>
                    <a:bodyPr/>
                    <a:lstStyle/>
                    <a:p>
                      <a:pPr indent="0" lvl="0" marL="0" rtl="0" algn="l">
                        <a:spcBef>
                          <a:spcPts val="0"/>
                        </a:spcBef>
                        <a:spcAft>
                          <a:spcPts val="0"/>
                        </a:spcAft>
                        <a:buClr>
                          <a:schemeClr val="dk1"/>
                        </a:buClr>
                        <a:buSzPts val="1900"/>
                        <a:buFont typeface="Arial"/>
                        <a:buNone/>
                      </a:pPr>
                      <a:r>
                        <a:rPr lang="en" sz="1900">
                          <a:solidFill>
                            <a:srgbClr val="FF0000"/>
                          </a:solidFill>
                        </a:rPr>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1</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cxnSp>
        <p:nvCxnSpPr>
          <p:cNvPr id="374" name="Google Shape;374;p37"/>
          <p:cNvCxnSpPr/>
          <p:nvPr/>
        </p:nvCxnSpPr>
        <p:spPr>
          <a:xfrm>
            <a:off x="4839150" y="5047333"/>
            <a:ext cx="0" cy="471900"/>
          </a:xfrm>
          <a:prstGeom prst="straightConnector1">
            <a:avLst/>
          </a:prstGeom>
          <a:noFill/>
          <a:ln cap="flat" cmpd="sng" w="9525">
            <a:solidFill>
              <a:srgbClr val="0000FF"/>
            </a:solidFill>
            <a:prstDash val="solid"/>
            <a:round/>
            <a:headEnd len="med" w="med" type="stealth"/>
            <a:tailEnd len="med" w="med" type="stealth"/>
          </a:ln>
        </p:spPr>
      </p:cxnSp>
      <p:graphicFrame>
        <p:nvGraphicFramePr>
          <p:cNvPr id="375" name="Google Shape;375;p37"/>
          <p:cNvGraphicFramePr/>
          <p:nvPr/>
        </p:nvGraphicFramePr>
        <p:xfrm>
          <a:off x="368975" y="5518567"/>
          <a:ext cx="3000000" cy="3000000"/>
        </p:xfrm>
        <a:graphic>
          <a:graphicData uri="http://schemas.openxmlformats.org/drawingml/2006/table">
            <a:tbl>
              <a:tblPr>
                <a:noFill/>
                <a:tableStyleId>{F408A230-F3E5-4931-8A8E-7B242848911A}</a:tableStyleId>
              </a:tblPr>
              <a:tblGrid>
                <a:gridCol w="307750"/>
                <a:gridCol w="307750"/>
                <a:gridCol w="307750"/>
                <a:gridCol w="307750"/>
                <a:gridCol w="307750"/>
                <a:gridCol w="307750"/>
                <a:gridCol w="307750"/>
                <a:gridCol w="307750"/>
                <a:gridCol w="307750"/>
                <a:gridCol w="307750"/>
              </a:tblGrid>
              <a:tr h="414225">
                <a:tc>
                  <a:txBody>
                    <a:bodyPr/>
                    <a:lstStyle/>
                    <a:p>
                      <a:pPr indent="0" lvl="0" marL="0" marR="0" rtl="0" algn="l">
                        <a:lnSpc>
                          <a:spcPct val="100000"/>
                        </a:lnSpc>
                        <a:spcBef>
                          <a:spcPts val="0"/>
                        </a:spcBef>
                        <a:spcAft>
                          <a:spcPts val="0"/>
                        </a:spcAft>
                        <a:buNone/>
                      </a:pPr>
                      <a:r>
                        <a:rPr lang="en" sz="1900"/>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900"/>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500"/>
                        <a:t>…</a:t>
                      </a:r>
                      <a:endParaRPr sz="15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solidFill>
                            <a:srgbClr val="FF0000"/>
                          </a:solidFill>
                        </a:rPr>
                        <a:t>1</a:t>
                      </a:r>
                      <a:endParaRPr sz="1900" u="none" cap="none" strike="noStrike">
                        <a:solidFill>
                          <a:srgbClr val="FF0000"/>
                        </a:solidFill>
                      </a:endParaRPr>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900" u="none" cap="none" strike="noStrike"/>
                        <a:t>0</a:t>
                      </a:r>
                      <a:endParaRPr sz="1900" u="none" cap="none" strike="noStrike"/>
                    </a:p>
                  </a:txBody>
                  <a:tcPr marT="121900" marB="121900" marR="91425" marL="91425"/>
                </a:tc>
              </a:tr>
            </a:tbl>
          </a:graphicData>
        </a:graphic>
      </p:graphicFrame>
      <p:sp>
        <p:nvSpPr>
          <p:cNvPr id="376" name="Google Shape;376;p37"/>
          <p:cNvSpPr txBox="1"/>
          <p:nvPr/>
        </p:nvSpPr>
        <p:spPr>
          <a:xfrm>
            <a:off x="3563525" y="5174300"/>
            <a:ext cx="8295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FF"/>
                </a:solidFill>
                <a:latin typeface="Arial"/>
                <a:ea typeface="Arial"/>
                <a:cs typeface="Arial"/>
                <a:sym typeface="Arial"/>
              </a:rPr>
              <a:t>Bitwise </a:t>
            </a:r>
            <a:r>
              <a:rPr lang="en">
                <a:solidFill>
                  <a:srgbClr val="0000FF"/>
                </a:solidFill>
              </a:rPr>
              <a:t>NOT</a:t>
            </a:r>
            <a:endParaRPr b="0" i="0" sz="1400" u="none" cap="none" strike="noStrike">
              <a:solidFill>
                <a:srgbClr val="0000FF"/>
              </a:solidFill>
              <a:latin typeface="Arial"/>
              <a:ea typeface="Arial"/>
              <a:cs typeface="Arial"/>
              <a:sym typeface="Arial"/>
            </a:endParaRPr>
          </a:p>
        </p:txBody>
      </p:sp>
      <p:cxnSp>
        <p:nvCxnSpPr>
          <p:cNvPr id="377" name="Google Shape;377;p37"/>
          <p:cNvCxnSpPr/>
          <p:nvPr/>
        </p:nvCxnSpPr>
        <p:spPr>
          <a:xfrm>
            <a:off x="3852775" y="5783358"/>
            <a:ext cx="418800" cy="0"/>
          </a:xfrm>
          <a:prstGeom prst="straightConnector1">
            <a:avLst/>
          </a:prstGeom>
          <a:noFill/>
          <a:ln cap="flat" cmpd="sng" w="28575">
            <a:solidFill>
              <a:srgbClr val="38761D"/>
            </a:solidFill>
            <a:prstDash val="solid"/>
            <a:round/>
            <a:headEnd len="sm" w="sm" type="none"/>
            <a:tailEnd len="med" w="med" type="triangle"/>
          </a:ln>
        </p:spPr>
      </p:cxnSp>
      <p:cxnSp>
        <p:nvCxnSpPr>
          <p:cNvPr id="378" name="Google Shape;378;p37"/>
          <p:cNvCxnSpPr/>
          <p:nvPr/>
        </p:nvCxnSpPr>
        <p:spPr>
          <a:xfrm>
            <a:off x="7880650" y="5263545"/>
            <a:ext cx="407400" cy="2100"/>
          </a:xfrm>
          <a:prstGeom prst="straightConnector1">
            <a:avLst/>
          </a:prstGeom>
          <a:noFill/>
          <a:ln cap="flat" cmpd="sng" w="28575">
            <a:solidFill>
              <a:srgbClr val="38761D"/>
            </a:solidFill>
            <a:prstDash val="solid"/>
            <a:round/>
            <a:headEnd len="sm" w="sm" type="none"/>
            <a:tailEnd len="med" w="med" type="triangle"/>
          </a:ln>
        </p:spPr>
      </p:cxnSp>
      <p:cxnSp>
        <p:nvCxnSpPr>
          <p:cNvPr id="379" name="Google Shape;379;p37"/>
          <p:cNvCxnSpPr/>
          <p:nvPr/>
        </p:nvCxnSpPr>
        <p:spPr>
          <a:xfrm>
            <a:off x="7858150" y="6554445"/>
            <a:ext cx="407400" cy="2100"/>
          </a:xfrm>
          <a:prstGeom prst="straightConnector1">
            <a:avLst/>
          </a:prstGeom>
          <a:noFill/>
          <a:ln cap="flat" cmpd="sng" w="28575">
            <a:solidFill>
              <a:srgbClr val="38761D"/>
            </a:solidFill>
            <a:prstDash val="solid"/>
            <a:round/>
            <a:headEnd len="sm" w="sm" type="triangl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8"/>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dk2"/>
                </a:solidFill>
              </a:rPr>
              <a:t>So</a:t>
            </a:r>
            <a:r>
              <a:rPr lang="en">
                <a:solidFill>
                  <a:srgbClr val="FF0000"/>
                </a:solidFill>
              </a:rPr>
              <a:t> GPIOA-&gt;ODR &amp;= ~LED_PIN; </a:t>
            </a:r>
            <a:r>
              <a:rPr lang="en">
                <a:solidFill>
                  <a:schemeClr val="dk2"/>
                </a:solidFill>
              </a:rPr>
              <a:t>turns the LED off.</a:t>
            </a:r>
            <a:endParaRPr>
              <a:solidFill>
                <a:schemeClr val="dk2"/>
              </a:solidFill>
            </a:endParaRPr>
          </a:p>
        </p:txBody>
      </p:sp>
      <p:sp>
        <p:nvSpPr>
          <p:cNvPr id="385" name="Google Shape;385;p3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386" name="Google Shape;386;p38"/>
          <p:cNvSpPr txBox="1"/>
          <p:nvPr>
            <p:ph idx="1" type="body"/>
          </p:nvPr>
        </p:nvSpPr>
        <p:spPr>
          <a:xfrm>
            <a:off x="311700" y="1731350"/>
            <a:ext cx="8520600" cy="4111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#define LED_PIN		(1U&lt;&lt;5)</a:t>
            </a:r>
            <a:r>
              <a:rPr lang="en" sz="1400">
                <a:latin typeface="Courier New"/>
                <a:ea typeface="Courier New"/>
                <a:cs typeface="Courier New"/>
                <a:sym typeface="Courier New"/>
              </a:rPr>
              <a:t>		// 0b 0000 … 0001 0000</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int main(void)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RCC-&gt;IOPENR |= GPIOAEN;		</a:t>
            </a:r>
            <a:r>
              <a:rPr lang="en" sz="1400">
                <a:latin typeface="Courier New"/>
                <a:ea typeface="Courier New"/>
                <a:cs typeface="Courier New"/>
                <a:sym typeface="Courier New"/>
              </a:rPr>
              <a:t>// 1. Enable clock access to GPIOA</a:t>
            </a:r>
            <a:endParaRPr sz="1400">
              <a:latin typeface="Courier New"/>
              <a:ea typeface="Courier New"/>
              <a:cs typeface="Courier New"/>
              <a:sym typeface="Courier New"/>
            </a:endParaRPr>
          </a:p>
          <a:p>
            <a:pPr indent="0" lvl="0" marL="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GPIOA-&gt;MODER |= (1U&lt;&lt;10);		</a:t>
            </a:r>
            <a:r>
              <a:rPr lang="en" sz="1400">
                <a:latin typeface="Courier New"/>
                <a:ea typeface="Courier New"/>
                <a:cs typeface="Courier New"/>
                <a:sym typeface="Courier New"/>
              </a:rPr>
              <a:t>// 2. Configure PA5 (Port A, bit 5)</a:t>
            </a:r>
            <a:r>
              <a:rPr b="1" lang="en" sz="1400">
                <a:latin typeface="Courier New"/>
                <a:ea typeface="Courier New"/>
                <a:cs typeface="Courier New"/>
                <a:sym typeface="Courier New"/>
              </a:rPr>
              <a:t>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	GPIOA-&gt;MODER &amp;= ~(1U&lt;&lt;11);	</a:t>
            </a:r>
            <a:r>
              <a:rPr lang="en" sz="1400">
                <a:latin typeface="Courier New"/>
                <a:ea typeface="Courier New"/>
                <a:cs typeface="Courier New"/>
                <a:sym typeface="Courier New"/>
              </a:rPr>
              <a:t>//    as output pin</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while(1)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GPIOA-&gt;ODR |= LED_PIN;	</a:t>
            </a:r>
            <a:r>
              <a:rPr lang="en" sz="1400">
                <a:latin typeface="Courier New"/>
                <a:ea typeface="Courier New"/>
                <a:cs typeface="Courier New"/>
                <a:sym typeface="Courier New"/>
              </a:rPr>
              <a:t>// 3. Set bit 5 to turn LED on</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 (int i=0; i&lt;100000;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endParaRPr sz="1400">
              <a:latin typeface="Courier New"/>
              <a:ea typeface="Courier New"/>
              <a:cs typeface="Courier New"/>
              <a:sym typeface="Courier New"/>
            </a:endParaRPr>
          </a:p>
          <a:p>
            <a:pPr indent="45720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GPIOA-&gt;ODR &amp;= ~LED_PIN;	</a:t>
            </a:r>
            <a:r>
              <a:rPr lang="en" sz="1400">
                <a:solidFill>
                  <a:srgbClr val="FF0000"/>
                </a:solidFill>
                <a:latin typeface="Courier New"/>
                <a:ea typeface="Courier New"/>
                <a:cs typeface="Courier New"/>
                <a:sym typeface="Courier New"/>
              </a:rPr>
              <a:t>// 4. Clear bit 5 to turn LED off</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for(int i = 0; i&lt;</a:t>
            </a:r>
            <a:r>
              <a:rPr b="1" lang="en" sz="1400">
                <a:latin typeface="Courier New"/>
                <a:ea typeface="Courier New"/>
                <a:cs typeface="Courier New"/>
                <a:sym typeface="Courier New"/>
              </a:rPr>
              <a:t>100000</a:t>
            </a:r>
            <a:r>
              <a:rPr b="1" lang="en" sz="1400">
                <a:latin typeface="Courier New"/>
                <a:ea typeface="Courier New"/>
                <a:cs typeface="Courier New"/>
                <a:sym typeface="Courier New"/>
              </a:rPr>
              <a:t>;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	return 0;					</a:t>
            </a:r>
            <a:r>
              <a:rPr lang="en" sz="1400">
                <a:latin typeface="Courier New"/>
                <a:ea typeface="Courier New"/>
                <a:cs typeface="Courier New"/>
                <a:sym typeface="Courier New"/>
              </a:rPr>
              <a:t>// never reached</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1600"/>
              </a:spcAft>
              <a:buSzPts val="1800"/>
              <a:buNone/>
            </a:pPr>
            <a:r>
              <a:t/>
            </a:r>
            <a:endParaRPr sz="1400">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dk2"/>
                </a:solidFill>
              </a:rPr>
              <a:t>What does</a:t>
            </a:r>
            <a:r>
              <a:rPr lang="en">
                <a:solidFill>
                  <a:srgbClr val="FF0000"/>
                </a:solidFill>
              </a:rPr>
              <a:t> GPIOA-&gt;MODER </a:t>
            </a:r>
            <a:r>
              <a:rPr lang="en">
                <a:solidFill>
                  <a:schemeClr val="dk2"/>
                </a:solidFill>
              </a:rPr>
              <a:t>do?</a:t>
            </a:r>
            <a:endParaRPr>
              <a:solidFill>
                <a:schemeClr val="dk2"/>
              </a:solidFill>
            </a:endParaRPr>
          </a:p>
        </p:txBody>
      </p:sp>
      <p:sp>
        <p:nvSpPr>
          <p:cNvPr id="392" name="Google Shape;392;p3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393" name="Google Shape;393;p39"/>
          <p:cNvSpPr txBox="1"/>
          <p:nvPr>
            <p:ph idx="1" type="body"/>
          </p:nvPr>
        </p:nvSpPr>
        <p:spPr>
          <a:xfrm>
            <a:off x="311700" y="1731350"/>
            <a:ext cx="8520600" cy="4111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#define LED_PIN		(1U&lt;&lt;5)</a:t>
            </a:r>
            <a:r>
              <a:rPr lang="en" sz="1400">
                <a:latin typeface="Courier New"/>
                <a:ea typeface="Courier New"/>
                <a:cs typeface="Courier New"/>
                <a:sym typeface="Courier New"/>
              </a:rPr>
              <a:t>		// 0b 0000 … 0001 0000</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int main(void)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RCC-&gt;IOPENR |= GPIOAEN;		</a:t>
            </a:r>
            <a:r>
              <a:rPr lang="en" sz="1400">
                <a:latin typeface="Courier New"/>
                <a:ea typeface="Courier New"/>
                <a:cs typeface="Courier New"/>
                <a:sym typeface="Courier New"/>
              </a:rPr>
              <a:t>// 1. Enable clock access to GPIOA</a:t>
            </a:r>
            <a:endParaRPr sz="1400">
              <a:latin typeface="Courier New"/>
              <a:ea typeface="Courier New"/>
              <a:cs typeface="Courier New"/>
              <a:sym typeface="Courier New"/>
            </a:endParaRPr>
          </a:p>
          <a:p>
            <a:pPr indent="0" lvl="0" marL="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GPIOA-&gt;MODER |= (1U&lt;&lt;10);		</a:t>
            </a:r>
            <a:r>
              <a:rPr lang="en" sz="1400">
                <a:solidFill>
                  <a:srgbClr val="FF0000"/>
                </a:solidFill>
                <a:latin typeface="Courier New"/>
                <a:ea typeface="Courier New"/>
                <a:cs typeface="Courier New"/>
                <a:sym typeface="Courier New"/>
              </a:rPr>
              <a:t>// 2. Configure PA5 (Port A, bit 5)</a:t>
            </a:r>
            <a:r>
              <a:rPr b="1" lang="en" sz="1400">
                <a:solidFill>
                  <a:srgbClr val="FF0000"/>
                </a:solidFill>
                <a:latin typeface="Courier New"/>
                <a:ea typeface="Courier New"/>
                <a:cs typeface="Courier New"/>
                <a:sym typeface="Courier New"/>
              </a:rPr>
              <a:t> </a:t>
            </a:r>
            <a:endParaRPr b="1"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solidFill>
                  <a:srgbClr val="FF0000"/>
                </a:solidFill>
                <a:latin typeface="Courier New"/>
                <a:ea typeface="Courier New"/>
                <a:cs typeface="Courier New"/>
                <a:sym typeface="Courier New"/>
              </a:rPr>
              <a:t>	GPIOA-&gt;MODER &amp;= ~(1U&lt;&lt;11);	</a:t>
            </a:r>
            <a:r>
              <a:rPr lang="en" sz="1400">
                <a:solidFill>
                  <a:srgbClr val="FF0000"/>
                </a:solidFill>
                <a:latin typeface="Courier New"/>
                <a:ea typeface="Courier New"/>
                <a:cs typeface="Courier New"/>
                <a:sym typeface="Courier New"/>
              </a:rPr>
              <a:t>//    as output pin</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while(1)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GPIOA-&gt;ODR |= LED_PIN;	</a:t>
            </a:r>
            <a:r>
              <a:rPr lang="en" sz="1400">
                <a:latin typeface="Courier New"/>
                <a:ea typeface="Courier New"/>
                <a:cs typeface="Courier New"/>
                <a:sym typeface="Courier New"/>
              </a:rPr>
              <a:t>// 3. Set bit 5 to turn LED on</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 (int i=0; i&lt;100000;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endParaRPr sz="1400">
              <a:latin typeface="Courier New"/>
              <a:ea typeface="Courier New"/>
              <a:cs typeface="Courier New"/>
              <a:sym typeface="Courier New"/>
            </a:endParaRPr>
          </a:p>
          <a:p>
            <a:pPr indent="45720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GPIOA-&gt;ODR &amp;= ~LED_PIN;	</a:t>
            </a:r>
            <a:r>
              <a:rPr lang="en" sz="1400">
                <a:latin typeface="Courier New"/>
                <a:ea typeface="Courier New"/>
                <a:cs typeface="Courier New"/>
                <a:sym typeface="Courier New"/>
              </a:rPr>
              <a:t>// 4. Clear bit 5 to turn LED off</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for(int i = 0; i&lt;</a:t>
            </a:r>
            <a:r>
              <a:rPr b="1" lang="en" sz="1400">
                <a:latin typeface="Courier New"/>
                <a:ea typeface="Courier New"/>
                <a:cs typeface="Courier New"/>
                <a:sym typeface="Courier New"/>
              </a:rPr>
              <a:t>100000</a:t>
            </a:r>
            <a:r>
              <a:rPr b="1" lang="en" sz="1400">
                <a:latin typeface="Courier New"/>
                <a:ea typeface="Courier New"/>
                <a:cs typeface="Courier New"/>
                <a:sym typeface="Courier New"/>
              </a:rPr>
              <a:t>;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	return 0;					</a:t>
            </a:r>
            <a:r>
              <a:rPr lang="en" sz="1400">
                <a:latin typeface="Courier New"/>
                <a:ea typeface="Courier New"/>
                <a:cs typeface="Courier New"/>
                <a:sym typeface="Courier New"/>
              </a:rPr>
              <a:t>// never reached</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1600"/>
              </a:spcAft>
              <a:buSzPts val="1800"/>
              <a:buNone/>
            </a:pPr>
            <a:r>
              <a:t/>
            </a:r>
            <a:endParaRPr sz="1400">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txBox="1"/>
          <p:nvPr>
            <p:ph idx="1" type="body"/>
          </p:nvPr>
        </p:nvSpPr>
        <p:spPr>
          <a:xfrm>
            <a:off x="311700" y="887825"/>
            <a:ext cx="8520600" cy="2723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GPIOA-&gt;MODER = "Mode Register for GPIO Port A", contains 32 bits: two for each pin to determine its mode: Output, input, analog I/O, etc</a:t>
            </a:r>
            <a:br>
              <a:rPr lang="en"/>
            </a:br>
            <a:endParaRPr/>
          </a:p>
          <a:p>
            <a:pPr indent="-342900" lvl="0" marL="457200" rtl="0" algn="l">
              <a:lnSpc>
                <a:spcPct val="115000"/>
              </a:lnSpc>
              <a:spcBef>
                <a:spcPts val="0"/>
              </a:spcBef>
              <a:spcAft>
                <a:spcPts val="0"/>
              </a:spcAft>
              <a:buSzPts val="1800"/>
              <a:buChar char="●"/>
            </a:pPr>
            <a:r>
              <a:rPr lang="en"/>
              <a:t>(1U&lt;&lt;10) = 0b 0000 0000 0000 0000 0000 0100 0000 0000</a:t>
            </a:r>
            <a:endParaRPr/>
          </a:p>
          <a:p>
            <a:pPr indent="0" lvl="0" marL="457200" rtl="0" algn="l">
              <a:lnSpc>
                <a:spcPct val="115000"/>
              </a:lnSpc>
              <a:spcBef>
                <a:spcPts val="0"/>
              </a:spcBef>
              <a:spcAft>
                <a:spcPts val="0"/>
              </a:spcAft>
              <a:buNone/>
            </a:pPr>
            <a:r>
              <a:rPr lang="en"/>
              <a:t>(1U&lt;&lt;11) = 0b 0000 0000 0000 0000 0000 1000 0000 0000</a:t>
            </a:r>
            <a:endParaRPr/>
          </a:p>
          <a:p>
            <a:pPr indent="0" lvl="0" marL="0" rtl="0" algn="l">
              <a:lnSpc>
                <a:spcPct val="115000"/>
              </a:lnSpc>
              <a:spcBef>
                <a:spcPts val="1600"/>
              </a:spcBef>
              <a:spcAft>
                <a:spcPts val="0"/>
              </a:spcAft>
              <a:buSzPts val="1800"/>
              <a:buNone/>
            </a:pPr>
            <a:r>
              <a:rPr lang="en"/>
              <a:t>GPIOA-&gt;MODER:</a:t>
            </a:r>
            <a:endParaRPr/>
          </a:p>
        </p:txBody>
      </p:sp>
      <p:sp>
        <p:nvSpPr>
          <p:cNvPr id="399" name="Google Shape;399;p40"/>
          <p:cNvSpPr txBox="1"/>
          <p:nvPr>
            <p:ph type="title"/>
          </p:nvPr>
        </p:nvSpPr>
        <p:spPr>
          <a:xfrm>
            <a:off x="0" y="130975"/>
            <a:ext cx="9144000" cy="6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2400">
                <a:solidFill>
                  <a:srgbClr val="FF0000"/>
                </a:solidFill>
              </a:rPr>
              <a:t>GPIOA-&gt;MODER |= (1U&lt;&lt;10); GPIOA-&gt;MODER &amp;= ~(1U&lt;&lt;11);</a:t>
            </a:r>
            <a:endParaRPr sz="2400">
              <a:solidFill>
                <a:srgbClr val="FF0000"/>
              </a:solidFill>
            </a:endParaRPr>
          </a:p>
        </p:txBody>
      </p:sp>
      <p:sp>
        <p:nvSpPr>
          <p:cNvPr id="400" name="Google Shape;400;p4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graphicFrame>
        <p:nvGraphicFramePr>
          <p:cNvPr id="401" name="Google Shape;401;p40"/>
          <p:cNvGraphicFramePr/>
          <p:nvPr/>
        </p:nvGraphicFramePr>
        <p:xfrm>
          <a:off x="311700" y="3627670"/>
          <a:ext cx="3000000" cy="3000000"/>
        </p:xfrm>
        <a:graphic>
          <a:graphicData uri="http://schemas.openxmlformats.org/drawingml/2006/table">
            <a:tbl>
              <a:tblPr>
                <a:noFill/>
                <a:tableStyleId>{F408A230-F3E5-4931-8A8E-7B242848911A}</a:tableStyleId>
              </a:tblPr>
              <a:tblGrid>
                <a:gridCol w="710050"/>
                <a:gridCol w="710050"/>
                <a:gridCol w="71005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600"/>
                        <a:t>Bit 31</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Bit 30</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600"/>
                        <a:t>Bit 13</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a:t>
                      </a:r>
                      <a:r>
                        <a:rPr lang="en" sz="1600"/>
                        <a:t>12</a:t>
                      </a:r>
                      <a:endParaRPr sz="16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a:t>
                      </a:r>
                      <a:r>
                        <a:rPr lang="en" sz="1600"/>
                        <a:t>11</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a:t>
                      </a:r>
                      <a:r>
                        <a:rPr lang="en" sz="1600"/>
                        <a:t>10</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a:t>
                      </a:r>
                      <a:r>
                        <a:rPr lang="en" sz="1600"/>
                        <a:t>9</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a:t>…</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2</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1</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0 </a:t>
                      </a:r>
                      <a:endParaRPr sz="1600" u="none" cap="none" strike="noStrike"/>
                    </a:p>
                  </a:txBody>
                  <a:tcPr marT="121900" marB="121900" marR="91425" marL="91425"/>
                </a:tc>
              </a:tr>
            </a:tbl>
          </a:graphicData>
        </a:graphic>
      </p:graphicFrame>
      <p:sp>
        <p:nvSpPr>
          <p:cNvPr id="402" name="Google Shape;402;p40"/>
          <p:cNvSpPr txBox="1"/>
          <p:nvPr/>
        </p:nvSpPr>
        <p:spPr>
          <a:xfrm>
            <a:off x="5519275" y="1457000"/>
            <a:ext cx="82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bit 10</a:t>
            </a:r>
            <a:endParaRPr sz="1800">
              <a:solidFill>
                <a:srgbClr val="0000FF"/>
              </a:solidFill>
            </a:endParaRPr>
          </a:p>
        </p:txBody>
      </p:sp>
      <p:cxnSp>
        <p:nvCxnSpPr>
          <p:cNvPr id="403" name="Google Shape;403;p40"/>
          <p:cNvCxnSpPr/>
          <p:nvPr/>
        </p:nvCxnSpPr>
        <p:spPr>
          <a:xfrm>
            <a:off x="5480325" y="1601300"/>
            <a:ext cx="3900" cy="317400"/>
          </a:xfrm>
          <a:prstGeom prst="straightConnector1">
            <a:avLst/>
          </a:prstGeom>
          <a:noFill/>
          <a:ln cap="flat" cmpd="sng" w="28575">
            <a:solidFill>
              <a:srgbClr val="0000FF"/>
            </a:solidFill>
            <a:prstDash val="solid"/>
            <a:round/>
            <a:headEnd len="med" w="med" type="none"/>
            <a:tailEnd len="med" w="med" type="triangle"/>
          </a:ln>
        </p:spPr>
      </p:cxnSp>
      <p:sp>
        <p:nvSpPr>
          <p:cNvPr id="404" name="Google Shape;404;p40"/>
          <p:cNvSpPr txBox="1"/>
          <p:nvPr/>
        </p:nvSpPr>
        <p:spPr>
          <a:xfrm>
            <a:off x="5390825" y="2542200"/>
            <a:ext cx="82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bit 11</a:t>
            </a:r>
            <a:endParaRPr sz="1800">
              <a:solidFill>
                <a:srgbClr val="0000FF"/>
              </a:solidFill>
            </a:endParaRPr>
          </a:p>
        </p:txBody>
      </p:sp>
      <p:cxnSp>
        <p:nvCxnSpPr>
          <p:cNvPr id="405" name="Google Shape;405;p40"/>
          <p:cNvCxnSpPr/>
          <p:nvPr/>
        </p:nvCxnSpPr>
        <p:spPr>
          <a:xfrm flipH="1" rot="10800000">
            <a:off x="5325025" y="2503775"/>
            <a:ext cx="3300" cy="312300"/>
          </a:xfrm>
          <a:prstGeom prst="straightConnector1">
            <a:avLst/>
          </a:prstGeom>
          <a:noFill/>
          <a:ln cap="flat" cmpd="sng" w="28575">
            <a:solidFill>
              <a:srgbClr val="0000FF"/>
            </a:solidFill>
            <a:prstDash val="solid"/>
            <a:round/>
            <a:headEnd len="med" w="med" type="none"/>
            <a:tailEnd len="med" w="med" type="triangle"/>
          </a:ln>
        </p:spPr>
      </p:cxnSp>
      <p:sp>
        <p:nvSpPr>
          <p:cNvPr id="406" name="Google Shape;406;p40"/>
          <p:cNvSpPr/>
          <p:nvPr/>
        </p:nvSpPr>
        <p:spPr>
          <a:xfrm>
            <a:off x="3898200" y="3631250"/>
            <a:ext cx="1347600" cy="461700"/>
          </a:xfrm>
          <a:prstGeom prst="ellipse">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407" name="Google Shape;407;p40"/>
          <p:cNvSpPr/>
          <p:nvPr/>
        </p:nvSpPr>
        <p:spPr>
          <a:xfrm>
            <a:off x="7412200" y="3631250"/>
            <a:ext cx="1347600" cy="461700"/>
          </a:xfrm>
          <a:prstGeom prst="ellipse">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40"/>
          <p:cNvSpPr/>
          <p:nvPr/>
        </p:nvSpPr>
        <p:spPr>
          <a:xfrm>
            <a:off x="311700" y="3631250"/>
            <a:ext cx="1347600" cy="461700"/>
          </a:xfrm>
          <a:prstGeom prst="ellipse">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40"/>
          <p:cNvSpPr txBox="1"/>
          <p:nvPr/>
        </p:nvSpPr>
        <p:spPr>
          <a:xfrm>
            <a:off x="3861950" y="3105100"/>
            <a:ext cx="172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configure pin 5</a:t>
            </a:r>
            <a:endParaRPr sz="1800">
              <a:solidFill>
                <a:srgbClr val="0000FF"/>
              </a:solidFill>
            </a:endParaRPr>
          </a:p>
        </p:txBody>
      </p:sp>
      <p:sp>
        <p:nvSpPr>
          <p:cNvPr id="410" name="Google Shape;410;p40"/>
          <p:cNvSpPr txBox="1"/>
          <p:nvPr/>
        </p:nvSpPr>
        <p:spPr>
          <a:xfrm>
            <a:off x="7221100" y="3105100"/>
            <a:ext cx="172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configure pin 0</a:t>
            </a:r>
            <a:endParaRPr sz="1800">
              <a:solidFill>
                <a:srgbClr val="38761D"/>
              </a:solidFill>
            </a:endParaRPr>
          </a:p>
        </p:txBody>
      </p:sp>
      <p:sp>
        <p:nvSpPr>
          <p:cNvPr id="411" name="Google Shape;411;p40"/>
          <p:cNvSpPr txBox="1"/>
          <p:nvPr/>
        </p:nvSpPr>
        <p:spPr>
          <a:xfrm>
            <a:off x="183225" y="3105100"/>
            <a:ext cx="181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38761D"/>
                </a:solidFill>
              </a:rPr>
              <a:t>configure pin 15</a:t>
            </a:r>
            <a:endParaRPr sz="1800">
              <a:solidFill>
                <a:srgbClr val="38761D"/>
              </a:solidFill>
            </a:endParaRPr>
          </a:p>
        </p:txBody>
      </p:sp>
      <p:sp>
        <p:nvSpPr>
          <p:cNvPr id="412" name="Google Shape;412;p40"/>
          <p:cNvSpPr txBox="1"/>
          <p:nvPr>
            <p:ph idx="1" type="body"/>
          </p:nvPr>
        </p:nvSpPr>
        <p:spPr>
          <a:xfrm>
            <a:off x="311700" y="4475353"/>
            <a:ext cx="8520600" cy="7008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a:t>In order to configure our pin as output, write a '01' into its two bits, so '1' to bit 10 and '0' to bit 11.</a:t>
            </a:r>
            <a:br>
              <a:rPr lang="en"/>
            </a:br>
            <a:endParaRPr/>
          </a:p>
        </p:txBody>
      </p:sp>
      <p:graphicFrame>
        <p:nvGraphicFramePr>
          <p:cNvPr id="413" name="Google Shape;413;p40"/>
          <p:cNvGraphicFramePr/>
          <p:nvPr/>
        </p:nvGraphicFramePr>
        <p:xfrm>
          <a:off x="311700" y="5239995"/>
          <a:ext cx="3000000" cy="3000000"/>
        </p:xfrm>
        <a:graphic>
          <a:graphicData uri="http://schemas.openxmlformats.org/drawingml/2006/table">
            <a:tbl>
              <a:tblPr>
                <a:noFill/>
                <a:tableStyleId>{F408A230-F3E5-4931-8A8E-7B242848911A}</a:tableStyleId>
              </a:tblPr>
              <a:tblGrid>
                <a:gridCol w="710050"/>
                <a:gridCol w="710050"/>
                <a:gridCol w="71005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000"/>
                        <a:t>Bit 31</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30</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13</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000" u="none" cap="none" strike="noStrike"/>
                        <a:t>Bit </a:t>
                      </a:r>
                      <a:r>
                        <a:rPr lang="en" sz="1000"/>
                        <a:t>12</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000" u="none" cap="none" strike="noStrike"/>
                        <a:t>Bit </a:t>
                      </a:r>
                      <a:r>
                        <a:rPr lang="en" sz="1000"/>
                        <a:t>11</a:t>
                      </a:r>
                      <a:endParaRPr sz="1000"/>
                    </a:p>
                    <a:p>
                      <a:pPr indent="0" lvl="0" marL="0" marR="0" rtl="0" algn="ctr">
                        <a:lnSpc>
                          <a:spcPct val="100000"/>
                        </a:lnSpc>
                        <a:spcBef>
                          <a:spcPts val="0"/>
                        </a:spcBef>
                        <a:spcAft>
                          <a:spcPts val="0"/>
                        </a:spcAft>
                        <a:buClr>
                          <a:srgbClr val="000000"/>
                        </a:buClr>
                        <a:buSzPts val="1900"/>
                        <a:buFont typeface="Arial"/>
                        <a:buNone/>
                      </a:pPr>
                      <a:r>
                        <a:rPr lang="en" sz="1600">
                          <a:solidFill>
                            <a:srgbClr val="FF0000"/>
                          </a:solidFill>
                        </a:rPr>
                        <a:t>0</a:t>
                      </a:r>
                      <a:endParaRPr sz="1600">
                        <a:solidFill>
                          <a:srgbClr val="FF0000"/>
                        </a:solidFill>
                      </a:endParaRPr>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10</a:t>
                      </a:r>
                      <a:endParaRPr sz="1000"/>
                    </a:p>
                    <a:p>
                      <a:pPr indent="0" lvl="0" marL="0" marR="0" rtl="0" algn="ctr">
                        <a:lnSpc>
                          <a:spcPct val="100000"/>
                        </a:lnSpc>
                        <a:spcBef>
                          <a:spcPts val="0"/>
                        </a:spcBef>
                        <a:spcAft>
                          <a:spcPts val="0"/>
                        </a:spcAft>
                        <a:buClr>
                          <a:srgbClr val="000000"/>
                        </a:buClr>
                        <a:buSzPts val="1900"/>
                        <a:buFont typeface="Arial"/>
                        <a:buNone/>
                      </a:pPr>
                      <a:r>
                        <a:rPr lang="en" sz="1600">
                          <a:solidFill>
                            <a:srgbClr val="FF0000"/>
                          </a:solidFill>
                        </a:rPr>
                        <a:t>1</a:t>
                      </a:r>
                      <a:endParaRPr sz="1600">
                        <a:solidFill>
                          <a:srgbClr val="FF0000"/>
                        </a:solidFill>
                      </a:endParaRPr>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9</a:t>
                      </a:r>
                      <a:endParaRPr sz="10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a:t>…</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2</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1</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0 </a:t>
                      </a:r>
                      <a:endParaRPr sz="1000" u="none" cap="none" strike="noStrike"/>
                    </a:p>
                  </a:txBody>
                  <a:tcPr marT="121900" marB="121900" marR="91425" marL="91425"/>
                </a:tc>
              </a:tr>
            </a:tbl>
          </a:graphicData>
        </a:graphic>
      </p:graphicFrame>
      <p:sp>
        <p:nvSpPr>
          <p:cNvPr id="414" name="Google Shape;414;p40"/>
          <p:cNvSpPr txBox="1"/>
          <p:nvPr>
            <p:ph idx="1" type="body"/>
          </p:nvPr>
        </p:nvSpPr>
        <p:spPr>
          <a:xfrm>
            <a:off x="4842675" y="6207575"/>
            <a:ext cx="3357900" cy="54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0000"/>
                </a:solidFill>
              </a:rPr>
              <a:t>GPIOA-&gt;MODER |= (1U&lt;&lt;10);</a:t>
            </a:r>
            <a:endParaRPr/>
          </a:p>
        </p:txBody>
      </p:sp>
      <p:sp>
        <p:nvSpPr>
          <p:cNvPr id="415" name="Google Shape;415;p40"/>
          <p:cNvSpPr txBox="1"/>
          <p:nvPr>
            <p:ph idx="1" type="body"/>
          </p:nvPr>
        </p:nvSpPr>
        <p:spPr>
          <a:xfrm>
            <a:off x="738375" y="6207575"/>
            <a:ext cx="3631800" cy="54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0000"/>
                </a:solidFill>
              </a:rPr>
              <a:t>GPIOA-&gt;MODER &amp;= ~(1U&lt;&lt;11);</a:t>
            </a:r>
            <a:endParaRPr/>
          </a:p>
        </p:txBody>
      </p:sp>
      <p:cxnSp>
        <p:nvCxnSpPr>
          <p:cNvPr id="416" name="Google Shape;416;p40"/>
          <p:cNvCxnSpPr/>
          <p:nvPr/>
        </p:nvCxnSpPr>
        <p:spPr>
          <a:xfrm rot="10800000">
            <a:off x="5001000" y="5806525"/>
            <a:ext cx="1051500" cy="480900"/>
          </a:xfrm>
          <a:prstGeom prst="straightConnector1">
            <a:avLst/>
          </a:prstGeom>
          <a:noFill/>
          <a:ln cap="flat" cmpd="sng" w="28575">
            <a:solidFill>
              <a:srgbClr val="FF0000"/>
            </a:solidFill>
            <a:prstDash val="solid"/>
            <a:round/>
            <a:headEnd len="med" w="med" type="none"/>
            <a:tailEnd len="med" w="med" type="triangle"/>
          </a:ln>
        </p:spPr>
      </p:cxnSp>
      <p:cxnSp>
        <p:nvCxnSpPr>
          <p:cNvPr id="417" name="Google Shape;417;p40"/>
          <p:cNvCxnSpPr/>
          <p:nvPr/>
        </p:nvCxnSpPr>
        <p:spPr>
          <a:xfrm flipH="1" rot="10800000">
            <a:off x="3110150" y="5806400"/>
            <a:ext cx="1091100" cy="5034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dk2"/>
                </a:solidFill>
              </a:rPr>
              <a:t>And finally:</a:t>
            </a:r>
            <a:r>
              <a:rPr lang="en">
                <a:solidFill>
                  <a:srgbClr val="FF0000"/>
                </a:solidFill>
              </a:rPr>
              <a:t> </a:t>
            </a:r>
            <a:r>
              <a:rPr lang="en">
                <a:solidFill>
                  <a:srgbClr val="FF0000"/>
                </a:solidFill>
              </a:rPr>
              <a:t>RCC-&gt;IOPENR |= GPIOAEN;</a:t>
            </a:r>
            <a:endParaRPr>
              <a:solidFill>
                <a:schemeClr val="dk2"/>
              </a:solidFill>
            </a:endParaRPr>
          </a:p>
        </p:txBody>
      </p:sp>
      <p:sp>
        <p:nvSpPr>
          <p:cNvPr id="423" name="Google Shape;423;p4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424" name="Google Shape;424;p41"/>
          <p:cNvSpPr txBox="1"/>
          <p:nvPr>
            <p:ph idx="1" type="body"/>
          </p:nvPr>
        </p:nvSpPr>
        <p:spPr>
          <a:xfrm>
            <a:off x="311700" y="1496425"/>
            <a:ext cx="8520600" cy="43995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#define GPIOAEN		(1U&lt;&lt;0)</a:t>
            </a:r>
            <a:r>
              <a:rPr lang="en" sz="1400">
                <a:latin typeface="Courier New"/>
                <a:ea typeface="Courier New"/>
                <a:cs typeface="Courier New"/>
                <a:sym typeface="Courier New"/>
              </a:rPr>
              <a:t>		// 0b 0000 … 0000 0001 (32-bit)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int main(void)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RCC-&gt;IOPENR |= GPIOAEN;		</a:t>
            </a:r>
            <a:r>
              <a:rPr lang="en" sz="1400">
                <a:solidFill>
                  <a:srgbClr val="FF0000"/>
                </a:solidFill>
                <a:latin typeface="Courier New"/>
                <a:ea typeface="Courier New"/>
                <a:cs typeface="Courier New"/>
                <a:sym typeface="Courier New"/>
              </a:rPr>
              <a:t>// 1. Enable clock access to GPIOA</a:t>
            </a:r>
            <a:endParaRPr sz="1400">
              <a:solidFill>
                <a:srgbClr val="FF0000"/>
              </a:solidFill>
              <a:latin typeface="Courier New"/>
              <a:ea typeface="Courier New"/>
              <a:cs typeface="Courier New"/>
              <a:sym typeface="Courier New"/>
            </a:endParaRPr>
          </a:p>
          <a:p>
            <a:pPr indent="0" lvl="0" marL="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GPIOA-&gt;MODER |= (1U&lt;&lt;10);		</a:t>
            </a:r>
            <a:r>
              <a:rPr lang="en" sz="1400">
                <a:latin typeface="Courier New"/>
                <a:ea typeface="Courier New"/>
                <a:cs typeface="Courier New"/>
                <a:sym typeface="Courier New"/>
              </a:rPr>
              <a:t>// 2. Configure PA5 (Port A, bit 5)</a:t>
            </a:r>
            <a:r>
              <a:rPr b="1" lang="en" sz="1400">
                <a:latin typeface="Courier New"/>
                <a:ea typeface="Courier New"/>
                <a:cs typeface="Courier New"/>
                <a:sym typeface="Courier New"/>
              </a:rPr>
              <a:t>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	GPIOA-&gt;MODER &amp;= ~(1U&lt;&lt;11);	</a:t>
            </a:r>
            <a:r>
              <a:rPr lang="en" sz="1400">
                <a:latin typeface="Courier New"/>
                <a:ea typeface="Courier New"/>
                <a:cs typeface="Courier New"/>
                <a:sym typeface="Courier New"/>
              </a:rPr>
              <a:t>//    as output pin</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while(1)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GPIOA-&gt;ODR |= LED_PIN;	</a:t>
            </a:r>
            <a:r>
              <a:rPr lang="en" sz="1400">
                <a:latin typeface="Courier New"/>
                <a:ea typeface="Courier New"/>
                <a:cs typeface="Courier New"/>
                <a:sym typeface="Courier New"/>
              </a:rPr>
              <a:t>// 3. Set bit 5 to turn LED on</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 (int i=0; i&lt;100000;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endParaRPr sz="1400">
              <a:latin typeface="Courier New"/>
              <a:ea typeface="Courier New"/>
              <a:cs typeface="Courier New"/>
              <a:sym typeface="Courier New"/>
            </a:endParaRPr>
          </a:p>
          <a:p>
            <a:pPr indent="45720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GPIOA-&gt;ODR &amp;= ~LED_PIN;	</a:t>
            </a:r>
            <a:r>
              <a:rPr lang="en" sz="1400">
                <a:latin typeface="Courier New"/>
                <a:ea typeface="Courier New"/>
                <a:cs typeface="Courier New"/>
                <a:sym typeface="Courier New"/>
              </a:rPr>
              <a:t>// 4. Clear bit 5 to turn LED off</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for(int i = 0; i&lt;</a:t>
            </a:r>
            <a:r>
              <a:rPr b="1" lang="en" sz="1400">
                <a:latin typeface="Courier New"/>
                <a:ea typeface="Courier New"/>
                <a:cs typeface="Courier New"/>
                <a:sym typeface="Courier New"/>
              </a:rPr>
              <a:t>100000</a:t>
            </a:r>
            <a:r>
              <a:rPr b="1" lang="en" sz="1400">
                <a:latin typeface="Courier New"/>
                <a:ea typeface="Courier New"/>
                <a:cs typeface="Courier New"/>
                <a:sym typeface="Courier New"/>
              </a:rPr>
              <a:t>;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	return 0;					</a:t>
            </a:r>
            <a:r>
              <a:rPr lang="en" sz="1400">
                <a:latin typeface="Courier New"/>
                <a:ea typeface="Courier New"/>
                <a:cs typeface="Courier New"/>
                <a:sym typeface="Courier New"/>
              </a:rPr>
              <a:t>// never reached</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1600"/>
              </a:spcAft>
              <a:buSzPts val="1800"/>
              <a:buNone/>
            </a:pPr>
            <a:r>
              <a:t/>
            </a:r>
            <a:endParaRPr sz="1400">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2"/>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dk2"/>
                </a:solidFill>
              </a:rPr>
              <a:t>And finally:</a:t>
            </a:r>
            <a:r>
              <a:rPr lang="en">
                <a:solidFill>
                  <a:srgbClr val="FF0000"/>
                </a:solidFill>
              </a:rPr>
              <a:t> RCC-&gt;IOPENR |= </a:t>
            </a:r>
            <a:r>
              <a:rPr lang="en">
                <a:solidFill>
                  <a:srgbClr val="FF0000"/>
                </a:solidFill>
              </a:rPr>
              <a:t>(1U&lt;&lt;0)</a:t>
            </a:r>
            <a:r>
              <a:rPr lang="en">
                <a:solidFill>
                  <a:srgbClr val="FF0000"/>
                </a:solidFill>
              </a:rPr>
              <a:t>;</a:t>
            </a:r>
            <a:endParaRPr>
              <a:solidFill>
                <a:schemeClr val="dk2"/>
              </a:solidFill>
            </a:endParaRPr>
          </a:p>
        </p:txBody>
      </p:sp>
      <p:sp>
        <p:nvSpPr>
          <p:cNvPr id="430" name="Google Shape;430;p4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431" name="Google Shape;431;p42"/>
          <p:cNvSpPr txBox="1"/>
          <p:nvPr>
            <p:ph idx="1" type="body"/>
          </p:nvPr>
        </p:nvSpPr>
        <p:spPr>
          <a:xfrm>
            <a:off x="311700" y="1581475"/>
            <a:ext cx="8520600" cy="25503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600"/>
              </a:spcBef>
              <a:spcAft>
                <a:spcPts val="0"/>
              </a:spcAft>
              <a:buSzPts val="1800"/>
              <a:buChar char="●"/>
            </a:pPr>
            <a:r>
              <a:rPr lang="en"/>
              <a:t>By default, the clock to peripherals (of which GPIOA is one) is turned off to save power.</a:t>
            </a:r>
            <a:endParaRPr/>
          </a:p>
          <a:p>
            <a:pPr indent="-342900" lvl="0" marL="457200" rtl="0" algn="l">
              <a:lnSpc>
                <a:spcPct val="115000"/>
              </a:lnSpc>
              <a:spcBef>
                <a:spcPts val="0"/>
              </a:spcBef>
              <a:spcAft>
                <a:spcPts val="0"/>
              </a:spcAft>
              <a:buSzPts val="1800"/>
              <a:buChar char="●"/>
            </a:pPr>
            <a:r>
              <a:rPr lang="en"/>
              <a:t>You can't read from or write to a GPIO pin without the clock being active.</a:t>
            </a:r>
            <a:endParaRPr/>
          </a:p>
          <a:p>
            <a:pPr indent="-342900" lvl="0" marL="457200" rtl="0" algn="l">
              <a:lnSpc>
                <a:spcPct val="115000"/>
              </a:lnSpc>
              <a:spcBef>
                <a:spcPts val="0"/>
              </a:spcBef>
              <a:spcAft>
                <a:spcPts val="0"/>
              </a:spcAft>
              <a:buSzPts val="1800"/>
              <a:buChar char="●"/>
            </a:pPr>
            <a:r>
              <a:rPr lang="en"/>
              <a:t>RCC-&gt;</a:t>
            </a:r>
            <a:r>
              <a:rPr lang="en"/>
              <a:t>IOPENR =</a:t>
            </a:r>
            <a:r>
              <a:rPr lang="en"/>
              <a:t> "I/O Port Clock Enable Register of the </a:t>
            </a:r>
            <a:r>
              <a:rPr lang="en"/>
              <a:t>Reset and Clock Control (RCC) system".</a:t>
            </a:r>
            <a:endParaRPr/>
          </a:p>
          <a:p>
            <a:pPr indent="-342900" lvl="0" marL="457200" rtl="0" algn="l">
              <a:lnSpc>
                <a:spcPct val="115000"/>
              </a:lnSpc>
              <a:spcBef>
                <a:spcPts val="0"/>
              </a:spcBef>
              <a:spcAft>
                <a:spcPts val="0"/>
              </a:spcAft>
              <a:buSzPts val="1800"/>
              <a:buChar char="●"/>
            </a:pPr>
            <a:r>
              <a:rPr lang="en"/>
              <a:t>It's a 32-bit register that enables (1) or disables (0) the clock for GPIOx (x = A, B, C, D, or F):</a:t>
            </a:r>
            <a:endParaRPr/>
          </a:p>
        </p:txBody>
      </p:sp>
      <p:graphicFrame>
        <p:nvGraphicFramePr>
          <p:cNvPr id="432" name="Google Shape;432;p42"/>
          <p:cNvGraphicFramePr/>
          <p:nvPr/>
        </p:nvGraphicFramePr>
        <p:xfrm>
          <a:off x="311700" y="5019245"/>
          <a:ext cx="3000000" cy="3000000"/>
        </p:xfrm>
        <a:graphic>
          <a:graphicData uri="http://schemas.openxmlformats.org/drawingml/2006/table">
            <a:tbl>
              <a:tblPr>
                <a:noFill/>
                <a:tableStyleId>{F408A230-F3E5-4931-8A8E-7B242848911A}</a:tableStyleId>
              </a:tblPr>
              <a:tblGrid>
                <a:gridCol w="710050"/>
                <a:gridCol w="710050"/>
                <a:gridCol w="71005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600"/>
                        <a:t>Bit 31</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None/>
                      </a:pPr>
                      <a:r>
                        <a:rPr lang="en" sz="1600"/>
                        <a:t>Bit 30</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None/>
                      </a:pPr>
                      <a:r>
                        <a:rPr lang="en" sz="1600"/>
                        <a:t>…</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None/>
                      </a:pPr>
                      <a:r>
                        <a:rPr lang="en" sz="1600"/>
                        <a:t>Bit 8</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a:t>
                      </a:r>
                      <a:r>
                        <a:rPr lang="en" sz="1600"/>
                        <a:t>7</a:t>
                      </a:r>
                      <a:endParaRPr sz="1600" u="none" cap="none" strike="noStrike"/>
                    </a:p>
                  </a:txBody>
                  <a:tcPr marT="121900" marB="121900" marR="91425" marL="91425">
                    <a:solidFill>
                      <a:srgbClr val="D9D9D9"/>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 sz="1600" u="none" cap="none" strike="noStrike"/>
                        <a:t>Bit </a:t>
                      </a:r>
                      <a:r>
                        <a:rPr lang="en" sz="1600"/>
                        <a:t>6</a:t>
                      </a:r>
                      <a:endParaRPr sz="1600" u="none" cap="none" strike="noStrike"/>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a:t>
                      </a:r>
                      <a:r>
                        <a:rPr lang="en" sz="1600"/>
                        <a:t>5</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a:t>
                      </a:r>
                      <a:r>
                        <a:rPr lang="en" sz="1600"/>
                        <a:t>4</a:t>
                      </a:r>
                      <a:endParaRPr sz="1600" u="none" cap="none" strike="noStrike"/>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a:t>Bit 3</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2</a:t>
                      </a:r>
                      <a:endParaRPr sz="16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1</a:t>
                      </a:r>
                      <a:endParaRPr sz="1600" u="none" cap="none" strike="noStrike"/>
                    </a:p>
                  </a:txBody>
                  <a:tcPr marT="121900" marB="121900" marR="91425" marL="91425">
                    <a:lnR cap="flat" cmpd="sng" w="19050">
                      <a:solidFill>
                        <a:srgbClr val="0000FF"/>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600" u="none" cap="none" strike="noStrike"/>
                        <a:t>Bit 0</a:t>
                      </a:r>
                      <a:endParaRPr sz="1600" u="none" cap="none" strike="noStrike"/>
                    </a:p>
                    <a:p>
                      <a:pPr indent="0" lvl="0" marL="0" marR="0" rtl="0" algn="ctr">
                        <a:lnSpc>
                          <a:spcPct val="100000"/>
                        </a:lnSpc>
                        <a:spcBef>
                          <a:spcPts val="0"/>
                        </a:spcBef>
                        <a:spcAft>
                          <a:spcPts val="0"/>
                        </a:spcAft>
                        <a:buClr>
                          <a:srgbClr val="000000"/>
                        </a:buClr>
                        <a:buSzPts val="1900"/>
                        <a:buFont typeface="Arial"/>
                        <a:buNone/>
                      </a:pPr>
                      <a:r>
                        <a:rPr lang="en" sz="2000">
                          <a:solidFill>
                            <a:srgbClr val="FF0000"/>
                          </a:solidFill>
                        </a:rPr>
                        <a:t>1</a:t>
                      </a:r>
                      <a:r>
                        <a:rPr lang="en" sz="1600" u="none" cap="none" strike="noStrike"/>
                        <a:t> </a:t>
                      </a:r>
                      <a:endParaRPr sz="1600" u="none" cap="none" strike="noStrike"/>
                    </a:p>
                  </a:txBody>
                  <a:tcPr marT="121900" marB="121900" marR="91425" marL="91425">
                    <a:lnL cap="flat" cmpd="sng" w="19050">
                      <a:solidFill>
                        <a:srgbClr val="0000FF"/>
                      </a:solidFill>
                      <a:prstDash val="solid"/>
                      <a:round/>
                      <a:headEnd len="sm" w="sm" type="none"/>
                      <a:tailEnd len="sm" w="sm" type="none"/>
                    </a:lnL>
                    <a:lnR cap="flat" cmpd="sng" w="19050">
                      <a:solidFill>
                        <a:srgbClr val="0000FF"/>
                      </a:solidFill>
                      <a:prstDash val="solid"/>
                      <a:round/>
                      <a:headEnd len="sm" w="sm" type="none"/>
                      <a:tailEnd len="sm" w="sm" type="none"/>
                    </a:lnR>
                    <a:lnT cap="flat" cmpd="sng" w="19050">
                      <a:solidFill>
                        <a:srgbClr val="0000FF"/>
                      </a:solidFill>
                      <a:prstDash val="solid"/>
                      <a:round/>
                      <a:headEnd len="sm" w="sm" type="none"/>
                      <a:tailEnd len="sm" w="sm" type="none"/>
                    </a:lnT>
                    <a:lnB cap="flat" cmpd="sng" w="19050">
                      <a:solidFill>
                        <a:srgbClr val="0000FF"/>
                      </a:solidFill>
                      <a:prstDash val="solid"/>
                      <a:round/>
                      <a:headEnd len="sm" w="sm" type="none"/>
                      <a:tailEnd len="sm" w="sm" type="none"/>
                    </a:lnB>
                  </a:tcPr>
                </a:tc>
              </a:tr>
            </a:tbl>
          </a:graphicData>
        </a:graphic>
      </p:graphicFrame>
      <p:sp>
        <p:nvSpPr>
          <p:cNvPr id="433" name="Google Shape;433;p42"/>
          <p:cNvSpPr txBox="1"/>
          <p:nvPr/>
        </p:nvSpPr>
        <p:spPr>
          <a:xfrm>
            <a:off x="8122250" y="43108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FF0000"/>
                </a:solidFill>
              </a:rPr>
              <a:t>Port A</a:t>
            </a:r>
            <a:endParaRPr sz="1800">
              <a:solidFill>
                <a:srgbClr val="FF0000"/>
              </a:solidFill>
            </a:endParaRPr>
          </a:p>
        </p:txBody>
      </p:sp>
      <p:sp>
        <p:nvSpPr>
          <p:cNvPr id="434" name="Google Shape;434;p42"/>
          <p:cNvSpPr txBox="1"/>
          <p:nvPr/>
        </p:nvSpPr>
        <p:spPr>
          <a:xfrm>
            <a:off x="7412200" y="38491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Port B</a:t>
            </a:r>
            <a:endParaRPr sz="1800">
              <a:solidFill>
                <a:schemeClr val="dk2"/>
              </a:solidFill>
            </a:endParaRPr>
          </a:p>
        </p:txBody>
      </p:sp>
      <p:sp>
        <p:nvSpPr>
          <p:cNvPr id="435" name="Google Shape;435;p42"/>
          <p:cNvSpPr txBox="1"/>
          <p:nvPr/>
        </p:nvSpPr>
        <p:spPr>
          <a:xfrm>
            <a:off x="6648225" y="43108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Port C</a:t>
            </a:r>
            <a:endParaRPr sz="1800">
              <a:solidFill>
                <a:schemeClr val="dk2"/>
              </a:solidFill>
            </a:endParaRPr>
          </a:p>
        </p:txBody>
      </p:sp>
      <p:sp>
        <p:nvSpPr>
          <p:cNvPr id="436" name="Google Shape;436;p42"/>
          <p:cNvSpPr txBox="1"/>
          <p:nvPr/>
        </p:nvSpPr>
        <p:spPr>
          <a:xfrm>
            <a:off x="5992100" y="38491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Port D</a:t>
            </a:r>
            <a:endParaRPr sz="1800">
              <a:solidFill>
                <a:schemeClr val="dk2"/>
              </a:solidFill>
            </a:endParaRPr>
          </a:p>
        </p:txBody>
      </p:sp>
      <p:sp>
        <p:nvSpPr>
          <p:cNvPr id="437" name="Google Shape;437;p42"/>
          <p:cNvSpPr txBox="1"/>
          <p:nvPr/>
        </p:nvSpPr>
        <p:spPr>
          <a:xfrm>
            <a:off x="4514125" y="4310825"/>
            <a:ext cx="86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Port F</a:t>
            </a:r>
            <a:endParaRPr sz="1800">
              <a:solidFill>
                <a:schemeClr val="dk2"/>
              </a:solidFill>
            </a:endParaRPr>
          </a:p>
        </p:txBody>
      </p:sp>
      <p:cxnSp>
        <p:nvCxnSpPr>
          <p:cNvPr id="438" name="Google Shape;438;p42"/>
          <p:cNvCxnSpPr/>
          <p:nvPr/>
        </p:nvCxnSpPr>
        <p:spPr>
          <a:xfrm>
            <a:off x="4907300" y="4677275"/>
            <a:ext cx="6600" cy="292500"/>
          </a:xfrm>
          <a:prstGeom prst="straightConnector1">
            <a:avLst/>
          </a:prstGeom>
          <a:noFill/>
          <a:ln cap="flat" cmpd="sng" w="9525">
            <a:solidFill>
              <a:schemeClr val="dk2"/>
            </a:solidFill>
            <a:prstDash val="solid"/>
            <a:round/>
            <a:headEnd len="med" w="med" type="none"/>
            <a:tailEnd len="med" w="med" type="triangle"/>
          </a:ln>
        </p:spPr>
      </p:cxnSp>
      <p:cxnSp>
        <p:nvCxnSpPr>
          <p:cNvPr id="439" name="Google Shape;439;p42"/>
          <p:cNvCxnSpPr/>
          <p:nvPr/>
        </p:nvCxnSpPr>
        <p:spPr>
          <a:xfrm>
            <a:off x="7015125" y="4677275"/>
            <a:ext cx="6600" cy="292500"/>
          </a:xfrm>
          <a:prstGeom prst="straightConnector1">
            <a:avLst/>
          </a:prstGeom>
          <a:noFill/>
          <a:ln cap="flat" cmpd="sng" w="9525">
            <a:solidFill>
              <a:schemeClr val="dk2"/>
            </a:solidFill>
            <a:prstDash val="solid"/>
            <a:round/>
            <a:headEnd len="med" w="med" type="none"/>
            <a:tailEnd len="med" w="med" type="triangle"/>
          </a:ln>
        </p:spPr>
      </p:cxnSp>
      <p:cxnSp>
        <p:nvCxnSpPr>
          <p:cNvPr id="440" name="Google Shape;440;p42"/>
          <p:cNvCxnSpPr/>
          <p:nvPr/>
        </p:nvCxnSpPr>
        <p:spPr>
          <a:xfrm>
            <a:off x="8472450" y="4677275"/>
            <a:ext cx="6600" cy="292500"/>
          </a:xfrm>
          <a:prstGeom prst="straightConnector1">
            <a:avLst/>
          </a:prstGeom>
          <a:noFill/>
          <a:ln cap="flat" cmpd="sng" w="9525">
            <a:solidFill>
              <a:srgbClr val="FF0000"/>
            </a:solidFill>
            <a:prstDash val="solid"/>
            <a:round/>
            <a:headEnd len="med" w="med" type="none"/>
            <a:tailEnd len="med" w="med" type="triangle"/>
          </a:ln>
        </p:spPr>
      </p:cxnSp>
      <p:cxnSp>
        <p:nvCxnSpPr>
          <p:cNvPr id="441" name="Google Shape;441;p42"/>
          <p:cNvCxnSpPr/>
          <p:nvPr/>
        </p:nvCxnSpPr>
        <p:spPr>
          <a:xfrm>
            <a:off x="6320125" y="4252475"/>
            <a:ext cx="3600" cy="717300"/>
          </a:xfrm>
          <a:prstGeom prst="straightConnector1">
            <a:avLst/>
          </a:prstGeom>
          <a:noFill/>
          <a:ln cap="flat" cmpd="sng" w="9525">
            <a:solidFill>
              <a:schemeClr val="dk2"/>
            </a:solidFill>
            <a:prstDash val="solid"/>
            <a:round/>
            <a:headEnd len="med" w="med" type="none"/>
            <a:tailEnd len="med" w="med" type="triangle"/>
          </a:ln>
        </p:spPr>
      </p:cxnSp>
      <p:cxnSp>
        <p:nvCxnSpPr>
          <p:cNvPr id="442" name="Google Shape;442;p42"/>
          <p:cNvCxnSpPr/>
          <p:nvPr/>
        </p:nvCxnSpPr>
        <p:spPr>
          <a:xfrm>
            <a:off x="7745288" y="4252475"/>
            <a:ext cx="3600" cy="717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3"/>
          <p:cNvSpPr txBox="1"/>
          <p:nvPr>
            <p:ph type="title"/>
          </p:nvPr>
        </p:nvSpPr>
        <p:spPr>
          <a:xfrm>
            <a:off x="311700" y="270883"/>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We now understand blinky.c!</a:t>
            </a:r>
            <a:endParaRPr/>
          </a:p>
        </p:txBody>
      </p:sp>
      <p:sp>
        <p:nvSpPr>
          <p:cNvPr id="448" name="Google Shape;448;p4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449" name="Google Shape;449;p43"/>
          <p:cNvSpPr txBox="1"/>
          <p:nvPr>
            <p:ph idx="1" type="body"/>
          </p:nvPr>
        </p:nvSpPr>
        <p:spPr>
          <a:xfrm>
            <a:off x="311700" y="1034375"/>
            <a:ext cx="8520600" cy="54189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#include "stm32C0xx.h"</a:t>
            </a:r>
            <a:r>
              <a:rPr lang="en" sz="1400">
                <a:latin typeface="Courier New"/>
                <a:ea typeface="Courier New"/>
                <a:cs typeface="Courier New"/>
                <a:sym typeface="Courier New"/>
              </a:rPr>
              <a:t>			// All the port definitions are here</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Bit 0 of RCC-&gt;IOPENR enables clock for GPIOA</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#define GPIOAEN		(1U&lt;&lt;0)</a:t>
            </a:r>
            <a:r>
              <a:rPr lang="en" sz="1400">
                <a:latin typeface="Courier New"/>
                <a:ea typeface="Courier New"/>
                <a:cs typeface="Courier New"/>
                <a:sym typeface="Courier New"/>
              </a:rPr>
              <a:t>		// 0b 0000 … 0000 0001 (32-bit)</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Bit 5 of Port A is wired to the LED</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#define LED_PIN		(1U&lt;&lt;5)</a:t>
            </a:r>
            <a:r>
              <a:rPr lang="en" sz="1400">
                <a:latin typeface="Courier New"/>
                <a:ea typeface="Courier New"/>
                <a:cs typeface="Courier New"/>
                <a:sym typeface="Courier New"/>
              </a:rPr>
              <a:t>		// 0b 0000 … 0001 0000</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int main(void) {</a:t>
            </a:r>
            <a:endParaRPr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RCC-&gt;IOPENR |= GPIOAEN;		</a:t>
            </a:r>
            <a:r>
              <a:rPr lang="en" sz="1400">
                <a:solidFill>
                  <a:srgbClr val="FF0000"/>
                </a:solidFill>
                <a:latin typeface="Courier New"/>
                <a:ea typeface="Courier New"/>
                <a:cs typeface="Courier New"/>
                <a:sym typeface="Courier New"/>
              </a:rPr>
              <a:t>// 1. Enable clock access to GPIOA</a:t>
            </a:r>
            <a:endParaRPr sz="1400">
              <a:solidFill>
                <a:srgbClr val="FF0000"/>
              </a:solidFill>
              <a:latin typeface="Courier New"/>
              <a:ea typeface="Courier New"/>
              <a:cs typeface="Courier New"/>
              <a:sym typeface="Courier New"/>
            </a:endParaRPr>
          </a:p>
          <a:p>
            <a:pPr indent="0" lvl="0" marL="0" rtl="0" algn="l">
              <a:lnSpc>
                <a:spcPct val="100000"/>
              </a:lnSpc>
              <a:spcBef>
                <a:spcPts val="0"/>
              </a:spcBef>
              <a:spcAft>
                <a:spcPts val="0"/>
              </a:spcAft>
              <a:buSzPts val="1100"/>
              <a:buNone/>
            </a:pPr>
            <a:r>
              <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GPIOA-&gt;MODER |= (1U&lt;&lt;10);		</a:t>
            </a:r>
            <a:r>
              <a:rPr lang="en" sz="1400">
                <a:solidFill>
                  <a:srgbClr val="FF0000"/>
                </a:solidFill>
                <a:latin typeface="Courier New"/>
                <a:ea typeface="Courier New"/>
                <a:cs typeface="Courier New"/>
                <a:sym typeface="Courier New"/>
              </a:rPr>
              <a:t>// 2. Configure PA5 (Port A, bit 5)</a:t>
            </a:r>
            <a:r>
              <a:rPr b="1" lang="en" sz="1400">
                <a:solidFill>
                  <a:srgbClr val="FF0000"/>
                </a:solidFill>
                <a:latin typeface="Courier New"/>
                <a:ea typeface="Courier New"/>
                <a:cs typeface="Courier New"/>
                <a:sym typeface="Courier New"/>
              </a:rPr>
              <a:t> </a:t>
            </a:r>
            <a:endParaRPr b="1"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solidFill>
                  <a:srgbClr val="FF0000"/>
                </a:solidFill>
                <a:latin typeface="Courier New"/>
                <a:ea typeface="Courier New"/>
                <a:cs typeface="Courier New"/>
                <a:sym typeface="Courier New"/>
              </a:rPr>
              <a:t>	GPIOA-&gt;MODER &amp;= ~(1U&lt;&lt;11);	</a:t>
            </a:r>
            <a:r>
              <a:rPr lang="en" sz="1400">
                <a:solidFill>
                  <a:srgbClr val="FF0000"/>
                </a:solidFill>
                <a:latin typeface="Courier New"/>
                <a:ea typeface="Courier New"/>
                <a:cs typeface="Courier New"/>
                <a:sym typeface="Courier New"/>
              </a:rPr>
              <a:t>//    as output pin</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while(1) {</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GPIOA-&gt;ODR |= LED_PIN;	</a:t>
            </a:r>
            <a:r>
              <a:rPr lang="en" sz="1400">
                <a:solidFill>
                  <a:srgbClr val="FF0000"/>
                </a:solidFill>
                <a:latin typeface="Courier New"/>
                <a:ea typeface="Courier New"/>
                <a:cs typeface="Courier New"/>
                <a:sym typeface="Courier New"/>
              </a:rPr>
              <a:t>// 3. Set bit 5 to turn LED on</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 (int i=0; i&lt;100000;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endParaRPr sz="1400">
              <a:latin typeface="Courier New"/>
              <a:ea typeface="Courier New"/>
              <a:cs typeface="Courier New"/>
              <a:sym typeface="Courier New"/>
            </a:endParaRPr>
          </a:p>
          <a:p>
            <a:pPr indent="45720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solidFill>
                  <a:srgbClr val="FF0000"/>
                </a:solidFill>
                <a:latin typeface="Courier New"/>
                <a:ea typeface="Courier New"/>
                <a:cs typeface="Courier New"/>
                <a:sym typeface="Courier New"/>
              </a:rPr>
              <a:t>GPIOA-&gt;ODR &amp;= ~LED_PIN;	</a:t>
            </a:r>
            <a:r>
              <a:rPr lang="en" sz="1400">
                <a:solidFill>
                  <a:srgbClr val="FF0000"/>
                </a:solidFill>
                <a:latin typeface="Courier New"/>
                <a:ea typeface="Courier New"/>
                <a:cs typeface="Courier New"/>
                <a:sym typeface="Courier New"/>
              </a:rPr>
              <a:t>// 4. Clear bit 5 to turn LED off</a:t>
            </a:r>
            <a:endParaRPr sz="1400">
              <a:solidFill>
                <a:srgbClr val="FF0000"/>
              </a:solidFill>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for(int i = 0; i&lt;</a:t>
            </a:r>
            <a:r>
              <a:rPr b="1" lang="en" sz="1400">
                <a:latin typeface="Courier New"/>
                <a:ea typeface="Courier New"/>
                <a:cs typeface="Courier New"/>
                <a:sym typeface="Courier New"/>
              </a:rPr>
              <a:t>100000</a:t>
            </a:r>
            <a:r>
              <a:rPr b="1" lang="en" sz="1400">
                <a:latin typeface="Courier New"/>
                <a:ea typeface="Courier New"/>
                <a:cs typeface="Courier New"/>
                <a:sym typeface="Courier New"/>
              </a:rPr>
              <a:t>; i++);	</a:t>
            </a:r>
            <a:r>
              <a:rPr lang="en" sz="1400">
                <a:latin typeface="Courier New"/>
                <a:ea typeface="Courier New"/>
                <a:cs typeface="Courier New"/>
                <a:sym typeface="Courier New"/>
              </a:rPr>
              <a:t>// kill some time</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lang="en" sz="1400">
                <a:latin typeface="Courier New"/>
                <a:ea typeface="Courier New"/>
                <a:cs typeface="Courier New"/>
                <a:sym typeface="Courier New"/>
              </a:rPr>
              <a:t>	</a:t>
            </a: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SzPts val="1100"/>
              <a:buNone/>
            </a:pPr>
            <a:r>
              <a:rPr b="1" lang="en" sz="1400">
                <a:latin typeface="Courier New"/>
                <a:ea typeface="Courier New"/>
                <a:cs typeface="Courier New"/>
                <a:sym typeface="Courier New"/>
              </a:rPr>
              <a:t>	return 0;					</a:t>
            </a:r>
            <a:r>
              <a:rPr lang="en" sz="1400">
                <a:latin typeface="Courier New"/>
                <a:ea typeface="Courier New"/>
                <a:cs typeface="Courier New"/>
                <a:sym typeface="Courier New"/>
              </a:rPr>
              <a:t>// never reached</a:t>
            </a:r>
            <a:endParaRPr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457200" rtl="0" algn="l">
              <a:lnSpc>
                <a:spcPct val="100000"/>
              </a:lnSpc>
              <a:spcBef>
                <a:spcPts val="0"/>
              </a:spcBef>
              <a:spcAft>
                <a:spcPts val="0"/>
              </a:spcAft>
              <a:buClr>
                <a:schemeClr val="dk1"/>
              </a:buClr>
              <a:buSzPts val="1100"/>
              <a:buFont typeface="Arial"/>
              <a:buNone/>
            </a:pPr>
            <a:r>
              <a:t/>
            </a:r>
            <a:endParaRPr sz="1400">
              <a:latin typeface="Courier New"/>
              <a:ea typeface="Courier New"/>
              <a:cs typeface="Courier New"/>
              <a:sym typeface="Courier New"/>
            </a:endParaRPr>
          </a:p>
          <a:p>
            <a:pPr indent="0" lvl="0" marL="457200" rtl="0" algn="l">
              <a:lnSpc>
                <a:spcPct val="100000"/>
              </a:lnSpc>
              <a:spcBef>
                <a:spcPts val="0"/>
              </a:spcBef>
              <a:spcAft>
                <a:spcPts val="1600"/>
              </a:spcAft>
              <a:buSzPts val="1800"/>
              <a:buNone/>
            </a:pPr>
            <a:r>
              <a:t/>
            </a:r>
            <a:endParaRPr sz="1400">
              <a:latin typeface="Courier New"/>
              <a:ea typeface="Courier New"/>
              <a:cs typeface="Courier New"/>
              <a:sym typeface="Courier New"/>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Summary: "Bit Twiddling" </a:t>
            </a:r>
            <a:endParaRPr/>
          </a:p>
        </p:txBody>
      </p:sp>
      <p:sp>
        <p:nvSpPr>
          <p:cNvPr id="455" name="Google Shape;455;p4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To </a:t>
            </a:r>
            <a:r>
              <a:rPr b="1" lang="en"/>
              <a:t>set</a:t>
            </a:r>
            <a:r>
              <a:rPr lang="en"/>
              <a:t> bit </a:t>
            </a:r>
            <a:r>
              <a:rPr i="1" lang="en"/>
              <a:t>n</a:t>
            </a:r>
            <a:r>
              <a:rPr lang="en"/>
              <a:t> in the binary number NUM:</a:t>
            </a:r>
            <a:endParaRPr/>
          </a:p>
          <a:p>
            <a:pPr indent="0" lvl="0" marL="0" rtl="0" algn="ctr">
              <a:lnSpc>
                <a:spcPct val="115000"/>
              </a:lnSpc>
              <a:spcBef>
                <a:spcPts val="1600"/>
              </a:spcBef>
              <a:spcAft>
                <a:spcPts val="0"/>
              </a:spcAft>
              <a:buSzPts val="1800"/>
              <a:buNone/>
            </a:pPr>
            <a:r>
              <a:rPr lang="en">
                <a:solidFill>
                  <a:srgbClr val="0000FF"/>
                </a:solidFill>
                <a:latin typeface="Courier New"/>
                <a:ea typeface="Courier New"/>
                <a:cs typeface="Courier New"/>
                <a:sym typeface="Courier New"/>
              </a:rPr>
              <a:t>NUM |= (1 &lt;&lt; n);</a:t>
            </a:r>
            <a:endParaRPr>
              <a:solidFill>
                <a:srgbClr val="0000FF"/>
              </a:solidFill>
              <a:latin typeface="Courier New"/>
              <a:ea typeface="Courier New"/>
              <a:cs typeface="Courier New"/>
              <a:sym typeface="Courier New"/>
            </a:endParaRPr>
          </a:p>
          <a:p>
            <a:pPr indent="0" lvl="0" marL="0" rtl="0" algn="l">
              <a:lnSpc>
                <a:spcPct val="115000"/>
              </a:lnSpc>
              <a:spcBef>
                <a:spcPts val="1600"/>
              </a:spcBef>
              <a:spcAft>
                <a:spcPts val="0"/>
              </a:spcAft>
              <a:buSzPts val="1800"/>
              <a:buNone/>
            </a:pPr>
            <a:r>
              <a:rPr lang="en"/>
              <a:t>To </a:t>
            </a:r>
            <a:r>
              <a:rPr b="1" lang="en"/>
              <a:t>clear</a:t>
            </a:r>
            <a:r>
              <a:rPr lang="en"/>
              <a:t> bit </a:t>
            </a:r>
            <a:r>
              <a:rPr i="1" lang="en"/>
              <a:t>n</a:t>
            </a:r>
            <a:r>
              <a:rPr lang="en"/>
              <a:t> in the binary number NUM:</a:t>
            </a:r>
            <a:endParaRPr/>
          </a:p>
          <a:p>
            <a:pPr indent="0" lvl="0" marL="0" rtl="0" algn="ctr">
              <a:lnSpc>
                <a:spcPct val="115000"/>
              </a:lnSpc>
              <a:spcBef>
                <a:spcPts val="1600"/>
              </a:spcBef>
              <a:spcAft>
                <a:spcPts val="0"/>
              </a:spcAft>
              <a:buSzPts val="1800"/>
              <a:buNone/>
            </a:pPr>
            <a:r>
              <a:rPr lang="en">
                <a:solidFill>
                  <a:srgbClr val="0000FF"/>
                </a:solidFill>
                <a:latin typeface="Courier New"/>
                <a:ea typeface="Courier New"/>
                <a:cs typeface="Courier New"/>
                <a:sym typeface="Courier New"/>
              </a:rPr>
              <a:t>NUM &amp;= ~(1 &lt;&lt; n);</a:t>
            </a:r>
            <a:endParaRPr>
              <a:solidFill>
                <a:srgbClr val="0000FF"/>
              </a:solidFill>
              <a:latin typeface="Courier New"/>
              <a:ea typeface="Courier New"/>
              <a:cs typeface="Courier New"/>
              <a:sym typeface="Courier New"/>
            </a:endParaRPr>
          </a:p>
          <a:p>
            <a:pPr indent="0" lvl="0" marL="0" rtl="0" algn="l">
              <a:lnSpc>
                <a:spcPct val="115000"/>
              </a:lnSpc>
              <a:spcBef>
                <a:spcPts val="1600"/>
              </a:spcBef>
              <a:spcAft>
                <a:spcPts val="0"/>
              </a:spcAft>
              <a:buSzPts val="1800"/>
              <a:buNone/>
            </a:pPr>
            <a:r>
              <a:rPr lang="en"/>
              <a:t>To </a:t>
            </a:r>
            <a:r>
              <a:rPr b="1" lang="en"/>
              <a:t>toggle</a:t>
            </a:r>
            <a:r>
              <a:rPr lang="en"/>
              <a:t> bit </a:t>
            </a:r>
            <a:r>
              <a:rPr i="1" lang="en"/>
              <a:t>n</a:t>
            </a:r>
            <a:r>
              <a:rPr lang="en"/>
              <a:t> in the binary number NUM:</a:t>
            </a:r>
            <a:endParaRPr/>
          </a:p>
          <a:p>
            <a:pPr indent="0" lvl="0" marL="0" rtl="0" algn="ctr">
              <a:lnSpc>
                <a:spcPct val="115000"/>
              </a:lnSpc>
              <a:spcBef>
                <a:spcPts val="1600"/>
              </a:spcBef>
              <a:spcAft>
                <a:spcPts val="0"/>
              </a:spcAft>
              <a:buSzPts val="1800"/>
              <a:buNone/>
            </a:pPr>
            <a:r>
              <a:rPr lang="en">
                <a:solidFill>
                  <a:srgbClr val="0000FF"/>
                </a:solidFill>
                <a:latin typeface="Courier New"/>
                <a:ea typeface="Courier New"/>
                <a:cs typeface="Courier New"/>
                <a:sym typeface="Courier New"/>
              </a:rPr>
              <a:t>NUM ^= (1 &lt;&lt; n);</a:t>
            </a:r>
            <a:endParaRPr>
              <a:solidFill>
                <a:srgbClr val="0000FF"/>
              </a:solidFill>
              <a:latin typeface="Courier New"/>
              <a:ea typeface="Courier New"/>
              <a:cs typeface="Courier New"/>
              <a:sym typeface="Courier New"/>
            </a:endParaRPr>
          </a:p>
          <a:p>
            <a:pPr indent="0" lvl="0" marL="0" rtl="0" algn="l">
              <a:lnSpc>
                <a:spcPct val="115000"/>
              </a:lnSpc>
              <a:spcBef>
                <a:spcPts val="1600"/>
              </a:spcBef>
              <a:spcAft>
                <a:spcPts val="0"/>
              </a:spcAft>
              <a:buSzPts val="1800"/>
              <a:buNone/>
            </a:pPr>
            <a:r>
              <a:rPr lang="en">
                <a:solidFill>
                  <a:schemeClr val="dk1"/>
                </a:solidFill>
              </a:rPr>
              <a:t>(1 &lt;&lt; n) and ~(1 &lt;&lt; n) are called </a:t>
            </a:r>
            <a:r>
              <a:rPr b="1" lang="en">
                <a:solidFill>
                  <a:schemeClr val="dk1"/>
                </a:solidFill>
              </a:rPr>
              <a:t>bit masks</a:t>
            </a:r>
            <a:r>
              <a:rPr lang="en">
                <a:solidFill>
                  <a:schemeClr val="dk1"/>
                </a:solidFill>
              </a:rPr>
              <a:t>.  Bit twiddling consists of using AND, OR, or XOR with an appropriate bit mask.</a:t>
            </a:r>
            <a:endParaRPr>
              <a:solidFill>
                <a:schemeClr val="dk1"/>
              </a:solidFill>
            </a:endParaRPr>
          </a:p>
          <a:p>
            <a:pPr indent="0" lvl="0" marL="0" rtl="0" algn="ctr">
              <a:lnSpc>
                <a:spcPct val="115000"/>
              </a:lnSpc>
              <a:spcBef>
                <a:spcPts val="1600"/>
              </a:spcBef>
              <a:spcAft>
                <a:spcPts val="1600"/>
              </a:spcAft>
              <a:buSzPts val="1800"/>
              <a:buNone/>
            </a:pPr>
            <a:r>
              <a:t/>
            </a:r>
            <a:endParaRPr>
              <a:solidFill>
                <a:srgbClr val="0000FF"/>
              </a:solidFill>
              <a:latin typeface="Courier New"/>
              <a:ea typeface="Courier New"/>
              <a:cs typeface="Courier New"/>
              <a:sym typeface="Courier New"/>
            </a:endParaRPr>
          </a:p>
        </p:txBody>
      </p:sp>
      <p:sp>
        <p:nvSpPr>
          <p:cNvPr id="456" name="Google Shape;456;p4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Bonus operations</a:t>
            </a:r>
            <a:endParaRPr/>
          </a:p>
        </p:txBody>
      </p:sp>
      <p:sp>
        <p:nvSpPr>
          <p:cNvPr id="462" name="Google Shape;462;p4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1600"/>
              </a:spcBef>
              <a:spcAft>
                <a:spcPts val="0"/>
              </a:spcAft>
              <a:buClr>
                <a:schemeClr val="dk1"/>
              </a:buClr>
              <a:buSzPts val="1800"/>
              <a:buFont typeface="Arial"/>
              <a:buNone/>
            </a:pPr>
            <a:r>
              <a:rPr lang="en"/>
              <a:t>These expressions </a:t>
            </a:r>
            <a:r>
              <a:rPr lang="en"/>
              <a:t>check if bit </a:t>
            </a:r>
            <a:r>
              <a:rPr i="1" lang="en"/>
              <a:t>n</a:t>
            </a:r>
            <a:r>
              <a:rPr lang="en"/>
              <a:t> in the binary number NUM is ‘0’ or ‘1’:</a:t>
            </a:r>
            <a:endParaRPr/>
          </a:p>
          <a:p>
            <a:pPr indent="0" lvl="0" marL="0" rtl="0" algn="ctr">
              <a:spcBef>
                <a:spcPts val="1600"/>
              </a:spcBef>
              <a:spcAft>
                <a:spcPts val="0"/>
              </a:spcAft>
              <a:buNone/>
            </a:pPr>
            <a:r>
              <a:rPr lang="en">
                <a:solidFill>
                  <a:srgbClr val="0000FF"/>
                </a:solidFill>
                <a:latin typeface="Courier New"/>
                <a:ea typeface="Courier New"/>
                <a:cs typeface="Courier New"/>
                <a:sym typeface="Courier New"/>
              </a:rPr>
              <a:t>(NUM &amp; (1 &lt;&lt; n)) == 0 </a:t>
            </a:r>
            <a:endParaRPr>
              <a:solidFill>
                <a:schemeClr val="dk1"/>
              </a:solidFill>
            </a:endParaRPr>
          </a:p>
          <a:p>
            <a:pPr indent="0" lvl="0" marL="0" rtl="0" algn="ctr">
              <a:spcBef>
                <a:spcPts val="1600"/>
              </a:spcBef>
              <a:spcAft>
                <a:spcPts val="0"/>
              </a:spcAft>
              <a:buNone/>
            </a:pPr>
            <a:r>
              <a:rPr lang="en">
                <a:solidFill>
                  <a:srgbClr val="0000FF"/>
                </a:solidFill>
                <a:latin typeface="Courier New"/>
                <a:ea typeface="Courier New"/>
                <a:cs typeface="Courier New"/>
                <a:sym typeface="Courier New"/>
              </a:rPr>
              <a:t>(NUM &amp; (1 &lt;&lt; n)) != 0</a:t>
            </a:r>
            <a:endParaRPr>
              <a:solidFill>
                <a:srgbClr val="0000FF"/>
              </a:solidFill>
              <a:latin typeface="Courier New"/>
              <a:ea typeface="Courier New"/>
              <a:cs typeface="Courier New"/>
              <a:sym typeface="Courier New"/>
            </a:endParaRPr>
          </a:p>
          <a:p>
            <a:pPr indent="0" lvl="0" marL="0" rtl="0" algn="l">
              <a:spcBef>
                <a:spcPts val="1600"/>
              </a:spcBef>
              <a:spcAft>
                <a:spcPts val="0"/>
              </a:spcAft>
              <a:buClr>
                <a:schemeClr val="dk1"/>
              </a:buClr>
              <a:buSzPts val="1800"/>
              <a:buFont typeface="Arial"/>
              <a:buNone/>
            </a:pPr>
            <a:r>
              <a:rPr lang="en">
                <a:solidFill>
                  <a:schemeClr val="dk1"/>
                </a:solidFill>
              </a:rPr>
              <a:t>How do they work?</a:t>
            </a:r>
            <a:endParaRPr>
              <a:solidFill>
                <a:schemeClr val="dk1"/>
              </a:solidFill>
            </a:endParaRPr>
          </a:p>
          <a:p>
            <a:pPr indent="0" lvl="0" marL="0" rtl="0" algn="l">
              <a:spcBef>
                <a:spcPts val="1600"/>
              </a:spcBef>
              <a:spcAft>
                <a:spcPts val="0"/>
              </a:spcAft>
              <a:buNone/>
            </a:pPr>
            <a:r>
              <a:t/>
            </a:r>
            <a:endParaRPr/>
          </a:p>
        </p:txBody>
      </p:sp>
      <p:sp>
        <p:nvSpPr>
          <p:cNvPr id="463" name="Google Shape;463;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
        <p:nvSpPr>
          <p:cNvPr id="469" name="Google Shape;469;p46"/>
          <p:cNvSpPr txBox="1"/>
          <p:nvPr>
            <p:ph type="title"/>
          </p:nvPr>
        </p:nvSpPr>
        <p:spPr>
          <a:xfrm>
            <a:off x="263175" y="2427733"/>
            <a:ext cx="8520600" cy="112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What else could you do by turning a pin on and off?</a:t>
            </a:r>
            <a:endParaRPr/>
          </a:p>
          <a:p>
            <a:pPr indent="0" lvl="0" marL="0" rtl="0" algn="ctr">
              <a:lnSpc>
                <a:spcPct val="100000"/>
              </a:lnSpc>
              <a:spcBef>
                <a:spcPts val="0"/>
              </a:spcBef>
              <a:spcAft>
                <a:spcPts val="0"/>
              </a:spcAft>
              <a:buSzPts val="2800"/>
              <a:buNone/>
            </a:pPr>
            <a:r>
              <a:t/>
            </a:r>
            <a:endParaRPr/>
          </a:p>
          <a:p>
            <a:pPr indent="0" lvl="0" marL="0" rtl="0" algn="ctr">
              <a:lnSpc>
                <a:spcPct val="100000"/>
              </a:lnSpc>
              <a:spcBef>
                <a:spcPts val="0"/>
              </a:spcBef>
              <a:spcAft>
                <a:spcPts val="0"/>
              </a:spcAft>
              <a:buSzPts val="2800"/>
              <a:buNone/>
            </a:pPr>
            <a:r>
              <a:rPr lang="en"/>
              <a:t>What if you could turn more than one pin on and off?</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Homework for tomorrow: Modify the Blinky Code </a:t>
            </a:r>
            <a:endParaRPr/>
          </a:p>
        </p:txBody>
      </p:sp>
      <p:sp>
        <p:nvSpPr>
          <p:cNvPr id="475" name="Google Shape;475;p47"/>
          <p:cNvSpPr txBox="1"/>
          <p:nvPr>
            <p:ph idx="1" type="body"/>
          </p:nvPr>
        </p:nvSpPr>
        <p:spPr>
          <a:xfrm>
            <a:off x="311700" y="1195075"/>
            <a:ext cx="8317200" cy="5547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a:t>Think about the blinky.c code and how you </a:t>
            </a:r>
            <a:r>
              <a:rPr lang="en"/>
              <a:t>would</a:t>
            </a:r>
            <a:r>
              <a:rPr lang="en"/>
              <a:t> modify it to make the LED blink faster / slower / on longer / etc. Make notes for tomorrow's class. </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Next, think about the following:</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How would you modify blinky.c to make the blink rate steadily increase from slow to fast, then repeat? Write out your code on paper.</a:t>
            </a:r>
            <a:br>
              <a:rPr lang="en"/>
            </a:br>
            <a:endParaRPr/>
          </a:p>
          <a:p>
            <a:pPr indent="-342900" lvl="0" marL="457200" rtl="0" algn="l">
              <a:lnSpc>
                <a:spcPct val="115000"/>
              </a:lnSpc>
              <a:spcBef>
                <a:spcPts val="0"/>
              </a:spcBef>
              <a:spcAft>
                <a:spcPts val="0"/>
              </a:spcAft>
              <a:buSzPts val="1800"/>
              <a:buChar char="●"/>
            </a:pPr>
            <a:r>
              <a:rPr lang="en"/>
              <a:t>Use your best C programming style to make the code clean and readable. See Canvas page "</a:t>
            </a:r>
            <a:r>
              <a:rPr lang="en" u="sng">
                <a:solidFill>
                  <a:schemeClr val="hlink"/>
                </a:solidFill>
                <a:hlinkClick r:id="rId3"/>
              </a:rPr>
              <a:t>Coding Style</a:t>
            </a:r>
            <a:r>
              <a:rPr lang="en"/>
              <a:t>" (Online Resources -&gt; Coding standards -&gt; style guide for ENGS 28)</a:t>
            </a:r>
            <a:endParaRPr/>
          </a:p>
          <a:p>
            <a:pPr indent="-342900" lvl="0" marL="457200" rtl="0" algn="l">
              <a:lnSpc>
                <a:spcPct val="115000"/>
              </a:lnSpc>
              <a:spcBef>
                <a:spcPts val="1600"/>
              </a:spcBef>
              <a:spcAft>
                <a:spcPts val="1600"/>
              </a:spcAft>
              <a:buSzPts val="1800"/>
              <a:buChar char="●"/>
            </a:pPr>
            <a:r>
              <a:rPr lang="en"/>
              <a:t>Bring your </a:t>
            </a:r>
            <a:r>
              <a:rPr lang="en">
                <a:highlight>
                  <a:srgbClr val="FFFF00"/>
                </a:highlight>
              </a:rPr>
              <a:t>hand written code</a:t>
            </a:r>
            <a:r>
              <a:rPr lang="en"/>
              <a:t> to class tomorrow.</a:t>
            </a:r>
            <a:endParaRPr/>
          </a:p>
        </p:txBody>
      </p:sp>
      <p:sp>
        <p:nvSpPr>
          <p:cNvPr id="476" name="Google Shape;476;p4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id="481" name="Google Shape;481;p48"/>
          <p:cNvPicPr preferRelativeResize="0"/>
          <p:nvPr/>
        </p:nvPicPr>
        <p:blipFill rotWithShape="1">
          <a:blip r:embed="rId3">
            <a:alphaModFix/>
          </a:blip>
          <a:srcRect b="1884" l="0" r="0" t="0"/>
          <a:stretch/>
        </p:blipFill>
        <p:spPr>
          <a:xfrm>
            <a:off x="1702069" y="0"/>
            <a:ext cx="5918832" cy="6857998"/>
          </a:xfrm>
          <a:prstGeom prst="rect">
            <a:avLst/>
          </a:prstGeom>
          <a:noFill/>
          <a:ln>
            <a:noFill/>
          </a:ln>
        </p:spPr>
      </p:pic>
      <p:sp>
        <p:nvSpPr>
          <p:cNvPr id="482" name="Google Shape;482;p48"/>
          <p:cNvSpPr txBox="1"/>
          <p:nvPr>
            <p:ph type="title"/>
          </p:nvPr>
        </p:nvSpPr>
        <p:spPr>
          <a:xfrm rot="-1797293">
            <a:off x="618586" y="1970707"/>
            <a:ext cx="2182778" cy="1357296"/>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We are all here to help!!!!!</a:t>
            </a:r>
            <a:endParaRPr>
              <a:solidFill>
                <a:srgbClr val="0000FF"/>
              </a:solidFill>
            </a:endParaRPr>
          </a:p>
        </p:txBody>
      </p:sp>
      <p:sp>
        <p:nvSpPr>
          <p:cNvPr id="483" name="Google Shape;483;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484" name="Google Shape;484;p48"/>
          <p:cNvSpPr/>
          <p:nvPr/>
        </p:nvSpPr>
        <p:spPr>
          <a:xfrm>
            <a:off x="3902850" y="4255750"/>
            <a:ext cx="1910700" cy="524700"/>
          </a:xfrm>
          <a:prstGeom prst="roundRect">
            <a:avLst>
              <a:gd fmla="val 16667" name="adj"/>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8"/>
          <p:cNvSpPr/>
          <p:nvPr/>
        </p:nvSpPr>
        <p:spPr>
          <a:xfrm>
            <a:off x="5534325" y="6418375"/>
            <a:ext cx="1854000" cy="406500"/>
          </a:xfrm>
          <a:prstGeom prst="roundRect">
            <a:avLst>
              <a:gd fmla="val 16667" name="adj"/>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8"/>
          <p:cNvSpPr/>
          <p:nvPr/>
        </p:nvSpPr>
        <p:spPr>
          <a:xfrm>
            <a:off x="3701475" y="6418375"/>
            <a:ext cx="1723500" cy="406500"/>
          </a:xfrm>
          <a:prstGeom prst="roundRect">
            <a:avLst>
              <a:gd fmla="val 16667" name="adj"/>
            </a:avLst>
          </a:prstGeom>
          <a:noFill/>
          <a:ln cap="flat" cmpd="sng" w="38100">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8"/>
          <p:cNvSpPr txBox="1"/>
          <p:nvPr>
            <p:ph type="title"/>
          </p:nvPr>
        </p:nvSpPr>
        <p:spPr>
          <a:xfrm rot="1210050">
            <a:off x="7197380" y="2772054"/>
            <a:ext cx="1983085" cy="1428791"/>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Help sessions start today!</a:t>
            </a:r>
            <a:endParaRPr>
              <a:solidFill>
                <a:srgbClr val="FF0000"/>
              </a:solidFill>
            </a:endParaRPr>
          </a:p>
        </p:txBody>
      </p:sp>
      <p:cxnSp>
        <p:nvCxnSpPr>
          <p:cNvPr id="488" name="Google Shape;488;p48"/>
          <p:cNvCxnSpPr>
            <a:stCxn id="487" idx="2"/>
            <a:endCxn id="485" idx="0"/>
          </p:cNvCxnSpPr>
          <p:nvPr/>
        </p:nvCxnSpPr>
        <p:spPr>
          <a:xfrm flipH="1">
            <a:off x="6461372" y="4157100"/>
            <a:ext cx="1481400" cy="2261400"/>
          </a:xfrm>
          <a:prstGeom prst="straightConnector1">
            <a:avLst/>
          </a:prstGeom>
          <a:noFill/>
          <a:ln cap="flat" cmpd="sng" w="38100">
            <a:solidFill>
              <a:srgbClr val="FF0000"/>
            </a:solidFill>
            <a:prstDash val="solid"/>
            <a:round/>
            <a:headEnd len="med" w="med" type="none"/>
            <a:tailEnd len="med" w="med" type="triangle"/>
          </a:ln>
        </p:spPr>
      </p:cxnSp>
      <p:cxnSp>
        <p:nvCxnSpPr>
          <p:cNvPr id="489" name="Google Shape;489;p48"/>
          <p:cNvCxnSpPr>
            <a:stCxn id="482" idx="2"/>
            <a:endCxn id="484" idx="1"/>
          </p:cNvCxnSpPr>
          <p:nvPr/>
        </p:nvCxnSpPr>
        <p:spPr>
          <a:xfrm>
            <a:off x="2048825" y="3237356"/>
            <a:ext cx="1854000" cy="1280700"/>
          </a:xfrm>
          <a:prstGeom prst="straightConnector1">
            <a:avLst/>
          </a:prstGeom>
          <a:noFill/>
          <a:ln cap="flat" cmpd="sng" w="38100">
            <a:solidFill>
              <a:srgbClr val="0000FF"/>
            </a:solidFill>
            <a:prstDash val="solid"/>
            <a:round/>
            <a:headEnd len="med" w="med" type="none"/>
            <a:tailEnd len="med" w="med" type="triangle"/>
          </a:ln>
        </p:spPr>
      </p:cxnSp>
      <p:sp>
        <p:nvSpPr>
          <p:cNvPr id="490" name="Google Shape;490;p48"/>
          <p:cNvSpPr txBox="1"/>
          <p:nvPr>
            <p:ph type="title"/>
          </p:nvPr>
        </p:nvSpPr>
        <p:spPr>
          <a:xfrm>
            <a:off x="347150" y="4157100"/>
            <a:ext cx="2664000" cy="14811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274E13"/>
                </a:solidFill>
              </a:rPr>
              <a:t>Need a C-programming refresher?</a:t>
            </a:r>
            <a:endParaRPr>
              <a:solidFill>
                <a:srgbClr val="274E13"/>
              </a:solidFill>
            </a:endParaRPr>
          </a:p>
        </p:txBody>
      </p:sp>
      <p:cxnSp>
        <p:nvCxnSpPr>
          <p:cNvPr id="491" name="Google Shape;491;p48"/>
          <p:cNvCxnSpPr>
            <a:stCxn id="490" idx="2"/>
            <a:endCxn id="486" idx="1"/>
          </p:cNvCxnSpPr>
          <p:nvPr/>
        </p:nvCxnSpPr>
        <p:spPr>
          <a:xfrm>
            <a:off x="1679150" y="5638200"/>
            <a:ext cx="2022300" cy="983400"/>
          </a:xfrm>
          <a:prstGeom prst="straightConnector1">
            <a:avLst/>
          </a:prstGeom>
          <a:noFill/>
          <a:ln cap="flat" cmpd="sng" w="38100">
            <a:solidFill>
              <a:srgbClr val="274E13"/>
            </a:solidFill>
            <a:prstDash val="solid"/>
            <a:round/>
            <a:headEnd len="med" w="med" type="none"/>
            <a:tailEnd len="med" w="med" type="triangle"/>
          </a:ln>
        </p:spPr>
      </p:cxnSp>
      <p:sp>
        <p:nvSpPr>
          <p:cNvPr id="492" name="Google Shape;492;p48"/>
          <p:cNvSpPr txBox="1"/>
          <p:nvPr>
            <p:ph type="title"/>
          </p:nvPr>
        </p:nvSpPr>
        <p:spPr>
          <a:xfrm rot="-407760">
            <a:off x="108865" y="162403"/>
            <a:ext cx="2831797" cy="1480999"/>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900FF"/>
                </a:solidFill>
              </a:rPr>
              <a:t>Yes, we'll be using all x-hours for class.</a:t>
            </a:r>
            <a:endParaRPr>
              <a:solidFill>
                <a:srgbClr val="9900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