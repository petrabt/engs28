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embeddedFontLs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5.xml"/><Relationship Id="rId41" Type="http://schemas.openxmlformats.org/officeDocument/2006/relationships/font" Target="fonts/HelveticaNeue-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HelveticaNeue-bold.fntdata"/><Relationship Id="rId16" Type="http://schemas.openxmlformats.org/officeDocument/2006/relationships/slide" Target="slides/slide11.xml"/><Relationship Id="rId38" Type="http://schemas.openxmlformats.org/officeDocument/2006/relationships/font" Target="fonts/HelveticaNeu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4e32faedb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4e32faed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4dcc7ec2cb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4dcc7ec2c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073ad923e3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073ad923e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92e2b9b3d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92e2b9b3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d92e2b9b3d_0_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d92e2b9b3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How do you tell the devices apart? They all share the same lines.</a:t>
            </a:r>
            <a:endParaRPr sz="1400"/>
          </a:p>
          <a:p>
            <a:pPr indent="0" lvl="0" marL="0" rtl="0" algn="l">
              <a:spcBef>
                <a:spcPts val="0"/>
              </a:spcBef>
              <a:spcAft>
                <a:spcPts val="0"/>
              </a:spcAft>
              <a:buNone/>
            </a:pPr>
            <a:r>
              <a:rPr lang="en" sz="1400"/>
              <a:t>One device is in charge: the Controller device. The others are peripheral devices.</a:t>
            </a:r>
            <a:endParaRPr sz="1400"/>
          </a:p>
          <a:p>
            <a:pPr indent="0" lvl="0" marL="0" rtl="0" algn="l">
              <a:spcBef>
                <a:spcPts val="0"/>
              </a:spcBef>
              <a:spcAft>
                <a:spcPts val="0"/>
              </a:spcAft>
              <a:buNone/>
            </a:pPr>
            <a:r>
              <a:rPr lang="en" sz="1400"/>
              <a:t>Controller is in charge. It initiates contact with the other device is wants to talk to and demands from the device data to talk back.</a:t>
            </a:r>
            <a:endParaRPr sz="1400"/>
          </a:p>
          <a:p>
            <a:pPr indent="0" lvl="0" marL="0" rtl="0" algn="l">
              <a:spcBef>
                <a:spcPts val="0"/>
              </a:spcBef>
              <a:spcAft>
                <a:spcPts val="0"/>
              </a:spcAft>
              <a:buNone/>
            </a:pPr>
            <a:r>
              <a:rPr lang="en" sz="1400"/>
              <a:t>Each device has an address, a 7-bit number, so that the controller device can address it directly.</a:t>
            </a:r>
            <a:endParaRPr sz="1400"/>
          </a:p>
          <a:p>
            <a:pPr indent="0" lvl="0" marL="0" rtl="0" algn="l">
              <a:spcBef>
                <a:spcPts val="0"/>
              </a:spcBef>
              <a:spcAft>
                <a:spcPts val="0"/>
              </a:spcAft>
              <a:buNone/>
            </a:pPr>
            <a:r>
              <a:rPr lang="en" sz="1400"/>
              <a:t>Controller initiates communication with that device by sending its address. All devices are listening. The device that recognizes its own address knows it's being spoken to. It then acknowledges by talking back 'yes what do you want'.</a:t>
            </a:r>
            <a:endParaRPr sz="1400"/>
          </a:p>
          <a:p>
            <a:pPr indent="0" lvl="0" marL="0" rtl="0" algn="l">
              <a:spcBef>
                <a:spcPts val="0"/>
              </a:spcBef>
              <a:spcAft>
                <a:spcPts val="0"/>
              </a:spcAft>
              <a:buNone/>
            </a:pPr>
            <a:r>
              <a:rPr lang="en" sz="1400"/>
              <a:t>So devices have to be able to switch back and forth between sending and receiving. Only one device can talk at a time.</a:t>
            </a:r>
            <a:endParaRPr sz="1400"/>
          </a:p>
          <a:p>
            <a:pPr indent="0" lvl="0" marL="0" rtl="0" algn="l">
              <a:spcBef>
                <a:spcPts val="0"/>
              </a:spcBef>
              <a:spcAft>
                <a:spcPts val="0"/>
              </a:spcAft>
              <a:buNone/>
            </a:pPr>
            <a:r>
              <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7bc230acf_0_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7bc230ac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Here is the protocol.</a:t>
            </a:r>
            <a:endParaRPr sz="1400"/>
          </a:p>
          <a:p>
            <a:pPr indent="0" lvl="0" marL="0" rtl="0" algn="l">
              <a:spcBef>
                <a:spcPts val="0"/>
              </a:spcBef>
              <a:spcAft>
                <a:spcPts val="0"/>
              </a:spcAft>
              <a:buNone/>
            </a:pPr>
            <a:r>
              <a:rPr lang="en" sz="1400"/>
              <a:t>Data and clock lines are held high when nobody is talking. When controller wants to initiate communication with a peripheral device it pulls the data line low (called a start condition). That starts the clock running. Then, synchronously with the clock it sends out the device's 7-bit address that indicates to whom it wants to talk, followed by a 0 or a 1, depending on whether it wants to send data to the device (0) or read data from the device (1). Now 8 bit have been sent. Now the </a:t>
            </a:r>
            <a:r>
              <a:rPr lang="en" sz="1400">
                <a:solidFill>
                  <a:schemeClr val="dk1"/>
                </a:solidFill>
              </a:rPr>
              <a:t>controller</a:t>
            </a:r>
            <a:r>
              <a:rPr lang="en" sz="1400"/>
              <a:t> flips the wire to receiving. It listens for the ACK (acknowledge) bit from the device it spoke to. If there is a device with that address on the bus, that device will send a 0 back (ACK). If the </a:t>
            </a:r>
            <a:r>
              <a:rPr lang="en" sz="1400">
                <a:solidFill>
                  <a:schemeClr val="dk1"/>
                </a:solidFill>
              </a:rPr>
              <a:t>controller</a:t>
            </a:r>
            <a:r>
              <a:rPr lang="en" sz="1400"/>
              <a:t> sees the 0 it knows that someone is out there. If not it knows that there is nobody out there.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Next, </a:t>
            </a:r>
            <a:r>
              <a:rPr lang="en" sz="1400">
                <a:solidFill>
                  <a:schemeClr val="dk1"/>
                </a:solidFill>
              </a:rPr>
              <a:t>controller</a:t>
            </a:r>
            <a:r>
              <a:rPr lang="en" sz="1400"/>
              <a:t> sends some kind of command to the peripheral device, telling it what it wants it to do. Then it flips the wire around to look for the ACK. Alternatively, the </a:t>
            </a:r>
            <a:r>
              <a:rPr lang="en" sz="1400">
                <a:solidFill>
                  <a:schemeClr val="dk1"/>
                </a:solidFill>
              </a:rPr>
              <a:t>controller</a:t>
            </a:r>
            <a:r>
              <a:rPr lang="en" sz="1400"/>
              <a:t> may wish to read data from the device. It indicates that by adding a 1 to the address. Now, when the byte comes back from the device, the </a:t>
            </a:r>
            <a:r>
              <a:rPr lang="en" sz="1400">
                <a:solidFill>
                  <a:schemeClr val="dk1"/>
                </a:solidFill>
              </a:rPr>
              <a:t>controller</a:t>
            </a:r>
            <a:r>
              <a:rPr lang="en" sz="1400"/>
              <a:t> sends back the ACK. Whoever talks, waits for the ACK from the one who is spoken to.</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Once everything is complete (maybe multiple things have happened, multiple pieces of data transmitted, etc), the </a:t>
            </a:r>
            <a:r>
              <a:rPr lang="en" sz="1400">
                <a:solidFill>
                  <a:schemeClr val="dk1"/>
                </a:solidFill>
              </a:rPr>
              <a:t>controller</a:t>
            </a:r>
            <a:r>
              <a:rPr lang="en" sz="1400"/>
              <a:t> indicates that things are done by sending a STOP condition.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beauty is that this is all built into HARDWARE inside the I2C module. The I2C submodule has the appropriate registers that you set and read. But other than that it's all done in hardware - YOU don't have to think about "do I need to send a bit or not?". YOU are responsible for knowing (from the datasheet) what you peripheral device's capabilities are.</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b360c58df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0b360c58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595959"/>
                </a:solidFill>
              </a:rPr>
              <a:t>All these will be given to you. To use them properly we still need to understand how they work.</a:t>
            </a:r>
            <a:endParaRPr sz="1400">
              <a:solidFill>
                <a:srgbClr val="595959"/>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524d72d6c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1524d72d6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1524d72d6c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1524d72d6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1524d72d6c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1524d72d6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524d72d6c_0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1524d72d6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872c32ee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872c32e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76cc39b6fd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76cc39b6f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524d72d6c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1524d72d6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a few minutes- then spend time on the activity before making sure their setups work</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c7bc230acf_0_6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c7bc230ac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d92e2b9b3d_0_1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d92e2b9b3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you should see is you get a NACK back instead of an ACK.</a:t>
            </a:r>
            <a:endParaRPr/>
          </a:p>
          <a:p>
            <a:pPr indent="0" lvl="0" marL="0" rtl="0" algn="l">
              <a:spcBef>
                <a:spcPts val="0"/>
              </a:spcBef>
              <a:spcAft>
                <a:spcPts val="0"/>
              </a:spcAft>
              <a:buNone/>
            </a:pPr>
            <a:r>
              <a:rPr lang="en"/>
              <a:t>You may have to press single and then hit reset on the Arduino to catch that first interaction (I really don't think so since it's part of the while loop???).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d92e2b9b3d_0_1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d92e2b9b3d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92314a6b21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92314a6b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d92e2b9b3d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d92e2b9b3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Incorrect address: results in NACK after the address.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d92e2b9b3d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d92e2b9b3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Correct address, incorrect register address: results in the value that's stored at that incorrect register address to be returned, and not 0x33.</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d92e2b9b3d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d92e2b9b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Correct address, correct register address, see 0x33 being returned.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92314a6b21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92314a6b2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2314a6b21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92314a6b2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d92e2b9b3d_0_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d92e2b9b3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0x32 &gt;&gt; 1 = 0b00110010 &gt;&gt; 1 = 0b00011001 = 0x19.</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872c32ee1_0_8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872c32ee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a few minutes- then spend time on the activity before making sure their setups work</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bb1032d479_0_3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bb1032d479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f681fbc2bb_0_18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f681fbc2bb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You'll build the device driver!</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bb1032d479_0_38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bb1032d479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Definitely look at .h file and compare with the table of addresses in the data sheet.</a:t>
            </a:r>
            <a:endParaRPr/>
          </a:p>
          <a:p>
            <a:pPr indent="0" lvl="0" marL="0" rtl="0" algn="l">
              <a:spcBef>
                <a:spcPts val="0"/>
              </a:spcBef>
              <a:spcAft>
                <a:spcPts val="0"/>
              </a:spcAft>
              <a:buNone/>
            </a:pPr>
            <a:r>
              <a:rPr lang="en"/>
              <a:t>Define the functions that you want the accelerometer to do.</a:t>
            </a:r>
            <a:endParaRPr/>
          </a:p>
          <a:p>
            <a:pPr indent="0" lvl="0" marL="0" rtl="0" algn="l">
              <a:spcBef>
                <a:spcPts val="0"/>
              </a:spcBef>
              <a:spcAft>
                <a:spcPts val="0"/>
              </a:spcAft>
              <a:buNone/>
            </a:pPr>
            <a:r>
              <a:rPr lang="en"/>
              <a:t>Functions will be implemented using the i2c primitive functions.</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bc8ecf1c70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bc8ecf1c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basic operations. Have already done first and third.</a:t>
            </a:r>
            <a:endParaRPr/>
          </a:p>
          <a:p>
            <a:pPr indent="0" lvl="0" marL="0" rtl="0" algn="l">
              <a:spcBef>
                <a:spcPts val="0"/>
              </a:spcBef>
              <a:spcAft>
                <a:spcPts val="0"/>
              </a:spcAft>
              <a:buNone/>
            </a:pPr>
            <a:r>
              <a:rPr lang="en"/>
              <a:t>With the accelerometer, need to read a bunch of bytes, so there is a way to read multiple bytes of data all in one fell swoop (just like we could write multiple bytes to the display driver for the 7-seg display). </a:t>
            </a:r>
            <a:endParaRPr/>
          </a:p>
          <a:p>
            <a:pPr indent="0" lvl="0" marL="0" rtl="0" algn="l">
              <a:spcBef>
                <a:spcPts val="0"/>
              </a:spcBef>
              <a:spcAft>
                <a:spcPts val="0"/>
              </a:spcAft>
              <a:buNone/>
            </a:pPr>
            <a:r>
              <a:rPr lang="en"/>
              <a:t>Address</a:t>
            </a:r>
            <a:r>
              <a:rPr lang="en"/>
              <a:t> plus write, subaddress, restart, address plus read, get data, you ack, it sends more data, you ack again, it sends data, etc, until you send noAck.</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bc8ecf1c70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bc8ecf1c7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header. Contains the address, the address of the Who_am_I register, control registers, addresses of the low and high bytes fo x, y, and z direction acceleration.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bc8ecf1c70_0_1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bc8ecf1c7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functions you'll need in your device driver.</a:t>
            </a:r>
            <a:endParaRPr/>
          </a:p>
          <a:p>
            <a:pPr indent="0" lvl="0" marL="0" rtl="0" algn="l">
              <a:spcBef>
                <a:spcPts val="0"/>
              </a:spcBef>
              <a:spcAft>
                <a:spcPts val="0"/>
              </a:spcAft>
              <a:buNone/>
            </a:pPr>
            <a:r>
              <a:rPr lang="en"/>
              <a:t>Last one reads the entire vector of acceleration all in one.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1524d72d6c_0_1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1524d72d6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Still working on that water bottle filling station!</a:t>
            </a:r>
            <a:endParaRPr/>
          </a:p>
          <a:p>
            <a:pPr indent="0" lvl="0" marL="0" rtl="0" algn="l">
              <a:spcBef>
                <a:spcPts val="0"/>
              </a:spcBef>
              <a:spcAft>
                <a:spcPts val="0"/>
              </a:spcAft>
              <a:buNone/>
            </a:pPr>
            <a:r>
              <a:rPr lang="en"/>
              <a:t>Don't have to test - just mimic the read function.</a:t>
            </a:r>
            <a:endParaRPr/>
          </a:p>
          <a:p>
            <a:pPr indent="0" lvl="0" marL="0" rtl="0" algn="l">
              <a:spcBef>
                <a:spcPts val="0"/>
              </a:spcBef>
              <a:spcAft>
                <a:spcPts val="0"/>
              </a:spcAft>
              <a:buNone/>
            </a:pPr>
            <a:r>
              <a:rPr lang="en"/>
              <a:t>Look through the data sheet and see if you can figure out the settings you need for the init function.</a:t>
            </a:r>
            <a:endParaRPr/>
          </a:p>
          <a:p>
            <a:pPr indent="0" lvl="0" marL="0" rtl="0" algn="l">
              <a:spcBef>
                <a:spcPts val="0"/>
              </a:spcBef>
              <a:spcAft>
                <a:spcPts val="0"/>
              </a:spcAft>
              <a:buNone/>
            </a:pPr>
            <a:r>
              <a:rPr lang="en"/>
              <a:t>Tomorrow: theory of how this thing works. Thursday: get some data.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 name="Google Shape;61;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 name="Google Shape;6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8"/>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0" name="Google Shape;80;p20"/>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2"/>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0" name="Google Shape;9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6"/>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102" name="Google Shape;102;p26"/>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103" name="Google Shape;103;p26"/>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spcBef>
                <a:spcPts val="60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4" name="Google Shape;104;p26"/>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7"/>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110" name="Google Shape;110;p27"/>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13</a:t>
            </a:r>
            <a:endParaRPr sz="2800">
              <a:solidFill>
                <a:srgbClr val="595959"/>
              </a:solidFill>
              <a:latin typeface="Comic Sans MS"/>
              <a:ea typeface="Comic Sans MS"/>
              <a:cs typeface="Comic Sans MS"/>
              <a:sym typeface="Comic Sans MS"/>
            </a:endParaRPr>
          </a:p>
        </p:txBody>
      </p:sp>
      <p:pic>
        <p:nvPicPr>
          <p:cNvPr id="111" name="Google Shape;111;p27"/>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112" name="Google Shape;112;p27"/>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
        <p:nvSpPr>
          <p:cNvPr id="113" name="Google Shape;113;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19" name="Google Shape;119;p2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Back to I2C!</a:t>
            </a:r>
            <a:br>
              <a:rPr lang="en" sz="2200"/>
            </a:br>
            <a:endParaRPr sz="2200"/>
          </a:p>
          <a:p>
            <a:pPr indent="-368300" lvl="0" marL="457200" rtl="0" algn="l">
              <a:spcBef>
                <a:spcPts val="0"/>
              </a:spcBef>
              <a:spcAft>
                <a:spcPts val="0"/>
              </a:spcAft>
              <a:buSzPts val="2200"/>
              <a:buChar char="●"/>
            </a:pPr>
            <a:r>
              <a:rPr lang="en" sz="2200"/>
              <a:t>Accelerometers</a:t>
            </a:r>
            <a:br>
              <a:rPr lang="en" sz="2200"/>
            </a:br>
            <a:endParaRPr sz="2200"/>
          </a:p>
          <a:p>
            <a:pPr indent="-368300" lvl="0" marL="457200" rtl="0" algn="l">
              <a:spcBef>
                <a:spcPts val="0"/>
              </a:spcBef>
              <a:spcAft>
                <a:spcPts val="0"/>
              </a:spcAft>
              <a:buSzPts val="2200"/>
              <a:buChar char="●"/>
            </a:pPr>
            <a:r>
              <a:rPr lang="en" sz="2200"/>
              <a:t>Serial (I</a:t>
            </a:r>
            <a:r>
              <a:rPr baseline="30000" lang="en" sz="2200"/>
              <a:t>2</a:t>
            </a:r>
            <a:r>
              <a:rPr lang="en" sz="2200"/>
              <a:t>C) debugging</a:t>
            </a:r>
            <a:endParaRPr sz="2200"/>
          </a:p>
          <a:p>
            <a:pPr indent="0" lvl="0" marL="0" rtl="0" algn="l">
              <a:spcBef>
                <a:spcPts val="1600"/>
              </a:spcBef>
              <a:spcAft>
                <a:spcPts val="1600"/>
              </a:spcAft>
              <a:buNone/>
            </a:pPr>
            <a:r>
              <a:t/>
            </a:r>
            <a:endParaRPr/>
          </a:p>
        </p:txBody>
      </p:sp>
      <p:sp>
        <p:nvSpPr>
          <p:cNvPr id="120" name="Google Shape;120;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9"/>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Accelerometer LSM303AGR </a:t>
            </a:r>
            <a:endParaRPr/>
          </a:p>
        </p:txBody>
      </p:sp>
      <p:sp>
        <p:nvSpPr>
          <p:cNvPr id="126" name="Google Shape;126;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600"/>
              <a:t>Accelerometer LSM303AGR</a:t>
            </a:r>
            <a:endParaRPr/>
          </a:p>
        </p:txBody>
      </p:sp>
      <p:sp>
        <p:nvSpPr>
          <p:cNvPr id="132" name="Google Shape;132;p3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interact with the accelerometer via I2C (breakout board is wired for this by default). Remember I2C?</a:t>
            </a:r>
            <a:endParaRPr/>
          </a:p>
          <a:p>
            <a:pPr indent="-342900" lvl="0" marL="457200" rtl="0" algn="l">
              <a:spcBef>
                <a:spcPts val="0"/>
              </a:spcBef>
              <a:spcAft>
                <a:spcPts val="0"/>
              </a:spcAft>
              <a:buSzPts val="1800"/>
              <a:buChar char="●"/>
            </a:pPr>
            <a:r>
              <a:rPr lang="en"/>
              <a:t>Other option: SPI (another serial communication protocol)</a:t>
            </a:r>
            <a:endParaRPr/>
          </a:p>
          <a:p>
            <a:pPr indent="-342900" lvl="0" marL="457200" rtl="0" algn="l">
              <a:spcBef>
                <a:spcPts val="0"/>
              </a:spcBef>
              <a:spcAft>
                <a:spcPts val="0"/>
              </a:spcAft>
              <a:buSzPts val="1800"/>
              <a:buChar char="●"/>
            </a:pPr>
            <a:r>
              <a:rPr lang="en"/>
              <a:t>It also has a magnetometer but we'll only use the accelerometer in this class.</a:t>
            </a:r>
            <a:endParaRPr/>
          </a:p>
          <a:p>
            <a:pPr indent="0" lvl="0" marL="0" rtl="0" algn="l">
              <a:spcBef>
                <a:spcPts val="1600"/>
              </a:spcBef>
              <a:spcAft>
                <a:spcPts val="0"/>
              </a:spcAft>
              <a:buNone/>
            </a:pPr>
            <a:r>
              <a:t/>
            </a:r>
            <a:endParaRPr/>
          </a:p>
          <a:p>
            <a:pPr indent="0" lvl="0" marL="0" rtl="0" algn="ctr">
              <a:spcBef>
                <a:spcPts val="1600"/>
              </a:spcBef>
              <a:spcAft>
                <a:spcPts val="1600"/>
              </a:spcAft>
              <a:buNone/>
            </a:pPr>
            <a:r>
              <a:rPr i="1" lang="en" sz="2600">
                <a:solidFill>
                  <a:srgbClr val="0000FF"/>
                </a:solidFill>
              </a:rPr>
              <a:t>"I still have my 7-segment display connected to the I2C pins of my Nucleo. Do I need to take that down? What if I wanted to use both the accelerometer and the 7-segment display in one project?"</a:t>
            </a:r>
            <a:endParaRPr i="1" sz="2600">
              <a:solidFill>
                <a:srgbClr val="0000FF"/>
              </a:solidFill>
            </a:endParaRPr>
          </a:p>
        </p:txBody>
      </p:sp>
      <p:sp>
        <p:nvSpPr>
          <p:cNvPr id="133" name="Google Shape;133;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31"/>
          <p:cNvPicPr preferRelativeResize="0"/>
          <p:nvPr/>
        </p:nvPicPr>
        <p:blipFill rotWithShape="1">
          <a:blip r:embed="rId3">
            <a:alphaModFix/>
          </a:blip>
          <a:srcRect b="0" l="0" r="0" t="9861"/>
          <a:stretch/>
        </p:blipFill>
        <p:spPr>
          <a:xfrm>
            <a:off x="771850" y="128997"/>
            <a:ext cx="8244849" cy="3916653"/>
          </a:xfrm>
          <a:prstGeom prst="rect">
            <a:avLst/>
          </a:prstGeom>
          <a:noFill/>
          <a:ln>
            <a:noFill/>
          </a:ln>
        </p:spPr>
      </p:pic>
      <p:sp>
        <p:nvSpPr>
          <p:cNvPr id="139" name="Google Shape;139;p31"/>
          <p:cNvSpPr txBox="1"/>
          <p:nvPr/>
        </p:nvSpPr>
        <p:spPr>
          <a:xfrm>
            <a:off x="1748075" y="3022675"/>
            <a:ext cx="4930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0000FF"/>
                </a:solidFill>
              </a:rPr>
              <a:t>Serial DAta (bidirectional)</a:t>
            </a:r>
            <a:endParaRPr i="1" sz="1600">
              <a:solidFill>
                <a:srgbClr val="0000FF"/>
              </a:solidFill>
            </a:endParaRPr>
          </a:p>
        </p:txBody>
      </p:sp>
      <p:sp>
        <p:nvSpPr>
          <p:cNvPr id="140" name="Google Shape;140;p31"/>
          <p:cNvSpPr txBox="1"/>
          <p:nvPr/>
        </p:nvSpPr>
        <p:spPr>
          <a:xfrm>
            <a:off x="1748075" y="3583950"/>
            <a:ext cx="58908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0000FF"/>
                </a:solidFill>
              </a:rPr>
              <a:t>Serial CLock (generated by bus controller device)</a:t>
            </a:r>
            <a:endParaRPr i="1" sz="1600">
              <a:solidFill>
                <a:srgbClr val="0000FF"/>
              </a:solidFill>
            </a:endParaRPr>
          </a:p>
        </p:txBody>
      </p:sp>
      <p:sp>
        <p:nvSpPr>
          <p:cNvPr id="141" name="Google Shape;141;p31"/>
          <p:cNvSpPr txBox="1"/>
          <p:nvPr/>
        </p:nvSpPr>
        <p:spPr>
          <a:xfrm>
            <a:off x="6879375" y="2145275"/>
            <a:ext cx="19755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600">
                <a:solidFill>
                  <a:srgbClr val="0000FF"/>
                </a:solidFill>
              </a:rPr>
              <a:t>Pullup resistors (wires idle HIGH)</a:t>
            </a:r>
            <a:endParaRPr i="1" sz="1600">
              <a:solidFill>
                <a:srgbClr val="0000FF"/>
              </a:solidFill>
            </a:endParaRPr>
          </a:p>
        </p:txBody>
      </p:sp>
      <p:sp>
        <p:nvSpPr>
          <p:cNvPr id="142" name="Google Shape;142;p31"/>
          <p:cNvSpPr txBox="1"/>
          <p:nvPr>
            <p:ph type="title"/>
          </p:nvPr>
        </p:nvSpPr>
        <p:spPr>
          <a:xfrm>
            <a:off x="311700" y="593375"/>
            <a:ext cx="1416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a:t>2</a:t>
            </a:r>
            <a:r>
              <a:rPr lang="en"/>
              <a:t>C</a:t>
            </a:r>
            <a:endParaRPr/>
          </a:p>
        </p:txBody>
      </p:sp>
      <p:sp>
        <p:nvSpPr>
          <p:cNvPr id="143" name="Google Shape;143;p31"/>
          <p:cNvSpPr txBox="1"/>
          <p:nvPr>
            <p:ph idx="2" type="body"/>
          </p:nvPr>
        </p:nvSpPr>
        <p:spPr>
          <a:xfrm>
            <a:off x="553500" y="4259425"/>
            <a:ext cx="8278800" cy="2338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n" sz="1600"/>
              <a:t>Serial clock, generated by bus controller, synchronizes data recovery.</a:t>
            </a:r>
            <a:endParaRPr sz="1600"/>
          </a:p>
          <a:p>
            <a:pPr indent="-330200" lvl="0" marL="457200" rtl="0" algn="l">
              <a:lnSpc>
                <a:spcPct val="115000"/>
              </a:lnSpc>
              <a:spcBef>
                <a:spcPts val="0"/>
              </a:spcBef>
              <a:spcAft>
                <a:spcPts val="0"/>
              </a:spcAft>
              <a:buSzPts val="1600"/>
              <a:buChar char="●"/>
            </a:pPr>
            <a:r>
              <a:rPr lang="en" sz="1600"/>
              <a:t>Common clock line (SCL) and </a:t>
            </a:r>
            <a:r>
              <a:rPr i="1" lang="en" sz="1600"/>
              <a:t>bidirectional</a:t>
            </a:r>
            <a:r>
              <a:rPr lang="en" sz="1600"/>
              <a:t> data line (SDA).  Bus controller and the peripheral device take turns writing and reading.</a:t>
            </a:r>
            <a:endParaRPr sz="1600"/>
          </a:p>
          <a:p>
            <a:pPr indent="-330200" lvl="0" marL="457200" rtl="0" algn="l">
              <a:lnSpc>
                <a:spcPct val="115000"/>
              </a:lnSpc>
              <a:spcBef>
                <a:spcPts val="0"/>
              </a:spcBef>
              <a:spcAft>
                <a:spcPts val="0"/>
              </a:spcAft>
              <a:buSzPts val="1600"/>
              <a:buChar char="●"/>
            </a:pPr>
            <a:r>
              <a:rPr lang="en" sz="1600"/>
              <a:t>All peripherals use the same two wire (I2C) bus.  Each peripheral has its own </a:t>
            </a:r>
            <a:r>
              <a:rPr i="1" lang="en" sz="1600"/>
              <a:t>bus address</a:t>
            </a:r>
            <a:r>
              <a:rPr lang="en" sz="1600"/>
              <a:t>.  </a:t>
            </a:r>
            <a:endParaRPr sz="1600"/>
          </a:p>
          <a:p>
            <a:pPr indent="-330200" lvl="0" marL="457200" rtl="0" algn="l">
              <a:lnSpc>
                <a:spcPct val="115000"/>
              </a:lnSpc>
              <a:spcBef>
                <a:spcPts val="0"/>
              </a:spcBef>
              <a:spcAft>
                <a:spcPts val="0"/>
              </a:spcAft>
              <a:buSzPts val="1600"/>
              <a:buChar char="●"/>
            </a:pPr>
            <a:r>
              <a:rPr lang="en" sz="1600"/>
              <a:t>Each packet of data from the controller begins with the address of the intended destination device.</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32"/>
          <p:cNvPicPr preferRelativeResize="0"/>
          <p:nvPr/>
        </p:nvPicPr>
        <p:blipFill>
          <a:blip r:embed="rId3">
            <a:alphaModFix/>
          </a:blip>
          <a:stretch>
            <a:fillRect/>
          </a:stretch>
        </p:blipFill>
        <p:spPr>
          <a:xfrm>
            <a:off x="0" y="903868"/>
            <a:ext cx="9144000" cy="2307432"/>
          </a:xfrm>
          <a:prstGeom prst="rect">
            <a:avLst/>
          </a:prstGeom>
          <a:noFill/>
          <a:ln>
            <a:noFill/>
          </a:ln>
        </p:spPr>
      </p:pic>
      <p:sp>
        <p:nvSpPr>
          <p:cNvPr id="149" name="Google Shape;149;p32"/>
          <p:cNvSpPr txBox="1"/>
          <p:nvPr/>
        </p:nvSpPr>
        <p:spPr>
          <a:xfrm>
            <a:off x="241800" y="3211300"/>
            <a:ext cx="8520600" cy="3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SCL and SDA idle high, because of the pullups.</a:t>
            </a:r>
            <a:endParaRPr sz="1600"/>
          </a:p>
          <a:p>
            <a:pPr indent="0" lvl="0" marL="0" rtl="0" algn="l">
              <a:spcBef>
                <a:spcPts val="1000"/>
              </a:spcBef>
              <a:spcAft>
                <a:spcPts val="0"/>
              </a:spcAft>
              <a:buNone/>
            </a:pPr>
            <a:r>
              <a:rPr b="1" lang="en" sz="1600">
                <a:solidFill>
                  <a:srgbClr val="CC0000"/>
                </a:solidFill>
              </a:rPr>
              <a:t>START:</a:t>
            </a:r>
            <a:r>
              <a:rPr lang="en" sz="1600"/>
              <a:t>  Controller asserts control by pulling SDA low while SCL is high.  SCL starts running.</a:t>
            </a:r>
            <a:endParaRPr sz="1600"/>
          </a:p>
          <a:p>
            <a:pPr indent="0" lvl="0" marL="0" rtl="0" algn="l">
              <a:spcBef>
                <a:spcPts val="1000"/>
              </a:spcBef>
              <a:spcAft>
                <a:spcPts val="0"/>
              </a:spcAft>
              <a:buNone/>
            </a:pPr>
            <a:r>
              <a:rPr b="1" lang="en" sz="1600">
                <a:solidFill>
                  <a:srgbClr val="CC0000"/>
                </a:solidFill>
              </a:rPr>
              <a:t>Address + Read/Write:</a:t>
            </a:r>
            <a:r>
              <a:rPr lang="en" sz="1600"/>
              <a:t>  Controller transmits device address (7 bits) followed by 0 to command a write, or 1 to command a read.  SDA changes only while SCL is low.</a:t>
            </a:r>
            <a:endParaRPr sz="1600"/>
          </a:p>
          <a:p>
            <a:pPr indent="0" lvl="0" marL="0" rtl="0" algn="l">
              <a:spcBef>
                <a:spcPts val="1000"/>
              </a:spcBef>
              <a:spcAft>
                <a:spcPts val="0"/>
              </a:spcAft>
              <a:buNone/>
            </a:pPr>
            <a:r>
              <a:rPr b="1" lang="en" sz="1600">
                <a:solidFill>
                  <a:srgbClr val="CC0000"/>
                </a:solidFill>
              </a:rPr>
              <a:t>ACK: </a:t>
            </a:r>
            <a:r>
              <a:rPr lang="en" sz="1600"/>
              <a:t> Controller lets go of data line; peripheral that recognizes its address acknowledges by sending a 0 back.  Other devices on bus don’t respond.  If nobody responds, the data line remains high (called NACK).</a:t>
            </a:r>
            <a:endParaRPr sz="1600"/>
          </a:p>
          <a:p>
            <a:pPr indent="0" lvl="0" marL="0" rtl="0" algn="l">
              <a:spcBef>
                <a:spcPts val="1000"/>
              </a:spcBef>
              <a:spcAft>
                <a:spcPts val="0"/>
              </a:spcAft>
              <a:buNone/>
            </a:pPr>
            <a:r>
              <a:rPr b="1" lang="en" sz="1600">
                <a:solidFill>
                  <a:srgbClr val="CC0000"/>
                </a:solidFill>
              </a:rPr>
              <a:t>DATA:</a:t>
            </a:r>
            <a:r>
              <a:rPr lang="en" sz="1600"/>
              <a:t>  Controller sends a byte, listens for ACK or NACK, or receives a byte, and replies with ACK or NACK.</a:t>
            </a:r>
            <a:endParaRPr sz="1600"/>
          </a:p>
          <a:p>
            <a:pPr indent="0" lvl="0" marL="0" rtl="0" algn="l">
              <a:spcBef>
                <a:spcPts val="1000"/>
              </a:spcBef>
              <a:spcAft>
                <a:spcPts val="1000"/>
              </a:spcAft>
              <a:buNone/>
            </a:pPr>
            <a:r>
              <a:rPr b="1" lang="en" sz="1600">
                <a:solidFill>
                  <a:srgbClr val="CC0000"/>
                </a:solidFill>
              </a:rPr>
              <a:t>STOP:</a:t>
            </a:r>
            <a:r>
              <a:rPr lang="en" sz="1600"/>
              <a:t>  Controller returns SDA to high while SCL is high, then both remain idle.</a:t>
            </a:r>
            <a:endParaRPr sz="1600"/>
          </a:p>
        </p:txBody>
      </p:sp>
      <p:sp>
        <p:nvSpPr>
          <p:cNvPr id="150" name="Google Shape;150;p32"/>
          <p:cNvSpPr txBox="1"/>
          <p:nvPr/>
        </p:nvSpPr>
        <p:spPr>
          <a:xfrm>
            <a:off x="5598800" y="99875"/>
            <a:ext cx="3364200" cy="923400"/>
          </a:xfrm>
          <a:prstGeom prst="rect">
            <a:avLst/>
          </a:prstGeom>
          <a:noFill/>
          <a:ln cap="flat" cmpd="sng" w="2857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rgbClr val="0000FF"/>
                </a:solidFill>
              </a:rPr>
              <a:t>Toward inclusive language:</a:t>
            </a:r>
            <a:endParaRPr i="1" sz="1600">
              <a:solidFill>
                <a:srgbClr val="0000FF"/>
              </a:solidFill>
            </a:endParaRPr>
          </a:p>
          <a:p>
            <a:pPr indent="0" lvl="0" marL="0" rtl="0" algn="l">
              <a:spcBef>
                <a:spcPts val="0"/>
              </a:spcBef>
              <a:spcAft>
                <a:spcPts val="0"/>
              </a:spcAft>
              <a:buNone/>
            </a:pPr>
            <a:r>
              <a:rPr i="1" lang="en" sz="1600">
                <a:solidFill>
                  <a:srgbClr val="0000FF"/>
                </a:solidFill>
              </a:rPr>
              <a:t>Update the terms "master/slave" to "controller/target".</a:t>
            </a:r>
            <a:endParaRPr i="1" sz="1600">
              <a:solidFill>
                <a:srgbClr val="0000FF"/>
              </a:solidFill>
            </a:endParaRPr>
          </a:p>
        </p:txBody>
      </p:sp>
      <p:sp>
        <p:nvSpPr>
          <p:cNvPr id="151" name="Google Shape;151;p32"/>
          <p:cNvSpPr txBox="1"/>
          <p:nvPr/>
        </p:nvSpPr>
        <p:spPr>
          <a:xfrm>
            <a:off x="152400" y="219275"/>
            <a:ext cx="42843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0000"/>
                </a:solidFill>
              </a:rPr>
              <a:t>I</a:t>
            </a:r>
            <a:r>
              <a:rPr baseline="30000" lang="en" sz="2800">
                <a:solidFill>
                  <a:srgbClr val="000000"/>
                </a:solidFill>
              </a:rPr>
              <a:t>2</a:t>
            </a:r>
            <a:r>
              <a:rPr lang="en" sz="2800">
                <a:solidFill>
                  <a:srgbClr val="000000"/>
                </a:solidFill>
              </a:rPr>
              <a:t>C protocol </a:t>
            </a:r>
            <a:endParaRPr sz="28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3"/>
          <p:cNvSpPr txBox="1"/>
          <p:nvPr>
            <p:ph type="title"/>
          </p:nvPr>
        </p:nvSpPr>
        <p:spPr>
          <a:xfrm>
            <a:off x="7153875" y="136200"/>
            <a:ext cx="18105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a:t>2</a:t>
            </a:r>
            <a:r>
              <a:rPr lang="en"/>
              <a:t>C library</a:t>
            </a:r>
            <a:endParaRPr/>
          </a:p>
        </p:txBody>
      </p:sp>
      <p:sp>
        <p:nvSpPr>
          <p:cNvPr id="157" name="Google Shape;157;p33"/>
          <p:cNvSpPr txBox="1"/>
          <p:nvPr>
            <p:ph idx="1" type="body"/>
          </p:nvPr>
        </p:nvSpPr>
        <p:spPr>
          <a:xfrm>
            <a:off x="311700" y="136200"/>
            <a:ext cx="8520600" cy="643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Recall I2C Library</a:t>
            </a:r>
            <a:r>
              <a:rPr lang="en" sz="2000"/>
              <a:t> Functions:</a:t>
            </a:r>
            <a:endParaRPr sz="2000"/>
          </a:p>
          <a:p>
            <a:pPr indent="0" lvl="0" marL="25400" rtl="0" algn="l">
              <a:spcBef>
                <a:spcPts val="1600"/>
              </a:spcBef>
              <a:spcAft>
                <a:spcPts val="0"/>
              </a:spcAft>
              <a:buNone/>
            </a:pPr>
            <a:r>
              <a:t/>
            </a:r>
            <a:endParaRPr sz="16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lang="en" sz="1600">
                <a:solidFill>
                  <a:srgbClr val="3F7F5F"/>
                </a:solidFill>
                <a:highlight>
                  <a:schemeClr val="lt1"/>
                </a:highlight>
                <a:latin typeface="Courier New"/>
                <a:ea typeface="Courier New"/>
                <a:cs typeface="Courier New"/>
                <a:sym typeface="Courier New"/>
              </a:rPr>
              <a:t>/* Configure I2C pins, initialize bus speed */</a:t>
            </a:r>
            <a:endParaRPr sz="16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i2c1_init(</a:t>
            </a: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Write one byte to target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i2c1_byteWrite(</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Read one byte from a target */</a:t>
            </a:r>
            <a:endParaRPr b="1" sz="16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i2c1_byteRead(</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sz="1600">
              <a:solidFill>
                <a:srgbClr val="3F7F5F"/>
              </a:solidFill>
              <a:highlight>
                <a:schemeClr val="lt1"/>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Write one or more bytes to a memory location within target */</a:t>
            </a:r>
            <a:endParaRPr b="1" sz="16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i2c1_memWrite(</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registerAddr,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005032"/>
                </a:solidFill>
                <a:highlight>
                  <a:srgbClr val="FFFFFF"/>
                </a:highlight>
                <a:latin typeface="Courier New"/>
                <a:ea typeface="Courier New"/>
                <a:cs typeface="Courier New"/>
                <a:sym typeface="Courier New"/>
              </a:rPr>
              <a:t>                   uint8_t</a:t>
            </a:r>
            <a:r>
              <a:rPr b="1" lang="en" sz="1600">
                <a:solidFill>
                  <a:schemeClr val="dk1"/>
                </a:solidFill>
                <a:highlight>
                  <a:srgbClr val="FFFFFF"/>
                </a:highlight>
                <a:latin typeface="Courier New"/>
                <a:ea typeface="Courier New"/>
                <a:cs typeface="Courier New"/>
                <a:sym typeface="Courier New"/>
              </a:rPr>
              <a:t> nbytes,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lang="en" sz="1600">
                <a:solidFill>
                  <a:srgbClr val="3F7F5F"/>
                </a:solidFill>
                <a:highlight>
                  <a:schemeClr val="lt1"/>
                </a:highlight>
                <a:latin typeface="Courier New"/>
                <a:ea typeface="Courier New"/>
                <a:cs typeface="Courier New"/>
                <a:sym typeface="Courier New"/>
              </a:rPr>
              <a:t>/* Read one or more bytes from a memory location within target */</a:t>
            </a:r>
            <a:endParaRPr b="1" sz="1600">
              <a:solidFill>
                <a:srgbClr val="7F0055"/>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7F0055"/>
                </a:solidFill>
                <a:highlight>
                  <a:srgbClr val="FFFFFF"/>
                </a:highlight>
                <a:latin typeface="Courier New"/>
                <a:ea typeface="Courier New"/>
                <a:cs typeface="Courier New"/>
                <a:sym typeface="Courier New"/>
              </a:rPr>
              <a:t>void</a:t>
            </a:r>
            <a:r>
              <a:rPr b="1" lang="en" sz="1600">
                <a:solidFill>
                  <a:schemeClr val="dk1"/>
                </a:solidFill>
                <a:highlight>
                  <a:srgbClr val="FFFFFF"/>
                </a:highlight>
                <a:latin typeface="Courier New"/>
                <a:ea typeface="Courier New"/>
                <a:cs typeface="Courier New"/>
                <a:sym typeface="Courier New"/>
              </a:rPr>
              <a:t> i2c1_memRead(</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deviceAddr,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registerAddr,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rgbClr val="005032"/>
                </a:solidFill>
                <a:highlight>
                  <a:srgbClr val="FFFFFF"/>
                </a:highlight>
                <a:latin typeface="Courier New"/>
                <a:ea typeface="Courier New"/>
                <a:cs typeface="Courier New"/>
                <a:sym typeface="Courier New"/>
              </a:rPr>
              <a:t>                  uint8_t</a:t>
            </a:r>
            <a:r>
              <a:rPr b="1" lang="en" sz="1600">
                <a:solidFill>
                  <a:schemeClr val="dk1"/>
                </a:solidFill>
                <a:highlight>
                  <a:srgbClr val="FFFFFF"/>
                </a:highlight>
                <a:latin typeface="Courier New"/>
                <a:ea typeface="Courier New"/>
                <a:cs typeface="Courier New"/>
                <a:sym typeface="Courier New"/>
              </a:rPr>
              <a:t> nbytes,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6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4"/>
          <p:cNvSpPr txBox="1"/>
          <p:nvPr>
            <p:ph type="title"/>
          </p:nvPr>
        </p:nvSpPr>
        <p:spPr>
          <a:xfrm>
            <a:off x="140075" y="593375"/>
            <a:ext cx="86922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LSM303AGR accelerometer with STEMMA connector</a:t>
            </a:r>
            <a:endParaRPr/>
          </a:p>
        </p:txBody>
      </p:sp>
      <p:pic>
        <p:nvPicPr>
          <p:cNvPr id="163" name="Google Shape;163;p34"/>
          <p:cNvPicPr preferRelativeResize="0"/>
          <p:nvPr/>
        </p:nvPicPr>
        <p:blipFill rotWithShape="1">
          <a:blip r:embed="rId3">
            <a:alphaModFix/>
          </a:blip>
          <a:srcRect b="40261" l="17284" r="19264" t="7561"/>
          <a:stretch/>
        </p:blipFill>
        <p:spPr>
          <a:xfrm>
            <a:off x="651800" y="1815275"/>
            <a:ext cx="4393200" cy="2711299"/>
          </a:xfrm>
          <a:prstGeom prst="rect">
            <a:avLst/>
          </a:prstGeom>
          <a:noFill/>
          <a:ln>
            <a:noFill/>
          </a:ln>
        </p:spPr>
      </p:pic>
      <p:cxnSp>
        <p:nvCxnSpPr>
          <p:cNvPr id="164" name="Google Shape;164;p34"/>
          <p:cNvCxnSpPr/>
          <p:nvPr/>
        </p:nvCxnSpPr>
        <p:spPr>
          <a:xfrm flipH="1" rot="10800000">
            <a:off x="1536250" y="4381625"/>
            <a:ext cx="362400" cy="753900"/>
          </a:xfrm>
          <a:prstGeom prst="straightConnector1">
            <a:avLst/>
          </a:prstGeom>
          <a:noFill/>
          <a:ln cap="flat" cmpd="sng" w="28575">
            <a:solidFill>
              <a:srgbClr val="FF00FF"/>
            </a:solidFill>
            <a:prstDash val="solid"/>
            <a:round/>
            <a:headEnd len="med" w="med" type="none"/>
            <a:tailEnd len="med" w="med" type="triangle"/>
          </a:ln>
        </p:spPr>
      </p:cxnSp>
      <p:cxnSp>
        <p:nvCxnSpPr>
          <p:cNvPr id="165" name="Google Shape;165;p34"/>
          <p:cNvCxnSpPr/>
          <p:nvPr/>
        </p:nvCxnSpPr>
        <p:spPr>
          <a:xfrm flipH="1" rot="10800000">
            <a:off x="2420675" y="4381725"/>
            <a:ext cx="195900" cy="768300"/>
          </a:xfrm>
          <a:prstGeom prst="straightConnector1">
            <a:avLst/>
          </a:prstGeom>
          <a:noFill/>
          <a:ln cap="flat" cmpd="sng" w="28575">
            <a:solidFill>
              <a:srgbClr val="FF00FF"/>
            </a:solidFill>
            <a:prstDash val="solid"/>
            <a:round/>
            <a:headEnd len="med" w="med" type="none"/>
            <a:tailEnd len="med" w="med" type="triangle"/>
          </a:ln>
        </p:spPr>
      </p:cxnSp>
      <p:cxnSp>
        <p:nvCxnSpPr>
          <p:cNvPr id="166" name="Google Shape;166;p34"/>
          <p:cNvCxnSpPr/>
          <p:nvPr/>
        </p:nvCxnSpPr>
        <p:spPr>
          <a:xfrm rot="10800000">
            <a:off x="3015400" y="4244025"/>
            <a:ext cx="391200" cy="906000"/>
          </a:xfrm>
          <a:prstGeom prst="straightConnector1">
            <a:avLst/>
          </a:prstGeom>
          <a:noFill/>
          <a:ln cap="flat" cmpd="sng" w="28575">
            <a:solidFill>
              <a:srgbClr val="FF00FF"/>
            </a:solidFill>
            <a:prstDash val="solid"/>
            <a:round/>
            <a:headEnd len="med" w="med" type="none"/>
            <a:tailEnd len="med" w="med" type="triangle"/>
          </a:ln>
        </p:spPr>
      </p:cxnSp>
      <p:cxnSp>
        <p:nvCxnSpPr>
          <p:cNvPr id="167" name="Google Shape;167;p34"/>
          <p:cNvCxnSpPr/>
          <p:nvPr/>
        </p:nvCxnSpPr>
        <p:spPr>
          <a:xfrm rot="10800000">
            <a:off x="3486850" y="4381725"/>
            <a:ext cx="818700" cy="855300"/>
          </a:xfrm>
          <a:prstGeom prst="straightConnector1">
            <a:avLst/>
          </a:prstGeom>
          <a:noFill/>
          <a:ln cap="flat" cmpd="sng" w="28575">
            <a:solidFill>
              <a:srgbClr val="FF00FF"/>
            </a:solidFill>
            <a:prstDash val="solid"/>
            <a:round/>
            <a:headEnd len="med" w="med" type="none"/>
            <a:tailEnd len="med" w="med" type="triangle"/>
          </a:ln>
        </p:spPr>
      </p:cxnSp>
      <p:sp>
        <p:nvSpPr>
          <p:cNvPr id="168" name="Google Shape;168;p34"/>
          <p:cNvSpPr txBox="1"/>
          <p:nvPr/>
        </p:nvSpPr>
        <p:spPr>
          <a:xfrm>
            <a:off x="767775" y="5124425"/>
            <a:ext cx="4393200" cy="5655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3.3V-</a:t>
            </a:r>
            <a:r>
              <a:rPr lang="en" sz="1800"/>
              <a:t>5V        GND         SCL         SDA</a:t>
            </a:r>
            <a:endParaRPr sz="1800"/>
          </a:p>
        </p:txBody>
      </p:sp>
      <p:sp>
        <p:nvSpPr>
          <p:cNvPr id="169" name="Google Shape;169;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70" name="Google Shape;170;p34"/>
          <p:cNvPicPr preferRelativeResize="0"/>
          <p:nvPr/>
        </p:nvPicPr>
        <p:blipFill rotWithShape="1">
          <a:blip r:embed="rId4">
            <a:alphaModFix/>
          </a:blip>
          <a:srcRect b="0" l="28581" r="4201" t="0"/>
          <a:stretch/>
        </p:blipFill>
        <p:spPr>
          <a:xfrm>
            <a:off x="6015823" y="1815275"/>
            <a:ext cx="2428300" cy="2711299"/>
          </a:xfrm>
          <a:prstGeom prst="rect">
            <a:avLst/>
          </a:prstGeom>
          <a:noFill/>
          <a:ln>
            <a:noFill/>
          </a:ln>
        </p:spPr>
      </p:pic>
      <p:sp>
        <p:nvSpPr>
          <p:cNvPr id="171" name="Google Shape;171;p34"/>
          <p:cNvSpPr txBox="1"/>
          <p:nvPr/>
        </p:nvSpPr>
        <p:spPr>
          <a:xfrm>
            <a:off x="6325300" y="4731900"/>
            <a:ext cx="1899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GND:		black</a:t>
            </a:r>
            <a:endParaRPr/>
          </a:p>
          <a:p>
            <a:pPr indent="0" lvl="0" marL="0" rtl="0" algn="l">
              <a:spcBef>
                <a:spcPts val="0"/>
              </a:spcBef>
              <a:spcAft>
                <a:spcPts val="0"/>
              </a:spcAft>
              <a:buNone/>
            </a:pPr>
            <a:r>
              <a:rPr lang="en"/>
              <a:t>VIN:		</a:t>
            </a:r>
            <a:r>
              <a:rPr lang="en">
                <a:solidFill>
                  <a:srgbClr val="FF0000"/>
                </a:solidFill>
              </a:rPr>
              <a:t>red</a:t>
            </a:r>
            <a:endParaRPr>
              <a:solidFill>
                <a:srgbClr val="FF0000"/>
              </a:solidFill>
            </a:endParaRPr>
          </a:p>
          <a:p>
            <a:pPr indent="0" lvl="0" marL="0" rtl="0" algn="l">
              <a:spcBef>
                <a:spcPts val="0"/>
              </a:spcBef>
              <a:spcAft>
                <a:spcPts val="0"/>
              </a:spcAft>
              <a:buNone/>
            </a:pPr>
            <a:r>
              <a:rPr lang="en"/>
              <a:t>SCL:		</a:t>
            </a:r>
            <a:r>
              <a:rPr lang="en">
                <a:solidFill>
                  <a:srgbClr val="BF9000"/>
                </a:solidFill>
              </a:rPr>
              <a:t>yellow</a:t>
            </a:r>
            <a:endParaRPr>
              <a:solidFill>
                <a:srgbClr val="BF9000"/>
              </a:solidFill>
            </a:endParaRPr>
          </a:p>
          <a:p>
            <a:pPr indent="0" lvl="0" marL="0" rtl="0" algn="l">
              <a:spcBef>
                <a:spcPts val="0"/>
              </a:spcBef>
              <a:spcAft>
                <a:spcPts val="0"/>
              </a:spcAft>
              <a:buNone/>
            </a:pPr>
            <a:r>
              <a:rPr lang="en"/>
              <a:t>SDA:		</a:t>
            </a:r>
            <a:r>
              <a:rPr lang="en">
                <a:solidFill>
                  <a:srgbClr val="0000FF"/>
                </a:solidFill>
              </a:rPr>
              <a:t>blue</a:t>
            </a:r>
            <a:endParaRPr>
              <a:solidFill>
                <a:srgbClr val="0000FF"/>
              </a:solidFill>
            </a:endParaRPr>
          </a:p>
        </p:txBody>
      </p:sp>
      <p:sp>
        <p:nvSpPr>
          <p:cNvPr id="172" name="Google Shape;172;p34"/>
          <p:cNvSpPr txBox="1"/>
          <p:nvPr/>
        </p:nvSpPr>
        <p:spPr>
          <a:xfrm>
            <a:off x="3015400" y="6130450"/>
            <a:ext cx="409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It's an I2C device! Remember I2C?</a:t>
            </a:r>
            <a:endParaRPr sz="1800"/>
          </a:p>
        </p:txBody>
      </p:sp>
      <p:cxnSp>
        <p:nvCxnSpPr>
          <p:cNvPr id="173" name="Google Shape;173;p34"/>
          <p:cNvCxnSpPr/>
          <p:nvPr/>
        </p:nvCxnSpPr>
        <p:spPr>
          <a:xfrm rot="10800000">
            <a:off x="4483850" y="3233450"/>
            <a:ext cx="1661100" cy="284700"/>
          </a:xfrm>
          <a:prstGeom prst="straightConnector1">
            <a:avLst/>
          </a:prstGeom>
          <a:noFill/>
          <a:ln cap="flat" cmpd="sng" w="28575">
            <a:solidFill>
              <a:srgbClr val="FF00FF"/>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11700" y="2230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code: whoami_test.c</a:t>
            </a:r>
            <a:endParaRPr/>
          </a:p>
        </p:txBody>
      </p:sp>
      <p:sp>
        <p:nvSpPr>
          <p:cNvPr id="179" name="Google Shape;179;p35"/>
          <p:cNvSpPr txBox="1"/>
          <p:nvPr>
            <p:ph idx="1" type="body"/>
          </p:nvPr>
        </p:nvSpPr>
        <p:spPr>
          <a:xfrm>
            <a:off x="311700" y="986550"/>
            <a:ext cx="4245600" cy="55287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a:t>Build the circuit as seen in the picture.</a:t>
            </a:r>
            <a:endParaRPr/>
          </a:p>
          <a:p>
            <a:pPr indent="0" lvl="0" marL="0" rtl="0" algn="l">
              <a:spcBef>
                <a:spcPts val="1600"/>
              </a:spcBef>
              <a:spcAft>
                <a:spcPts val="0"/>
              </a:spcAft>
              <a:buNone/>
            </a:pPr>
            <a:r>
              <a:rPr lang="en"/>
              <a:t>Make a copy of your TemplateProject, call the new one “Accelerometer”.</a:t>
            </a:r>
            <a:endParaRPr/>
          </a:p>
          <a:p>
            <a:pPr indent="0" lvl="0" marL="0" rtl="0" algn="l">
              <a:spcBef>
                <a:spcPts val="1600"/>
              </a:spcBef>
              <a:spcAft>
                <a:spcPts val="0"/>
              </a:spcAft>
              <a:buNone/>
            </a:pPr>
            <a:r>
              <a:rPr lang="en"/>
              <a:t>Download whoami_test.c from Canvas and paste it in the Src folder of your new project. Build and upload.</a:t>
            </a:r>
            <a:endParaRPr/>
          </a:p>
          <a:p>
            <a:pPr indent="0" lvl="0" marL="0" rtl="0" algn="l">
              <a:spcBef>
                <a:spcPts val="1600"/>
              </a:spcBef>
              <a:spcAft>
                <a:spcPts val="0"/>
              </a:spcAft>
              <a:buNone/>
            </a:pPr>
            <a:r>
              <a:rPr lang="en"/>
              <a:t>The accelerometer has a special register called WHOAMI that contains the value 0x33.  If you read the WHOAMI register and get the right result, you can be confident in your I</a:t>
            </a:r>
            <a:r>
              <a:rPr baseline="30000" lang="en"/>
              <a:t>2</a:t>
            </a:r>
            <a:r>
              <a:rPr lang="en"/>
              <a:t>C setup.</a:t>
            </a:r>
            <a:endParaRPr/>
          </a:p>
          <a:p>
            <a:pPr indent="0" lvl="0" marL="0" rtl="0" algn="l">
              <a:spcBef>
                <a:spcPts val="1600"/>
              </a:spcBef>
              <a:spcAft>
                <a:spcPts val="1600"/>
              </a:spcAft>
              <a:buNone/>
            </a:pPr>
            <a:r>
              <a:rPr lang="en"/>
              <a:t>Run CoolTerm to make sure it's working.</a:t>
            </a:r>
            <a:endParaRPr/>
          </a:p>
        </p:txBody>
      </p:sp>
      <p:sp>
        <p:nvSpPr>
          <p:cNvPr id="180" name="Google Shape;180;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1" name="Google Shape;181;p35"/>
          <p:cNvPicPr preferRelativeResize="0"/>
          <p:nvPr/>
        </p:nvPicPr>
        <p:blipFill>
          <a:blip r:embed="rId3">
            <a:alphaModFix/>
          </a:blip>
          <a:stretch>
            <a:fillRect/>
          </a:stretch>
        </p:blipFill>
        <p:spPr>
          <a:xfrm>
            <a:off x="4783716" y="0"/>
            <a:ext cx="3809569" cy="6858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ph type="title"/>
          </p:nvPr>
        </p:nvSpPr>
        <p:spPr>
          <a:xfrm>
            <a:off x="311700" y="3464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code: whoami_test.c</a:t>
            </a:r>
            <a:endParaRPr/>
          </a:p>
        </p:txBody>
      </p:sp>
      <p:sp>
        <p:nvSpPr>
          <p:cNvPr id="187" name="Google Shape;187;p36"/>
          <p:cNvSpPr txBox="1"/>
          <p:nvPr>
            <p:ph idx="1" type="body"/>
          </p:nvPr>
        </p:nvSpPr>
        <p:spPr>
          <a:xfrm>
            <a:off x="311700" y="1110000"/>
            <a:ext cx="8707500" cy="5626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500">
                <a:solidFill>
                  <a:srgbClr val="7F0055"/>
                </a:solidFill>
                <a:highlight>
                  <a:srgbClr val="FFFFFF"/>
                </a:highlight>
                <a:latin typeface="Courier New"/>
                <a:ea typeface="Courier New"/>
                <a:cs typeface="Courier New"/>
                <a:sym typeface="Courier New"/>
              </a:rPr>
              <a:t>#define</a:t>
            </a:r>
            <a:r>
              <a:rPr b="1" lang="en" sz="1500">
                <a:solidFill>
                  <a:schemeClr val="dk1"/>
                </a:solidFill>
                <a:highlight>
                  <a:srgbClr val="FFFFFF"/>
                </a:highlight>
                <a:latin typeface="Courier New"/>
                <a:ea typeface="Courier New"/>
                <a:cs typeface="Courier New"/>
                <a:sym typeface="Courier New"/>
              </a:rPr>
              <a:t> LSM303_ADDRESS_ACCEL  (0x32 &gt;&gt; 1)  </a:t>
            </a:r>
            <a:r>
              <a:rPr b="1" lang="en" sz="1500">
                <a:solidFill>
                  <a:srgbClr val="3F7F5F"/>
                </a:solidFill>
                <a:highlight>
                  <a:srgbClr val="FFFFFF"/>
                </a:highlight>
                <a:latin typeface="Courier New"/>
                <a:ea typeface="Courier New"/>
                <a:cs typeface="Courier New"/>
                <a:sym typeface="Courier New"/>
              </a:rPr>
              <a:t>// 7-bit address 0b0011001</a:t>
            </a:r>
            <a:endParaRPr b="1" sz="15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rgbClr val="7F0055"/>
                </a:solidFill>
                <a:highlight>
                  <a:srgbClr val="FFFFFF"/>
                </a:highlight>
                <a:latin typeface="Courier New"/>
                <a:ea typeface="Courier New"/>
                <a:cs typeface="Courier New"/>
                <a:sym typeface="Courier New"/>
              </a:rPr>
              <a:t>#define</a:t>
            </a:r>
            <a:r>
              <a:rPr b="1" lang="en" sz="1500">
                <a:solidFill>
                  <a:schemeClr val="dk1"/>
                </a:solidFill>
                <a:highlight>
                  <a:srgbClr val="FFFFFF"/>
                </a:highlight>
                <a:latin typeface="Courier New"/>
                <a:ea typeface="Courier New"/>
                <a:cs typeface="Courier New"/>
                <a:sym typeface="Courier New"/>
              </a:rPr>
              <a:t> LSM303_WHO_AM_I_A	   0x0F	  	   </a:t>
            </a:r>
            <a:r>
              <a:rPr b="1" lang="en" sz="1500">
                <a:solidFill>
                  <a:srgbClr val="3F7F5F"/>
                </a:solidFill>
                <a:highlight>
                  <a:srgbClr val="FFFFFF"/>
                </a:highlight>
                <a:latin typeface="Courier New"/>
                <a:ea typeface="Courier New"/>
                <a:cs typeface="Courier New"/>
                <a:sym typeface="Courier New"/>
              </a:rPr>
              <a:t>// default value: 00110011</a:t>
            </a:r>
            <a:endParaRPr b="1" sz="15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5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rgbClr val="7F0055"/>
                </a:solidFill>
                <a:highlight>
                  <a:srgbClr val="FFFFFF"/>
                </a:highlight>
                <a:latin typeface="Courier New"/>
                <a:ea typeface="Courier New"/>
                <a:cs typeface="Courier New"/>
                <a:sym typeface="Courier New"/>
              </a:rPr>
              <a:t>int</a:t>
            </a:r>
            <a:r>
              <a:rPr b="1" lang="en" sz="1500">
                <a:solidFill>
                  <a:schemeClr val="dk1"/>
                </a:solidFill>
                <a:highlight>
                  <a:srgbClr val="FFFFFF"/>
                </a:highlight>
                <a:latin typeface="Courier New"/>
                <a:ea typeface="Courier New"/>
                <a:cs typeface="Courier New"/>
                <a:sym typeface="Courier New"/>
              </a:rPr>
              <a:t> main(</a:t>
            </a:r>
            <a:r>
              <a:rPr b="1" lang="en" sz="1500">
                <a:solidFill>
                  <a:srgbClr val="7F0055"/>
                </a:solidFill>
                <a:highlight>
                  <a:srgbClr val="FFFFFF"/>
                </a:highlight>
                <a:latin typeface="Courier New"/>
                <a:ea typeface="Courier New"/>
                <a:cs typeface="Courier New"/>
                <a:sym typeface="Courier New"/>
              </a:rPr>
              <a:t>void</a:t>
            </a:r>
            <a:r>
              <a:rPr b="1" lang="en" sz="1500">
                <a:solidFill>
                  <a:schemeClr val="dk1"/>
                </a:solidFill>
                <a:highlight>
                  <a:srgbClr val="FFFFFF"/>
                </a:highlight>
                <a:latin typeface="Courier New"/>
                <a:ea typeface="Courier New"/>
                <a:cs typeface="Courier New"/>
                <a:sym typeface="Courier New"/>
              </a:rPr>
              <a:t>)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005032"/>
                </a:solidFill>
                <a:highlight>
                  <a:srgbClr val="FFFFFF"/>
                </a:highlight>
                <a:latin typeface="Courier New"/>
                <a:ea typeface="Courier New"/>
                <a:cs typeface="Courier New"/>
                <a:sym typeface="Courier New"/>
              </a:rPr>
              <a:t>uint8_t</a:t>
            </a:r>
            <a:r>
              <a:rPr b="1" lang="en" sz="1500">
                <a:solidFill>
                  <a:schemeClr val="dk1"/>
                </a:solidFill>
                <a:highlight>
                  <a:srgbClr val="FFFFFF"/>
                </a:highlight>
                <a:latin typeface="Courier New"/>
                <a:ea typeface="Courier New"/>
                <a:cs typeface="Courier New"/>
                <a:sym typeface="Courier New"/>
              </a:rPr>
              <a:t> who_am_i = 0;</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i2c1_init();</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uart2_init();</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642880"/>
                </a:solidFill>
                <a:highlight>
                  <a:srgbClr val="FFFFFF"/>
                </a:highlight>
                <a:latin typeface="Courier New"/>
                <a:ea typeface="Courier New"/>
                <a:cs typeface="Courier New"/>
                <a:sym typeface="Courier New"/>
              </a:rPr>
              <a:t>printf</a:t>
            </a:r>
            <a:r>
              <a:rPr b="1" lang="en" sz="1500">
                <a:solidFill>
                  <a:schemeClr val="dk1"/>
                </a:solidFill>
                <a:highlight>
                  <a:srgbClr val="FFFFFF"/>
                </a:highlight>
                <a:latin typeface="Courier New"/>
                <a:ea typeface="Courier New"/>
                <a:cs typeface="Courier New"/>
                <a:sym typeface="Courier New"/>
              </a:rPr>
              <a:t>(</a:t>
            </a:r>
            <a:r>
              <a:rPr b="1" lang="en" sz="1500">
                <a:solidFill>
                  <a:srgbClr val="2A00FF"/>
                </a:solidFill>
                <a:highlight>
                  <a:srgbClr val="FFFFFF"/>
                </a:highlight>
                <a:latin typeface="Courier New"/>
                <a:ea typeface="Courier New"/>
                <a:cs typeface="Courier New"/>
                <a:sym typeface="Courier New"/>
              </a:rPr>
              <a:t>"LSM303AGR initialization test \n\r"</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7F0055"/>
                </a:solidFill>
                <a:highlight>
                  <a:srgbClr val="FFFFFF"/>
                </a:highlight>
                <a:latin typeface="Courier New"/>
                <a:ea typeface="Courier New"/>
                <a:cs typeface="Courier New"/>
                <a:sym typeface="Courier New"/>
              </a:rPr>
              <a:t>while</a:t>
            </a:r>
            <a:r>
              <a:rPr b="1" lang="en" sz="1500">
                <a:solidFill>
                  <a:schemeClr val="dk1"/>
                </a:solidFill>
                <a:highlight>
                  <a:srgbClr val="FFFFFF"/>
                </a:highlight>
                <a:latin typeface="Courier New"/>
                <a:ea typeface="Courier New"/>
                <a:cs typeface="Courier New"/>
                <a:sym typeface="Courier New"/>
              </a:rPr>
              <a:t>(1)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who_am_i = lsm303_AccelRegisterRead(LSM303_WHO_AM_I_A);</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7F0055"/>
                </a:solidFill>
                <a:highlight>
                  <a:srgbClr val="FFFFFF"/>
                </a:highlight>
                <a:latin typeface="Courier New"/>
                <a:ea typeface="Courier New"/>
                <a:cs typeface="Courier New"/>
                <a:sym typeface="Courier New"/>
              </a:rPr>
              <a:t>if</a:t>
            </a:r>
            <a:r>
              <a:rPr b="1" lang="en" sz="1500">
                <a:solidFill>
                  <a:schemeClr val="dk1"/>
                </a:solidFill>
                <a:highlight>
                  <a:srgbClr val="FFFFFF"/>
                </a:highlight>
                <a:latin typeface="Courier New"/>
                <a:ea typeface="Courier New"/>
                <a:cs typeface="Courier New"/>
                <a:sym typeface="Courier New"/>
              </a:rPr>
              <a:t>( who_am_i == 0x33 )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642880"/>
                </a:solidFill>
                <a:highlight>
                  <a:srgbClr val="FFFFFF"/>
                </a:highlight>
                <a:latin typeface="Courier New"/>
                <a:ea typeface="Courier New"/>
                <a:cs typeface="Courier New"/>
                <a:sym typeface="Courier New"/>
              </a:rPr>
              <a:t>printf</a:t>
            </a:r>
            <a:r>
              <a:rPr b="1" lang="en" sz="1500">
                <a:solidFill>
                  <a:schemeClr val="dk1"/>
                </a:solidFill>
                <a:highlight>
                  <a:srgbClr val="FFFFFF"/>
                </a:highlight>
                <a:latin typeface="Courier New"/>
                <a:ea typeface="Courier New"/>
                <a:cs typeface="Courier New"/>
                <a:sym typeface="Courier New"/>
              </a:rPr>
              <a:t>(</a:t>
            </a:r>
            <a:r>
              <a:rPr b="1" lang="en" sz="1500">
                <a:solidFill>
                  <a:srgbClr val="2A00FF"/>
                </a:solidFill>
                <a:highlight>
                  <a:srgbClr val="FFFFFF"/>
                </a:highlight>
                <a:latin typeface="Courier New"/>
                <a:ea typeface="Courier New"/>
                <a:cs typeface="Courier New"/>
                <a:sym typeface="Courier New"/>
              </a:rPr>
              <a:t>"Accelerometer initialized! \n\r"</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 </a:t>
            </a:r>
            <a:r>
              <a:rPr b="1" lang="en" sz="1500">
                <a:solidFill>
                  <a:srgbClr val="7F0055"/>
                </a:solidFill>
                <a:highlight>
                  <a:srgbClr val="FFFFFF"/>
                </a:highlight>
                <a:latin typeface="Courier New"/>
                <a:ea typeface="Courier New"/>
                <a:cs typeface="Courier New"/>
                <a:sym typeface="Courier New"/>
              </a:rPr>
              <a:t>else</a:t>
            </a:r>
            <a:r>
              <a:rPr b="1" lang="en" sz="1500">
                <a:solidFill>
                  <a:schemeClr val="dk1"/>
                </a:solidFill>
                <a:highlight>
                  <a:srgbClr val="FFFFFF"/>
                </a:highlight>
                <a:latin typeface="Courier New"/>
                <a:ea typeface="Courier New"/>
                <a:cs typeface="Courier New"/>
                <a:sym typeface="Courier New"/>
              </a:rPr>
              <a:t>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642880"/>
                </a:solidFill>
                <a:highlight>
                  <a:srgbClr val="FFFFFF"/>
                </a:highlight>
                <a:latin typeface="Courier New"/>
                <a:ea typeface="Courier New"/>
                <a:cs typeface="Courier New"/>
                <a:sym typeface="Courier New"/>
              </a:rPr>
              <a:t>printf</a:t>
            </a:r>
            <a:r>
              <a:rPr b="1" lang="en" sz="1500">
                <a:solidFill>
                  <a:schemeClr val="dk1"/>
                </a:solidFill>
                <a:highlight>
                  <a:srgbClr val="FFFFFF"/>
                </a:highlight>
                <a:latin typeface="Courier New"/>
                <a:ea typeface="Courier New"/>
                <a:cs typeface="Courier New"/>
                <a:sym typeface="Courier New"/>
              </a:rPr>
              <a:t>(</a:t>
            </a:r>
            <a:r>
              <a:rPr b="1" lang="en" sz="1500">
                <a:solidFill>
                  <a:srgbClr val="2A00FF"/>
                </a:solidFill>
                <a:highlight>
                  <a:srgbClr val="FFFFFF"/>
                </a:highlight>
                <a:latin typeface="Courier New"/>
                <a:ea typeface="Courier New"/>
                <a:cs typeface="Courier New"/>
                <a:sym typeface="Courier New"/>
              </a:rPr>
              <a:t>"Could not connect to accelerometer \n\r"</a:t>
            </a: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delay_ms(1000);</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	</a:t>
            </a:r>
            <a:r>
              <a:rPr b="1" lang="en" sz="1500">
                <a:solidFill>
                  <a:srgbClr val="7F0055"/>
                </a:solidFill>
                <a:highlight>
                  <a:srgbClr val="FFFFFF"/>
                </a:highlight>
                <a:latin typeface="Courier New"/>
                <a:ea typeface="Courier New"/>
                <a:cs typeface="Courier New"/>
                <a:sym typeface="Courier New"/>
              </a:rPr>
              <a:t>return</a:t>
            </a:r>
            <a:r>
              <a:rPr b="1" lang="en" sz="1500">
                <a:solidFill>
                  <a:schemeClr val="dk1"/>
                </a:solidFill>
                <a:highlight>
                  <a:srgbClr val="FFFFFF"/>
                </a:highlight>
                <a:latin typeface="Courier New"/>
                <a:ea typeface="Courier New"/>
                <a:cs typeface="Courier New"/>
                <a:sym typeface="Courier New"/>
              </a:rPr>
              <a:t> 0;</a:t>
            </a:r>
            <a:endParaRPr b="1" sz="15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500">
                <a:solidFill>
                  <a:schemeClr val="dk1"/>
                </a:solidFill>
                <a:highlight>
                  <a:srgbClr val="FFFFFF"/>
                </a:highlight>
                <a:latin typeface="Courier New"/>
                <a:ea typeface="Courier New"/>
                <a:cs typeface="Courier New"/>
                <a:sym typeface="Courier New"/>
              </a:rPr>
              <a:t>}</a:t>
            </a:r>
            <a:endParaRPr b="1" sz="15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b="1" sz="1500">
              <a:latin typeface="Courier New"/>
              <a:ea typeface="Courier New"/>
              <a:cs typeface="Courier New"/>
              <a:sym typeface="Courier New"/>
            </a:endParaRPr>
          </a:p>
        </p:txBody>
      </p:sp>
      <p:sp>
        <p:nvSpPr>
          <p:cNvPr id="188" name="Google Shape;188;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 code: whoami_test.c</a:t>
            </a:r>
            <a:endParaRPr/>
          </a:p>
        </p:txBody>
      </p:sp>
      <p:sp>
        <p:nvSpPr>
          <p:cNvPr id="194" name="Google Shape;194;p37"/>
          <p:cNvSpPr txBox="1"/>
          <p:nvPr>
            <p:ph idx="1" type="body"/>
          </p:nvPr>
        </p:nvSpPr>
        <p:spPr>
          <a:xfrm>
            <a:off x="387900" y="1308025"/>
            <a:ext cx="8707500" cy="23952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lsm303_AccelRegisterRead(</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RegisterAddress) {</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chemeClr val="dk1"/>
                </a:solidFill>
                <a:highlight>
                  <a:srgbClr val="FFFFFF"/>
                </a:highlight>
                <a:latin typeface="Courier New"/>
                <a:ea typeface="Courier New"/>
                <a:cs typeface="Courier New"/>
                <a:sym typeface="Courier New"/>
              </a:rPr>
              <a:t>	</a:t>
            </a:r>
            <a:r>
              <a:rPr b="1" lang="en" sz="1600">
                <a:solidFill>
                  <a:srgbClr val="005032"/>
                </a:solidFill>
                <a:highlight>
                  <a:srgbClr val="FFFFFF"/>
                </a:highlight>
                <a:latin typeface="Courier New"/>
                <a:ea typeface="Courier New"/>
                <a:cs typeface="Courier New"/>
                <a:sym typeface="Courier New"/>
              </a:rPr>
              <a:t>uint8_t</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chemeClr val="dk1"/>
                </a:solidFill>
                <a:highlight>
                  <a:srgbClr val="FFFFFF"/>
                </a:highlight>
                <a:latin typeface="Courier New"/>
                <a:ea typeface="Courier New"/>
                <a:cs typeface="Courier New"/>
                <a:sym typeface="Courier New"/>
              </a:rPr>
              <a:t>	i2c1_memRead(LSM303_ADDRESS_ACCEL, RegisterAddress, 1, &amp;data);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600">
                <a:solidFill>
                  <a:schemeClr val="dk1"/>
                </a:solidFill>
                <a:highlight>
                  <a:srgbClr val="FFFFFF"/>
                </a:highlight>
                <a:latin typeface="Courier New"/>
                <a:ea typeface="Courier New"/>
                <a:cs typeface="Courier New"/>
                <a:sym typeface="Courier New"/>
              </a:rPr>
              <a:t>	</a:t>
            </a:r>
            <a:r>
              <a:rPr b="1" lang="en" sz="1600">
                <a:solidFill>
                  <a:srgbClr val="7F0055"/>
                </a:solidFill>
                <a:highlight>
                  <a:srgbClr val="FFFFFF"/>
                </a:highlight>
                <a:latin typeface="Courier New"/>
                <a:ea typeface="Courier New"/>
                <a:cs typeface="Courier New"/>
                <a:sym typeface="Courier New"/>
              </a:rPr>
              <a:t>return</a:t>
            </a:r>
            <a:r>
              <a:rPr b="1" lang="en" sz="1600">
                <a:solidFill>
                  <a:schemeClr val="dk1"/>
                </a:solidFill>
                <a:highlight>
                  <a:srgbClr val="FFFFFF"/>
                </a:highlight>
                <a:latin typeface="Courier New"/>
                <a:ea typeface="Courier New"/>
                <a:cs typeface="Courier New"/>
                <a:sym typeface="Courier New"/>
              </a:rPr>
              <a:t> data;</a:t>
            </a:r>
            <a:endParaRPr b="1" sz="16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600">
                <a:solidFill>
                  <a:schemeClr val="dk1"/>
                </a:solidFill>
                <a:highlight>
                  <a:srgbClr val="FFFFFF"/>
                </a:highlight>
                <a:latin typeface="Courier New"/>
                <a:ea typeface="Courier New"/>
                <a:cs typeface="Courier New"/>
                <a:sym typeface="Courier New"/>
              </a:rPr>
              <a:t>}</a:t>
            </a:r>
            <a:endParaRPr b="1" sz="2100">
              <a:solidFill>
                <a:srgbClr val="005032"/>
              </a:solidFill>
              <a:highlight>
                <a:srgbClr val="FFFFFF"/>
              </a:highlight>
              <a:latin typeface="Courier New"/>
              <a:ea typeface="Courier New"/>
              <a:cs typeface="Courier New"/>
              <a:sym typeface="Courier New"/>
            </a:endParaRPr>
          </a:p>
        </p:txBody>
      </p:sp>
      <p:pic>
        <p:nvPicPr>
          <p:cNvPr id="195" name="Google Shape;195;p37"/>
          <p:cNvPicPr preferRelativeResize="0"/>
          <p:nvPr/>
        </p:nvPicPr>
        <p:blipFill>
          <a:blip r:embed="rId3">
            <a:alphaModFix/>
          </a:blip>
          <a:stretch>
            <a:fillRect/>
          </a:stretch>
        </p:blipFill>
        <p:spPr>
          <a:xfrm>
            <a:off x="218250" y="4679995"/>
            <a:ext cx="8707500" cy="1314154"/>
          </a:xfrm>
          <a:prstGeom prst="rect">
            <a:avLst/>
          </a:prstGeom>
          <a:noFill/>
          <a:ln>
            <a:noFill/>
          </a:ln>
        </p:spPr>
      </p:pic>
      <p:sp>
        <p:nvSpPr>
          <p:cNvPr id="196" name="Google Shape;196;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8"/>
          <p:cNvSpPr txBox="1"/>
          <p:nvPr>
            <p:ph idx="1" type="body"/>
          </p:nvPr>
        </p:nvSpPr>
        <p:spPr>
          <a:xfrm>
            <a:off x="165575" y="896925"/>
            <a:ext cx="8789700" cy="58455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200">
                <a:solidFill>
                  <a:srgbClr val="7F0055"/>
                </a:solidFill>
                <a:highlight>
                  <a:srgbClr val="FFFFFF"/>
                </a:highlight>
                <a:latin typeface="Courier New"/>
                <a:ea typeface="Courier New"/>
                <a:cs typeface="Courier New"/>
                <a:sym typeface="Courier New"/>
              </a:rPr>
              <a:t>void</a:t>
            </a:r>
            <a:r>
              <a:rPr b="1" lang="en" sz="1200">
                <a:solidFill>
                  <a:schemeClr val="dk1"/>
                </a:solidFill>
                <a:highlight>
                  <a:srgbClr val="FFFFFF"/>
                </a:highlight>
                <a:latin typeface="Courier New"/>
                <a:ea typeface="Courier New"/>
                <a:cs typeface="Courier New"/>
                <a:sym typeface="Courier New"/>
              </a:rPr>
              <a:t> i2c1_memRead(</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deviceAddr, </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registerAddr, </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nbytes, </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*data)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Ping target address for writing 1 byte (the register address)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CR2</a:t>
            </a:r>
            <a:r>
              <a:rPr b="1" lang="en" sz="1200">
                <a:solidFill>
                  <a:schemeClr val="dk1"/>
                </a:solidFill>
                <a:highlight>
                  <a:srgbClr val="FFFFFF"/>
                </a:highlight>
                <a:latin typeface="Courier New"/>
                <a:ea typeface="Courier New"/>
                <a:cs typeface="Courier New"/>
                <a:sym typeface="Courier New"/>
              </a:rPr>
              <a:t> = (deviceAddr&lt;&lt;1)                  </a:t>
            </a:r>
            <a:r>
              <a:rPr b="1" lang="en" sz="1200">
                <a:solidFill>
                  <a:srgbClr val="3F7F5F"/>
                </a:solidFill>
                <a:highlight>
                  <a:srgbClr val="FFFFFF"/>
                </a:highlight>
                <a:latin typeface="Courier New"/>
                <a:ea typeface="Courier New"/>
                <a:cs typeface="Courier New"/>
                <a:sym typeface="Courier New"/>
              </a:rPr>
              <a:t>// target address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(1U &lt;&lt; I2C_CR2_NBYTES_Pos)   </a:t>
            </a:r>
            <a:r>
              <a:rPr b="1" lang="en" sz="1200">
                <a:solidFill>
                  <a:srgbClr val="3F7F5F"/>
                </a:solidFill>
                <a:highlight>
                  <a:srgbClr val="FFFFFF"/>
                </a:highlight>
                <a:latin typeface="Courier New"/>
                <a:ea typeface="Courier New"/>
                <a:cs typeface="Courier New"/>
                <a:sym typeface="Courier New"/>
              </a:rPr>
              <a:t>// for registerAddr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I2C_CR2_AUTOEND              </a:t>
            </a:r>
            <a:r>
              <a:rPr b="1" lang="en" sz="1200">
                <a:solidFill>
                  <a:srgbClr val="3F7F5F"/>
                </a:solidFill>
                <a:highlight>
                  <a:srgbClr val="FFFFFF"/>
                </a:highlight>
                <a:latin typeface="Courier New"/>
                <a:ea typeface="Courier New"/>
                <a:cs typeface="Courier New"/>
                <a:sym typeface="Courier New"/>
              </a:rPr>
              <a:t>// Send Stop condition after transfer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I2C_CR2_START;		     </a:t>
            </a:r>
            <a:r>
              <a:rPr b="1" lang="en" sz="1200">
                <a:solidFill>
                  <a:srgbClr val="3F7F5F"/>
                </a:solidFill>
                <a:highlight>
                  <a:srgbClr val="FFFFFF"/>
                </a:highlight>
                <a:latin typeface="Courier New"/>
                <a:ea typeface="Courier New"/>
                <a:cs typeface="Courier New"/>
                <a:sym typeface="Courier New"/>
              </a:rPr>
              <a:t>// Send Start condition</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I2C_ISR_BUSY) );		</a:t>
            </a:r>
            <a:r>
              <a:rPr b="1" lang="en" sz="1200">
                <a:solidFill>
                  <a:srgbClr val="3F7F5F"/>
                </a:solidFill>
                <a:highlight>
                  <a:srgbClr val="FFFFFF"/>
                </a:highlight>
                <a:latin typeface="Courier New"/>
                <a:ea typeface="Courier New"/>
                <a:cs typeface="Courier New"/>
                <a:sym typeface="Courier New"/>
              </a:rPr>
              <a:t>// Wait until Start is received</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I2C_ISR_NACKF) ) {		</a:t>
            </a:r>
            <a:r>
              <a:rPr b="1" lang="en" sz="1200">
                <a:solidFill>
                  <a:srgbClr val="3F7F5F"/>
                </a:solidFill>
                <a:highlight>
                  <a:srgbClr val="FFFFFF"/>
                </a:highlight>
                <a:latin typeface="Courier New"/>
                <a:ea typeface="Courier New"/>
                <a:cs typeface="Courier New"/>
                <a:sym typeface="Courier New"/>
              </a:rPr>
              <a:t>// Make sure ACK received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Send register address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I2C_ISR_TXIS) );   </a:t>
            </a:r>
            <a:r>
              <a:rPr b="1" lang="en" sz="1200">
                <a:solidFill>
                  <a:srgbClr val="3F7F5F"/>
                </a:solidFill>
                <a:highlight>
                  <a:srgbClr val="FFFFFF"/>
                </a:highlight>
                <a:latin typeface="Courier New"/>
                <a:ea typeface="Courier New"/>
                <a:cs typeface="Courier New"/>
                <a:sym typeface="Courier New"/>
              </a:rPr>
              <a:t>// Wait for </a:t>
            </a:r>
            <a:r>
              <a:rPr b="1" lang="en" sz="1200" u="sng">
                <a:solidFill>
                  <a:srgbClr val="3F7F5F"/>
                </a:solidFill>
                <a:highlight>
                  <a:srgbClr val="FFFFFF"/>
                </a:highlight>
                <a:latin typeface="Courier New"/>
                <a:ea typeface="Courier New"/>
                <a:cs typeface="Courier New"/>
                <a:sym typeface="Courier New"/>
              </a:rPr>
              <a:t>Tx</a:t>
            </a:r>
            <a:r>
              <a:rPr b="1" lang="en" sz="1200">
                <a:solidFill>
                  <a:srgbClr val="3F7F5F"/>
                </a:solidFill>
                <a:highlight>
                  <a:srgbClr val="FFFFFF"/>
                </a:highlight>
                <a:latin typeface="Courier New"/>
                <a:ea typeface="Courier New"/>
                <a:cs typeface="Courier New"/>
                <a:sym typeface="Courier New"/>
              </a:rPr>
              <a:t> to be ready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TXDR</a:t>
            </a:r>
            <a:r>
              <a:rPr b="1" lang="en" sz="1200">
                <a:solidFill>
                  <a:schemeClr val="dk1"/>
                </a:solidFill>
                <a:highlight>
                  <a:srgbClr val="FFFFFF"/>
                </a:highlight>
                <a:latin typeface="Courier New"/>
                <a:ea typeface="Courier New"/>
                <a:cs typeface="Courier New"/>
                <a:sym typeface="Courier New"/>
              </a:rPr>
              <a:t> = registerAddr;			</a:t>
            </a:r>
            <a:r>
              <a:rPr b="1" lang="en" sz="1200">
                <a:solidFill>
                  <a:srgbClr val="3F7F5F"/>
                </a:solidFill>
                <a:highlight>
                  <a:srgbClr val="FFFFFF"/>
                </a:highlight>
                <a:latin typeface="Courier New"/>
                <a:ea typeface="Courier New"/>
                <a:cs typeface="Courier New"/>
                <a:sym typeface="Courier New"/>
              </a:rPr>
              <a:t>// Send register address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Restart, with read request for n bytes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CR2</a:t>
            </a:r>
            <a:r>
              <a:rPr b="1" lang="en" sz="1200">
                <a:solidFill>
                  <a:schemeClr val="dk1"/>
                </a:solidFill>
                <a:highlight>
                  <a:srgbClr val="FFFFFF"/>
                </a:highlight>
                <a:latin typeface="Courier New"/>
                <a:ea typeface="Courier New"/>
                <a:cs typeface="Courier New"/>
                <a:sym typeface="Courier New"/>
              </a:rPr>
              <a:t> = (deviceAddr&lt;&lt;1)                    </a:t>
            </a:r>
            <a:r>
              <a:rPr b="1" lang="en" sz="1200">
                <a:solidFill>
                  <a:srgbClr val="3F7F5F"/>
                </a:solidFill>
                <a:highlight>
                  <a:srgbClr val="FFFFFF"/>
                </a:highlight>
                <a:latin typeface="Courier New"/>
                <a:ea typeface="Courier New"/>
                <a:cs typeface="Courier New"/>
                <a:sym typeface="Courier New"/>
              </a:rPr>
              <a:t>// target address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(nbytes &lt;&lt; I2C_CR2_NBYTES_Pos) </a:t>
            </a:r>
            <a:r>
              <a:rPr b="1" lang="en" sz="1200">
                <a:solidFill>
                  <a:srgbClr val="3F7F5F"/>
                </a:solidFill>
                <a:highlight>
                  <a:srgbClr val="FFFFFF"/>
                </a:highlight>
                <a:latin typeface="Courier New"/>
                <a:ea typeface="Courier New"/>
                <a:cs typeface="Courier New"/>
                <a:sym typeface="Courier New"/>
              </a:rPr>
              <a:t>// will read n bytes</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I2C_CR2_RD_WRN                 </a:t>
            </a:r>
            <a:r>
              <a:rPr b="1" lang="en" sz="1200">
                <a:solidFill>
                  <a:srgbClr val="3F7F5F"/>
                </a:solidFill>
                <a:highlight>
                  <a:srgbClr val="FFFFFF"/>
                </a:highlight>
                <a:latin typeface="Courier New"/>
                <a:ea typeface="Courier New"/>
                <a:cs typeface="Courier New"/>
                <a:sym typeface="Courier New"/>
              </a:rPr>
              <a:t>// ping for reading</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I2C_CR2_AUTOEND                </a:t>
            </a:r>
            <a:r>
              <a:rPr b="1" lang="en" sz="1200">
                <a:solidFill>
                  <a:srgbClr val="3F7F5F"/>
                </a:solidFill>
                <a:highlight>
                  <a:srgbClr val="FFFFFF"/>
                </a:highlight>
                <a:latin typeface="Courier New"/>
                <a:ea typeface="Courier New"/>
                <a:cs typeface="Courier New"/>
                <a:sym typeface="Courier New"/>
              </a:rPr>
              <a:t>// Send Stop condition after transfer</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 I2C_CR2_START;		       </a:t>
            </a:r>
            <a:r>
              <a:rPr b="1" lang="en" sz="1200">
                <a:solidFill>
                  <a:srgbClr val="3F7F5F"/>
                </a:solidFill>
                <a:highlight>
                  <a:srgbClr val="FFFFFF"/>
                </a:highlight>
                <a:latin typeface="Courier New"/>
                <a:ea typeface="Courier New"/>
                <a:cs typeface="Courier New"/>
                <a:sym typeface="Courier New"/>
              </a:rPr>
              <a:t>// Send Start condition</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I2C_ISR_BUSY) );		  </a:t>
            </a:r>
            <a:r>
              <a:rPr b="1" lang="en" sz="1200">
                <a:solidFill>
                  <a:srgbClr val="3F7F5F"/>
                </a:solidFill>
                <a:highlight>
                  <a:srgbClr val="FFFFFF"/>
                </a:highlight>
                <a:latin typeface="Courier New"/>
                <a:ea typeface="Courier New"/>
                <a:cs typeface="Courier New"/>
                <a:sym typeface="Courier New"/>
              </a:rPr>
              <a:t>// Wait until Start is received</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Read the data</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I2C_ISR_NACKF) ) {		   </a:t>
            </a:r>
            <a:r>
              <a:rPr b="1" lang="en" sz="1200">
                <a:solidFill>
                  <a:srgbClr val="3F7F5F"/>
                </a:solidFill>
                <a:highlight>
                  <a:srgbClr val="FFFFFF"/>
                </a:highlight>
                <a:latin typeface="Courier New"/>
                <a:ea typeface="Courier New"/>
                <a:cs typeface="Courier New"/>
                <a:sym typeface="Courier New"/>
              </a:rPr>
              <a:t>// Make sure ACK received </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for</a:t>
            </a:r>
            <a:r>
              <a:rPr b="1" lang="en" sz="1200">
                <a:solidFill>
                  <a:schemeClr val="dk1"/>
                </a:solidFill>
                <a:highlight>
                  <a:srgbClr val="FFFFFF"/>
                </a:highlight>
                <a:latin typeface="Courier New"/>
                <a:ea typeface="Courier New"/>
                <a:cs typeface="Courier New"/>
                <a:sym typeface="Courier New"/>
              </a:rPr>
              <a:t>(</a:t>
            </a:r>
            <a:r>
              <a:rPr b="1" lang="en" sz="1200">
                <a:solidFill>
                  <a:srgbClr val="005032"/>
                </a:solidFill>
                <a:highlight>
                  <a:srgbClr val="FFFFFF"/>
                </a:highlight>
                <a:latin typeface="Courier New"/>
                <a:ea typeface="Courier New"/>
                <a:cs typeface="Courier New"/>
                <a:sym typeface="Courier New"/>
              </a:rPr>
              <a:t>uint8_t</a:t>
            </a:r>
            <a:r>
              <a:rPr b="1" lang="en" sz="1200">
                <a:solidFill>
                  <a:schemeClr val="dk1"/>
                </a:solidFill>
                <a:highlight>
                  <a:srgbClr val="FFFFFF"/>
                </a:highlight>
                <a:latin typeface="Courier New"/>
                <a:ea typeface="Courier New"/>
                <a:cs typeface="Courier New"/>
                <a:sym typeface="Courier New"/>
              </a:rPr>
              <a:t> i=0; i&lt;nbytes; i++)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r>
              <a:rPr b="1" lang="en" sz="1200">
                <a:solidFill>
                  <a:srgbClr val="7F0055"/>
                </a:solidFill>
                <a:highlight>
                  <a:srgbClr val="FFFFFF"/>
                </a:highlight>
                <a:latin typeface="Courier New"/>
                <a:ea typeface="Courier New"/>
                <a:cs typeface="Courier New"/>
                <a:sym typeface="Courier New"/>
              </a:rPr>
              <a:t>while</a:t>
            </a:r>
            <a:r>
              <a:rPr b="1" lang="en" sz="1200">
                <a:solidFill>
                  <a:schemeClr val="dk1"/>
                </a:solidFill>
                <a:highlight>
                  <a:srgbClr val="FFFFFF"/>
                </a:highlight>
                <a:latin typeface="Courier New"/>
                <a:ea typeface="Courier New"/>
                <a:cs typeface="Courier New"/>
                <a:sym typeface="Courier New"/>
              </a:rPr>
              <a:t>( !(I2C1-&gt;</a:t>
            </a:r>
            <a:r>
              <a:rPr b="1" lang="en" sz="1200">
                <a:solidFill>
                  <a:srgbClr val="0000C0"/>
                </a:solidFill>
                <a:highlight>
                  <a:srgbClr val="FFFFFF"/>
                </a:highlight>
                <a:latin typeface="Courier New"/>
                <a:ea typeface="Courier New"/>
                <a:cs typeface="Courier New"/>
                <a:sym typeface="Courier New"/>
              </a:rPr>
              <a:t>ISR</a:t>
            </a:r>
            <a:r>
              <a:rPr b="1" lang="en" sz="1200">
                <a:solidFill>
                  <a:schemeClr val="dk1"/>
                </a:solidFill>
                <a:highlight>
                  <a:srgbClr val="FFFFFF"/>
                </a:highlight>
                <a:latin typeface="Courier New"/>
                <a:ea typeface="Courier New"/>
                <a:cs typeface="Courier New"/>
                <a:sym typeface="Courier New"/>
              </a:rPr>
              <a:t> &amp; I2C_ISR_RXNE) ); </a:t>
            </a:r>
            <a:r>
              <a:rPr b="1" lang="en" sz="1200">
                <a:solidFill>
                  <a:srgbClr val="3F7F5F"/>
                </a:solidFill>
                <a:highlight>
                  <a:srgbClr val="FFFFFF"/>
                </a:highlight>
                <a:latin typeface="Courier New"/>
                <a:ea typeface="Courier New"/>
                <a:cs typeface="Courier New"/>
                <a:sym typeface="Courier New"/>
              </a:rPr>
              <a:t>// Wait for </a:t>
            </a:r>
            <a:r>
              <a:rPr b="1" lang="en" sz="1200" u="sng">
                <a:solidFill>
                  <a:srgbClr val="3F7F5F"/>
                </a:solidFill>
                <a:highlight>
                  <a:srgbClr val="FFFFFF"/>
                </a:highlight>
                <a:latin typeface="Courier New"/>
                <a:ea typeface="Courier New"/>
                <a:cs typeface="Courier New"/>
                <a:sym typeface="Courier New"/>
              </a:rPr>
              <a:t>Rx</a:t>
            </a:r>
            <a:r>
              <a:rPr b="1" lang="en" sz="1200">
                <a:solidFill>
                  <a:srgbClr val="3F7F5F"/>
                </a:solidFill>
                <a:highlight>
                  <a:srgbClr val="FFFFFF"/>
                </a:highlight>
                <a:latin typeface="Courier New"/>
                <a:ea typeface="Courier New"/>
                <a:cs typeface="Courier New"/>
                <a:sym typeface="Courier New"/>
              </a:rPr>
              <a:t> to be ready</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data[i] = I2C1-&gt;</a:t>
            </a:r>
            <a:r>
              <a:rPr b="1" lang="en" sz="1200">
                <a:solidFill>
                  <a:srgbClr val="0000C0"/>
                </a:solidFill>
                <a:highlight>
                  <a:srgbClr val="FFFFFF"/>
                </a:highlight>
                <a:latin typeface="Courier New"/>
                <a:ea typeface="Courier New"/>
                <a:cs typeface="Courier New"/>
                <a:sym typeface="Courier New"/>
              </a:rPr>
              <a:t>RXDR</a:t>
            </a:r>
            <a:r>
              <a:rPr b="1" lang="en" sz="1200">
                <a:solidFill>
                  <a:schemeClr val="dk1"/>
                </a:solidFill>
                <a:highlight>
                  <a:srgbClr val="FFFFFF"/>
                </a:highlight>
                <a:latin typeface="Courier New"/>
                <a:ea typeface="Courier New"/>
                <a:cs typeface="Courier New"/>
                <a:sym typeface="Courier New"/>
              </a:rPr>
              <a:t>;			   </a:t>
            </a:r>
            <a:r>
              <a:rPr b="1" lang="en" sz="1200">
                <a:solidFill>
                  <a:srgbClr val="3F7F5F"/>
                </a:solidFill>
                <a:highlight>
                  <a:srgbClr val="FFFFFF"/>
                </a:highlight>
                <a:latin typeface="Courier New"/>
                <a:ea typeface="Courier New"/>
                <a:cs typeface="Courier New"/>
                <a:sym typeface="Courier New"/>
              </a:rPr>
              <a:t>// Read the data</a:t>
            </a:r>
            <a:endParaRPr b="1" sz="12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	}</a:t>
            </a:r>
            <a:endParaRPr b="1" sz="12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a:t>
            </a:r>
            <a:endParaRPr/>
          </a:p>
        </p:txBody>
      </p:sp>
      <p:sp>
        <p:nvSpPr>
          <p:cNvPr id="202" name="Google Shape;202;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38"/>
          <p:cNvSpPr txBox="1"/>
          <p:nvPr>
            <p:ph type="title"/>
          </p:nvPr>
        </p:nvSpPr>
        <p:spPr>
          <a:xfrm>
            <a:off x="311700" y="1334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i2c1_memRead()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9"/>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Debugging the I</a:t>
            </a:r>
            <a:r>
              <a:rPr baseline="30000" lang="en"/>
              <a:t>2</a:t>
            </a:r>
            <a:r>
              <a:rPr lang="en"/>
              <a:t>C bus with an oscilloscope</a:t>
            </a:r>
            <a:endParaRPr/>
          </a:p>
        </p:txBody>
      </p:sp>
      <p:sp>
        <p:nvSpPr>
          <p:cNvPr id="209" name="Google Shape;209;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40"/>
          <p:cNvPicPr preferRelativeResize="0"/>
          <p:nvPr/>
        </p:nvPicPr>
        <p:blipFill>
          <a:blip r:embed="rId3">
            <a:alphaModFix/>
          </a:blip>
          <a:stretch>
            <a:fillRect/>
          </a:stretch>
        </p:blipFill>
        <p:spPr>
          <a:xfrm>
            <a:off x="5782725" y="141825"/>
            <a:ext cx="3049576" cy="5489898"/>
          </a:xfrm>
          <a:prstGeom prst="rect">
            <a:avLst/>
          </a:prstGeom>
          <a:noFill/>
          <a:ln>
            <a:noFill/>
          </a:ln>
        </p:spPr>
      </p:pic>
      <p:sp>
        <p:nvSpPr>
          <p:cNvPr id="215" name="Google Shape;215;p40"/>
          <p:cNvSpPr txBox="1"/>
          <p:nvPr>
            <p:ph type="title"/>
          </p:nvPr>
        </p:nvSpPr>
        <p:spPr>
          <a:xfrm>
            <a:off x="311700" y="4087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 the AD2 to your setup.</a:t>
            </a:r>
            <a:endParaRPr/>
          </a:p>
        </p:txBody>
      </p:sp>
      <p:sp>
        <p:nvSpPr>
          <p:cNvPr id="216" name="Google Shape;216;p40"/>
          <p:cNvSpPr txBox="1"/>
          <p:nvPr>
            <p:ph idx="1" type="body"/>
          </p:nvPr>
        </p:nvSpPr>
        <p:spPr>
          <a:xfrm>
            <a:off x="283075" y="1416000"/>
            <a:ext cx="3914400" cy="24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Use AD2 digital channels. Wire 3 leads as follows:</a:t>
            </a:r>
            <a:endParaRPr sz="1600"/>
          </a:p>
          <a:p>
            <a:pPr indent="0" lvl="0" marL="0" rtl="0" algn="l">
              <a:lnSpc>
                <a:spcPct val="150000"/>
              </a:lnSpc>
              <a:spcBef>
                <a:spcPts val="1600"/>
              </a:spcBef>
              <a:spcAft>
                <a:spcPts val="1600"/>
              </a:spcAft>
              <a:buNone/>
            </a:pPr>
            <a:r>
              <a:rPr lang="en" sz="1600"/>
              <a:t>GND (black) to ground (duh)</a:t>
            </a:r>
            <a:br>
              <a:rPr lang="en" sz="1600"/>
            </a:br>
            <a:r>
              <a:rPr lang="en" sz="1600"/>
              <a:t>D0 (pink)  to  SDA</a:t>
            </a:r>
            <a:br>
              <a:rPr lang="en" sz="1600"/>
            </a:br>
            <a:r>
              <a:rPr lang="en" sz="1600"/>
              <a:t>D1 (green) to SCL </a:t>
            </a:r>
            <a:endParaRPr sz="1600"/>
          </a:p>
        </p:txBody>
      </p:sp>
      <p:sp>
        <p:nvSpPr>
          <p:cNvPr id="217" name="Google Shape;217;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8" name="Google Shape;218;p40"/>
          <p:cNvPicPr preferRelativeResize="0"/>
          <p:nvPr/>
        </p:nvPicPr>
        <p:blipFill rotWithShape="1">
          <a:blip r:embed="rId4">
            <a:alphaModFix/>
          </a:blip>
          <a:srcRect b="19476" l="0" r="0" t="19027"/>
          <a:stretch/>
        </p:blipFill>
        <p:spPr>
          <a:xfrm>
            <a:off x="3409925" y="4597225"/>
            <a:ext cx="3214900" cy="2145100"/>
          </a:xfrm>
          <a:prstGeom prst="rect">
            <a:avLst/>
          </a:prstGeom>
          <a:noFill/>
          <a:ln>
            <a:noFill/>
          </a:ln>
        </p:spPr>
      </p:pic>
      <p:sp>
        <p:nvSpPr>
          <p:cNvPr id="219" name="Google Shape;219;p40"/>
          <p:cNvSpPr/>
          <p:nvPr/>
        </p:nvSpPr>
        <p:spPr>
          <a:xfrm>
            <a:off x="311700" y="2591475"/>
            <a:ext cx="911100" cy="313500"/>
          </a:xfrm>
          <a:prstGeom prst="rect">
            <a:avLst/>
          </a:prstGeom>
          <a:noFill/>
          <a:ln cap="flat" cmpd="sng" w="3810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0"/>
          <p:cNvSpPr/>
          <p:nvPr/>
        </p:nvSpPr>
        <p:spPr>
          <a:xfrm>
            <a:off x="1586525" y="2591475"/>
            <a:ext cx="548700" cy="3135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0"/>
          <p:cNvSpPr/>
          <p:nvPr/>
        </p:nvSpPr>
        <p:spPr>
          <a:xfrm>
            <a:off x="311700" y="2994225"/>
            <a:ext cx="1049100" cy="313500"/>
          </a:xfrm>
          <a:prstGeom prst="rect">
            <a:avLst/>
          </a:prstGeom>
          <a:no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0"/>
          <p:cNvSpPr/>
          <p:nvPr/>
        </p:nvSpPr>
        <p:spPr>
          <a:xfrm>
            <a:off x="1586513" y="2994225"/>
            <a:ext cx="548700" cy="3135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0"/>
          <p:cNvSpPr/>
          <p:nvPr/>
        </p:nvSpPr>
        <p:spPr>
          <a:xfrm>
            <a:off x="311700" y="2188725"/>
            <a:ext cx="1199100" cy="31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0"/>
          <p:cNvSpPr/>
          <p:nvPr/>
        </p:nvSpPr>
        <p:spPr>
          <a:xfrm>
            <a:off x="1739675" y="2188725"/>
            <a:ext cx="715500" cy="31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5" name="Google Shape;225;p40"/>
          <p:cNvPicPr preferRelativeResize="0"/>
          <p:nvPr/>
        </p:nvPicPr>
        <p:blipFill rotWithShape="1">
          <a:blip r:embed="rId5">
            <a:alphaModFix/>
          </a:blip>
          <a:srcRect b="23460" l="12334" r="51937" t="41289"/>
          <a:stretch/>
        </p:blipFill>
        <p:spPr>
          <a:xfrm>
            <a:off x="3883025" y="2430700"/>
            <a:ext cx="2026825" cy="1899850"/>
          </a:xfrm>
          <a:prstGeom prst="rect">
            <a:avLst/>
          </a:prstGeom>
          <a:noFill/>
          <a:ln>
            <a:noFill/>
          </a:ln>
        </p:spPr>
      </p:pic>
      <p:pic>
        <p:nvPicPr>
          <p:cNvPr id="226" name="Google Shape;226;p40" title="image_386b16d0-7734-42a0-ae94-51630e6d0d3a_700x700.png"/>
          <p:cNvPicPr preferRelativeResize="0"/>
          <p:nvPr/>
        </p:nvPicPr>
        <p:blipFill>
          <a:blip r:embed="rId6">
            <a:alphaModFix/>
          </a:blip>
          <a:stretch>
            <a:fillRect/>
          </a:stretch>
        </p:blipFill>
        <p:spPr>
          <a:xfrm>
            <a:off x="708450" y="4040875"/>
            <a:ext cx="2554526" cy="2554526"/>
          </a:xfrm>
          <a:prstGeom prst="rect">
            <a:avLst/>
          </a:prstGeom>
          <a:noFill/>
          <a:ln>
            <a:noFill/>
          </a:ln>
        </p:spPr>
      </p:pic>
      <p:sp>
        <p:nvSpPr>
          <p:cNvPr id="227" name="Google Shape;227;p40"/>
          <p:cNvSpPr/>
          <p:nvPr/>
        </p:nvSpPr>
        <p:spPr>
          <a:xfrm>
            <a:off x="4435100" y="5450775"/>
            <a:ext cx="1615200" cy="4380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t>Connect me!</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1" name="Shape 231"/>
        <p:cNvGrpSpPr/>
        <p:nvPr/>
      </p:nvGrpSpPr>
      <p:grpSpPr>
        <a:xfrm>
          <a:off x="0" y="0"/>
          <a:ext cx="0" cy="0"/>
          <a:chOff x="0" y="0"/>
          <a:chExt cx="0" cy="0"/>
        </a:xfrm>
      </p:grpSpPr>
      <p:pic>
        <p:nvPicPr>
          <p:cNvPr id="232" name="Google Shape;232;p41"/>
          <p:cNvPicPr preferRelativeResize="0"/>
          <p:nvPr/>
        </p:nvPicPr>
        <p:blipFill>
          <a:blip r:embed="rId3">
            <a:alphaModFix/>
          </a:blip>
          <a:stretch>
            <a:fillRect/>
          </a:stretch>
        </p:blipFill>
        <p:spPr>
          <a:xfrm>
            <a:off x="5782725" y="141825"/>
            <a:ext cx="3049576" cy="5489898"/>
          </a:xfrm>
          <a:prstGeom prst="rect">
            <a:avLst/>
          </a:prstGeom>
          <a:noFill/>
          <a:ln>
            <a:noFill/>
          </a:ln>
        </p:spPr>
      </p:pic>
      <p:sp>
        <p:nvSpPr>
          <p:cNvPr id="233" name="Google Shape;233;p41"/>
          <p:cNvSpPr txBox="1"/>
          <p:nvPr>
            <p:ph type="title"/>
          </p:nvPr>
        </p:nvSpPr>
        <p:spPr>
          <a:xfrm>
            <a:off x="311700" y="4087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 the AD2 to your setup.</a:t>
            </a:r>
            <a:endParaRPr/>
          </a:p>
        </p:txBody>
      </p:sp>
      <p:sp>
        <p:nvSpPr>
          <p:cNvPr id="234" name="Google Shape;234;p41"/>
          <p:cNvSpPr txBox="1"/>
          <p:nvPr>
            <p:ph idx="1" type="body"/>
          </p:nvPr>
        </p:nvSpPr>
        <p:spPr>
          <a:xfrm>
            <a:off x="283075" y="1416000"/>
            <a:ext cx="3914400" cy="24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Use AD2 digital channels (larger flying lead bundle). Wire 3 leads as follows:</a:t>
            </a:r>
            <a:endParaRPr sz="1600"/>
          </a:p>
          <a:p>
            <a:pPr indent="0" lvl="0" marL="0" rtl="0" algn="l">
              <a:lnSpc>
                <a:spcPct val="150000"/>
              </a:lnSpc>
              <a:spcBef>
                <a:spcPts val="1600"/>
              </a:spcBef>
              <a:spcAft>
                <a:spcPts val="0"/>
              </a:spcAft>
              <a:buNone/>
            </a:pPr>
            <a:r>
              <a:rPr lang="en" sz="1600"/>
              <a:t>GND (black) to ground (duh)</a:t>
            </a:r>
            <a:br>
              <a:rPr lang="en" sz="1600"/>
            </a:br>
            <a:r>
              <a:rPr lang="en" sz="1600"/>
              <a:t>D0 (pink)  to  SDA</a:t>
            </a:r>
            <a:br>
              <a:rPr lang="en" sz="1600"/>
            </a:br>
            <a:r>
              <a:rPr lang="en" sz="1600"/>
              <a:t>D1 (green) to SCL </a:t>
            </a:r>
            <a:endParaRPr sz="1600"/>
          </a:p>
          <a:p>
            <a:pPr indent="0" lvl="0" marL="0" rtl="0" algn="l">
              <a:spcBef>
                <a:spcPts val="1600"/>
              </a:spcBef>
              <a:spcAft>
                <a:spcPts val="1600"/>
              </a:spcAft>
              <a:buNone/>
            </a:pPr>
            <a:r>
              <a:rPr lang="en" sz="1600"/>
              <a:t>on the breadboard.</a:t>
            </a:r>
            <a:endParaRPr sz="1600"/>
          </a:p>
        </p:txBody>
      </p:sp>
      <p:sp>
        <p:nvSpPr>
          <p:cNvPr id="235" name="Google Shape;235;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36" name="Google Shape;236;p41"/>
          <p:cNvPicPr preferRelativeResize="0"/>
          <p:nvPr/>
        </p:nvPicPr>
        <p:blipFill rotWithShape="1">
          <a:blip r:embed="rId4">
            <a:alphaModFix/>
          </a:blip>
          <a:srcRect b="19476" l="0" r="0" t="19027"/>
          <a:stretch/>
        </p:blipFill>
        <p:spPr>
          <a:xfrm>
            <a:off x="4039600" y="4601800"/>
            <a:ext cx="3214900" cy="2145100"/>
          </a:xfrm>
          <a:prstGeom prst="rect">
            <a:avLst/>
          </a:prstGeom>
          <a:noFill/>
          <a:ln>
            <a:noFill/>
          </a:ln>
        </p:spPr>
      </p:pic>
      <p:cxnSp>
        <p:nvCxnSpPr>
          <p:cNvPr id="237" name="Google Shape;237;p41"/>
          <p:cNvCxnSpPr/>
          <p:nvPr/>
        </p:nvCxnSpPr>
        <p:spPr>
          <a:xfrm flipH="1" rot="10800000">
            <a:off x="6054850" y="3686025"/>
            <a:ext cx="1446900" cy="1301400"/>
          </a:xfrm>
          <a:prstGeom prst="bentConnector3">
            <a:avLst>
              <a:gd fmla="val -116" name="adj1"/>
            </a:avLst>
          </a:prstGeom>
          <a:noFill/>
          <a:ln cap="flat" cmpd="sng" w="38100">
            <a:solidFill>
              <a:srgbClr val="6AA84F"/>
            </a:solidFill>
            <a:prstDash val="solid"/>
            <a:round/>
            <a:headEnd len="med" w="med" type="none"/>
            <a:tailEnd len="med" w="med" type="none"/>
          </a:ln>
        </p:spPr>
      </p:cxnSp>
      <p:sp>
        <p:nvSpPr>
          <p:cNvPr id="238" name="Google Shape;238;p41"/>
          <p:cNvSpPr/>
          <p:nvPr/>
        </p:nvSpPr>
        <p:spPr>
          <a:xfrm>
            <a:off x="311700" y="2591475"/>
            <a:ext cx="911100" cy="313500"/>
          </a:xfrm>
          <a:prstGeom prst="rect">
            <a:avLst/>
          </a:prstGeom>
          <a:noFill/>
          <a:ln cap="flat" cmpd="sng" w="3810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1"/>
          <p:cNvSpPr/>
          <p:nvPr/>
        </p:nvSpPr>
        <p:spPr>
          <a:xfrm>
            <a:off x="1586525" y="2591475"/>
            <a:ext cx="548700" cy="3135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1"/>
          <p:cNvSpPr/>
          <p:nvPr/>
        </p:nvSpPr>
        <p:spPr>
          <a:xfrm>
            <a:off x="311700" y="2994225"/>
            <a:ext cx="1049100" cy="313500"/>
          </a:xfrm>
          <a:prstGeom prst="rect">
            <a:avLst/>
          </a:prstGeom>
          <a:no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1"/>
          <p:cNvSpPr/>
          <p:nvPr/>
        </p:nvSpPr>
        <p:spPr>
          <a:xfrm>
            <a:off x="1586513" y="2994225"/>
            <a:ext cx="548700" cy="3135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1"/>
          <p:cNvSpPr/>
          <p:nvPr/>
        </p:nvSpPr>
        <p:spPr>
          <a:xfrm>
            <a:off x="311700" y="2188725"/>
            <a:ext cx="1199100" cy="31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1"/>
          <p:cNvSpPr/>
          <p:nvPr/>
        </p:nvSpPr>
        <p:spPr>
          <a:xfrm>
            <a:off x="1739675" y="2188725"/>
            <a:ext cx="715500" cy="31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41"/>
          <p:cNvPicPr preferRelativeResize="0"/>
          <p:nvPr/>
        </p:nvPicPr>
        <p:blipFill rotWithShape="1">
          <a:blip r:embed="rId5">
            <a:alphaModFix/>
          </a:blip>
          <a:srcRect b="23460" l="12334" r="51937" t="41289"/>
          <a:stretch/>
        </p:blipFill>
        <p:spPr>
          <a:xfrm>
            <a:off x="3883025" y="2430700"/>
            <a:ext cx="2026825" cy="1899850"/>
          </a:xfrm>
          <a:prstGeom prst="rect">
            <a:avLst/>
          </a:prstGeom>
          <a:noFill/>
          <a:ln>
            <a:noFill/>
          </a:ln>
        </p:spPr>
      </p:pic>
      <p:cxnSp>
        <p:nvCxnSpPr>
          <p:cNvPr id="245" name="Google Shape;245;p41"/>
          <p:cNvCxnSpPr/>
          <p:nvPr/>
        </p:nvCxnSpPr>
        <p:spPr>
          <a:xfrm flipH="1" rot="10800000">
            <a:off x="5894725" y="3607050"/>
            <a:ext cx="1708500" cy="1398300"/>
          </a:xfrm>
          <a:prstGeom prst="bentConnector3">
            <a:avLst>
              <a:gd fmla="val -293" name="adj1"/>
            </a:avLst>
          </a:prstGeom>
          <a:noFill/>
          <a:ln cap="flat" cmpd="sng" w="38100">
            <a:solidFill>
              <a:srgbClr val="EA9999"/>
            </a:solidFill>
            <a:prstDash val="solid"/>
            <a:round/>
            <a:headEnd len="med" w="med" type="none"/>
            <a:tailEnd len="med" w="med" type="none"/>
          </a:ln>
        </p:spPr>
      </p:cxnSp>
      <p:cxnSp>
        <p:nvCxnSpPr>
          <p:cNvPr id="246" name="Google Shape;246;p41"/>
          <p:cNvCxnSpPr/>
          <p:nvPr/>
        </p:nvCxnSpPr>
        <p:spPr>
          <a:xfrm flipH="1" rot="10800000">
            <a:off x="5555975" y="4103025"/>
            <a:ext cx="35100" cy="884400"/>
          </a:xfrm>
          <a:prstGeom prst="straightConnector1">
            <a:avLst/>
          </a:prstGeom>
          <a:noFill/>
          <a:ln cap="flat" cmpd="sng" w="38100">
            <a:solidFill>
              <a:srgbClr val="595959"/>
            </a:solidFill>
            <a:prstDash val="solid"/>
            <a:round/>
            <a:headEnd len="med" w="med" type="none"/>
            <a:tailEnd len="med" w="med" type="none"/>
          </a:ln>
        </p:spPr>
      </p:cxnSp>
      <p:pic>
        <p:nvPicPr>
          <p:cNvPr id="247" name="Google Shape;247;p41" title="image_386b16d0-7734-42a0-ae94-51630e6d0d3a_700x700.png"/>
          <p:cNvPicPr preferRelativeResize="0"/>
          <p:nvPr/>
        </p:nvPicPr>
        <p:blipFill>
          <a:blip r:embed="rId6">
            <a:alphaModFix/>
          </a:blip>
          <a:stretch>
            <a:fillRect/>
          </a:stretch>
        </p:blipFill>
        <p:spPr>
          <a:xfrm>
            <a:off x="708450" y="4040875"/>
            <a:ext cx="2554526" cy="25545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2"/>
          <p:cNvSpPr txBox="1"/>
          <p:nvPr>
            <p:ph type="title"/>
          </p:nvPr>
        </p:nvSpPr>
        <p:spPr>
          <a:xfrm>
            <a:off x="63125" y="165800"/>
            <a:ext cx="9009300" cy="8172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t>What do you expect to see on the logic analyzer when you run whoami_test.c?</a:t>
            </a:r>
            <a:endParaRPr sz="2300"/>
          </a:p>
        </p:txBody>
      </p:sp>
      <p:sp>
        <p:nvSpPr>
          <p:cNvPr id="253" name="Google Shape;253;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4" name="Google Shape;254;p42"/>
          <p:cNvSpPr txBox="1"/>
          <p:nvPr>
            <p:ph idx="1" type="body"/>
          </p:nvPr>
        </p:nvSpPr>
        <p:spPr>
          <a:xfrm>
            <a:off x="63125" y="982925"/>
            <a:ext cx="7246800" cy="575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7F0055"/>
                </a:solidFill>
                <a:highlight>
                  <a:srgbClr val="FFFFFF"/>
                </a:highlight>
                <a:latin typeface="Courier New"/>
                <a:ea typeface="Courier New"/>
                <a:cs typeface="Courier New"/>
                <a:sym typeface="Courier New"/>
              </a:rPr>
              <a:t>#define</a:t>
            </a:r>
            <a:r>
              <a:rPr b="1" lang="en" sz="1300">
                <a:solidFill>
                  <a:schemeClr val="dk1"/>
                </a:solidFill>
                <a:highlight>
                  <a:srgbClr val="FFFFFF"/>
                </a:highlight>
                <a:latin typeface="Courier New"/>
                <a:ea typeface="Courier New"/>
                <a:cs typeface="Courier New"/>
                <a:sym typeface="Courier New"/>
              </a:rPr>
              <a:t> LSM303_ADDRESS_ACCEL (0x32 &gt;&gt; 1) </a:t>
            </a:r>
            <a:endParaRPr b="1" sz="1300">
              <a:solidFill>
                <a:srgbClr val="3F7F5F"/>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300">
                <a:solidFill>
                  <a:srgbClr val="7F0055"/>
                </a:solidFill>
                <a:highlight>
                  <a:srgbClr val="FFFFFF"/>
                </a:highlight>
                <a:latin typeface="Courier New"/>
                <a:ea typeface="Courier New"/>
                <a:cs typeface="Courier New"/>
                <a:sym typeface="Courier New"/>
              </a:rPr>
              <a:t>#define</a:t>
            </a:r>
            <a:r>
              <a:rPr b="1" lang="en" sz="1300">
                <a:solidFill>
                  <a:schemeClr val="dk1"/>
                </a:solidFill>
                <a:highlight>
                  <a:srgbClr val="FFFFFF"/>
                </a:highlight>
                <a:latin typeface="Courier New"/>
                <a:ea typeface="Courier New"/>
                <a:cs typeface="Courier New"/>
                <a:sym typeface="Courier New"/>
              </a:rPr>
              <a:t> LSM303_WHO_AM_I_A	   0x0F </a:t>
            </a:r>
            <a:r>
              <a:rPr b="1" lang="en" sz="1300">
                <a:solidFill>
                  <a:srgbClr val="3F7F5F"/>
                </a:solidFill>
                <a:highlight>
                  <a:srgbClr val="FFFFFF"/>
                </a:highlight>
                <a:latin typeface="Courier New"/>
                <a:ea typeface="Courier New"/>
                <a:cs typeface="Courier New"/>
                <a:sym typeface="Courier New"/>
              </a:rPr>
              <a:t>// default value: 00110011</a:t>
            </a:r>
            <a:endParaRPr b="1" sz="13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t/>
            </a:r>
            <a:endParaRPr b="1" sz="13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rgbClr val="7F0055"/>
                </a:solidFill>
                <a:highlight>
                  <a:srgbClr val="FFFFFF"/>
                </a:highlight>
                <a:latin typeface="Courier New"/>
                <a:ea typeface="Courier New"/>
                <a:cs typeface="Courier New"/>
                <a:sym typeface="Courier New"/>
              </a:rPr>
              <a:t>int</a:t>
            </a:r>
            <a:r>
              <a:rPr b="1" lang="en" sz="1300">
                <a:solidFill>
                  <a:schemeClr val="dk1"/>
                </a:solidFill>
                <a:highlight>
                  <a:srgbClr val="FFFFFF"/>
                </a:highlight>
                <a:latin typeface="Courier New"/>
                <a:ea typeface="Courier New"/>
                <a:cs typeface="Courier New"/>
                <a:sym typeface="Courier New"/>
              </a:rPr>
              <a:t> main(</a:t>
            </a:r>
            <a:r>
              <a:rPr b="1" lang="en" sz="1300">
                <a:solidFill>
                  <a:srgbClr val="7F0055"/>
                </a:solidFill>
                <a:highlight>
                  <a:srgbClr val="FFFFFF"/>
                </a:highlight>
                <a:latin typeface="Courier New"/>
                <a:ea typeface="Courier New"/>
                <a:cs typeface="Courier New"/>
                <a:sym typeface="Courier New"/>
              </a:rPr>
              <a:t>void</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005032"/>
                </a:solidFill>
                <a:highlight>
                  <a:srgbClr val="FFFFFF"/>
                </a:highlight>
                <a:latin typeface="Courier New"/>
                <a:ea typeface="Courier New"/>
                <a:cs typeface="Courier New"/>
                <a:sym typeface="Courier New"/>
              </a:rPr>
              <a:t>uint8_t</a:t>
            </a:r>
            <a:r>
              <a:rPr b="1" lang="en" sz="1300">
                <a:solidFill>
                  <a:schemeClr val="dk1"/>
                </a:solidFill>
                <a:highlight>
                  <a:srgbClr val="FFFFFF"/>
                </a:highlight>
                <a:latin typeface="Courier New"/>
                <a:ea typeface="Courier New"/>
                <a:cs typeface="Courier New"/>
                <a:sym typeface="Courier New"/>
              </a:rPr>
              <a:t> who_am_i = 0;</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i2c1_init();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uart2_init();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642880"/>
                </a:solidFill>
                <a:highlight>
                  <a:srgbClr val="FFFFFF"/>
                </a:highlight>
                <a:latin typeface="Courier New"/>
                <a:ea typeface="Courier New"/>
                <a:cs typeface="Courier New"/>
                <a:sym typeface="Courier New"/>
              </a:rPr>
              <a:t>printf</a:t>
            </a:r>
            <a:r>
              <a:rPr b="1" lang="en" sz="1300">
                <a:solidFill>
                  <a:schemeClr val="dk1"/>
                </a:solidFill>
                <a:highlight>
                  <a:srgbClr val="FFFFFF"/>
                </a:highlight>
                <a:latin typeface="Courier New"/>
                <a:ea typeface="Courier New"/>
                <a:cs typeface="Courier New"/>
                <a:sym typeface="Courier New"/>
              </a:rPr>
              <a:t>(</a:t>
            </a:r>
            <a:r>
              <a:rPr b="1" lang="en" sz="1300">
                <a:solidFill>
                  <a:srgbClr val="2A00FF"/>
                </a:solidFill>
                <a:highlight>
                  <a:srgbClr val="FFFFFF"/>
                </a:highlight>
                <a:latin typeface="Courier New"/>
                <a:ea typeface="Courier New"/>
                <a:cs typeface="Courier New"/>
                <a:sym typeface="Courier New"/>
              </a:rPr>
              <a:t>"LSM303AGR initialization test \n\r"</a:t>
            </a:r>
            <a:r>
              <a:rPr b="1" lang="en" sz="1300">
                <a:solidFill>
                  <a:schemeClr val="dk1"/>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while</a:t>
            </a:r>
            <a:r>
              <a:rPr b="1" lang="en" sz="1300">
                <a:solidFill>
                  <a:schemeClr val="dk1"/>
                </a:solidFill>
                <a:highlight>
                  <a:srgbClr val="FFFFFF"/>
                </a:highlight>
                <a:latin typeface="Courier New"/>
                <a:ea typeface="Courier New"/>
                <a:cs typeface="Courier New"/>
                <a:sym typeface="Courier New"/>
              </a:rPr>
              <a:t>(1)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who_am_i = lsm303_AccelRegisterRead(LSM303_WHO_AM_I_A);</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if</a:t>
            </a:r>
            <a:r>
              <a:rPr b="1" lang="en" sz="1300">
                <a:solidFill>
                  <a:schemeClr val="dk1"/>
                </a:solidFill>
                <a:highlight>
                  <a:srgbClr val="FFFFFF"/>
                </a:highlight>
                <a:latin typeface="Courier New"/>
                <a:ea typeface="Courier New"/>
                <a:cs typeface="Courier New"/>
                <a:sym typeface="Courier New"/>
              </a:rPr>
              <a:t>( who_am_i == 0x33 )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642880"/>
                </a:solidFill>
                <a:highlight>
                  <a:srgbClr val="FFFFFF"/>
                </a:highlight>
                <a:latin typeface="Courier New"/>
                <a:ea typeface="Courier New"/>
                <a:cs typeface="Courier New"/>
                <a:sym typeface="Courier New"/>
              </a:rPr>
              <a:t>printf</a:t>
            </a:r>
            <a:r>
              <a:rPr b="1" lang="en" sz="1300">
                <a:solidFill>
                  <a:schemeClr val="dk1"/>
                </a:solidFill>
                <a:highlight>
                  <a:srgbClr val="FFFFFF"/>
                </a:highlight>
                <a:latin typeface="Courier New"/>
                <a:ea typeface="Courier New"/>
                <a:cs typeface="Courier New"/>
                <a:sym typeface="Courier New"/>
              </a:rPr>
              <a:t>(</a:t>
            </a:r>
            <a:r>
              <a:rPr b="1" lang="en" sz="1300">
                <a:solidFill>
                  <a:srgbClr val="2A00FF"/>
                </a:solidFill>
                <a:highlight>
                  <a:srgbClr val="FFFFFF"/>
                </a:highlight>
                <a:latin typeface="Courier New"/>
                <a:ea typeface="Courier New"/>
                <a:cs typeface="Courier New"/>
                <a:sym typeface="Courier New"/>
              </a:rPr>
              <a:t>"Accelerometer initialized! \n\r"</a:t>
            </a:r>
            <a:r>
              <a:rPr b="1" lang="en" sz="1300">
                <a:solidFill>
                  <a:schemeClr val="dk1"/>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 </a:t>
            </a:r>
            <a:r>
              <a:rPr b="1" lang="en" sz="1300">
                <a:solidFill>
                  <a:srgbClr val="7F0055"/>
                </a:solidFill>
                <a:highlight>
                  <a:srgbClr val="FFFFFF"/>
                </a:highlight>
                <a:latin typeface="Courier New"/>
                <a:ea typeface="Courier New"/>
                <a:cs typeface="Courier New"/>
                <a:sym typeface="Courier New"/>
              </a:rPr>
              <a:t>else</a:t>
            </a: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642880"/>
                </a:solidFill>
                <a:highlight>
                  <a:srgbClr val="FFFFFF"/>
                </a:highlight>
                <a:latin typeface="Courier New"/>
                <a:ea typeface="Courier New"/>
                <a:cs typeface="Courier New"/>
                <a:sym typeface="Courier New"/>
              </a:rPr>
              <a:t>printf</a:t>
            </a:r>
            <a:r>
              <a:rPr b="1" lang="en" sz="1300">
                <a:solidFill>
                  <a:schemeClr val="dk1"/>
                </a:solidFill>
                <a:highlight>
                  <a:srgbClr val="FFFFFF"/>
                </a:highlight>
                <a:latin typeface="Courier New"/>
                <a:ea typeface="Courier New"/>
                <a:cs typeface="Courier New"/>
                <a:sym typeface="Courier New"/>
              </a:rPr>
              <a:t>(</a:t>
            </a:r>
            <a:r>
              <a:rPr b="1" lang="en" sz="1300">
                <a:solidFill>
                  <a:srgbClr val="2A00FF"/>
                </a:solidFill>
                <a:highlight>
                  <a:srgbClr val="FFFFFF"/>
                </a:highlight>
                <a:latin typeface="Courier New"/>
                <a:ea typeface="Courier New"/>
                <a:cs typeface="Courier New"/>
                <a:sym typeface="Courier New"/>
              </a:rPr>
              <a:t>"Could not connect to accelerometer \n\r"</a:t>
            </a:r>
            <a:r>
              <a:rPr b="1" lang="en" sz="1300">
                <a:solidFill>
                  <a:schemeClr val="dk1"/>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delay_ms(1000);</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300">
                <a:solidFill>
                  <a:schemeClr val="dk1"/>
                </a:solidFill>
                <a:highlight>
                  <a:srgbClr val="FFFFFF"/>
                </a:highlight>
                <a:latin typeface="Courier New"/>
                <a:ea typeface="Courier New"/>
                <a:cs typeface="Courier New"/>
                <a:sym typeface="Courier New"/>
              </a:rPr>
              <a:t>  </a:t>
            </a:r>
            <a:r>
              <a:rPr b="1" lang="en" sz="1300">
                <a:solidFill>
                  <a:srgbClr val="7F0055"/>
                </a:solidFill>
                <a:highlight>
                  <a:srgbClr val="FFFFFF"/>
                </a:highlight>
                <a:latin typeface="Courier New"/>
                <a:ea typeface="Courier New"/>
                <a:cs typeface="Courier New"/>
                <a:sym typeface="Courier New"/>
              </a:rPr>
              <a:t>return</a:t>
            </a:r>
            <a:r>
              <a:rPr b="1" lang="en" sz="1300">
                <a:solidFill>
                  <a:schemeClr val="dk1"/>
                </a:solidFill>
                <a:highlight>
                  <a:srgbClr val="FFFFFF"/>
                </a:highlight>
                <a:latin typeface="Courier New"/>
                <a:ea typeface="Courier New"/>
                <a:cs typeface="Courier New"/>
                <a:sym typeface="Courier New"/>
              </a:rPr>
              <a:t> 0;</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300">
                <a:solidFill>
                  <a:schemeClr val="dk1"/>
                </a:solidFill>
                <a:highlight>
                  <a:srgbClr val="FFFFFF"/>
                </a:highlight>
                <a:latin typeface="Courier New"/>
                <a:ea typeface="Courier New"/>
                <a:cs typeface="Courier New"/>
                <a:sym typeface="Courier New"/>
              </a:rPr>
              <a:t>}</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t/>
            </a:r>
            <a:endParaRPr b="1" sz="13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300">
                <a:solidFill>
                  <a:srgbClr val="005032"/>
                </a:solidFill>
                <a:highlight>
                  <a:schemeClr val="lt1"/>
                </a:highlight>
                <a:latin typeface="Courier New"/>
                <a:ea typeface="Courier New"/>
                <a:cs typeface="Courier New"/>
                <a:sym typeface="Courier New"/>
              </a:rPr>
              <a:t>uint8_t</a:t>
            </a:r>
            <a:r>
              <a:rPr b="1" lang="en" sz="1300">
                <a:solidFill>
                  <a:schemeClr val="dk1"/>
                </a:solidFill>
                <a:highlight>
                  <a:schemeClr val="lt1"/>
                </a:highlight>
                <a:latin typeface="Courier New"/>
                <a:ea typeface="Courier New"/>
                <a:cs typeface="Courier New"/>
                <a:sym typeface="Courier New"/>
              </a:rPr>
              <a:t> lsm303_AccelRegisterRead(</a:t>
            </a:r>
            <a:r>
              <a:rPr b="1" lang="en" sz="1300">
                <a:solidFill>
                  <a:srgbClr val="005032"/>
                </a:solidFill>
                <a:highlight>
                  <a:schemeClr val="lt1"/>
                </a:highlight>
                <a:latin typeface="Courier New"/>
                <a:ea typeface="Courier New"/>
                <a:cs typeface="Courier New"/>
                <a:sym typeface="Courier New"/>
              </a:rPr>
              <a:t>uint8_t</a:t>
            </a:r>
            <a:r>
              <a:rPr b="1" lang="en" sz="1300">
                <a:solidFill>
                  <a:schemeClr val="dk1"/>
                </a:solidFill>
                <a:highlight>
                  <a:schemeClr val="lt1"/>
                </a:highlight>
                <a:latin typeface="Courier New"/>
                <a:ea typeface="Courier New"/>
                <a:cs typeface="Courier New"/>
                <a:sym typeface="Courier New"/>
              </a:rPr>
              <a:t> RegisterAddress) {</a:t>
            </a:r>
            <a:endParaRPr b="1" sz="13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b="1" lang="en" sz="1300">
                <a:solidFill>
                  <a:schemeClr val="dk1"/>
                </a:solidFill>
                <a:highlight>
                  <a:schemeClr val="lt1"/>
                </a:highlight>
                <a:latin typeface="Courier New"/>
                <a:ea typeface="Courier New"/>
                <a:cs typeface="Courier New"/>
                <a:sym typeface="Courier New"/>
              </a:rPr>
              <a:t>  </a:t>
            </a:r>
            <a:r>
              <a:rPr b="1" lang="en" sz="1300">
                <a:solidFill>
                  <a:srgbClr val="005032"/>
                </a:solidFill>
                <a:highlight>
                  <a:schemeClr val="lt1"/>
                </a:highlight>
                <a:latin typeface="Courier New"/>
                <a:ea typeface="Courier New"/>
                <a:cs typeface="Courier New"/>
                <a:sym typeface="Courier New"/>
              </a:rPr>
              <a:t>uint8_t</a:t>
            </a:r>
            <a:r>
              <a:rPr b="1" lang="en" sz="1300">
                <a:solidFill>
                  <a:schemeClr val="dk1"/>
                </a:solidFill>
                <a:highlight>
                  <a:schemeClr val="lt1"/>
                </a:highlight>
                <a:latin typeface="Courier New"/>
                <a:ea typeface="Courier New"/>
                <a:cs typeface="Courier New"/>
                <a:sym typeface="Courier New"/>
              </a:rPr>
              <a:t> data;</a:t>
            </a:r>
            <a:endParaRPr b="1" sz="13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b="1" lang="en" sz="1300">
                <a:solidFill>
                  <a:schemeClr val="dk1"/>
                </a:solidFill>
                <a:highlight>
                  <a:schemeClr val="lt1"/>
                </a:highlight>
                <a:latin typeface="Courier New"/>
                <a:ea typeface="Courier New"/>
                <a:cs typeface="Courier New"/>
                <a:sym typeface="Courier New"/>
              </a:rPr>
              <a:t>  i2c1_memRead(LSM303_ADDRESS_ACCEL, RegisterAddress, 1, &amp;data);</a:t>
            </a:r>
            <a:endParaRPr b="1" sz="13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b="1" lang="en" sz="1300">
                <a:solidFill>
                  <a:schemeClr val="dk1"/>
                </a:solidFill>
                <a:highlight>
                  <a:schemeClr val="lt1"/>
                </a:highlight>
                <a:latin typeface="Courier New"/>
                <a:ea typeface="Courier New"/>
                <a:cs typeface="Courier New"/>
                <a:sym typeface="Courier New"/>
              </a:rPr>
              <a:t>  </a:t>
            </a:r>
            <a:r>
              <a:rPr b="1" lang="en" sz="1300">
                <a:solidFill>
                  <a:srgbClr val="7F0055"/>
                </a:solidFill>
                <a:highlight>
                  <a:schemeClr val="lt1"/>
                </a:highlight>
                <a:latin typeface="Courier New"/>
                <a:ea typeface="Courier New"/>
                <a:cs typeface="Courier New"/>
                <a:sym typeface="Courier New"/>
              </a:rPr>
              <a:t>return</a:t>
            </a:r>
            <a:r>
              <a:rPr b="1" lang="en" sz="1300">
                <a:solidFill>
                  <a:schemeClr val="dk1"/>
                </a:solidFill>
                <a:highlight>
                  <a:schemeClr val="lt1"/>
                </a:highlight>
                <a:latin typeface="Courier New"/>
                <a:ea typeface="Courier New"/>
                <a:cs typeface="Courier New"/>
                <a:sym typeface="Courier New"/>
              </a:rPr>
              <a:t> data;</a:t>
            </a:r>
            <a:endParaRPr b="1" sz="1300">
              <a:solidFill>
                <a:schemeClr val="dk1"/>
              </a:solidFill>
              <a:highlight>
                <a:schemeClr val="lt1"/>
              </a:highlight>
              <a:latin typeface="Courier New"/>
              <a:ea typeface="Courier New"/>
              <a:cs typeface="Courier New"/>
              <a:sym typeface="Courier New"/>
            </a:endParaRPr>
          </a:p>
          <a:p>
            <a:pPr indent="0" lvl="0" marL="25400" rtl="0" algn="l">
              <a:spcBef>
                <a:spcPts val="0"/>
              </a:spcBef>
              <a:spcAft>
                <a:spcPts val="0"/>
              </a:spcAft>
              <a:buNone/>
            </a:pPr>
            <a:r>
              <a:rPr b="1" lang="en" sz="1300">
                <a:solidFill>
                  <a:schemeClr val="dk1"/>
                </a:solidFill>
                <a:highlight>
                  <a:schemeClr val="lt1"/>
                </a:highlight>
                <a:latin typeface="Courier New"/>
                <a:ea typeface="Courier New"/>
                <a:cs typeface="Courier New"/>
                <a:sym typeface="Courier New"/>
              </a:rPr>
              <a:t>}</a:t>
            </a:r>
            <a:endParaRPr b="1" sz="100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txBox="1"/>
          <p:nvPr>
            <p:ph idx="1" type="body"/>
          </p:nvPr>
        </p:nvSpPr>
        <p:spPr>
          <a:xfrm>
            <a:off x="311700" y="610100"/>
            <a:ext cx="8520600" cy="48018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000">
                <a:solidFill>
                  <a:srgbClr val="7F0055"/>
                </a:solidFill>
                <a:highlight>
                  <a:srgbClr val="FFFFFF"/>
                </a:highlight>
                <a:latin typeface="Courier New"/>
                <a:ea typeface="Courier New"/>
                <a:cs typeface="Courier New"/>
                <a:sym typeface="Courier New"/>
              </a:rPr>
              <a:t>void</a:t>
            </a:r>
            <a:r>
              <a:rPr b="1" lang="en" sz="1000">
                <a:solidFill>
                  <a:schemeClr val="dk1"/>
                </a:solidFill>
                <a:highlight>
                  <a:srgbClr val="FFFFFF"/>
                </a:highlight>
                <a:latin typeface="Courier New"/>
                <a:ea typeface="Courier New"/>
                <a:cs typeface="Courier New"/>
                <a:sym typeface="Courier New"/>
              </a:rPr>
              <a:t> </a:t>
            </a:r>
            <a:r>
              <a:rPr b="1" lang="en" sz="1000">
                <a:solidFill>
                  <a:schemeClr val="dk1"/>
                </a:solidFill>
                <a:latin typeface="Courier New"/>
                <a:ea typeface="Courier New"/>
                <a:cs typeface="Courier New"/>
                <a:sym typeface="Courier New"/>
              </a:rPr>
              <a:t>i2c1_memRead</a:t>
            </a:r>
            <a:r>
              <a:rPr b="1" lang="en" sz="1000">
                <a:solidFill>
                  <a:schemeClr val="dk1"/>
                </a:solidFill>
                <a:highlight>
                  <a:srgbClr val="FFFFFF"/>
                </a:highlight>
                <a:latin typeface="Courier New"/>
                <a:ea typeface="Courier New"/>
                <a:cs typeface="Courier New"/>
                <a:sym typeface="Courier New"/>
              </a:rPr>
              <a:t>(</a:t>
            </a:r>
            <a:r>
              <a:rPr b="1" lang="en" sz="1000">
                <a:solidFill>
                  <a:srgbClr val="005032"/>
                </a:solidFill>
                <a:highlight>
                  <a:srgbClr val="FFFFFF"/>
                </a:highlight>
                <a:latin typeface="Courier New"/>
                <a:ea typeface="Courier New"/>
                <a:cs typeface="Courier New"/>
                <a:sym typeface="Courier New"/>
              </a:rPr>
              <a:t>uint8_t</a:t>
            </a:r>
            <a:r>
              <a:rPr b="1" lang="en" sz="1000">
                <a:solidFill>
                  <a:schemeClr val="dk1"/>
                </a:solidFill>
                <a:highlight>
                  <a:srgbClr val="FFFFFF"/>
                </a:highlight>
                <a:latin typeface="Courier New"/>
                <a:ea typeface="Courier New"/>
                <a:cs typeface="Courier New"/>
                <a:sym typeface="Courier New"/>
              </a:rPr>
              <a:t> deviceAddr, </a:t>
            </a:r>
            <a:r>
              <a:rPr b="1" lang="en" sz="1000">
                <a:solidFill>
                  <a:srgbClr val="005032"/>
                </a:solidFill>
                <a:highlight>
                  <a:srgbClr val="FFFFFF"/>
                </a:highlight>
                <a:latin typeface="Courier New"/>
                <a:ea typeface="Courier New"/>
                <a:cs typeface="Courier New"/>
                <a:sym typeface="Courier New"/>
              </a:rPr>
              <a:t>uint8_t</a:t>
            </a:r>
            <a:r>
              <a:rPr b="1" lang="en" sz="1000">
                <a:solidFill>
                  <a:schemeClr val="dk1"/>
                </a:solidFill>
                <a:highlight>
                  <a:srgbClr val="FFFFFF"/>
                </a:highlight>
                <a:latin typeface="Courier New"/>
                <a:ea typeface="Courier New"/>
                <a:cs typeface="Courier New"/>
                <a:sym typeface="Courier New"/>
              </a:rPr>
              <a:t> registerAddr, </a:t>
            </a:r>
            <a:r>
              <a:rPr b="1" lang="en" sz="1000">
                <a:solidFill>
                  <a:srgbClr val="005032"/>
                </a:solidFill>
                <a:highlight>
                  <a:srgbClr val="FFFFFF"/>
                </a:highlight>
                <a:latin typeface="Courier New"/>
                <a:ea typeface="Courier New"/>
                <a:cs typeface="Courier New"/>
                <a:sym typeface="Courier New"/>
              </a:rPr>
              <a:t>uint8_t</a:t>
            </a:r>
            <a:r>
              <a:rPr b="1" lang="en" sz="1000">
                <a:solidFill>
                  <a:schemeClr val="dk1"/>
                </a:solidFill>
                <a:highlight>
                  <a:srgbClr val="FFFFFF"/>
                </a:highlight>
                <a:latin typeface="Courier New"/>
                <a:ea typeface="Courier New"/>
                <a:cs typeface="Courier New"/>
                <a:sym typeface="Courier New"/>
              </a:rPr>
              <a:t> nbytes, </a:t>
            </a:r>
            <a:r>
              <a:rPr b="1" lang="en" sz="1000">
                <a:solidFill>
                  <a:srgbClr val="005032"/>
                </a:solidFill>
                <a:highlight>
                  <a:srgbClr val="FFFFFF"/>
                </a:highlight>
                <a:latin typeface="Courier New"/>
                <a:ea typeface="Courier New"/>
                <a:cs typeface="Courier New"/>
                <a:sym typeface="Courier New"/>
              </a:rPr>
              <a:t>uint8_t</a:t>
            </a:r>
            <a:r>
              <a:rPr b="1" lang="en" sz="1000">
                <a:solidFill>
                  <a:schemeClr val="dk1"/>
                </a:solidFill>
                <a:highlight>
                  <a:srgbClr val="FFFFFF"/>
                </a:highlight>
                <a:latin typeface="Courier New"/>
                <a:ea typeface="Courier New"/>
                <a:cs typeface="Courier New"/>
                <a:sym typeface="Courier New"/>
              </a:rPr>
              <a:t> *data) {</a:t>
            </a:r>
            <a:endParaRPr b="1" sz="10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Ping target address for writing 1 byte (the register address within target from which to read)</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CR2</a:t>
            </a:r>
            <a:r>
              <a:rPr b="1" lang="en" sz="1000">
                <a:solidFill>
                  <a:schemeClr val="dk1"/>
                </a:solidFill>
                <a:highlight>
                  <a:srgbClr val="FFFFFF"/>
                </a:highlight>
                <a:latin typeface="Courier New"/>
                <a:ea typeface="Courier New"/>
                <a:cs typeface="Courier New"/>
                <a:sym typeface="Courier New"/>
              </a:rPr>
              <a:t> = (deviceAddr&lt;&lt;1)                  </a:t>
            </a:r>
            <a:r>
              <a:rPr b="1" lang="en" sz="1000">
                <a:solidFill>
                  <a:srgbClr val="3F7F5F"/>
                </a:solidFill>
                <a:highlight>
                  <a:srgbClr val="FFFFFF"/>
                </a:highlight>
                <a:latin typeface="Courier New"/>
                <a:ea typeface="Courier New"/>
                <a:cs typeface="Courier New"/>
                <a:sym typeface="Courier New"/>
              </a:rPr>
              <a:t>// target address</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(1U &lt;&lt; I2C_CR2_NBYTES_Pos) </a:t>
            </a:r>
            <a:r>
              <a:rPr b="1" lang="en" sz="1000">
                <a:solidFill>
                  <a:srgbClr val="3F7F5F"/>
                </a:solidFill>
                <a:highlight>
                  <a:srgbClr val="FFFFFF"/>
                </a:highlight>
                <a:latin typeface="Courier New"/>
                <a:ea typeface="Courier New"/>
                <a:cs typeface="Courier New"/>
                <a:sym typeface="Courier New"/>
              </a:rPr>
              <a:t>// for registerAddr</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I2C_CR2_AUTOEND            </a:t>
            </a:r>
            <a:r>
              <a:rPr b="1" lang="en" sz="1000">
                <a:solidFill>
                  <a:srgbClr val="3F7F5F"/>
                </a:solidFill>
                <a:highlight>
                  <a:srgbClr val="FFFFFF"/>
                </a:highlight>
                <a:latin typeface="Courier New"/>
                <a:ea typeface="Courier New"/>
                <a:cs typeface="Courier New"/>
                <a:sym typeface="Courier New"/>
              </a:rPr>
              <a:t>// Send Stop condition after transfer</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I2C_CR2_START;	         </a:t>
            </a:r>
            <a:r>
              <a:rPr b="1" lang="en" sz="1000">
                <a:solidFill>
                  <a:srgbClr val="3F7F5F"/>
                </a:solidFill>
                <a:highlight>
                  <a:srgbClr val="FFFFFF"/>
                </a:highlight>
                <a:latin typeface="Courier New"/>
                <a:ea typeface="Courier New"/>
                <a:cs typeface="Courier New"/>
                <a:sym typeface="Courier New"/>
              </a:rPr>
              <a:t>// Send Start condition</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I2C_ISR_BUSY) );	   </a:t>
            </a:r>
            <a:r>
              <a:rPr b="1" lang="en" sz="1000">
                <a:solidFill>
                  <a:srgbClr val="3F7F5F"/>
                </a:solidFill>
                <a:highlight>
                  <a:srgbClr val="FFFFFF"/>
                </a:highlight>
                <a:latin typeface="Courier New"/>
                <a:ea typeface="Courier New"/>
                <a:cs typeface="Courier New"/>
                <a:sym typeface="Courier New"/>
              </a:rPr>
              <a:t>// Wait until Start is received</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Send register address</a:t>
            </a:r>
            <a:endParaRPr b="1" sz="10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if</a:t>
            </a: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I2C_ISR_NACKF) ) {         </a:t>
            </a:r>
            <a:r>
              <a:rPr b="1" lang="en" sz="1000">
                <a:solidFill>
                  <a:srgbClr val="3F7F5F"/>
                </a:solidFill>
                <a:highlight>
                  <a:srgbClr val="FFFFFF"/>
                </a:highlight>
                <a:latin typeface="Courier New"/>
                <a:ea typeface="Courier New"/>
                <a:cs typeface="Courier New"/>
                <a:sym typeface="Courier New"/>
              </a:rPr>
              <a:t>// Make sure ACK received so we are actually talking</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I2C_ISR_TXIS) );  </a:t>
            </a:r>
            <a:r>
              <a:rPr b="1" lang="en" sz="1000">
                <a:solidFill>
                  <a:srgbClr val="3F7F5F"/>
                </a:solidFill>
                <a:highlight>
                  <a:srgbClr val="FFFFFF"/>
                </a:highlight>
                <a:latin typeface="Courier New"/>
                <a:ea typeface="Courier New"/>
                <a:cs typeface="Courier New"/>
                <a:sym typeface="Courier New"/>
              </a:rPr>
              <a:t>// Wait for </a:t>
            </a:r>
            <a:r>
              <a:rPr b="1" lang="en" sz="1000" u="sng">
                <a:solidFill>
                  <a:srgbClr val="3F7F5F"/>
                </a:solidFill>
                <a:highlight>
                  <a:srgbClr val="FFFFFF"/>
                </a:highlight>
                <a:latin typeface="Courier New"/>
                <a:ea typeface="Courier New"/>
                <a:cs typeface="Courier New"/>
                <a:sym typeface="Courier New"/>
              </a:rPr>
              <a:t>Tx</a:t>
            </a:r>
            <a:r>
              <a:rPr b="1" lang="en" sz="1000">
                <a:solidFill>
                  <a:srgbClr val="3F7F5F"/>
                </a:solidFill>
                <a:highlight>
                  <a:srgbClr val="FFFFFF"/>
                </a:highlight>
                <a:latin typeface="Courier New"/>
                <a:ea typeface="Courier New"/>
                <a:cs typeface="Courier New"/>
                <a:sym typeface="Courier New"/>
              </a:rPr>
              <a:t> to be ready</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latin typeface="Courier New"/>
                <a:ea typeface="Courier New"/>
                <a:cs typeface="Courier New"/>
                <a:sym typeface="Courier New"/>
              </a:rPr>
              <a:t>TXDR</a:t>
            </a:r>
            <a:r>
              <a:rPr b="1" lang="en" sz="1000">
                <a:solidFill>
                  <a:schemeClr val="dk1"/>
                </a:solidFill>
                <a:highlight>
                  <a:srgbClr val="FFFFFF"/>
                </a:highlight>
                <a:latin typeface="Courier New"/>
                <a:ea typeface="Courier New"/>
                <a:cs typeface="Courier New"/>
                <a:sym typeface="Courier New"/>
              </a:rPr>
              <a:t> = registerAddr;	         </a:t>
            </a:r>
            <a:r>
              <a:rPr b="1" lang="en" sz="1000">
                <a:solidFill>
                  <a:srgbClr val="3F7F5F"/>
                </a:solidFill>
                <a:highlight>
                  <a:srgbClr val="FFFFFF"/>
                </a:highlight>
                <a:latin typeface="Courier New"/>
                <a:ea typeface="Courier New"/>
                <a:cs typeface="Courier New"/>
                <a:sym typeface="Courier New"/>
              </a:rPr>
              <a:t>// Send register address</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Restart, with read request for n bytes</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CR2</a:t>
            </a:r>
            <a:r>
              <a:rPr b="1" lang="en" sz="1000">
                <a:solidFill>
                  <a:schemeClr val="dk1"/>
                </a:solidFill>
                <a:highlight>
                  <a:srgbClr val="FFFFFF"/>
                </a:highlight>
                <a:latin typeface="Courier New"/>
                <a:ea typeface="Courier New"/>
                <a:cs typeface="Courier New"/>
                <a:sym typeface="Courier New"/>
              </a:rPr>
              <a:t> = (deviceAddr&lt;&lt;1)                  </a:t>
            </a:r>
            <a:r>
              <a:rPr b="1" lang="en" sz="1000">
                <a:solidFill>
                  <a:srgbClr val="3F7F5F"/>
                </a:solidFill>
                <a:highlight>
                  <a:srgbClr val="FFFFFF"/>
                </a:highlight>
                <a:latin typeface="Courier New"/>
                <a:ea typeface="Courier New"/>
                <a:cs typeface="Courier New"/>
                <a:sym typeface="Courier New"/>
              </a:rPr>
              <a:t>// target address</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(nbytes &lt;&lt; I2C_CR2_NBYTES_Pos) </a:t>
            </a:r>
            <a:r>
              <a:rPr b="1" lang="en" sz="1000">
                <a:solidFill>
                  <a:srgbClr val="3F7F5F"/>
                </a:solidFill>
                <a:highlight>
                  <a:srgbClr val="FFFFFF"/>
                </a:highlight>
                <a:latin typeface="Courier New"/>
                <a:ea typeface="Courier New"/>
                <a:cs typeface="Courier New"/>
                <a:sym typeface="Courier New"/>
              </a:rPr>
              <a:t>// will read n bytes</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I2C_CR2_RD_WRN             </a:t>
            </a:r>
            <a:r>
              <a:rPr b="1" lang="en" sz="1000">
                <a:solidFill>
                  <a:srgbClr val="3F7F5F"/>
                </a:solidFill>
                <a:highlight>
                  <a:srgbClr val="FFFFFF"/>
                </a:highlight>
                <a:latin typeface="Courier New"/>
                <a:ea typeface="Courier New"/>
                <a:cs typeface="Courier New"/>
                <a:sym typeface="Courier New"/>
              </a:rPr>
              <a:t>// ping for reading</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I2C_CR2_AUTOEND            </a:t>
            </a:r>
            <a:r>
              <a:rPr b="1" lang="en" sz="1000">
                <a:solidFill>
                  <a:srgbClr val="3F7F5F"/>
                </a:solidFill>
                <a:highlight>
                  <a:srgbClr val="FFFFFF"/>
                </a:highlight>
                <a:latin typeface="Courier New"/>
                <a:ea typeface="Courier New"/>
                <a:cs typeface="Courier New"/>
                <a:sym typeface="Courier New"/>
              </a:rPr>
              <a:t>// Send Stop condition after transfer</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 I2C_CR2_START;		   </a:t>
            </a:r>
            <a:r>
              <a:rPr b="1" lang="en" sz="1000">
                <a:solidFill>
                  <a:srgbClr val="3F7F5F"/>
                </a:solidFill>
                <a:highlight>
                  <a:srgbClr val="FFFFFF"/>
                </a:highlight>
                <a:latin typeface="Courier New"/>
                <a:ea typeface="Courier New"/>
                <a:cs typeface="Courier New"/>
                <a:sym typeface="Courier New"/>
              </a:rPr>
              <a:t>// Send Start condition</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I2C_ISR_BUSY) );        </a:t>
            </a:r>
            <a:r>
              <a:rPr b="1" lang="en" sz="1000">
                <a:solidFill>
                  <a:srgbClr val="3F7F5F"/>
                </a:solidFill>
                <a:highlight>
                  <a:srgbClr val="FFFFFF"/>
                </a:highlight>
                <a:latin typeface="Courier New"/>
                <a:ea typeface="Courier New"/>
                <a:cs typeface="Courier New"/>
                <a:sym typeface="Courier New"/>
              </a:rPr>
              <a:t>// Wait until Start is received</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Read the data</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if</a:t>
            </a: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I2C_ISR_NACKF) ) {	   </a:t>
            </a:r>
            <a:r>
              <a:rPr b="1" lang="en" sz="1000">
                <a:solidFill>
                  <a:srgbClr val="3F7F5F"/>
                </a:solidFill>
                <a:highlight>
                  <a:srgbClr val="FFFFFF"/>
                </a:highlight>
                <a:latin typeface="Courier New"/>
                <a:ea typeface="Courier New"/>
                <a:cs typeface="Courier New"/>
                <a:sym typeface="Courier New"/>
              </a:rPr>
              <a:t>// Make sure ACK received so we are actually talking</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for</a:t>
            </a:r>
            <a:r>
              <a:rPr b="1" lang="en" sz="1000">
                <a:solidFill>
                  <a:schemeClr val="dk1"/>
                </a:solidFill>
                <a:highlight>
                  <a:srgbClr val="FFFFFF"/>
                </a:highlight>
                <a:latin typeface="Courier New"/>
                <a:ea typeface="Courier New"/>
                <a:cs typeface="Courier New"/>
                <a:sym typeface="Courier New"/>
              </a:rPr>
              <a:t>(</a:t>
            </a:r>
            <a:r>
              <a:rPr b="1" lang="en" sz="1000">
                <a:solidFill>
                  <a:srgbClr val="005032"/>
                </a:solidFill>
                <a:highlight>
                  <a:srgbClr val="FFFFFF"/>
                </a:highlight>
                <a:latin typeface="Courier New"/>
                <a:ea typeface="Courier New"/>
                <a:cs typeface="Courier New"/>
                <a:sym typeface="Courier New"/>
              </a:rPr>
              <a:t>uint8_t</a:t>
            </a:r>
            <a:r>
              <a:rPr b="1" lang="en" sz="1000">
                <a:solidFill>
                  <a:schemeClr val="dk1"/>
                </a:solidFill>
                <a:highlight>
                  <a:srgbClr val="FFFFFF"/>
                </a:highlight>
                <a:latin typeface="Courier New"/>
                <a:ea typeface="Courier New"/>
                <a:cs typeface="Courier New"/>
                <a:sym typeface="Courier New"/>
              </a:rPr>
              <a:t> i=0; i&lt;nbytes; i++) {</a:t>
            </a:r>
            <a:endParaRPr b="1" sz="10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r>
              <a:rPr b="1" lang="en" sz="1000">
                <a:solidFill>
                  <a:srgbClr val="7F0055"/>
                </a:solidFill>
                <a:highlight>
                  <a:srgbClr val="FFFFFF"/>
                </a:highlight>
                <a:latin typeface="Courier New"/>
                <a:ea typeface="Courier New"/>
                <a:cs typeface="Courier New"/>
                <a:sym typeface="Courier New"/>
              </a:rPr>
              <a:t>while</a:t>
            </a:r>
            <a:r>
              <a:rPr b="1" lang="en" sz="1000">
                <a:solidFill>
                  <a:schemeClr val="dk1"/>
                </a:solidFill>
                <a:highlight>
                  <a:srgbClr val="FFFFFF"/>
                </a:highlight>
                <a:latin typeface="Courier New"/>
                <a:ea typeface="Courier New"/>
                <a:cs typeface="Courier New"/>
                <a:sym typeface="Courier New"/>
              </a:rPr>
              <a:t>( !(I2C1-&gt;</a:t>
            </a:r>
            <a:r>
              <a:rPr b="1" lang="en" sz="1000">
                <a:solidFill>
                  <a:srgbClr val="0000C0"/>
                </a:solidFill>
                <a:highlight>
                  <a:srgbClr val="FFFFFF"/>
                </a:highlight>
                <a:latin typeface="Courier New"/>
                <a:ea typeface="Courier New"/>
                <a:cs typeface="Courier New"/>
                <a:sym typeface="Courier New"/>
              </a:rPr>
              <a:t>ISR</a:t>
            </a:r>
            <a:r>
              <a:rPr b="1" lang="en" sz="1000">
                <a:solidFill>
                  <a:schemeClr val="dk1"/>
                </a:solidFill>
                <a:highlight>
                  <a:srgbClr val="FFFFFF"/>
                </a:highlight>
                <a:latin typeface="Courier New"/>
                <a:ea typeface="Courier New"/>
                <a:cs typeface="Courier New"/>
                <a:sym typeface="Courier New"/>
              </a:rPr>
              <a:t> &amp; I2C_ISR_RXNE) ); </a:t>
            </a:r>
            <a:r>
              <a:rPr b="1" lang="en" sz="1000">
                <a:solidFill>
                  <a:srgbClr val="3F7F5F"/>
                </a:solidFill>
                <a:highlight>
                  <a:srgbClr val="FFFFFF"/>
                </a:highlight>
                <a:latin typeface="Courier New"/>
                <a:ea typeface="Courier New"/>
                <a:cs typeface="Courier New"/>
                <a:sym typeface="Courier New"/>
              </a:rPr>
              <a:t>// Wait for </a:t>
            </a:r>
            <a:r>
              <a:rPr b="1" lang="en" sz="1000" u="sng">
                <a:solidFill>
                  <a:srgbClr val="3F7F5F"/>
                </a:solidFill>
                <a:highlight>
                  <a:srgbClr val="FFFFFF"/>
                </a:highlight>
                <a:latin typeface="Courier New"/>
                <a:ea typeface="Courier New"/>
                <a:cs typeface="Courier New"/>
                <a:sym typeface="Courier New"/>
              </a:rPr>
              <a:t>Rx</a:t>
            </a:r>
            <a:r>
              <a:rPr b="1" lang="en" sz="1000">
                <a:solidFill>
                  <a:srgbClr val="3F7F5F"/>
                </a:solidFill>
                <a:highlight>
                  <a:srgbClr val="FFFFFF"/>
                </a:highlight>
                <a:latin typeface="Courier New"/>
                <a:ea typeface="Courier New"/>
                <a:cs typeface="Courier New"/>
                <a:sym typeface="Courier New"/>
              </a:rPr>
              <a:t> to be ready</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data[i] = I2C1-&gt;</a:t>
            </a:r>
            <a:r>
              <a:rPr b="1" lang="en" sz="1000">
                <a:solidFill>
                  <a:srgbClr val="0000C0"/>
                </a:solidFill>
                <a:highlight>
                  <a:srgbClr val="FFFFFF"/>
                </a:highlight>
                <a:latin typeface="Courier New"/>
                <a:ea typeface="Courier New"/>
                <a:cs typeface="Courier New"/>
                <a:sym typeface="Courier New"/>
              </a:rPr>
              <a:t>RXDR</a:t>
            </a:r>
            <a:r>
              <a:rPr b="1" lang="en" sz="1000">
                <a:solidFill>
                  <a:schemeClr val="dk1"/>
                </a:solidFill>
                <a:highlight>
                  <a:srgbClr val="FFFFFF"/>
                </a:highlight>
                <a:latin typeface="Courier New"/>
                <a:ea typeface="Courier New"/>
                <a:cs typeface="Courier New"/>
                <a:sym typeface="Courier New"/>
              </a:rPr>
              <a:t>;		   </a:t>
            </a:r>
            <a:r>
              <a:rPr b="1" lang="en" sz="1000">
                <a:solidFill>
                  <a:srgbClr val="3F7F5F"/>
                </a:solidFill>
                <a:highlight>
                  <a:srgbClr val="FFFFFF"/>
                </a:highlight>
                <a:latin typeface="Courier New"/>
                <a:ea typeface="Courier New"/>
                <a:cs typeface="Courier New"/>
                <a:sym typeface="Courier New"/>
              </a:rPr>
              <a:t>// Read the data</a:t>
            </a:r>
            <a:endParaRPr b="1" sz="10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000">
                <a:solidFill>
                  <a:schemeClr val="dk1"/>
                </a:solidFill>
                <a:highlight>
                  <a:srgbClr val="FFFFFF"/>
                </a:highlight>
                <a:latin typeface="Courier New"/>
                <a:ea typeface="Courier New"/>
                <a:cs typeface="Courier New"/>
                <a:sym typeface="Courier New"/>
              </a:rPr>
              <a:t>	}</a:t>
            </a:r>
            <a:endParaRPr b="1" sz="10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None/>
            </a:pPr>
            <a:r>
              <a:rPr b="1" lang="en" sz="1000">
                <a:solidFill>
                  <a:schemeClr val="dk1"/>
                </a:solidFill>
                <a:highlight>
                  <a:srgbClr val="FFFFFF"/>
                </a:highlight>
                <a:latin typeface="Courier New"/>
                <a:ea typeface="Courier New"/>
                <a:cs typeface="Courier New"/>
                <a:sym typeface="Courier New"/>
              </a:rPr>
              <a:t>}</a:t>
            </a:r>
            <a:endParaRPr b="1" sz="1600">
              <a:latin typeface="Courier New"/>
              <a:ea typeface="Courier New"/>
              <a:cs typeface="Courier New"/>
              <a:sym typeface="Courier New"/>
            </a:endParaRPr>
          </a:p>
        </p:txBody>
      </p:sp>
      <p:sp>
        <p:nvSpPr>
          <p:cNvPr id="260" name="Google Shape;260;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1" name="Google Shape;261;p43"/>
          <p:cNvPicPr preferRelativeResize="0"/>
          <p:nvPr/>
        </p:nvPicPr>
        <p:blipFill>
          <a:blip r:embed="rId3">
            <a:alphaModFix/>
          </a:blip>
          <a:stretch>
            <a:fillRect/>
          </a:stretch>
        </p:blipFill>
        <p:spPr>
          <a:xfrm>
            <a:off x="218250" y="5301395"/>
            <a:ext cx="8707500" cy="1314154"/>
          </a:xfrm>
          <a:prstGeom prst="rect">
            <a:avLst/>
          </a:prstGeom>
          <a:noFill/>
          <a:ln>
            <a:noFill/>
          </a:ln>
        </p:spPr>
      </p:pic>
      <p:sp>
        <p:nvSpPr>
          <p:cNvPr id="262" name="Google Shape;262;p43"/>
          <p:cNvSpPr txBox="1"/>
          <p:nvPr>
            <p:ph type="title"/>
          </p:nvPr>
        </p:nvSpPr>
        <p:spPr>
          <a:xfrm>
            <a:off x="67350" y="90375"/>
            <a:ext cx="9009300" cy="7230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t>Reminder: i2c1_memRead()</a:t>
            </a:r>
            <a:endParaRPr sz="23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sp>
        <p:nvSpPr>
          <p:cNvPr id="267" name="Google Shape;267;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5"/>
          <p:cNvSpPr txBox="1"/>
          <p:nvPr>
            <p:ph type="title"/>
          </p:nvPr>
        </p:nvSpPr>
        <p:spPr>
          <a:xfrm>
            <a:off x="311700" y="197927"/>
            <a:ext cx="8520600" cy="66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Waveforms Image A</a:t>
            </a:r>
            <a:endParaRPr/>
          </a:p>
        </p:txBody>
      </p:sp>
      <p:sp>
        <p:nvSpPr>
          <p:cNvPr id="273" name="Google Shape;273;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4" name="Google Shape;274;p45" title="whoAmIIncorrectAddress.png"/>
          <p:cNvPicPr preferRelativeResize="0"/>
          <p:nvPr/>
        </p:nvPicPr>
        <p:blipFill rotWithShape="1">
          <a:blip r:embed="rId3">
            <a:alphaModFix/>
          </a:blip>
          <a:srcRect b="0" l="2435" r="2445" t="0"/>
          <a:stretch/>
        </p:blipFill>
        <p:spPr>
          <a:xfrm>
            <a:off x="0" y="995250"/>
            <a:ext cx="9144003" cy="532739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6"/>
          <p:cNvSpPr txBox="1"/>
          <p:nvPr>
            <p:ph type="title"/>
          </p:nvPr>
        </p:nvSpPr>
        <p:spPr>
          <a:xfrm>
            <a:off x="311700" y="197927"/>
            <a:ext cx="8520600" cy="66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Waveforms Image B</a:t>
            </a:r>
            <a:endParaRPr/>
          </a:p>
        </p:txBody>
      </p:sp>
      <p:sp>
        <p:nvSpPr>
          <p:cNvPr id="280" name="Google Shape;280;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1" name="Google Shape;281;p46" title="whoAmIIncorrectRegister.png"/>
          <p:cNvPicPr preferRelativeResize="0"/>
          <p:nvPr/>
        </p:nvPicPr>
        <p:blipFill rotWithShape="1">
          <a:blip r:embed="rId3">
            <a:alphaModFix/>
          </a:blip>
          <a:srcRect b="0" l="2162" r="2162" t="0"/>
          <a:stretch/>
        </p:blipFill>
        <p:spPr>
          <a:xfrm>
            <a:off x="0" y="1119613"/>
            <a:ext cx="9144003" cy="52965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311700" y="197927"/>
            <a:ext cx="8520600" cy="66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Waveforms Image C</a:t>
            </a:r>
            <a:endParaRPr/>
          </a:p>
        </p:txBody>
      </p:sp>
      <p:sp>
        <p:nvSpPr>
          <p:cNvPr id="287" name="Google Shape;287;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8" name="Google Shape;288;p47" title="whoAmICorrect.png"/>
          <p:cNvPicPr preferRelativeResize="0"/>
          <p:nvPr/>
        </p:nvPicPr>
        <p:blipFill rotWithShape="1">
          <a:blip r:embed="rId3">
            <a:alphaModFix/>
          </a:blip>
          <a:srcRect b="0" l="2462" r="2472" t="0"/>
          <a:stretch/>
        </p:blipFill>
        <p:spPr>
          <a:xfrm>
            <a:off x="0" y="982150"/>
            <a:ext cx="9144003" cy="53305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sp>
        <p:nvSpPr>
          <p:cNvPr id="293" name="Google Shape;293;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7" name="Shape 297"/>
        <p:cNvGrpSpPr/>
        <p:nvPr/>
      </p:nvGrpSpPr>
      <p:grpSpPr>
        <a:xfrm>
          <a:off x="0" y="0"/>
          <a:ext cx="0" cy="0"/>
          <a:chOff x="0" y="0"/>
          <a:chExt cx="0" cy="0"/>
        </a:xfrm>
      </p:grpSpPr>
      <p:sp>
        <p:nvSpPr>
          <p:cNvPr id="298" name="Google Shape;298;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Digging Deeper</a:t>
            </a:r>
            <a:endParaRPr/>
          </a:p>
        </p:txBody>
      </p:sp>
      <p:sp>
        <p:nvSpPr>
          <p:cNvPr id="304" name="Google Shape;304;p5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Why is the device address showing up as 0x19, even though it is 0x32?</a:t>
            </a:r>
            <a:br>
              <a:rPr lang="en"/>
            </a:br>
            <a:endParaRPr/>
          </a:p>
          <a:p>
            <a:pPr indent="-342900" lvl="0" marL="457200" rtl="0" algn="l">
              <a:spcBef>
                <a:spcPts val="0"/>
              </a:spcBef>
              <a:spcAft>
                <a:spcPts val="0"/>
              </a:spcAft>
              <a:buSzPts val="1800"/>
              <a:buChar char="●"/>
            </a:pPr>
            <a:r>
              <a:rPr lang="en"/>
              <a:t>Who is sending that address?</a:t>
            </a:r>
            <a:br>
              <a:rPr lang="en"/>
            </a:br>
            <a:endParaRPr/>
          </a:p>
          <a:p>
            <a:pPr indent="-342900" lvl="0" marL="457200" rtl="0" algn="l">
              <a:spcBef>
                <a:spcPts val="0"/>
              </a:spcBef>
              <a:spcAft>
                <a:spcPts val="0"/>
              </a:spcAft>
              <a:buSzPts val="1800"/>
              <a:buChar char="●"/>
            </a:pPr>
            <a:r>
              <a:rPr lang="en"/>
              <a:t>Who is sending the ACK after the address has been sent?</a:t>
            </a:r>
            <a:br>
              <a:rPr lang="en"/>
            </a:br>
            <a:endParaRPr/>
          </a:p>
          <a:p>
            <a:pPr indent="-342900" lvl="0" marL="457200" rtl="0" algn="l">
              <a:spcBef>
                <a:spcPts val="0"/>
              </a:spcBef>
              <a:spcAft>
                <a:spcPts val="0"/>
              </a:spcAft>
              <a:buSzPts val="1800"/>
              <a:buChar char="●"/>
            </a:pPr>
            <a:r>
              <a:rPr lang="en"/>
              <a:t>Why are there two separate times that this address is being transmitted?</a:t>
            </a:r>
            <a:br>
              <a:rPr lang="en"/>
            </a:br>
            <a:endParaRPr/>
          </a:p>
          <a:p>
            <a:pPr indent="-342900" lvl="0" marL="457200" rtl="0" algn="l">
              <a:spcBef>
                <a:spcPts val="0"/>
              </a:spcBef>
              <a:spcAft>
                <a:spcPts val="0"/>
              </a:spcAft>
              <a:buSzPts val="1800"/>
              <a:buChar char="●"/>
            </a:pPr>
            <a:r>
              <a:rPr lang="en"/>
              <a:t>Where are we telling the accelerometer which register to read from?</a:t>
            </a:r>
            <a:br>
              <a:rPr lang="en"/>
            </a:br>
            <a:endParaRPr/>
          </a:p>
          <a:p>
            <a:pPr indent="-342900" lvl="0" marL="457200" rtl="0" algn="l">
              <a:spcBef>
                <a:spcPts val="0"/>
              </a:spcBef>
              <a:spcAft>
                <a:spcPts val="0"/>
              </a:spcAft>
              <a:buSzPts val="1800"/>
              <a:buChar char="●"/>
            </a:pPr>
            <a:r>
              <a:rPr lang="en"/>
              <a:t>Where does the accelerometer put the register contents on the data line?</a:t>
            </a:r>
            <a:endParaRPr/>
          </a:p>
        </p:txBody>
      </p:sp>
      <p:sp>
        <p:nvSpPr>
          <p:cNvPr id="305" name="Google Shape;305;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51"/>
          <p:cNvPicPr preferRelativeResize="0"/>
          <p:nvPr/>
        </p:nvPicPr>
        <p:blipFill>
          <a:blip r:embed="rId3">
            <a:alphaModFix/>
          </a:blip>
          <a:stretch>
            <a:fillRect/>
          </a:stretch>
        </p:blipFill>
        <p:spPr>
          <a:xfrm>
            <a:off x="5782725" y="141825"/>
            <a:ext cx="3049576" cy="5489898"/>
          </a:xfrm>
          <a:prstGeom prst="rect">
            <a:avLst/>
          </a:prstGeom>
          <a:noFill/>
          <a:ln>
            <a:noFill/>
          </a:ln>
        </p:spPr>
      </p:pic>
      <p:sp>
        <p:nvSpPr>
          <p:cNvPr id="311" name="Google Shape;311;p51"/>
          <p:cNvSpPr txBox="1"/>
          <p:nvPr>
            <p:ph type="title"/>
          </p:nvPr>
        </p:nvSpPr>
        <p:spPr>
          <a:xfrm>
            <a:off x="311700" y="302098"/>
            <a:ext cx="5357700" cy="113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Are you seeing the correct Waveforms image?</a:t>
            </a:r>
            <a:endParaRPr/>
          </a:p>
        </p:txBody>
      </p:sp>
      <p:sp>
        <p:nvSpPr>
          <p:cNvPr id="312" name="Google Shape;312;p51"/>
          <p:cNvSpPr txBox="1"/>
          <p:nvPr>
            <p:ph idx="1" type="body"/>
          </p:nvPr>
        </p:nvSpPr>
        <p:spPr>
          <a:xfrm>
            <a:off x="283075" y="1675080"/>
            <a:ext cx="3914400" cy="24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Use AD2 digital channels (larger flying lead bundle). Wire 3 leads as follows:</a:t>
            </a:r>
            <a:endParaRPr sz="1600"/>
          </a:p>
          <a:p>
            <a:pPr indent="0" lvl="0" marL="0" rtl="0" algn="l">
              <a:lnSpc>
                <a:spcPct val="150000"/>
              </a:lnSpc>
              <a:spcBef>
                <a:spcPts val="1600"/>
              </a:spcBef>
              <a:spcAft>
                <a:spcPts val="1600"/>
              </a:spcAft>
              <a:buNone/>
            </a:pPr>
            <a:r>
              <a:rPr lang="en" sz="1600"/>
              <a:t>GND (black) to ground (duh)</a:t>
            </a:r>
            <a:br>
              <a:rPr lang="en" sz="1600"/>
            </a:br>
            <a:r>
              <a:rPr lang="en" sz="1600"/>
              <a:t>D0 (pink)  to  SDA</a:t>
            </a:r>
            <a:br>
              <a:rPr lang="en" sz="1600"/>
            </a:br>
            <a:r>
              <a:rPr lang="en" sz="1600"/>
              <a:t>D1 (green) to SCL </a:t>
            </a:r>
            <a:endParaRPr sz="1600"/>
          </a:p>
        </p:txBody>
      </p:sp>
      <p:sp>
        <p:nvSpPr>
          <p:cNvPr id="313" name="Google Shape;313;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14" name="Google Shape;314;p51"/>
          <p:cNvPicPr preferRelativeResize="0"/>
          <p:nvPr/>
        </p:nvPicPr>
        <p:blipFill rotWithShape="1">
          <a:blip r:embed="rId4">
            <a:alphaModFix/>
          </a:blip>
          <a:srcRect b="19476" l="0" r="0" t="19027"/>
          <a:stretch/>
        </p:blipFill>
        <p:spPr>
          <a:xfrm>
            <a:off x="3409925" y="4597225"/>
            <a:ext cx="3214900" cy="2145100"/>
          </a:xfrm>
          <a:prstGeom prst="rect">
            <a:avLst/>
          </a:prstGeom>
          <a:noFill/>
          <a:ln>
            <a:noFill/>
          </a:ln>
        </p:spPr>
      </p:pic>
      <p:sp>
        <p:nvSpPr>
          <p:cNvPr id="315" name="Google Shape;315;p51"/>
          <p:cNvSpPr/>
          <p:nvPr/>
        </p:nvSpPr>
        <p:spPr>
          <a:xfrm>
            <a:off x="311700" y="2850555"/>
            <a:ext cx="911100" cy="313500"/>
          </a:xfrm>
          <a:prstGeom prst="rect">
            <a:avLst/>
          </a:prstGeom>
          <a:noFill/>
          <a:ln cap="flat" cmpd="sng" w="38100">
            <a:solidFill>
              <a:srgbClr val="EA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1"/>
          <p:cNvSpPr/>
          <p:nvPr/>
        </p:nvSpPr>
        <p:spPr>
          <a:xfrm>
            <a:off x="1586525" y="2850555"/>
            <a:ext cx="548700" cy="3135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1"/>
          <p:cNvSpPr/>
          <p:nvPr/>
        </p:nvSpPr>
        <p:spPr>
          <a:xfrm>
            <a:off x="311700" y="3253305"/>
            <a:ext cx="1049100" cy="313500"/>
          </a:xfrm>
          <a:prstGeom prst="rect">
            <a:avLst/>
          </a:prstGeom>
          <a:noFill/>
          <a:ln cap="flat" cmpd="sng" w="38100">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1"/>
          <p:cNvSpPr/>
          <p:nvPr/>
        </p:nvSpPr>
        <p:spPr>
          <a:xfrm>
            <a:off x="1586513" y="3253305"/>
            <a:ext cx="548700" cy="3135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1"/>
          <p:cNvSpPr/>
          <p:nvPr/>
        </p:nvSpPr>
        <p:spPr>
          <a:xfrm>
            <a:off x="311700" y="2447805"/>
            <a:ext cx="1199100" cy="31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1"/>
          <p:cNvSpPr/>
          <p:nvPr/>
        </p:nvSpPr>
        <p:spPr>
          <a:xfrm>
            <a:off x="1739675" y="2447805"/>
            <a:ext cx="715500" cy="3135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1" name="Google Shape;321;p51"/>
          <p:cNvPicPr preferRelativeResize="0"/>
          <p:nvPr/>
        </p:nvPicPr>
        <p:blipFill rotWithShape="1">
          <a:blip r:embed="rId5">
            <a:alphaModFix/>
          </a:blip>
          <a:srcRect b="23460" l="12334" r="51937" t="41289"/>
          <a:stretch/>
        </p:blipFill>
        <p:spPr>
          <a:xfrm>
            <a:off x="3883025" y="2430700"/>
            <a:ext cx="2026825" cy="1899850"/>
          </a:xfrm>
          <a:prstGeom prst="rect">
            <a:avLst/>
          </a:prstGeom>
          <a:noFill/>
          <a:ln>
            <a:noFill/>
          </a:ln>
        </p:spPr>
      </p:pic>
      <p:pic>
        <p:nvPicPr>
          <p:cNvPr id="322" name="Google Shape;322;p51" title="image_386b16d0-7734-42a0-ae94-51630e6d0d3a_700x700.png"/>
          <p:cNvPicPr preferRelativeResize="0"/>
          <p:nvPr/>
        </p:nvPicPr>
        <p:blipFill>
          <a:blip r:embed="rId6">
            <a:alphaModFix/>
          </a:blip>
          <a:stretch>
            <a:fillRect/>
          </a:stretch>
        </p:blipFill>
        <p:spPr>
          <a:xfrm>
            <a:off x="708450" y="4040875"/>
            <a:ext cx="2554526" cy="2554526"/>
          </a:xfrm>
          <a:prstGeom prst="rect">
            <a:avLst/>
          </a:prstGeom>
          <a:noFill/>
          <a:ln>
            <a:noFill/>
          </a:ln>
        </p:spPr>
      </p:pic>
      <p:sp>
        <p:nvSpPr>
          <p:cNvPr id="323" name="Google Shape;323;p51"/>
          <p:cNvSpPr/>
          <p:nvPr/>
        </p:nvSpPr>
        <p:spPr>
          <a:xfrm>
            <a:off x="4435100" y="5450775"/>
            <a:ext cx="1615200" cy="4380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t>Connect me!</a:t>
            </a:r>
            <a:endParaRPr sz="17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2"/>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Accelerometer device driver</a:t>
            </a:r>
            <a:endParaRPr/>
          </a:p>
        </p:txBody>
      </p:sp>
      <p:sp>
        <p:nvSpPr>
          <p:cNvPr id="329" name="Google Shape;329;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p53"/>
          <p:cNvPicPr preferRelativeResize="0"/>
          <p:nvPr/>
        </p:nvPicPr>
        <p:blipFill>
          <a:blip r:embed="rId3">
            <a:alphaModFix/>
          </a:blip>
          <a:stretch>
            <a:fillRect/>
          </a:stretch>
        </p:blipFill>
        <p:spPr>
          <a:xfrm>
            <a:off x="162700" y="1116525"/>
            <a:ext cx="8174648" cy="5693899"/>
          </a:xfrm>
          <a:prstGeom prst="rect">
            <a:avLst/>
          </a:prstGeom>
          <a:noFill/>
          <a:ln>
            <a:noFill/>
          </a:ln>
        </p:spPr>
      </p:pic>
      <p:sp>
        <p:nvSpPr>
          <p:cNvPr id="335" name="Google Shape;335;p53"/>
          <p:cNvSpPr txBox="1"/>
          <p:nvPr>
            <p:ph type="title"/>
          </p:nvPr>
        </p:nvSpPr>
        <p:spPr>
          <a:xfrm>
            <a:off x="311700" y="4409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Firmware design layers</a:t>
            </a:r>
            <a:endParaRPr/>
          </a:p>
        </p:txBody>
      </p:sp>
      <p:sp>
        <p:nvSpPr>
          <p:cNvPr id="336" name="Google Shape;336;p53"/>
          <p:cNvSpPr txBox="1"/>
          <p:nvPr/>
        </p:nvSpPr>
        <p:spPr>
          <a:xfrm>
            <a:off x="3098600" y="6074200"/>
            <a:ext cx="4862700" cy="43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90000"/>
                </a:solidFill>
              </a:rPr>
              <a:t>PHYSICAL CONNECTIONS (I/O PORTS)</a:t>
            </a:r>
            <a:endParaRPr sz="1600">
              <a:solidFill>
                <a:srgbClr val="990000"/>
              </a:solidFill>
            </a:endParaRPr>
          </a:p>
        </p:txBody>
      </p:sp>
      <p:sp>
        <p:nvSpPr>
          <p:cNvPr id="337" name="Google Shape;337;p53"/>
          <p:cNvSpPr txBox="1"/>
          <p:nvPr/>
        </p:nvSpPr>
        <p:spPr>
          <a:xfrm>
            <a:off x="6793500" y="3521250"/>
            <a:ext cx="23070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90000"/>
                </a:solidFill>
              </a:rPr>
              <a:t>INTERFACE DRIVERS Access machine registers</a:t>
            </a:r>
            <a:endParaRPr sz="1600">
              <a:solidFill>
                <a:srgbClr val="990000"/>
              </a:solidFill>
            </a:endParaRPr>
          </a:p>
        </p:txBody>
      </p:sp>
      <p:sp>
        <p:nvSpPr>
          <p:cNvPr id="338" name="Google Shape;338;p53"/>
          <p:cNvSpPr txBox="1"/>
          <p:nvPr/>
        </p:nvSpPr>
        <p:spPr>
          <a:xfrm>
            <a:off x="4822200" y="2437100"/>
            <a:ext cx="4246800" cy="91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DEVICE DRIVERS / APIs</a:t>
            </a:r>
            <a:endParaRPr sz="1600">
              <a:solidFill>
                <a:srgbClr val="0000FF"/>
              </a:solidFill>
            </a:endParaRPr>
          </a:p>
          <a:p>
            <a:pPr indent="0" lvl="0" marL="0" rtl="0" algn="ctr">
              <a:spcBef>
                <a:spcPts val="0"/>
              </a:spcBef>
              <a:spcAft>
                <a:spcPts val="0"/>
              </a:spcAft>
              <a:buNone/>
            </a:pPr>
            <a:r>
              <a:rPr lang="en" sz="1600">
                <a:solidFill>
                  <a:srgbClr val="0000FF"/>
                </a:solidFill>
              </a:rPr>
              <a:t>Access device registers via interface drivers</a:t>
            </a:r>
            <a:endParaRPr sz="1600">
              <a:solidFill>
                <a:srgbClr val="0000FF"/>
              </a:solidFill>
            </a:endParaRPr>
          </a:p>
          <a:p>
            <a:pPr indent="0" lvl="0" marL="0" rtl="0" algn="ctr">
              <a:spcBef>
                <a:spcPts val="0"/>
              </a:spcBef>
              <a:spcAft>
                <a:spcPts val="0"/>
              </a:spcAft>
              <a:buNone/>
            </a:pPr>
            <a:r>
              <a:rPr lang="en" sz="1600">
                <a:solidFill>
                  <a:srgbClr val="0000FF"/>
                </a:solidFill>
              </a:rPr>
              <a:t>Don’t directly access machine registers</a:t>
            </a:r>
            <a:endParaRPr sz="1600">
              <a:solidFill>
                <a:srgbClr val="0000FF"/>
              </a:solidFill>
            </a:endParaRPr>
          </a:p>
        </p:txBody>
      </p:sp>
      <p:sp>
        <p:nvSpPr>
          <p:cNvPr id="339" name="Google Shape;339;p53"/>
          <p:cNvSpPr txBox="1"/>
          <p:nvPr/>
        </p:nvSpPr>
        <p:spPr>
          <a:xfrm>
            <a:off x="5822400" y="912800"/>
            <a:ext cx="3278100" cy="12957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990000"/>
                </a:solidFill>
              </a:rPr>
              <a:t>TOP LEVEL CODE</a:t>
            </a:r>
            <a:endParaRPr sz="1600">
              <a:solidFill>
                <a:srgbClr val="990000"/>
              </a:solidFill>
            </a:endParaRPr>
          </a:p>
          <a:p>
            <a:pPr indent="0" lvl="0" marL="0" rtl="0" algn="ctr">
              <a:spcBef>
                <a:spcPts val="0"/>
              </a:spcBef>
              <a:spcAft>
                <a:spcPts val="0"/>
              </a:spcAft>
              <a:buNone/>
            </a:pPr>
            <a:r>
              <a:rPr lang="en" sz="1600">
                <a:solidFill>
                  <a:srgbClr val="990000"/>
                </a:solidFill>
              </a:rPr>
              <a:t>Access devices via drivers / APIs</a:t>
            </a:r>
            <a:endParaRPr sz="1600">
              <a:solidFill>
                <a:srgbClr val="990000"/>
              </a:solidFill>
            </a:endParaRPr>
          </a:p>
          <a:p>
            <a:pPr indent="0" lvl="0" marL="0" rtl="0" algn="ctr">
              <a:spcBef>
                <a:spcPts val="0"/>
              </a:spcBef>
              <a:spcAft>
                <a:spcPts val="0"/>
              </a:spcAft>
              <a:buNone/>
            </a:pPr>
            <a:r>
              <a:rPr lang="en" sz="1600">
                <a:solidFill>
                  <a:srgbClr val="990000"/>
                </a:solidFill>
              </a:rPr>
              <a:t>Don’t directly access device registers or machine registers.</a:t>
            </a:r>
            <a:endParaRPr sz="1600">
              <a:solidFill>
                <a:srgbClr val="990000"/>
              </a:solidFill>
            </a:endParaRPr>
          </a:p>
        </p:txBody>
      </p:sp>
      <p:sp>
        <p:nvSpPr>
          <p:cNvPr id="340" name="Google Shape;340;p53"/>
          <p:cNvSpPr txBox="1"/>
          <p:nvPr/>
        </p:nvSpPr>
        <p:spPr>
          <a:xfrm>
            <a:off x="3304975" y="685275"/>
            <a:ext cx="4111500" cy="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3"/>
          <p:cNvSpPr txBox="1"/>
          <p:nvPr/>
        </p:nvSpPr>
        <p:spPr>
          <a:xfrm>
            <a:off x="3249175" y="2690625"/>
            <a:ext cx="675600" cy="184800"/>
          </a:xfrm>
          <a:prstGeom prst="rect">
            <a:avLst/>
          </a:prstGeom>
          <a:solidFill>
            <a:schemeClr val="lt1"/>
          </a:solidFill>
          <a:ln>
            <a:noFill/>
          </a:ln>
        </p:spPr>
        <p:txBody>
          <a:bodyPr anchorCtr="0" anchor="t" bIns="0" lIns="0" spcFirstLastPara="1" rIns="0" wrap="square" tIns="0">
            <a:spAutoFit/>
          </a:bodyPr>
          <a:lstStyle/>
          <a:p>
            <a:pPr indent="0" lvl="0" marL="91440" rtl="0" algn="l">
              <a:spcBef>
                <a:spcPts val="0"/>
              </a:spcBef>
              <a:spcAft>
                <a:spcPts val="0"/>
              </a:spcAft>
              <a:buNone/>
            </a:pPr>
            <a:r>
              <a:rPr lang="en" sz="1200">
                <a:solidFill>
                  <a:srgbClr val="0000FF"/>
                </a:solidFill>
              </a:rPr>
              <a:t>stdio.c</a:t>
            </a:r>
            <a:endParaRPr sz="1200">
              <a:solidFill>
                <a:srgbClr val="0000FF"/>
              </a:solidFill>
            </a:endParaRPr>
          </a:p>
        </p:txBody>
      </p:sp>
      <p:sp>
        <p:nvSpPr>
          <p:cNvPr id="342" name="Google Shape;342;p53"/>
          <p:cNvSpPr txBox="1"/>
          <p:nvPr/>
        </p:nvSpPr>
        <p:spPr>
          <a:xfrm>
            <a:off x="3249175" y="2939050"/>
            <a:ext cx="765300" cy="184800"/>
          </a:xfrm>
          <a:prstGeom prst="rect">
            <a:avLst/>
          </a:prstGeom>
          <a:solidFill>
            <a:schemeClr val="lt1"/>
          </a:solidFill>
          <a:ln>
            <a:noFill/>
          </a:ln>
        </p:spPr>
        <p:txBody>
          <a:bodyPr anchorCtr="0" anchor="t" bIns="0" lIns="0" spcFirstLastPara="1" rIns="0" wrap="square" tIns="0">
            <a:spAutoFit/>
          </a:bodyPr>
          <a:lstStyle/>
          <a:p>
            <a:pPr indent="0" lvl="0" marL="91440" marR="91440" rtl="0" algn="l">
              <a:spcBef>
                <a:spcPts val="0"/>
              </a:spcBef>
              <a:spcAft>
                <a:spcPts val="0"/>
              </a:spcAft>
              <a:buNone/>
            </a:pPr>
            <a:r>
              <a:rPr lang="en" sz="1200">
                <a:solidFill>
                  <a:srgbClr val="0000E6"/>
                </a:solidFill>
              </a:rPr>
              <a:t>stdio.h</a:t>
            </a:r>
            <a:endParaRPr sz="1200">
              <a:solidFill>
                <a:srgbClr val="0000E6"/>
              </a:solidFill>
            </a:endParaRPr>
          </a:p>
        </p:txBody>
      </p:sp>
      <p:sp>
        <p:nvSpPr>
          <p:cNvPr id="343" name="Google Shape;343;p53"/>
          <p:cNvSpPr txBox="1"/>
          <p:nvPr/>
        </p:nvSpPr>
        <p:spPr>
          <a:xfrm>
            <a:off x="3065850" y="3762225"/>
            <a:ext cx="1057800" cy="184800"/>
          </a:xfrm>
          <a:prstGeom prst="rect">
            <a:avLst/>
          </a:prstGeom>
          <a:solidFill>
            <a:schemeClr val="lt1"/>
          </a:solidFill>
          <a:ln>
            <a:noFill/>
          </a:ln>
        </p:spPr>
        <p:txBody>
          <a:bodyPr anchorCtr="0" anchor="t" bIns="0" lIns="0" spcFirstLastPara="1" rIns="0" wrap="square" tIns="0">
            <a:spAutoFit/>
          </a:bodyPr>
          <a:lstStyle/>
          <a:p>
            <a:pPr indent="0" lvl="0" marL="91440" rtl="0" algn="ctr">
              <a:spcBef>
                <a:spcPts val="0"/>
              </a:spcBef>
              <a:spcAft>
                <a:spcPts val="0"/>
              </a:spcAft>
              <a:buNone/>
            </a:pPr>
            <a:r>
              <a:rPr lang="en" sz="1200">
                <a:solidFill>
                  <a:schemeClr val="dk1"/>
                </a:solidFill>
              </a:rPr>
              <a:t>uart.c</a:t>
            </a:r>
            <a:endParaRPr sz="1200">
              <a:solidFill>
                <a:schemeClr val="dk1"/>
              </a:solidFill>
            </a:endParaRPr>
          </a:p>
        </p:txBody>
      </p:sp>
      <p:sp>
        <p:nvSpPr>
          <p:cNvPr id="344" name="Google Shape;344;p53"/>
          <p:cNvSpPr txBox="1"/>
          <p:nvPr/>
        </p:nvSpPr>
        <p:spPr>
          <a:xfrm>
            <a:off x="3065850" y="3986550"/>
            <a:ext cx="1057800" cy="184800"/>
          </a:xfrm>
          <a:prstGeom prst="rect">
            <a:avLst/>
          </a:prstGeom>
          <a:solidFill>
            <a:schemeClr val="lt1"/>
          </a:solidFill>
          <a:ln>
            <a:noFill/>
          </a:ln>
        </p:spPr>
        <p:txBody>
          <a:bodyPr anchorCtr="0" anchor="t" bIns="0" lIns="0" spcFirstLastPara="1" rIns="0" wrap="square" tIns="0">
            <a:spAutoFit/>
          </a:bodyPr>
          <a:lstStyle/>
          <a:p>
            <a:pPr indent="0" lvl="0" marL="91440" rtl="0" algn="ctr">
              <a:spcBef>
                <a:spcPts val="0"/>
              </a:spcBef>
              <a:spcAft>
                <a:spcPts val="0"/>
              </a:spcAft>
              <a:buNone/>
            </a:pPr>
            <a:r>
              <a:rPr lang="en" sz="1200">
                <a:solidFill>
                  <a:schemeClr val="dk1"/>
                </a:solidFill>
              </a:rPr>
              <a:t>uart.h</a:t>
            </a:r>
            <a:endParaRPr sz="1200">
              <a:solidFill>
                <a:schemeClr val="dk1"/>
              </a:solidFill>
            </a:endParaRPr>
          </a:p>
        </p:txBody>
      </p:sp>
      <p:sp>
        <p:nvSpPr>
          <p:cNvPr id="345" name="Google Shape;345;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Writing a device driver</a:t>
            </a:r>
            <a:endParaRPr/>
          </a:p>
        </p:txBody>
      </p:sp>
      <p:sp>
        <p:nvSpPr>
          <p:cNvPr id="351" name="Google Shape;351;p5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1000"/>
              </a:spcBef>
              <a:spcAft>
                <a:spcPts val="0"/>
              </a:spcAft>
              <a:buSzPts val="1800"/>
              <a:buAutoNum type="arabicPeriod"/>
            </a:pPr>
            <a:r>
              <a:rPr lang="en"/>
              <a:t>From data sheet, understand the basic I</a:t>
            </a:r>
            <a:r>
              <a:rPr baseline="30000" lang="en"/>
              <a:t>2</a:t>
            </a:r>
            <a:r>
              <a:rPr lang="en"/>
              <a:t>C transfers for reading and writing.</a:t>
            </a:r>
            <a:endParaRPr/>
          </a:p>
          <a:p>
            <a:pPr indent="-342900" lvl="0" marL="457200" rtl="0" algn="l">
              <a:spcBef>
                <a:spcPts val="1000"/>
              </a:spcBef>
              <a:spcAft>
                <a:spcPts val="0"/>
              </a:spcAft>
              <a:buSzPts val="1800"/>
              <a:buAutoNum type="arabicPeriod"/>
            </a:pPr>
            <a:r>
              <a:rPr lang="en"/>
              <a:t>From the data sheet, #define basic addresses / commands</a:t>
            </a:r>
            <a:endParaRPr/>
          </a:p>
          <a:p>
            <a:pPr indent="-342900" lvl="0" marL="457200" rtl="0" algn="l">
              <a:spcBef>
                <a:spcPts val="1000"/>
              </a:spcBef>
              <a:spcAft>
                <a:spcPts val="0"/>
              </a:spcAft>
              <a:buSzPts val="1800"/>
              <a:buAutoNum type="arabicPeriod"/>
            </a:pPr>
            <a:r>
              <a:rPr lang="en"/>
              <a:t>Define functions to implement actions</a:t>
            </a:r>
            <a:endParaRPr/>
          </a:p>
          <a:p>
            <a:pPr indent="-342900" lvl="0" marL="457200" rtl="0" algn="l">
              <a:spcBef>
                <a:spcPts val="1000"/>
              </a:spcBef>
              <a:spcAft>
                <a:spcPts val="0"/>
              </a:spcAft>
              <a:buSzPts val="1800"/>
              <a:buAutoNum type="arabicPeriod"/>
            </a:pPr>
            <a:r>
              <a:rPr lang="en"/>
              <a:t>Write functions using i2c functions to send commands &amp; data</a:t>
            </a:r>
            <a:endParaRPr/>
          </a:p>
          <a:p>
            <a:pPr indent="-342900" lvl="0" marL="457200" rtl="0" algn="l">
              <a:spcBef>
                <a:spcPts val="1000"/>
              </a:spcBef>
              <a:spcAft>
                <a:spcPts val="0"/>
              </a:spcAft>
              <a:buSzPts val="1800"/>
              <a:buAutoNum type="arabicPeriod"/>
            </a:pPr>
            <a:r>
              <a:rPr lang="en"/>
              <a:t>Devise Unit Tests to confirm the drivers are working</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352" name="Google Shape;352;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54"/>
          <p:cNvSpPr txBox="1"/>
          <p:nvPr/>
        </p:nvSpPr>
        <p:spPr>
          <a:xfrm>
            <a:off x="7284300" y="2245625"/>
            <a:ext cx="1548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Done (see lsm303agr.h on Canvas).</a:t>
            </a:r>
            <a:endParaRPr>
              <a:solidFill>
                <a:srgbClr val="0000FF"/>
              </a:solidFill>
            </a:endParaRPr>
          </a:p>
        </p:txBody>
      </p:sp>
      <p:cxnSp>
        <p:nvCxnSpPr>
          <p:cNvPr id="354" name="Google Shape;354;p54"/>
          <p:cNvCxnSpPr>
            <a:stCxn id="353" idx="1"/>
          </p:cNvCxnSpPr>
          <p:nvPr/>
        </p:nvCxnSpPr>
        <p:spPr>
          <a:xfrm rot="10800000">
            <a:off x="6911400" y="2389775"/>
            <a:ext cx="372900" cy="271500"/>
          </a:xfrm>
          <a:prstGeom prst="straightConnector1">
            <a:avLst/>
          </a:prstGeom>
          <a:noFill/>
          <a:ln cap="flat" cmpd="sng" w="19050">
            <a:solidFill>
              <a:srgbClr val="0000FF"/>
            </a:solidFill>
            <a:prstDash val="solid"/>
            <a:round/>
            <a:headEnd len="med" w="med" type="none"/>
            <a:tailEnd len="med" w="med" type="triangl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5"/>
          <p:cNvSpPr txBox="1"/>
          <p:nvPr>
            <p:ph type="title"/>
          </p:nvPr>
        </p:nvSpPr>
        <p:spPr>
          <a:xfrm>
            <a:off x="152400" y="593375"/>
            <a:ext cx="86799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baseline="30000" lang="en"/>
              <a:t>2</a:t>
            </a:r>
            <a:r>
              <a:rPr lang="en"/>
              <a:t>C transfers, Controller (MCU) ⟷ Peripheral (sensor) </a:t>
            </a:r>
            <a:endParaRPr/>
          </a:p>
        </p:txBody>
      </p:sp>
      <p:pic>
        <p:nvPicPr>
          <p:cNvPr id="360" name="Google Shape;360;p55"/>
          <p:cNvPicPr preferRelativeResize="0"/>
          <p:nvPr/>
        </p:nvPicPr>
        <p:blipFill>
          <a:blip r:embed="rId3">
            <a:alphaModFix/>
          </a:blip>
          <a:stretch>
            <a:fillRect/>
          </a:stretch>
        </p:blipFill>
        <p:spPr>
          <a:xfrm>
            <a:off x="152400" y="1509267"/>
            <a:ext cx="8839199" cy="5000895"/>
          </a:xfrm>
          <a:prstGeom prst="rect">
            <a:avLst/>
          </a:prstGeom>
          <a:noFill/>
          <a:ln>
            <a:noFill/>
          </a:ln>
        </p:spPr>
      </p:pic>
      <p:sp>
        <p:nvSpPr>
          <p:cNvPr id="361" name="Google Shape;361;p55"/>
          <p:cNvSpPr txBox="1"/>
          <p:nvPr/>
        </p:nvSpPr>
        <p:spPr>
          <a:xfrm>
            <a:off x="1502075" y="2430700"/>
            <a:ext cx="73110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start         sensor addr         ACK       subaddr        ACK             byte            ACK          stop</a:t>
            </a:r>
            <a:r>
              <a:rPr lang="en"/>
              <a:t>    </a:t>
            </a:r>
            <a:endParaRPr/>
          </a:p>
        </p:txBody>
      </p:sp>
      <p:sp>
        <p:nvSpPr>
          <p:cNvPr id="362" name="Google Shape;362;p55"/>
          <p:cNvSpPr txBox="1"/>
          <p:nvPr/>
        </p:nvSpPr>
        <p:spPr>
          <a:xfrm>
            <a:off x="1144950" y="4885575"/>
            <a:ext cx="78000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start   sensor addr  ACK   subaddr   ACK    start  sensor addr   ACK       byte        NACK     stop</a:t>
            </a:r>
            <a:r>
              <a:rPr lang="en"/>
              <a:t>    </a:t>
            </a:r>
            <a:endParaRPr/>
          </a:p>
        </p:txBody>
      </p:sp>
      <p:sp>
        <p:nvSpPr>
          <p:cNvPr id="363" name="Google Shape;363;p55"/>
          <p:cNvSpPr txBox="1"/>
          <p:nvPr/>
        </p:nvSpPr>
        <p:spPr>
          <a:xfrm>
            <a:off x="2491050" y="6330175"/>
            <a:ext cx="5733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Subaddress autoincrements for multiple reads, see Sec 6.1.1</a:t>
            </a:r>
            <a:endParaRPr i="1">
              <a:solidFill>
                <a:srgbClr val="980000"/>
              </a:solidFill>
            </a:endParaRPr>
          </a:p>
        </p:txBody>
      </p:sp>
      <p:sp>
        <p:nvSpPr>
          <p:cNvPr id="364" name="Google Shape;364;p55"/>
          <p:cNvSpPr txBox="1"/>
          <p:nvPr/>
        </p:nvSpPr>
        <p:spPr>
          <a:xfrm>
            <a:off x="3599250" y="3659975"/>
            <a:ext cx="5733900" cy="42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980000"/>
                </a:solidFill>
              </a:rPr>
              <a:t>Subaddress autoincrements for multiple writes, see Sec 6.1.1</a:t>
            </a:r>
            <a:endParaRPr i="1">
              <a:solidFill>
                <a:srgbClr val="980000"/>
              </a:solidFill>
            </a:endParaRPr>
          </a:p>
        </p:txBody>
      </p:sp>
      <p:sp>
        <p:nvSpPr>
          <p:cNvPr id="365" name="Google Shape;365;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6"/>
          <p:cNvSpPr txBox="1"/>
          <p:nvPr>
            <p:ph type="title"/>
          </p:nvPr>
        </p:nvSpPr>
        <p:spPr>
          <a:xfrm>
            <a:off x="311700" y="250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header file, lsm303agr.h</a:t>
            </a:r>
            <a:endParaRPr/>
          </a:p>
        </p:txBody>
      </p:sp>
      <p:sp>
        <p:nvSpPr>
          <p:cNvPr id="371" name="Google Shape;371;p56"/>
          <p:cNvSpPr txBox="1"/>
          <p:nvPr>
            <p:ph idx="1" type="body"/>
          </p:nvPr>
        </p:nvSpPr>
        <p:spPr>
          <a:xfrm>
            <a:off x="311700" y="1186350"/>
            <a:ext cx="8520600" cy="543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Includes macros and addresses for all the registers, e.g.,</a:t>
            </a:r>
            <a:endParaRPr/>
          </a:p>
          <a:p>
            <a:pPr indent="0" lvl="0" marL="0" rtl="0" algn="l">
              <a:lnSpc>
                <a:spcPct val="115000"/>
              </a:lnSpc>
              <a:spcBef>
                <a:spcPts val="1600"/>
              </a:spcBef>
              <a:spcAft>
                <a:spcPts val="0"/>
              </a:spcAft>
              <a:buNone/>
            </a:pPr>
            <a:r>
              <a:rPr lang="en" sz="1200">
                <a:latin typeface="Courier New"/>
                <a:ea typeface="Courier New"/>
                <a:cs typeface="Courier New"/>
                <a:sym typeface="Courier New"/>
              </a:rPr>
              <a:t>#define LSM303_ADDRESS_ACCEL    (0x32 &gt;&gt; 1) 				// append r/w bit</a:t>
            </a:r>
            <a:endParaRPr sz="1200">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NAME					ADDR		   		        DEFAULT    TYPE</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LSM303_WHO_AM_I_A   		0x0F      			// 00110011   r</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LSM303_CTRL_REG1_A     	0x20   				// 00000111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LSM303_CTRL_REG2_A     	0x21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LSM303_CTRL_REG3_A     	0x22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LSM303_CTRL_REG4_A     	0x23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LSM303_CTRL_REG5_A     	0x24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LSM303_CTRL_REG6_A     	0x25   				// 00000000   rw</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LSM303_REFERENCE_A     	0x26   				// 00000000   r</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LSM303_STATUS_REG_A    	0x27   				// 00000000   r</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LSM303_OUT_X_L_A       	0x28</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LSM303_OUT_X_H_A       	0x29</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LSM303_OUT_Y_L_A       	0x2A</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LSM303_OUT_Y_H_A       	0x2B</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LSM303_OUT_Z_L_A       	0x2C</a:t>
            </a:r>
            <a:endParaRPr sz="120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 sz="1200">
                <a:latin typeface="Courier New"/>
                <a:ea typeface="Courier New"/>
                <a:cs typeface="Courier New"/>
                <a:sym typeface="Courier New"/>
              </a:rPr>
              <a:t>#define LSM303_OUT_Z_H_A       	0x2D</a:t>
            </a:r>
            <a:endParaRPr sz="1200">
              <a:latin typeface="Courier New"/>
              <a:ea typeface="Courier New"/>
              <a:cs typeface="Courier New"/>
              <a:sym typeface="Courier New"/>
            </a:endParaRPr>
          </a:p>
          <a:p>
            <a:pPr indent="0" lvl="0" marL="0" rtl="0" algn="l">
              <a:spcBef>
                <a:spcPts val="0"/>
              </a:spcBef>
              <a:spcAft>
                <a:spcPts val="0"/>
              </a:spcAft>
              <a:buNone/>
            </a:pPr>
            <a:r>
              <a:t/>
            </a:r>
            <a:endParaRPr sz="1200"/>
          </a:p>
          <a:p>
            <a:pPr indent="0" lvl="0" marL="0" rtl="0" algn="l">
              <a:spcBef>
                <a:spcPts val="1600"/>
              </a:spcBef>
              <a:spcAft>
                <a:spcPts val="1600"/>
              </a:spcAft>
              <a:buNone/>
            </a:pPr>
            <a:r>
              <a:rPr lang="en"/>
              <a:t>Download </a:t>
            </a:r>
            <a:r>
              <a:rPr b="1" lang="en">
                <a:solidFill>
                  <a:srgbClr val="0000FF"/>
                </a:solidFill>
                <a:latin typeface="Courier New"/>
                <a:ea typeface="Courier New"/>
                <a:cs typeface="Courier New"/>
                <a:sym typeface="Courier New"/>
              </a:rPr>
              <a:t>lsm303agr.h</a:t>
            </a:r>
            <a:r>
              <a:rPr lang="en"/>
              <a:t> and put it into your </a:t>
            </a:r>
            <a:r>
              <a:rPr b="1" lang="en">
                <a:solidFill>
                  <a:srgbClr val="0000FF"/>
                </a:solidFill>
              </a:rPr>
              <a:t>mylib </a:t>
            </a:r>
            <a:r>
              <a:rPr lang="en">
                <a:solidFill>
                  <a:schemeClr val="dk1"/>
                </a:solidFill>
              </a:rPr>
              <a:t>folder.</a:t>
            </a:r>
            <a:endParaRPr>
              <a:solidFill>
                <a:schemeClr val="dk1"/>
              </a:solidFill>
            </a:endParaRPr>
          </a:p>
        </p:txBody>
      </p:sp>
      <p:sp>
        <p:nvSpPr>
          <p:cNvPr id="372" name="Google Shape;372;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Device driver function prototypes</a:t>
            </a:r>
            <a:endParaRPr/>
          </a:p>
        </p:txBody>
      </p:sp>
      <p:sp>
        <p:nvSpPr>
          <p:cNvPr id="378" name="Google Shape;378;p5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Names are borrowed from Adafruit’s driver for the Arduino</a:t>
            </a:r>
            <a:endParaRPr sz="16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The accelerometer has several gain and update rate settings.  These are described</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in Section 7.1 of the datasheet and are set up in the AccelInit function.</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int lsm303_AccelInit();</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The AccelRegisterWrite function should take a register address and a command byte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to be written into the register.</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void lsm303_AccelRegisterWrite(uint8_t RegisterAddress, uint8_t data);</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The AccelRegisterRead function should take a register address and return a data byte</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read from the register.</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200">
                <a:latin typeface="Courier New"/>
                <a:ea typeface="Courier New"/>
                <a:cs typeface="Courier New"/>
                <a:sym typeface="Courier New"/>
              </a:rPr>
              <a:t>uint8_t lsm303_AccelRegisterRead(uint8_t RegisterAddress);</a:t>
            </a:r>
            <a:endParaRPr b="1"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Here is the higher-level function to read the acceleration vector.  Output struct</a:t>
            </a:r>
            <a:endParaRPr sz="12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200">
                <a:latin typeface="Courier New"/>
                <a:ea typeface="Courier New"/>
                <a:cs typeface="Courier New"/>
                <a:sym typeface="Courier New"/>
              </a:rPr>
              <a:t>// contains raw (unscaled) acceleration values.</a:t>
            </a:r>
            <a:endParaRPr sz="1200">
              <a:latin typeface="Courier New"/>
              <a:ea typeface="Courier New"/>
              <a:cs typeface="Courier New"/>
              <a:sym typeface="Courier New"/>
            </a:endParaRPr>
          </a:p>
          <a:p>
            <a:pPr indent="0" lvl="0" marL="0" rtl="0" algn="l">
              <a:spcBef>
                <a:spcPts val="0"/>
              </a:spcBef>
              <a:spcAft>
                <a:spcPts val="0"/>
              </a:spcAft>
              <a:buNone/>
            </a:pPr>
            <a:r>
              <a:rPr b="1" lang="en" sz="1200">
                <a:latin typeface="Courier New"/>
                <a:ea typeface="Courier New"/>
                <a:cs typeface="Courier New"/>
                <a:sym typeface="Courier New"/>
              </a:rPr>
              <a:t>void lsm303_AccelReadRaw(lsm303AccelData_s *result);</a:t>
            </a:r>
            <a:endParaRPr b="1" sz="1200">
              <a:latin typeface="Courier New"/>
              <a:ea typeface="Courier New"/>
              <a:cs typeface="Courier New"/>
              <a:sym typeface="Courier New"/>
            </a:endParaRPr>
          </a:p>
        </p:txBody>
      </p:sp>
      <p:sp>
        <p:nvSpPr>
          <p:cNvPr id="379" name="Google Shape;379;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for Thursday</a:t>
            </a:r>
            <a:endParaRPr/>
          </a:p>
        </p:txBody>
      </p:sp>
      <p:sp>
        <p:nvSpPr>
          <p:cNvPr id="385" name="Google Shape;385;p5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600"/>
              </a:spcBef>
              <a:spcAft>
                <a:spcPts val="0"/>
              </a:spcAft>
              <a:buNone/>
            </a:pPr>
            <a:r>
              <a:rPr lang="en"/>
              <a:t>Do the accelerometer readings on the daily page.</a:t>
            </a:r>
            <a:endParaRPr/>
          </a:p>
          <a:p>
            <a:pPr indent="0" lvl="0" marL="0" rtl="0" algn="l">
              <a:spcBef>
                <a:spcPts val="1600"/>
              </a:spcBef>
              <a:spcAft>
                <a:spcPts val="0"/>
              </a:spcAft>
              <a:buNone/>
            </a:pPr>
            <a:r>
              <a:rPr lang="en"/>
              <a:t>On paper, write </a:t>
            </a:r>
            <a:r>
              <a:rPr b="1" lang="en">
                <a:solidFill>
                  <a:srgbClr val="0000FF"/>
                </a:solidFill>
                <a:latin typeface="Courier New"/>
                <a:ea typeface="Courier New"/>
                <a:cs typeface="Courier New"/>
                <a:sym typeface="Courier New"/>
              </a:rPr>
              <a:t>lsm303_AccelRegisterWrite()</a:t>
            </a:r>
            <a:r>
              <a:rPr lang="en"/>
              <a:t>.  (Mimic the read function.)</a:t>
            </a:r>
            <a:endParaRPr/>
          </a:p>
          <a:p>
            <a:pPr indent="0" lvl="0" marL="0" rtl="0" algn="l">
              <a:spcBef>
                <a:spcPts val="1600"/>
              </a:spcBef>
              <a:spcAft>
                <a:spcPts val="0"/>
              </a:spcAft>
              <a:buNone/>
            </a:pPr>
            <a:r>
              <a:rPr lang="en"/>
              <a:t>What are the settings you need to put into </a:t>
            </a:r>
            <a:r>
              <a:rPr b="1" lang="en">
                <a:solidFill>
                  <a:srgbClr val="0000FF"/>
                </a:solidFill>
                <a:latin typeface="Courier New"/>
                <a:ea typeface="Courier New"/>
                <a:cs typeface="Courier New"/>
                <a:sym typeface="Courier New"/>
              </a:rPr>
              <a:t>lsm303_AccelInit()</a:t>
            </a:r>
            <a:r>
              <a:rPr lang="en"/>
              <a:t>? Take notes on paper.</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Wednesday and Thursday: We’ll get some acceleration data out of the sensor, and then use it in Lab 7.</a:t>
            </a:r>
            <a:endParaRPr/>
          </a:p>
        </p:txBody>
      </p:sp>
      <p:sp>
        <p:nvSpPr>
          <p:cNvPr id="386" name="Google Shape;386;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