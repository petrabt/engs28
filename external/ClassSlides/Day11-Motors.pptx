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6858000" cx="9144000"/>
  <p:notesSz cx="6858000" cy="9144000"/>
  <p:embeddedFontLst>
    <p:embeddedFont>
      <p:font typeface="Palatino Linotype"/>
      <p:regular r:id="rId36"/>
      <p:bold r:id="rId37"/>
      <p:italic r:id="rId38"/>
      <p:boldItalic r:id="rId39"/>
    </p:embeddedFont>
    <p:embeddedFont>
      <p:font typeface="Helvetica Neue"/>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C37A190-DA95-4763-B8FC-F39FC48309CF}">
  <a:tblStyle styleId="{1C37A190-DA95-4763-B8FC-F39FC48309C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HelveticaNeue-regular.fntdata"/><Relationship Id="rId20" Type="http://schemas.openxmlformats.org/officeDocument/2006/relationships/slide" Target="slides/slide15.xml"/><Relationship Id="rId42" Type="http://schemas.openxmlformats.org/officeDocument/2006/relationships/font" Target="fonts/HelveticaNeue-italic.fntdata"/><Relationship Id="rId41" Type="http://schemas.openxmlformats.org/officeDocument/2006/relationships/font" Target="fonts/HelveticaNeue-bold.fntdata"/><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font" Target="fonts/HelveticaNeue-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PalatinoLinotype-bold.fntdata"/><Relationship Id="rId14" Type="http://schemas.openxmlformats.org/officeDocument/2006/relationships/slide" Target="slides/slide9.xml"/><Relationship Id="rId36" Type="http://schemas.openxmlformats.org/officeDocument/2006/relationships/font" Target="fonts/PalatinoLinotype-regular.fntdata"/><Relationship Id="rId17" Type="http://schemas.openxmlformats.org/officeDocument/2006/relationships/slide" Target="slides/slide12.xml"/><Relationship Id="rId39" Type="http://schemas.openxmlformats.org/officeDocument/2006/relationships/font" Target="fonts/PalatinoLinotype-boldItalic.fntdata"/><Relationship Id="rId16" Type="http://schemas.openxmlformats.org/officeDocument/2006/relationships/slide" Target="slides/slide11.xml"/><Relationship Id="rId38" Type="http://schemas.openxmlformats.org/officeDocument/2006/relationships/font" Target="fonts/PalatinoLinotype-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4e32faedb7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4e32faed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111e2377659_0_22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111e2377659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11e2377659_0_23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111e2377659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We've been spending time on the input side (sensors, switches), and we started talking about some outputs (displays). Today we'll focus on actuators.</a:t>
            </a:r>
            <a:endParaRPr sz="14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111e2377659_0_24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111e2377659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11e2377659_0_3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11e2377659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This kind of runs in reverse to the sensor chain:</a:t>
            </a:r>
            <a:endParaRPr sz="1400"/>
          </a:p>
          <a:p>
            <a:pPr indent="0" lvl="0" marL="0" rtl="0" algn="l">
              <a:spcBef>
                <a:spcPts val="0"/>
              </a:spcBef>
              <a:spcAft>
                <a:spcPts val="0"/>
              </a:spcAft>
              <a:buNone/>
            </a:pPr>
            <a:r>
              <a:rPr lang="en" sz="1400"/>
              <a:t>Numbers coming out of the microcontroller, converted to voltage by DAC, converted to usable voltage by driver (driver is sort of the opposite of the analog front end that takes a </a:t>
            </a:r>
            <a:r>
              <a:rPr lang="en" sz="1400"/>
              <a:t>feeble</a:t>
            </a:r>
            <a:r>
              <a:rPr lang="en" sz="1400"/>
              <a:t> signal and amplifies it to use it). The </a:t>
            </a:r>
            <a:r>
              <a:rPr lang="en" sz="1400"/>
              <a:t>driver</a:t>
            </a:r>
            <a:r>
              <a:rPr lang="en" sz="1400"/>
              <a:t> makes the </a:t>
            </a:r>
            <a:r>
              <a:rPr lang="en" sz="1400"/>
              <a:t>feeble</a:t>
            </a:r>
            <a:r>
              <a:rPr lang="en" sz="1400"/>
              <a:t> analog signal into one that can actually be used.</a:t>
            </a:r>
            <a:endParaRPr sz="14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111e2377659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111e237765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all in the video - so we'll skip this slide.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motor spins because current-carrying conductors experience Lorentz force in the magnetic field; back EMF arises because those same conductors, once moving, cut magnetic flux and generate a voltage via Faraday’s law.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term back electromotive force is also commonly used to refer to the voltage that occurs in electric motors where there is relative motion between the armature and the magnetic field produced by the motor's field coils or permanent magnet field, thus also acting as a generator while running as a motor. This effect is not due to the motor's inductance, which generates a voltage in opposition to a changing current via Faraday's law, but a separate phenomenon. That is, the back-EMF is also due to inductance and Faraday's law, but occurs even when the motor current is not changing, and arises from the geometric considerations of an armature spinning in a magnetic field.</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Cause of rotation:</a:t>
            </a:r>
            <a:endParaRPr/>
          </a:p>
          <a:p>
            <a:pPr indent="0" lvl="0" marL="0" rtl="0" algn="l">
              <a:spcBef>
                <a:spcPts val="0"/>
              </a:spcBef>
              <a:spcAft>
                <a:spcPts val="0"/>
              </a:spcAft>
              <a:buClr>
                <a:schemeClr val="dk1"/>
              </a:buClr>
              <a:buSzPts val="1100"/>
              <a:buFont typeface="Arial"/>
              <a:buNone/>
            </a:pPr>
            <a:r>
              <a:rPr lang="en"/>
              <a:t>Current in conductors + magnetic field → Lorentz force → torque → rotation</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Cause of back EMF:</a:t>
            </a:r>
            <a:endParaRPr/>
          </a:p>
          <a:p>
            <a:pPr indent="0" lvl="0" marL="0" rtl="0" algn="l">
              <a:spcBef>
                <a:spcPts val="0"/>
              </a:spcBef>
              <a:spcAft>
                <a:spcPts val="0"/>
              </a:spcAft>
              <a:buClr>
                <a:schemeClr val="dk1"/>
              </a:buClr>
              <a:buSzPts val="1100"/>
              <a:buFont typeface="Arial"/>
              <a:buNone/>
            </a:pPr>
            <a:r>
              <a:rPr lang="en"/>
              <a:t>Moving conductor + magnetic field → induced voltage</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11e2377659_0_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111e237765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What is the model that models how the motor functions as a function of the input, namely the current?</a:t>
            </a:r>
            <a:endParaRPr sz="1400"/>
          </a:p>
          <a:p>
            <a:pPr indent="0" lvl="0" marL="0" rtl="0" algn="l">
              <a:spcBef>
                <a:spcPts val="0"/>
              </a:spcBef>
              <a:spcAft>
                <a:spcPts val="0"/>
              </a:spcAft>
              <a:buNone/>
            </a:pPr>
            <a:r>
              <a:rPr lang="en" sz="1400"/>
              <a:t>Two pieces: </a:t>
            </a:r>
            <a:endParaRPr sz="1400"/>
          </a:p>
          <a:p>
            <a:pPr indent="0" lvl="0" marL="0" rtl="0" algn="l">
              <a:spcBef>
                <a:spcPts val="0"/>
              </a:spcBef>
              <a:spcAft>
                <a:spcPts val="0"/>
              </a:spcAft>
              <a:buNone/>
            </a:pPr>
            <a:r>
              <a:rPr lang="en" sz="1400"/>
              <a:t>When you pass a current </a:t>
            </a:r>
            <a:r>
              <a:rPr lang="en" sz="1400"/>
              <a:t>through</a:t>
            </a:r>
            <a:r>
              <a:rPr lang="en" sz="1400"/>
              <a:t> the motor coil (the armature), that generates an electric field that repels the field that is set up by the permanent magnet. The repellent field makes the armature move and that generates torque.</a:t>
            </a:r>
            <a:endParaRPr sz="1400"/>
          </a:p>
          <a:p>
            <a:pPr indent="0" lvl="0" marL="0" rtl="0" algn="l">
              <a:spcBef>
                <a:spcPts val="0"/>
              </a:spcBef>
              <a:spcAft>
                <a:spcPts val="0"/>
              </a:spcAft>
              <a:buNone/>
            </a:pPr>
            <a:r>
              <a:t/>
            </a:r>
            <a:endParaRPr sz="1400"/>
          </a:p>
          <a:p>
            <a:pPr indent="-317500" lvl="0" marL="457200" rtl="0" algn="l">
              <a:spcBef>
                <a:spcPts val="0"/>
              </a:spcBef>
              <a:spcAft>
                <a:spcPts val="0"/>
              </a:spcAft>
              <a:buSzPts val="1400"/>
              <a:buChar char="-"/>
            </a:pPr>
            <a:r>
              <a:rPr lang="en" sz="1400"/>
              <a:t>The torque is proportional to the current; there is a </a:t>
            </a:r>
            <a:r>
              <a:rPr lang="en" sz="1400"/>
              <a:t>proportionality</a:t>
            </a:r>
            <a:r>
              <a:rPr lang="en" sz="1400"/>
              <a:t> </a:t>
            </a:r>
            <a:r>
              <a:rPr lang="en" sz="1400"/>
              <a:t>constant</a:t>
            </a:r>
            <a:r>
              <a:rPr lang="en" sz="1400"/>
              <a:t> K called the motor constant. </a:t>
            </a:r>
            <a:br>
              <a:rPr lang="en" sz="1400"/>
            </a:br>
            <a:r>
              <a:rPr lang="en" sz="1400"/>
              <a:t>Tau = K_t i.</a:t>
            </a:r>
            <a:endParaRPr sz="1400"/>
          </a:p>
          <a:p>
            <a:pPr indent="-317500" lvl="0" marL="457200" rtl="0" algn="l">
              <a:spcBef>
                <a:spcPts val="0"/>
              </a:spcBef>
              <a:spcAft>
                <a:spcPts val="0"/>
              </a:spcAft>
              <a:buSzPts val="1400"/>
              <a:buChar char="-"/>
            </a:pPr>
            <a:r>
              <a:rPr lang="en" sz="1400"/>
              <a:t>As the </a:t>
            </a:r>
            <a:r>
              <a:rPr lang="en" sz="1400"/>
              <a:t>armature</a:t>
            </a:r>
            <a:r>
              <a:rPr lang="en" sz="1400"/>
              <a:t> turns it encounters friction. At a steady speed the torque that is generated just overcomes the friction (they are equal in steady state): tau = friction (b times omega) - omega is the rotational speed.</a:t>
            </a:r>
            <a:endParaRPr sz="1400"/>
          </a:p>
          <a:p>
            <a:pPr indent="-317500" lvl="0" marL="457200" rtl="0" algn="l">
              <a:spcBef>
                <a:spcPts val="0"/>
              </a:spcBef>
              <a:spcAft>
                <a:spcPts val="0"/>
              </a:spcAft>
              <a:buSzPts val="1400"/>
              <a:buChar char="-"/>
            </a:pPr>
            <a:r>
              <a:rPr lang="en" sz="1400"/>
              <a:t>Also, as you move a coil in a magnetic field, it creates a voltage (that is a generator effect); that voltage is proportional to the speed (like in a dynamo of a bike: the faster you pedal, the brighter the light). E = K_e omega.</a:t>
            </a:r>
            <a:endParaRPr sz="1400"/>
          </a:p>
          <a:p>
            <a:pPr indent="-317500" lvl="0" marL="457200" rtl="0" algn="l">
              <a:spcBef>
                <a:spcPts val="0"/>
              </a:spcBef>
              <a:spcAft>
                <a:spcPts val="0"/>
              </a:spcAft>
              <a:buSzPts val="1400"/>
              <a:buChar char="-"/>
            </a:pPr>
            <a:r>
              <a:rPr lang="en" sz="1400"/>
              <a:t>The motor coil also has some electric resistance, so you get some more equations: that voltage drop is equal to the current times that resistance. V - e = iR_a (Ohm's law).</a:t>
            </a:r>
            <a:endParaRPr sz="1400"/>
          </a:p>
          <a:p>
            <a:pPr indent="0" lvl="0" marL="0" rtl="0" algn="l">
              <a:spcBef>
                <a:spcPts val="0"/>
              </a:spcBef>
              <a:spcAft>
                <a:spcPts val="0"/>
              </a:spcAft>
              <a:buNone/>
            </a:pPr>
            <a:r>
              <a:rPr lang="en" sz="1400"/>
              <a:t>You can take all of these equations and combine them:</a:t>
            </a:r>
            <a:endParaRPr sz="1400"/>
          </a:p>
          <a:p>
            <a:pPr indent="0" lvl="0" marL="0" rtl="0" algn="l">
              <a:spcBef>
                <a:spcPts val="0"/>
              </a:spcBef>
              <a:spcAft>
                <a:spcPts val="0"/>
              </a:spcAft>
              <a:buNone/>
            </a:pPr>
            <a:r>
              <a:t/>
            </a:r>
            <a:endParaRPr sz="14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11e2377659_0_1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11e237765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This is what the equations combine to: Speed of the motor is proportional to the voltage. This is just the steady state model - it does not apply to starting etc. You'll learn all that in ENGS 22 or 26.</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This equation tells you how the motor will behave. None of this </a:t>
            </a:r>
            <a:r>
              <a:rPr lang="en" sz="1400"/>
              <a:t>should</a:t>
            </a:r>
            <a:r>
              <a:rPr lang="en" sz="1400"/>
              <a:t> be surprising. Refer to your physical </a:t>
            </a:r>
            <a:r>
              <a:rPr lang="en" sz="1400"/>
              <a:t>intuition</a:t>
            </a:r>
            <a:r>
              <a:rPr lang="en" sz="1400"/>
              <a:t>. Take a look at the table and think </a:t>
            </a:r>
            <a:r>
              <a:rPr lang="en" sz="1400"/>
              <a:t>intuitively</a:t>
            </a:r>
            <a:r>
              <a:rPr lang="en" sz="1400"/>
              <a:t>, then verify with the equation. Take a few minutes at your table.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As you increase friction, what happens to the motor speed? Goes down.</a:t>
            </a:r>
            <a:endParaRPr sz="1400"/>
          </a:p>
          <a:p>
            <a:pPr indent="0" lvl="0" marL="0" rtl="0" algn="l">
              <a:spcBef>
                <a:spcPts val="0"/>
              </a:spcBef>
              <a:spcAft>
                <a:spcPts val="0"/>
              </a:spcAft>
              <a:buNone/>
            </a:pPr>
            <a:r>
              <a:rPr lang="en" sz="1400"/>
              <a:t>If the resistance of the motor increases, what happens to the motor speed?</a:t>
            </a:r>
            <a:endParaRPr sz="1400"/>
          </a:p>
          <a:p>
            <a:pPr indent="0" lvl="0" marL="0" rtl="0" algn="l">
              <a:spcBef>
                <a:spcPts val="0"/>
              </a:spcBef>
              <a:spcAft>
                <a:spcPts val="0"/>
              </a:spcAft>
              <a:buNone/>
            </a:pPr>
            <a:r>
              <a:rPr lang="en" sz="1400"/>
              <a:t>If the generator constant K_e increases, what happens? This is a bit more tricky. More back EMF, so speed goes down.</a:t>
            </a:r>
            <a:endParaRPr sz="1400"/>
          </a:p>
          <a:p>
            <a:pPr indent="0" lvl="0" marL="0" rtl="0" algn="l">
              <a:spcBef>
                <a:spcPts val="0"/>
              </a:spcBef>
              <a:spcAft>
                <a:spcPts val="0"/>
              </a:spcAft>
              <a:buNone/>
            </a:pPr>
            <a:r>
              <a:rPr lang="en" sz="1400"/>
              <a:t>If the torque constant goes up, what happens? Speed goes up!</a:t>
            </a:r>
            <a:endParaRPr sz="14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11e2377659_0_54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11e2377659_0_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If you want to change the speed of the motor you change the voltage.</a:t>
            </a:r>
            <a:endParaRPr sz="1400"/>
          </a:p>
          <a:p>
            <a:pPr indent="0" lvl="0" marL="0" rtl="0" algn="l">
              <a:spcBef>
                <a:spcPts val="0"/>
              </a:spcBef>
              <a:spcAft>
                <a:spcPts val="0"/>
              </a:spcAft>
              <a:buNone/>
            </a:pPr>
            <a:r>
              <a:rPr lang="en" sz="1400"/>
              <a:t>If you want to change the direction of the motor you change the polarity of the voltage (causes everything to run backwards).</a:t>
            </a:r>
            <a:endParaRPr sz="1400"/>
          </a:p>
          <a:p>
            <a:pPr indent="0" lvl="0" marL="0" rtl="0" algn="l">
              <a:spcBef>
                <a:spcPts val="0"/>
              </a:spcBef>
              <a:spcAft>
                <a:spcPts val="0"/>
              </a:spcAft>
              <a:buNone/>
            </a:pPr>
            <a:r>
              <a:rPr lang="en" sz="1400"/>
              <a:t>So you want to take the two wires and reverse them. The problem is that in an embedded system there is no person swapping the wires. You need to be able to supply voltage to the motor in a way that allows you to electronically reverse the polarity. The electronic means to do so is called a little circuit called an H-bridge. You need to understand H-bridges. </a:t>
            </a:r>
            <a:r>
              <a:rPr lang="en" sz="1400"/>
              <a:t>Whenever</a:t>
            </a:r>
            <a:r>
              <a:rPr lang="en" sz="1400"/>
              <a:t> you work with a motor there's going to be an H-bridge involved.</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Supply power is at the top, ground is at the bottom.</a:t>
            </a:r>
            <a:endParaRPr sz="1400"/>
          </a:p>
          <a:p>
            <a:pPr indent="0" lvl="0" marL="0" rtl="0" algn="l">
              <a:spcBef>
                <a:spcPts val="0"/>
              </a:spcBef>
              <a:spcAft>
                <a:spcPts val="0"/>
              </a:spcAft>
              <a:buNone/>
            </a:pPr>
            <a:r>
              <a:rPr lang="en" sz="1400"/>
              <a:t>It has four switches (power transistors called MOSFETs). The switches can be </a:t>
            </a:r>
            <a:r>
              <a:rPr lang="en" sz="1400"/>
              <a:t>configured</a:t>
            </a:r>
            <a:r>
              <a:rPr lang="en" sz="1400"/>
              <a:t> so that the current either goes from top left to bottom right and so through the motor from left to right or from top right to bottom left, and so from right to left through the motor, depending on which switches are on and off.</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The whole circuit is in the shape of an H so it's called an H-bridge.</a:t>
            </a:r>
            <a:endParaRPr sz="14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11e2377659_0_3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11e2377659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The </a:t>
            </a:r>
            <a:r>
              <a:rPr lang="en" sz="1400"/>
              <a:t>switches</a:t>
            </a:r>
            <a:r>
              <a:rPr lang="en" sz="1400"/>
              <a:t> come in two kinds: pMOS and nMOS (never mind what p and n stand for and how they work).</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On a pMOS transistor, when the gate is low (gets a digital signal of 0), the transistor is on and lets current through, and when the gate is high (gets a digital signal of 1 - or high voltage - 3V) the transistor is off and doesn't let current through.</a:t>
            </a:r>
            <a:endParaRPr sz="1400"/>
          </a:p>
          <a:p>
            <a:pPr indent="0" lvl="0" marL="0" rtl="0" algn="l">
              <a:spcBef>
                <a:spcPts val="0"/>
              </a:spcBef>
              <a:spcAft>
                <a:spcPts val="0"/>
              </a:spcAft>
              <a:buNone/>
            </a:pPr>
            <a:r>
              <a:rPr lang="en" sz="1400"/>
              <a:t>An nMOS transistor works the opposite way, so they are opposite each other.</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11e2377659_0_5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111e2377659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chemeClr val="dk1"/>
                </a:solidFill>
              </a:rPr>
              <a:t>The way the transistors are stacked up and connected is really cool: If IN1 is low and IN2 is high, then the motor turns one way. If it is reversed, the motor turns the other way. So with high or low switches you can control the direction of the motor.</a:t>
            </a:r>
            <a:endParaRPr sz="14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111e2377659_0_6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111e2377659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If you take both sides and make them high, no current can flow into the motor. But if the motor is still turning, then any current that is in the motor (back EMF via momentum), you can dump that power to ground, so this brakes the motor.</a:t>
            </a:r>
            <a:endParaRPr sz="14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111e2377659_0_7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111e2377659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t>STOP Mode (Coasting)</a:t>
            </a:r>
            <a:endParaRPr sz="1400"/>
          </a:p>
          <a:p>
            <a:pPr indent="0" lvl="0" marL="0" rtl="0" algn="l">
              <a:spcBef>
                <a:spcPts val="0"/>
              </a:spcBef>
              <a:spcAft>
                <a:spcPts val="0"/>
              </a:spcAft>
              <a:buClr>
                <a:schemeClr val="dk1"/>
              </a:buClr>
              <a:buSzPts val="1100"/>
              <a:buFont typeface="Arial"/>
              <a:buNone/>
            </a:pPr>
            <a:r>
              <a:rPr lang="en" sz="1400"/>
              <a:t>	•	In STOP mode, all MOSFETs in the H-Bridge are turned OFF, leaving the motor terminals floating or open.</a:t>
            </a:r>
            <a:endParaRPr sz="1400"/>
          </a:p>
          <a:p>
            <a:pPr indent="0" lvl="0" marL="0" rtl="0" algn="l">
              <a:spcBef>
                <a:spcPts val="0"/>
              </a:spcBef>
              <a:spcAft>
                <a:spcPts val="0"/>
              </a:spcAft>
              <a:buClr>
                <a:schemeClr val="dk1"/>
              </a:buClr>
              <a:buSzPts val="1100"/>
              <a:buFont typeface="Arial"/>
              <a:buNone/>
            </a:pPr>
            <a:r>
              <a:rPr lang="en" sz="1400"/>
              <a:t>	•	Since there is no active connection to power or ground, the motor spins down due to natural friction and load resistance, meaning it “coasts” to a stop.</a:t>
            </a:r>
            <a:endParaRPr sz="1400"/>
          </a:p>
          <a:p>
            <a:pPr indent="0" lvl="0" marL="0" rtl="0" algn="l">
              <a:spcBef>
                <a:spcPts val="0"/>
              </a:spcBef>
              <a:spcAft>
                <a:spcPts val="0"/>
              </a:spcAft>
              <a:buClr>
                <a:schemeClr val="dk1"/>
              </a:buClr>
              <a:buSzPts val="1100"/>
              <a:buFont typeface="Arial"/>
              <a:buNone/>
            </a:pPr>
            <a:r>
              <a:rPr lang="en" sz="1400"/>
              <a:t>	•	This mode is achieved when both IN1 and IN2 (or PWM inputs) are set to LOW.</a:t>
            </a:r>
            <a:endParaRPr sz="1400"/>
          </a:p>
          <a:p>
            <a:pPr indent="0" lvl="0" marL="0" rtl="0" algn="l">
              <a:spcBef>
                <a:spcPts val="0"/>
              </a:spcBef>
              <a:spcAft>
                <a:spcPts val="0"/>
              </a:spcAft>
              <a:buNone/>
            </a:pPr>
            <a:r>
              <a:t/>
            </a:r>
            <a:endParaRPr sz="1400"/>
          </a:p>
          <a:p>
            <a:pPr indent="0" lvl="0" marL="0" rtl="0" algn="l">
              <a:spcBef>
                <a:spcPts val="0"/>
              </a:spcBef>
              <a:spcAft>
                <a:spcPts val="0"/>
              </a:spcAft>
              <a:buClr>
                <a:schemeClr val="dk1"/>
              </a:buClr>
              <a:buSzPts val="1100"/>
              <a:buFont typeface="Arial"/>
              <a:buNone/>
            </a:pPr>
            <a:r>
              <a:rPr lang="en" sz="1400"/>
              <a:t>BRAKE Mode (Dynamic Braking)</a:t>
            </a:r>
            <a:endParaRPr sz="1400"/>
          </a:p>
          <a:p>
            <a:pPr indent="0" lvl="0" marL="0" rtl="0" algn="l">
              <a:spcBef>
                <a:spcPts val="0"/>
              </a:spcBef>
              <a:spcAft>
                <a:spcPts val="0"/>
              </a:spcAft>
              <a:buClr>
                <a:schemeClr val="dk1"/>
              </a:buClr>
              <a:buSzPts val="1100"/>
              <a:buFont typeface="Arial"/>
              <a:buNone/>
            </a:pPr>
            <a:r>
              <a:rPr lang="en" sz="1400"/>
              <a:t>	•	In BRAKE mode, the motor terminals are shorted together through the low-side MOSFETs (or sometimes the high-side MOSFETs, depending on the design).</a:t>
            </a:r>
            <a:endParaRPr sz="1400"/>
          </a:p>
          <a:p>
            <a:pPr indent="0" lvl="0" marL="0" rtl="0" algn="l">
              <a:spcBef>
                <a:spcPts val="0"/>
              </a:spcBef>
              <a:spcAft>
                <a:spcPts val="0"/>
              </a:spcAft>
              <a:buClr>
                <a:schemeClr val="dk1"/>
              </a:buClr>
              <a:buSzPts val="1100"/>
              <a:buFont typeface="Arial"/>
              <a:buNone/>
            </a:pPr>
            <a:r>
              <a:rPr lang="en" sz="1400"/>
              <a:t>	•	This creates a closed circuit for the back-EMF generated by the spinning motor, which causes a countercurrent that resists motion and slows the motor quickly.</a:t>
            </a:r>
            <a:endParaRPr sz="1400"/>
          </a:p>
          <a:p>
            <a:pPr indent="0" lvl="0" marL="0" rtl="0" algn="l">
              <a:spcBef>
                <a:spcPts val="0"/>
              </a:spcBef>
              <a:spcAft>
                <a:spcPts val="0"/>
              </a:spcAft>
              <a:buClr>
                <a:schemeClr val="dk1"/>
              </a:buClr>
              <a:buSzPts val="1100"/>
              <a:buFont typeface="Arial"/>
              <a:buNone/>
            </a:pPr>
            <a:r>
              <a:rPr lang="en" sz="1400"/>
              <a:t>	•	Dynamic braking is much stronger than coasting, making the motor stop faster.</a:t>
            </a:r>
            <a:endParaRPr sz="1400"/>
          </a:p>
          <a:p>
            <a:pPr indent="0" lvl="0" marL="0" rtl="0" algn="l">
              <a:spcBef>
                <a:spcPts val="0"/>
              </a:spcBef>
              <a:spcAft>
                <a:spcPts val="0"/>
              </a:spcAft>
              <a:buClr>
                <a:schemeClr val="dk1"/>
              </a:buClr>
              <a:buSzPts val="1100"/>
              <a:buFont typeface="Arial"/>
              <a:buNone/>
            </a:pPr>
            <a:r>
              <a:rPr lang="en" sz="1400"/>
              <a:t>	•	This mode is usually activated by setting both IN1 and IN2 to HIGH (depending on the motor driver).</a:t>
            </a:r>
            <a:endParaRPr sz="1400"/>
          </a:p>
          <a:p>
            <a:pPr indent="0" lvl="0" marL="0" rtl="0" algn="l">
              <a:spcBef>
                <a:spcPts val="0"/>
              </a:spcBef>
              <a:spcAft>
                <a:spcPts val="0"/>
              </a:spcAft>
              <a:buNone/>
            </a:pPr>
            <a:r>
              <a:t/>
            </a:r>
            <a:endParaRPr sz="1400"/>
          </a:p>
          <a:p>
            <a:pPr indent="0" lvl="0" marL="0" rtl="0" algn="l">
              <a:spcBef>
                <a:spcPts val="0"/>
              </a:spcBef>
              <a:spcAft>
                <a:spcPts val="0"/>
              </a:spcAft>
              <a:buClr>
                <a:schemeClr val="dk1"/>
              </a:buClr>
              <a:buSzPts val="1100"/>
              <a:buFont typeface="Arial"/>
              <a:buNone/>
            </a:pPr>
            <a:r>
              <a:rPr lang="en" sz="1400"/>
              <a:t>	•	When all MOSFETs are off (STOP mode), the motor’s own inertia keeps it spinning because there’s no opposing force except natural friction.</a:t>
            </a:r>
            <a:endParaRPr sz="1400"/>
          </a:p>
          <a:p>
            <a:pPr indent="0" lvl="0" marL="0" rtl="0" algn="l">
              <a:spcBef>
                <a:spcPts val="0"/>
              </a:spcBef>
              <a:spcAft>
                <a:spcPts val="0"/>
              </a:spcAft>
              <a:buClr>
                <a:schemeClr val="dk1"/>
              </a:buClr>
              <a:buSzPts val="1100"/>
              <a:buFont typeface="Arial"/>
              <a:buNone/>
            </a:pPr>
            <a:r>
              <a:rPr lang="en" sz="1400"/>
              <a:t>	•	When the motor terminals are shorted (BRAKE mode), the back-EMF generates a current that opposes rotation, causing rapid deceleration due to energy dissipation.</a:t>
            </a:r>
            <a:endParaRPr sz="1400"/>
          </a:p>
          <a:p>
            <a:pPr indent="0" lvl="0" marL="0" rtl="0" algn="l">
              <a:spcBef>
                <a:spcPts val="0"/>
              </a:spcBef>
              <a:spcAft>
                <a:spcPts val="0"/>
              </a:spcAft>
              <a:buNone/>
            </a:pPr>
            <a:r>
              <a:t/>
            </a:r>
            <a:endParaRPr sz="14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11e2377659_0_9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11e2377659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Cultural enrichment: In the event someone goofs it up so that two transistors are on at the same time, instantaneous high current can flow through (shoot through) and the transistors blow ("magic smoke will be released…").</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The board we'll use has additional logical </a:t>
            </a:r>
            <a:r>
              <a:rPr lang="en" sz="1400"/>
              <a:t>circuitry </a:t>
            </a:r>
            <a:r>
              <a:rPr lang="en" sz="1400"/>
              <a:t> included that prevents this from </a:t>
            </a:r>
            <a:r>
              <a:rPr lang="en" sz="1400"/>
              <a:t>happening</a:t>
            </a:r>
            <a:r>
              <a:rPr lang="en" sz="1400"/>
              <a:t>.</a:t>
            </a:r>
            <a:endParaRPr sz="14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11e2377659_0_67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11e2377659_0_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We'll use a chip/circuit board; the chip is the Toshiba TB6612FNG; it has a bunch of terminals on it (which are not the same as the pins on the edge of the board). The main thing to note is that there are inputs (in red: PWMA, AIN2, AIN1) that go into logic and that ultimately controls the direction and speed of the motor. Then there are these blue terminals that are </a:t>
            </a:r>
            <a:r>
              <a:rPr lang="en" sz="1400"/>
              <a:t>actually</a:t>
            </a:r>
            <a:r>
              <a:rPr lang="en" sz="1400"/>
              <a:t> for the high voltage, high current that passes through the transistors and through the motor.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So low power logic control from the microcontroller is used to </a:t>
            </a:r>
            <a:r>
              <a:rPr lang="en" sz="1400"/>
              <a:t>switch</a:t>
            </a:r>
            <a:r>
              <a:rPr lang="en" sz="1400"/>
              <a:t> on/off/ a high amount of current/voltage required to drive the motor. If you just tried to connect your motor directly to the microcontroller nothing would happen </a:t>
            </a:r>
            <a:r>
              <a:rPr lang="en" sz="1400"/>
              <a:t>because</a:t>
            </a:r>
            <a:r>
              <a:rPr lang="en" sz="1400"/>
              <a:t> the microcontroller is not capable of driving enough current to run the motor.</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So this is the motor driver: the driver of the actuator signal chain.</a:t>
            </a:r>
            <a:endParaRPr sz="14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11e2377659_0_80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11e2377659_0_8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We'll tinker with this later.</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11e2377659_0_76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11e2377659_0_7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Capacitor values (can read these </a:t>
            </a:r>
            <a:r>
              <a:rPr lang="en" sz="1400"/>
              <a:t>from the schematic on the lab)</a:t>
            </a:r>
            <a:r>
              <a:rPr lang="en" sz="1400"/>
              <a:t>: </a:t>
            </a:r>
            <a:endParaRPr sz="1400"/>
          </a:p>
          <a:p>
            <a:pPr indent="0" lvl="0" marL="0" rtl="0" algn="l">
              <a:spcBef>
                <a:spcPts val="0"/>
              </a:spcBef>
              <a:spcAft>
                <a:spcPts val="0"/>
              </a:spcAft>
              <a:buNone/>
            </a:pPr>
            <a:r>
              <a:rPr lang="en" sz="1400"/>
              <a:t>C1 = .22 uF (between logic power and ground)</a:t>
            </a:r>
            <a:endParaRPr sz="1400"/>
          </a:p>
          <a:p>
            <a:pPr indent="0" lvl="0" marL="0" rtl="0" algn="l">
              <a:spcBef>
                <a:spcPts val="0"/>
              </a:spcBef>
              <a:spcAft>
                <a:spcPts val="0"/>
              </a:spcAft>
              <a:buNone/>
            </a:pPr>
            <a:r>
              <a:rPr lang="en" sz="1400"/>
              <a:t>Just wire this all up and we'll come around to make sure it's right. Do NOT power </a:t>
            </a:r>
            <a:r>
              <a:rPr lang="en" sz="1400"/>
              <a:t>anything</a:t>
            </a:r>
            <a:r>
              <a:rPr lang="en" sz="1400"/>
              <a:t> up yet.</a:t>
            </a:r>
            <a:endParaRPr sz="14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061554dd65_0_29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061554dd65_0_29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g2061554dd65_0_29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111e2377659_0_77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111e2377659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Here is the next step: Once your wires have been checked by one of us, plug in the wall wart. Then take those two dangling wires (green and blue in the picture) and connect one of them to ground, the other to (logic) power. That should make the motor turn in one direction. If you reverse which is in power, which is in ground, the motor </a:t>
            </a:r>
            <a:r>
              <a:rPr lang="en" sz="1400"/>
              <a:t>should</a:t>
            </a:r>
            <a:r>
              <a:rPr lang="en" sz="1400"/>
              <a:t> reverse direction. This is a neat way to check your wiring.</a:t>
            </a:r>
            <a:endParaRPr sz="14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111e2377659_0_65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111e2377659_0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The H-bridge determines the direction of the motor. How do we change the speed?</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It's the Motor VCC that'll do that. Right now: Motor runs full speed one direction or the other.</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Our processor does not have a DAC (digital to analog) converter that </a:t>
            </a:r>
            <a:r>
              <a:rPr lang="en" sz="1400"/>
              <a:t>would</a:t>
            </a:r>
            <a:r>
              <a:rPr lang="en" sz="1400"/>
              <a:t> take numbers and convert them to voltage. Thus we'll have to use pulse width modulation (PWM).</a:t>
            </a:r>
            <a:endParaRPr sz="1400"/>
          </a:p>
          <a:p>
            <a:pPr indent="0" lvl="0" marL="0" rtl="0" algn="l">
              <a:spcBef>
                <a:spcPts val="0"/>
              </a:spcBef>
              <a:spcAft>
                <a:spcPts val="0"/>
              </a:spcAft>
              <a:buNone/>
            </a:pPr>
            <a:r>
              <a:t/>
            </a:r>
            <a:endParaRPr sz="14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111e2377659_0_55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111e2377659_0_5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111e2377659_0_56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111e2377659_0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Remember how we were able to dim the 7-segment display? What happened there was that it was actually pulsing the LED which makes it appear more or less bright.</a:t>
            </a:r>
            <a:endParaRPr sz="1400"/>
          </a:p>
          <a:p>
            <a:pPr indent="0" lvl="0" marL="0" rtl="0" algn="l">
              <a:spcBef>
                <a:spcPts val="0"/>
              </a:spcBef>
              <a:spcAft>
                <a:spcPts val="0"/>
              </a:spcAft>
              <a:buNone/>
            </a:pPr>
            <a:r>
              <a:rPr lang="en" sz="1400"/>
              <a:t>Depending on the number you sent in there, it sets the duty cycle (thus the proportion of time during one cycle for which the LED is on).</a:t>
            </a:r>
            <a:endParaRPr sz="14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111e2377659_0_574: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This is not just for LEDs!</a:t>
            </a:r>
            <a:endParaRPr sz="1400"/>
          </a:p>
          <a:p>
            <a:pPr indent="0" lvl="0" marL="0" rtl="0" algn="l">
              <a:spcBef>
                <a:spcPts val="0"/>
              </a:spcBef>
              <a:spcAft>
                <a:spcPts val="0"/>
              </a:spcAft>
              <a:buNone/>
            </a:pPr>
            <a:r>
              <a:rPr lang="en" sz="1400"/>
              <a:t>Ratio of on-time to entire period is called the duty cycle.</a:t>
            </a:r>
            <a:endParaRPr sz="1400"/>
          </a:p>
          <a:p>
            <a:pPr indent="0" lvl="0" marL="0" rtl="0" algn="l">
              <a:spcBef>
                <a:spcPts val="0"/>
              </a:spcBef>
              <a:spcAft>
                <a:spcPts val="0"/>
              </a:spcAft>
              <a:buNone/>
            </a:pPr>
            <a:r>
              <a:rPr lang="en" sz="1400"/>
              <a:t>So if it's on as much as it's off, it's called a 50% duty cycle.</a:t>
            </a:r>
            <a:endParaRPr sz="1400"/>
          </a:p>
          <a:p>
            <a:pPr indent="0" lvl="0" marL="0" rtl="0" algn="l">
              <a:spcBef>
                <a:spcPts val="0"/>
              </a:spcBef>
              <a:spcAft>
                <a:spcPts val="0"/>
              </a:spcAft>
              <a:buNone/>
            </a:pPr>
            <a:r>
              <a:rPr lang="en" sz="1400"/>
              <a:t>If you take such a square wave and average the voltage over them then that average is proportional to the duty cycle. If the duty cycle is 10%, then the average is 10% of the input voltage.</a:t>
            </a:r>
            <a:endParaRPr sz="1400"/>
          </a:p>
          <a:p>
            <a:pPr indent="0" lvl="0" marL="0" rtl="0" algn="l">
              <a:spcBef>
                <a:spcPts val="0"/>
              </a:spcBef>
              <a:spcAft>
                <a:spcPts val="0"/>
              </a:spcAft>
              <a:buNone/>
            </a:pPr>
            <a:r>
              <a:rPr lang="en" sz="1400"/>
              <a:t>For a motor: in theory this would produce a pulsing motor, but due to the inertia of the armature, the inertia </a:t>
            </a:r>
            <a:r>
              <a:rPr lang="en" sz="1400"/>
              <a:t>averages</a:t>
            </a:r>
            <a:r>
              <a:rPr lang="en" sz="1400"/>
              <a:t> it all out.</a:t>
            </a:r>
            <a:endParaRPr sz="1400"/>
          </a:p>
          <a:p>
            <a:pPr indent="0" lvl="0" marL="0" rtl="0" algn="l">
              <a:spcBef>
                <a:spcPts val="0"/>
              </a:spcBef>
              <a:spcAft>
                <a:spcPts val="0"/>
              </a:spcAft>
              <a:buNone/>
            </a:pPr>
            <a:r>
              <a:rPr lang="en" sz="1400"/>
              <a:t>For LED: it pulses and your eyes average it out.</a:t>
            </a:r>
            <a:endParaRPr sz="1400"/>
          </a:p>
        </p:txBody>
      </p:sp>
      <p:sp>
        <p:nvSpPr>
          <p:cNvPr id="350" name="Google Shape;350;g111e2377659_0_5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111e2377659_0_587: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Super simple to create a square wave: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Take a counter (counts from 0 to max value, restarts). Take that counter and compare its value to the signal input. Output will be true as long as counter value is less than the number you </a:t>
            </a:r>
            <a:r>
              <a:rPr lang="en" sz="1400"/>
              <a:t>wish</a:t>
            </a:r>
            <a:r>
              <a:rPr lang="en" sz="1400"/>
              <a:t> to convert. As soon as the counter passes that number the comparator  yields a 0. So the larger the sample value, the longer the output is going to be high. That's exactly what you want </a:t>
            </a:r>
            <a:r>
              <a:rPr lang="en" sz="1400"/>
              <a:t>from the duty cycle.</a:t>
            </a:r>
            <a:endParaRPr sz="1400"/>
          </a:p>
        </p:txBody>
      </p:sp>
      <p:sp>
        <p:nvSpPr>
          <p:cNvPr id="359" name="Google Shape;359;g111e2377659_0_5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2f480713108_0_1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2f48071310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Inside the microcontroller: counter register is CNT.</a:t>
            </a:r>
            <a:endParaRPr/>
          </a:p>
          <a:p>
            <a:pPr indent="0" lvl="0" marL="0" rtl="0" algn="l">
              <a:spcBef>
                <a:spcPts val="0"/>
              </a:spcBef>
              <a:spcAft>
                <a:spcPts val="0"/>
              </a:spcAft>
              <a:buNone/>
            </a:pPr>
            <a:r>
              <a:rPr lang="en"/>
              <a:t>As it counts, there are a couple things it can do:</a:t>
            </a:r>
            <a:endParaRPr/>
          </a:p>
          <a:p>
            <a:pPr indent="-298450" lvl="0" marL="457200" rtl="0" algn="l">
              <a:spcBef>
                <a:spcPts val="0"/>
              </a:spcBef>
              <a:spcAft>
                <a:spcPts val="0"/>
              </a:spcAft>
              <a:buSzPts val="1100"/>
              <a:buChar char="-"/>
            </a:pPr>
            <a:r>
              <a:rPr lang="en"/>
              <a:t>Have it compare its value to a number you have stored in a register. Suppose you wanted to count to 100. Then you could use the 8-bit counter, but instead of having it count to 255 you'd store 100 in the output compare register (OCR). Comparator will compare the numbers. When the counter gets to that number it does something (generate interrupt, etc)</a:t>
            </a:r>
            <a:endParaRPr/>
          </a:p>
          <a:p>
            <a:pPr indent="-298450" lvl="0" marL="457200" rtl="0" algn="l">
              <a:spcBef>
                <a:spcPts val="0"/>
              </a:spcBef>
              <a:spcAft>
                <a:spcPts val="0"/>
              </a:spcAft>
              <a:buSzPts val="1100"/>
              <a:buChar char="-"/>
            </a:pPr>
            <a:r>
              <a:rPr lang="en"/>
              <a:t>Can tell it to do something when it reaches its top value (TOP), so when the counter overflows.</a:t>
            </a:r>
            <a:endParaRPr/>
          </a:p>
          <a:p>
            <a:pPr indent="-298450" lvl="0" marL="457200" rtl="0" algn="l">
              <a:spcBef>
                <a:spcPts val="0"/>
              </a:spcBef>
              <a:spcAft>
                <a:spcPts val="0"/>
              </a:spcAft>
              <a:buSzPts val="1100"/>
              <a:buChar char="-"/>
            </a:pPr>
            <a:r>
              <a:rPr lang="en"/>
              <a:t>When counting down can tell it to do something when it reaches 0.</a:t>
            </a:r>
            <a:endParaRPr/>
          </a:p>
          <a:p>
            <a:pPr indent="-298450" lvl="0" marL="457200" rtl="0" algn="l">
              <a:spcBef>
                <a:spcPts val="0"/>
              </a:spcBef>
              <a:spcAft>
                <a:spcPts val="0"/>
              </a:spcAft>
              <a:buSzPts val="1100"/>
              <a:buChar char="-"/>
            </a:pPr>
            <a:r>
              <a:rPr lang="en"/>
              <a:t>Timer overflow interrupt gets thrown when overflow is reached.</a:t>
            </a:r>
            <a:endParaRPr/>
          </a:p>
          <a:p>
            <a:pPr indent="-298450" lvl="0" marL="457200" rtl="0" algn="l">
              <a:spcBef>
                <a:spcPts val="0"/>
              </a:spcBef>
              <a:spcAft>
                <a:spcPts val="0"/>
              </a:spcAft>
              <a:buSzPts val="1100"/>
              <a:buChar char="-"/>
            </a:pPr>
            <a:r>
              <a:rPr lang="en"/>
              <a:t>Output compare interrupt occurs when timer reaches value in OCR (if so chosen). Those are two different interrupts.</a:t>
            </a:r>
            <a:endParaRPr/>
          </a:p>
          <a:p>
            <a:pPr indent="0" lvl="0" marL="0" rtl="0" algn="l">
              <a:spcBef>
                <a:spcPts val="0"/>
              </a:spcBef>
              <a:spcAft>
                <a:spcPts val="0"/>
              </a:spcAft>
              <a:buNone/>
            </a:pPr>
            <a:r>
              <a:rPr lang="en"/>
              <a:t>Each timer/counter has two comparison value registers, so you could in principle have one counter that interrupts both at 100 and also at 150. Seems difficult to think about, so have never used that personally…</a:t>
            </a:r>
            <a:endParaRPr/>
          </a:p>
          <a:p>
            <a:pPr indent="0" lvl="0" marL="0" rtl="0" algn="l">
              <a:spcBef>
                <a:spcPts val="0"/>
              </a:spcBef>
              <a:spcAft>
                <a:spcPts val="0"/>
              </a:spcAft>
              <a:buNone/>
            </a:pPr>
            <a:r>
              <a:rPr lang="en"/>
              <a:t>It can do other things that we'll learn about in a few weeks.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general functionality: Counter counts, generates interrupt when it reaches a specified value.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two control registers that set the various options (clock speed, what happens when it times out - reset or done? etc)</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111e2377659_0_6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111e2377659_0_6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t>Almost every pin is capable of PWM, driven by different counters.</a:t>
            </a:r>
            <a:endParaRPr sz="1400"/>
          </a:p>
          <a:p>
            <a:pPr indent="0" lvl="0" marL="0" rtl="0" algn="l">
              <a:spcBef>
                <a:spcPts val="0"/>
              </a:spcBef>
              <a:spcAft>
                <a:spcPts val="0"/>
              </a:spcAft>
              <a:buClr>
                <a:schemeClr val="dk1"/>
              </a:buClr>
              <a:buSzPts val="1100"/>
              <a:buFont typeface="Arial"/>
              <a:buNone/>
            </a:pPr>
            <a:r>
              <a:rPr lang="en" sz="1400"/>
              <a:t>PA4, PA7 and PB1 can be driven by TIM14.</a:t>
            </a:r>
            <a:endParaRPr sz="1400"/>
          </a:p>
          <a:p>
            <a:pPr indent="0" lvl="0" marL="0" rtl="0" algn="l">
              <a:spcBef>
                <a:spcPts val="0"/>
              </a:spcBef>
              <a:spcAft>
                <a:spcPts val="0"/>
              </a:spcAft>
              <a:buClr>
                <a:schemeClr val="dk1"/>
              </a:buClr>
              <a:buSzPts val="1100"/>
              <a:buFont typeface="Arial"/>
              <a:buNone/>
            </a:pPr>
            <a:r>
              <a:rPr lang="en" sz="1400"/>
              <a:t>See Datasheet, Table 12.</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For the  motor controller we'll use Arduino pins 11, 12 and 13. We'll take pin 11 with PWM to control the voltage going into the H-bridge, so instead of those transistors going to be on all the time the will go open/close/etc (this is on the logic end of things!), so that the actual full </a:t>
            </a:r>
            <a:r>
              <a:rPr lang="en" sz="1400"/>
              <a:t>current</a:t>
            </a:r>
            <a:r>
              <a:rPr lang="en" sz="1400"/>
              <a:t> passes through and gets </a:t>
            </a:r>
            <a:r>
              <a:rPr lang="en" sz="1400"/>
              <a:t>blocked</a:t>
            </a:r>
            <a:r>
              <a:rPr lang="en" sz="1400"/>
              <a:t> according to the duty cycle.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You don't have to think about this hard since it's all built into the chip.</a:t>
            </a:r>
            <a:endParaRPr sz="1400"/>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1b9615c7342_0_1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1b9615c7342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Take the PWM </a:t>
            </a:r>
            <a:r>
              <a:rPr lang="en" sz="1400"/>
              <a:t>wire (that was connected to logic power) and connect it to PA7. Then take the two dangling wires and connect them to PA 5 and 6, respectively. We'll use pwm on PA7 to change the speed of the motor and use PA 5 and 6 to determine the direction of the motor.</a:t>
            </a:r>
            <a:endParaRPr sz="1400"/>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111e2377659_0_79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111e2377659_0_7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b24e3325ee_0_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b24e3325e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https://youtu.be/MuDX2vrNV3Q</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113437d3ded_0_1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113437d3ded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533400" y="457200"/>
            <a:ext cx="7543800" cy="381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52" name="Google Shape;52;p13"/>
          <p:cNvSpPr txBox="1"/>
          <p:nvPr>
            <p:ph idx="1" type="body"/>
          </p:nvPr>
        </p:nvSpPr>
        <p:spPr>
          <a:xfrm>
            <a:off x="533400" y="990600"/>
            <a:ext cx="8153400" cy="5105400"/>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SzPts val="1800"/>
              <a:buNone/>
              <a:defRPr/>
            </a:lvl1pPr>
            <a:lvl2pPr indent="-228600" lvl="1" marL="914400" algn="l">
              <a:spcBef>
                <a:spcPts val="360"/>
              </a:spcBef>
              <a:spcAft>
                <a:spcPts val="0"/>
              </a:spcAft>
              <a:buSzPts val="1400"/>
              <a:buNone/>
              <a:defRPr/>
            </a:lvl2pPr>
            <a:lvl3pPr indent="-228600" lvl="2" marL="1371600" algn="l">
              <a:spcBef>
                <a:spcPts val="360"/>
              </a:spcBef>
              <a:spcAft>
                <a:spcPts val="0"/>
              </a:spcAft>
              <a:buSzPts val="1400"/>
              <a:buNone/>
              <a:defRPr/>
            </a:lvl3pPr>
            <a:lvl4pPr indent="-228600" lvl="3" marL="1828800" algn="l">
              <a:spcBef>
                <a:spcPts val="360"/>
              </a:spcBef>
              <a:spcAft>
                <a:spcPts val="0"/>
              </a:spcAft>
              <a:buSzPts val="1400"/>
              <a:buNone/>
              <a:defRPr/>
            </a:lvl4pPr>
            <a:lvl5pPr indent="-228600" lvl="4" marL="2286000" algn="l">
              <a:spcBef>
                <a:spcPts val="360"/>
              </a:spcBef>
              <a:spcAft>
                <a:spcPts val="0"/>
              </a:spcAft>
              <a:buSzPts val="1400"/>
              <a:buNone/>
              <a:defRPr/>
            </a:lvl5pPr>
            <a:lvl6pPr indent="-228600" lvl="5" marL="2743200" algn="l">
              <a:spcBef>
                <a:spcPts val="360"/>
              </a:spcBef>
              <a:spcAft>
                <a:spcPts val="0"/>
              </a:spcAft>
              <a:buSzPts val="1400"/>
              <a:buNone/>
              <a:defRPr/>
            </a:lvl6pPr>
            <a:lvl7pPr indent="-228600" lvl="6" marL="3200400" algn="l">
              <a:spcBef>
                <a:spcPts val="360"/>
              </a:spcBef>
              <a:spcAft>
                <a:spcPts val="0"/>
              </a:spcAft>
              <a:buSzPts val="1400"/>
              <a:buNone/>
              <a:defRPr/>
            </a:lvl7pPr>
            <a:lvl8pPr indent="-228600" lvl="7" marL="3657600" algn="l">
              <a:spcBef>
                <a:spcPts val="360"/>
              </a:spcBef>
              <a:spcAft>
                <a:spcPts val="0"/>
              </a:spcAft>
              <a:buSzPts val="1400"/>
              <a:buNone/>
              <a:defRPr/>
            </a:lvl8pPr>
            <a:lvl9pPr indent="-228600" lvl="8" marL="4114800" algn="l">
              <a:spcBef>
                <a:spcPts val="360"/>
              </a:spcBef>
              <a:spcAft>
                <a:spcPts val="0"/>
              </a:spcAft>
              <a:buSzPts val="1400"/>
              <a:buNone/>
              <a:defRPr/>
            </a:lvl9pPr>
          </a:lstStyle>
          <a:p/>
        </p:txBody>
      </p:sp>
      <p:sp>
        <p:nvSpPr>
          <p:cNvPr id="53" name="Google Shape;53;p13"/>
          <p:cNvSpPr txBox="1"/>
          <p:nvPr>
            <p:ph idx="10" type="dt"/>
          </p:nvPr>
        </p:nvSpPr>
        <p:spPr>
          <a:xfrm>
            <a:off x="533400" y="6248400"/>
            <a:ext cx="1905000" cy="304800"/>
          </a:xfrm>
          <a:prstGeom prst="rect">
            <a:avLst/>
          </a:prstGeom>
          <a:noFill/>
          <a:ln>
            <a:noFill/>
          </a:ln>
        </p:spPr>
        <p:txBody>
          <a:bodyPr anchorCtr="0" anchor="t" bIns="45700" lIns="91425" spcFirstLastPara="1" rIns="91425" wrap="square" tIns="45700">
            <a:noAutofit/>
          </a:bodyPr>
          <a:lstStyle>
            <a:lvl1pPr lvl="0" algn="l">
              <a:spcBef>
                <a:spcPts val="6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3"/>
          <p:cNvSpPr txBox="1"/>
          <p:nvPr>
            <p:ph idx="12" type="sldNum"/>
          </p:nvPr>
        </p:nvSpPr>
        <p:spPr>
          <a:xfrm>
            <a:off x="6781800" y="6248400"/>
            <a:ext cx="1905000" cy="3048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1pPr>
            <a:lvl2pPr indent="0" lvl="1"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2pPr>
            <a:lvl3pPr indent="0" lvl="2"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3pPr>
            <a:lvl4pPr indent="0" lvl="3"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4pPr>
            <a:lvl5pPr indent="0" lvl="4"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5pPr>
            <a:lvl6pPr indent="0" lvl="5"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6pPr>
            <a:lvl7pPr indent="0" lvl="6"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7pPr>
            <a:lvl8pPr indent="0" lvl="7"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8pPr>
            <a:lvl9pPr indent="0" lvl="8"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9pPr>
          </a:lstStyle>
          <a:p>
            <a:pPr indent="0" lvl="0" marL="0" rtl="0" algn="r">
              <a:spcBef>
                <a:spcPts val="0"/>
              </a:spcBef>
              <a:spcAft>
                <a:spcPts val="0"/>
              </a:spcAft>
              <a:buNone/>
            </a:pPr>
            <a:r>
              <a:rPr lang="en"/>
              <a:t>23.</a:t>
            </a: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5.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2.png"/><Relationship Id="rId5" Type="http://schemas.openxmlformats.org/officeDocument/2006/relationships/image" Target="../media/image14.png"/><Relationship Id="rId6"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8.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8.png"/><Relationship Id="rId4" Type="http://schemas.openxmlformats.org/officeDocument/2006/relationships/image" Target="../media/image24.png"/><Relationship Id="rId5"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25.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23.pn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26.pn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26.png"/><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hyperlink" Target="http://www.youtube.com/watch?v=MuDX2vrNV3Q" TargetMode="External"/><Relationship Id="rId4" Type="http://schemas.openxmlformats.org/officeDocument/2006/relationships/image" Target="../media/image29.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nvSpPr>
        <p:spPr>
          <a:xfrm>
            <a:off x="311708" y="992767"/>
            <a:ext cx="8520600" cy="27369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3000">
                <a:solidFill>
                  <a:srgbClr val="000000"/>
                </a:solidFill>
                <a:latin typeface="Comic Sans MS"/>
                <a:ea typeface="Comic Sans MS"/>
                <a:cs typeface="Comic Sans MS"/>
                <a:sym typeface="Comic Sans MS"/>
              </a:rPr>
              <a:t>Engs </a:t>
            </a:r>
            <a:r>
              <a:rPr lang="en" sz="3000">
                <a:latin typeface="Comic Sans MS"/>
                <a:ea typeface="Comic Sans MS"/>
                <a:cs typeface="Comic Sans MS"/>
                <a:sym typeface="Comic Sans MS"/>
              </a:rPr>
              <a:t>28</a:t>
            </a:r>
            <a:endParaRPr sz="3000">
              <a:solidFill>
                <a:srgbClr val="000000"/>
              </a:solidFill>
              <a:latin typeface="Comic Sans MS"/>
              <a:ea typeface="Comic Sans MS"/>
              <a:cs typeface="Comic Sans MS"/>
              <a:sym typeface="Comic Sans MS"/>
            </a:endParaRPr>
          </a:p>
          <a:p>
            <a:pPr indent="0" lvl="0" marL="0" rtl="0" algn="ctr">
              <a:spcBef>
                <a:spcPts val="0"/>
              </a:spcBef>
              <a:spcAft>
                <a:spcPts val="0"/>
              </a:spcAft>
              <a:buNone/>
            </a:pPr>
            <a:r>
              <a:rPr lang="en" sz="5200">
                <a:solidFill>
                  <a:srgbClr val="000000"/>
                </a:solidFill>
                <a:latin typeface="Comic Sans MS"/>
                <a:ea typeface="Comic Sans MS"/>
                <a:cs typeface="Comic Sans MS"/>
                <a:sym typeface="Comic Sans MS"/>
              </a:rPr>
              <a:t>Embedded Systems</a:t>
            </a:r>
            <a:endParaRPr sz="5200">
              <a:solidFill>
                <a:srgbClr val="000000"/>
              </a:solidFill>
              <a:latin typeface="Comic Sans MS"/>
              <a:ea typeface="Comic Sans MS"/>
              <a:cs typeface="Comic Sans MS"/>
              <a:sym typeface="Comic Sans MS"/>
            </a:endParaRPr>
          </a:p>
        </p:txBody>
      </p:sp>
      <p:sp>
        <p:nvSpPr>
          <p:cNvPr id="60" name="Google Shape;60;p14"/>
          <p:cNvSpPr txBox="1"/>
          <p:nvPr/>
        </p:nvSpPr>
        <p:spPr>
          <a:xfrm>
            <a:off x="311700" y="4128267"/>
            <a:ext cx="8520600" cy="105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rgbClr val="595959"/>
                </a:solidFill>
                <a:latin typeface="Comic Sans MS"/>
                <a:ea typeface="Comic Sans MS"/>
                <a:cs typeface="Comic Sans MS"/>
                <a:sym typeface="Comic Sans MS"/>
              </a:rPr>
              <a:t>Day 11</a:t>
            </a:r>
            <a:endParaRPr sz="2800">
              <a:solidFill>
                <a:srgbClr val="595959"/>
              </a:solidFill>
              <a:latin typeface="Comic Sans MS"/>
              <a:ea typeface="Comic Sans MS"/>
              <a:cs typeface="Comic Sans MS"/>
              <a:sym typeface="Comic Sans MS"/>
            </a:endParaRPr>
          </a:p>
        </p:txBody>
      </p:sp>
      <p:pic>
        <p:nvPicPr>
          <p:cNvPr id="61" name="Google Shape;61;p14"/>
          <p:cNvPicPr preferRelativeResize="0"/>
          <p:nvPr/>
        </p:nvPicPr>
        <p:blipFill>
          <a:blip r:embed="rId3">
            <a:alphaModFix/>
          </a:blip>
          <a:stretch>
            <a:fillRect/>
          </a:stretch>
        </p:blipFill>
        <p:spPr>
          <a:xfrm>
            <a:off x="525637" y="395688"/>
            <a:ext cx="1103550" cy="1334750"/>
          </a:xfrm>
          <a:prstGeom prst="rect">
            <a:avLst/>
          </a:prstGeom>
          <a:noFill/>
          <a:ln>
            <a:noFill/>
          </a:ln>
        </p:spPr>
      </p:pic>
      <p:pic>
        <p:nvPicPr>
          <p:cNvPr id="62" name="Google Shape;62;p14"/>
          <p:cNvPicPr preferRelativeResize="0"/>
          <p:nvPr/>
        </p:nvPicPr>
        <p:blipFill rotWithShape="1">
          <a:blip r:embed="rId4">
            <a:alphaModFix/>
          </a:blip>
          <a:srcRect b="0" l="0" r="0" t="0"/>
          <a:stretch/>
        </p:blipFill>
        <p:spPr>
          <a:xfrm>
            <a:off x="7600125" y="0"/>
            <a:ext cx="1543875" cy="2126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Motor Control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Top-level embedded system view</a:t>
            </a:r>
            <a:endParaRPr/>
          </a:p>
        </p:txBody>
      </p:sp>
      <p:pic>
        <p:nvPicPr>
          <p:cNvPr id="73" name="Google Shape;73;p16"/>
          <p:cNvPicPr preferRelativeResize="0"/>
          <p:nvPr/>
        </p:nvPicPr>
        <p:blipFill>
          <a:blip r:embed="rId3">
            <a:alphaModFix/>
          </a:blip>
          <a:stretch>
            <a:fillRect/>
          </a:stretch>
        </p:blipFill>
        <p:spPr>
          <a:xfrm>
            <a:off x="19050" y="1985950"/>
            <a:ext cx="9105900" cy="28860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p:nvPr/>
        </p:nvSpPr>
        <p:spPr>
          <a:xfrm>
            <a:off x="468500" y="2018175"/>
            <a:ext cx="882468" cy="668736"/>
          </a:xfrm>
          <a:prstGeom prst="cloud">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7"/>
          <p:cNvSpPr txBox="1"/>
          <p:nvPr>
            <p:ph type="title"/>
          </p:nvPr>
        </p:nvSpPr>
        <p:spPr>
          <a:xfrm>
            <a:off x="311700" y="6034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Recall: </a:t>
            </a:r>
            <a:r>
              <a:rPr lang="en"/>
              <a:t>Typical sensor signal chain</a:t>
            </a:r>
            <a:endParaRPr/>
          </a:p>
        </p:txBody>
      </p:sp>
      <p:sp>
        <p:nvSpPr>
          <p:cNvPr id="80" name="Google Shape;80;p17"/>
          <p:cNvSpPr/>
          <p:nvPr/>
        </p:nvSpPr>
        <p:spPr>
          <a:xfrm>
            <a:off x="2129004" y="1967525"/>
            <a:ext cx="1073700" cy="668700"/>
          </a:xfrm>
          <a:prstGeom prst="rect">
            <a:avLst/>
          </a:prstGeom>
          <a:solidFill>
            <a:srgbClr val="FCE5C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7"/>
          <p:cNvSpPr/>
          <p:nvPr/>
        </p:nvSpPr>
        <p:spPr>
          <a:xfrm>
            <a:off x="3980744" y="1967525"/>
            <a:ext cx="1073700" cy="6687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7"/>
          <p:cNvSpPr/>
          <p:nvPr/>
        </p:nvSpPr>
        <p:spPr>
          <a:xfrm>
            <a:off x="5832485" y="1967525"/>
            <a:ext cx="1073700" cy="668700"/>
          </a:xfrm>
          <a:prstGeom prst="rect">
            <a:avLst/>
          </a:prstGeom>
          <a:solidFill>
            <a:srgbClr val="CC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7"/>
          <p:cNvSpPr/>
          <p:nvPr/>
        </p:nvSpPr>
        <p:spPr>
          <a:xfrm>
            <a:off x="7684225" y="1967525"/>
            <a:ext cx="1073700" cy="668700"/>
          </a:xfrm>
          <a:prstGeom prst="rect">
            <a:avLst/>
          </a:prstGeom>
          <a:solidFill>
            <a:srgbClr val="000000"/>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7"/>
          <p:cNvSpPr txBox="1"/>
          <p:nvPr/>
        </p:nvSpPr>
        <p:spPr>
          <a:xfrm>
            <a:off x="2204904" y="2114525"/>
            <a:ext cx="921900" cy="37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t>Sensor</a:t>
            </a:r>
            <a:endParaRPr sz="1600"/>
          </a:p>
        </p:txBody>
      </p:sp>
      <p:sp>
        <p:nvSpPr>
          <p:cNvPr id="85" name="Google Shape;85;p17"/>
          <p:cNvSpPr txBox="1"/>
          <p:nvPr/>
        </p:nvSpPr>
        <p:spPr>
          <a:xfrm>
            <a:off x="4056644" y="2114525"/>
            <a:ext cx="921900" cy="37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t>AFE</a:t>
            </a:r>
            <a:endParaRPr sz="1600"/>
          </a:p>
        </p:txBody>
      </p:sp>
      <p:sp>
        <p:nvSpPr>
          <p:cNvPr id="86" name="Google Shape;86;p17"/>
          <p:cNvSpPr txBox="1"/>
          <p:nvPr/>
        </p:nvSpPr>
        <p:spPr>
          <a:xfrm>
            <a:off x="5908385" y="2114525"/>
            <a:ext cx="921900" cy="37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t>ADC</a:t>
            </a:r>
            <a:endParaRPr sz="1600"/>
          </a:p>
        </p:txBody>
      </p:sp>
      <p:sp>
        <p:nvSpPr>
          <p:cNvPr id="87" name="Google Shape;87;p17"/>
          <p:cNvSpPr txBox="1"/>
          <p:nvPr/>
        </p:nvSpPr>
        <p:spPr>
          <a:xfrm>
            <a:off x="7760125" y="2114525"/>
            <a:ext cx="921900" cy="37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lt1"/>
                </a:solidFill>
              </a:rPr>
              <a:t>MCU</a:t>
            </a:r>
            <a:endParaRPr b="1" sz="1600">
              <a:solidFill>
                <a:schemeClr val="lt1"/>
              </a:solidFill>
            </a:endParaRPr>
          </a:p>
        </p:txBody>
      </p:sp>
      <p:cxnSp>
        <p:nvCxnSpPr>
          <p:cNvPr id="88" name="Google Shape;88;p17"/>
          <p:cNvCxnSpPr>
            <a:stCxn id="89" idx="3"/>
            <a:endCxn id="80" idx="1"/>
          </p:cNvCxnSpPr>
          <p:nvPr/>
        </p:nvCxnSpPr>
        <p:spPr>
          <a:xfrm>
            <a:off x="1350954" y="2301875"/>
            <a:ext cx="778200" cy="0"/>
          </a:xfrm>
          <a:prstGeom prst="straightConnector1">
            <a:avLst/>
          </a:prstGeom>
          <a:noFill/>
          <a:ln cap="flat" cmpd="sng" w="19050">
            <a:solidFill>
              <a:schemeClr val="dk2"/>
            </a:solidFill>
            <a:prstDash val="solid"/>
            <a:round/>
            <a:headEnd len="med" w="med" type="none"/>
            <a:tailEnd len="med" w="med" type="triangle"/>
          </a:ln>
        </p:spPr>
      </p:cxnSp>
      <p:cxnSp>
        <p:nvCxnSpPr>
          <p:cNvPr id="90" name="Google Shape;90;p17"/>
          <p:cNvCxnSpPr>
            <a:endCxn id="81" idx="1"/>
          </p:cNvCxnSpPr>
          <p:nvPr/>
        </p:nvCxnSpPr>
        <p:spPr>
          <a:xfrm flipH="1" rot="10800000">
            <a:off x="3202844" y="2301875"/>
            <a:ext cx="777900" cy="10200"/>
          </a:xfrm>
          <a:prstGeom prst="straightConnector1">
            <a:avLst/>
          </a:prstGeom>
          <a:noFill/>
          <a:ln cap="flat" cmpd="sng" w="19050">
            <a:solidFill>
              <a:schemeClr val="dk2"/>
            </a:solidFill>
            <a:prstDash val="solid"/>
            <a:round/>
            <a:headEnd len="med" w="med" type="none"/>
            <a:tailEnd len="med" w="med" type="triangle"/>
          </a:ln>
        </p:spPr>
      </p:cxnSp>
      <p:cxnSp>
        <p:nvCxnSpPr>
          <p:cNvPr id="91" name="Google Shape;91;p17"/>
          <p:cNvCxnSpPr/>
          <p:nvPr/>
        </p:nvCxnSpPr>
        <p:spPr>
          <a:xfrm flipH="1" rot="10800000">
            <a:off x="5054507" y="2296775"/>
            <a:ext cx="777900" cy="10200"/>
          </a:xfrm>
          <a:prstGeom prst="straightConnector1">
            <a:avLst/>
          </a:prstGeom>
          <a:noFill/>
          <a:ln cap="flat" cmpd="sng" w="19050">
            <a:solidFill>
              <a:schemeClr val="dk2"/>
            </a:solidFill>
            <a:prstDash val="solid"/>
            <a:round/>
            <a:headEnd len="med" w="med" type="none"/>
            <a:tailEnd len="med" w="med" type="triangle"/>
          </a:ln>
        </p:spPr>
      </p:cxnSp>
      <p:cxnSp>
        <p:nvCxnSpPr>
          <p:cNvPr id="92" name="Google Shape;92;p17"/>
          <p:cNvCxnSpPr/>
          <p:nvPr/>
        </p:nvCxnSpPr>
        <p:spPr>
          <a:xfrm flipH="1" rot="10800000">
            <a:off x="6906182" y="2296775"/>
            <a:ext cx="777900" cy="10200"/>
          </a:xfrm>
          <a:prstGeom prst="straightConnector1">
            <a:avLst/>
          </a:prstGeom>
          <a:noFill/>
          <a:ln cap="flat" cmpd="sng" w="19050">
            <a:solidFill>
              <a:schemeClr val="dk2"/>
            </a:solidFill>
            <a:prstDash val="solid"/>
            <a:round/>
            <a:headEnd len="med" w="med" type="none"/>
            <a:tailEnd len="med" w="med" type="triangle"/>
          </a:ln>
        </p:spPr>
      </p:cxnSp>
      <p:sp>
        <p:nvSpPr>
          <p:cNvPr id="89" name="Google Shape;89;p17"/>
          <p:cNvSpPr txBox="1"/>
          <p:nvPr/>
        </p:nvSpPr>
        <p:spPr>
          <a:xfrm>
            <a:off x="429054" y="2114525"/>
            <a:ext cx="921900" cy="37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t>World</a:t>
            </a:r>
            <a:endParaRPr sz="1600"/>
          </a:p>
        </p:txBody>
      </p:sp>
      <p:sp>
        <p:nvSpPr>
          <p:cNvPr id="93" name="Google Shape;93;p17"/>
          <p:cNvSpPr txBox="1"/>
          <p:nvPr/>
        </p:nvSpPr>
        <p:spPr>
          <a:xfrm>
            <a:off x="1289000" y="1247375"/>
            <a:ext cx="840000" cy="68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physical</a:t>
            </a:r>
            <a:endParaRPr/>
          </a:p>
          <a:p>
            <a:pPr indent="0" lvl="0" marL="0" rtl="0" algn="ctr">
              <a:spcBef>
                <a:spcPts val="0"/>
              </a:spcBef>
              <a:spcAft>
                <a:spcPts val="0"/>
              </a:spcAft>
              <a:buNone/>
            </a:pPr>
            <a:r>
              <a:rPr lang="en"/>
              <a:t>quantity</a:t>
            </a:r>
            <a:endParaRPr/>
          </a:p>
        </p:txBody>
      </p:sp>
      <p:sp>
        <p:nvSpPr>
          <p:cNvPr id="94" name="Google Shape;94;p17"/>
          <p:cNvSpPr txBox="1"/>
          <p:nvPr/>
        </p:nvSpPr>
        <p:spPr>
          <a:xfrm>
            <a:off x="3126650" y="1247375"/>
            <a:ext cx="840000" cy="68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voltage</a:t>
            </a:r>
            <a:endParaRPr/>
          </a:p>
        </p:txBody>
      </p:sp>
      <p:sp>
        <p:nvSpPr>
          <p:cNvPr id="95" name="Google Shape;95;p17"/>
          <p:cNvSpPr txBox="1"/>
          <p:nvPr/>
        </p:nvSpPr>
        <p:spPr>
          <a:xfrm>
            <a:off x="5023450" y="1247375"/>
            <a:ext cx="840000" cy="68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voltage</a:t>
            </a:r>
            <a:endParaRPr/>
          </a:p>
        </p:txBody>
      </p:sp>
      <p:sp>
        <p:nvSpPr>
          <p:cNvPr id="96" name="Google Shape;96;p17"/>
          <p:cNvSpPr txBox="1"/>
          <p:nvPr/>
        </p:nvSpPr>
        <p:spPr>
          <a:xfrm>
            <a:off x="6875125" y="1247375"/>
            <a:ext cx="840000" cy="68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integers</a:t>
            </a:r>
            <a:endParaRPr/>
          </a:p>
        </p:txBody>
      </p:sp>
      <p:sp>
        <p:nvSpPr>
          <p:cNvPr id="97" name="Google Shape;97;p17"/>
          <p:cNvSpPr txBox="1"/>
          <p:nvPr/>
        </p:nvSpPr>
        <p:spPr>
          <a:xfrm>
            <a:off x="640725" y="2857625"/>
            <a:ext cx="8117100" cy="39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t>Sensor = Mechanism that translates one physical variable into another</a:t>
            </a:r>
            <a:endParaRPr sz="1600"/>
          </a:p>
          <a:p>
            <a:pPr indent="0" lvl="0" marL="0" rtl="0" algn="l">
              <a:spcBef>
                <a:spcPts val="1000"/>
              </a:spcBef>
              <a:spcAft>
                <a:spcPts val="0"/>
              </a:spcAft>
              <a:buNone/>
            </a:pPr>
            <a:r>
              <a:rPr lang="en" sz="1600"/>
              <a:t>AFE = Analog front end:  Amplify, reduce noise (a.k.a. signal conditioning)</a:t>
            </a:r>
            <a:endParaRPr sz="1600"/>
          </a:p>
          <a:p>
            <a:pPr indent="0" lvl="0" marL="0" rtl="0" algn="l">
              <a:spcBef>
                <a:spcPts val="1000"/>
              </a:spcBef>
              <a:spcAft>
                <a:spcPts val="0"/>
              </a:spcAft>
              <a:buNone/>
            </a:pPr>
            <a:r>
              <a:rPr lang="en" sz="1600"/>
              <a:t>ADC = Analog to digital converter</a:t>
            </a:r>
            <a:endParaRPr sz="1600"/>
          </a:p>
          <a:p>
            <a:pPr indent="0" lvl="0" marL="0" rtl="0" algn="l">
              <a:spcBef>
                <a:spcPts val="1000"/>
              </a:spcBef>
              <a:spcAft>
                <a:spcPts val="0"/>
              </a:spcAft>
              <a:buNone/>
            </a:pPr>
            <a:r>
              <a:rPr lang="en" sz="1600"/>
              <a:t>MCU = Microcontroller unit (i.e., our STM32C031xx)</a:t>
            </a:r>
            <a:endParaRPr sz="1600"/>
          </a:p>
          <a:p>
            <a:pPr indent="0" lvl="0" marL="0" rtl="0" algn="l">
              <a:spcBef>
                <a:spcPts val="1000"/>
              </a:spcBef>
              <a:spcAft>
                <a:spcPts val="0"/>
              </a:spcAft>
              <a:buNone/>
            </a:pPr>
            <a:r>
              <a:t/>
            </a:r>
            <a:endParaRPr sz="1600"/>
          </a:p>
          <a:p>
            <a:pPr indent="0" lvl="0" marL="0" rtl="0" algn="l">
              <a:spcBef>
                <a:spcPts val="1000"/>
              </a:spcBef>
              <a:spcAft>
                <a:spcPts val="0"/>
              </a:spcAft>
              <a:buNone/>
            </a:pPr>
            <a:r>
              <a:rPr lang="en" sz="1600"/>
              <a:t>Many sensors are “bare” (example: thermocouple, phototransistor, force-sensitive resistor)</a:t>
            </a:r>
            <a:endParaRPr sz="1600"/>
          </a:p>
          <a:p>
            <a:pPr indent="0" lvl="0" marL="0" rtl="0" algn="l">
              <a:spcBef>
                <a:spcPts val="1000"/>
              </a:spcBef>
              <a:spcAft>
                <a:spcPts val="0"/>
              </a:spcAft>
              <a:buNone/>
            </a:pPr>
            <a:r>
              <a:rPr lang="en" sz="1600"/>
              <a:t>Often, the sensor you buy has the AFE built in (example: TMP235 temperature sensor)</a:t>
            </a:r>
            <a:endParaRPr sz="1600"/>
          </a:p>
          <a:p>
            <a:pPr indent="0" lvl="0" marL="0" rtl="0" algn="l">
              <a:spcBef>
                <a:spcPts val="1000"/>
              </a:spcBef>
              <a:spcAft>
                <a:spcPts val="0"/>
              </a:spcAft>
              <a:buNone/>
            </a:pPr>
            <a:r>
              <a:rPr lang="en" sz="1600"/>
              <a:t>Often, the sensor you buy has the AFE and the ADC built in, and a serial communication interface.  (example: LSM303AGR accelerometer / magnetometer) </a:t>
            </a:r>
            <a:endParaRPr sz="1600"/>
          </a:p>
          <a:p>
            <a:pPr indent="0" lvl="0" marL="0" rtl="0" algn="l">
              <a:spcBef>
                <a:spcPts val="1000"/>
              </a:spcBef>
              <a:spcAft>
                <a:spcPts val="1000"/>
              </a:spcAft>
              <a:buNone/>
            </a:pPr>
            <a:r>
              <a:rPr lang="en" sz="1600"/>
              <a:t>Usually, the MCU has an ADC built in (ours does).</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311700" y="6034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a:t>
            </a:r>
            <a:r>
              <a:rPr lang="en"/>
              <a:t>Typical actuator signal chain</a:t>
            </a:r>
            <a:endParaRPr/>
          </a:p>
        </p:txBody>
      </p:sp>
      <p:sp>
        <p:nvSpPr>
          <p:cNvPr id="103" name="Google Shape;103;p18"/>
          <p:cNvSpPr/>
          <p:nvPr/>
        </p:nvSpPr>
        <p:spPr>
          <a:xfrm>
            <a:off x="528804" y="2046287"/>
            <a:ext cx="1073700" cy="668700"/>
          </a:xfrm>
          <a:prstGeom prst="rect">
            <a:avLst/>
          </a:prstGeom>
          <a:solidFill>
            <a:srgbClr val="000000"/>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8"/>
          <p:cNvSpPr/>
          <p:nvPr/>
        </p:nvSpPr>
        <p:spPr>
          <a:xfrm>
            <a:off x="2380544" y="2046287"/>
            <a:ext cx="1073700" cy="668700"/>
          </a:xfrm>
          <a:prstGeom prst="rect">
            <a:avLst/>
          </a:prstGeom>
          <a:solidFill>
            <a:srgbClr val="B7B7B7"/>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DAC</a:t>
            </a:r>
            <a:endParaRPr sz="1600"/>
          </a:p>
        </p:txBody>
      </p:sp>
      <p:sp>
        <p:nvSpPr>
          <p:cNvPr id="105" name="Google Shape;105;p18"/>
          <p:cNvSpPr/>
          <p:nvPr/>
        </p:nvSpPr>
        <p:spPr>
          <a:xfrm>
            <a:off x="4232285" y="2046287"/>
            <a:ext cx="1073700" cy="6687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8"/>
          <p:cNvSpPr/>
          <p:nvPr/>
        </p:nvSpPr>
        <p:spPr>
          <a:xfrm>
            <a:off x="6084025" y="2046287"/>
            <a:ext cx="1073700" cy="668700"/>
          </a:xfrm>
          <a:prstGeom prst="rect">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8"/>
          <p:cNvSpPr txBox="1"/>
          <p:nvPr/>
        </p:nvSpPr>
        <p:spPr>
          <a:xfrm>
            <a:off x="604704" y="2193287"/>
            <a:ext cx="921900" cy="37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lt1"/>
                </a:solidFill>
              </a:rPr>
              <a:t>MCU</a:t>
            </a:r>
            <a:endParaRPr b="1" sz="1600">
              <a:solidFill>
                <a:schemeClr val="lt1"/>
              </a:solidFill>
            </a:endParaRPr>
          </a:p>
        </p:txBody>
      </p:sp>
      <p:sp>
        <p:nvSpPr>
          <p:cNvPr id="108" name="Google Shape;108;p18"/>
          <p:cNvSpPr txBox="1"/>
          <p:nvPr/>
        </p:nvSpPr>
        <p:spPr>
          <a:xfrm>
            <a:off x="4308185" y="2193287"/>
            <a:ext cx="921900" cy="37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t>Driver</a:t>
            </a:r>
            <a:endParaRPr sz="1600"/>
          </a:p>
        </p:txBody>
      </p:sp>
      <p:sp>
        <p:nvSpPr>
          <p:cNvPr id="109" name="Google Shape;109;p18"/>
          <p:cNvSpPr txBox="1"/>
          <p:nvPr/>
        </p:nvSpPr>
        <p:spPr>
          <a:xfrm>
            <a:off x="6159775" y="2193287"/>
            <a:ext cx="960600" cy="37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t>Actuator</a:t>
            </a:r>
            <a:endParaRPr sz="1600"/>
          </a:p>
        </p:txBody>
      </p:sp>
      <p:cxnSp>
        <p:nvCxnSpPr>
          <p:cNvPr id="110" name="Google Shape;110;p18"/>
          <p:cNvCxnSpPr>
            <a:endCxn id="104" idx="1"/>
          </p:cNvCxnSpPr>
          <p:nvPr/>
        </p:nvCxnSpPr>
        <p:spPr>
          <a:xfrm flipH="1" rot="10800000">
            <a:off x="1602644" y="2380637"/>
            <a:ext cx="777900" cy="10200"/>
          </a:xfrm>
          <a:prstGeom prst="straightConnector1">
            <a:avLst/>
          </a:prstGeom>
          <a:noFill/>
          <a:ln cap="flat" cmpd="sng" w="19050">
            <a:solidFill>
              <a:schemeClr val="dk2"/>
            </a:solidFill>
            <a:prstDash val="solid"/>
            <a:round/>
            <a:headEnd len="med" w="med" type="none"/>
            <a:tailEnd len="med" w="med" type="triangle"/>
          </a:ln>
        </p:spPr>
      </p:cxnSp>
      <p:cxnSp>
        <p:nvCxnSpPr>
          <p:cNvPr id="111" name="Google Shape;111;p18"/>
          <p:cNvCxnSpPr/>
          <p:nvPr/>
        </p:nvCxnSpPr>
        <p:spPr>
          <a:xfrm flipH="1" rot="10800000">
            <a:off x="3454307" y="2375537"/>
            <a:ext cx="777900" cy="10200"/>
          </a:xfrm>
          <a:prstGeom prst="straightConnector1">
            <a:avLst/>
          </a:prstGeom>
          <a:noFill/>
          <a:ln cap="flat" cmpd="sng" w="19050">
            <a:solidFill>
              <a:schemeClr val="dk2"/>
            </a:solidFill>
            <a:prstDash val="solid"/>
            <a:round/>
            <a:headEnd len="med" w="med" type="none"/>
            <a:tailEnd len="med" w="med" type="triangle"/>
          </a:ln>
        </p:spPr>
      </p:cxnSp>
      <p:cxnSp>
        <p:nvCxnSpPr>
          <p:cNvPr id="112" name="Google Shape;112;p18"/>
          <p:cNvCxnSpPr/>
          <p:nvPr/>
        </p:nvCxnSpPr>
        <p:spPr>
          <a:xfrm flipH="1" rot="10800000">
            <a:off x="5305982" y="2375537"/>
            <a:ext cx="777900" cy="10200"/>
          </a:xfrm>
          <a:prstGeom prst="straightConnector1">
            <a:avLst/>
          </a:prstGeom>
          <a:noFill/>
          <a:ln cap="flat" cmpd="sng" w="19050">
            <a:solidFill>
              <a:schemeClr val="dk2"/>
            </a:solidFill>
            <a:prstDash val="solid"/>
            <a:round/>
            <a:headEnd len="med" w="med" type="none"/>
            <a:tailEnd len="med" w="med" type="triangle"/>
          </a:ln>
        </p:spPr>
      </p:cxnSp>
      <p:sp>
        <p:nvSpPr>
          <p:cNvPr id="113" name="Google Shape;113;p18"/>
          <p:cNvSpPr txBox="1"/>
          <p:nvPr/>
        </p:nvSpPr>
        <p:spPr>
          <a:xfrm>
            <a:off x="7076725" y="1323575"/>
            <a:ext cx="921900" cy="68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p</a:t>
            </a:r>
            <a:r>
              <a:rPr lang="en"/>
              <a:t>hysical quantity </a:t>
            </a:r>
            <a:endParaRPr/>
          </a:p>
        </p:txBody>
      </p:sp>
      <p:sp>
        <p:nvSpPr>
          <p:cNvPr id="114" name="Google Shape;114;p18"/>
          <p:cNvSpPr txBox="1"/>
          <p:nvPr/>
        </p:nvSpPr>
        <p:spPr>
          <a:xfrm>
            <a:off x="5274925" y="1323575"/>
            <a:ext cx="840000" cy="68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v</a:t>
            </a:r>
            <a:r>
              <a:rPr lang="en"/>
              <a:t>oltage or current</a:t>
            </a:r>
            <a:endParaRPr/>
          </a:p>
        </p:txBody>
      </p:sp>
      <p:sp>
        <p:nvSpPr>
          <p:cNvPr id="115" name="Google Shape;115;p18"/>
          <p:cNvSpPr txBox="1"/>
          <p:nvPr/>
        </p:nvSpPr>
        <p:spPr>
          <a:xfrm>
            <a:off x="3454300" y="1323575"/>
            <a:ext cx="840000" cy="68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voltage</a:t>
            </a:r>
            <a:endParaRPr/>
          </a:p>
        </p:txBody>
      </p:sp>
      <p:sp>
        <p:nvSpPr>
          <p:cNvPr id="116" name="Google Shape;116;p18"/>
          <p:cNvSpPr txBox="1"/>
          <p:nvPr/>
        </p:nvSpPr>
        <p:spPr>
          <a:xfrm>
            <a:off x="1571600" y="1323575"/>
            <a:ext cx="840000" cy="68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integers</a:t>
            </a:r>
            <a:endParaRPr/>
          </a:p>
        </p:txBody>
      </p:sp>
      <p:sp>
        <p:nvSpPr>
          <p:cNvPr id="117" name="Google Shape;117;p18"/>
          <p:cNvSpPr txBox="1"/>
          <p:nvPr/>
        </p:nvSpPr>
        <p:spPr>
          <a:xfrm>
            <a:off x="612800" y="3143800"/>
            <a:ext cx="8117100" cy="30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t>MCU = Microcontroller unit (i.e., our STM32C031xx)</a:t>
            </a:r>
            <a:endParaRPr sz="1600"/>
          </a:p>
          <a:p>
            <a:pPr indent="0" lvl="0" marL="0" rtl="0" algn="l">
              <a:spcBef>
                <a:spcPts val="1000"/>
              </a:spcBef>
              <a:spcAft>
                <a:spcPts val="0"/>
              </a:spcAft>
              <a:buNone/>
            </a:pPr>
            <a:r>
              <a:rPr lang="en" sz="1600">
                <a:solidFill>
                  <a:schemeClr val="dk1"/>
                </a:solidFill>
              </a:rPr>
              <a:t>DAC = Digital to analog converter</a:t>
            </a:r>
            <a:endParaRPr sz="1600">
              <a:solidFill>
                <a:schemeClr val="dk1"/>
              </a:solidFill>
            </a:endParaRPr>
          </a:p>
          <a:p>
            <a:pPr indent="0" lvl="0" marL="0" rtl="0" algn="l">
              <a:spcBef>
                <a:spcPts val="1000"/>
              </a:spcBef>
              <a:spcAft>
                <a:spcPts val="0"/>
              </a:spcAft>
              <a:buNone/>
            </a:pPr>
            <a:r>
              <a:rPr lang="en" sz="1600">
                <a:solidFill>
                  <a:schemeClr val="dk1"/>
                </a:solidFill>
              </a:rPr>
              <a:t>Driver = Convert low voltage (current) from DAC to higher voltage (current) for actuator.</a:t>
            </a:r>
            <a:endParaRPr sz="1600">
              <a:solidFill>
                <a:schemeClr val="dk1"/>
              </a:solidFill>
            </a:endParaRPr>
          </a:p>
          <a:p>
            <a:pPr indent="0" lvl="0" marL="0" rtl="0" algn="l">
              <a:spcBef>
                <a:spcPts val="1000"/>
              </a:spcBef>
              <a:spcAft>
                <a:spcPts val="0"/>
              </a:spcAft>
              <a:buClr>
                <a:schemeClr val="dk1"/>
              </a:buClr>
              <a:buSzPts val="1100"/>
              <a:buFont typeface="Arial"/>
              <a:buNone/>
            </a:pPr>
            <a:r>
              <a:rPr lang="en" sz="1600">
                <a:solidFill>
                  <a:schemeClr val="dk1"/>
                </a:solidFill>
              </a:rPr>
              <a:t>Actuator = Convert voltage or current into a physical quantity (force, motion, heat, flow)</a:t>
            </a:r>
            <a:endParaRPr sz="1600">
              <a:solidFill>
                <a:schemeClr val="dk1"/>
              </a:solidFill>
            </a:endParaRPr>
          </a:p>
          <a:p>
            <a:pPr indent="0" lvl="0" marL="0" rtl="0" algn="l">
              <a:spcBef>
                <a:spcPts val="1000"/>
              </a:spcBef>
              <a:spcAft>
                <a:spcPts val="0"/>
              </a:spcAft>
              <a:buNone/>
            </a:pPr>
            <a:r>
              <a:t/>
            </a:r>
            <a:endParaRPr sz="1600"/>
          </a:p>
          <a:p>
            <a:pPr indent="0" lvl="0" marL="0" rtl="0" algn="l">
              <a:spcBef>
                <a:spcPts val="1000"/>
              </a:spcBef>
              <a:spcAft>
                <a:spcPts val="0"/>
              </a:spcAft>
              <a:buNone/>
            </a:pPr>
            <a:r>
              <a:rPr lang="en" sz="1600"/>
              <a:t>All but the smallest actuators require a driver.</a:t>
            </a:r>
            <a:endParaRPr sz="1600"/>
          </a:p>
          <a:p>
            <a:pPr indent="0" lvl="0" marL="0" rtl="0" algn="l">
              <a:spcBef>
                <a:spcPts val="1000"/>
              </a:spcBef>
              <a:spcAft>
                <a:spcPts val="1000"/>
              </a:spcAft>
              <a:buNone/>
            </a:pPr>
            <a:r>
              <a:rPr lang="en" sz="1600"/>
              <a:t>Many MCUs don’t have true linear DACs (integer → voltage), but they almost always have an approximate DAC called a pulse width modulator (PWM).  </a:t>
            </a:r>
            <a:endParaRPr sz="1600"/>
          </a:p>
        </p:txBody>
      </p:sp>
      <p:sp>
        <p:nvSpPr>
          <p:cNvPr id="118" name="Google Shape;118;p18"/>
          <p:cNvSpPr/>
          <p:nvPr/>
        </p:nvSpPr>
        <p:spPr>
          <a:xfrm>
            <a:off x="7873625" y="2046269"/>
            <a:ext cx="882468" cy="668736"/>
          </a:xfrm>
          <a:prstGeom prst="cloud">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8"/>
          <p:cNvSpPr txBox="1"/>
          <p:nvPr/>
        </p:nvSpPr>
        <p:spPr>
          <a:xfrm>
            <a:off x="7834204" y="2193287"/>
            <a:ext cx="921900" cy="37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t>World</a:t>
            </a:r>
            <a:endParaRPr sz="1600"/>
          </a:p>
        </p:txBody>
      </p:sp>
      <p:cxnSp>
        <p:nvCxnSpPr>
          <p:cNvPr id="120" name="Google Shape;120;p18"/>
          <p:cNvCxnSpPr/>
          <p:nvPr/>
        </p:nvCxnSpPr>
        <p:spPr>
          <a:xfrm flipH="1" rot="10800000">
            <a:off x="7120382" y="2375537"/>
            <a:ext cx="777900" cy="1020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a DC permanent magnet motor works </a:t>
            </a:r>
            <a:endParaRPr sz="1800"/>
          </a:p>
        </p:txBody>
      </p:sp>
      <p:pic>
        <p:nvPicPr>
          <p:cNvPr id="126" name="Google Shape;126;p19"/>
          <p:cNvPicPr preferRelativeResize="0"/>
          <p:nvPr/>
        </p:nvPicPr>
        <p:blipFill>
          <a:blip r:embed="rId3">
            <a:alphaModFix/>
          </a:blip>
          <a:stretch>
            <a:fillRect/>
          </a:stretch>
        </p:blipFill>
        <p:spPr>
          <a:xfrm>
            <a:off x="228600" y="1356876"/>
            <a:ext cx="2057400" cy="2057400"/>
          </a:xfrm>
          <a:prstGeom prst="rect">
            <a:avLst/>
          </a:prstGeom>
          <a:noFill/>
          <a:ln>
            <a:noFill/>
          </a:ln>
        </p:spPr>
      </p:pic>
      <p:pic>
        <p:nvPicPr>
          <p:cNvPr id="127" name="Google Shape;127;p19"/>
          <p:cNvPicPr preferRelativeResize="0"/>
          <p:nvPr/>
        </p:nvPicPr>
        <p:blipFill>
          <a:blip r:embed="rId4">
            <a:alphaModFix/>
          </a:blip>
          <a:stretch>
            <a:fillRect/>
          </a:stretch>
        </p:blipFill>
        <p:spPr>
          <a:xfrm>
            <a:off x="2374392" y="1356876"/>
            <a:ext cx="2057400" cy="2057400"/>
          </a:xfrm>
          <a:prstGeom prst="rect">
            <a:avLst/>
          </a:prstGeom>
          <a:noFill/>
          <a:ln>
            <a:noFill/>
          </a:ln>
        </p:spPr>
      </p:pic>
      <p:pic>
        <p:nvPicPr>
          <p:cNvPr id="128" name="Google Shape;128;p19"/>
          <p:cNvPicPr preferRelativeResize="0"/>
          <p:nvPr/>
        </p:nvPicPr>
        <p:blipFill>
          <a:blip r:embed="rId5">
            <a:alphaModFix/>
          </a:blip>
          <a:stretch>
            <a:fillRect/>
          </a:stretch>
        </p:blipFill>
        <p:spPr>
          <a:xfrm>
            <a:off x="4532829" y="1356876"/>
            <a:ext cx="2057400" cy="2057400"/>
          </a:xfrm>
          <a:prstGeom prst="rect">
            <a:avLst/>
          </a:prstGeom>
          <a:noFill/>
          <a:ln>
            <a:noFill/>
          </a:ln>
        </p:spPr>
      </p:pic>
      <p:pic>
        <p:nvPicPr>
          <p:cNvPr id="129" name="Google Shape;129;p19"/>
          <p:cNvPicPr preferRelativeResize="0"/>
          <p:nvPr/>
        </p:nvPicPr>
        <p:blipFill>
          <a:blip r:embed="rId6">
            <a:alphaModFix/>
          </a:blip>
          <a:stretch>
            <a:fillRect/>
          </a:stretch>
        </p:blipFill>
        <p:spPr>
          <a:xfrm>
            <a:off x="6691266" y="1356876"/>
            <a:ext cx="2057400" cy="2057400"/>
          </a:xfrm>
          <a:prstGeom prst="rect">
            <a:avLst/>
          </a:prstGeom>
          <a:noFill/>
          <a:ln>
            <a:noFill/>
          </a:ln>
        </p:spPr>
      </p:pic>
      <p:sp>
        <p:nvSpPr>
          <p:cNvPr id="130" name="Google Shape;130;p19"/>
          <p:cNvSpPr txBox="1"/>
          <p:nvPr/>
        </p:nvSpPr>
        <p:spPr>
          <a:xfrm>
            <a:off x="443925" y="3670875"/>
            <a:ext cx="3741900" cy="124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Electric current flowing through </a:t>
            </a:r>
            <a:r>
              <a:rPr i="1" lang="en"/>
              <a:t>brushes</a:t>
            </a:r>
            <a:r>
              <a:rPr lang="en"/>
              <a:t> into </a:t>
            </a:r>
            <a:r>
              <a:rPr i="1" lang="en"/>
              <a:t>armature</a:t>
            </a:r>
            <a:r>
              <a:rPr lang="en"/>
              <a:t> coils creates a magnetic field.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Repulsion by field from </a:t>
            </a:r>
            <a:r>
              <a:rPr i="1" lang="en"/>
              <a:t>permanent magnets</a:t>
            </a:r>
            <a:r>
              <a:rPr lang="en"/>
              <a:t> causes armature to rotate.</a:t>
            </a:r>
            <a:endParaRPr/>
          </a:p>
        </p:txBody>
      </p:sp>
      <p:sp>
        <p:nvSpPr>
          <p:cNvPr id="131" name="Google Shape;131;p19"/>
          <p:cNvSpPr txBox="1"/>
          <p:nvPr/>
        </p:nvSpPr>
        <p:spPr>
          <a:xfrm>
            <a:off x="4822100" y="3670875"/>
            <a:ext cx="3831600" cy="18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Current flow is reversed via </a:t>
            </a:r>
            <a:r>
              <a:rPr i="1" lang="en"/>
              <a:t>commutator </a:t>
            </a:r>
            <a:r>
              <a:rPr lang="en"/>
              <a:t>so the armature continues to be repelled by magnets and keeps rotating.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Motor torque is proportional to current.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Armature rotating in magnetic field generates a “back emf” proportional to speed.  </a:t>
            </a:r>
            <a:endParaRPr/>
          </a:p>
        </p:txBody>
      </p:sp>
      <p:sp>
        <p:nvSpPr>
          <p:cNvPr id="132" name="Google Shape;132;p19"/>
          <p:cNvSpPr txBox="1"/>
          <p:nvPr/>
        </p:nvSpPr>
        <p:spPr>
          <a:xfrm>
            <a:off x="4740825" y="6186475"/>
            <a:ext cx="4225800" cy="55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solidFill>
                  <a:schemeClr val="dk1"/>
                </a:solidFill>
              </a:rPr>
              <a:t>Ref: Wikipedia, “Brushed DC Electric Motor”</a:t>
            </a:r>
            <a:endParaRPr i="1" sz="1200">
              <a:solidFill>
                <a:schemeClr val="dk1"/>
              </a:solidFill>
            </a:endParaRPr>
          </a:p>
          <a:p>
            <a:pPr indent="0" lvl="0" marL="0" rtl="0" algn="l">
              <a:spcBef>
                <a:spcPts val="0"/>
              </a:spcBef>
              <a:spcAft>
                <a:spcPts val="0"/>
              </a:spcAft>
              <a:buNone/>
            </a:pPr>
            <a:r>
              <a:rPr i="1" lang="en" sz="1200">
                <a:solidFill>
                  <a:schemeClr val="dk1"/>
                </a:solidFill>
              </a:rPr>
              <a:t>https://en.wikipedia.org/wiki/Brushed_DC_electric_motor</a:t>
            </a:r>
            <a:endParaRPr i="1" sz="1200"/>
          </a:p>
        </p:txBody>
      </p:sp>
      <p:sp>
        <p:nvSpPr>
          <p:cNvPr id="133" name="Google Shape;133;p19"/>
          <p:cNvSpPr txBox="1"/>
          <p:nvPr/>
        </p:nvSpPr>
        <p:spPr>
          <a:xfrm>
            <a:off x="443925" y="5172175"/>
            <a:ext cx="3490200" cy="557700"/>
          </a:xfrm>
          <a:prstGeom prst="rect">
            <a:avLst/>
          </a:prstGeom>
          <a:noFill/>
          <a:ln cap="flat" cmpd="sng" w="19050">
            <a:solidFill>
              <a:srgbClr val="CC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CC0000"/>
                </a:solidFill>
              </a:rPr>
              <a:t>See Williams, pp 297-303 (Chapter 11, DC Motors section).</a:t>
            </a:r>
            <a:endParaRPr>
              <a:solidFill>
                <a:srgbClr val="CC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voltage drives motor speed</a:t>
            </a:r>
            <a:endParaRPr/>
          </a:p>
        </p:txBody>
      </p:sp>
      <p:sp>
        <p:nvSpPr>
          <p:cNvPr id="139" name="Google Shape;139;p20"/>
          <p:cNvSpPr txBox="1"/>
          <p:nvPr/>
        </p:nvSpPr>
        <p:spPr>
          <a:xfrm>
            <a:off x="455775" y="1465575"/>
            <a:ext cx="8473500" cy="5194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600"/>
          </a:p>
          <a:p>
            <a:pPr indent="0" lvl="0" marL="0" rtl="0" algn="l">
              <a:lnSpc>
                <a:spcPct val="115000"/>
              </a:lnSpc>
              <a:spcBef>
                <a:spcPts val="1000"/>
              </a:spcBef>
              <a:spcAft>
                <a:spcPts val="0"/>
              </a:spcAft>
              <a:buNone/>
            </a:pPr>
            <a:r>
              <a:t/>
            </a:r>
            <a:endParaRPr sz="1600"/>
          </a:p>
          <a:p>
            <a:pPr indent="0" lvl="0" marL="0" rtl="0" algn="l">
              <a:lnSpc>
                <a:spcPct val="115000"/>
              </a:lnSpc>
              <a:spcBef>
                <a:spcPts val="1000"/>
              </a:spcBef>
              <a:spcAft>
                <a:spcPts val="0"/>
              </a:spcAft>
              <a:buNone/>
            </a:pPr>
            <a:r>
              <a:t/>
            </a:r>
            <a:endParaRPr sz="1600"/>
          </a:p>
          <a:p>
            <a:pPr indent="0" lvl="0" marL="0" rtl="0" algn="l">
              <a:lnSpc>
                <a:spcPct val="115000"/>
              </a:lnSpc>
              <a:spcBef>
                <a:spcPts val="1000"/>
              </a:spcBef>
              <a:spcAft>
                <a:spcPts val="0"/>
              </a:spcAft>
              <a:buNone/>
            </a:pPr>
            <a:r>
              <a:t/>
            </a:r>
            <a:endParaRPr sz="1600"/>
          </a:p>
          <a:p>
            <a:pPr indent="0" lvl="0" marL="0" rtl="0" algn="l">
              <a:lnSpc>
                <a:spcPct val="115000"/>
              </a:lnSpc>
              <a:spcBef>
                <a:spcPts val="1000"/>
              </a:spcBef>
              <a:spcAft>
                <a:spcPts val="0"/>
              </a:spcAft>
              <a:buNone/>
            </a:pPr>
            <a:r>
              <a:t/>
            </a:r>
            <a:endParaRPr sz="1600"/>
          </a:p>
          <a:p>
            <a:pPr indent="0" lvl="0" marL="0" rtl="0" algn="l">
              <a:lnSpc>
                <a:spcPct val="115000"/>
              </a:lnSpc>
              <a:spcBef>
                <a:spcPts val="1000"/>
              </a:spcBef>
              <a:spcAft>
                <a:spcPts val="0"/>
              </a:spcAft>
              <a:buNone/>
            </a:pPr>
            <a:r>
              <a:rPr lang="en" sz="1900"/>
              <a:t>Current ➞ electromagnet field ➞ repels permanent magnet field ➞ torque</a:t>
            </a:r>
            <a:endParaRPr sz="1900"/>
          </a:p>
          <a:p>
            <a:pPr indent="0" lvl="0" marL="0" rtl="0" algn="l">
              <a:lnSpc>
                <a:spcPct val="115000"/>
              </a:lnSpc>
              <a:spcBef>
                <a:spcPts val="0"/>
              </a:spcBef>
              <a:spcAft>
                <a:spcPts val="0"/>
              </a:spcAft>
              <a:buNone/>
            </a:pPr>
            <a:r>
              <a:t/>
            </a:r>
            <a:endParaRPr sz="1900"/>
          </a:p>
          <a:p>
            <a:pPr indent="-349250" lvl="0" marL="457200" rtl="0" algn="l">
              <a:lnSpc>
                <a:spcPct val="115000"/>
              </a:lnSpc>
              <a:spcBef>
                <a:spcPts val="0"/>
              </a:spcBef>
              <a:spcAft>
                <a:spcPts val="0"/>
              </a:spcAft>
              <a:buSzPts val="1900"/>
              <a:buChar char="●"/>
            </a:pPr>
            <a:r>
              <a:rPr lang="en" sz="1900"/>
              <a:t>Torque is proportional to current:						  </a:t>
            </a:r>
            <a:r>
              <a:rPr lang="en" sz="1900">
                <a:highlight>
                  <a:srgbClr val="FFE599"/>
                </a:highlight>
              </a:rPr>
              <a:t>𝜏 </a:t>
            </a:r>
            <a:r>
              <a:rPr i="1" lang="en" sz="1900">
                <a:highlight>
                  <a:srgbClr val="FFE599"/>
                </a:highlight>
                <a:latin typeface="Palatino Linotype"/>
                <a:ea typeface="Palatino Linotype"/>
                <a:cs typeface="Palatino Linotype"/>
                <a:sym typeface="Palatino Linotype"/>
              </a:rPr>
              <a:t>= K</a:t>
            </a:r>
            <a:r>
              <a:rPr baseline="-25000" i="1" lang="en" sz="1900">
                <a:highlight>
                  <a:srgbClr val="FFE599"/>
                </a:highlight>
                <a:latin typeface="Palatino Linotype"/>
                <a:ea typeface="Palatino Linotype"/>
                <a:cs typeface="Palatino Linotype"/>
                <a:sym typeface="Palatino Linotype"/>
              </a:rPr>
              <a:t>t</a:t>
            </a:r>
            <a:r>
              <a:rPr i="1" lang="en" sz="1900">
                <a:highlight>
                  <a:srgbClr val="FFE599"/>
                </a:highlight>
                <a:latin typeface="Palatino Linotype"/>
                <a:ea typeface="Palatino Linotype"/>
                <a:cs typeface="Palatino Linotype"/>
                <a:sym typeface="Palatino Linotype"/>
              </a:rPr>
              <a:t> i</a:t>
            </a:r>
            <a:endParaRPr sz="1900"/>
          </a:p>
          <a:p>
            <a:pPr indent="-349250" lvl="0" marL="457200" rtl="0" algn="l">
              <a:lnSpc>
                <a:spcPct val="115000"/>
              </a:lnSpc>
              <a:spcBef>
                <a:spcPts val="0"/>
              </a:spcBef>
              <a:spcAft>
                <a:spcPts val="0"/>
              </a:spcAft>
              <a:buClr>
                <a:schemeClr val="dk1"/>
              </a:buClr>
              <a:buSzPts val="1900"/>
              <a:buChar char="●"/>
            </a:pPr>
            <a:r>
              <a:rPr lang="en" sz="1900">
                <a:solidFill>
                  <a:schemeClr val="dk1"/>
                </a:solidFill>
              </a:rPr>
              <a:t>At steady speed, torque just overcomes friction:		  </a:t>
            </a:r>
            <a:r>
              <a:rPr lang="en" sz="1900">
                <a:solidFill>
                  <a:schemeClr val="dk1"/>
                </a:solidFill>
                <a:highlight>
                  <a:srgbClr val="FFE599"/>
                </a:highlight>
              </a:rPr>
              <a:t>𝜏 </a:t>
            </a:r>
            <a:r>
              <a:rPr i="1" lang="en" sz="1900">
                <a:solidFill>
                  <a:schemeClr val="dk1"/>
                </a:solidFill>
                <a:highlight>
                  <a:srgbClr val="FFE599"/>
                </a:highlight>
                <a:latin typeface="Palatino Linotype"/>
                <a:ea typeface="Palatino Linotype"/>
                <a:cs typeface="Palatino Linotype"/>
                <a:sym typeface="Palatino Linotype"/>
              </a:rPr>
              <a:t>= b 𝜔</a:t>
            </a:r>
            <a:endParaRPr sz="1900"/>
          </a:p>
          <a:p>
            <a:pPr indent="0" lvl="0" marL="0" rtl="0" algn="l">
              <a:lnSpc>
                <a:spcPct val="115000"/>
              </a:lnSpc>
              <a:spcBef>
                <a:spcPts val="1000"/>
              </a:spcBef>
              <a:spcAft>
                <a:spcPts val="0"/>
              </a:spcAft>
              <a:buNone/>
            </a:pPr>
            <a:r>
              <a:t/>
            </a:r>
            <a:endParaRPr sz="1900"/>
          </a:p>
          <a:p>
            <a:pPr indent="0" lvl="0" marL="0" rtl="0" algn="l">
              <a:lnSpc>
                <a:spcPct val="115000"/>
              </a:lnSpc>
              <a:spcBef>
                <a:spcPts val="0"/>
              </a:spcBef>
              <a:spcAft>
                <a:spcPts val="0"/>
              </a:spcAft>
              <a:buNone/>
            </a:pPr>
            <a:r>
              <a:rPr lang="en" sz="1900"/>
              <a:t>Moving coil in magnetic field ➞ voltage (generator)</a:t>
            </a:r>
            <a:endParaRPr sz="1900"/>
          </a:p>
          <a:p>
            <a:pPr indent="-349250" lvl="0" marL="457200" rtl="0" algn="l">
              <a:lnSpc>
                <a:spcPct val="115000"/>
              </a:lnSpc>
              <a:spcBef>
                <a:spcPts val="0"/>
              </a:spcBef>
              <a:spcAft>
                <a:spcPts val="0"/>
              </a:spcAft>
              <a:buSzPts val="1900"/>
              <a:buChar char="●"/>
            </a:pPr>
            <a:r>
              <a:rPr lang="en" sz="1900"/>
              <a:t>Generator voltage (“back emf”) is proportional to speed	  </a:t>
            </a:r>
            <a:r>
              <a:rPr i="1" lang="en" sz="1900">
                <a:solidFill>
                  <a:schemeClr val="dk1"/>
                </a:solidFill>
                <a:highlight>
                  <a:srgbClr val="FFE599"/>
                </a:highlight>
                <a:latin typeface="Palatino Linotype"/>
                <a:ea typeface="Palatino Linotype"/>
                <a:cs typeface="Palatino Linotype"/>
                <a:sym typeface="Palatino Linotype"/>
              </a:rPr>
              <a:t>e</a:t>
            </a:r>
            <a:r>
              <a:rPr lang="en" sz="1900">
                <a:solidFill>
                  <a:schemeClr val="dk1"/>
                </a:solidFill>
                <a:highlight>
                  <a:srgbClr val="FFE599"/>
                </a:highlight>
              </a:rPr>
              <a:t> </a:t>
            </a:r>
            <a:r>
              <a:rPr i="1" lang="en" sz="1900">
                <a:solidFill>
                  <a:schemeClr val="dk1"/>
                </a:solidFill>
                <a:highlight>
                  <a:srgbClr val="FFE599"/>
                </a:highlight>
                <a:latin typeface="Palatino Linotype"/>
                <a:ea typeface="Palatino Linotype"/>
                <a:cs typeface="Palatino Linotype"/>
                <a:sym typeface="Palatino Linotype"/>
              </a:rPr>
              <a:t>= K</a:t>
            </a:r>
            <a:r>
              <a:rPr baseline="-25000" i="1" lang="en" sz="1900">
                <a:solidFill>
                  <a:schemeClr val="dk1"/>
                </a:solidFill>
                <a:highlight>
                  <a:srgbClr val="FFE599"/>
                </a:highlight>
                <a:latin typeface="Palatino Linotype"/>
                <a:ea typeface="Palatino Linotype"/>
                <a:cs typeface="Palatino Linotype"/>
                <a:sym typeface="Palatino Linotype"/>
              </a:rPr>
              <a:t>e</a:t>
            </a:r>
            <a:r>
              <a:rPr i="1" lang="en" sz="1900">
                <a:solidFill>
                  <a:schemeClr val="dk1"/>
                </a:solidFill>
                <a:highlight>
                  <a:srgbClr val="FFE599"/>
                </a:highlight>
                <a:latin typeface="Palatino Linotype"/>
                <a:ea typeface="Palatino Linotype"/>
                <a:cs typeface="Palatino Linotype"/>
                <a:sym typeface="Palatino Linotype"/>
              </a:rPr>
              <a:t> 𝜔</a:t>
            </a:r>
            <a:endParaRPr i="1" sz="1900">
              <a:solidFill>
                <a:schemeClr val="dk1"/>
              </a:solidFill>
              <a:highlight>
                <a:srgbClr val="FFE599"/>
              </a:highlight>
              <a:latin typeface="Palatino Linotype"/>
              <a:ea typeface="Palatino Linotype"/>
              <a:cs typeface="Palatino Linotype"/>
              <a:sym typeface="Palatino Linotype"/>
            </a:endParaRPr>
          </a:p>
          <a:p>
            <a:pPr indent="-349250" lvl="0" marL="457200" rtl="0" algn="l">
              <a:lnSpc>
                <a:spcPct val="115000"/>
              </a:lnSpc>
              <a:spcBef>
                <a:spcPts val="0"/>
              </a:spcBef>
              <a:spcAft>
                <a:spcPts val="0"/>
              </a:spcAft>
              <a:buSzPts val="1900"/>
              <a:buChar char="●"/>
            </a:pPr>
            <a:r>
              <a:rPr lang="en" sz="1900"/>
              <a:t>Motor coils have some DC resistance:					  </a:t>
            </a:r>
            <a:r>
              <a:rPr i="1" lang="en" sz="1900">
                <a:highlight>
                  <a:srgbClr val="FFE599"/>
                </a:highlight>
                <a:latin typeface="Palatino Linotype"/>
                <a:ea typeface="Palatino Linotype"/>
                <a:cs typeface="Palatino Linotype"/>
                <a:sym typeface="Palatino Linotype"/>
              </a:rPr>
              <a:t>V – e = i R</a:t>
            </a:r>
            <a:r>
              <a:rPr baseline="-25000" i="1" lang="en" sz="1900">
                <a:highlight>
                  <a:srgbClr val="FFE599"/>
                </a:highlight>
                <a:latin typeface="Palatino Linotype"/>
                <a:ea typeface="Palatino Linotype"/>
                <a:cs typeface="Palatino Linotype"/>
                <a:sym typeface="Palatino Linotype"/>
              </a:rPr>
              <a:t>a</a:t>
            </a:r>
            <a:r>
              <a:rPr lang="en" sz="1900">
                <a:highlight>
                  <a:srgbClr val="FFE599"/>
                </a:highlight>
              </a:rPr>
              <a:t> </a:t>
            </a:r>
            <a:endParaRPr sz="1900">
              <a:highlight>
                <a:srgbClr val="FFE599"/>
              </a:highlight>
            </a:endParaRPr>
          </a:p>
          <a:p>
            <a:pPr indent="0" lvl="0" marL="0" rtl="0" algn="l">
              <a:lnSpc>
                <a:spcPct val="115000"/>
              </a:lnSpc>
              <a:spcBef>
                <a:spcPts val="1000"/>
              </a:spcBef>
              <a:spcAft>
                <a:spcPts val="0"/>
              </a:spcAft>
              <a:buNone/>
            </a:pPr>
            <a:r>
              <a:t/>
            </a:r>
            <a:endParaRPr sz="1900"/>
          </a:p>
          <a:p>
            <a:pPr indent="0" lvl="0" marL="0" rtl="0" algn="l">
              <a:lnSpc>
                <a:spcPct val="115000"/>
              </a:lnSpc>
              <a:spcBef>
                <a:spcPts val="0"/>
              </a:spcBef>
              <a:spcAft>
                <a:spcPts val="1000"/>
              </a:spcAft>
              <a:buNone/>
            </a:pPr>
            <a:r>
              <a:t/>
            </a:r>
            <a:endParaRPr sz="1600"/>
          </a:p>
        </p:txBody>
      </p:sp>
      <p:pic>
        <p:nvPicPr>
          <p:cNvPr id="140" name="Google Shape;140;p20"/>
          <p:cNvPicPr preferRelativeResize="0"/>
          <p:nvPr/>
        </p:nvPicPr>
        <p:blipFill>
          <a:blip r:embed="rId3">
            <a:alphaModFix/>
          </a:blip>
          <a:stretch>
            <a:fillRect/>
          </a:stretch>
        </p:blipFill>
        <p:spPr>
          <a:xfrm>
            <a:off x="2300500" y="1465575"/>
            <a:ext cx="3028950" cy="1295400"/>
          </a:xfrm>
          <a:prstGeom prst="rect">
            <a:avLst/>
          </a:prstGeom>
          <a:noFill/>
          <a:ln>
            <a:noFill/>
          </a:ln>
        </p:spPr>
      </p:pic>
      <p:sp>
        <p:nvSpPr>
          <p:cNvPr id="141" name="Google Shape;141;p20"/>
          <p:cNvSpPr txBox="1"/>
          <p:nvPr/>
        </p:nvSpPr>
        <p:spPr>
          <a:xfrm>
            <a:off x="5988025" y="1202025"/>
            <a:ext cx="2555100" cy="182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 sz="1900">
                <a:solidFill>
                  <a:srgbClr val="0000FF"/>
                </a:solidFill>
              </a:rPr>
              <a:t>𝜏 - torque</a:t>
            </a:r>
            <a:br>
              <a:rPr lang="en" sz="1900">
                <a:solidFill>
                  <a:srgbClr val="0000FF"/>
                </a:solidFill>
              </a:rPr>
            </a:br>
            <a:r>
              <a:rPr i="1" lang="en" sz="1900">
                <a:solidFill>
                  <a:srgbClr val="0000FF"/>
                </a:solidFill>
                <a:latin typeface="Palatino Linotype"/>
                <a:ea typeface="Palatino Linotype"/>
                <a:cs typeface="Palatino Linotype"/>
                <a:sym typeface="Palatino Linotype"/>
              </a:rPr>
              <a:t>i </a:t>
            </a:r>
            <a:r>
              <a:rPr lang="en" sz="1900">
                <a:solidFill>
                  <a:srgbClr val="0000FF"/>
                </a:solidFill>
              </a:rPr>
              <a:t>- current</a:t>
            </a:r>
            <a:br>
              <a:rPr lang="en" sz="1900">
                <a:solidFill>
                  <a:srgbClr val="0000FF"/>
                </a:solidFill>
              </a:rPr>
            </a:br>
            <a:r>
              <a:rPr i="1" lang="en" sz="1900">
                <a:solidFill>
                  <a:srgbClr val="0000FF"/>
                </a:solidFill>
                <a:latin typeface="Palatino Linotype"/>
                <a:ea typeface="Palatino Linotype"/>
                <a:cs typeface="Palatino Linotype"/>
                <a:sym typeface="Palatino Linotype"/>
              </a:rPr>
              <a:t>𝜔 </a:t>
            </a:r>
            <a:r>
              <a:rPr lang="en" sz="1900">
                <a:solidFill>
                  <a:srgbClr val="0000FF"/>
                </a:solidFill>
              </a:rPr>
              <a:t>- rotational speed</a:t>
            </a:r>
            <a:br>
              <a:rPr lang="en" sz="1900">
                <a:solidFill>
                  <a:srgbClr val="0000FF"/>
                </a:solidFill>
              </a:rPr>
            </a:br>
            <a:r>
              <a:rPr i="1" lang="en" sz="1900">
                <a:solidFill>
                  <a:srgbClr val="0000FF"/>
                </a:solidFill>
                <a:latin typeface="Palatino Linotype"/>
                <a:ea typeface="Palatino Linotype"/>
                <a:cs typeface="Palatino Linotype"/>
                <a:sym typeface="Palatino Linotype"/>
              </a:rPr>
              <a:t>e </a:t>
            </a:r>
            <a:r>
              <a:rPr lang="en" sz="1900">
                <a:solidFill>
                  <a:srgbClr val="0000FF"/>
                </a:solidFill>
              </a:rPr>
              <a:t>- back EMF</a:t>
            </a:r>
            <a:br>
              <a:rPr lang="en" sz="1900">
                <a:solidFill>
                  <a:srgbClr val="0000FF"/>
                </a:solidFill>
              </a:rPr>
            </a:br>
            <a:r>
              <a:rPr i="1" lang="en" sz="1900">
                <a:solidFill>
                  <a:srgbClr val="0000FF"/>
                </a:solidFill>
                <a:latin typeface="Palatino Linotype"/>
                <a:ea typeface="Palatino Linotype"/>
                <a:cs typeface="Palatino Linotype"/>
                <a:sym typeface="Palatino Linotype"/>
              </a:rPr>
              <a:t>V </a:t>
            </a:r>
            <a:r>
              <a:rPr lang="en" sz="1900">
                <a:solidFill>
                  <a:srgbClr val="0000FF"/>
                </a:solidFill>
              </a:rPr>
              <a:t>- voltage</a:t>
            </a:r>
            <a:endParaRPr sz="1900">
              <a:solidFill>
                <a:srgbClr val="0000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1"/>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voltage drives motor speed (2)</a:t>
            </a:r>
            <a:endParaRPr/>
          </a:p>
        </p:txBody>
      </p:sp>
      <p:sp>
        <p:nvSpPr>
          <p:cNvPr id="147" name="Google Shape;147;p21"/>
          <p:cNvSpPr txBox="1"/>
          <p:nvPr/>
        </p:nvSpPr>
        <p:spPr>
          <a:xfrm>
            <a:off x="455775" y="2666500"/>
            <a:ext cx="8473500" cy="396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t>Solve for equilibrium speed:</a:t>
            </a:r>
            <a:endParaRPr sz="1600"/>
          </a:p>
          <a:p>
            <a:pPr indent="0" lvl="0" marL="0" rtl="0" algn="l">
              <a:lnSpc>
                <a:spcPct val="115000"/>
              </a:lnSpc>
              <a:spcBef>
                <a:spcPts val="0"/>
              </a:spcBef>
              <a:spcAft>
                <a:spcPts val="0"/>
              </a:spcAft>
              <a:buNone/>
            </a:pPr>
            <a:r>
              <a:t/>
            </a:r>
            <a:endParaRPr sz="1600"/>
          </a:p>
          <a:p>
            <a:pPr indent="0" lvl="0" marL="0" rtl="0" algn="l">
              <a:lnSpc>
                <a:spcPct val="115000"/>
              </a:lnSpc>
              <a:spcBef>
                <a:spcPts val="0"/>
              </a:spcBef>
              <a:spcAft>
                <a:spcPts val="0"/>
              </a:spcAft>
              <a:buNone/>
            </a:pPr>
            <a:r>
              <a:t/>
            </a:r>
            <a:endParaRPr sz="1600"/>
          </a:p>
          <a:p>
            <a:pPr indent="0" lvl="0" marL="0" rtl="0" algn="l">
              <a:lnSpc>
                <a:spcPct val="115000"/>
              </a:lnSpc>
              <a:spcBef>
                <a:spcPts val="0"/>
              </a:spcBef>
              <a:spcAft>
                <a:spcPts val="0"/>
              </a:spcAft>
              <a:buNone/>
            </a:pPr>
            <a:r>
              <a:t/>
            </a:r>
            <a:endParaRPr sz="1600"/>
          </a:p>
          <a:p>
            <a:pPr indent="0" lvl="0" marL="0" rtl="0" algn="ctr">
              <a:lnSpc>
                <a:spcPct val="115000"/>
              </a:lnSpc>
              <a:spcBef>
                <a:spcPts val="0"/>
              </a:spcBef>
              <a:spcAft>
                <a:spcPts val="0"/>
              </a:spcAft>
              <a:buNone/>
            </a:pPr>
            <a:r>
              <a:rPr lang="en" sz="1600"/>
              <a:t>  </a:t>
            </a:r>
            <a:endParaRPr sz="1600"/>
          </a:p>
          <a:p>
            <a:pPr indent="0" lvl="0" marL="0" rtl="0" algn="l">
              <a:lnSpc>
                <a:spcPct val="115000"/>
              </a:lnSpc>
              <a:spcBef>
                <a:spcPts val="0"/>
              </a:spcBef>
              <a:spcAft>
                <a:spcPts val="1000"/>
              </a:spcAft>
              <a:buNone/>
            </a:pPr>
            <a:r>
              <a:t/>
            </a:r>
            <a:endParaRPr sz="1600"/>
          </a:p>
        </p:txBody>
      </p:sp>
      <p:pic>
        <p:nvPicPr>
          <p:cNvPr id="148" name="Google Shape;148;p21"/>
          <p:cNvPicPr preferRelativeResize="0"/>
          <p:nvPr/>
        </p:nvPicPr>
        <p:blipFill>
          <a:blip r:embed="rId3">
            <a:alphaModFix/>
          </a:blip>
          <a:stretch>
            <a:fillRect/>
          </a:stretch>
        </p:blipFill>
        <p:spPr>
          <a:xfrm>
            <a:off x="2818375" y="1159225"/>
            <a:ext cx="3028950" cy="1295400"/>
          </a:xfrm>
          <a:prstGeom prst="rect">
            <a:avLst/>
          </a:prstGeom>
          <a:noFill/>
          <a:ln>
            <a:noFill/>
          </a:ln>
        </p:spPr>
      </p:pic>
      <p:sp>
        <p:nvSpPr>
          <p:cNvPr id="149" name="Google Shape;149;p21"/>
          <p:cNvSpPr txBox="1"/>
          <p:nvPr/>
        </p:nvSpPr>
        <p:spPr>
          <a:xfrm>
            <a:off x="5533725" y="3037988"/>
            <a:ext cx="1841100" cy="409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1600">
                <a:solidFill>
                  <a:schemeClr val="dk1"/>
                </a:solidFill>
              </a:rPr>
              <a:t>Speed ∝ Voltage</a:t>
            </a:r>
            <a:endParaRPr/>
          </a:p>
        </p:txBody>
      </p:sp>
      <p:sp>
        <p:nvSpPr>
          <p:cNvPr id="150" name="Google Shape;150;p21"/>
          <p:cNvSpPr txBox="1"/>
          <p:nvPr/>
        </p:nvSpPr>
        <p:spPr>
          <a:xfrm>
            <a:off x="455775" y="4092950"/>
            <a:ext cx="7906500" cy="4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t>How do the various parameters affect the speed?</a:t>
            </a:r>
            <a:endParaRPr sz="1600"/>
          </a:p>
          <a:p>
            <a:pPr indent="0" lvl="0" marL="0" rtl="0" algn="l">
              <a:spcBef>
                <a:spcPts val="0"/>
              </a:spcBef>
              <a:spcAft>
                <a:spcPts val="0"/>
              </a:spcAft>
              <a:buNone/>
            </a:pPr>
            <a:r>
              <a:t/>
            </a:r>
            <a:endParaRPr sz="1600"/>
          </a:p>
        </p:txBody>
      </p:sp>
      <p:graphicFrame>
        <p:nvGraphicFramePr>
          <p:cNvPr id="151" name="Google Shape;151;p21"/>
          <p:cNvGraphicFramePr/>
          <p:nvPr/>
        </p:nvGraphicFramePr>
        <p:xfrm>
          <a:off x="1205675" y="4610100"/>
          <a:ext cx="3000000" cy="3000000"/>
        </p:xfrm>
        <a:graphic>
          <a:graphicData uri="http://schemas.openxmlformats.org/drawingml/2006/table">
            <a:tbl>
              <a:tblPr>
                <a:noFill/>
                <a:tableStyleId>{1C37A190-DA95-4763-B8FC-F39FC48309CF}</a:tableStyleId>
              </a:tblPr>
              <a:tblGrid>
                <a:gridCol w="2911675"/>
                <a:gridCol w="3108125"/>
              </a:tblGrid>
              <a:tr h="396200">
                <a:tc>
                  <a:txBody>
                    <a:bodyPr/>
                    <a:lstStyle/>
                    <a:p>
                      <a:pPr indent="0" lvl="0" marL="0" rtl="0" algn="ctr">
                        <a:spcBef>
                          <a:spcPts val="0"/>
                        </a:spcBef>
                        <a:spcAft>
                          <a:spcPts val="0"/>
                        </a:spcAft>
                        <a:buNone/>
                      </a:pPr>
                      <a:r>
                        <a:rPr lang="en"/>
                        <a:t>Increase this parameter:</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Does 𝜔 increase or decrease?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96200">
                <a:tc>
                  <a:txBody>
                    <a:bodyPr/>
                    <a:lstStyle/>
                    <a:p>
                      <a:pPr indent="0" lvl="0" marL="0" rtl="0" algn="l">
                        <a:spcBef>
                          <a:spcPts val="0"/>
                        </a:spcBef>
                        <a:spcAft>
                          <a:spcPts val="0"/>
                        </a:spcAft>
                        <a:buNone/>
                      </a:pPr>
                      <a:r>
                        <a:rPr lang="en"/>
                        <a:t>Friction, </a:t>
                      </a:r>
                      <a:r>
                        <a:rPr i="1" lang="en">
                          <a:latin typeface="Palatino Linotype"/>
                          <a:ea typeface="Palatino Linotype"/>
                          <a:cs typeface="Palatino Linotype"/>
                          <a:sym typeface="Palatino Linotype"/>
                        </a:rPr>
                        <a:t>b</a:t>
                      </a:r>
                      <a:endParaRPr i="1">
                        <a:latin typeface="Palatino Linotype"/>
                        <a:ea typeface="Palatino Linotype"/>
                        <a:cs typeface="Palatino Linotype"/>
                        <a:sym typeface="Palatino Linotyp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96200">
                <a:tc>
                  <a:txBody>
                    <a:bodyPr/>
                    <a:lstStyle/>
                    <a:p>
                      <a:pPr indent="0" lvl="0" marL="0" rtl="0" algn="l">
                        <a:spcBef>
                          <a:spcPts val="0"/>
                        </a:spcBef>
                        <a:spcAft>
                          <a:spcPts val="0"/>
                        </a:spcAft>
                        <a:buNone/>
                      </a:pPr>
                      <a:r>
                        <a:rPr lang="en"/>
                        <a:t>Resistance, </a:t>
                      </a:r>
                      <a:r>
                        <a:rPr i="1" lang="en">
                          <a:latin typeface="Palatino Linotype"/>
                          <a:ea typeface="Palatino Linotype"/>
                          <a:cs typeface="Palatino Linotype"/>
                          <a:sym typeface="Palatino Linotype"/>
                        </a:rPr>
                        <a:t>R</a:t>
                      </a:r>
                      <a:r>
                        <a:rPr baseline="-25000" i="1" lang="en">
                          <a:latin typeface="Palatino Linotype"/>
                          <a:ea typeface="Palatino Linotype"/>
                          <a:cs typeface="Palatino Linotype"/>
                          <a:sym typeface="Palatino Linotype"/>
                        </a:rPr>
                        <a:t>a</a:t>
                      </a:r>
                      <a:endParaRPr baseline="-25000" i="1">
                        <a:latin typeface="Palatino Linotype"/>
                        <a:ea typeface="Palatino Linotype"/>
                        <a:cs typeface="Palatino Linotype"/>
                        <a:sym typeface="Palatino Linotyp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96200">
                <a:tc>
                  <a:txBody>
                    <a:bodyPr/>
                    <a:lstStyle/>
                    <a:p>
                      <a:pPr indent="0" lvl="0" marL="0" rtl="0" algn="l">
                        <a:spcBef>
                          <a:spcPts val="0"/>
                        </a:spcBef>
                        <a:spcAft>
                          <a:spcPts val="0"/>
                        </a:spcAft>
                        <a:buNone/>
                      </a:pPr>
                      <a:r>
                        <a:rPr lang="en"/>
                        <a:t>Generator constant, </a:t>
                      </a:r>
                      <a:r>
                        <a:rPr i="1" lang="en">
                          <a:latin typeface="Palatino Linotype"/>
                          <a:ea typeface="Palatino Linotype"/>
                          <a:cs typeface="Palatino Linotype"/>
                          <a:sym typeface="Palatino Linotype"/>
                        </a:rPr>
                        <a:t>K</a:t>
                      </a:r>
                      <a:r>
                        <a:rPr baseline="-25000" i="1" lang="en">
                          <a:latin typeface="Palatino Linotype"/>
                          <a:ea typeface="Palatino Linotype"/>
                          <a:cs typeface="Palatino Linotype"/>
                          <a:sym typeface="Palatino Linotype"/>
                        </a:rPr>
                        <a:t>e</a:t>
                      </a:r>
                      <a:r>
                        <a:rPr lang="en"/>
                        <a:t>   (</a:t>
                      </a:r>
                      <a:r>
                        <a:rPr i="1" lang="en">
                          <a:latin typeface="Palatino Linotype"/>
                          <a:ea typeface="Palatino Linotype"/>
                          <a:cs typeface="Palatino Linotype"/>
                          <a:sym typeface="Palatino Linotype"/>
                        </a:rPr>
                        <a:t>e = K</a:t>
                      </a:r>
                      <a:r>
                        <a:rPr baseline="-25000" i="1" lang="en">
                          <a:latin typeface="Palatino Linotype"/>
                          <a:ea typeface="Palatino Linotype"/>
                          <a:cs typeface="Palatino Linotype"/>
                          <a:sym typeface="Palatino Linotype"/>
                        </a:rPr>
                        <a:t>e</a:t>
                      </a:r>
                      <a:r>
                        <a:rPr lang="en"/>
                        <a:t> 𝜔)</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96200">
                <a:tc>
                  <a:txBody>
                    <a:bodyPr/>
                    <a:lstStyle/>
                    <a:p>
                      <a:pPr indent="0" lvl="0" marL="0" rtl="0" algn="l">
                        <a:spcBef>
                          <a:spcPts val="0"/>
                        </a:spcBef>
                        <a:spcAft>
                          <a:spcPts val="0"/>
                        </a:spcAft>
                        <a:buNone/>
                      </a:pPr>
                      <a:r>
                        <a:rPr lang="en"/>
                        <a:t>Torque constant, </a:t>
                      </a:r>
                      <a:r>
                        <a:rPr i="1" lang="en">
                          <a:solidFill>
                            <a:schemeClr val="dk1"/>
                          </a:solidFill>
                          <a:latin typeface="Palatino Linotype"/>
                          <a:ea typeface="Palatino Linotype"/>
                          <a:cs typeface="Palatino Linotype"/>
                          <a:sym typeface="Palatino Linotype"/>
                        </a:rPr>
                        <a:t>K</a:t>
                      </a:r>
                      <a:r>
                        <a:rPr baseline="-25000" i="1" lang="en">
                          <a:solidFill>
                            <a:schemeClr val="dk1"/>
                          </a:solidFill>
                          <a:latin typeface="Palatino Linotype"/>
                          <a:ea typeface="Palatino Linotype"/>
                          <a:cs typeface="Palatino Linotype"/>
                          <a:sym typeface="Palatino Linotype"/>
                        </a:rPr>
                        <a:t>i</a:t>
                      </a:r>
                      <a:r>
                        <a:rPr lang="en">
                          <a:solidFill>
                            <a:schemeClr val="dk1"/>
                          </a:solidFill>
                        </a:rPr>
                        <a:t>        (</a:t>
                      </a:r>
                      <a:r>
                        <a:rPr i="1" lang="en">
                          <a:solidFill>
                            <a:schemeClr val="dk1"/>
                          </a:solidFill>
                          <a:latin typeface="Palatino Linotype"/>
                          <a:ea typeface="Palatino Linotype"/>
                          <a:cs typeface="Palatino Linotype"/>
                          <a:sym typeface="Palatino Linotype"/>
                        </a:rPr>
                        <a:t>𝜏 = K</a:t>
                      </a:r>
                      <a:r>
                        <a:rPr baseline="-25000" i="1" lang="en">
                          <a:solidFill>
                            <a:schemeClr val="dk1"/>
                          </a:solidFill>
                          <a:latin typeface="Palatino Linotype"/>
                          <a:ea typeface="Palatino Linotype"/>
                          <a:cs typeface="Palatino Linotype"/>
                          <a:sym typeface="Palatino Linotype"/>
                        </a:rPr>
                        <a:t>i</a:t>
                      </a:r>
                      <a:r>
                        <a:rPr lang="en">
                          <a:solidFill>
                            <a:schemeClr val="dk1"/>
                          </a:solidFill>
                        </a:rPr>
                        <a:t> </a:t>
                      </a:r>
                      <a:r>
                        <a:rPr i="1" lang="en">
                          <a:solidFill>
                            <a:schemeClr val="dk1"/>
                          </a:solidFill>
                          <a:latin typeface="Palatino Linotype"/>
                          <a:ea typeface="Palatino Linotype"/>
                          <a:cs typeface="Palatino Linotype"/>
                          <a:sym typeface="Palatino Linotype"/>
                        </a:rPr>
                        <a:t>i</a:t>
                      </a:r>
                      <a:r>
                        <a:rPr lang="en">
                          <a:solidFill>
                            <a:schemeClr val="dk1"/>
                          </a:solidFill>
                        </a:rPr>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52" name="Google Shape;152;p21"/>
          <p:cNvSpPr txBox="1"/>
          <p:nvPr/>
        </p:nvSpPr>
        <p:spPr>
          <a:xfrm>
            <a:off x="6497750" y="1056250"/>
            <a:ext cx="2555100" cy="182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 sz="1900">
                <a:solidFill>
                  <a:srgbClr val="0000FF"/>
                </a:solidFill>
              </a:rPr>
              <a:t>𝜏 - torque</a:t>
            </a:r>
            <a:br>
              <a:rPr lang="en" sz="1900">
                <a:solidFill>
                  <a:srgbClr val="0000FF"/>
                </a:solidFill>
              </a:rPr>
            </a:br>
            <a:r>
              <a:rPr i="1" lang="en" sz="1900">
                <a:solidFill>
                  <a:srgbClr val="0000FF"/>
                </a:solidFill>
                <a:latin typeface="Palatino Linotype"/>
                <a:ea typeface="Palatino Linotype"/>
                <a:cs typeface="Palatino Linotype"/>
                <a:sym typeface="Palatino Linotype"/>
              </a:rPr>
              <a:t>i </a:t>
            </a:r>
            <a:r>
              <a:rPr lang="en" sz="1900">
                <a:solidFill>
                  <a:srgbClr val="0000FF"/>
                </a:solidFill>
              </a:rPr>
              <a:t>- current</a:t>
            </a:r>
            <a:br>
              <a:rPr lang="en" sz="1900">
                <a:solidFill>
                  <a:srgbClr val="0000FF"/>
                </a:solidFill>
              </a:rPr>
            </a:br>
            <a:r>
              <a:rPr i="1" lang="en" sz="1900">
                <a:solidFill>
                  <a:srgbClr val="0000FF"/>
                </a:solidFill>
                <a:latin typeface="Palatino Linotype"/>
                <a:ea typeface="Palatino Linotype"/>
                <a:cs typeface="Palatino Linotype"/>
                <a:sym typeface="Palatino Linotype"/>
              </a:rPr>
              <a:t>𝜔 </a:t>
            </a:r>
            <a:r>
              <a:rPr lang="en" sz="1900">
                <a:solidFill>
                  <a:srgbClr val="0000FF"/>
                </a:solidFill>
              </a:rPr>
              <a:t>- rotational speed</a:t>
            </a:r>
            <a:br>
              <a:rPr lang="en" sz="1900">
                <a:solidFill>
                  <a:srgbClr val="0000FF"/>
                </a:solidFill>
              </a:rPr>
            </a:br>
            <a:r>
              <a:rPr i="1" lang="en" sz="1900">
                <a:solidFill>
                  <a:srgbClr val="0000FF"/>
                </a:solidFill>
                <a:latin typeface="Palatino Linotype"/>
                <a:ea typeface="Palatino Linotype"/>
                <a:cs typeface="Palatino Linotype"/>
                <a:sym typeface="Palatino Linotype"/>
              </a:rPr>
              <a:t>e </a:t>
            </a:r>
            <a:r>
              <a:rPr lang="en" sz="1900">
                <a:solidFill>
                  <a:srgbClr val="0000FF"/>
                </a:solidFill>
              </a:rPr>
              <a:t>- back EMF</a:t>
            </a:r>
            <a:br>
              <a:rPr lang="en" sz="1900">
                <a:solidFill>
                  <a:srgbClr val="0000FF"/>
                </a:solidFill>
              </a:rPr>
            </a:br>
            <a:r>
              <a:rPr i="1" lang="en" sz="1900">
                <a:solidFill>
                  <a:srgbClr val="0000FF"/>
                </a:solidFill>
                <a:latin typeface="Palatino Linotype"/>
                <a:ea typeface="Palatino Linotype"/>
                <a:cs typeface="Palatino Linotype"/>
                <a:sym typeface="Palatino Linotype"/>
              </a:rPr>
              <a:t>V </a:t>
            </a:r>
            <a:r>
              <a:rPr lang="en" sz="1900">
                <a:solidFill>
                  <a:srgbClr val="0000FF"/>
                </a:solidFill>
              </a:rPr>
              <a:t>- voltage</a:t>
            </a:r>
            <a:endParaRPr sz="1900">
              <a:solidFill>
                <a:srgbClr val="0000FF"/>
              </a:solidFill>
            </a:endParaRPr>
          </a:p>
        </p:txBody>
      </p:sp>
      <p:pic>
        <p:nvPicPr>
          <p:cNvPr descr="{&quot;id&quot;:&quot;1&quot;,&quot;backgroundColorModified&quot;:false,&quot;aid&quot;:null,&quot;backgroundColor&quot;:&quot;#FFFFFF&quot;,&quot;font&quot;:{&quot;color&quot;:&quot;#000000&quot;,&quot;family&quot;:&quot;Arial&quot;,&quot;size&quot;:12},&quot;code&quot;:&quot;$$\\omega=\\,\\frac{V}{K_{e}\\,+\\,bR_{a}/K_{i}}$$&quot;,&quot;type&quot;:&quot;$$&quot;,&quot;ts&quot;:1770735002116,&quot;cs&quot;:&quot;aWy/j1PUeUvS+gMULMA9jg==&quot;,&quot;size&quot;:{&quot;width&quot;:161,&quot;height&quot;:43.666666666666664}}" id="153" name="Google Shape;153;p21"/>
          <p:cNvPicPr preferRelativeResize="0"/>
          <p:nvPr/>
        </p:nvPicPr>
        <p:blipFill>
          <a:blip r:embed="rId4">
            <a:alphaModFix/>
          </a:blip>
          <a:stretch>
            <a:fillRect/>
          </a:stretch>
        </p:blipFill>
        <p:spPr>
          <a:xfrm>
            <a:off x="3331975" y="3002326"/>
            <a:ext cx="2001760" cy="542925"/>
          </a:xfrm>
          <a:prstGeom prst="rect">
            <a:avLst/>
          </a:prstGeom>
          <a:noFill/>
          <a:ln cap="flat" cmpd="sng" w="28575">
            <a:solidFill>
              <a:srgbClr val="F1C232"/>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2"/>
          <p:cNvSpPr txBox="1"/>
          <p:nvPr>
            <p:ph type="title"/>
          </p:nvPr>
        </p:nvSpPr>
        <p:spPr>
          <a:xfrm>
            <a:off x="311700" y="3076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determines</a:t>
            </a:r>
            <a:r>
              <a:rPr lang="en"/>
              <a:t> motor direction?</a:t>
            </a:r>
            <a:endParaRPr/>
          </a:p>
        </p:txBody>
      </p:sp>
      <p:sp>
        <p:nvSpPr>
          <p:cNvPr id="159" name="Google Shape;159;p22"/>
          <p:cNvSpPr txBox="1"/>
          <p:nvPr/>
        </p:nvSpPr>
        <p:spPr>
          <a:xfrm>
            <a:off x="483700" y="2511600"/>
            <a:ext cx="8473500" cy="1158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t>To reverse the direction of the motor, switch the  + and – connections. </a:t>
            </a:r>
            <a:endParaRPr sz="1800"/>
          </a:p>
          <a:p>
            <a:pPr indent="0" lvl="0" marL="0" rtl="0" algn="l">
              <a:lnSpc>
                <a:spcPct val="115000"/>
              </a:lnSpc>
              <a:spcBef>
                <a:spcPts val="0"/>
              </a:spcBef>
              <a:spcAft>
                <a:spcPts val="0"/>
              </a:spcAft>
              <a:buNone/>
            </a:pPr>
            <a:r>
              <a:t/>
            </a:r>
            <a:endParaRPr sz="1800"/>
          </a:p>
          <a:p>
            <a:pPr indent="0" lvl="0" marL="0" rtl="0" algn="l">
              <a:lnSpc>
                <a:spcPct val="115000"/>
              </a:lnSpc>
              <a:spcBef>
                <a:spcPts val="0"/>
              </a:spcBef>
              <a:spcAft>
                <a:spcPts val="0"/>
              </a:spcAft>
              <a:buNone/>
            </a:pPr>
            <a:r>
              <a:rPr lang="en" sz="1800"/>
              <a:t>An </a:t>
            </a:r>
            <a:r>
              <a:rPr b="1" lang="en" sz="1800"/>
              <a:t>H-bridge</a:t>
            </a:r>
            <a:r>
              <a:rPr lang="en" sz="1800"/>
              <a:t> circuit does this with electronic switches.</a:t>
            </a:r>
            <a:endParaRPr sz="1800"/>
          </a:p>
        </p:txBody>
      </p:sp>
      <p:pic>
        <p:nvPicPr>
          <p:cNvPr id="160" name="Google Shape;160;p22"/>
          <p:cNvPicPr preferRelativeResize="0"/>
          <p:nvPr/>
        </p:nvPicPr>
        <p:blipFill>
          <a:blip r:embed="rId3">
            <a:alphaModFix/>
          </a:blip>
          <a:stretch>
            <a:fillRect/>
          </a:stretch>
        </p:blipFill>
        <p:spPr>
          <a:xfrm>
            <a:off x="2818375" y="1008825"/>
            <a:ext cx="3028950" cy="1295400"/>
          </a:xfrm>
          <a:prstGeom prst="rect">
            <a:avLst/>
          </a:prstGeom>
          <a:noFill/>
          <a:ln>
            <a:noFill/>
          </a:ln>
        </p:spPr>
      </p:pic>
      <p:pic>
        <p:nvPicPr>
          <p:cNvPr id="161" name="Google Shape;161;p22"/>
          <p:cNvPicPr preferRelativeResize="0"/>
          <p:nvPr/>
        </p:nvPicPr>
        <p:blipFill>
          <a:blip r:embed="rId4">
            <a:alphaModFix/>
          </a:blip>
          <a:stretch>
            <a:fillRect/>
          </a:stretch>
        </p:blipFill>
        <p:spPr>
          <a:xfrm>
            <a:off x="2968900" y="3508525"/>
            <a:ext cx="3119955" cy="33494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23"/>
          <p:cNvPicPr preferRelativeResize="0"/>
          <p:nvPr/>
        </p:nvPicPr>
        <p:blipFill>
          <a:blip r:embed="rId3">
            <a:alphaModFix/>
          </a:blip>
          <a:stretch>
            <a:fillRect/>
          </a:stretch>
        </p:blipFill>
        <p:spPr>
          <a:xfrm>
            <a:off x="6344524" y="164075"/>
            <a:ext cx="2487776" cy="2670801"/>
          </a:xfrm>
          <a:prstGeom prst="rect">
            <a:avLst/>
          </a:prstGeom>
          <a:noFill/>
          <a:ln>
            <a:noFill/>
          </a:ln>
        </p:spPr>
      </p:pic>
      <p:sp>
        <p:nvSpPr>
          <p:cNvPr id="167" name="Google Shape;167;p23"/>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H-bridge motor driver</a:t>
            </a:r>
            <a:endParaRPr/>
          </a:p>
        </p:txBody>
      </p:sp>
      <p:sp>
        <p:nvSpPr>
          <p:cNvPr id="168" name="Google Shape;168;p23"/>
          <p:cNvSpPr txBox="1"/>
          <p:nvPr/>
        </p:nvSpPr>
        <p:spPr>
          <a:xfrm>
            <a:off x="5617650" y="6035875"/>
            <a:ext cx="3252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t>Ref:  Toshiba TB6612FNG data sheet</a:t>
            </a:r>
            <a:endParaRPr i="1" sz="1200"/>
          </a:p>
        </p:txBody>
      </p:sp>
      <p:sp>
        <p:nvSpPr>
          <p:cNvPr id="169" name="Google Shape;169;p23"/>
          <p:cNvSpPr txBox="1"/>
          <p:nvPr/>
        </p:nvSpPr>
        <p:spPr>
          <a:xfrm>
            <a:off x="407000" y="1490650"/>
            <a:ext cx="6205800" cy="73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t>Toshiba TB6612FNG motor driver contains two “H-bridge” circuits. (See Williams, Chapter 15, pp 305-317 - "Advanced Motors")</a:t>
            </a:r>
            <a:endParaRPr sz="1600"/>
          </a:p>
        </p:txBody>
      </p:sp>
      <p:grpSp>
        <p:nvGrpSpPr>
          <p:cNvPr id="170" name="Google Shape;170;p23"/>
          <p:cNvGrpSpPr/>
          <p:nvPr/>
        </p:nvGrpSpPr>
        <p:grpSpPr>
          <a:xfrm>
            <a:off x="325150" y="2804675"/>
            <a:ext cx="6933313" cy="3356950"/>
            <a:chOff x="477550" y="2804675"/>
            <a:chExt cx="6933313" cy="3356950"/>
          </a:xfrm>
        </p:grpSpPr>
        <p:pic>
          <p:nvPicPr>
            <p:cNvPr id="171" name="Google Shape;171;p23"/>
            <p:cNvPicPr preferRelativeResize="0"/>
            <p:nvPr/>
          </p:nvPicPr>
          <p:blipFill>
            <a:blip r:embed="rId4">
              <a:alphaModFix/>
            </a:blip>
            <a:stretch>
              <a:fillRect/>
            </a:stretch>
          </p:blipFill>
          <p:spPr>
            <a:xfrm>
              <a:off x="3805274" y="2804675"/>
              <a:ext cx="3605588" cy="3356950"/>
            </a:xfrm>
            <a:prstGeom prst="rect">
              <a:avLst/>
            </a:prstGeom>
            <a:noFill/>
            <a:ln>
              <a:noFill/>
            </a:ln>
          </p:spPr>
        </p:pic>
        <p:sp>
          <p:nvSpPr>
            <p:cNvPr id="172" name="Google Shape;172;p23"/>
            <p:cNvSpPr txBox="1"/>
            <p:nvPr/>
          </p:nvSpPr>
          <p:spPr>
            <a:xfrm>
              <a:off x="609600" y="3623775"/>
              <a:ext cx="3120000" cy="85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 sz="1600">
                  <a:solidFill>
                    <a:srgbClr val="CC0000"/>
                  </a:solidFill>
                </a:rPr>
                <a:t>pMOS</a:t>
              </a:r>
              <a:r>
                <a:rPr lang="en" sz="1600">
                  <a:solidFill>
                    <a:srgbClr val="CC0000"/>
                  </a:solidFill>
                </a:rPr>
                <a:t> power transistors, ON when gate input is </a:t>
              </a:r>
              <a:r>
                <a:rPr b="1" lang="en" sz="1600">
                  <a:solidFill>
                    <a:srgbClr val="CC0000"/>
                  </a:solidFill>
                </a:rPr>
                <a:t>LOW</a:t>
              </a:r>
              <a:endParaRPr b="1" sz="1600">
                <a:solidFill>
                  <a:srgbClr val="CC0000"/>
                </a:solidFill>
              </a:endParaRPr>
            </a:p>
          </p:txBody>
        </p:sp>
        <p:sp>
          <p:nvSpPr>
            <p:cNvPr id="173" name="Google Shape;173;p23"/>
            <p:cNvSpPr txBox="1"/>
            <p:nvPr/>
          </p:nvSpPr>
          <p:spPr>
            <a:xfrm>
              <a:off x="477550" y="4534300"/>
              <a:ext cx="3252000" cy="85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 sz="1600">
                  <a:solidFill>
                    <a:srgbClr val="0000FF"/>
                  </a:solidFill>
                </a:rPr>
                <a:t>nMOS</a:t>
              </a:r>
              <a:r>
                <a:rPr lang="en" sz="1600">
                  <a:solidFill>
                    <a:srgbClr val="0000FF"/>
                  </a:solidFill>
                </a:rPr>
                <a:t> power transistors, ON when gate input is </a:t>
              </a:r>
              <a:r>
                <a:rPr b="1" lang="en" sz="1600">
                  <a:solidFill>
                    <a:srgbClr val="0000FF"/>
                  </a:solidFill>
                </a:rPr>
                <a:t>HIGH</a:t>
              </a:r>
              <a:endParaRPr b="1" sz="1600">
                <a:solidFill>
                  <a:srgbClr val="0000FF"/>
                </a:solidFill>
              </a:endParaRPr>
            </a:p>
          </p:txBody>
        </p:sp>
        <p:sp>
          <p:nvSpPr>
            <p:cNvPr id="174" name="Google Shape;174;p23"/>
            <p:cNvSpPr/>
            <p:nvPr/>
          </p:nvSpPr>
          <p:spPr>
            <a:xfrm>
              <a:off x="3729550" y="3505300"/>
              <a:ext cx="981000" cy="78480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3"/>
            <p:cNvSpPr/>
            <p:nvPr/>
          </p:nvSpPr>
          <p:spPr>
            <a:xfrm>
              <a:off x="3729550" y="4564268"/>
              <a:ext cx="981000" cy="7314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3"/>
            <p:cNvSpPr txBox="1"/>
            <p:nvPr/>
          </p:nvSpPr>
          <p:spPr>
            <a:xfrm>
              <a:off x="3792700" y="3477825"/>
              <a:ext cx="367200" cy="43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CC0000"/>
                  </a:solidFill>
                </a:rPr>
                <a:t>g</a:t>
              </a:r>
              <a:endParaRPr b="1" sz="1800">
                <a:solidFill>
                  <a:srgbClr val="CC0000"/>
                </a:solidFill>
              </a:endParaRPr>
            </a:p>
          </p:txBody>
        </p:sp>
        <p:sp>
          <p:nvSpPr>
            <p:cNvPr id="177" name="Google Shape;177;p23"/>
            <p:cNvSpPr txBox="1"/>
            <p:nvPr/>
          </p:nvSpPr>
          <p:spPr>
            <a:xfrm>
              <a:off x="6943600" y="3505300"/>
              <a:ext cx="367200" cy="43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CC0000"/>
                  </a:solidFill>
                </a:rPr>
                <a:t>g</a:t>
              </a:r>
              <a:endParaRPr b="1" sz="1800">
                <a:solidFill>
                  <a:srgbClr val="CC0000"/>
                </a:solidFill>
              </a:endParaRPr>
            </a:p>
          </p:txBody>
        </p:sp>
        <p:sp>
          <p:nvSpPr>
            <p:cNvPr id="178" name="Google Shape;178;p23"/>
            <p:cNvSpPr txBox="1"/>
            <p:nvPr/>
          </p:nvSpPr>
          <p:spPr>
            <a:xfrm>
              <a:off x="6943600" y="4486725"/>
              <a:ext cx="367200" cy="43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0000FF"/>
                  </a:solidFill>
                </a:rPr>
                <a:t>g</a:t>
              </a:r>
              <a:endParaRPr b="1" sz="1800">
                <a:solidFill>
                  <a:srgbClr val="0000FF"/>
                </a:solidFill>
              </a:endParaRPr>
            </a:p>
          </p:txBody>
        </p:sp>
        <p:sp>
          <p:nvSpPr>
            <p:cNvPr id="179" name="Google Shape;179;p23"/>
            <p:cNvSpPr txBox="1"/>
            <p:nvPr/>
          </p:nvSpPr>
          <p:spPr>
            <a:xfrm>
              <a:off x="3805275" y="4476850"/>
              <a:ext cx="367200" cy="43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0000FF"/>
                  </a:solidFill>
                </a:rPr>
                <a:t>g</a:t>
              </a:r>
              <a:endParaRPr b="1" sz="1800">
                <a:solidFill>
                  <a:srgbClr val="0000FF"/>
                </a:solidFill>
              </a:endParaRPr>
            </a:p>
          </p:txBody>
        </p:sp>
        <p:sp>
          <p:nvSpPr>
            <p:cNvPr id="180" name="Google Shape;180;p23"/>
            <p:cNvSpPr/>
            <p:nvPr/>
          </p:nvSpPr>
          <p:spPr>
            <a:xfrm>
              <a:off x="6396550" y="3505300"/>
              <a:ext cx="981000" cy="78480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3"/>
            <p:cNvSpPr/>
            <p:nvPr/>
          </p:nvSpPr>
          <p:spPr>
            <a:xfrm>
              <a:off x="6396550" y="4564268"/>
              <a:ext cx="981000" cy="7314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H-bridge</a:t>
            </a:r>
            <a:endParaRPr/>
          </a:p>
        </p:txBody>
      </p:sp>
      <p:pic>
        <p:nvPicPr>
          <p:cNvPr id="187" name="Google Shape;187;p24"/>
          <p:cNvPicPr preferRelativeResize="0"/>
          <p:nvPr/>
        </p:nvPicPr>
        <p:blipFill>
          <a:blip r:embed="rId3">
            <a:alphaModFix/>
          </a:blip>
          <a:stretch>
            <a:fillRect/>
          </a:stretch>
        </p:blipFill>
        <p:spPr>
          <a:xfrm>
            <a:off x="858100" y="1752525"/>
            <a:ext cx="3418757" cy="2972025"/>
          </a:xfrm>
          <a:prstGeom prst="rect">
            <a:avLst/>
          </a:prstGeom>
          <a:noFill/>
          <a:ln>
            <a:noFill/>
          </a:ln>
        </p:spPr>
      </p:pic>
      <p:pic>
        <p:nvPicPr>
          <p:cNvPr id="188" name="Google Shape;188;p24"/>
          <p:cNvPicPr preferRelativeResize="0"/>
          <p:nvPr/>
        </p:nvPicPr>
        <p:blipFill>
          <a:blip r:embed="rId4">
            <a:alphaModFix/>
          </a:blip>
          <a:stretch>
            <a:fillRect/>
          </a:stretch>
        </p:blipFill>
        <p:spPr>
          <a:xfrm>
            <a:off x="4777350" y="1752535"/>
            <a:ext cx="3418750" cy="2972025"/>
          </a:xfrm>
          <a:prstGeom prst="rect">
            <a:avLst/>
          </a:prstGeom>
          <a:noFill/>
          <a:ln>
            <a:noFill/>
          </a:ln>
        </p:spPr>
      </p:pic>
      <p:sp>
        <p:nvSpPr>
          <p:cNvPr id="189" name="Google Shape;189;p24"/>
          <p:cNvSpPr txBox="1"/>
          <p:nvPr/>
        </p:nvSpPr>
        <p:spPr>
          <a:xfrm>
            <a:off x="5662850" y="6304100"/>
            <a:ext cx="3252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t>Ref:  Toshiba TB6612FNG data sheet</a:t>
            </a:r>
            <a:endParaRPr i="1" sz="1200"/>
          </a:p>
        </p:txBody>
      </p:sp>
      <p:sp>
        <p:nvSpPr>
          <p:cNvPr id="190" name="Google Shape;190;p24"/>
          <p:cNvSpPr txBox="1"/>
          <p:nvPr/>
        </p:nvSpPr>
        <p:spPr>
          <a:xfrm>
            <a:off x="1333625" y="4965675"/>
            <a:ext cx="2403900" cy="55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t>Counter-clockwise </a:t>
            </a:r>
            <a:endParaRPr sz="1800"/>
          </a:p>
          <a:p>
            <a:pPr indent="0" lvl="0" marL="0" rtl="0" algn="ctr">
              <a:spcBef>
                <a:spcPts val="0"/>
              </a:spcBef>
              <a:spcAft>
                <a:spcPts val="0"/>
              </a:spcAft>
              <a:buNone/>
            </a:pPr>
            <a:r>
              <a:rPr lang="en" sz="1800"/>
              <a:t>motor rotation</a:t>
            </a:r>
            <a:endParaRPr sz="1800"/>
          </a:p>
          <a:p>
            <a:pPr indent="0" lvl="0" marL="0" rtl="0" algn="ctr">
              <a:spcBef>
                <a:spcPts val="0"/>
              </a:spcBef>
              <a:spcAft>
                <a:spcPts val="0"/>
              </a:spcAft>
              <a:buNone/>
            </a:pPr>
            <a:r>
              <a:rPr lang="en" sz="1800"/>
              <a:t>IN1=LOW, IN2=HIGH</a:t>
            </a:r>
            <a:endParaRPr sz="1800"/>
          </a:p>
        </p:txBody>
      </p:sp>
      <p:sp>
        <p:nvSpPr>
          <p:cNvPr id="191" name="Google Shape;191;p24"/>
          <p:cNvSpPr txBox="1"/>
          <p:nvPr/>
        </p:nvSpPr>
        <p:spPr>
          <a:xfrm>
            <a:off x="5586650" y="4965675"/>
            <a:ext cx="2403900" cy="55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t>Clockwise </a:t>
            </a:r>
            <a:endParaRPr sz="1800"/>
          </a:p>
          <a:p>
            <a:pPr indent="0" lvl="0" marL="0" rtl="0" algn="ctr">
              <a:spcBef>
                <a:spcPts val="0"/>
              </a:spcBef>
              <a:spcAft>
                <a:spcPts val="0"/>
              </a:spcAft>
              <a:buNone/>
            </a:pPr>
            <a:r>
              <a:rPr lang="en" sz="1800"/>
              <a:t>motor rotation</a:t>
            </a:r>
            <a:endParaRPr sz="1800"/>
          </a:p>
          <a:p>
            <a:pPr indent="0" lvl="0" marL="0" rtl="0" algn="ctr">
              <a:spcBef>
                <a:spcPts val="0"/>
              </a:spcBef>
              <a:spcAft>
                <a:spcPts val="0"/>
              </a:spcAft>
              <a:buNone/>
            </a:pPr>
            <a:r>
              <a:rPr lang="en" sz="1800"/>
              <a:t>IN1=HIGH, IN2=LOW</a:t>
            </a:r>
            <a:endParaRPr sz="1800"/>
          </a:p>
        </p:txBody>
      </p:sp>
      <p:sp>
        <p:nvSpPr>
          <p:cNvPr id="192" name="Google Shape;192;p24"/>
          <p:cNvSpPr/>
          <p:nvPr/>
        </p:nvSpPr>
        <p:spPr>
          <a:xfrm>
            <a:off x="762000" y="2530275"/>
            <a:ext cx="609600" cy="1287094"/>
          </a:xfrm>
          <a:custGeom>
            <a:rect b="b" l="l" r="r" t="t"/>
            <a:pathLst>
              <a:path extrusionOk="0" h="53340" w="24384">
                <a:moveTo>
                  <a:pt x="24384" y="0"/>
                </a:moveTo>
                <a:lnTo>
                  <a:pt x="762" y="0"/>
                </a:lnTo>
                <a:lnTo>
                  <a:pt x="0" y="53340"/>
                </a:lnTo>
                <a:lnTo>
                  <a:pt x="24384" y="53340"/>
                </a:lnTo>
              </a:path>
            </a:pathLst>
          </a:custGeom>
          <a:noFill/>
          <a:ln cap="flat" cmpd="sng" w="19050">
            <a:solidFill>
              <a:srgbClr val="CC0000"/>
            </a:solidFill>
            <a:prstDash val="solid"/>
            <a:round/>
            <a:headEnd len="med" w="med" type="none"/>
            <a:tailEnd len="med" w="med" type="none"/>
          </a:ln>
        </p:spPr>
      </p:sp>
      <p:sp>
        <p:nvSpPr>
          <p:cNvPr id="193" name="Google Shape;193;p24"/>
          <p:cNvSpPr txBox="1"/>
          <p:nvPr/>
        </p:nvSpPr>
        <p:spPr>
          <a:xfrm>
            <a:off x="235500" y="2530275"/>
            <a:ext cx="609600" cy="43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CC0000"/>
                </a:solidFill>
              </a:rPr>
              <a:t>IN1</a:t>
            </a:r>
            <a:endParaRPr sz="1800">
              <a:solidFill>
                <a:srgbClr val="CC0000"/>
              </a:solidFill>
            </a:endParaRPr>
          </a:p>
        </p:txBody>
      </p:sp>
      <p:sp>
        <p:nvSpPr>
          <p:cNvPr id="194" name="Google Shape;194;p24"/>
          <p:cNvSpPr/>
          <p:nvPr/>
        </p:nvSpPr>
        <p:spPr>
          <a:xfrm flipH="1">
            <a:off x="3581400" y="2540362"/>
            <a:ext cx="609600" cy="1276960"/>
          </a:xfrm>
          <a:custGeom>
            <a:rect b="b" l="l" r="r" t="t"/>
            <a:pathLst>
              <a:path extrusionOk="0" h="53340" w="24384">
                <a:moveTo>
                  <a:pt x="24384" y="0"/>
                </a:moveTo>
                <a:lnTo>
                  <a:pt x="762" y="0"/>
                </a:lnTo>
                <a:lnTo>
                  <a:pt x="0" y="53340"/>
                </a:lnTo>
                <a:lnTo>
                  <a:pt x="24384" y="53340"/>
                </a:lnTo>
              </a:path>
            </a:pathLst>
          </a:custGeom>
          <a:noFill/>
          <a:ln cap="flat" cmpd="sng" w="19050">
            <a:solidFill>
              <a:srgbClr val="CC0000"/>
            </a:solidFill>
            <a:prstDash val="solid"/>
            <a:round/>
            <a:headEnd len="med" w="med" type="none"/>
            <a:tailEnd len="med" w="med" type="none"/>
          </a:ln>
        </p:spPr>
      </p:sp>
      <p:sp>
        <p:nvSpPr>
          <p:cNvPr id="195" name="Google Shape;195;p24"/>
          <p:cNvSpPr txBox="1"/>
          <p:nvPr/>
        </p:nvSpPr>
        <p:spPr>
          <a:xfrm>
            <a:off x="4121700" y="2530275"/>
            <a:ext cx="609600" cy="43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CC0000"/>
                </a:solidFill>
              </a:rPr>
              <a:t>IN2</a:t>
            </a:r>
            <a:endParaRPr sz="1800">
              <a:solidFill>
                <a:srgbClr val="CC0000"/>
              </a:solidFill>
            </a:endParaRPr>
          </a:p>
        </p:txBody>
      </p:sp>
      <p:sp>
        <p:nvSpPr>
          <p:cNvPr id="196" name="Google Shape;196;p24"/>
          <p:cNvSpPr txBox="1"/>
          <p:nvPr/>
        </p:nvSpPr>
        <p:spPr>
          <a:xfrm>
            <a:off x="308600" y="1238250"/>
            <a:ext cx="82488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Easy to reverse current flow through motor, reverse direction of rotation.</a:t>
            </a:r>
            <a:endParaRPr sz="1800"/>
          </a:p>
        </p:txBody>
      </p:sp>
      <p:sp>
        <p:nvSpPr>
          <p:cNvPr id="197" name="Google Shape;197;p24"/>
          <p:cNvSpPr txBox="1"/>
          <p:nvPr/>
        </p:nvSpPr>
        <p:spPr>
          <a:xfrm>
            <a:off x="5337300" y="199175"/>
            <a:ext cx="3495000" cy="65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0000FF"/>
                </a:solidFill>
              </a:rPr>
              <a:t>Learn more about motor control circuits in Engs 125, Power Electronics.</a:t>
            </a:r>
            <a:endParaRPr i="1">
              <a:solidFill>
                <a:srgbClr val="0000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id="202" name="Google Shape;202;p25"/>
          <p:cNvPicPr preferRelativeResize="0"/>
          <p:nvPr/>
        </p:nvPicPr>
        <p:blipFill>
          <a:blip r:embed="rId3">
            <a:alphaModFix/>
          </a:blip>
          <a:stretch>
            <a:fillRect/>
          </a:stretch>
        </p:blipFill>
        <p:spPr>
          <a:xfrm>
            <a:off x="1066800" y="2042675"/>
            <a:ext cx="3252000" cy="2917036"/>
          </a:xfrm>
          <a:prstGeom prst="rect">
            <a:avLst/>
          </a:prstGeom>
          <a:noFill/>
          <a:ln>
            <a:noFill/>
          </a:ln>
        </p:spPr>
      </p:pic>
      <p:sp>
        <p:nvSpPr>
          <p:cNvPr id="203" name="Google Shape;203;p2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H-bridge</a:t>
            </a:r>
            <a:endParaRPr/>
          </a:p>
        </p:txBody>
      </p:sp>
      <p:sp>
        <p:nvSpPr>
          <p:cNvPr id="204" name="Google Shape;204;p25"/>
          <p:cNvSpPr txBox="1"/>
          <p:nvPr/>
        </p:nvSpPr>
        <p:spPr>
          <a:xfrm>
            <a:off x="5662850" y="6304100"/>
            <a:ext cx="3252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t>Ref:  Toshiba TB6612FNG data sheet</a:t>
            </a:r>
            <a:endParaRPr i="1" sz="1200"/>
          </a:p>
        </p:txBody>
      </p:sp>
      <p:sp>
        <p:nvSpPr>
          <p:cNvPr id="205" name="Google Shape;205;p25"/>
          <p:cNvSpPr txBox="1"/>
          <p:nvPr/>
        </p:nvSpPr>
        <p:spPr>
          <a:xfrm>
            <a:off x="5662850" y="2835075"/>
            <a:ext cx="2480100" cy="55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t>Braking</a:t>
            </a:r>
            <a:endParaRPr sz="1800"/>
          </a:p>
          <a:p>
            <a:pPr indent="0" lvl="0" marL="0" rtl="0" algn="ctr">
              <a:spcBef>
                <a:spcPts val="0"/>
              </a:spcBef>
              <a:spcAft>
                <a:spcPts val="0"/>
              </a:spcAft>
              <a:buNone/>
            </a:pPr>
            <a:r>
              <a:rPr lang="en" sz="1800"/>
              <a:t>IN1=HIGH, IN2=HIGH</a:t>
            </a:r>
            <a:endParaRPr sz="1800"/>
          </a:p>
          <a:p>
            <a:pPr indent="0" lvl="0" marL="0" rtl="0" algn="ctr">
              <a:spcBef>
                <a:spcPts val="0"/>
              </a:spcBef>
              <a:spcAft>
                <a:spcPts val="0"/>
              </a:spcAft>
              <a:buNone/>
            </a:pPr>
            <a:r>
              <a:t/>
            </a:r>
            <a:endParaRPr sz="1800"/>
          </a:p>
          <a:p>
            <a:pPr indent="0" lvl="0" marL="0" rtl="0" algn="ctr">
              <a:spcBef>
                <a:spcPts val="0"/>
              </a:spcBef>
              <a:spcAft>
                <a:spcPts val="0"/>
              </a:spcAft>
              <a:buNone/>
            </a:pPr>
            <a:r>
              <a:rPr lang="en" sz="1800"/>
              <a:t>Dumps kinetic energy by sending generator current to ground.</a:t>
            </a:r>
            <a:endParaRPr sz="1800"/>
          </a:p>
        </p:txBody>
      </p:sp>
      <p:sp>
        <p:nvSpPr>
          <p:cNvPr id="206" name="Google Shape;206;p25"/>
          <p:cNvSpPr/>
          <p:nvPr/>
        </p:nvSpPr>
        <p:spPr>
          <a:xfrm>
            <a:off x="762000" y="2823775"/>
            <a:ext cx="609600" cy="1255490"/>
          </a:xfrm>
          <a:custGeom>
            <a:rect b="b" l="l" r="r" t="t"/>
            <a:pathLst>
              <a:path extrusionOk="0" h="53340" w="24384">
                <a:moveTo>
                  <a:pt x="24384" y="0"/>
                </a:moveTo>
                <a:lnTo>
                  <a:pt x="762" y="0"/>
                </a:lnTo>
                <a:lnTo>
                  <a:pt x="0" y="53340"/>
                </a:lnTo>
                <a:lnTo>
                  <a:pt x="24384" y="53340"/>
                </a:lnTo>
              </a:path>
            </a:pathLst>
          </a:custGeom>
          <a:noFill/>
          <a:ln cap="flat" cmpd="sng" w="19050">
            <a:solidFill>
              <a:srgbClr val="CC0000"/>
            </a:solidFill>
            <a:prstDash val="solid"/>
            <a:round/>
            <a:headEnd len="med" w="med" type="none"/>
            <a:tailEnd len="med" w="med" type="none"/>
          </a:ln>
        </p:spPr>
      </p:sp>
      <p:sp>
        <p:nvSpPr>
          <p:cNvPr id="207" name="Google Shape;207;p25"/>
          <p:cNvSpPr txBox="1"/>
          <p:nvPr/>
        </p:nvSpPr>
        <p:spPr>
          <a:xfrm>
            <a:off x="235500" y="2835075"/>
            <a:ext cx="609600" cy="43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CC0000"/>
                </a:solidFill>
              </a:rPr>
              <a:t>IN1</a:t>
            </a:r>
            <a:endParaRPr sz="1800">
              <a:solidFill>
                <a:srgbClr val="CC0000"/>
              </a:solidFill>
            </a:endParaRPr>
          </a:p>
        </p:txBody>
      </p:sp>
      <p:sp>
        <p:nvSpPr>
          <p:cNvPr id="208" name="Google Shape;208;p25"/>
          <p:cNvSpPr/>
          <p:nvPr/>
        </p:nvSpPr>
        <p:spPr>
          <a:xfrm flipH="1">
            <a:off x="3581400" y="2823675"/>
            <a:ext cx="609600" cy="1255490"/>
          </a:xfrm>
          <a:custGeom>
            <a:rect b="b" l="l" r="r" t="t"/>
            <a:pathLst>
              <a:path extrusionOk="0" h="53340" w="24384">
                <a:moveTo>
                  <a:pt x="24384" y="0"/>
                </a:moveTo>
                <a:lnTo>
                  <a:pt x="762" y="0"/>
                </a:lnTo>
                <a:lnTo>
                  <a:pt x="0" y="53340"/>
                </a:lnTo>
                <a:lnTo>
                  <a:pt x="24384" y="53340"/>
                </a:lnTo>
              </a:path>
            </a:pathLst>
          </a:custGeom>
          <a:noFill/>
          <a:ln cap="flat" cmpd="sng" w="19050">
            <a:solidFill>
              <a:srgbClr val="CC0000"/>
            </a:solidFill>
            <a:prstDash val="solid"/>
            <a:round/>
            <a:headEnd len="med" w="med" type="none"/>
            <a:tailEnd len="med" w="med" type="none"/>
          </a:ln>
        </p:spPr>
      </p:sp>
      <p:sp>
        <p:nvSpPr>
          <p:cNvPr id="209" name="Google Shape;209;p25"/>
          <p:cNvSpPr txBox="1"/>
          <p:nvPr/>
        </p:nvSpPr>
        <p:spPr>
          <a:xfrm>
            <a:off x="4121700" y="2835075"/>
            <a:ext cx="609600" cy="43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CC0000"/>
                </a:solidFill>
              </a:rPr>
              <a:t>IN2</a:t>
            </a:r>
            <a:endParaRPr sz="1800">
              <a:solidFill>
                <a:srgbClr val="CC0000"/>
              </a:solidFill>
            </a:endParaRPr>
          </a:p>
        </p:txBody>
      </p:sp>
      <p:sp>
        <p:nvSpPr>
          <p:cNvPr id="210" name="Google Shape;210;p25"/>
          <p:cNvSpPr txBox="1"/>
          <p:nvPr/>
        </p:nvSpPr>
        <p:spPr>
          <a:xfrm>
            <a:off x="353500" y="1218575"/>
            <a:ext cx="84789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When motor is turned by kinetic energy (e.g., rolling car), it generates electricity.</a:t>
            </a: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26"/>
          <p:cNvPicPr preferRelativeResize="0"/>
          <p:nvPr/>
        </p:nvPicPr>
        <p:blipFill>
          <a:blip r:embed="rId3">
            <a:alphaModFix/>
          </a:blip>
          <a:stretch>
            <a:fillRect/>
          </a:stretch>
        </p:blipFill>
        <p:spPr>
          <a:xfrm>
            <a:off x="311700" y="3814725"/>
            <a:ext cx="1962749" cy="1760575"/>
          </a:xfrm>
          <a:prstGeom prst="rect">
            <a:avLst/>
          </a:prstGeom>
          <a:noFill/>
          <a:ln>
            <a:noFill/>
          </a:ln>
        </p:spPr>
      </p:pic>
      <p:sp>
        <p:nvSpPr>
          <p:cNvPr id="216" name="Google Shape;216;p2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H-bridge modes: summary</a:t>
            </a:r>
            <a:endParaRPr/>
          </a:p>
        </p:txBody>
      </p:sp>
      <p:sp>
        <p:nvSpPr>
          <p:cNvPr id="217" name="Google Shape;217;p26"/>
          <p:cNvSpPr txBox="1"/>
          <p:nvPr/>
        </p:nvSpPr>
        <p:spPr>
          <a:xfrm>
            <a:off x="5662850" y="6304100"/>
            <a:ext cx="3252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t>Ref:  Toshiba TB6612FNG data sheet</a:t>
            </a:r>
            <a:endParaRPr i="1" sz="1200"/>
          </a:p>
        </p:txBody>
      </p:sp>
      <p:sp>
        <p:nvSpPr>
          <p:cNvPr id="218" name="Google Shape;218;p26"/>
          <p:cNvSpPr txBox="1"/>
          <p:nvPr/>
        </p:nvSpPr>
        <p:spPr>
          <a:xfrm>
            <a:off x="671575" y="5592650"/>
            <a:ext cx="10911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Brake</a:t>
            </a:r>
            <a:endParaRPr/>
          </a:p>
        </p:txBody>
      </p:sp>
      <p:graphicFrame>
        <p:nvGraphicFramePr>
          <p:cNvPr id="219" name="Google Shape;219;p26"/>
          <p:cNvGraphicFramePr/>
          <p:nvPr/>
        </p:nvGraphicFramePr>
        <p:xfrm>
          <a:off x="5290200" y="2013110"/>
          <a:ext cx="3000000" cy="3000000"/>
        </p:xfrm>
        <a:graphic>
          <a:graphicData uri="http://schemas.openxmlformats.org/drawingml/2006/table">
            <a:tbl>
              <a:tblPr>
                <a:noFill/>
                <a:tableStyleId>{1C37A190-DA95-4763-B8FC-F39FC48309CF}</a:tableStyleId>
              </a:tblPr>
              <a:tblGrid>
                <a:gridCol w="1043300"/>
                <a:gridCol w="1043300"/>
                <a:gridCol w="1043300"/>
              </a:tblGrid>
              <a:tr h="691675">
                <a:tc>
                  <a:txBody>
                    <a:bodyPr/>
                    <a:lstStyle/>
                    <a:p>
                      <a:pPr indent="0" lvl="0" marL="0" rtl="0" algn="ctr">
                        <a:spcBef>
                          <a:spcPts val="0"/>
                        </a:spcBef>
                        <a:spcAft>
                          <a:spcPts val="0"/>
                        </a:spcAft>
                        <a:buNone/>
                      </a:pPr>
                      <a:r>
                        <a:rPr b="1" lang="en"/>
                        <a:t>IN1</a:t>
                      </a:r>
                      <a:endParaRPr b="1"/>
                    </a:p>
                  </a:txBody>
                  <a:tcPr marT="91425" marB="91425" marR="91425" marL="91425" anchor="ctr">
                    <a:lnR cap="flat" cmpd="sng" w="9525">
                      <a:solidFill>
                        <a:srgbClr val="000000"/>
                      </a:solidFill>
                      <a:prstDash val="solid"/>
                      <a:round/>
                      <a:headEnd len="sm" w="sm" type="none"/>
                      <a:tailEnd len="sm" w="sm" type="none"/>
                    </a:lnR>
                    <a:lnB cap="flat" cmpd="sng" w="2857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a:t>IN2</a:t>
                      </a:r>
                      <a:endParaRPr b="1"/>
                    </a:p>
                  </a:txBody>
                  <a:tcPr marT="91425" marB="91425" marR="91425" marL="91425" anchor="ctr">
                    <a:lnL cap="flat" cmpd="sng" w="952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B cap="flat" cmpd="sng" w="2857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a:t>MODE</a:t>
                      </a:r>
                      <a:endParaRPr b="1"/>
                    </a:p>
                  </a:txBody>
                  <a:tcPr marT="91425" marB="91425" marR="91425" marL="91425" anchor="ctr">
                    <a:lnL cap="flat" cmpd="sng" w="28575">
                      <a:solidFill>
                        <a:srgbClr val="000000"/>
                      </a:solidFill>
                      <a:prstDash val="solid"/>
                      <a:round/>
                      <a:headEnd len="sm" w="sm" type="none"/>
                      <a:tailEnd len="sm" w="sm" type="none"/>
                    </a:lnL>
                    <a:lnB cap="flat" cmpd="sng" w="28575">
                      <a:solidFill>
                        <a:srgbClr val="000000"/>
                      </a:solidFill>
                      <a:prstDash val="solid"/>
                      <a:round/>
                      <a:headEnd len="sm" w="sm" type="none"/>
                      <a:tailEnd len="sm" w="sm" type="none"/>
                    </a:lnB>
                  </a:tcPr>
                </a:tc>
              </a:tr>
              <a:tr h="691675">
                <a:tc>
                  <a:txBody>
                    <a:bodyPr/>
                    <a:lstStyle/>
                    <a:p>
                      <a:pPr indent="0" lvl="0" marL="0" rtl="0" algn="ctr">
                        <a:spcBef>
                          <a:spcPts val="0"/>
                        </a:spcBef>
                        <a:spcAft>
                          <a:spcPts val="0"/>
                        </a:spcAft>
                        <a:buNone/>
                      </a:pPr>
                      <a:r>
                        <a:rPr lang="en"/>
                        <a:t>L</a:t>
                      </a:r>
                      <a:endParaRPr/>
                    </a:p>
                  </a:txBody>
                  <a:tcPr marT="91425" marB="91425" marR="91425" marL="91425" anchor="ctr">
                    <a:lnR cap="flat" cmpd="sng" w="952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L</a:t>
                      </a:r>
                      <a:endParaRPr/>
                    </a:p>
                  </a:txBody>
                  <a:tcPr marT="91425" marB="91425" marR="91425" marL="91425" anchor="ctr">
                    <a:lnL cap="flat" cmpd="sng" w="952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STOP</a:t>
                      </a:r>
                      <a:endParaRPr/>
                    </a:p>
                  </a:txBody>
                  <a:tcPr marT="91425" marB="91425" marR="91425" marL="91425" anchor="ctr">
                    <a:lnL cap="flat" cmpd="sng" w="28575">
                      <a:solidFill>
                        <a:srgbClr val="000000"/>
                      </a:solidFill>
                      <a:prstDash val="solid"/>
                      <a:round/>
                      <a:headEnd len="sm" w="sm" type="none"/>
                      <a:tailEnd len="sm" w="sm" type="none"/>
                    </a:lnL>
                    <a:lnT cap="flat" cmpd="sng" w="28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19300">
                <a:tc>
                  <a:txBody>
                    <a:bodyPr/>
                    <a:lstStyle/>
                    <a:p>
                      <a:pPr indent="0" lvl="0" marL="0" rtl="0" algn="ctr">
                        <a:spcBef>
                          <a:spcPts val="0"/>
                        </a:spcBef>
                        <a:spcAft>
                          <a:spcPts val="0"/>
                        </a:spcAft>
                        <a:buNone/>
                      </a:pPr>
                      <a:r>
                        <a:rPr lang="en"/>
                        <a:t>L</a:t>
                      </a:r>
                      <a:endParaRPr/>
                    </a:p>
                  </a:txBody>
                  <a:tcPr marT="91425" marB="91425" marR="91425" marL="91425" anchor="ctr">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H</a:t>
                      </a:r>
                      <a:endParaRPr/>
                    </a:p>
                  </a:txBody>
                  <a:tcPr marT="91425" marB="91425" marR="91425" marL="91425" anchor="ctr">
                    <a:lnL cap="flat" cmpd="sng" w="952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CCW</a:t>
                      </a:r>
                      <a:endParaRPr/>
                    </a:p>
                  </a:txBody>
                  <a:tcPr marT="91425" marB="91425" marR="91425" marL="91425" anchor="ctr">
                    <a:lnL cap="flat" cmpd="sng" w="2857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91675">
                <a:tc>
                  <a:txBody>
                    <a:bodyPr/>
                    <a:lstStyle/>
                    <a:p>
                      <a:pPr indent="0" lvl="0" marL="0" rtl="0" algn="ctr">
                        <a:spcBef>
                          <a:spcPts val="0"/>
                        </a:spcBef>
                        <a:spcAft>
                          <a:spcPts val="0"/>
                        </a:spcAft>
                        <a:buNone/>
                      </a:pPr>
                      <a:r>
                        <a:rPr lang="en"/>
                        <a:t>H</a:t>
                      </a:r>
                      <a:endParaRPr/>
                    </a:p>
                  </a:txBody>
                  <a:tcPr marT="91425" marB="91425" marR="91425" marL="91425" anchor="ctr">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L</a:t>
                      </a:r>
                      <a:endParaRPr/>
                    </a:p>
                  </a:txBody>
                  <a:tcPr marT="91425" marB="91425" marR="91425" marL="91425" anchor="ctr">
                    <a:lnL cap="flat" cmpd="sng" w="952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CW</a:t>
                      </a:r>
                      <a:endParaRPr/>
                    </a:p>
                  </a:txBody>
                  <a:tcPr marT="91425" marB="91425" marR="91425" marL="91425" anchor="ctr">
                    <a:lnL cap="flat" cmpd="sng" w="2857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91675">
                <a:tc>
                  <a:txBody>
                    <a:bodyPr/>
                    <a:lstStyle/>
                    <a:p>
                      <a:pPr indent="0" lvl="0" marL="0" rtl="0" algn="ctr">
                        <a:spcBef>
                          <a:spcPts val="0"/>
                        </a:spcBef>
                        <a:spcAft>
                          <a:spcPts val="0"/>
                        </a:spcAft>
                        <a:buNone/>
                      </a:pPr>
                      <a:r>
                        <a:rPr lang="en"/>
                        <a:t>H</a:t>
                      </a:r>
                      <a:endParaRPr/>
                    </a:p>
                  </a:txBody>
                  <a:tcPr marT="91425" marB="91425" marR="91425" marL="91425" anchor="ctr">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H</a:t>
                      </a:r>
                      <a:endParaRPr/>
                    </a:p>
                  </a:txBody>
                  <a:tcPr marT="91425" marB="91425" marR="91425" marL="91425" anchor="ctr">
                    <a:lnL cap="flat" cmpd="sng" w="952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BRAKE</a:t>
                      </a:r>
                      <a:endParaRPr/>
                    </a:p>
                  </a:txBody>
                  <a:tcPr marT="91425" marB="91425" marR="91425" marL="91425" anchor="ctr">
                    <a:lnL cap="flat" cmpd="sng" w="2857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220" name="Google Shape;220;p26"/>
          <p:cNvPicPr preferRelativeResize="0"/>
          <p:nvPr/>
        </p:nvPicPr>
        <p:blipFill>
          <a:blip r:embed="rId4">
            <a:alphaModFix/>
          </a:blip>
          <a:stretch>
            <a:fillRect/>
          </a:stretch>
        </p:blipFill>
        <p:spPr>
          <a:xfrm>
            <a:off x="324700" y="1752525"/>
            <a:ext cx="1895131" cy="1666557"/>
          </a:xfrm>
          <a:prstGeom prst="rect">
            <a:avLst/>
          </a:prstGeom>
          <a:noFill/>
          <a:ln>
            <a:noFill/>
          </a:ln>
        </p:spPr>
      </p:pic>
      <p:pic>
        <p:nvPicPr>
          <p:cNvPr id="221" name="Google Shape;221;p26"/>
          <p:cNvPicPr preferRelativeResize="0"/>
          <p:nvPr/>
        </p:nvPicPr>
        <p:blipFill>
          <a:blip r:embed="rId5">
            <a:alphaModFix/>
          </a:blip>
          <a:stretch>
            <a:fillRect/>
          </a:stretch>
        </p:blipFill>
        <p:spPr>
          <a:xfrm>
            <a:off x="2497272" y="1752530"/>
            <a:ext cx="1895127" cy="1666557"/>
          </a:xfrm>
          <a:prstGeom prst="rect">
            <a:avLst/>
          </a:prstGeom>
          <a:noFill/>
          <a:ln>
            <a:noFill/>
          </a:ln>
        </p:spPr>
      </p:pic>
      <p:sp>
        <p:nvSpPr>
          <p:cNvPr id="222" name="Google Shape;222;p26"/>
          <p:cNvSpPr txBox="1"/>
          <p:nvPr/>
        </p:nvSpPr>
        <p:spPr>
          <a:xfrm>
            <a:off x="791575" y="3428050"/>
            <a:ext cx="8511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CCW</a:t>
            </a:r>
            <a:endParaRPr/>
          </a:p>
        </p:txBody>
      </p:sp>
      <p:sp>
        <p:nvSpPr>
          <p:cNvPr id="223" name="Google Shape;223;p26"/>
          <p:cNvSpPr txBox="1"/>
          <p:nvPr/>
        </p:nvSpPr>
        <p:spPr>
          <a:xfrm>
            <a:off x="3141275" y="3428050"/>
            <a:ext cx="8511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CW</a:t>
            </a:r>
            <a:endParaRPr/>
          </a:p>
        </p:txBody>
      </p:sp>
      <p:pic>
        <p:nvPicPr>
          <p:cNvPr id="224" name="Google Shape;224;p26"/>
          <p:cNvPicPr preferRelativeResize="0"/>
          <p:nvPr/>
        </p:nvPicPr>
        <p:blipFill>
          <a:blip r:embed="rId6">
            <a:alphaModFix/>
          </a:blip>
          <a:stretch>
            <a:fillRect/>
          </a:stretch>
        </p:blipFill>
        <p:spPr>
          <a:xfrm>
            <a:off x="2545261" y="3817150"/>
            <a:ext cx="2093964" cy="1949574"/>
          </a:xfrm>
          <a:prstGeom prst="rect">
            <a:avLst/>
          </a:prstGeom>
          <a:noFill/>
          <a:ln>
            <a:noFill/>
          </a:ln>
        </p:spPr>
      </p:pic>
      <p:sp>
        <p:nvSpPr>
          <p:cNvPr id="225" name="Google Shape;225;p26"/>
          <p:cNvSpPr txBox="1"/>
          <p:nvPr/>
        </p:nvSpPr>
        <p:spPr>
          <a:xfrm>
            <a:off x="2766150" y="5592650"/>
            <a:ext cx="15972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Stop (all off)</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id="230" name="Google Shape;230;p27"/>
          <p:cNvPicPr preferRelativeResize="0"/>
          <p:nvPr/>
        </p:nvPicPr>
        <p:blipFill>
          <a:blip r:embed="rId3">
            <a:alphaModFix/>
          </a:blip>
          <a:stretch>
            <a:fillRect/>
          </a:stretch>
        </p:blipFill>
        <p:spPr>
          <a:xfrm>
            <a:off x="555916" y="1421125"/>
            <a:ext cx="2347075" cy="2185225"/>
          </a:xfrm>
          <a:prstGeom prst="rect">
            <a:avLst/>
          </a:prstGeom>
          <a:noFill/>
          <a:ln>
            <a:noFill/>
          </a:ln>
        </p:spPr>
      </p:pic>
      <p:sp>
        <p:nvSpPr>
          <p:cNvPr id="231" name="Google Shape;231;p2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Cultural Enrichment: Shoot-Through</a:t>
            </a:r>
            <a:endParaRPr/>
          </a:p>
        </p:txBody>
      </p:sp>
      <p:sp>
        <p:nvSpPr>
          <p:cNvPr id="232" name="Google Shape;232;p27"/>
          <p:cNvSpPr txBox="1"/>
          <p:nvPr/>
        </p:nvSpPr>
        <p:spPr>
          <a:xfrm>
            <a:off x="5662850" y="6304100"/>
            <a:ext cx="3252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t>Ref:  Toshiba TB6612FNG data sheet</a:t>
            </a:r>
            <a:endParaRPr i="1" sz="1200"/>
          </a:p>
        </p:txBody>
      </p:sp>
      <p:sp>
        <p:nvSpPr>
          <p:cNvPr id="233" name="Google Shape;233;p27"/>
          <p:cNvSpPr txBox="1"/>
          <p:nvPr/>
        </p:nvSpPr>
        <p:spPr>
          <a:xfrm>
            <a:off x="3411050" y="1421125"/>
            <a:ext cx="5421300" cy="466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rgbClr val="FF0000"/>
                </a:solidFill>
              </a:rPr>
              <a:t>Shoot-through</a:t>
            </a:r>
            <a:r>
              <a:rPr lang="en" sz="1900"/>
              <a:t> (“penetrating current”)</a:t>
            </a:r>
            <a:endParaRPr sz="1900"/>
          </a:p>
          <a:p>
            <a:pPr indent="0" lvl="0" marL="0" rtl="0" algn="l">
              <a:spcBef>
                <a:spcPts val="0"/>
              </a:spcBef>
              <a:spcAft>
                <a:spcPts val="0"/>
              </a:spcAft>
              <a:buNone/>
            </a:pPr>
            <a:r>
              <a:rPr lang="en" sz="1900"/>
              <a:t>Different switching times for transistors can allow both transistors on one side to be ON during a reversal.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lang="en" sz="1900"/>
              <a:t>Instantaneous high current can destroy transistors.</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lang="en" sz="1900"/>
              <a:t>TB6612FNG has a layer of logical circuitry that staggers the switching so all transitions pass through a brief state with one side completely off.</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lang="en" sz="1900"/>
              <a:t>Still, a good idea when changing direction to insert a “short brake” state.</a:t>
            </a:r>
            <a:endParaRPr sz="1900"/>
          </a:p>
          <a:p>
            <a:pPr indent="0" lvl="0" marL="0" rtl="0" algn="l">
              <a:spcBef>
                <a:spcPts val="0"/>
              </a:spcBef>
              <a:spcAft>
                <a:spcPts val="0"/>
              </a:spcAft>
              <a:buNone/>
            </a:pPr>
            <a:r>
              <a:t/>
            </a:r>
            <a:endParaRPr sz="1500"/>
          </a:p>
          <a:p>
            <a:pPr indent="0" lvl="0" marL="0" rtl="0" algn="l">
              <a:spcBef>
                <a:spcPts val="0"/>
              </a:spcBef>
              <a:spcAft>
                <a:spcPts val="0"/>
              </a:spcAft>
              <a:buNone/>
            </a:pPr>
            <a:r>
              <a:t/>
            </a:r>
            <a:endParaRPr/>
          </a:p>
        </p:txBody>
      </p:sp>
      <p:cxnSp>
        <p:nvCxnSpPr>
          <p:cNvPr id="234" name="Google Shape;234;p27"/>
          <p:cNvCxnSpPr/>
          <p:nvPr/>
        </p:nvCxnSpPr>
        <p:spPr>
          <a:xfrm>
            <a:off x="2447691" y="1743175"/>
            <a:ext cx="17400" cy="1458300"/>
          </a:xfrm>
          <a:prstGeom prst="straightConnector1">
            <a:avLst/>
          </a:prstGeom>
          <a:noFill/>
          <a:ln cap="flat" cmpd="sng" w="38100">
            <a:solidFill>
              <a:srgbClr val="FF0000"/>
            </a:solidFill>
            <a:prstDash val="dash"/>
            <a:round/>
            <a:headEnd len="med" w="med" type="none"/>
            <a:tailEnd len="med" w="med" type="triangle"/>
          </a:ln>
        </p:spPr>
      </p:cxnSp>
      <p:pic>
        <p:nvPicPr>
          <p:cNvPr id="235" name="Google Shape;235;p27"/>
          <p:cNvPicPr preferRelativeResize="0"/>
          <p:nvPr/>
        </p:nvPicPr>
        <p:blipFill>
          <a:blip r:embed="rId4">
            <a:alphaModFix/>
          </a:blip>
          <a:stretch>
            <a:fillRect/>
          </a:stretch>
        </p:blipFill>
        <p:spPr>
          <a:xfrm>
            <a:off x="555904" y="3670593"/>
            <a:ext cx="2454387" cy="21852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Inside the motor controller IC</a:t>
            </a:r>
            <a:endParaRPr/>
          </a:p>
        </p:txBody>
      </p:sp>
      <p:pic>
        <p:nvPicPr>
          <p:cNvPr id="241" name="Google Shape;241;p28"/>
          <p:cNvPicPr preferRelativeResize="0"/>
          <p:nvPr/>
        </p:nvPicPr>
        <p:blipFill>
          <a:blip r:embed="rId3">
            <a:alphaModFix/>
          </a:blip>
          <a:stretch>
            <a:fillRect/>
          </a:stretch>
        </p:blipFill>
        <p:spPr>
          <a:xfrm>
            <a:off x="2022675" y="1935025"/>
            <a:ext cx="6240751" cy="4357951"/>
          </a:xfrm>
          <a:prstGeom prst="rect">
            <a:avLst/>
          </a:prstGeom>
          <a:noFill/>
          <a:ln>
            <a:noFill/>
          </a:ln>
        </p:spPr>
      </p:pic>
      <p:sp>
        <p:nvSpPr>
          <p:cNvPr id="242" name="Google Shape;242;p28"/>
          <p:cNvSpPr txBox="1"/>
          <p:nvPr/>
        </p:nvSpPr>
        <p:spPr>
          <a:xfrm>
            <a:off x="444875" y="4543575"/>
            <a:ext cx="1678800" cy="384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a:solidFill>
                  <a:srgbClr val="0000FF"/>
                </a:solidFill>
              </a:rPr>
              <a:t>H-bridge</a:t>
            </a:r>
            <a:endParaRPr>
              <a:solidFill>
                <a:srgbClr val="0000FF"/>
              </a:solidFill>
            </a:endParaRPr>
          </a:p>
        </p:txBody>
      </p:sp>
      <p:sp>
        <p:nvSpPr>
          <p:cNvPr id="243" name="Google Shape;243;p28"/>
          <p:cNvSpPr/>
          <p:nvPr/>
        </p:nvSpPr>
        <p:spPr>
          <a:xfrm>
            <a:off x="3318975" y="3912750"/>
            <a:ext cx="312900" cy="170700"/>
          </a:xfrm>
          <a:prstGeom prst="ellipse">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8"/>
          <p:cNvSpPr/>
          <p:nvPr/>
        </p:nvSpPr>
        <p:spPr>
          <a:xfrm>
            <a:off x="2451050" y="4469925"/>
            <a:ext cx="2518500" cy="647400"/>
          </a:xfrm>
          <a:prstGeom prst="rect">
            <a:avLst/>
          </a:prstGeom>
          <a:no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8"/>
          <p:cNvSpPr txBox="1"/>
          <p:nvPr/>
        </p:nvSpPr>
        <p:spPr>
          <a:xfrm>
            <a:off x="329675" y="3699450"/>
            <a:ext cx="1794000" cy="384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a:solidFill>
                  <a:srgbClr val="CC0000"/>
                </a:solidFill>
              </a:rPr>
              <a:t>4 wires </a:t>
            </a:r>
            <a:endParaRPr>
              <a:solidFill>
                <a:srgbClr val="CC0000"/>
              </a:solidFill>
            </a:endParaRPr>
          </a:p>
          <a:p>
            <a:pPr indent="0" lvl="0" marL="0" rtl="0" algn="r">
              <a:spcBef>
                <a:spcPts val="0"/>
              </a:spcBef>
              <a:spcAft>
                <a:spcPts val="0"/>
              </a:spcAft>
              <a:buNone/>
            </a:pPr>
            <a:r>
              <a:rPr lang="en">
                <a:solidFill>
                  <a:srgbClr val="CC0000"/>
                </a:solidFill>
              </a:rPr>
              <a:t>(to transistor gates)</a:t>
            </a:r>
            <a:endParaRPr>
              <a:solidFill>
                <a:srgbClr val="CC0000"/>
              </a:solidFill>
            </a:endParaRPr>
          </a:p>
        </p:txBody>
      </p:sp>
      <p:cxnSp>
        <p:nvCxnSpPr>
          <p:cNvPr id="246" name="Google Shape;246;p28"/>
          <p:cNvCxnSpPr>
            <a:stCxn id="245" idx="3"/>
            <a:endCxn id="243" idx="2"/>
          </p:cNvCxnSpPr>
          <p:nvPr/>
        </p:nvCxnSpPr>
        <p:spPr>
          <a:xfrm>
            <a:off x="2123675" y="3891450"/>
            <a:ext cx="1195200" cy="106800"/>
          </a:xfrm>
          <a:prstGeom prst="straightConnector1">
            <a:avLst/>
          </a:prstGeom>
          <a:noFill/>
          <a:ln cap="flat" cmpd="sng" w="19050">
            <a:solidFill>
              <a:srgbClr val="CC0000"/>
            </a:solidFill>
            <a:prstDash val="solid"/>
            <a:round/>
            <a:headEnd len="med" w="med" type="none"/>
            <a:tailEnd len="med" w="med" type="triangle"/>
          </a:ln>
        </p:spPr>
      </p:cxnSp>
      <p:sp>
        <p:nvSpPr>
          <p:cNvPr id="247" name="Google Shape;247;p28"/>
          <p:cNvSpPr/>
          <p:nvPr/>
        </p:nvSpPr>
        <p:spPr>
          <a:xfrm>
            <a:off x="2749850" y="1977725"/>
            <a:ext cx="1451400" cy="8253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8"/>
          <p:cNvSpPr txBox="1"/>
          <p:nvPr/>
        </p:nvSpPr>
        <p:spPr>
          <a:xfrm>
            <a:off x="228600" y="2084550"/>
            <a:ext cx="1895100" cy="1614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a:solidFill>
                  <a:srgbClr val="CC0000"/>
                </a:solidFill>
              </a:rPr>
              <a:t>IN1, IN2, PWM control direction and speed</a:t>
            </a:r>
            <a:endParaRPr>
              <a:solidFill>
                <a:srgbClr val="CC0000"/>
              </a:solidFill>
            </a:endParaRPr>
          </a:p>
          <a:p>
            <a:pPr indent="0" lvl="0" marL="0" rtl="0" algn="l">
              <a:spcBef>
                <a:spcPts val="0"/>
              </a:spcBef>
              <a:spcAft>
                <a:spcPts val="0"/>
              </a:spcAft>
              <a:buNone/>
            </a:pPr>
            <a:r>
              <a:t/>
            </a:r>
            <a:endParaRPr>
              <a:solidFill>
                <a:srgbClr val="CC0000"/>
              </a:solidFill>
            </a:endParaRPr>
          </a:p>
          <a:p>
            <a:pPr indent="0" lvl="0" marL="0" rtl="0" algn="l">
              <a:spcBef>
                <a:spcPts val="0"/>
              </a:spcBef>
              <a:spcAft>
                <a:spcPts val="0"/>
              </a:spcAft>
              <a:buNone/>
            </a:pPr>
            <a:r>
              <a:t/>
            </a:r>
            <a:endParaRPr>
              <a:solidFill>
                <a:srgbClr val="CC0000"/>
              </a:solidFill>
            </a:endParaRPr>
          </a:p>
          <a:p>
            <a:pPr indent="0" lvl="0" marL="0" rtl="0" algn="r">
              <a:spcBef>
                <a:spcPts val="0"/>
              </a:spcBef>
              <a:spcAft>
                <a:spcPts val="0"/>
              </a:spcAft>
              <a:buNone/>
            </a:pPr>
            <a:r>
              <a:rPr lang="en">
                <a:solidFill>
                  <a:srgbClr val="CC0000"/>
                </a:solidFill>
              </a:rPr>
              <a:t>Translate inputs to H-bridge control</a:t>
            </a:r>
            <a:endParaRPr>
              <a:solidFill>
                <a:srgbClr val="CC0000"/>
              </a:solidFill>
            </a:endParaRPr>
          </a:p>
        </p:txBody>
      </p:sp>
      <p:sp>
        <p:nvSpPr>
          <p:cNvPr id="249" name="Google Shape;249;p28"/>
          <p:cNvSpPr/>
          <p:nvPr/>
        </p:nvSpPr>
        <p:spPr>
          <a:xfrm>
            <a:off x="2294525" y="1977800"/>
            <a:ext cx="398400" cy="825300"/>
          </a:xfrm>
          <a:prstGeom prst="rect">
            <a:avLst/>
          </a:prstGeom>
          <a:no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8"/>
          <p:cNvSpPr/>
          <p:nvPr/>
        </p:nvSpPr>
        <p:spPr>
          <a:xfrm>
            <a:off x="4258175" y="1977725"/>
            <a:ext cx="398400" cy="8253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8"/>
          <p:cNvSpPr txBox="1"/>
          <p:nvPr/>
        </p:nvSpPr>
        <p:spPr>
          <a:xfrm>
            <a:off x="1355475" y="1351675"/>
            <a:ext cx="2162700" cy="58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00FF"/>
                </a:solidFill>
              </a:rPr>
              <a:t>Motor power </a:t>
            </a:r>
            <a:endParaRPr>
              <a:solidFill>
                <a:srgbClr val="0000FF"/>
              </a:solidFill>
            </a:endParaRPr>
          </a:p>
          <a:p>
            <a:pPr indent="0" lvl="0" marL="0" rtl="0" algn="ctr">
              <a:spcBef>
                <a:spcPts val="0"/>
              </a:spcBef>
              <a:spcAft>
                <a:spcPts val="0"/>
              </a:spcAft>
              <a:buNone/>
            </a:pPr>
            <a:r>
              <a:rPr lang="en">
                <a:solidFill>
                  <a:srgbClr val="0000FF"/>
                </a:solidFill>
              </a:rPr>
              <a:t>(high voltage, current)</a:t>
            </a:r>
            <a:endParaRPr>
              <a:solidFill>
                <a:srgbClr val="0000FF"/>
              </a:solidFill>
            </a:endParaRPr>
          </a:p>
        </p:txBody>
      </p:sp>
      <p:sp>
        <p:nvSpPr>
          <p:cNvPr id="252" name="Google Shape;252;p28"/>
          <p:cNvSpPr txBox="1"/>
          <p:nvPr/>
        </p:nvSpPr>
        <p:spPr>
          <a:xfrm>
            <a:off x="3784275" y="1351675"/>
            <a:ext cx="2162700" cy="58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CC0000"/>
                </a:solidFill>
              </a:rPr>
              <a:t>Logic Vcc &amp; GND</a:t>
            </a:r>
            <a:endParaRPr>
              <a:solidFill>
                <a:srgbClr val="CC0000"/>
              </a:solidFill>
            </a:endParaRPr>
          </a:p>
          <a:p>
            <a:pPr indent="0" lvl="0" marL="0" rtl="0" algn="ctr">
              <a:spcBef>
                <a:spcPts val="0"/>
              </a:spcBef>
              <a:spcAft>
                <a:spcPts val="0"/>
              </a:spcAft>
              <a:buNone/>
            </a:pPr>
            <a:r>
              <a:rPr lang="en">
                <a:solidFill>
                  <a:srgbClr val="CC0000"/>
                </a:solidFill>
              </a:rPr>
              <a:t>(low voltage, current)</a:t>
            </a:r>
            <a:endParaRPr>
              <a:solidFill>
                <a:srgbClr val="CC0000"/>
              </a:solidFill>
            </a:endParaRPr>
          </a:p>
        </p:txBody>
      </p:sp>
      <p:sp>
        <p:nvSpPr>
          <p:cNvPr id="253" name="Google Shape;253;p28"/>
          <p:cNvSpPr/>
          <p:nvPr/>
        </p:nvSpPr>
        <p:spPr>
          <a:xfrm>
            <a:off x="2269350" y="5293875"/>
            <a:ext cx="2815200" cy="877200"/>
          </a:xfrm>
          <a:prstGeom prst="rect">
            <a:avLst/>
          </a:prstGeom>
          <a:no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8"/>
          <p:cNvSpPr txBox="1"/>
          <p:nvPr/>
        </p:nvSpPr>
        <p:spPr>
          <a:xfrm>
            <a:off x="120500" y="5434675"/>
            <a:ext cx="2081700" cy="10053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a:solidFill>
                  <a:srgbClr val="0000FF"/>
                </a:solidFill>
              </a:rPr>
              <a:t>OUT1, OUT2 to motor.</a:t>
            </a:r>
            <a:endParaRPr>
              <a:solidFill>
                <a:srgbClr val="0000FF"/>
              </a:solidFill>
            </a:endParaRPr>
          </a:p>
          <a:p>
            <a:pPr indent="0" lvl="0" marL="0" rtl="0" algn="r">
              <a:spcBef>
                <a:spcPts val="0"/>
              </a:spcBef>
              <a:spcAft>
                <a:spcPts val="0"/>
              </a:spcAft>
              <a:buNone/>
            </a:pPr>
            <a:r>
              <a:rPr lang="en">
                <a:solidFill>
                  <a:srgbClr val="0000FF"/>
                </a:solidFill>
              </a:rPr>
              <a:t>Separate PGND for motor power.</a:t>
            </a:r>
            <a:endParaRPr>
              <a:solidFill>
                <a:srgbClr val="0000FF"/>
              </a:solidFill>
            </a:endParaRPr>
          </a:p>
        </p:txBody>
      </p:sp>
      <p:sp>
        <p:nvSpPr>
          <p:cNvPr id="255" name="Google Shape;255;p28"/>
          <p:cNvSpPr/>
          <p:nvPr/>
        </p:nvSpPr>
        <p:spPr>
          <a:xfrm>
            <a:off x="2749850" y="3078150"/>
            <a:ext cx="1451400" cy="6474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8"/>
          <p:cNvSpPr txBox="1"/>
          <p:nvPr/>
        </p:nvSpPr>
        <p:spPr>
          <a:xfrm>
            <a:off x="5891450" y="6304100"/>
            <a:ext cx="3252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t>Ref:  Toshiba TB6612FNG data sheet</a:t>
            </a:r>
            <a:endParaRPr i="1" sz="1200"/>
          </a:p>
        </p:txBody>
      </p:sp>
      <p:sp>
        <p:nvSpPr>
          <p:cNvPr id="257" name="Google Shape;257;p28"/>
          <p:cNvSpPr/>
          <p:nvPr/>
        </p:nvSpPr>
        <p:spPr>
          <a:xfrm>
            <a:off x="5167575" y="1977725"/>
            <a:ext cx="398400" cy="8253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 </a:t>
            </a:r>
            <a:r>
              <a:rPr lang="en"/>
              <a:t>Motor controller truth table</a:t>
            </a:r>
            <a:endParaRPr/>
          </a:p>
        </p:txBody>
      </p:sp>
      <p:pic>
        <p:nvPicPr>
          <p:cNvPr id="263" name="Google Shape;263;p29"/>
          <p:cNvPicPr preferRelativeResize="0"/>
          <p:nvPr/>
        </p:nvPicPr>
        <p:blipFill>
          <a:blip r:embed="rId3">
            <a:alphaModFix/>
          </a:blip>
          <a:stretch>
            <a:fillRect/>
          </a:stretch>
        </p:blipFill>
        <p:spPr>
          <a:xfrm>
            <a:off x="159275" y="1849048"/>
            <a:ext cx="7162526" cy="3986201"/>
          </a:xfrm>
          <a:prstGeom prst="rect">
            <a:avLst/>
          </a:prstGeom>
          <a:noFill/>
          <a:ln>
            <a:noFill/>
          </a:ln>
        </p:spPr>
      </p:pic>
      <p:sp>
        <p:nvSpPr>
          <p:cNvPr id="264" name="Google Shape;264;p29"/>
          <p:cNvSpPr/>
          <p:nvPr/>
        </p:nvSpPr>
        <p:spPr>
          <a:xfrm>
            <a:off x="489850" y="4053925"/>
            <a:ext cx="1269600" cy="5205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9"/>
          <p:cNvSpPr/>
          <p:nvPr/>
        </p:nvSpPr>
        <p:spPr>
          <a:xfrm>
            <a:off x="1759450" y="4022350"/>
            <a:ext cx="627600" cy="2760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9"/>
          <p:cNvSpPr/>
          <p:nvPr/>
        </p:nvSpPr>
        <p:spPr>
          <a:xfrm>
            <a:off x="5567825" y="4022350"/>
            <a:ext cx="779700" cy="2760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9"/>
          <p:cNvSpPr/>
          <p:nvPr/>
        </p:nvSpPr>
        <p:spPr>
          <a:xfrm>
            <a:off x="489850" y="3511600"/>
            <a:ext cx="1269600" cy="520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9"/>
          <p:cNvSpPr/>
          <p:nvPr/>
        </p:nvSpPr>
        <p:spPr>
          <a:xfrm>
            <a:off x="1759450" y="3470350"/>
            <a:ext cx="627600" cy="276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9"/>
          <p:cNvSpPr/>
          <p:nvPr/>
        </p:nvSpPr>
        <p:spPr>
          <a:xfrm>
            <a:off x="5567825" y="3470350"/>
            <a:ext cx="779700" cy="276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9"/>
          <p:cNvSpPr txBox="1"/>
          <p:nvPr/>
        </p:nvSpPr>
        <p:spPr>
          <a:xfrm>
            <a:off x="7182450" y="3982450"/>
            <a:ext cx="993300" cy="31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clockwise</a:t>
            </a:r>
            <a:endParaRPr>
              <a:solidFill>
                <a:srgbClr val="0000FF"/>
              </a:solidFill>
            </a:endParaRPr>
          </a:p>
        </p:txBody>
      </p:sp>
      <p:sp>
        <p:nvSpPr>
          <p:cNvPr id="271" name="Google Shape;271;p29"/>
          <p:cNvSpPr txBox="1"/>
          <p:nvPr/>
        </p:nvSpPr>
        <p:spPr>
          <a:xfrm>
            <a:off x="7182450" y="3450400"/>
            <a:ext cx="1682700" cy="31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rPr>
              <a:t>counterclockwise</a:t>
            </a:r>
            <a:endParaRPr>
              <a:solidFill>
                <a:srgbClr val="FF0000"/>
              </a:solidFill>
            </a:endParaRPr>
          </a:p>
        </p:txBody>
      </p:sp>
      <p:sp>
        <p:nvSpPr>
          <p:cNvPr id="272" name="Google Shape;272;p29"/>
          <p:cNvSpPr/>
          <p:nvPr/>
        </p:nvSpPr>
        <p:spPr>
          <a:xfrm>
            <a:off x="489850" y="4606475"/>
            <a:ext cx="1269600" cy="520500"/>
          </a:xfrm>
          <a:prstGeom prst="rect">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9"/>
          <p:cNvSpPr/>
          <p:nvPr/>
        </p:nvSpPr>
        <p:spPr>
          <a:xfrm>
            <a:off x="5567825" y="4692200"/>
            <a:ext cx="779700" cy="276000"/>
          </a:xfrm>
          <a:prstGeom prst="rect">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9"/>
          <p:cNvSpPr/>
          <p:nvPr/>
        </p:nvSpPr>
        <p:spPr>
          <a:xfrm>
            <a:off x="489850" y="3000850"/>
            <a:ext cx="1269600" cy="469500"/>
          </a:xfrm>
          <a:prstGeom prst="rect">
            <a:avLst/>
          </a:prstGeom>
          <a:noFill/>
          <a:ln cap="flat" cmpd="sng" w="2857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9"/>
          <p:cNvSpPr/>
          <p:nvPr/>
        </p:nvSpPr>
        <p:spPr>
          <a:xfrm>
            <a:off x="1759450" y="3097600"/>
            <a:ext cx="627600" cy="276000"/>
          </a:xfrm>
          <a:prstGeom prst="rect">
            <a:avLst/>
          </a:prstGeom>
          <a:noFill/>
          <a:ln cap="flat" cmpd="sng" w="2857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9"/>
          <p:cNvSpPr/>
          <p:nvPr/>
        </p:nvSpPr>
        <p:spPr>
          <a:xfrm>
            <a:off x="1759450" y="4728725"/>
            <a:ext cx="627600" cy="276000"/>
          </a:xfrm>
          <a:prstGeom prst="rect">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9"/>
          <p:cNvSpPr/>
          <p:nvPr/>
        </p:nvSpPr>
        <p:spPr>
          <a:xfrm>
            <a:off x="5567825" y="3097600"/>
            <a:ext cx="779700" cy="276000"/>
          </a:xfrm>
          <a:prstGeom prst="rect">
            <a:avLst/>
          </a:prstGeom>
          <a:noFill/>
          <a:ln cap="flat" cmpd="sng" w="2857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9"/>
          <p:cNvSpPr/>
          <p:nvPr/>
        </p:nvSpPr>
        <p:spPr>
          <a:xfrm>
            <a:off x="2421550" y="2763850"/>
            <a:ext cx="579600" cy="2370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9"/>
          <p:cNvSpPr txBox="1"/>
          <p:nvPr/>
        </p:nvSpPr>
        <p:spPr>
          <a:xfrm>
            <a:off x="2787350" y="1828625"/>
            <a:ext cx="2517300" cy="57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80000"/>
                </a:solidFill>
              </a:rPr>
              <a:t>Automatically pulled up through our breakout board</a:t>
            </a:r>
            <a:endParaRPr>
              <a:solidFill>
                <a:srgbClr val="980000"/>
              </a:solidFill>
            </a:endParaRPr>
          </a:p>
        </p:txBody>
      </p:sp>
      <p:cxnSp>
        <p:nvCxnSpPr>
          <p:cNvPr id="280" name="Google Shape;280;p29"/>
          <p:cNvCxnSpPr>
            <a:endCxn id="278" idx="0"/>
          </p:cNvCxnSpPr>
          <p:nvPr/>
        </p:nvCxnSpPr>
        <p:spPr>
          <a:xfrm flipH="1">
            <a:off x="2711350" y="2342950"/>
            <a:ext cx="600300" cy="420900"/>
          </a:xfrm>
          <a:prstGeom prst="straightConnector1">
            <a:avLst/>
          </a:prstGeom>
          <a:noFill/>
          <a:ln cap="flat" cmpd="sng" w="28575">
            <a:solidFill>
              <a:srgbClr val="980000"/>
            </a:solidFill>
            <a:prstDash val="solid"/>
            <a:round/>
            <a:headEnd len="med" w="med" type="none"/>
            <a:tailEnd len="med" w="med" type="triangle"/>
          </a:ln>
        </p:spPr>
      </p:cxnSp>
      <p:sp>
        <p:nvSpPr>
          <p:cNvPr id="281" name="Google Shape;281;p29"/>
          <p:cNvSpPr txBox="1"/>
          <p:nvPr/>
        </p:nvSpPr>
        <p:spPr>
          <a:xfrm>
            <a:off x="5815250" y="6456500"/>
            <a:ext cx="3252000" cy="4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t>Ref:  Toshiba TB6612FNG data sheet</a:t>
            </a:r>
            <a:endParaRPr i="1" sz="12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pic>
        <p:nvPicPr>
          <p:cNvPr id="286" name="Google Shape;286;p30"/>
          <p:cNvPicPr preferRelativeResize="0"/>
          <p:nvPr/>
        </p:nvPicPr>
        <p:blipFill rotWithShape="1">
          <a:blip r:embed="rId3">
            <a:alphaModFix/>
          </a:blip>
          <a:srcRect b="2937" l="0" r="0" t="2928"/>
          <a:stretch/>
        </p:blipFill>
        <p:spPr>
          <a:xfrm>
            <a:off x="678325" y="570363"/>
            <a:ext cx="6625303" cy="6122872"/>
          </a:xfrm>
          <a:prstGeom prst="rect">
            <a:avLst/>
          </a:prstGeom>
          <a:noFill/>
          <a:ln>
            <a:noFill/>
          </a:ln>
        </p:spPr>
      </p:pic>
      <p:sp>
        <p:nvSpPr>
          <p:cNvPr id="287" name="Google Shape;287;p30"/>
          <p:cNvSpPr txBox="1"/>
          <p:nvPr>
            <p:ph type="title"/>
          </p:nvPr>
        </p:nvSpPr>
        <p:spPr>
          <a:xfrm>
            <a:off x="210650" y="-8"/>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TB6612 breakout wiring — first exercise</a:t>
            </a:r>
            <a:endParaRPr/>
          </a:p>
        </p:txBody>
      </p:sp>
      <p:sp>
        <p:nvSpPr>
          <p:cNvPr id="288" name="Google Shape;288;p30"/>
          <p:cNvSpPr txBox="1"/>
          <p:nvPr/>
        </p:nvSpPr>
        <p:spPr>
          <a:xfrm>
            <a:off x="7406400" y="525900"/>
            <a:ext cx="1625400" cy="22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We will u</a:t>
            </a:r>
            <a:r>
              <a:rPr lang="en"/>
              <a:t>se an external power supply.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Leave USB disconnected.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highlight>
                  <a:srgbClr val="FFFF00"/>
                </a:highlight>
              </a:rPr>
              <a:t>Do NOT plug in external power yet.</a:t>
            </a:r>
            <a:endParaRPr b="1">
              <a:highlight>
                <a:srgbClr val="FFFF00"/>
              </a:highlight>
            </a:endParaRPr>
          </a:p>
        </p:txBody>
      </p:sp>
      <p:sp>
        <p:nvSpPr>
          <p:cNvPr id="289" name="Google Shape;289;p30"/>
          <p:cNvSpPr/>
          <p:nvPr/>
        </p:nvSpPr>
        <p:spPr>
          <a:xfrm>
            <a:off x="5151925" y="3670200"/>
            <a:ext cx="675600" cy="213300"/>
          </a:xfrm>
          <a:prstGeom prst="ellipse">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0" name="Google Shape;290;p30"/>
          <p:cNvCxnSpPr>
            <a:stCxn id="291" idx="3"/>
            <a:endCxn id="289" idx="2"/>
          </p:cNvCxnSpPr>
          <p:nvPr/>
        </p:nvCxnSpPr>
        <p:spPr>
          <a:xfrm>
            <a:off x="1691275" y="2537050"/>
            <a:ext cx="3460800" cy="1239900"/>
          </a:xfrm>
          <a:prstGeom prst="straightConnector1">
            <a:avLst/>
          </a:prstGeom>
          <a:noFill/>
          <a:ln cap="flat" cmpd="sng" w="19050">
            <a:solidFill>
              <a:schemeClr val="dk2"/>
            </a:solidFill>
            <a:prstDash val="solid"/>
            <a:round/>
            <a:headEnd len="med" w="med" type="none"/>
            <a:tailEnd len="med" w="med" type="stealth"/>
          </a:ln>
        </p:spPr>
      </p:cxnSp>
      <p:sp>
        <p:nvSpPr>
          <p:cNvPr id="291" name="Google Shape;291;p30"/>
          <p:cNvSpPr txBox="1"/>
          <p:nvPr/>
        </p:nvSpPr>
        <p:spPr>
          <a:xfrm>
            <a:off x="65875" y="1994200"/>
            <a:ext cx="1625400" cy="1085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a:t>PWM held high; AIN1 and AIN2 unconnected.</a:t>
            </a:r>
            <a:endParaRPr/>
          </a:p>
        </p:txBody>
      </p:sp>
      <p:sp>
        <p:nvSpPr>
          <p:cNvPr id="292" name="Google Shape;292;p30"/>
          <p:cNvSpPr txBox="1"/>
          <p:nvPr/>
        </p:nvSpPr>
        <p:spPr>
          <a:xfrm>
            <a:off x="7588350" y="2990400"/>
            <a:ext cx="847800" cy="400200"/>
          </a:xfrm>
          <a:prstGeom prst="rect">
            <a:avLst/>
          </a:prstGeom>
          <a:noFill/>
          <a:ln cap="flat" cmpd="sng" w="28575">
            <a:solidFill>
              <a:srgbClr val="FF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.22 uF</a:t>
            </a:r>
            <a:endParaRPr/>
          </a:p>
        </p:txBody>
      </p:sp>
      <p:sp>
        <p:nvSpPr>
          <p:cNvPr id="293" name="Google Shape;293;p30"/>
          <p:cNvSpPr/>
          <p:nvPr/>
        </p:nvSpPr>
        <p:spPr>
          <a:xfrm>
            <a:off x="5214950" y="3390600"/>
            <a:ext cx="71100" cy="76800"/>
          </a:xfrm>
          <a:prstGeom prst="ellipse">
            <a:avLst/>
          </a:prstGeom>
          <a:solidFill>
            <a:srgbClr val="FF00FF"/>
          </a:solid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4" name="Google Shape;294;p30"/>
          <p:cNvPicPr preferRelativeResize="0"/>
          <p:nvPr/>
        </p:nvPicPr>
        <p:blipFill>
          <a:blip r:embed="rId4">
            <a:alphaModFix/>
          </a:blip>
          <a:stretch>
            <a:fillRect/>
          </a:stretch>
        </p:blipFill>
        <p:spPr>
          <a:xfrm rot="-5400000">
            <a:off x="6898251" y="3275400"/>
            <a:ext cx="923300" cy="2012201"/>
          </a:xfrm>
          <a:prstGeom prst="rect">
            <a:avLst/>
          </a:prstGeom>
          <a:noFill/>
          <a:ln>
            <a:noFill/>
          </a:ln>
        </p:spPr>
      </p:pic>
      <p:sp>
        <p:nvSpPr>
          <p:cNvPr id="295" name="Google Shape;295;p30"/>
          <p:cNvSpPr txBox="1"/>
          <p:nvPr/>
        </p:nvSpPr>
        <p:spPr>
          <a:xfrm>
            <a:off x="7588350" y="5131275"/>
            <a:ext cx="151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Barrel connector</a:t>
            </a:r>
            <a:endParaRPr>
              <a:solidFill>
                <a:schemeClr val="dk1"/>
              </a:solidFill>
            </a:endParaRPr>
          </a:p>
        </p:txBody>
      </p:sp>
      <p:cxnSp>
        <p:nvCxnSpPr>
          <p:cNvPr id="296" name="Google Shape;296;p30"/>
          <p:cNvCxnSpPr>
            <a:stCxn id="295" idx="0"/>
          </p:cNvCxnSpPr>
          <p:nvPr/>
        </p:nvCxnSpPr>
        <p:spPr>
          <a:xfrm rot="10800000">
            <a:off x="8133750" y="4485075"/>
            <a:ext cx="211200" cy="646200"/>
          </a:xfrm>
          <a:prstGeom prst="straightConnector1">
            <a:avLst/>
          </a:prstGeom>
          <a:noFill/>
          <a:ln cap="flat" cmpd="sng" w="28575">
            <a:solidFill>
              <a:schemeClr val="dk1"/>
            </a:solidFill>
            <a:prstDash val="solid"/>
            <a:round/>
            <a:headEnd len="med" w="med" type="none"/>
            <a:tailEnd len="med" w="med" type="triangle"/>
          </a:ln>
        </p:spPr>
      </p:cxnSp>
      <p:sp>
        <p:nvSpPr>
          <p:cNvPr id="297" name="Google Shape;297;p30"/>
          <p:cNvSpPr txBox="1"/>
          <p:nvPr/>
        </p:nvSpPr>
        <p:spPr>
          <a:xfrm>
            <a:off x="6740600" y="5821000"/>
            <a:ext cx="16254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Voltage regulator: regulates incoming voltage down to 5V</a:t>
            </a:r>
            <a:endParaRPr>
              <a:solidFill>
                <a:schemeClr val="dk1"/>
              </a:solidFill>
            </a:endParaRPr>
          </a:p>
        </p:txBody>
      </p:sp>
      <p:cxnSp>
        <p:nvCxnSpPr>
          <p:cNvPr id="298" name="Google Shape;298;p30"/>
          <p:cNvCxnSpPr>
            <a:stCxn id="297" idx="0"/>
          </p:cNvCxnSpPr>
          <p:nvPr/>
        </p:nvCxnSpPr>
        <p:spPr>
          <a:xfrm rot="10800000">
            <a:off x="7145900" y="4498900"/>
            <a:ext cx="407400" cy="1322100"/>
          </a:xfrm>
          <a:prstGeom prst="straightConnector1">
            <a:avLst/>
          </a:prstGeom>
          <a:noFill/>
          <a:ln cap="flat" cmpd="sng" w="28575">
            <a:solidFill>
              <a:schemeClr val="dk1"/>
            </a:solidFill>
            <a:prstDash val="solid"/>
            <a:round/>
            <a:headEnd len="med" w="med" type="none"/>
            <a:tailEnd len="med" w="med" type="triangle"/>
          </a:ln>
        </p:spPr>
      </p:cxnSp>
      <p:sp>
        <p:nvSpPr>
          <p:cNvPr id="299" name="Google Shape;299;p30"/>
          <p:cNvSpPr txBox="1"/>
          <p:nvPr/>
        </p:nvSpPr>
        <p:spPr>
          <a:xfrm>
            <a:off x="280575" y="5708300"/>
            <a:ext cx="2472600" cy="821400"/>
          </a:xfrm>
          <a:prstGeom prst="rect">
            <a:avLst/>
          </a:prstGeom>
          <a:solidFill>
            <a:schemeClr val="accent6"/>
          </a:solidFill>
          <a:ln cap="flat" cmpd="sng" w="2857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0000FF"/>
                </a:solidFill>
              </a:rPr>
              <a:t>Once you have this wired up, have your wiring checked by one of us.</a:t>
            </a:r>
            <a:endParaRPr b="1">
              <a:solidFill>
                <a:srgbClr val="0000FF"/>
              </a:solidFill>
              <a:highlight>
                <a:srgbClr val="FFFF00"/>
              </a:high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1"/>
          <p:cNvSpPr txBox="1"/>
          <p:nvPr>
            <p:ph type="title"/>
          </p:nvPr>
        </p:nvSpPr>
        <p:spPr>
          <a:xfrm>
            <a:off x="533400" y="457200"/>
            <a:ext cx="7543800" cy="381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Recall: </a:t>
            </a:r>
            <a:r>
              <a:rPr lang="en"/>
              <a:t>Reading Capacitor Codes</a:t>
            </a:r>
            <a:endParaRPr/>
          </a:p>
        </p:txBody>
      </p:sp>
      <p:sp>
        <p:nvSpPr>
          <p:cNvPr id="306" name="Google Shape;306;p31"/>
          <p:cNvSpPr txBox="1"/>
          <p:nvPr>
            <p:ph idx="1" type="body"/>
          </p:nvPr>
        </p:nvSpPr>
        <p:spPr>
          <a:xfrm>
            <a:off x="628650" y="1825625"/>
            <a:ext cx="7886700" cy="704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 sz="2100"/>
              <a:t>Our Metal Film Capacitors have 3 fields in their marking</a:t>
            </a:r>
            <a:endParaRPr sz="2100"/>
          </a:p>
        </p:txBody>
      </p:sp>
      <p:sp>
        <p:nvSpPr>
          <p:cNvPr id="307" name="Google Shape;307;p31"/>
          <p:cNvSpPr txBox="1"/>
          <p:nvPr>
            <p:ph idx="12" type="sldNum"/>
          </p:nvPr>
        </p:nvSpPr>
        <p:spPr>
          <a:xfrm>
            <a:off x="6781800" y="6248400"/>
            <a:ext cx="1905000" cy="3048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r>
              <a:rPr lang="en"/>
              <a:t>23.</a:t>
            </a:r>
            <a:fld id="{00000000-1234-1234-1234-123412341234}" type="slidenum">
              <a:rPr lang="en"/>
              <a:t>‹#›</a:t>
            </a:fld>
            <a:endParaRPr/>
          </a:p>
        </p:txBody>
      </p:sp>
      <p:pic>
        <p:nvPicPr>
          <p:cNvPr id="308" name="Google Shape;308;p31"/>
          <p:cNvPicPr preferRelativeResize="0"/>
          <p:nvPr/>
        </p:nvPicPr>
        <p:blipFill>
          <a:blip r:embed="rId3">
            <a:alphaModFix/>
          </a:blip>
          <a:stretch>
            <a:fillRect/>
          </a:stretch>
        </p:blipFill>
        <p:spPr>
          <a:xfrm>
            <a:off x="2937375" y="2664525"/>
            <a:ext cx="2962275" cy="962025"/>
          </a:xfrm>
          <a:prstGeom prst="rect">
            <a:avLst/>
          </a:prstGeom>
          <a:noFill/>
          <a:ln>
            <a:noFill/>
          </a:ln>
        </p:spPr>
      </p:pic>
      <p:sp>
        <p:nvSpPr>
          <p:cNvPr id="309" name="Google Shape;309;p31"/>
          <p:cNvSpPr txBox="1"/>
          <p:nvPr/>
        </p:nvSpPr>
        <p:spPr>
          <a:xfrm>
            <a:off x="628650" y="3678500"/>
            <a:ext cx="37692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Value is 2 digits and a decimal point.  </a:t>
            </a:r>
            <a:endParaRPr/>
          </a:p>
          <a:p>
            <a:pPr indent="0" lvl="0" marL="0" rtl="0" algn="l">
              <a:spcBef>
                <a:spcPts val="0"/>
              </a:spcBef>
              <a:spcAft>
                <a:spcPts val="0"/>
              </a:spcAft>
              <a:buNone/>
            </a:pPr>
            <a:r>
              <a:rPr lang="en"/>
              <a:t>The decimal point can be an n, a p, or a dot</a:t>
            </a:r>
            <a:endParaRPr/>
          </a:p>
          <a:p>
            <a:pPr indent="0" lvl="0" marL="0" rtl="0" algn="l">
              <a:spcBef>
                <a:spcPts val="0"/>
              </a:spcBef>
              <a:spcAft>
                <a:spcPts val="0"/>
              </a:spcAft>
              <a:buNone/>
            </a:pPr>
            <a:r>
              <a:rPr lang="en"/>
              <a:t>The default values (dot) are in microfarads.</a:t>
            </a:r>
            <a:endParaRPr/>
          </a:p>
          <a:p>
            <a:pPr indent="0" lvl="0" marL="0" rtl="0" algn="l">
              <a:spcBef>
                <a:spcPts val="0"/>
              </a:spcBef>
              <a:spcAft>
                <a:spcPts val="0"/>
              </a:spcAft>
              <a:buNone/>
            </a:pPr>
            <a:r>
              <a:rPr lang="en"/>
              <a:t>P means PIco</a:t>
            </a:r>
            <a:endParaRPr/>
          </a:p>
          <a:p>
            <a:pPr indent="0" lvl="0" marL="0" rtl="0" algn="l">
              <a:spcBef>
                <a:spcPts val="0"/>
              </a:spcBef>
              <a:spcAft>
                <a:spcPts val="0"/>
              </a:spcAft>
              <a:buNone/>
            </a:pPr>
            <a:r>
              <a:rPr lang="en"/>
              <a:t>N mean Nano.</a:t>
            </a:r>
            <a:endParaRPr/>
          </a:p>
        </p:txBody>
      </p:sp>
      <p:sp>
        <p:nvSpPr>
          <p:cNvPr id="310" name="Google Shape;310;p31"/>
          <p:cNvSpPr txBox="1"/>
          <p:nvPr/>
        </p:nvSpPr>
        <p:spPr>
          <a:xfrm>
            <a:off x="696225" y="5082600"/>
            <a:ext cx="2378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Tolerance is a single letter.</a:t>
            </a:r>
            <a:endParaRPr/>
          </a:p>
          <a:p>
            <a:pPr indent="0" lvl="0" marL="0" rtl="0" algn="l">
              <a:spcBef>
                <a:spcPts val="0"/>
              </a:spcBef>
              <a:spcAft>
                <a:spcPts val="0"/>
              </a:spcAft>
              <a:buNone/>
            </a:pPr>
            <a:r>
              <a:rPr lang="en"/>
              <a:t>J means +/-5%</a:t>
            </a:r>
            <a:endParaRPr/>
          </a:p>
          <a:p>
            <a:pPr indent="0" lvl="0" marL="0" rtl="0" algn="l">
              <a:spcBef>
                <a:spcPts val="0"/>
              </a:spcBef>
              <a:spcAft>
                <a:spcPts val="0"/>
              </a:spcAft>
              <a:buNone/>
            </a:pPr>
            <a:r>
              <a:rPr lang="en"/>
              <a:t>K means +/-10%</a:t>
            </a:r>
            <a:endParaRPr/>
          </a:p>
        </p:txBody>
      </p:sp>
      <p:sp>
        <p:nvSpPr>
          <p:cNvPr id="311" name="Google Shape;311;p31"/>
          <p:cNvSpPr txBox="1"/>
          <p:nvPr/>
        </p:nvSpPr>
        <p:spPr>
          <a:xfrm>
            <a:off x="4931725" y="4664825"/>
            <a:ext cx="33768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22nJ100 =&gt; 22.0nF +/- 5%  Max 100V</a:t>
            </a:r>
            <a:endParaRPr/>
          </a:p>
          <a:p>
            <a:pPr indent="0" lvl="0" marL="0" rtl="0" algn="l">
              <a:spcBef>
                <a:spcPts val="0"/>
              </a:spcBef>
              <a:spcAft>
                <a:spcPts val="0"/>
              </a:spcAft>
              <a:buNone/>
            </a:pPr>
            <a:r>
              <a:rPr lang="en"/>
              <a:t>.15J63  =&gt; 0.15uF +/- 5% Max 63V</a:t>
            </a:r>
            <a:endParaRPr/>
          </a:p>
          <a:p>
            <a:pPr indent="0" lvl="0" marL="0" rtl="0" algn="l">
              <a:spcBef>
                <a:spcPts val="0"/>
              </a:spcBef>
              <a:spcAft>
                <a:spcPts val="0"/>
              </a:spcAft>
              <a:buNone/>
            </a:pPr>
            <a:r>
              <a:rPr lang="en"/>
              <a:t>2n2K100 =&gt; 2.2nF +/-10% Max 100V</a:t>
            </a:r>
            <a:endParaRPr/>
          </a:p>
          <a:p>
            <a:pPr indent="0" lvl="0" marL="0" rtl="0" algn="l">
              <a:spcBef>
                <a:spcPts val="0"/>
              </a:spcBef>
              <a:spcAft>
                <a:spcPts val="0"/>
              </a:spcAft>
              <a:buNone/>
            </a:pPr>
            <a:r>
              <a:rPr lang="en"/>
              <a:t>p22J63 =&gt; 0.22pF +/- 5% Max 63V</a:t>
            </a:r>
            <a:endParaRPr/>
          </a:p>
          <a:p>
            <a:pPr indent="0" lvl="0" marL="0" rtl="0" algn="l">
              <a:spcBef>
                <a:spcPts val="0"/>
              </a:spcBef>
              <a:spcAft>
                <a:spcPts val="0"/>
              </a:spcAft>
              <a:buNone/>
            </a:pPr>
            <a:r>
              <a:rPr lang="en">
                <a:highlight>
                  <a:srgbClr val="FF00FF"/>
                </a:highlight>
              </a:rPr>
              <a:t>.22J63</a:t>
            </a:r>
            <a:r>
              <a:rPr lang="en"/>
              <a:t> =&gt; 0.22uF +/- 5% Max 63V</a:t>
            </a:r>
            <a:endParaRPr/>
          </a:p>
        </p:txBody>
      </p:sp>
      <p:sp>
        <p:nvSpPr>
          <p:cNvPr id="312" name="Google Shape;312;p31"/>
          <p:cNvSpPr txBox="1"/>
          <p:nvPr/>
        </p:nvSpPr>
        <p:spPr>
          <a:xfrm>
            <a:off x="4931725" y="4001750"/>
            <a:ext cx="3852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Replace the letter with a decimal point and move to the end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pic>
        <p:nvPicPr>
          <p:cNvPr id="317" name="Google Shape;317;p32"/>
          <p:cNvPicPr preferRelativeResize="0"/>
          <p:nvPr/>
        </p:nvPicPr>
        <p:blipFill rotWithShape="1">
          <a:blip r:embed="rId3">
            <a:alphaModFix/>
          </a:blip>
          <a:srcRect b="2928" l="0" r="0" t="2937"/>
          <a:stretch/>
        </p:blipFill>
        <p:spPr>
          <a:xfrm>
            <a:off x="3232325" y="832513"/>
            <a:ext cx="5232276" cy="4835476"/>
          </a:xfrm>
          <a:prstGeom prst="rect">
            <a:avLst/>
          </a:prstGeom>
          <a:noFill/>
          <a:ln>
            <a:noFill/>
          </a:ln>
        </p:spPr>
      </p:pic>
      <p:pic>
        <p:nvPicPr>
          <p:cNvPr id="318" name="Google Shape;318;p32"/>
          <p:cNvPicPr preferRelativeResize="0"/>
          <p:nvPr/>
        </p:nvPicPr>
        <p:blipFill rotWithShape="1">
          <a:blip r:embed="rId4">
            <a:alphaModFix/>
          </a:blip>
          <a:srcRect b="0" l="0" r="0" t="14654"/>
          <a:stretch/>
        </p:blipFill>
        <p:spPr>
          <a:xfrm>
            <a:off x="223200" y="4567425"/>
            <a:ext cx="4246750" cy="2017049"/>
          </a:xfrm>
          <a:prstGeom prst="rect">
            <a:avLst/>
          </a:prstGeom>
          <a:noFill/>
          <a:ln>
            <a:noFill/>
          </a:ln>
        </p:spPr>
      </p:pic>
      <p:sp>
        <p:nvSpPr>
          <p:cNvPr id="319" name="Google Shape;319;p32"/>
          <p:cNvSpPr txBox="1"/>
          <p:nvPr>
            <p:ph type="title"/>
          </p:nvPr>
        </p:nvSpPr>
        <p:spPr>
          <a:xfrm>
            <a:off x="311700" y="145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a:t>
            </a:r>
            <a:r>
              <a:rPr lang="en"/>
              <a:t>irst exercise — manual direction control</a:t>
            </a:r>
            <a:endParaRPr/>
          </a:p>
        </p:txBody>
      </p:sp>
      <p:sp>
        <p:nvSpPr>
          <p:cNvPr id="320" name="Google Shape;320;p32"/>
          <p:cNvSpPr txBox="1"/>
          <p:nvPr/>
        </p:nvSpPr>
        <p:spPr>
          <a:xfrm>
            <a:off x="113675" y="832525"/>
            <a:ext cx="4963500" cy="271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highlight>
                  <a:srgbClr val="FFFF00"/>
                </a:highlight>
              </a:rPr>
              <a:t>AFTER your wiring has been checked:</a:t>
            </a:r>
            <a:r>
              <a:rPr lang="en" sz="1600"/>
              <a:t> </a:t>
            </a:r>
            <a:r>
              <a:rPr lang="en" sz="1600"/>
              <a:t>Plug in your Nucleo via the USB cable. Plug in the wall wart.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Connect AIN1 and AIN2 jumpers to power and ground rails (++, +–, –+, – –), observe motor behavior.</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Later, we’ll let the Nucleo control the </a:t>
            </a:r>
            <a:br>
              <a:rPr lang="en" sz="1600"/>
            </a:br>
            <a:r>
              <a:rPr lang="en" sz="1600"/>
              <a:t>PWM, AIN1 and AIN2 wires.</a:t>
            </a:r>
            <a:endParaRPr sz="1600"/>
          </a:p>
        </p:txBody>
      </p:sp>
      <p:pic>
        <p:nvPicPr>
          <p:cNvPr id="321" name="Google Shape;321;p32"/>
          <p:cNvPicPr preferRelativeResize="0"/>
          <p:nvPr/>
        </p:nvPicPr>
        <p:blipFill rotWithShape="1">
          <a:blip r:embed="rId4">
            <a:alphaModFix/>
          </a:blip>
          <a:srcRect b="0" l="65128" r="1244" t="21765"/>
          <a:stretch/>
        </p:blipFill>
        <p:spPr>
          <a:xfrm>
            <a:off x="2997625" y="4735450"/>
            <a:ext cx="1428074" cy="1849025"/>
          </a:xfrm>
          <a:prstGeom prst="rect">
            <a:avLst/>
          </a:prstGeom>
          <a:noFill/>
          <a:ln>
            <a:noFill/>
          </a:ln>
        </p:spPr>
      </p:pic>
      <p:pic>
        <p:nvPicPr>
          <p:cNvPr id="322" name="Google Shape;322;p32"/>
          <p:cNvPicPr preferRelativeResize="0"/>
          <p:nvPr/>
        </p:nvPicPr>
        <p:blipFill>
          <a:blip r:embed="rId5">
            <a:alphaModFix/>
          </a:blip>
          <a:stretch>
            <a:fillRect/>
          </a:stretch>
        </p:blipFill>
        <p:spPr>
          <a:xfrm rot="-5400000">
            <a:off x="8164538" y="3009887"/>
            <a:ext cx="717750" cy="156422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3"/>
          <p:cNvSpPr txBox="1"/>
          <p:nvPr>
            <p:ph type="title"/>
          </p:nvPr>
        </p:nvSpPr>
        <p:spPr>
          <a:xfrm>
            <a:off x="311700" y="3240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Motor speed control (3)</a:t>
            </a:r>
            <a:endParaRPr/>
          </a:p>
        </p:txBody>
      </p:sp>
      <p:pic>
        <p:nvPicPr>
          <p:cNvPr id="328" name="Google Shape;328;p33"/>
          <p:cNvPicPr preferRelativeResize="0"/>
          <p:nvPr/>
        </p:nvPicPr>
        <p:blipFill>
          <a:blip r:embed="rId3">
            <a:alphaModFix/>
          </a:blip>
          <a:stretch>
            <a:fillRect/>
          </a:stretch>
        </p:blipFill>
        <p:spPr>
          <a:xfrm>
            <a:off x="3010000" y="3024625"/>
            <a:ext cx="3186101" cy="3420476"/>
          </a:xfrm>
          <a:prstGeom prst="rect">
            <a:avLst/>
          </a:prstGeom>
          <a:noFill/>
          <a:ln>
            <a:noFill/>
          </a:ln>
        </p:spPr>
      </p:pic>
      <p:sp>
        <p:nvSpPr>
          <p:cNvPr id="329" name="Google Shape;329;p33"/>
          <p:cNvSpPr txBox="1"/>
          <p:nvPr/>
        </p:nvSpPr>
        <p:spPr>
          <a:xfrm>
            <a:off x="373800" y="1173000"/>
            <a:ext cx="8458500" cy="62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t>H-bridge controls the direction of current flow through the motor, but how do we control the amplitude of the voltage (which governs the speed)?</a:t>
            </a:r>
            <a:endParaRPr sz="2000"/>
          </a:p>
          <a:p>
            <a:pPr indent="0" lvl="0" marL="0" rtl="0" algn="l">
              <a:spcBef>
                <a:spcPts val="0"/>
              </a:spcBef>
              <a:spcAft>
                <a:spcPts val="0"/>
              </a:spcAft>
              <a:buNone/>
            </a:pPr>
            <a:r>
              <a:t/>
            </a:r>
            <a:endParaRPr sz="1600"/>
          </a:p>
          <a:p>
            <a:pPr indent="0" lvl="0" marL="0" rtl="0" algn="l">
              <a:spcBef>
                <a:spcPts val="0"/>
              </a:spcBef>
              <a:spcAft>
                <a:spcPts val="0"/>
              </a:spcAft>
              <a:buNone/>
            </a:pPr>
            <a:r>
              <a:rPr lang="en" sz="2000"/>
              <a:t>MCU doesn’t have a linear DAC (integer → voltage).  All it can output is HIGH and LOW.</a:t>
            </a:r>
            <a:endParaRPr sz="20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4"/>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Pulse width modulation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5"/>
          <p:cNvSpPr txBox="1"/>
          <p:nvPr>
            <p:ph type="title"/>
          </p:nvPr>
        </p:nvSpPr>
        <p:spPr>
          <a:xfrm>
            <a:off x="533400" y="457200"/>
            <a:ext cx="7543800" cy="381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Reall: </a:t>
            </a:r>
            <a:r>
              <a:rPr lang="en"/>
              <a:t>Dimming the seven-segment display</a:t>
            </a:r>
            <a:endParaRPr/>
          </a:p>
        </p:txBody>
      </p:sp>
      <p:pic>
        <p:nvPicPr>
          <p:cNvPr id="340" name="Google Shape;340;p35"/>
          <p:cNvPicPr preferRelativeResize="0"/>
          <p:nvPr/>
        </p:nvPicPr>
        <p:blipFill>
          <a:blip r:embed="rId3">
            <a:alphaModFix/>
          </a:blip>
          <a:stretch>
            <a:fillRect/>
          </a:stretch>
        </p:blipFill>
        <p:spPr>
          <a:xfrm>
            <a:off x="4834650" y="1118100"/>
            <a:ext cx="4290815" cy="5715000"/>
          </a:xfrm>
          <a:prstGeom prst="rect">
            <a:avLst/>
          </a:prstGeom>
          <a:noFill/>
          <a:ln>
            <a:noFill/>
          </a:ln>
        </p:spPr>
      </p:pic>
      <p:sp>
        <p:nvSpPr>
          <p:cNvPr id="341" name="Google Shape;341;p35"/>
          <p:cNvSpPr txBox="1"/>
          <p:nvPr/>
        </p:nvSpPr>
        <p:spPr>
          <a:xfrm>
            <a:off x="312925" y="2377150"/>
            <a:ext cx="4658700" cy="132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ourier New"/>
                <a:ea typeface="Courier New"/>
                <a:cs typeface="Courier New"/>
                <a:sym typeface="Courier New"/>
              </a:rPr>
              <a:t>void SevenSeg_dim(uint8_t brightness) { </a:t>
            </a:r>
            <a:endParaRPr sz="1200">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  </a:t>
            </a:r>
            <a:r>
              <a:rPr b="1" lang="en" sz="1200">
                <a:solidFill>
                  <a:srgbClr val="FF0000"/>
                </a:solidFill>
                <a:latin typeface="Courier New"/>
                <a:ea typeface="Courier New"/>
                <a:cs typeface="Courier New"/>
                <a:sym typeface="Courier New"/>
              </a:rPr>
              <a:t>i2c1_byteWrite(HT16K33_ADDR, </a:t>
            </a:r>
            <a:endParaRPr b="1" sz="1200">
              <a:solidFill>
                <a:srgbClr val="FF0000"/>
              </a:solidFill>
              <a:latin typeface="Courier New"/>
              <a:ea typeface="Courier New"/>
              <a:cs typeface="Courier New"/>
              <a:sym typeface="Courier New"/>
            </a:endParaRPr>
          </a:p>
          <a:p>
            <a:pPr indent="0" lvl="0" marL="0" rtl="0" algn="l">
              <a:spcBef>
                <a:spcPts val="0"/>
              </a:spcBef>
              <a:spcAft>
                <a:spcPts val="0"/>
              </a:spcAft>
              <a:buNone/>
            </a:pPr>
            <a:r>
              <a:rPr b="1" lang="en" sz="1200">
                <a:solidFill>
                  <a:srgbClr val="FF0000"/>
                </a:solidFill>
                <a:latin typeface="Courier New"/>
                <a:ea typeface="Courier New"/>
                <a:cs typeface="Courier New"/>
                <a:sym typeface="Courier New"/>
              </a:rPr>
              <a:t>    			  HT16K33_DISPLAY_CMD |  </a:t>
            </a:r>
            <a:endParaRPr b="1" sz="1200">
              <a:solidFill>
                <a:srgbClr val="FF0000"/>
              </a:solidFill>
              <a:latin typeface="Courier New"/>
              <a:ea typeface="Courier New"/>
              <a:cs typeface="Courier New"/>
              <a:sym typeface="Courier New"/>
            </a:endParaRPr>
          </a:p>
          <a:p>
            <a:pPr indent="0" lvl="0" marL="0" rtl="0" algn="l">
              <a:spcBef>
                <a:spcPts val="0"/>
              </a:spcBef>
              <a:spcAft>
                <a:spcPts val="0"/>
              </a:spcAft>
              <a:buNone/>
            </a:pPr>
            <a:r>
              <a:rPr b="1" lang="en" sz="1200">
                <a:solidFill>
                  <a:srgbClr val="FF0000"/>
                </a:solidFill>
                <a:latin typeface="Courier New"/>
                <a:ea typeface="Courier New"/>
                <a:cs typeface="Courier New"/>
                <a:sym typeface="Courier New"/>
              </a:rPr>
              <a:t>                 HT16K33_BRIGHT_CMD | </a:t>
            </a:r>
            <a:endParaRPr b="1" sz="1200">
              <a:solidFill>
                <a:srgbClr val="FF0000"/>
              </a:solidFill>
              <a:latin typeface="Courier New"/>
              <a:ea typeface="Courier New"/>
              <a:cs typeface="Courier New"/>
              <a:sym typeface="Courier New"/>
            </a:endParaRPr>
          </a:p>
          <a:p>
            <a:pPr indent="0" lvl="0" marL="0" rtl="0" algn="l">
              <a:spcBef>
                <a:spcPts val="0"/>
              </a:spcBef>
              <a:spcAft>
                <a:spcPts val="0"/>
              </a:spcAft>
              <a:buNone/>
            </a:pPr>
            <a:r>
              <a:rPr b="1" lang="en" sz="1200">
                <a:solidFill>
                  <a:srgbClr val="FF0000"/>
                </a:solidFill>
                <a:latin typeface="Courier New"/>
                <a:ea typeface="Courier New"/>
                <a:cs typeface="Courier New"/>
                <a:sym typeface="Courier New"/>
              </a:rPr>
              <a:t>                 (brightness &amp; 0xf) );</a:t>
            </a:r>
            <a:r>
              <a:rPr lang="en" sz="1200">
                <a:latin typeface="Courier New"/>
                <a:ea typeface="Courier New"/>
                <a:cs typeface="Courier New"/>
                <a:sym typeface="Courier New"/>
              </a:rPr>
              <a:t>  </a:t>
            </a:r>
            <a:endParaRPr sz="1200">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   </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		 	</a:t>
            </a:r>
            <a:endParaRPr sz="1200">
              <a:latin typeface="Courier New"/>
              <a:ea typeface="Courier New"/>
              <a:cs typeface="Courier New"/>
              <a:sym typeface="Courier New"/>
            </a:endParaRPr>
          </a:p>
        </p:txBody>
      </p:sp>
      <p:pic>
        <p:nvPicPr>
          <p:cNvPr id="342" name="Google Shape;342;p35"/>
          <p:cNvPicPr preferRelativeResize="0"/>
          <p:nvPr/>
        </p:nvPicPr>
        <p:blipFill>
          <a:blip r:embed="rId4">
            <a:alphaModFix/>
          </a:blip>
          <a:stretch>
            <a:fillRect/>
          </a:stretch>
        </p:blipFill>
        <p:spPr>
          <a:xfrm>
            <a:off x="516175" y="3699500"/>
            <a:ext cx="4658608" cy="3000000"/>
          </a:xfrm>
          <a:prstGeom prst="rect">
            <a:avLst/>
          </a:prstGeom>
          <a:noFill/>
          <a:ln>
            <a:noFill/>
          </a:ln>
        </p:spPr>
      </p:pic>
      <p:sp>
        <p:nvSpPr>
          <p:cNvPr id="343" name="Google Shape;343;p35"/>
          <p:cNvSpPr txBox="1"/>
          <p:nvPr/>
        </p:nvSpPr>
        <p:spPr>
          <a:xfrm>
            <a:off x="576775" y="838200"/>
            <a:ext cx="3948300" cy="4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000"/>
              <a:t>Holtek HT16K33 data sheet, Version 1.20</a:t>
            </a:r>
            <a:endParaRPr i="1" sz="1000"/>
          </a:p>
        </p:txBody>
      </p:sp>
      <p:cxnSp>
        <p:nvCxnSpPr>
          <p:cNvPr id="344" name="Google Shape;344;p35"/>
          <p:cNvCxnSpPr/>
          <p:nvPr/>
        </p:nvCxnSpPr>
        <p:spPr>
          <a:xfrm flipH="1">
            <a:off x="2206200" y="3417175"/>
            <a:ext cx="678900" cy="2581500"/>
          </a:xfrm>
          <a:prstGeom prst="straightConnector1">
            <a:avLst/>
          </a:prstGeom>
          <a:noFill/>
          <a:ln cap="flat" cmpd="sng" w="19050">
            <a:solidFill>
              <a:srgbClr val="FF0000"/>
            </a:solidFill>
            <a:prstDash val="solid"/>
            <a:round/>
            <a:headEnd len="med" w="med" type="none"/>
            <a:tailEnd len="med" w="med" type="triangle"/>
          </a:ln>
        </p:spPr>
      </p:cxnSp>
      <p:sp>
        <p:nvSpPr>
          <p:cNvPr id="345" name="Google Shape;345;p35"/>
          <p:cNvSpPr/>
          <p:nvPr/>
        </p:nvSpPr>
        <p:spPr>
          <a:xfrm>
            <a:off x="766500" y="6052450"/>
            <a:ext cx="3662100" cy="1431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6" name="Google Shape;346;p35"/>
          <p:cNvCxnSpPr>
            <a:stCxn id="345" idx="3"/>
          </p:cNvCxnSpPr>
          <p:nvPr/>
        </p:nvCxnSpPr>
        <p:spPr>
          <a:xfrm flipH="1" rot="10800000">
            <a:off x="4428600" y="5676400"/>
            <a:ext cx="1212600" cy="447600"/>
          </a:xfrm>
          <a:prstGeom prst="straightConnector1">
            <a:avLst/>
          </a:prstGeom>
          <a:noFill/>
          <a:ln cap="flat" cmpd="sng" w="19050">
            <a:solidFill>
              <a:srgbClr val="FF0000"/>
            </a:solidFill>
            <a:prstDash val="solid"/>
            <a:round/>
            <a:headEnd len="med" w="med" type="none"/>
            <a:tailEnd len="med" w="med" type="triangle"/>
          </a:ln>
        </p:spPr>
      </p:cxnSp>
      <p:sp>
        <p:nvSpPr>
          <p:cNvPr id="347" name="Google Shape;347;p35"/>
          <p:cNvSpPr txBox="1"/>
          <p:nvPr/>
        </p:nvSpPr>
        <p:spPr>
          <a:xfrm>
            <a:off x="421050" y="1344900"/>
            <a:ext cx="4494600" cy="735000"/>
          </a:xfrm>
          <a:prstGeom prst="rect">
            <a:avLst/>
          </a:prstGeom>
          <a:noFill/>
          <a:ln cap="flat" cmpd="sng" w="19050">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Anode voltage waveform modulates the brightness.</a:t>
            </a:r>
            <a:endParaRPr>
              <a:solidFill>
                <a:srgbClr val="0000FF"/>
              </a:solidFill>
            </a:endParaRPr>
          </a:p>
          <a:p>
            <a:pPr indent="0" lvl="0" marL="0" rtl="0" algn="l">
              <a:spcBef>
                <a:spcPts val="1000"/>
              </a:spcBef>
              <a:spcAft>
                <a:spcPts val="1000"/>
              </a:spcAft>
              <a:buNone/>
            </a:pPr>
            <a:r>
              <a:rPr lang="en">
                <a:solidFill>
                  <a:srgbClr val="0000FF"/>
                </a:solidFill>
              </a:rPr>
              <a:t>Wider pulse ➞ higher duty cycle ➞ brighter light.</a:t>
            </a:r>
            <a:endParaRPr>
              <a:solidFill>
                <a:srgbClr val="0000FF"/>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6"/>
          <p:cNvSpPr txBox="1"/>
          <p:nvPr>
            <p:ph type="title"/>
          </p:nvPr>
        </p:nvSpPr>
        <p:spPr>
          <a:xfrm>
            <a:off x="533400" y="457200"/>
            <a:ext cx="75438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Pulse width modulation (PWM)</a:t>
            </a:r>
            <a:endParaRPr/>
          </a:p>
        </p:txBody>
      </p:sp>
      <p:sp>
        <p:nvSpPr>
          <p:cNvPr id="353" name="Google Shape;353;p36"/>
          <p:cNvSpPr txBox="1"/>
          <p:nvPr>
            <p:ph idx="1" type="body"/>
          </p:nvPr>
        </p:nvSpPr>
        <p:spPr>
          <a:xfrm>
            <a:off x="587300" y="1071571"/>
            <a:ext cx="8153400" cy="807300"/>
          </a:xfrm>
          <a:prstGeom prst="rect">
            <a:avLst/>
          </a:prstGeom>
          <a:noFill/>
          <a:ln>
            <a:noFill/>
          </a:ln>
        </p:spPr>
        <p:txBody>
          <a:bodyPr anchorCtr="0" anchor="t" bIns="45700" lIns="91425" spcFirstLastPara="1" rIns="91425" wrap="square" tIns="45700">
            <a:noAutofit/>
          </a:bodyPr>
          <a:lstStyle/>
          <a:p>
            <a:pPr indent="-342900" lvl="0" marL="457200" rtl="0" algn="l">
              <a:spcBef>
                <a:spcPts val="0"/>
              </a:spcBef>
              <a:spcAft>
                <a:spcPts val="0"/>
              </a:spcAft>
              <a:buSzPts val="1800"/>
              <a:buChar char="●"/>
            </a:pPr>
            <a:r>
              <a:rPr lang="en"/>
              <a:t>Control the duty cycle (T</a:t>
            </a:r>
            <a:r>
              <a:rPr baseline="-25000" lang="en"/>
              <a:t>HIGH</a:t>
            </a:r>
            <a:r>
              <a:rPr lang="en"/>
              <a:t> / T) of a square wave. </a:t>
            </a:r>
            <a:endParaRPr/>
          </a:p>
          <a:p>
            <a:pPr indent="-342900" lvl="0" marL="457200" rtl="0" algn="l">
              <a:spcBef>
                <a:spcPts val="0"/>
              </a:spcBef>
              <a:spcAft>
                <a:spcPts val="0"/>
              </a:spcAft>
              <a:buSzPts val="1800"/>
              <a:buChar char="●"/>
            </a:pPr>
            <a:r>
              <a:rPr lang="en"/>
              <a:t>Average voltage is proportional to duty cycle:  V</a:t>
            </a:r>
            <a:r>
              <a:rPr baseline="-25000" lang="en"/>
              <a:t>PWM</a:t>
            </a:r>
            <a:r>
              <a:rPr lang="en"/>
              <a:t> ≈ V</a:t>
            </a:r>
            <a:r>
              <a:rPr baseline="-25000" lang="en"/>
              <a:t>SUPPLY</a:t>
            </a:r>
            <a:r>
              <a:rPr lang="en"/>
              <a:t>  ×  </a:t>
            </a:r>
            <a:r>
              <a:rPr lang="en"/>
              <a:t>T</a:t>
            </a:r>
            <a:r>
              <a:rPr baseline="-25000" lang="en"/>
              <a:t>HIGH</a:t>
            </a:r>
            <a:r>
              <a:rPr lang="en"/>
              <a:t> / T</a:t>
            </a:r>
            <a:r>
              <a:rPr lang="en"/>
              <a:t> </a:t>
            </a:r>
            <a:endParaRPr/>
          </a:p>
        </p:txBody>
      </p:sp>
      <p:sp>
        <p:nvSpPr>
          <p:cNvPr id="354" name="Google Shape;354;p36"/>
          <p:cNvSpPr txBox="1"/>
          <p:nvPr>
            <p:ph idx="12" type="sldNum"/>
          </p:nvPr>
        </p:nvSpPr>
        <p:spPr>
          <a:xfrm>
            <a:off x="6781800" y="6248400"/>
            <a:ext cx="1905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
              <a:t>23.</a:t>
            </a:r>
            <a:fld id="{00000000-1234-1234-1234-123412341234}" type="slidenum">
              <a:rPr lang="en"/>
              <a:t>‹#›</a:t>
            </a:fld>
            <a:endParaRPr/>
          </a:p>
        </p:txBody>
      </p:sp>
      <p:pic>
        <p:nvPicPr>
          <p:cNvPr id="355" name="Google Shape;355;p36"/>
          <p:cNvPicPr preferRelativeResize="0"/>
          <p:nvPr/>
        </p:nvPicPr>
        <p:blipFill>
          <a:blip r:embed="rId3">
            <a:alphaModFix/>
          </a:blip>
          <a:stretch>
            <a:fillRect/>
          </a:stretch>
        </p:blipFill>
        <p:spPr>
          <a:xfrm>
            <a:off x="2123375" y="1878875"/>
            <a:ext cx="4236100" cy="2654125"/>
          </a:xfrm>
          <a:prstGeom prst="rect">
            <a:avLst/>
          </a:prstGeom>
          <a:noFill/>
          <a:ln>
            <a:noFill/>
          </a:ln>
        </p:spPr>
      </p:pic>
      <p:sp>
        <p:nvSpPr>
          <p:cNvPr id="356" name="Google Shape;356;p36"/>
          <p:cNvSpPr txBox="1"/>
          <p:nvPr>
            <p:ph idx="1" type="body"/>
          </p:nvPr>
        </p:nvSpPr>
        <p:spPr>
          <a:xfrm>
            <a:off x="710875" y="4742100"/>
            <a:ext cx="8153400" cy="21159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None/>
            </a:pPr>
            <a:r>
              <a:rPr lang="en"/>
              <a:t>Some PWM applications: </a:t>
            </a:r>
            <a:endParaRPr/>
          </a:p>
          <a:p>
            <a:pPr indent="-342900" lvl="0" marL="457200" rtl="0" algn="l">
              <a:spcBef>
                <a:spcPts val="0"/>
              </a:spcBef>
              <a:spcAft>
                <a:spcPts val="0"/>
              </a:spcAft>
              <a:buSzPts val="1800"/>
              <a:buChar char="●"/>
            </a:pPr>
            <a:r>
              <a:rPr lang="en"/>
              <a:t>Controlling LED brightness (e.g., the seven-segment display)</a:t>
            </a:r>
            <a:endParaRPr/>
          </a:p>
          <a:p>
            <a:pPr indent="-342900" lvl="0" marL="457200" rtl="0" algn="l">
              <a:spcBef>
                <a:spcPts val="1000"/>
              </a:spcBef>
              <a:spcAft>
                <a:spcPts val="0"/>
              </a:spcAft>
              <a:buSzPts val="1800"/>
              <a:buChar char="●"/>
            </a:pPr>
            <a:r>
              <a:rPr lang="en"/>
              <a:t>Motor speed control!</a:t>
            </a:r>
            <a:endParaRPr/>
          </a:p>
          <a:p>
            <a:pPr indent="-342900" lvl="0" marL="457200" rtl="0" algn="l">
              <a:spcBef>
                <a:spcPts val="1000"/>
              </a:spcBef>
              <a:spcAft>
                <a:spcPts val="0"/>
              </a:spcAft>
              <a:buSzPts val="1800"/>
              <a:buChar char="●"/>
            </a:pPr>
            <a:r>
              <a:rPr lang="en"/>
              <a:t>Digital to analog conversion</a:t>
            </a:r>
            <a:endParaRPr/>
          </a:p>
          <a:p>
            <a:pPr indent="-342900" lvl="0" marL="457200" rtl="0" algn="l">
              <a:spcBef>
                <a:spcPts val="1000"/>
              </a:spcBef>
              <a:spcAft>
                <a:spcPts val="1000"/>
              </a:spcAft>
              <a:buSzPts val="1800"/>
              <a:buChar char="●"/>
            </a:pPr>
            <a:r>
              <a:rPr lang="en"/>
              <a:t>Audio and sound generation (frequency -&gt; pitch, duty cycle -&gt; loudness)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7"/>
          <p:cNvSpPr txBox="1"/>
          <p:nvPr>
            <p:ph type="title"/>
          </p:nvPr>
        </p:nvSpPr>
        <p:spPr>
          <a:xfrm>
            <a:off x="381000" y="457200"/>
            <a:ext cx="75438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 Basic PWM (“Fast PWM”)</a:t>
            </a:r>
            <a:endParaRPr/>
          </a:p>
        </p:txBody>
      </p:sp>
      <p:sp>
        <p:nvSpPr>
          <p:cNvPr id="362" name="Google Shape;362;p37"/>
          <p:cNvSpPr txBox="1"/>
          <p:nvPr>
            <p:ph idx="12" type="sldNum"/>
          </p:nvPr>
        </p:nvSpPr>
        <p:spPr>
          <a:xfrm>
            <a:off x="6781800" y="6248400"/>
            <a:ext cx="1905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
              <a:t>23.</a:t>
            </a:r>
            <a:fld id="{00000000-1234-1234-1234-123412341234}" type="slidenum">
              <a:rPr lang="en"/>
              <a:t>‹#›</a:t>
            </a:fld>
            <a:endParaRPr/>
          </a:p>
        </p:txBody>
      </p:sp>
      <p:pic>
        <p:nvPicPr>
          <p:cNvPr descr="PWMlogic.pdf" id="363" name="Google Shape;363;p37"/>
          <p:cNvPicPr preferRelativeResize="0"/>
          <p:nvPr/>
        </p:nvPicPr>
        <p:blipFill rotWithShape="1">
          <a:blip r:embed="rId3">
            <a:alphaModFix/>
          </a:blip>
          <a:srcRect b="0" l="0" r="0" t="0"/>
          <a:stretch/>
        </p:blipFill>
        <p:spPr>
          <a:xfrm>
            <a:off x="558800" y="2743200"/>
            <a:ext cx="8204200" cy="3149600"/>
          </a:xfrm>
          <a:prstGeom prst="rect">
            <a:avLst/>
          </a:prstGeom>
          <a:noFill/>
          <a:ln>
            <a:noFill/>
          </a:ln>
        </p:spPr>
      </p:pic>
      <p:sp>
        <p:nvSpPr>
          <p:cNvPr id="364" name="Google Shape;364;p37"/>
          <p:cNvSpPr txBox="1"/>
          <p:nvPr/>
        </p:nvSpPr>
        <p:spPr>
          <a:xfrm>
            <a:off x="381000" y="1339850"/>
            <a:ext cx="2954400" cy="399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rPr i="0" lang="en" sz="1800" u="none" cap="none" strike="noStrike">
                <a:solidFill>
                  <a:schemeClr val="dk1"/>
                </a:solidFill>
              </a:rPr>
              <a:t> </a:t>
            </a:r>
            <a:r>
              <a:rPr lang="en" sz="1800">
                <a:solidFill>
                  <a:schemeClr val="dk1"/>
                </a:solidFill>
              </a:rPr>
              <a:t>Simple hardware!</a:t>
            </a:r>
            <a:endParaRPr sz="1800"/>
          </a:p>
        </p:txBody>
      </p:sp>
      <p:pic>
        <p:nvPicPr>
          <p:cNvPr id="365" name="Google Shape;365;p37"/>
          <p:cNvPicPr preferRelativeResize="0"/>
          <p:nvPr>
            <p:ph idx="1" type="body"/>
          </p:nvPr>
        </p:nvPicPr>
        <p:blipFill rotWithShape="1">
          <a:blip r:embed="rId4">
            <a:alphaModFix/>
          </a:blip>
          <a:srcRect b="0" l="0" r="0" t="0"/>
          <a:stretch/>
        </p:blipFill>
        <p:spPr>
          <a:xfrm>
            <a:off x="5105400" y="228600"/>
            <a:ext cx="3797400" cy="2365500"/>
          </a:xfrm>
          <a:prstGeom prst="rect">
            <a:avLst/>
          </a:prstGeom>
          <a:noFill/>
          <a:ln>
            <a:noFill/>
          </a:ln>
        </p:spPr>
      </p:pic>
      <p:sp>
        <p:nvSpPr>
          <p:cNvPr id="366" name="Google Shape;366;p37"/>
          <p:cNvSpPr txBox="1"/>
          <p:nvPr/>
        </p:nvSpPr>
        <p:spPr>
          <a:xfrm>
            <a:off x="6214575" y="3673475"/>
            <a:ext cx="2548500" cy="1333200"/>
          </a:xfrm>
          <a:prstGeom prst="rect">
            <a:avLst/>
          </a:prstGeom>
          <a:solidFill>
            <a:srgbClr val="FFFFFF"/>
          </a:solid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ourier New"/>
                <a:ea typeface="Courier New"/>
                <a:cs typeface="Courier New"/>
                <a:sym typeface="Courier New"/>
              </a:rPr>
              <a:t>if (counter &lt; input)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PWM = 1;</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else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PWM = 0;</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a:t>
            </a:r>
            <a:endParaRPr>
              <a:latin typeface="Courier New"/>
              <a:ea typeface="Courier New"/>
              <a:cs typeface="Courier New"/>
              <a:sym typeface="Courier New"/>
            </a:endParaRPr>
          </a:p>
        </p:txBody>
      </p:sp>
      <p:sp>
        <p:nvSpPr>
          <p:cNvPr id="367" name="Google Shape;367;p37"/>
          <p:cNvSpPr txBox="1"/>
          <p:nvPr/>
        </p:nvSpPr>
        <p:spPr>
          <a:xfrm>
            <a:off x="6393625" y="5272275"/>
            <a:ext cx="20847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000FF"/>
                </a:solidFill>
              </a:rPr>
              <a:t>This is the software equivalent of what actually happens in </a:t>
            </a:r>
            <a:r>
              <a:rPr b="1" lang="en">
                <a:solidFill>
                  <a:srgbClr val="0000FF"/>
                </a:solidFill>
              </a:rPr>
              <a:t>hardware</a:t>
            </a:r>
            <a:r>
              <a:rPr lang="en">
                <a:solidFill>
                  <a:srgbClr val="0000FF"/>
                </a:solidFill>
              </a:rPr>
              <a:t>.</a:t>
            </a:r>
            <a:endParaRPr>
              <a:solidFill>
                <a:srgbClr val="0000FF"/>
              </a:solidFill>
            </a:endParaRPr>
          </a:p>
        </p:txBody>
      </p:sp>
      <p:cxnSp>
        <p:nvCxnSpPr>
          <p:cNvPr id="368" name="Google Shape;368;p37"/>
          <p:cNvCxnSpPr/>
          <p:nvPr/>
        </p:nvCxnSpPr>
        <p:spPr>
          <a:xfrm rot="10800000">
            <a:off x="7289100" y="4735275"/>
            <a:ext cx="25500" cy="639300"/>
          </a:xfrm>
          <a:prstGeom prst="straightConnector1">
            <a:avLst/>
          </a:prstGeom>
          <a:noFill/>
          <a:ln cap="flat" cmpd="sng" w="28575">
            <a:solidFill>
              <a:srgbClr val="0000FF"/>
            </a:solidFill>
            <a:prstDash val="solid"/>
            <a:round/>
            <a:headEnd len="med" w="med" type="none"/>
            <a:tailEnd len="med" w="med" type="triangl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pic>
        <p:nvPicPr>
          <p:cNvPr id="373" name="Google Shape;373;p38"/>
          <p:cNvPicPr preferRelativeResize="0"/>
          <p:nvPr/>
        </p:nvPicPr>
        <p:blipFill>
          <a:blip r:embed="rId3">
            <a:alphaModFix/>
          </a:blip>
          <a:stretch>
            <a:fillRect/>
          </a:stretch>
        </p:blipFill>
        <p:spPr>
          <a:xfrm>
            <a:off x="49601" y="1114950"/>
            <a:ext cx="9044799" cy="5375496"/>
          </a:xfrm>
          <a:prstGeom prst="rect">
            <a:avLst/>
          </a:prstGeom>
          <a:noFill/>
          <a:ln>
            <a:noFill/>
          </a:ln>
        </p:spPr>
      </p:pic>
      <p:sp>
        <p:nvSpPr>
          <p:cNvPr id="374" name="Google Shape;374;p38"/>
          <p:cNvSpPr/>
          <p:nvPr/>
        </p:nvSpPr>
        <p:spPr>
          <a:xfrm>
            <a:off x="4830825" y="3308550"/>
            <a:ext cx="1508400" cy="2412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8"/>
          <p:cNvSpPr txBox="1"/>
          <p:nvPr/>
        </p:nvSpPr>
        <p:spPr>
          <a:xfrm>
            <a:off x="6458900" y="2858725"/>
            <a:ext cx="1222500" cy="42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0000FF"/>
                </a:solidFill>
              </a:rPr>
              <a:t>Auto-reload</a:t>
            </a:r>
            <a:endParaRPr i="1">
              <a:solidFill>
                <a:srgbClr val="0000FF"/>
              </a:solidFill>
            </a:endParaRPr>
          </a:p>
          <a:p>
            <a:pPr indent="0" lvl="0" marL="0" rtl="0" algn="l">
              <a:spcBef>
                <a:spcPts val="0"/>
              </a:spcBef>
              <a:spcAft>
                <a:spcPts val="0"/>
              </a:spcAft>
              <a:buNone/>
            </a:pPr>
            <a:r>
              <a:rPr i="1" lang="en">
                <a:solidFill>
                  <a:srgbClr val="0000FF"/>
                </a:solidFill>
              </a:rPr>
              <a:t>(upper limit)</a:t>
            </a:r>
            <a:endParaRPr i="1">
              <a:solidFill>
                <a:srgbClr val="0000FF"/>
              </a:solidFill>
            </a:endParaRPr>
          </a:p>
        </p:txBody>
      </p:sp>
      <p:sp>
        <p:nvSpPr>
          <p:cNvPr id="376" name="Google Shape;376;p38"/>
          <p:cNvSpPr/>
          <p:nvPr/>
        </p:nvSpPr>
        <p:spPr>
          <a:xfrm>
            <a:off x="4830825" y="3967800"/>
            <a:ext cx="1508400" cy="241200"/>
          </a:xfrm>
          <a:prstGeom prst="rect">
            <a:avLst/>
          </a:prstGeom>
          <a:noFill/>
          <a:ln cap="flat" cmpd="sng" w="38100">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8"/>
          <p:cNvSpPr txBox="1"/>
          <p:nvPr/>
        </p:nvSpPr>
        <p:spPr>
          <a:xfrm>
            <a:off x="6339225" y="3866225"/>
            <a:ext cx="871200" cy="424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i="1" lang="en">
                <a:solidFill>
                  <a:srgbClr val="38761D"/>
                </a:solidFill>
              </a:rPr>
              <a:t>Counter</a:t>
            </a:r>
            <a:endParaRPr b="1" i="1">
              <a:solidFill>
                <a:srgbClr val="38761D"/>
              </a:solidFill>
            </a:endParaRPr>
          </a:p>
        </p:txBody>
      </p:sp>
      <p:sp>
        <p:nvSpPr>
          <p:cNvPr id="378" name="Google Shape;378;p38"/>
          <p:cNvSpPr txBox="1"/>
          <p:nvPr/>
        </p:nvSpPr>
        <p:spPr>
          <a:xfrm>
            <a:off x="3462825" y="3393125"/>
            <a:ext cx="1060800" cy="47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CC0000"/>
                </a:solidFill>
              </a:rPr>
              <a:t>Prescaled clock input</a:t>
            </a:r>
            <a:endParaRPr i="1">
              <a:solidFill>
                <a:srgbClr val="CC0000"/>
              </a:solidFill>
            </a:endParaRPr>
          </a:p>
        </p:txBody>
      </p:sp>
      <p:sp>
        <p:nvSpPr>
          <p:cNvPr id="379" name="Google Shape;379;p38"/>
          <p:cNvSpPr/>
          <p:nvPr/>
        </p:nvSpPr>
        <p:spPr>
          <a:xfrm>
            <a:off x="4830825" y="4366900"/>
            <a:ext cx="1512900" cy="3531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00FF"/>
              </a:solidFill>
            </a:endParaRPr>
          </a:p>
        </p:txBody>
      </p:sp>
      <p:sp>
        <p:nvSpPr>
          <p:cNvPr id="380" name="Google Shape;380;p38"/>
          <p:cNvSpPr txBox="1"/>
          <p:nvPr/>
        </p:nvSpPr>
        <p:spPr>
          <a:xfrm>
            <a:off x="4706625" y="4791100"/>
            <a:ext cx="1761300" cy="42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FF00FF"/>
                </a:solidFill>
              </a:rPr>
              <a:t>Compare register</a:t>
            </a:r>
            <a:endParaRPr i="1">
              <a:solidFill>
                <a:srgbClr val="FF00FF"/>
              </a:solidFill>
            </a:endParaRPr>
          </a:p>
        </p:txBody>
      </p:sp>
      <p:sp>
        <p:nvSpPr>
          <p:cNvPr id="381" name="Google Shape;381;p38"/>
          <p:cNvSpPr txBox="1"/>
          <p:nvPr>
            <p:ph type="title"/>
          </p:nvPr>
        </p:nvSpPr>
        <p:spPr>
          <a:xfrm>
            <a:off x="131225" y="1257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PWM is built into the STM32C0 timer/counters</a:t>
            </a:r>
            <a:endParaRPr/>
          </a:p>
        </p:txBody>
      </p:sp>
      <p:cxnSp>
        <p:nvCxnSpPr>
          <p:cNvPr id="382" name="Google Shape;382;p38"/>
          <p:cNvCxnSpPr/>
          <p:nvPr/>
        </p:nvCxnSpPr>
        <p:spPr>
          <a:xfrm>
            <a:off x="3203425" y="2199525"/>
            <a:ext cx="2143200" cy="11400"/>
          </a:xfrm>
          <a:prstGeom prst="straightConnector1">
            <a:avLst/>
          </a:prstGeom>
          <a:noFill/>
          <a:ln cap="flat" cmpd="sng" w="28575">
            <a:solidFill>
              <a:srgbClr val="0000FF"/>
            </a:solidFill>
            <a:prstDash val="solid"/>
            <a:round/>
            <a:headEnd len="med" w="med" type="none"/>
            <a:tailEnd len="med" w="med" type="none"/>
          </a:ln>
        </p:spPr>
      </p:cxnSp>
      <p:cxnSp>
        <p:nvCxnSpPr>
          <p:cNvPr id="383" name="Google Shape;383;p38"/>
          <p:cNvCxnSpPr/>
          <p:nvPr/>
        </p:nvCxnSpPr>
        <p:spPr>
          <a:xfrm flipH="1" rot="10800000">
            <a:off x="2791850" y="3068125"/>
            <a:ext cx="3682800" cy="5400"/>
          </a:xfrm>
          <a:prstGeom prst="straightConnector1">
            <a:avLst/>
          </a:prstGeom>
          <a:noFill/>
          <a:ln cap="flat" cmpd="sng" w="28575">
            <a:solidFill>
              <a:srgbClr val="0000FF"/>
            </a:solidFill>
            <a:prstDash val="solid"/>
            <a:round/>
            <a:headEnd len="med" w="med" type="none"/>
            <a:tailEnd len="med" w="med" type="none"/>
          </a:ln>
        </p:spPr>
      </p:cxnSp>
      <p:cxnSp>
        <p:nvCxnSpPr>
          <p:cNvPr id="384" name="Google Shape;384;p38"/>
          <p:cNvCxnSpPr/>
          <p:nvPr/>
        </p:nvCxnSpPr>
        <p:spPr>
          <a:xfrm>
            <a:off x="6084175" y="2198075"/>
            <a:ext cx="386100" cy="0"/>
          </a:xfrm>
          <a:prstGeom prst="straightConnector1">
            <a:avLst/>
          </a:prstGeom>
          <a:noFill/>
          <a:ln cap="flat" cmpd="sng" w="28575">
            <a:solidFill>
              <a:srgbClr val="0000FF"/>
            </a:solidFill>
            <a:prstDash val="solid"/>
            <a:round/>
            <a:headEnd len="med" w="med" type="none"/>
            <a:tailEnd len="med" w="med" type="none"/>
          </a:ln>
        </p:spPr>
      </p:cxnSp>
      <p:cxnSp>
        <p:nvCxnSpPr>
          <p:cNvPr id="385" name="Google Shape;385;p38"/>
          <p:cNvCxnSpPr/>
          <p:nvPr/>
        </p:nvCxnSpPr>
        <p:spPr>
          <a:xfrm rot="10800000">
            <a:off x="6458900" y="2203775"/>
            <a:ext cx="5700" cy="867900"/>
          </a:xfrm>
          <a:prstGeom prst="straightConnector1">
            <a:avLst/>
          </a:prstGeom>
          <a:noFill/>
          <a:ln cap="flat" cmpd="sng" w="28575">
            <a:solidFill>
              <a:srgbClr val="0000FF"/>
            </a:solidFill>
            <a:prstDash val="solid"/>
            <a:round/>
            <a:headEnd len="med" w="med" type="none"/>
            <a:tailEnd len="med" w="med" type="none"/>
          </a:ln>
        </p:spPr>
      </p:cxnSp>
      <p:cxnSp>
        <p:nvCxnSpPr>
          <p:cNvPr id="386" name="Google Shape;386;p38"/>
          <p:cNvCxnSpPr/>
          <p:nvPr/>
        </p:nvCxnSpPr>
        <p:spPr>
          <a:xfrm flipH="1" rot="10800000">
            <a:off x="2775775" y="3065975"/>
            <a:ext cx="2700" cy="1037100"/>
          </a:xfrm>
          <a:prstGeom prst="straightConnector1">
            <a:avLst/>
          </a:prstGeom>
          <a:noFill/>
          <a:ln cap="flat" cmpd="sng" w="28575">
            <a:solidFill>
              <a:srgbClr val="0000FF"/>
            </a:solidFill>
            <a:prstDash val="solid"/>
            <a:round/>
            <a:headEnd len="med" w="med" type="none"/>
            <a:tailEnd len="med" w="med" type="none"/>
          </a:ln>
        </p:spPr>
      </p:cxnSp>
      <p:cxnSp>
        <p:nvCxnSpPr>
          <p:cNvPr id="387" name="Google Shape;387;p38"/>
          <p:cNvCxnSpPr/>
          <p:nvPr/>
        </p:nvCxnSpPr>
        <p:spPr>
          <a:xfrm flipH="1" rot="10800000">
            <a:off x="2791850" y="4103075"/>
            <a:ext cx="699600" cy="2700"/>
          </a:xfrm>
          <a:prstGeom prst="straightConnector1">
            <a:avLst/>
          </a:prstGeom>
          <a:noFill/>
          <a:ln cap="flat" cmpd="sng" w="28575">
            <a:solidFill>
              <a:srgbClr val="0000FF"/>
            </a:solidFill>
            <a:prstDash val="solid"/>
            <a:round/>
            <a:headEnd len="med" w="med" type="none"/>
            <a:tailEnd len="med" w="med" type="triangle"/>
          </a:ln>
        </p:spPr>
      </p:cxnSp>
      <p:cxnSp>
        <p:nvCxnSpPr>
          <p:cNvPr id="388" name="Google Shape;388;p38"/>
          <p:cNvCxnSpPr/>
          <p:nvPr/>
        </p:nvCxnSpPr>
        <p:spPr>
          <a:xfrm flipH="1" rot="10800000">
            <a:off x="4157275" y="4103075"/>
            <a:ext cx="699600" cy="2700"/>
          </a:xfrm>
          <a:prstGeom prst="straightConnector1">
            <a:avLst/>
          </a:prstGeom>
          <a:noFill/>
          <a:ln cap="flat" cmpd="sng" w="28575">
            <a:solidFill>
              <a:srgbClr val="CC0000"/>
            </a:solidFill>
            <a:prstDash val="solid"/>
            <a:round/>
            <a:headEnd len="med" w="med" type="none"/>
            <a:tailEnd len="med" w="med" type="triangle"/>
          </a:ln>
        </p:spPr>
      </p:cxnSp>
      <p:sp>
        <p:nvSpPr>
          <p:cNvPr id="389" name="Google Shape;389;p38"/>
          <p:cNvSpPr/>
          <p:nvPr/>
        </p:nvSpPr>
        <p:spPr>
          <a:xfrm>
            <a:off x="3504825" y="3930725"/>
            <a:ext cx="652500" cy="3021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0" name="Google Shape;390;p38"/>
          <p:cNvCxnSpPr/>
          <p:nvPr/>
        </p:nvCxnSpPr>
        <p:spPr>
          <a:xfrm flipH="1" rot="10800000">
            <a:off x="6339225" y="4606900"/>
            <a:ext cx="699600" cy="2700"/>
          </a:xfrm>
          <a:prstGeom prst="straightConnector1">
            <a:avLst/>
          </a:prstGeom>
          <a:noFill/>
          <a:ln cap="flat" cmpd="sng" w="28575">
            <a:solidFill>
              <a:srgbClr val="0000FF"/>
            </a:solidFill>
            <a:prstDash val="solid"/>
            <a:round/>
            <a:headEnd len="med" w="med" type="none"/>
            <a:tailEnd len="med" w="med" type="triangle"/>
          </a:ln>
        </p:spPr>
      </p:cxnSp>
      <p:cxnSp>
        <p:nvCxnSpPr>
          <p:cNvPr id="391" name="Google Shape;391;p38"/>
          <p:cNvCxnSpPr/>
          <p:nvPr/>
        </p:nvCxnSpPr>
        <p:spPr>
          <a:xfrm flipH="1" rot="10800000">
            <a:off x="7595750" y="4606900"/>
            <a:ext cx="699600" cy="2700"/>
          </a:xfrm>
          <a:prstGeom prst="straightConnector1">
            <a:avLst/>
          </a:prstGeom>
          <a:noFill/>
          <a:ln cap="flat" cmpd="sng" w="28575">
            <a:solidFill>
              <a:srgbClr val="0000FF"/>
            </a:solidFill>
            <a:prstDash val="solid"/>
            <a:round/>
            <a:headEnd len="med" w="med" type="none"/>
            <a:tailEnd len="med" w="med" type="triangle"/>
          </a:ln>
        </p:spPr>
      </p:cxnSp>
      <p:sp>
        <p:nvSpPr>
          <p:cNvPr id="392" name="Google Shape;392;p38"/>
          <p:cNvSpPr/>
          <p:nvPr/>
        </p:nvSpPr>
        <p:spPr>
          <a:xfrm>
            <a:off x="7082563" y="4366900"/>
            <a:ext cx="513000" cy="4242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00FF"/>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pic>
        <p:nvPicPr>
          <p:cNvPr id="397" name="Google Shape;397;p39"/>
          <p:cNvPicPr preferRelativeResize="0"/>
          <p:nvPr/>
        </p:nvPicPr>
        <p:blipFill>
          <a:blip r:embed="rId3">
            <a:alphaModFix/>
          </a:blip>
          <a:stretch>
            <a:fillRect/>
          </a:stretch>
        </p:blipFill>
        <p:spPr>
          <a:xfrm>
            <a:off x="152400" y="990600"/>
            <a:ext cx="8841290" cy="5867401"/>
          </a:xfrm>
          <a:prstGeom prst="rect">
            <a:avLst/>
          </a:prstGeom>
          <a:noFill/>
          <a:ln>
            <a:noFill/>
          </a:ln>
        </p:spPr>
      </p:pic>
      <p:sp>
        <p:nvSpPr>
          <p:cNvPr id="398" name="Google Shape;398;p39"/>
          <p:cNvSpPr txBox="1"/>
          <p:nvPr>
            <p:ph type="title"/>
          </p:nvPr>
        </p:nvSpPr>
        <p:spPr>
          <a:xfrm>
            <a:off x="533400" y="457200"/>
            <a:ext cx="7543800" cy="381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Nucleo</a:t>
            </a:r>
            <a:r>
              <a:rPr lang="en"/>
              <a:t> PWM outputs</a:t>
            </a:r>
            <a:endParaRPr/>
          </a:p>
        </p:txBody>
      </p:sp>
      <p:sp>
        <p:nvSpPr>
          <p:cNvPr id="399" name="Google Shape;399;p39"/>
          <p:cNvSpPr/>
          <p:nvPr/>
        </p:nvSpPr>
        <p:spPr>
          <a:xfrm>
            <a:off x="2919600" y="5829850"/>
            <a:ext cx="1317600" cy="3810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9"/>
          <p:cNvSpPr txBox="1"/>
          <p:nvPr>
            <p:ph idx="1" type="body"/>
          </p:nvPr>
        </p:nvSpPr>
        <p:spPr>
          <a:xfrm>
            <a:off x="152400" y="3122250"/>
            <a:ext cx="2390100" cy="1688700"/>
          </a:xfrm>
          <a:prstGeom prst="rect">
            <a:avLst/>
          </a:prstGeom>
          <a:solidFill>
            <a:srgbClr val="FFFFFF"/>
          </a:solidFill>
          <a:ln>
            <a:noFill/>
          </a:ln>
        </p:spPr>
        <p:txBody>
          <a:bodyPr anchorCtr="0" anchor="t" bIns="45700" lIns="91425" spcFirstLastPara="1" rIns="91425" wrap="square" tIns="45700">
            <a:noAutofit/>
          </a:bodyPr>
          <a:lstStyle/>
          <a:p>
            <a:pPr indent="0" lvl="0" marL="0" rtl="0" algn="r">
              <a:spcBef>
                <a:spcPts val="360"/>
              </a:spcBef>
              <a:spcAft>
                <a:spcPts val="0"/>
              </a:spcAft>
              <a:buNone/>
            </a:pPr>
            <a:r>
              <a:rPr i="1" lang="en" sz="1400">
                <a:solidFill>
                  <a:srgbClr val="FF0000"/>
                </a:solidFill>
              </a:rPr>
              <a:t>Almost every pin is capable of PWM, driven by different counters.</a:t>
            </a:r>
            <a:endParaRPr i="1" sz="1400">
              <a:solidFill>
                <a:srgbClr val="FF0000"/>
              </a:solidFill>
            </a:endParaRPr>
          </a:p>
          <a:p>
            <a:pPr indent="0" lvl="0" marL="0" rtl="0" algn="r">
              <a:spcBef>
                <a:spcPts val="360"/>
              </a:spcBef>
              <a:spcAft>
                <a:spcPts val="0"/>
              </a:spcAft>
              <a:buNone/>
            </a:pPr>
            <a:r>
              <a:rPr i="1" lang="en" sz="1400">
                <a:solidFill>
                  <a:srgbClr val="FF0000"/>
                </a:solidFill>
              </a:rPr>
              <a:t>PA4, PA7 and PB1 can be driven by TIM14.</a:t>
            </a:r>
            <a:endParaRPr i="1" sz="1400">
              <a:solidFill>
                <a:srgbClr val="FF0000"/>
              </a:solidFill>
            </a:endParaRPr>
          </a:p>
          <a:p>
            <a:pPr indent="0" lvl="0" marL="0" rtl="0" algn="r">
              <a:spcBef>
                <a:spcPts val="360"/>
              </a:spcBef>
              <a:spcAft>
                <a:spcPts val="0"/>
              </a:spcAft>
              <a:buNone/>
            </a:pPr>
            <a:r>
              <a:rPr i="1" lang="en" sz="1400">
                <a:solidFill>
                  <a:srgbClr val="FF0000"/>
                </a:solidFill>
              </a:rPr>
              <a:t>See Datasheet, Table 12.</a:t>
            </a:r>
            <a:endParaRPr i="1" sz="1400">
              <a:solidFill>
                <a:srgbClr val="FF0000"/>
              </a:solidFill>
            </a:endParaRPr>
          </a:p>
        </p:txBody>
      </p:sp>
      <p:sp>
        <p:nvSpPr>
          <p:cNvPr id="401" name="Google Shape;401;p39"/>
          <p:cNvSpPr/>
          <p:nvPr/>
        </p:nvSpPr>
        <p:spPr>
          <a:xfrm>
            <a:off x="6253275" y="4339475"/>
            <a:ext cx="1317600" cy="1806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pic>
        <p:nvPicPr>
          <p:cNvPr id="406" name="Google Shape;406;p40"/>
          <p:cNvPicPr preferRelativeResize="0"/>
          <p:nvPr/>
        </p:nvPicPr>
        <p:blipFill rotWithShape="1">
          <a:blip r:embed="rId3">
            <a:alphaModFix/>
          </a:blip>
          <a:srcRect b="2937" l="0" r="0" t="2928"/>
          <a:stretch/>
        </p:blipFill>
        <p:spPr>
          <a:xfrm>
            <a:off x="663175" y="685775"/>
            <a:ext cx="6615649" cy="6113952"/>
          </a:xfrm>
          <a:prstGeom prst="rect">
            <a:avLst/>
          </a:prstGeom>
          <a:noFill/>
          <a:ln>
            <a:noFill/>
          </a:ln>
        </p:spPr>
      </p:pic>
      <p:sp>
        <p:nvSpPr>
          <p:cNvPr id="407" name="Google Shape;407;p40"/>
          <p:cNvSpPr txBox="1"/>
          <p:nvPr>
            <p:ph type="title"/>
          </p:nvPr>
        </p:nvSpPr>
        <p:spPr>
          <a:xfrm>
            <a:off x="311700" y="145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TB6612 breakout wiring — second exercise</a:t>
            </a:r>
            <a:endParaRPr/>
          </a:p>
        </p:txBody>
      </p:sp>
      <p:sp>
        <p:nvSpPr>
          <p:cNvPr id="408" name="Google Shape;408;p40"/>
          <p:cNvSpPr/>
          <p:nvPr/>
        </p:nvSpPr>
        <p:spPr>
          <a:xfrm>
            <a:off x="5181050" y="3773325"/>
            <a:ext cx="675600" cy="213300"/>
          </a:xfrm>
          <a:prstGeom prst="ellipse">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9" name="Google Shape;409;p40"/>
          <p:cNvCxnSpPr>
            <a:stCxn id="410" idx="3"/>
            <a:endCxn id="408" idx="2"/>
          </p:cNvCxnSpPr>
          <p:nvPr/>
        </p:nvCxnSpPr>
        <p:spPr>
          <a:xfrm>
            <a:off x="2559775" y="2283850"/>
            <a:ext cx="2621400" cy="1596000"/>
          </a:xfrm>
          <a:prstGeom prst="straightConnector1">
            <a:avLst/>
          </a:prstGeom>
          <a:noFill/>
          <a:ln cap="flat" cmpd="sng" w="19050">
            <a:solidFill>
              <a:schemeClr val="dk2"/>
            </a:solidFill>
            <a:prstDash val="solid"/>
            <a:round/>
            <a:headEnd len="med" w="med" type="none"/>
            <a:tailEnd len="med" w="med" type="stealth"/>
          </a:ln>
        </p:spPr>
      </p:cxnSp>
      <p:sp>
        <p:nvSpPr>
          <p:cNvPr id="410" name="Google Shape;410;p40"/>
          <p:cNvSpPr txBox="1"/>
          <p:nvPr/>
        </p:nvSpPr>
        <p:spPr>
          <a:xfrm>
            <a:off x="65875" y="1994200"/>
            <a:ext cx="2493900" cy="5793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lang="en">
                <a:solidFill>
                  <a:schemeClr val="dk1"/>
                </a:solidFill>
              </a:rPr>
              <a:t>PWM + 2 wires for direction control.</a:t>
            </a:r>
            <a:endParaRPr>
              <a:solidFill>
                <a:schemeClr val="dk1"/>
              </a:solidFill>
            </a:endParaRPr>
          </a:p>
          <a:p>
            <a:pPr indent="0" lvl="0" marL="0" rtl="0" algn="r">
              <a:spcBef>
                <a:spcPts val="0"/>
              </a:spcBef>
              <a:spcAft>
                <a:spcPts val="0"/>
              </a:spcAft>
              <a:buNone/>
            </a:pPr>
            <a:r>
              <a:t/>
            </a:r>
            <a:endParaRPr>
              <a:solidFill>
                <a:schemeClr val="dk1"/>
              </a:solidFill>
            </a:endParaRPr>
          </a:p>
        </p:txBody>
      </p:sp>
      <p:pic>
        <p:nvPicPr>
          <p:cNvPr id="411" name="Google Shape;411;p40"/>
          <p:cNvPicPr preferRelativeResize="0"/>
          <p:nvPr/>
        </p:nvPicPr>
        <p:blipFill>
          <a:blip r:embed="rId4">
            <a:alphaModFix/>
          </a:blip>
          <a:stretch>
            <a:fillRect/>
          </a:stretch>
        </p:blipFill>
        <p:spPr>
          <a:xfrm rot="-5400000">
            <a:off x="6864400" y="3408500"/>
            <a:ext cx="915000" cy="19941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pic>
        <p:nvPicPr>
          <p:cNvPr id="416" name="Google Shape;416;p41"/>
          <p:cNvPicPr preferRelativeResize="0"/>
          <p:nvPr/>
        </p:nvPicPr>
        <p:blipFill rotWithShape="1">
          <a:blip r:embed="rId3">
            <a:alphaModFix/>
          </a:blip>
          <a:srcRect b="2937" l="0" r="0" t="2928"/>
          <a:stretch/>
        </p:blipFill>
        <p:spPr>
          <a:xfrm>
            <a:off x="2137500" y="864775"/>
            <a:ext cx="6170175" cy="5702277"/>
          </a:xfrm>
          <a:prstGeom prst="rect">
            <a:avLst/>
          </a:prstGeom>
          <a:noFill/>
          <a:ln>
            <a:noFill/>
          </a:ln>
        </p:spPr>
      </p:pic>
      <p:sp>
        <p:nvSpPr>
          <p:cNvPr id="417" name="Google Shape;417;p41"/>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t>
            </a:r>
            <a:r>
              <a:rPr lang="en"/>
              <a:t>econd exercise</a:t>
            </a:r>
            <a:endParaRPr/>
          </a:p>
        </p:txBody>
      </p:sp>
      <p:sp>
        <p:nvSpPr>
          <p:cNvPr id="418" name="Google Shape;418;p41"/>
          <p:cNvSpPr txBox="1"/>
          <p:nvPr/>
        </p:nvSpPr>
        <p:spPr>
          <a:xfrm>
            <a:off x="362050" y="1296175"/>
            <a:ext cx="2765100" cy="178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t>Make a copy of your TemplateProject and call it DCmotor.  Download TTmotor_ramp.c, and paste it into your new project's Src folder.</a:t>
            </a:r>
            <a:endParaRPr sz="1600"/>
          </a:p>
          <a:p>
            <a:pPr indent="0" lvl="0" marL="0" rtl="0" algn="l">
              <a:spcBef>
                <a:spcPts val="0"/>
              </a:spcBef>
              <a:spcAft>
                <a:spcPts val="0"/>
              </a:spcAft>
              <a:buNone/>
            </a:pPr>
            <a:r>
              <a:t/>
            </a:r>
            <a:endParaRPr sz="1600"/>
          </a:p>
        </p:txBody>
      </p:sp>
      <p:sp>
        <p:nvSpPr>
          <p:cNvPr id="419" name="Google Shape;419;p41"/>
          <p:cNvSpPr txBox="1"/>
          <p:nvPr/>
        </p:nvSpPr>
        <p:spPr>
          <a:xfrm>
            <a:off x="164600" y="3511300"/>
            <a:ext cx="1972800" cy="218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600">
                <a:solidFill>
                  <a:schemeClr val="dk1"/>
                </a:solidFill>
              </a:rPr>
              <a:t>Compile and run </a:t>
            </a:r>
            <a:r>
              <a:rPr b="1" lang="en" sz="1600">
                <a:solidFill>
                  <a:schemeClr val="dk1"/>
                </a:solidFill>
              </a:rPr>
              <a:t>TTmotor_ramp.c, </a:t>
            </a:r>
            <a:r>
              <a:rPr lang="en" sz="1600">
                <a:solidFill>
                  <a:schemeClr val="dk1"/>
                </a:solidFill>
              </a:rPr>
              <a:t>observe the PWM signal with the oscilloscope as you watch the motor run.</a:t>
            </a:r>
            <a:endParaRPr sz="1600">
              <a:solidFill>
                <a:schemeClr val="dk1"/>
              </a:solidFill>
            </a:endParaRPr>
          </a:p>
          <a:p>
            <a:pPr indent="0" lvl="0" marL="0" rtl="0" algn="l">
              <a:spcBef>
                <a:spcPts val="0"/>
              </a:spcBef>
              <a:spcAft>
                <a:spcPts val="0"/>
              </a:spcAft>
              <a:buNone/>
            </a:pPr>
            <a:r>
              <a:t/>
            </a:r>
            <a:endParaRPr sz="1800">
              <a:solidFill>
                <a:schemeClr val="dk2"/>
              </a:solidFill>
            </a:endParaRPr>
          </a:p>
        </p:txBody>
      </p:sp>
      <p:pic>
        <p:nvPicPr>
          <p:cNvPr id="420" name="Google Shape;420;p41"/>
          <p:cNvPicPr preferRelativeResize="0"/>
          <p:nvPr/>
        </p:nvPicPr>
        <p:blipFill>
          <a:blip r:embed="rId4">
            <a:alphaModFix/>
          </a:blip>
          <a:stretch>
            <a:fillRect/>
          </a:stretch>
        </p:blipFill>
        <p:spPr>
          <a:xfrm rot="-5400000">
            <a:off x="7943050" y="3383175"/>
            <a:ext cx="874925" cy="19067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42"/>
          <p:cNvSpPr txBox="1"/>
          <p:nvPr>
            <p:ph type="title"/>
          </p:nvPr>
        </p:nvSpPr>
        <p:spPr>
          <a:xfrm>
            <a:off x="134875" y="3573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TTMotorRamp on the Waveforms Oscilloscope</a:t>
            </a:r>
            <a:endParaRPr/>
          </a:p>
        </p:txBody>
      </p:sp>
      <p:pic>
        <p:nvPicPr>
          <p:cNvPr id="426" name="Google Shape;426;p42" title="TTMotorRampAD2">
            <a:hlinkClick r:id="rId3"/>
          </p:cNvPr>
          <p:cNvPicPr preferRelativeResize="0"/>
          <p:nvPr/>
        </p:nvPicPr>
        <p:blipFill>
          <a:blip r:embed="rId4">
            <a:alphaModFix/>
          </a:blip>
          <a:stretch>
            <a:fillRect/>
          </a:stretch>
        </p:blipFill>
        <p:spPr>
          <a:xfrm>
            <a:off x="0" y="118760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6"/>
                                        </p:tgtEl>
                                        <p:attrNameLst>
                                          <p:attrName>style.visibility</p:attrName>
                                        </p:attrNameLst>
                                      </p:cBhvr>
                                      <p:to>
                                        <p:strVal val="visible"/>
                                      </p:to>
                                    </p:set>
                                    <p:animEffect filter="fade" transition="in">
                                      <p:cBhvr>
                                        <p:cTn dur="1000"/>
                                        <p:tgtEl>
                                          <p:spTgt spid="4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43"/>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Homework</a:t>
            </a:r>
            <a:endParaRPr/>
          </a:p>
        </p:txBody>
      </p:sp>
      <p:sp>
        <p:nvSpPr>
          <p:cNvPr id="432" name="Google Shape;432;p43"/>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HiTA activity due Thursday:</a:t>
            </a:r>
            <a:r>
              <a:rPr b="1" lang="en"/>
              <a:t>  </a:t>
            </a:r>
            <a:endParaRPr b="1"/>
          </a:p>
          <a:p>
            <a:pPr indent="0" lvl="0" marL="0" rtl="0" algn="l">
              <a:spcBef>
                <a:spcPts val="1600"/>
              </a:spcBef>
              <a:spcAft>
                <a:spcPts val="0"/>
              </a:spcAft>
              <a:buNone/>
            </a:pPr>
            <a:r>
              <a:rPr lang="en"/>
              <a:t>The demo program uses the TIM14 PWM.  Work through the demo code with the data sheet to understand how this is programmed to achieve the pwm functionality.</a:t>
            </a:r>
            <a:endParaRPr/>
          </a:p>
          <a:p>
            <a:pPr indent="0" lvl="0" marL="0" rtl="0" algn="l">
              <a:spcBef>
                <a:spcPts val="1600"/>
              </a:spcBef>
              <a:spcAft>
                <a:spcPts val="0"/>
              </a:spcAft>
              <a:buNone/>
            </a:pPr>
            <a:r>
              <a:rPr lang="en"/>
              <a:t>Get started now!</a:t>
            </a:r>
            <a:endParaRPr/>
          </a:p>
          <a:p>
            <a:pPr indent="0" lvl="0" marL="0" rtl="0" algn="l">
              <a:spcBef>
                <a:spcPts val="160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