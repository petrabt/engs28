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F0E6742-A1B7-4A8F-9146-8391ED4D20DB}">
  <a:tblStyle styleId="{BF0E6742-A1B7-4A8F-9146-8391ED4D20D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c277de5006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c277de500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cb65440826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cb6544082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cb65440826_0_38: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cb65440826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2b03ab818fb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2b03ab818f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2b03ab818fb_0_2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2b03ab818fb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c9171af0da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c9171af0d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c9171af0da_0_1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c9171af0da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c9171af0da_0_2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c9171af0da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c9171af0da_0_5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c9171af0da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c9171af0da_0_4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c9171af0da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c9171af0da_0_4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c9171af0da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c9171af0da_0_8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c9171af0da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c9171af0da_0_11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c9171af0da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c9171af0da_0_14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c9171af0da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c9171af0da_0_12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c9171af0da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954513b435_0_11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954513b435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c9171af0da_0_10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c9171af0da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TXO - This is the UART Transmit pin out of the breakout (Bluefruit LE --&gt; MCU), it's at 3.3V logic level.</a:t>
            </a:r>
            <a:endParaRPr/>
          </a:p>
          <a:p>
            <a:pPr indent="0" lvl="0" marL="0" rtl="0" algn="l">
              <a:spcBef>
                <a:spcPts val="0"/>
              </a:spcBef>
              <a:spcAft>
                <a:spcPts val="0"/>
              </a:spcAft>
              <a:buClr>
                <a:schemeClr val="dk1"/>
              </a:buClr>
              <a:buSzPts val="1100"/>
              <a:buFont typeface="Arial"/>
              <a:buNone/>
            </a:pPr>
            <a:r>
              <a:rPr lang="en"/>
              <a:t>RXI - This is the UART Receive pin into the breakout (MCU --&gt; Bluefruit LE). This has a logic level shifter on it, you can use 3-5V logic.</a:t>
            </a:r>
            <a:endParaRPr/>
          </a:p>
          <a:p>
            <a:pPr indent="0" lvl="0" marL="0" rtl="0" algn="l">
              <a:spcBef>
                <a:spcPts val="0"/>
              </a:spcBef>
              <a:spcAft>
                <a:spcPts val="0"/>
              </a:spcAft>
              <a:buClr>
                <a:schemeClr val="dk1"/>
              </a:buClr>
              <a:buSzPts val="1100"/>
              <a:buFont typeface="Arial"/>
              <a:buNone/>
            </a:pPr>
            <a:r>
              <a:rPr lang="en"/>
              <a:t>CTS - Clear to Send hardware flow control pin into the breakout (MCU --&gt; Bluefruit LE). Use this pin to tell the Bluefruit that it can send data back to the microcontroller over the TXO pin. This pin is pulled high by default and must be set to ground in order to enable data transfer out! If you do not need hardware flow control, tie this pin to ground it is a level shifted pin, you can use 3-5V logic</a:t>
            </a:r>
            <a:endParaRPr/>
          </a:p>
          <a:p>
            <a:pPr indent="0" lvl="0" marL="0" rtl="0" algn="l">
              <a:spcBef>
                <a:spcPts val="0"/>
              </a:spcBef>
              <a:spcAft>
                <a:spcPts val="0"/>
              </a:spcAft>
              <a:buClr>
                <a:schemeClr val="dk1"/>
              </a:buClr>
              <a:buSzPts val="1100"/>
              <a:buFont typeface="Arial"/>
              <a:buNone/>
            </a:pPr>
            <a:r>
              <a:rPr lang="en"/>
              <a:t>RTS - Request to Send flow control pin out of the module (Bluefruit LE --&gt; MCU). This pin will be low when its fine to send data to the Bluefruit. In general, at 9600 baud we haven't seen a need for this pin, but you can watch it for full flow control! This pin is 3.3V out</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c9171af0da_0_14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c9171af0da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c9171af0da_0_15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c9171af0da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sort devices that show up in your app by signal strength. This should help you </a:t>
            </a:r>
            <a:r>
              <a:rPr lang="en"/>
              <a:t>identify</a:t>
            </a:r>
            <a:r>
              <a:rPr lang="en"/>
              <a:t> your own.</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c9171af0da_0_16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c9171af0da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AT+GAPDEVNAME=chosenName</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c9171af0da_0_17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c9171af0da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2b15e98b442_0_6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2b15e98b442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3*4 =  12</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954513b435_0_4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954513b435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954513b435_0_4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954513b435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cd3c40ffde_0_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cd3c40ffde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2dcdc4845f5_0_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2dcdc4845f5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7.png"/><Relationship Id="rId5"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4.png"/><Relationship Id="rId6"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311708" y="992767"/>
            <a:ext cx="8520600" cy="27369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3000">
                <a:solidFill>
                  <a:srgbClr val="000000"/>
                </a:solidFill>
                <a:latin typeface="Comic Sans MS"/>
                <a:ea typeface="Comic Sans MS"/>
                <a:cs typeface="Comic Sans MS"/>
                <a:sym typeface="Comic Sans MS"/>
              </a:rPr>
              <a:t>Engs </a:t>
            </a:r>
            <a:r>
              <a:rPr lang="en" sz="3000">
                <a:latin typeface="Comic Sans MS"/>
                <a:ea typeface="Comic Sans MS"/>
                <a:cs typeface="Comic Sans MS"/>
                <a:sym typeface="Comic Sans MS"/>
              </a:rPr>
              <a:t>28</a:t>
            </a:r>
            <a:endParaRPr sz="3000">
              <a:solidFill>
                <a:srgbClr val="000000"/>
              </a:solidFill>
              <a:latin typeface="Comic Sans MS"/>
              <a:ea typeface="Comic Sans MS"/>
              <a:cs typeface="Comic Sans MS"/>
              <a:sym typeface="Comic Sans MS"/>
            </a:endParaRPr>
          </a:p>
          <a:p>
            <a:pPr indent="0" lvl="0" marL="0" rtl="0" algn="ctr">
              <a:spcBef>
                <a:spcPts val="0"/>
              </a:spcBef>
              <a:spcAft>
                <a:spcPts val="0"/>
              </a:spcAft>
              <a:buNone/>
            </a:pPr>
            <a:r>
              <a:rPr lang="en" sz="5200">
                <a:solidFill>
                  <a:srgbClr val="000000"/>
                </a:solidFill>
                <a:latin typeface="Comic Sans MS"/>
                <a:ea typeface="Comic Sans MS"/>
                <a:cs typeface="Comic Sans MS"/>
                <a:sym typeface="Comic Sans MS"/>
              </a:rPr>
              <a:t>Embedded Systems</a:t>
            </a:r>
            <a:endParaRPr sz="5200">
              <a:solidFill>
                <a:srgbClr val="000000"/>
              </a:solidFill>
              <a:latin typeface="Comic Sans MS"/>
              <a:ea typeface="Comic Sans MS"/>
              <a:cs typeface="Comic Sans MS"/>
              <a:sym typeface="Comic Sans MS"/>
            </a:endParaRPr>
          </a:p>
        </p:txBody>
      </p:sp>
      <p:sp>
        <p:nvSpPr>
          <p:cNvPr id="55" name="Google Shape;55;p13"/>
          <p:cNvSpPr txBox="1"/>
          <p:nvPr/>
        </p:nvSpPr>
        <p:spPr>
          <a:xfrm>
            <a:off x="311700" y="4128267"/>
            <a:ext cx="8520600" cy="105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800">
                <a:solidFill>
                  <a:srgbClr val="595959"/>
                </a:solidFill>
                <a:latin typeface="Comic Sans MS"/>
                <a:ea typeface="Comic Sans MS"/>
                <a:cs typeface="Comic Sans MS"/>
                <a:sym typeface="Comic Sans MS"/>
              </a:rPr>
              <a:t>Day 17</a:t>
            </a:r>
            <a:endParaRPr sz="2800">
              <a:solidFill>
                <a:srgbClr val="595959"/>
              </a:solidFill>
              <a:latin typeface="Comic Sans MS"/>
              <a:ea typeface="Comic Sans MS"/>
              <a:cs typeface="Comic Sans MS"/>
              <a:sym typeface="Comic Sans MS"/>
            </a:endParaRPr>
          </a:p>
        </p:txBody>
      </p:sp>
      <p:pic>
        <p:nvPicPr>
          <p:cNvPr id="56" name="Google Shape;56;p13"/>
          <p:cNvPicPr preferRelativeResize="0"/>
          <p:nvPr/>
        </p:nvPicPr>
        <p:blipFill>
          <a:blip r:embed="rId3">
            <a:alphaModFix/>
          </a:blip>
          <a:stretch>
            <a:fillRect/>
          </a:stretch>
        </p:blipFill>
        <p:spPr>
          <a:xfrm>
            <a:off x="525637" y="395688"/>
            <a:ext cx="1103550" cy="1334750"/>
          </a:xfrm>
          <a:prstGeom prst="rect">
            <a:avLst/>
          </a:prstGeom>
          <a:noFill/>
          <a:ln>
            <a:noFill/>
          </a:ln>
        </p:spPr>
      </p:pic>
      <p:pic>
        <p:nvPicPr>
          <p:cNvPr id="57" name="Google Shape;57;p13"/>
          <p:cNvPicPr preferRelativeResize="0"/>
          <p:nvPr/>
        </p:nvPicPr>
        <p:blipFill rotWithShape="1">
          <a:blip r:embed="rId4">
            <a:alphaModFix/>
          </a:blip>
          <a:srcRect b="0" l="0" r="0" t="0"/>
          <a:stretch/>
        </p:blipFill>
        <p:spPr>
          <a:xfrm>
            <a:off x="7094700" y="61000"/>
            <a:ext cx="1543875" cy="2126125"/>
          </a:xfrm>
          <a:prstGeom prst="rect">
            <a:avLst/>
          </a:prstGeom>
          <a:noFill/>
          <a:ln>
            <a:noFill/>
          </a:ln>
        </p:spPr>
      </p:pic>
      <p:sp>
        <p:nvSpPr>
          <p:cNvPr id="58" name="Google Shape;58;p1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Final Project Student Groupings</a:t>
            </a:r>
            <a:endParaRPr/>
          </a:p>
        </p:txBody>
      </p:sp>
      <p:sp>
        <p:nvSpPr>
          <p:cNvPr id="64" name="Google Shape;64;p1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p:nvPr/>
        </p:nvSpPr>
        <p:spPr>
          <a:xfrm>
            <a:off x="3419050" y="298733"/>
            <a:ext cx="1152900" cy="1410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5"/>
          <p:cNvSpPr/>
          <p:nvPr/>
        </p:nvSpPr>
        <p:spPr>
          <a:xfrm>
            <a:off x="334675" y="635750"/>
            <a:ext cx="2208300" cy="1853400"/>
          </a:xfrm>
          <a:prstGeom prst="roundRect">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rgbClr val="0000FF"/>
                </a:solidFill>
              </a:rPr>
              <a:t>Nina </a:t>
            </a:r>
            <a:endParaRPr b="1" sz="2200">
              <a:solidFill>
                <a:srgbClr val="0000FF"/>
              </a:solidFill>
            </a:endParaRPr>
          </a:p>
          <a:p>
            <a:pPr indent="0" lvl="0" marL="0" rtl="0" algn="ctr">
              <a:spcBef>
                <a:spcPts val="0"/>
              </a:spcBef>
              <a:spcAft>
                <a:spcPts val="0"/>
              </a:spcAft>
              <a:buNone/>
            </a:pPr>
            <a:r>
              <a:rPr b="1" lang="en" sz="2200">
                <a:solidFill>
                  <a:srgbClr val="0000FF"/>
                </a:solidFill>
              </a:rPr>
              <a:t>Teaen</a:t>
            </a:r>
            <a:endParaRPr b="1" sz="2200">
              <a:solidFill>
                <a:srgbClr val="0000FF"/>
              </a:solidFill>
            </a:endParaRPr>
          </a:p>
          <a:p>
            <a:pPr indent="0" lvl="0" marL="0" rtl="0" algn="ctr">
              <a:spcBef>
                <a:spcPts val="0"/>
              </a:spcBef>
              <a:spcAft>
                <a:spcPts val="0"/>
              </a:spcAft>
              <a:buNone/>
            </a:pPr>
            <a:r>
              <a:rPr b="1" lang="en" sz="2200">
                <a:solidFill>
                  <a:srgbClr val="0000FF"/>
                </a:solidFill>
              </a:rPr>
              <a:t>Jeff</a:t>
            </a:r>
            <a:endParaRPr b="1" sz="2200">
              <a:solidFill>
                <a:srgbClr val="0000FF"/>
              </a:solidFill>
            </a:endParaRPr>
          </a:p>
          <a:p>
            <a:pPr indent="0" lvl="0" marL="0" rtl="0" algn="ctr">
              <a:spcBef>
                <a:spcPts val="0"/>
              </a:spcBef>
              <a:spcAft>
                <a:spcPts val="0"/>
              </a:spcAft>
              <a:buNone/>
            </a:pPr>
            <a:r>
              <a:rPr b="1" lang="en" sz="2200">
                <a:solidFill>
                  <a:srgbClr val="0000FF"/>
                </a:solidFill>
              </a:rPr>
              <a:t>Gent</a:t>
            </a:r>
            <a:endParaRPr b="1" sz="2200">
              <a:solidFill>
                <a:srgbClr val="0000FF"/>
              </a:solidFill>
            </a:endParaRPr>
          </a:p>
        </p:txBody>
      </p:sp>
      <p:sp>
        <p:nvSpPr>
          <p:cNvPr id="71" name="Google Shape;71;p15"/>
          <p:cNvSpPr/>
          <p:nvPr/>
        </p:nvSpPr>
        <p:spPr>
          <a:xfrm>
            <a:off x="334675" y="2699775"/>
            <a:ext cx="2208300" cy="1853400"/>
          </a:xfrm>
          <a:prstGeom prst="roundRect">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rgbClr val="0000FF"/>
                </a:solidFill>
              </a:rPr>
              <a:t>Papa </a:t>
            </a:r>
            <a:endParaRPr b="1" sz="2200">
              <a:solidFill>
                <a:srgbClr val="0000FF"/>
              </a:solidFill>
            </a:endParaRPr>
          </a:p>
          <a:p>
            <a:pPr indent="0" lvl="0" marL="0" rtl="0" algn="ctr">
              <a:spcBef>
                <a:spcPts val="0"/>
              </a:spcBef>
              <a:spcAft>
                <a:spcPts val="0"/>
              </a:spcAft>
              <a:buNone/>
            </a:pPr>
            <a:r>
              <a:rPr b="1" lang="en" sz="2200">
                <a:solidFill>
                  <a:srgbClr val="0000FF"/>
                </a:solidFill>
              </a:rPr>
              <a:t>Simrah</a:t>
            </a:r>
            <a:endParaRPr b="1" sz="2200">
              <a:solidFill>
                <a:srgbClr val="0000FF"/>
              </a:solidFill>
            </a:endParaRPr>
          </a:p>
          <a:p>
            <a:pPr indent="0" lvl="0" marL="0" rtl="0" algn="ctr">
              <a:spcBef>
                <a:spcPts val="0"/>
              </a:spcBef>
              <a:spcAft>
                <a:spcPts val="0"/>
              </a:spcAft>
              <a:buNone/>
            </a:pPr>
            <a:r>
              <a:rPr b="1" lang="en" sz="2200">
                <a:solidFill>
                  <a:srgbClr val="0000FF"/>
                </a:solidFill>
              </a:rPr>
              <a:t>Renata</a:t>
            </a:r>
            <a:endParaRPr b="1" sz="2200">
              <a:solidFill>
                <a:srgbClr val="0000FF"/>
              </a:solidFill>
            </a:endParaRPr>
          </a:p>
          <a:p>
            <a:pPr indent="0" lvl="0" marL="0" rtl="0" algn="ctr">
              <a:spcBef>
                <a:spcPts val="0"/>
              </a:spcBef>
              <a:spcAft>
                <a:spcPts val="0"/>
              </a:spcAft>
              <a:buNone/>
            </a:pPr>
            <a:r>
              <a:rPr b="1" lang="en" sz="2200">
                <a:solidFill>
                  <a:srgbClr val="0000FF"/>
                </a:solidFill>
              </a:rPr>
              <a:t>Holden </a:t>
            </a:r>
            <a:endParaRPr b="1" sz="2200">
              <a:solidFill>
                <a:srgbClr val="0000FF"/>
              </a:solidFill>
            </a:endParaRPr>
          </a:p>
        </p:txBody>
      </p:sp>
      <p:sp>
        <p:nvSpPr>
          <p:cNvPr id="72" name="Google Shape;72;p15"/>
          <p:cNvSpPr/>
          <p:nvPr/>
        </p:nvSpPr>
        <p:spPr>
          <a:xfrm>
            <a:off x="334675" y="4763800"/>
            <a:ext cx="2208300" cy="1664100"/>
          </a:xfrm>
          <a:prstGeom prst="roundRect">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rgbClr val="0000FF"/>
                </a:solidFill>
              </a:rPr>
              <a:t>Ryan</a:t>
            </a:r>
            <a:endParaRPr b="1" sz="2200">
              <a:solidFill>
                <a:srgbClr val="0000FF"/>
              </a:solidFill>
            </a:endParaRPr>
          </a:p>
          <a:p>
            <a:pPr indent="0" lvl="0" marL="0" rtl="0" algn="ctr">
              <a:spcBef>
                <a:spcPts val="0"/>
              </a:spcBef>
              <a:spcAft>
                <a:spcPts val="0"/>
              </a:spcAft>
              <a:buNone/>
            </a:pPr>
            <a:r>
              <a:rPr b="1" lang="en" sz="2200">
                <a:solidFill>
                  <a:srgbClr val="0000FF"/>
                </a:solidFill>
              </a:rPr>
              <a:t>Owen </a:t>
            </a:r>
            <a:endParaRPr b="1" sz="2200">
              <a:solidFill>
                <a:srgbClr val="0000FF"/>
              </a:solidFill>
            </a:endParaRPr>
          </a:p>
          <a:p>
            <a:pPr indent="0" lvl="0" marL="0" rtl="0" algn="ctr">
              <a:spcBef>
                <a:spcPts val="0"/>
              </a:spcBef>
              <a:spcAft>
                <a:spcPts val="0"/>
              </a:spcAft>
              <a:buNone/>
            </a:pPr>
            <a:r>
              <a:rPr b="1" lang="en" sz="2200">
                <a:solidFill>
                  <a:srgbClr val="0000FF"/>
                </a:solidFill>
              </a:rPr>
              <a:t>Leah </a:t>
            </a:r>
            <a:endParaRPr b="1" sz="2200">
              <a:solidFill>
                <a:srgbClr val="0000FF"/>
              </a:solidFill>
            </a:endParaRPr>
          </a:p>
          <a:p>
            <a:pPr indent="0" lvl="0" marL="0" rtl="0" algn="ctr">
              <a:spcBef>
                <a:spcPts val="0"/>
              </a:spcBef>
              <a:spcAft>
                <a:spcPts val="0"/>
              </a:spcAft>
              <a:buNone/>
            </a:pPr>
            <a:r>
              <a:rPr b="1" lang="en" sz="2200">
                <a:solidFill>
                  <a:srgbClr val="0000FF"/>
                </a:solidFill>
              </a:rPr>
              <a:t>Claire</a:t>
            </a:r>
            <a:endParaRPr b="1" sz="2200">
              <a:solidFill>
                <a:srgbClr val="0000FF"/>
              </a:solidFill>
            </a:endParaRPr>
          </a:p>
        </p:txBody>
      </p:sp>
      <p:sp>
        <p:nvSpPr>
          <p:cNvPr id="73" name="Google Shape;73;p15"/>
          <p:cNvSpPr/>
          <p:nvPr/>
        </p:nvSpPr>
        <p:spPr>
          <a:xfrm>
            <a:off x="2753350" y="289400"/>
            <a:ext cx="1757100" cy="1853400"/>
          </a:xfrm>
          <a:prstGeom prst="roundRect">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rgbClr val="0000FF"/>
                </a:solidFill>
              </a:rPr>
              <a:t>Peyton </a:t>
            </a:r>
            <a:endParaRPr b="1" sz="2200">
              <a:solidFill>
                <a:srgbClr val="0000FF"/>
              </a:solidFill>
            </a:endParaRPr>
          </a:p>
          <a:p>
            <a:pPr indent="0" lvl="0" marL="0" rtl="0" algn="ctr">
              <a:spcBef>
                <a:spcPts val="0"/>
              </a:spcBef>
              <a:spcAft>
                <a:spcPts val="0"/>
              </a:spcAft>
              <a:buClr>
                <a:schemeClr val="dk1"/>
              </a:buClr>
              <a:buSzPts val="1100"/>
              <a:buFont typeface="Arial"/>
              <a:buNone/>
            </a:pPr>
            <a:r>
              <a:rPr b="1" lang="en" sz="2200">
                <a:solidFill>
                  <a:srgbClr val="0000FF"/>
                </a:solidFill>
              </a:rPr>
              <a:t>Oliver</a:t>
            </a:r>
            <a:r>
              <a:rPr b="1" lang="en" sz="2200">
                <a:solidFill>
                  <a:srgbClr val="0000FF"/>
                </a:solidFill>
              </a:rPr>
              <a:t> </a:t>
            </a:r>
            <a:endParaRPr b="1" sz="2200">
              <a:solidFill>
                <a:srgbClr val="0000FF"/>
              </a:solidFill>
            </a:endParaRPr>
          </a:p>
          <a:p>
            <a:pPr indent="0" lvl="0" marL="0" rtl="0" algn="ctr">
              <a:spcBef>
                <a:spcPts val="0"/>
              </a:spcBef>
              <a:spcAft>
                <a:spcPts val="0"/>
              </a:spcAft>
              <a:buNone/>
            </a:pPr>
            <a:r>
              <a:rPr b="1" lang="en" sz="2200">
                <a:solidFill>
                  <a:srgbClr val="0000FF"/>
                </a:solidFill>
              </a:rPr>
              <a:t>Tiffany </a:t>
            </a:r>
            <a:endParaRPr b="1" sz="2200">
              <a:solidFill>
                <a:srgbClr val="0000FF"/>
              </a:solidFill>
            </a:endParaRPr>
          </a:p>
          <a:p>
            <a:pPr indent="0" lvl="0" marL="0" rtl="0" algn="ctr">
              <a:spcBef>
                <a:spcPts val="0"/>
              </a:spcBef>
              <a:spcAft>
                <a:spcPts val="0"/>
              </a:spcAft>
              <a:buNone/>
            </a:pPr>
            <a:r>
              <a:rPr b="1" lang="en" sz="2200">
                <a:solidFill>
                  <a:srgbClr val="0000FF"/>
                </a:solidFill>
              </a:rPr>
              <a:t>Thor </a:t>
            </a:r>
            <a:endParaRPr b="1" sz="2200">
              <a:solidFill>
                <a:srgbClr val="0000FF"/>
              </a:solidFill>
            </a:endParaRPr>
          </a:p>
        </p:txBody>
      </p:sp>
      <p:sp>
        <p:nvSpPr>
          <p:cNvPr id="74" name="Google Shape;74;p15"/>
          <p:cNvSpPr/>
          <p:nvPr/>
        </p:nvSpPr>
        <p:spPr>
          <a:xfrm>
            <a:off x="4721450" y="268550"/>
            <a:ext cx="1757100" cy="1853400"/>
          </a:xfrm>
          <a:prstGeom prst="roundRect">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rgbClr val="0000FF"/>
                </a:solidFill>
              </a:rPr>
              <a:t>Starlone</a:t>
            </a:r>
            <a:r>
              <a:rPr b="1" lang="en" sz="2200">
                <a:solidFill>
                  <a:srgbClr val="0000FF"/>
                </a:solidFill>
              </a:rPr>
              <a:t> </a:t>
            </a:r>
            <a:endParaRPr b="1" sz="2200">
              <a:solidFill>
                <a:srgbClr val="0000FF"/>
              </a:solidFill>
            </a:endParaRPr>
          </a:p>
          <a:p>
            <a:pPr indent="0" lvl="0" marL="0" rtl="0" algn="ctr">
              <a:spcBef>
                <a:spcPts val="0"/>
              </a:spcBef>
              <a:spcAft>
                <a:spcPts val="0"/>
              </a:spcAft>
              <a:buNone/>
            </a:pPr>
            <a:r>
              <a:rPr b="1" lang="en" sz="2200">
                <a:solidFill>
                  <a:srgbClr val="0000FF"/>
                </a:solidFill>
              </a:rPr>
              <a:t>JP</a:t>
            </a:r>
            <a:endParaRPr b="1" sz="2200">
              <a:solidFill>
                <a:srgbClr val="0000FF"/>
              </a:solidFill>
            </a:endParaRPr>
          </a:p>
          <a:p>
            <a:pPr indent="0" lvl="0" marL="0" rtl="0" algn="ctr">
              <a:spcBef>
                <a:spcPts val="0"/>
              </a:spcBef>
              <a:spcAft>
                <a:spcPts val="0"/>
              </a:spcAft>
              <a:buNone/>
            </a:pPr>
            <a:r>
              <a:rPr b="1" lang="en" sz="2200">
                <a:solidFill>
                  <a:srgbClr val="0000FF"/>
                </a:solidFill>
              </a:rPr>
              <a:t>Ollie</a:t>
            </a:r>
            <a:endParaRPr b="1" sz="2200">
              <a:solidFill>
                <a:srgbClr val="0000FF"/>
              </a:solidFill>
            </a:endParaRPr>
          </a:p>
          <a:p>
            <a:pPr indent="0" lvl="0" marL="0" rtl="0" algn="ctr">
              <a:spcBef>
                <a:spcPts val="0"/>
              </a:spcBef>
              <a:spcAft>
                <a:spcPts val="0"/>
              </a:spcAft>
              <a:buClr>
                <a:schemeClr val="dk1"/>
              </a:buClr>
              <a:buSzPts val="1100"/>
              <a:buFont typeface="Arial"/>
              <a:buNone/>
            </a:pPr>
            <a:r>
              <a:rPr b="1" lang="en" sz="2200">
                <a:solidFill>
                  <a:srgbClr val="0000FF"/>
                </a:solidFill>
              </a:rPr>
              <a:t>Napu </a:t>
            </a:r>
            <a:endParaRPr b="1" sz="2200">
              <a:solidFill>
                <a:srgbClr val="0000FF"/>
              </a:solidFill>
            </a:endParaRPr>
          </a:p>
        </p:txBody>
      </p:sp>
      <p:sp>
        <p:nvSpPr>
          <p:cNvPr id="75" name="Google Shape;75;p15"/>
          <p:cNvSpPr/>
          <p:nvPr/>
        </p:nvSpPr>
        <p:spPr>
          <a:xfrm>
            <a:off x="6628050" y="4763850"/>
            <a:ext cx="2171400" cy="1664100"/>
          </a:xfrm>
          <a:prstGeom prst="roundRect">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rgbClr val="0000FF"/>
                </a:solidFill>
              </a:rPr>
              <a:t>Hope</a:t>
            </a:r>
            <a:endParaRPr b="1" sz="2200">
              <a:solidFill>
                <a:srgbClr val="0000FF"/>
              </a:solidFill>
            </a:endParaRPr>
          </a:p>
          <a:p>
            <a:pPr indent="0" lvl="0" marL="0" rtl="0" algn="ctr">
              <a:spcBef>
                <a:spcPts val="0"/>
              </a:spcBef>
              <a:spcAft>
                <a:spcPts val="0"/>
              </a:spcAft>
              <a:buNone/>
            </a:pPr>
            <a:r>
              <a:rPr b="1" lang="en" sz="2200">
                <a:solidFill>
                  <a:srgbClr val="0000FF"/>
                </a:solidFill>
              </a:rPr>
              <a:t>Alex</a:t>
            </a:r>
            <a:endParaRPr b="1" sz="2200">
              <a:solidFill>
                <a:srgbClr val="0000FF"/>
              </a:solidFill>
            </a:endParaRPr>
          </a:p>
          <a:p>
            <a:pPr indent="0" lvl="0" marL="0" rtl="0" algn="ctr">
              <a:spcBef>
                <a:spcPts val="0"/>
              </a:spcBef>
              <a:spcAft>
                <a:spcPts val="0"/>
              </a:spcAft>
              <a:buNone/>
            </a:pPr>
            <a:r>
              <a:rPr b="1" lang="en" sz="2200">
                <a:solidFill>
                  <a:srgbClr val="0000FF"/>
                </a:solidFill>
              </a:rPr>
              <a:t>Brianna</a:t>
            </a:r>
            <a:endParaRPr b="1" sz="2200">
              <a:solidFill>
                <a:srgbClr val="0000FF"/>
              </a:solidFill>
            </a:endParaRPr>
          </a:p>
          <a:p>
            <a:pPr indent="0" lvl="0" marL="0" rtl="0" algn="ctr">
              <a:spcBef>
                <a:spcPts val="0"/>
              </a:spcBef>
              <a:spcAft>
                <a:spcPts val="0"/>
              </a:spcAft>
              <a:buNone/>
            </a:pPr>
            <a:r>
              <a:rPr b="1" lang="en" sz="2200">
                <a:solidFill>
                  <a:srgbClr val="0000FF"/>
                </a:solidFill>
              </a:rPr>
              <a:t>Maya</a:t>
            </a:r>
            <a:endParaRPr b="1" sz="2200">
              <a:solidFill>
                <a:srgbClr val="0000FF"/>
              </a:solidFill>
            </a:endParaRPr>
          </a:p>
        </p:txBody>
      </p:sp>
      <p:sp>
        <p:nvSpPr>
          <p:cNvPr id="76" name="Google Shape;76;p15"/>
          <p:cNvSpPr/>
          <p:nvPr/>
        </p:nvSpPr>
        <p:spPr>
          <a:xfrm>
            <a:off x="6628050" y="2699776"/>
            <a:ext cx="2171400" cy="1853400"/>
          </a:xfrm>
          <a:prstGeom prst="roundRect">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rgbClr val="0000FF"/>
                </a:solidFill>
              </a:rPr>
              <a:t>Stefan</a:t>
            </a:r>
            <a:endParaRPr b="1" sz="2200">
              <a:solidFill>
                <a:srgbClr val="0000FF"/>
              </a:solidFill>
            </a:endParaRPr>
          </a:p>
          <a:p>
            <a:pPr indent="0" lvl="0" marL="0" rtl="0" algn="ctr">
              <a:spcBef>
                <a:spcPts val="0"/>
              </a:spcBef>
              <a:spcAft>
                <a:spcPts val="0"/>
              </a:spcAft>
              <a:buNone/>
            </a:pPr>
            <a:r>
              <a:rPr b="1" lang="en" sz="2200">
                <a:solidFill>
                  <a:srgbClr val="0000FF"/>
                </a:solidFill>
              </a:rPr>
              <a:t>Konstantinos </a:t>
            </a:r>
            <a:endParaRPr b="1" sz="2200">
              <a:solidFill>
                <a:srgbClr val="0000FF"/>
              </a:solidFill>
            </a:endParaRPr>
          </a:p>
          <a:p>
            <a:pPr indent="0" lvl="0" marL="0" rtl="0" algn="ctr">
              <a:spcBef>
                <a:spcPts val="0"/>
              </a:spcBef>
              <a:spcAft>
                <a:spcPts val="0"/>
              </a:spcAft>
              <a:buNone/>
            </a:pPr>
            <a:r>
              <a:rPr b="1" lang="en" sz="2200">
                <a:solidFill>
                  <a:srgbClr val="0000FF"/>
                </a:solidFill>
              </a:rPr>
              <a:t>Aikins </a:t>
            </a:r>
            <a:endParaRPr b="1" sz="2200">
              <a:solidFill>
                <a:srgbClr val="0000FF"/>
              </a:solidFill>
            </a:endParaRPr>
          </a:p>
          <a:p>
            <a:pPr indent="0" lvl="0" marL="0" rtl="0" algn="ctr">
              <a:spcBef>
                <a:spcPts val="0"/>
              </a:spcBef>
              <a:spcAft>
                <a:spcPts val="0"/>
              </a:spcAft>
              <a:buNone/>
            </a:pPr>
            <a:r>
              <a:rPr b="1" lang="en" sz="2200">
                <a:solidFill>
                  <a:srgbClr val="0000FF"/>
                </a:solidFill>
              </a:rPr>
              <a:t>Rachel</a:t>
            </a:r>
            <a:endParaRPr b="1" sz="2200">
              <a:solidFill>
                <a:srgbClr val="0000FF"/>
              </a:solidFill>
            </a:endParaRPr>
          </a:p>
          <a:p>
            <a:pPr indent="0" lvl="0" marL="0" rtl="0" algn="ctr">
              <a:spcBef>
                <a:spcPts val="0"/>
              </a:spcBef>
              <a:spcAft>
                <a:spcPts val="0"/>
              </a:spcAft>
              <a:buNone/>
            </a:pPr>
            <a:r>
              <a:rPr b="1" lang="en" sz="2200">
                <a:solidFill>
                  <a:srgbClr val="0000FF"/>
                </a:solidFill>
              </a:rPr>
              <a:t>Hunter</a:t>
            </a:r>
            <a:endParaRPr b="1" sz="2200">
              <a:solidFill>
                <a:srgbClr val="0000FF"/>
              </a:solidFill>
            </a:endParaRPr>
          </a:p>
        </p:txBody>
      </p:sp>
      <p:sp>
        <p:nvSpPr>
          <p:cNvPr id="77" name="Google Shape;77;p15"/>
          <p:cNvSpPr/>
          <p:nvPr/>
        </p:nvSpPr>
        <p:spPr>
          <a:xfrm>
            <a:off x="6628050" y="635750"/>
            <a:ext cx="2171400" cy="1853400"/>
          </a:xfrm>
          <a:prstGeom prst="roundRect">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rgbClr val="0000FF"/>
                </a:solidFill>
              </a:rPr>
              <a:t>Molly </a:t>
            </a:r>
            <a:endParaRPr b="1" sz="2200">
              <a:solidFill>
                <a:srgbClr val="0000FF"/>
              </a:solidFill>
            </a:endParaRPr>
          </a:p>
          <a:p>
            <a:pPr indent="0" lvl="0" marL="0" rtl="0" algn="ctr">
              <a:spcBef>
                <a:spcPts val="0"/>
              </a:spcBef>
              <a:spcAft>
                <a:spcPts val="0"/>
              </a:spcAft>
              <a:buNone/>
            </a:pPr>
            <a:r>
              <a:rPr b="1" lang="en" sz="2200">
                <a:solidFill>
                  <a:srgbClr val="0000FF"/>
                </a:solidFill>
              </a:rPr>
              <a:t>Soleil </a:t>
            </a:r>
            <a:endParaRPr b="1" sz="2200">
              <a:solidFill>
                <a:srgbClr val="0000FF"/>
              </a:solidFill>
            </a:endParaRPr>
          </a:p>
          <a:p>
            <a:pPr indent="0" lvl="0" marL="0" rtl="0" algn="ctr">
              <a:spcBef>
                <a:spcPts val="0"/>
              </a:spcBef>
              <a:spcAft>
                <a:spcPts val="0"/>
              </a:spcAft>
              <a:buNone/>
            </a:pPr>
            <a:r>
              <a:rPr b="1" lang="en" sz="2200">
                <a:solidFill>
                  <a:srgbClr val="0000FF"/>
                </a:solidFill>
              </a:rPr>
              <a:t>Meiirzhan </a:t>
            </a:r>
            <a:endParaRPr b="1" sz="2200">
              <a:solidFill>
                <a:srgbClr val="0000FF"/>
              </a:solidFill>
            </a:endParaRPr>
          </a:p>
          <a:p>
            <a:pPr indent="0" lvl="0" marL="0" rtl="0" algn="ctr">
              <a:spcBef>
                <a:spcPts val="0"/>
              </a:spcBef>
              <a:spcAft>
                <a:spcPts val="0"/>
              </a:spcAft>
              <a:buNone/>
            </a:pPr>
            <a:r>
              <a:rPr b="1" lang="en" sz="2200">
                <a:solidFill>
                  <a:srgbClr val="0000FF"/>
                </a:solidFill>
              </a:rPr>
              <a:t>Andrew</a:t>
            </a:r>
            <a:endParaRPr b="1" sz="2200">
              <a:solidFill>
                <a:srgbClr val="0000FF"/>
              </a:solidFill>
            </a:endParaRPr>
          </a:p>
        </p:txBody>
      </p:sp>
      <p:sp>
        <p:nvSpPr>
          <p:cNvPr id="78" name="Google Shape;78;p15"/>
          <p:cNvSpPr/>
          <p:nvPr/>
        </p:nvSpPr>
        <p:spPr>
          <a:xfrm>
            <a:off x="6947250" y="5655463"/>
            <a:ext cx="1533000" cy="670800"/>
          </a:xfrm>
          <a:prstGeom prst="roundRect">
            <a:avLst>
              <a:gd fmla="val 16667" name="adj"/>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5"/>
          <p:cNvSpPr/>
          <p:nvPr/>
        </p:nvSpPr>
        <p:spPr>
          <a:xfrm>
            <a:off x="6965725" y="4918113"/>
            <a:ext cx="1533000" cy="670800"/>
          </a:xfrm>
          <a:prstGeom prst="roundRect">
            <a:avLst>
              <a:gd fmla="val 16667" name="adj"/>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 name="Google Shape;80;p15"/>
          <p:cNvSpPr/>
          <p:nvPr/>
        </p:nvSpPr>
        <p:spPr>
          <a:xfrm>
            <a:off x="6778950" y="2758200"/>
            <a:ext cx="1869600" cy="670800"/>
          </a:xfrm>
          <a:prstGeom prst="roundRect">
            <a:avLst>
              <a:gd fmla="val 16667" name="adj"/>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 name="Google Shape;81;p15"/>
          <p:cNvSpPr/>
          <p:nvPr/>
        </p:nvSpPr>
        <p:spPr>
          <a:xfrm>
            <a:off x="6878825" y="3510080"/>
            <a:ext cx="1533000" cy="938700"/>
          </a:xfrm>
          <a:prstGeom prst="roundRect">
            <a:avLst>
              <a:gd fmla="val 16667" name="adj"/>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 name="Google Shape;82;p15"/>
          <p:cNvSpPr/>
          <p:nvPr/>
        </p:nvSpPr>
        <p:spPr>
          <a:xfrm>
            <a:off x="6947250" y="859838"/>
            <a:ext cx="1533000" cy="670800"/>
          </a:xfrm>
          <a:prstGeom prst="roundRect">
            <a:avLst>
              <a:gd fmla="val 16667" name="adj"/>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 name="Google Shape;83;p15"/>
          <p:cNvSpPr/>
          <p:nvPr/>
        </p:nvSpPr>
        <p:spPr>
          <a:xfrm>
            <a:off x="6947250" y="1632563"/>
            <a:ext cx="1533000" cy="670800"/>
          </a:xfrm>
          <a:prstGeom prst="roundRect">
            <a:avLst>
              <a:gd fmla="val 16667" name="adj"/>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 name="Google Shape;84;p15"/>
          <p:cNvSpPr/>
          <p:nvPr/>
        </p:nvSpPr>
        <p:spPr>
          <a:xfrm>
            <a:off x="4833500" y="492063"/>
            <a:ext cx="1533000" cy="670800"/>
          </a:xfrm>
          <a:prstGeom prst="roundRect">
            <a:avLst>
              <a:gd fmla="val 16667" name="adj"/>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 name="Google Shape;85;p15"/>
          <p:cNvSpPr/>
          <p:nvPr/>
        </p:nvSpPr>
        <p:spPr>
          <a:xfrm>
            <a:off x="4833500" y="1227038"/>
            <a:ext cx="1533000" cy="670800"/>
          </a:xfrm>
          <a:prstGeom prst="roundRect">
            <a:avLst>
              <a:gd fmla="val 16667" name="adj"/>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 name="Google Shape;86;p15"/>
          <p:cNvSpPr/>
          <p:nvPr/>
        </p:nvSpPr>
        <p:spPr>
          <a:xfrm>
            <a:off x="2865700" y="492063"/>
            <a:ext cx="1533000" cy="670800"/>
          </a:xfrm>
          <a:prstGeom prst="roundRect">
            <a:avLst>
              <a:gd fmla="val 16667" name="adj"/>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5"/>
          <p:cNvSpPr/>
          <p:nvPr/>
        </p:nvSpPr>
        <p:spPr>
          <a:xfrm>
            <a:off x="2865400" y="1227038"/>
            <a:ext cx="1533000" cy="670800"/>
          </a:xfrm>
          <a:prstGeom prst="roundRect">
            <a:avLst>
              <a:gd fmla="val 16667" name="adj"/>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 name="Google Shape;88;p15"/>
          <p:cNvSpPr/>
          <p:nvPr/>
        </p:nvSpPr>
        <p:spPr>
          <a:xfrm>
            <a:off x="672325" y="880688"/>
            <a:ext cx="1533000" cy="670800"/>
          </a:xfrm>
          <a:prstGeom prst="roundRect">
            <a:avLst>
              <a:gd fmla="val 16667" name="adj"/>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 name="Google Shape;89;p15"/>
          <p:cNvSpPr/>
          <p:nvPr/>
        </p:nvSpPr>
        <p:spPr>
          <a:xfrm>
            <a:off x="672325" y="1632563"/>
            <a:ext cx="1533000" cy="670800"/>
          </a:xfrm>
          <a:prstGeom prst="roundRect">
            <a:avLst>
              <a:gd fmla="val 16667" name="adj"/>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 name="Google Shape;90;p15"/>
          <p:cNvSpPr/>
          <p:nvPr/>
        </p:nvSpPr>
        <p:spPr>
          <a:xfrm>
            <a:off x="672325" y="2934813"/>
            <a:ext cx="1533000" cy="670800"/>
          </a:xfrm>
          <a:prstGeom prst="roundRect">
            <a:avLst>
              <a:gd fmla="val 16667" name="adj"/>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 name="Google Shape;91;p15"/>
          <p:cNvSpPr/>
          <p:nvPr/>
        </p:nvSpPr>
        <p:spPr>
          <a:xfrm>
            <a:off x="672325" y="3644013"/>
            <a:ext cx="1533000" cy="670800"/>
          </a:xfrm>
          <a:prstGeom prst="roundRect">
            <a:avLst>
              <a:gd fmla="val 16667" name="adj"/>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 name="Google Shape;92;p15"/>
          <p:cNvSpPr/>
          <p:nvPr/>
        </p:nvSpPr>
        <p:spPr>
          <a:xfrm>
            <a:off x="672325" y="4918113"/>
            <a:ext cx="1533000" cy="670800"/>
          </a:xfrm>
          <a:prstGeom prst="roundRect">
            <a:avLst>
              <a:gd fmla="val 16667" name="adj"/>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 name="Google Shape;93;p15"/>
          <p:cNvSpPr/>
          <p:nvPr/>
        </p:nvSpPr>
        <p:spPr>
          <a:xfrm>
            <a:off x="672325" y="5655463"/>
            <a:ext cx="1533000" cy="670800"/>
          </a:xfrm>
          <a:prstGeom prst="roundRect">
            <a:avLst>
              <a:gd fmla="val 16667" name="adj"/>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 name="Google Shape;94;p15"/>
          <p:cNvSpPr/>
          <p:nvPr/>
        </p:nvSpPr>
        <p:spPr>
          <a:xfrm>
            <a:off x="3311950" y="5813550"/>
            <a:ext cx="2088600" cy="93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200"/>
              <a:t>Petra</a:t>
            </a:r>
            <a:endParaRPr sz="3900"/>
          </a:p>
        </p:txBody>
      </p:sp>
      <p:sp>
        <p:nvSpPr>
          <p:cNvPr id="95" name="Google Shape;95;p15"/>
          <p:cNvSpPr/>
          <p:nvPr/>
        </p:nvSpPr>
        <p:spPr>
          <a:xfrm>
            <a:off x="3486088" y="2783050"/>
            <a:ext cx="1861200" cy="14103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200">
                <a:solidFill>
                  <a:schemeClr val="dk1"/>
                </a:solidFill>
              </a:rPr>
              <a:t>Tad and TAs</a:t>
            </a:r>
            <a:endParaRPr sz="3200">
              <a:solidFill>
                <a:schemeClr val="dk1"/>
              </a:solidFill>
            </a:endParaRPr>
          </a:p>
        </p:txBody>
      </p:sp>
      <p:sp>
        <p:nvSpPr>
          <p:cNvPr id="96" name="Google Shape;96;p15"/>
          <p:cNvSpPr/>
          <p:nvPr/>
        </p:nvSpPr>
        <p:spPr>
          <a:xfrm>
            <a:off x="3011113" y="4193375"/>
            <a:ext cx="3148800" cy="1626000"/>
          </a:xfrm>
          <a:prstGeom prst="roundRect">
            <a:avLst>
              <a:gd fmla="val 16667" name="adj"/>
            </a:avLst>
          </a:prstGeom>
          <a:solidFill>
            <a:srgbClr val="00FFFF"/>
          </a:solid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200">
                <a:solidFill>
                  <a:schemeClr val="dk1"/>
                </a:solidFill>
              </a:rPr>
              <a:t>Please sit at your assigned table.</a:t>
            </a:r>
            <a:endParaRPr sz="32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102" name="Google Shape;102;p16"/>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Introduction to BLE</a:t>
            </a:r>
            <a:endParaRPr/>
          </a:p>
          <a:p>
            <a:pPr indent="0" lvl="0" marL="0" rtl="0" algn="l">
              <a:spcBef>
                <a:spcPts val="1200"/>
              </a:spcBef>
              <a:spcAft>
                <a:spcPts val="1200"/>
              </a:spcAft>
              <a:buNone/>
            </a:pPr>
            <a:r>
              <a:rPr lang="en"/>
              <a:t>Final Project Work</a:t>
            </a:r>
            <a:endParaRPr/>
          </a:p>
        </p:txBody>
      </p:sp>
      <p:sp>
        <p:nvSpPr>
          <p:cNvPr id="103" name="Google Shape;103;p1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7"/>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Bluetooth Low Energy (BLE)</a:t>
            </a:r>
            <a:endParaRPr/>
          </a:p>
        </p:txBody>
      </p:sp>
      <p:sp>
        <p:nvSpPr>
          <p:cNvPr id="109" name="Google Shape;109;p1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8"/>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a:t>
            </a:r>
            <a:r>
              <a:rPr lang="en"/>
              <a:t>Bluetooth Classic"     vs.           "BLE"</a:t>
            </a:r>
            <a:endParaRPr/>
          </a:p>
        </p:txBody>
      </p:sp>
      <p:sp>
        <p:nvSpPr>
          <p:cNvPr id="115" name="Google Shape;115;p18"/>
          <p:cNvSpPr txBox="1"/>
          <p:nvPr>
            <p:ph idx="1" type="body"/>
          </p:nvPr>
        </p:nvSpPr>
        <p:spPr>
          <a:xfrm>
            <a:off x="311700" y="1536625"/>
            <a:ext cx="4191900" cy="267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Designed for:</a:t>
            </a:r>
            <a:endParaRPr/>
          </a:p>
          <a:p>
            <a:pPr indent="-342900" lvl="0" marL="457200" rtl="0" algn="l">
              <a:spcBef>
                <a:spcPts val="1200"/>
              </a:spcBef>
              <a:spcAft>
                <a:spcPts val="0"/>
              </a:spcAft>
              <a:buSzPts val="1800"/>
              <a:buChar char="●"/>
            </a:pPr>
            <a:r>
              <a:rPr lang="en"/>
              <a:t>Continuous data streaming</a:t>
            </a:r>
            <a:endParaRPr/>
          </a:p>
          <a:p>
            <a:pPr indent="-342900" lvl="0" marL="457200" rtl="0" algn="l">
              <a:spcBef>
                <a:spcPts val="0"/>
              </a:spcBef>
              <a:spcAft>
                <a:spcPts val="0"/>
              </a:spcAft>
              <a:buSzPts val="1800"/>
              <a:buChar char="●"/>
            </a:pPr>
            <a:r>
              <a:rPr lang="en"/>
              <a:t>Audio (headphones, speakers)</a:t>
            </a:r>
            <a:endParaRPr/>
          </a:p>
          <a:p>
            <a:pPr indent="-342900" lvl="0" marL="457200" rtl="0" algn="l">
              <a:spcBef>
                <a:spcPts val="0"/>
              </a:spcBef>
              <a:spcAft>
                <a:spcPts val="0"/>
              </a:spcAft>
              <a:buSzPts val="1800"/>
              <a:buChar char="●"/>
            </a:pPr>
            <a:r>
              <a:rPr lang="en"/>
              <a:t>Higher data rates</a:t>
            </a:r>
            <a:endParaRPr/>
          </a:p>
          <a:p>
            <a:pPr indent="-342900" lvl="0" marL="457200" rtl="0" algn="l">
              <a:spcBef>
                <a:spcPts val="0"/>
              </a:spcBef>
              <a:spcAft>
                <a:spcPts val="0"/>
              </a:spcAft>
              <a:buSzPts val="1800"/>
              <a:buChar char="●"/>
            </a:pPr>
            <a:r>
              <a:rPr lang="en"/>
              <a:t>Longer connection times</a:t>
            </a:r>
            <a:endParaRPr/>
          </a:p>
          <a:p>
            <a:pPr indent="-342900" lvl="0" marL="457200" rtl="0" algn="l">
              <a:spcBef>
                <a:spcPts val="0"/>
              </a:spcBef>
              <a:spcAft>
                <a:spcPts val="0"/>
              </a:spcAft>
              <a:buSzPts val="1800"/>
              <a:buChar char="●"/>
            </a:pPr>
            <a:r>
              <a:rPr lang="en"/>
              <a:t>Higher power consumption</a:t>
            </a:r>
            <a:endParaRPr/>
          </a:p>
          <a:p>
            <a:pPr indent="0" lvl="0" marL="0" rtl="0" algn="l">
              <a:spcBef>
                <a:spcPts val="1200"/>
              </a:spcBef>
              <a:spcAft>
                <a:spcPts val="0"/>
              </a:spcAft>
              <a:buClr>
                <a:schemeClr val="dk1"/>
              </a:buClr>
              <a:buSzPts val="1100"/>
              <a:buFont typeface="Arial"/>
              <a:buNone/>
            </a:pPr>
            <a:r>
              <a:rPr lang="en"/>
              <a:t>"</a:t>
            </a:r>
            <a:r>
              <a:rPr lang="en"/>
              <a:t>Stay connected and stream a lot."</a:t>
            </a:r>
            <a:endParaRPr/>
          </a:p>
          <a:p>
            <a:pPr indent="0" lvl="0" marL="0" rtl="0" algn="l">
              <a:spcBef>
                <a:spcPts val="1200"/>
              </a:spcBef>
              <a:spcAft>
                <a:spcPts val="1200"/>
              </a:spcAft>
              <a:buNone/>
            </a:pPr>
            <a:r>
              <a:t/>
            </a:r>
            <a:endParaRPr/>
          </a:p>
        </p:txBody>
      </p:sp>
      <p:sp>
        <p:nvSpPr>
          <p:cNvPr id="116" name="Google Shape;116;p1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7" name="Google Shape;117;p18"/>
          <p:cNvSpPr txBox="1"/>
          <p:nvPr>
            <p:ph idx="1" type="body"/>
          </p:nvPr>
        </p:nvSpPr>
        <p:spPr>
          <a:xfrm>
            <a:off x="4734950" y="1536625"/>
            <a:ext cx="4191900" cy="276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Designed for:</a:t>
            </a:r>
            <a:endParaRPr/>
          </a:p>
          <a:p>
            <a:pPr indent="-342900" lvl="0" marL="457200" rtl="0" algn="l">
              <a:spcBef>
                <a:spcPts val="1200"/>
              </a:spcBef>
              <a:spcAft>
                <a:spcPts val="0"/>
              </a:spcAft>
              <a:buSzPts val="1800"/>
              <a:buChar char="●"/>
            </a:pPr>
            <a:r>
              <a:rPr lang="en"/>
              <a:t>Tiny bursts of data</a:t>
            </a:r>
            <a:endParaRPr/>
          </a:p>
          <a:p>
            <a:pPr indent="-342900" lvl="0" marL="457200" rtl="0" algn="l">
              <a:spcBef>
                <a:spcPts val="0"/>
              </a:spcBef>
              <a:spcAft>
                <a:spcPts val="0"/>
              </a:spcAft>
              <a:buSzPts val="1800"/>
              <a:buChar char="●"/>
            </a:pPr>
            <a:r>
              <a:rPr lang="en"/>
              <a:t>Sensors</a:t>
            </a:r>
            <a:endParaRPr/>
          </a:p>
          <a:p>
            <a:pPr indent="-342900" lvl="0" marL="457200" rtl="0" algn="l">
              <a:spcBef>
                <a:spcPts val="0"/>
              </a:spcBef>
              <a:spcAft>
                <a:spcPts val="0"/>
              </a:spcAft>
              <a:buSzPts val="1800"/>
              <a:buChar char="●"/>
            </a:pPr>
            <a:r>
              <a:rPr lang="en"/>
              <a:t>Battery-powered devices</a:t>
            </a:r>
            <a:endParaRPr/>
          </a:p>
          <a:p>
            <a:pPr indent="-342900" lvl="0" marL="457200" rtl="0" algn="l">
              <a:spcBef>
                <a:spcPts val="0"/>
              </a:spcBef>
              <a:spcAft>
                <a:spcPts val="0"/>
              </a:spcAft>
              <a:buSzPts val="1800"/>
              <a:buChar char="●"/>
            </a:pPr>
            <a:r>
              <a:rPr lang="en"/>
              <a:t>Very low energy use</a:t>
            </a:r>
            <a:endParaRPr/>
          </a:p>
          <a:p>
            <a:pPr indent="0" lvl="0" marL="0" rtl="0" algn="l">
              <a:spcBef>
                <a:spcPts val="1200"/>
              </a:spcBef>
              <a:spcAft>
                <a:spcPts val="0"/>
              </a:spcAft>
              <a:buClr>
                <a:schemeClr val="dk1"/>
              </a:buClr>
              <a:buSzPts val="1100"/>
              <a:buFont typeface="Arial"/>
              <a:buNone/>
            </a:pPr>
            <a:r>
              <a:rPr lang="en"/>
              <a:t>"Wake up → send small data → go back to sleep."</a:t>
            </a:r>
            <a:endParaRPr/>
          </a:p>
          <a:p>
            <a:pPr indent="0" lvl="0" marL="0" rtl="0" algn="l">
              <a:spcBef>
                <a:spcPts val="1200"/>
              </a:spcBef>
              <a:spcAft>
                <a:spcPts val="1200"/>
              </a:spcAft>
              <a:buNone/>
            </a:pPr>
            <a:r>
              <a:t/>
            </a:r>
            <a:endParaRPr/>
          </a:p>
        </p:txBody>
      </p:sp>
      <p:pic>
        <p:nvPicPr>
          <p:cNvPr id="118" name="Google Shape;118;p18"/>
          <p:cNvPicPr preferRelativeResize="0"/>
          <p:nvPr/>
        </p:nvPicPr>
        <p:blipFill>
          <a:blip r:embed="rId3">
            <a:alphaModFix/>
          </a:blip>
          <a:stretch>
            <a:fillRect/>
          </a:stretch>
        </p:blipFill>
        <p:spPr>
          <a:xfrm>
            <a:off x="1055850" y="4216225"/>
            <a:ext cx="1855558" cy="2336975"/>
          </a:xfrm>
          <a:prstGeom prst="rect">
            <a:avLst/>
          </a:prstGeom>
          <a:noFill/>
          <a:ln>
            <a:noFill/>
          </a:ln>
        </p:spPr>
      </p:pic>
      <p:pic>
        <p:nvPicPr>
          <p:cNvPr id="119" name="Google Shape;119;p18"/>
          <p:cNvPicPr preferRelativeResize="0"/>
          <p:nvPr/>
        </p:nvPicPr>
        <p:blipFill>
          <a:blip r:embed="rId4">
            <a:alphaModFix/>
          </a:blip>
          <a:stretch>
            <a:fillRect/>
          </a:stretch>
        </p:blipFill>
        <p:spPr>
          <a:xfrm>
            <a:off x="5459333" y="4257175"/>
            <a:ext cx="2255075" cy="2255075"/>
          </a:xfrm>
          <a:prstGeom prst="rect">
            <a:avLst/>
          </a:prstGeom>
          <a:noFill/>
          <a:ln>
            <a:noFill/>
          </a:ln>
        </p:spPr>
      </p:pic>
      <p:sp>
        <p:nvSpPr>
          <p:cNvPr id="120" name="Google Shape;120;p18"/>
          <p:cNvSpPr txBox="1"/>
          <p:nvPr/>
        </p:nvSpPr>
        <p:spPr>
          <a:xfrm rot="-882685">
            <a:off x="7159435" y="1050509"/>
            <a:ext cx="1605431" cy="738789"/>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FF"/>
                </a:solidFill>
              </a:rPr>
              <a:t>Bluetooth Low Energy</a:t>
            </a:r>
            <a:endParaRPr sz="1800">
              <a:solidFill>
                <a:srgbClr val="0000FF"/>
              </a:solidFill>
            </a:endParaRPr>
          </a:p>
        </p:txBody>
      </p:sp>
      <p:cxnSp>
        <p:nvCxnSpPr>
          <p:cNvPr id="121" name="Google Shape;121;p18"/>
          <p:cNvCxnSpPr/>
          <p:nvPr/>
        </p:nvCxnSpPr>
        <p:spPr>
          <a:xfrm rot="10800000">
            <a:off x="6584750" y="1065475"/>
            <a:ext cx="888000" cy="218700"/>
          </a:xfrm>
          <a:prstGeom prst="straightConnector1">
            <a:avLst/>
          </a:prstGeom>
          <a:noFill/>
          <a:ln cap="flat" cmpd="sng" w="28575">
            <a:solidFill>
              <a:srgbClr val="2A00FF"/>
            </a:solidFill>
            <a:prstDash val="solid"/>
            <a:round/>
            <a:headEnd len="med" w="med"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9"/>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BLE Connection Modes</a:t>
            </a:r>
            <a:endParaRPr/>
          </a:p>
        </p:txBody>
      </p:sp>
      <p:sp>
        <p:nvSpPr>
          <p:cNvPr id="127" name="Google Shape;127;p1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28" name="Google Shape;128;p19"/>
          <p:cNvPicPr preferRelativeResize="0"/>
          <p:nvPr/>
        </p:nvPicPr>
        <p:blipFill rotWithShape="1">
          <a:blip r:embed="rId3">
            <a:alphaModFix/>
          </a:blip>
          <a:srcRect b="18437" l="0" r="0" t="9204"/>
          <a:stretch/>
        </p:blipFill>
        <p:spPr>
          <a:xfrm>
            <a:off x="152400" y="1356875"/>
            <a:ext cx="8839199" cy="2804475"/>
          </a:xfrm>
          <a:prstGeom prst="rect">
            <a:avLst/>
          </a:prstGeom>
          <a:noFill/>
          <a:ln>
            <a:noFill/>
          </a:ln>
        </p:spPr>
      </p:pic>
      <p:sp>
        <p:nvSpPr>
          <p:cNvPr id="129" name="Google Shape;129;p19"/>
          <p:cNvSpPr txBox="1"/>
          <p:nvPr/>
        </p:nvSpPr>
        <p:spPr>
          <a:xfrm>
            <a:off x="191650" y="4161350"/>
            <a:ext cx="2796000" cy="258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0000FF"/>
                </a:solidFill>
              </a:rPr>
              <a:t>Point-to-Point</a:t>
            </a:r>
            <a:endParaRPr b="1" sz="2000">
              <a:solidFill>
                <a:srgbClr val="0000FF"/>
              </a:solidFill>
            </a:endParaRPr>
          </a:p>
          <a:p>
            <a:pPr indent="0" lvl="0" marL="0" rtl="0" algn="l">
              <a:spcBef>
                <a:spcPts val="0"/>
              </a:spcBef>
              <a:spcAft>
                <a:spcPts val="0"/>
              </a:spcAft>
              <a:buNone/>
            </a:pPr>
            <a:r>
              <a:t/>
            </a:r>
            <a:endParaRPr b="1" sz="1600">
              <a:solidFill>
                <a:srgbClr val="0000FF"/>
              </a:solidFill>
            </a:endParaRPr>
          </a:p>
          <a:p>
            <a:pPr indent="0" lvl="0" marL="0" rtl="0" algn="l">
              <a:spcBef>
                <a:spcPts val="0"/>
              </a:spcBef>
              <a:spcAft>
                <a:spcPts val="0"/>
              </a:spcAft>
              <a:buNone/>
            </a:pPr>
            <a:r>
              <a:rPr b="1" lang="en" sz="1600">
                <a:solidFill>
                  <a:srgbClr val="0000FF"/>
                </a:solidFill>
              </a:rPr>
              <a:t>Central ↔ Peripheral</a:t>
            </a:r>
            <a:endParaRPr b="1" sz="1600">
              <a:solidFill>
                <a:srgbClr val="0000FF"/>
              </a:solidFill>
            </a:endParaRPr>
          </a:p>
          <a:p>
            <a:pPr indent="0" lvl="0" marL="0" rtl="0" algn="l">
              <a:spcBef>
                <a:spcPts val="0"/>
              </a:spcBef>
              <a:spcAft>
                <a:spcPts val="0"/>
              </a:spcAft>
              <a:buNone/>
            </a:pPr>
            <a:r>
              <a:rPr lang="en" sz="1600">
                <a:solidFill>
                  <a:srgbClr val="0000FF"/>
                </a:solidFill>
              </a:rPr>
              <a:t>• Two-way communication</a:t>
            </a:r>
            <a:endParaRPr sz="1600">
              <a:solidFill>
                <a:srgbClr val="0000FF"/>
              </a:solidFill>
            </a:endParaRPr>
          </a:p>
          <a:p>
            <a:pPr indent="0" lvl="0" marL="0" rtl="0" algn="l">
              <a:spcBef>
                <a:spcPts val="0"/>
              </a:spcBef>
              <a:spcAft>
                <a:spcPts val="0"/>
              </a:spcAft>
              <a:buClr>
                <a:schemeClr val="dk1"/>
              </a:buClr>
              <a:buSzPts val="1100"/>
              <a:buFont typeface="Arial"/>
              <a:buNone/>
            </a:pPr>
            <a:r>
              <a:rPr lang="en" sz="1600">
                <a:solidFill>
                  <a:srgbClr val="0000FF"/>
                </a:solidFill>
              </a:rPr>
              <a:t>• Structured data (Services &amp;</a:t>
            </a:r>
            <a:endParaRPr sz="1600">
              <a:solidFill>
                <a:srgbClr val="0000FF"/>
              </a:solidFill>
            </a:endParaRPr>
          </a:p>
          <a:p>
            <a:pPr indent="0" lvl="0" marL="0" rtl="0" algn="l">
              <a:spcBef>
                <a:spcPts val="0"/>
              </a:spcBef>
              <a:spcAft>
                <a:spcPts val="0"/>
              </a:spcAft>
              <a:buClr>
                <a:schemeClr val="dk1"/>
              </a:buClr>
              <a:buSzPts val="1100"/>
              <a:buFont typeface="Arial"/>
              <a:buNone/>
            </a:pPr>
            <a:r>
              <a:rPr lang="en" sz="1600">
                <a:solidFill>
                  <a:srgbClr val="0000FF"/>
                </a:solidFill>
              </a:rPr>
              <a:t>  Characteristics)</a:t>
            </a:r>
            <a:endParaRPr sz="1600">
              <a:solidFill>
                <a:srgbClr val="0000FF"/>
              </a:solidFill>
            </a:endParaRPr>
          </a:p>
          <a:p>
            <a:pPr indent="0" lvl="0" marL="0" rtl="0" algn="l">
              <a:spcBef>
                <a:spcPts val="0"/>
              </a:spcBef>
              <a:spcAft>
                <a:spcPts val="0"/>
              </a:spcAft>
              <a:buNone/>
            </a:pPr>
            <a:r>
              <a:rPr lang="en" sz="1600">
                <a:solidFill>
                  <a:srgbClr val="0000FF"/>
                </a:solidFill>
              </a:rPr>
              <a:t>• Most common BLE mode</a:t>
            </a:r>
            <a:endParaRPr sz="1600">
              <a:solidFill>
                <a:srgbClr val="0000FF"/>
              </a:solidFill>
            </a:endParaRPr>
          </a:p>
          <a:p>
            <a:pPr indent="0" lvl="0" marL="0" rtl="0" algn="l">
              <a:spcBef>
                <a:spcPts val="0"/>
              </a:spcBef>
              <a:spcAft>
                <a:spcPts val="0"/>
              </a:spcAft>
              <a:buNone/>
            </a:pPr>
            <a:r>
              <a:t/>
            </a:r>
            <a:endParaRPr sz="1600">
              <a:solidFill>
                <a:srgbClr val="0000FF"/>
              </a:solidFill>
            </a:endParaRPr>
          </a:p>
          <a:p>
            <a:pPr indent="0" lvl="0" marL="0" rtl="0" algn="l">
              <a:spcBef>
                <a:spcPts val="0"/>
              </a:spcBef>
              <a:spcAft>
                <a:spcPts val="0"/>
              </a:spcAft>
              <a:buNone/>
            </a:pPr>
            <a:r>
              <a:rPr lang="en" sz="1600">
                <a:solidFill>
                  <a:srgbClr val="0000FF"/>
                </a:solidFill>
              </a:rPr>
              <a:t>What we will use!</a:t>
            </a:r>
            <a:endParaRPr sz="1600">
              <a:solidFill>
                <a:srgbClr val="0000FF"/>
              </a:solidFill>
            </a:endParaRPr>
          </a:p>
        </p:txBody>
      </p:sp>
      <p:sp>
        <p:nvSpPr>
          <p:cNvPr id="130" name="Google Shape;130;p19"/>
          <p:cNvSpPr txBox="1"/>
          <p:nvPr/>
        </p:nvSpPr>
        <p:spPr>
          <a:xfrm>
            <a:off x="3079950" y="4161450"/>
            <a:ext cx="2796000" cy="258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274E13"/>
                </a:solidFill>
              </a:rPr>
              <a:t>Broadcast</a:t>
            </a:r>
            <a:endParaRPr b="1" sz="2000">
              <a:solidFill>
                <a:srgbClr val="274E13"/>
              </a:solidFill>
            </a:endParaRPr>
          </a:p>
          <a:p>
            <a:pPr indent="0" lvl="0" marL="0" rtl="0" algn="l">
              <a:spcBef>
                <a:spcPts val="0"/>
              </a:spcBef>
              <a:spcAft>
                <a:spcPts val="0"/>
              </a:spcAft>
              <a:buNone/>
            </a:pPr>
            <a:r>
              <a:t/>
            </a:r>
            <a:endParaRPr b="1" sz="1600">
              <a:solidFill>
                <a:srgbClr val="274E13"/>
              </a:solidFill>
            </a:endParaRPr>
          </a:p>
          <a:p>
            <a:pPr indent="0" lvl="0" marL="0" rtl="0" algn="l">
              <a:spcBef>
                <a:spcPts val="0"/>
              </a:spcBef>
              <a:spcAft>
                <a:spcPts val="0"/>
              </a:spcAft>
              <a:buClr>
                <a:schemeClr val="dk1"/>
              </a:buClr>
              <a:buSzPts val="1100"/>
              <a:buFont typeface="Arial"/>
              <a:buNone/>
            </a:pPr>
            <a:r>
              <a:rPr b="1" lang="en" sz="1600">
                <a:solidFill>
                  <a:srgbClr val="274E13"/>
                </a:solidFill>
              </a:rPr>
              <a:t>Peripheral → Everyone nearby</a:t>
            </a:r>
            <a:endParaRPr sz="1600">
              <a:solidFill>
                <a:srgbClr val="274E13"/>
              </a:solidFill>
            </a:endParaRPr>
          </a:p>
          <a:p>
            <a:pPr indent="0" lvl="0" marL="0" rtl="0" algn="l">
              <a:spcBef>
                <a:spcPts val="0"/>
              </a:spcBef>
              <a:spcAft>
                <a:spcPts val="0"/>
              </a:spcAft>
              <a:buClr>
                <a:schemeClr val="dk1"/>
              </a:buClr>
              <a:buSzPts val="1100"/>
              <a:buFont typeface="Arial"/>
              <a:buNone/>
            </a:pPr>
            <a:r>
              <a:rPr lang="en" sz="1600">
                <a:solidFill>
                  <a:srgbClr val="274E13"/>
                </a:solidFill>
              </a:rPr>
              <a:t>• No connection required</a:t>
            </a:r>
            <a:endParaRPr sz="1600">
              <a:solidFill>
                <a:srgbClr val="274E13"/>
              </a:solidFill>
            </a:endParaRPr>
          </a:p>
          <a:p>
            <a:pPr indent="0" lvl="0" marL="0" rtl="0" algn="l">
              <a:spcBef>
                <a:spcPts val="0"/>
              </a:spcBef>
              <a:spcAft>
                <a:spcPts val="0"/>
              </a:spcAft>
              <a:buClr>
                <a:schemeClr val="dk1"/>
              </a:buClr>
              <a:buSzPts val="1100"/>
              <a:buFont typeface="Arial"/>
              <a:buNone/>
            </a:pPr>
            <a:r>
              <a:rPr lang="en" sz="1600">
                <a:solidFill>
                  <a:srgbClr val="274E13"/>
                </a:solidFill>
              </a:rPr>
              <a:t>• Small packets</a:t>
            </a:r>
            <a:endParaRPr sz="1600">
              <a:solidFill>
                <a:srgbClr val="274E13"/>
              </a:solidFill>
            </a:endParaRPr>
          </a:p>
          <a:p>
            <a:pPr indent="0" lvl="0" marL="0" rtl="0" algn="l">
              <a:spcBef>
                <a:spcPts val="0"/>
              </a:spcBef>
              <a:spcAft>
                <a:spcPts val="0"/>
              </a:spcAft>
              <a:buNone/>
            </a:pPr>
            <a:r>
              <a:rPr lang="en" sz="1600">
                <a:solidFill>
                  <a:srgbClr val="274E13"/>
                </a:solidFill>
              </a:rPr>
              <a:t>• One-way only</a:t>
            </a:r>
            <a:endParaRPr sz="1600">
              <a:solidFill>
                <a:srgbClr val="274E13"/>
              </a:solidFill>
            </a:endParaRPr>
          </a:p>
          <a:p>
            <a:pPr indent="0" lvl="0" marL="0" rtl="0" algn="l">
              <a:spcBef>
                <a:spcPts val="0"/>
              </a:spcBef>
              <a:spcAft>
                <a:spcPts val="0"/>
              </a:spcAft>
              <a:buNone/>
            </a:pPr>
            <a:r>
              <a:t/>
            </a:r>
            <a:endParaRPr sz="1600">
              <a:solidFill>
                <a:srgbClr val="274E13"/>
              </a:solidFill>
            </a:endParaRPr>
          </a:p>
          <a:p>
            <a:pPr indent="0" lvl="0" marL="0" rtl="0" algn="l">
              <a:spcBef>
                <a:spcPts val="0"/>
              </a:spcBef>
              <a:spcAft>
                <a:spcPts val="0"/>
              </a:spcAft>
              <a:buNone/>
            </a:pPr>
            <a:r>
              <a:rPr lang="en" sz="1600">
                <a:solidFill>
                  <a:srgbClr val="274E13"/>
                </a:solidFill>
              </a:rPr>
              <a:t>Ex: Fitness sensors</a:t>
            </a:r>
            <a:endParaRPr sz="1600">
              <a:solidFill>
                <a:srgbClr val="274E13"/>
              </a:solidFill>
            </a:endParaRPr>
          </a:p>
        </p:txBody>
      </p:sp>
      <p:sp>
        <p:nvSpPr>
          <p:cNvPr id="131" name="Google Shape;131;p19"/>
          <p:cNvSpPr txBox="1"/>
          <p:nvPr/>
        </p:nvSpPr>
        <p:spPr>
          <a:xfrm>
            <a:off x="5968250" y="4161450"/>
            <a:ext cx="2796000" cy="258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990000"/>
                </a:solidFill>
              </a:rPr>
              <a:t>Mesh</a:t>
            </a:r>
            <a:endParaRPr b="1" sz="2000">
              <a:solidFill>
                <a:srgbClr val="990000"/>
              </a:solidFill>
            </a:endParaRPr>
          </a:p>
          <a:p>
            <a:pPr indent="0" lvl="0" marL="0" rtl="0" algn="l">
              <a:spcBef>
                <a:spcPts val="0"/>
              </a:spcBef>
              <a:spcAft>
                <a:spcPts val="0"/>
              </a:spcAft>
              <a:buNone/>
            </a:pPr>
            <a:r>
              <a:t/>
            </a:r>
            <a:endParaRPr b="1" sz="1600">
              <a:solidFill>
                <a:srgbClr val="990000"/>
              </a:solidFill>
            </a:endParaRPr>
          </a:p>
          <a:p>
            <a:pPr indent="0" lvl="0" marL="0" rtl="0" algn="l">
              <a:spcBef>
                <a:spcPts val="0"/>
              </a:spcBef>
              <a:spcAft>
                <a:spcPts val="0"/>
              </a:spcAft>
              <a:buClr>
                <a:schemeClr val="dk1"/>
              </a:buClr>
              <a:buSzPts val="1100"/>
              <a:buFont typeface="Arial"/>
              <a:buNone/>
            </a:pPr>
            <a:r>
              <a:rPr b="1" lang="en" sz="1600">
                <a:solidFill>
                  <a:srgbClr val="990000"/>
                </a:solidFill>
              </a:rPr>
              <a:t>Many ↔ Many</a:t>
            </a:r>
            <a:endParaRPr b="1" sz="1600">
              <a:solidFill>
                <a:srgbClr val="990000"/>
              </a:solidFill>
            </a:endParaRPr>
          </a:p>
          <a:p>
            <a:pPr indent="0" lvl="0" marL="0" rtl="0" algn="l">
              <a:spcBef>
                <a:spcPts val="0"/>
              </a:spcBef>
              <a:spcAft>
                <a:spcPts val="0"/>
              </a:spcAft>
              <a:buClr>
                <a:schemeClr val="dk1"/>
              </a:buClr>
              <a:buSzPts val="1100"/>
              <a:buFont typeface="Arial"/>
              <a:buNone/>
            </a:pPr>
            <a:r>
              <a:rPr lang="en" sz="1600">
                <a:solidFill>
                  <a:srgbClr val="990000"/>
                </a:solidFill>
              </a:rPr>
              <a:t>• Messages hop device to </a:t>
            </a:r>
            <a:endParaRPr sz="1600">
              <a:solidFill>
                <a:srgbClr val="990000"/>
              </a:solidFill>
            </a:endParaRPr>
          </a:p>
          <a:p>
            <a:pPr indent="0" lvl="0" marL="0" rtl="0" algn="l">
              <a:spcBef>
                <a:spcPts val="0"/>
              </a:spcBef>
              <a:spcAft>
                <a:spcPts val="0"/>
              </a:spcAft>
              <a:buClr>
                <a:schemeClr val="dk1"/>
              </a:buClr>
              <a:buSzPts val="1100"/>
              <a:buFont typeface="Arial"/>
              <a:buNone/>
            </a:pPr>
            <a:r>
              <a:rPr lang="en" sz="1600">
                <a:solidFill>
                  <a:srgbClr val="990000"/>
                </a:solidFill>
              </a:rPr>
              <a:t>  device</a:t>
            </a:r>
            <a:endParaRPr sz="1600">
              <a:solidFill>
                <a:srgbClr val="990000"/>
              </a:solidFill>
            </a:endParaRPr>
          </a:p>
          <a:p>
            <a:pPr indent="0" lvl="0" marL="0" rtl="0" algn="l">
              <a:spcBef>
                <a:spcPts val="0"/>
              </a:spcBef>
              <a:spcAft>
                <a:spcPts val="0"/>
              </a:spcAft>
              <a:buClr>
                <a:schemeClr val="dk1"/>
              </a:buClr>
              <a:buSzPts val="1100"/>
              <a:buFont typeface="Arial"/>
              <a:buNone/>
            </a:pPr>
            <a:r>
              <a:rPr lang="en" sz="1600">
                <a:solidFill>
                  <a:srgbClr val="990000"/>
                </a:solidFill>
              </a:rPr>
              <a:t>• No single central</a:t>
            </a:r>
            <a:endParaRPr sz="1600">
              <a:solidFill>
                <a:srgbClr val="990000"/>
              </a:solidFill>
            </a:endParaRPr>
          </a:p>
          <a:p>
            <a:pPr indent="0" lvl="0" marL="0" rtl="0" algn="l">
              <a:spcBef>
                <a:spcPts val="0"/>
              </a:spcBef>
              <a:spcAft>
                <a:spcPts val="0"/>
              </a:spcAft>
              <a:buNone/>
            </a:pPr>
            <a:r>
              <a:rPr lang="en" sz="1600">
                <a:solidFill>
                  <a:srgbClr val="990000"/>
                </a:solidFill>
              </a:rPr>
              <a:t>• Large IoT systems</a:t>
            </a:r>
            <a:endParaRPr sz="1600">
              <a:solidFill>
                <a:srgbClr val="990000"/>
              </a:solidFill>
            </a:endParaRPr>
          </a:p>
          <a:p>
            <a:pPr indent="0" lvl="0" marL="0" rtl="0" algn="l">
              <a:spcBef>
                <a:spcPts val="0"/>
              </a:spcBef>
              <a:spcAft>
                <a:spcPts val="0"/>
              </a:spcAft>
              <a:buNone/>
            </a:pPr>
            <a:r>
              <a:t/>
            </a:r>
            <a:endParaRPr sz="1600">
              <a:solidFill>
                <a:srgbClr val="990000"/>
              </a:solidFill>
            </a:endParaRPr>
          </a:p>
          <a:p>
            <a:pPr indent="0" lvl="0" marL="0" rtl="0" algn="l">
              <a:spcBef>
                <a:spcPts val="0"/>
              </a:spcBef>
              <a:spcAft>
                <a:spcPts val="0"/>
              </a:spcAft>
              <a:buClr>
                <a:schemeClr val="dk1"/>
              </a:buClr>
              <a:buSzPts val="1100"/>
              <a:buFont typeface="Arial"/>
              <a:buNone/>
            </a:pPr>
            <a:r>
              <a:rPr lang="en" sz="1600">
                <a:solidFill>
                  <a:srgbClr val="990000"/>
                </a:solidFill>
              </a:rPr>
              <a:t>Ex: Environmental monitoring in a greenhouse</a:t>
            </a:r>
            <a:endParaRPr sz="1600">
              <a:solidFill>
                <a:srgbClr val="990000"/>
              </a:solidFill>
            </a:endParaRPr>
          </a:p>
          <a:p>
            <a:pPr indent="0" lvl="0" marL="0" rtl="0" algn="l">
              <a:spcBef>
                <a:spcPts val="0"/>
              </a:spcBef>
              <a:spcAft>
                <a:spcPts val="0"/>
              </a:spcAft>
              <a:buNone/>
            </a:pPr>
            <a:r>
              <a:t/>
            </a:r>
            <a:endParaRPr sz="1600">
              <a:solidFill>
                <a:srgbClr val="99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0"/>
          <p:cNvSpPr txBox="1"/>
          <p:nvPr>
            <p:ph type="title"/>
          </p:nvPr>
        </p:nvSpPr>
        <p:spPr>
          <a:xfrm>
            <a:off x="311700" y="470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Central vs. Peripheral</a:t>
            </a:r>
            <a:endParaRPr/>
          </a:p>
        </p:txBody>
      </p:sp>
      <p:sp>
        <p:nvSpPr>
          <p:cNvPr id="137" name="Google Shape;137;p20"/>
          <p:cNvSpPr txBox="1"/>
          <p:nvPr>
            <p:ph idx="1" type="body"/>
          </p:nvPr>
        </p:nvSpPr>
        <p:spPr>
          <a:xfrm>
            <a:off x="311700" y="3094525"/>
            <a:ext cx="3945600" cy="187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200"/>
              <a:t>Central</a:t>
            </a:r>
            <a:endParaRPr b="1" sz="2200"/>
          </a:p>
          <a:p>
            <a:pPr indent="-342900" lvl="0" marL="457200" rtl="0" algn="l">
              <a:spcBef>
                <a:spcPts val="1200"/>
              </a:spcBef>
              <a:spcAft>
                <a:spcPts val="0"/>
              </a:spcAft>
              <a:buSzPts val="1800"/>
              <a:buChar char="●"/>
            </a:pPr>
            <a:r>
              <a:rPr lang="en"/>
              <a:t>Y</a:t>
            </a:r>
            <a:r>
              <a:rPr lang="en"/>
              <a:t>our phone</a:t>
            </a:r>
            <a:endParaRPr/>
          </a:p>
          <a:p>
            <a:pPr indent="-342900" lvl="0" marL="457200" rtl="0" algn="l">
              <a:spcBef>
                <a:spcPts val="0"/>
              </a:spcBef>
              <a:spcAft>
                <a:spcPts val="0"/>
              </a:spcAft>
              <a:buSzPts val="1800"/>
              <a:buChar char="●"/>
            </a:pPr>
            <a:r>
              <a:rPr lang="en"/>
              <a:t>Called "Client" in BLE speak</a:t>
            </a:r>
            <a:endParaRPr/>
          </a:p>
          <a:p>
            <a:pPr indent="-342900" lvl="0" marL="457200" rtl="0" algn="l">
              <a:spcBef>
                <a:spcPts val="0"/>
              </a:spcBef>
              <a:spcAft>
                <a:spcPts val="0"/>
              </a:spcAft>
              <a:buSzPts val="1800"/>
              <a:buChar char="●"/>
            </a:pPr>
            <a:r>
              <a:rPr lang="en"/>
              <a:t>I</a:t>
            </a:r>
            <a:r>
              <a:rPr lang="en"/>
              <a:t>nitiates communication and requests data</a:t>
            </a:r>
            <a:endParaRPr/>
          </a:p>
          <a:p>
            <a:pPr indent="0" lvl="0" marL="0" rtl="0" algn="l">
              <a:spcBef>
                <a:spcPts val="1200"/>
              </a:spcBef>
              <a:spcAft>
                <a:spcPts val="1200"/>
              </a:spcAft>
              <a:buNone/>
            </a:pPr>
            <a:r>
              <a:t/>
            </a:r>
            <a:endParaRPr/>
          </a:p>
        </p:txBody>
      </p:sp>
      <p:sp>
        <p:nvSpPr>
          <p:cNvPr id="138" name="Google Shape;138;p2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39" name="Google Shape;139;p20"/>
          <p:cNvPicPr preferRelativeResize="0"/>
          <p:nvPr/>
        </p:nvPicPr>
        <p:blipFill rotWithShape="1">
          <a:blip r:embed="rId3">
            <a:alphaModFix/>
          </a:blip>
          <a:srcRect b="12916" l="20587" r="21388" t="12250"/>
          <a:stretch/>
        </p:blipFill>
        <p:spPr>
          <a:xfrm>
            <a:off x="4536163" y="56450"/>
            <a:ext cx="4311924" cy="3128125"/>
          </a:xfrm>
          <a:prstGeom prst="rect">
            <a:avLst/>
          </a:prstGeom>
          <a:noFill/>
          <a:ln>
            <a:noFill/>
          </a:ln>
        </p:spPr>
      </p:pic>
      <p:pic>
        <p:nvPicPr>
          <p:cNvPr id="140" name="Google Shape;140;p20"/>
          <p:cNvPicPr preferRelativeResize="0"/>
          <p:nvPr/>
        </p:nvPicPr>
        <p:blipFill rotWithShape="1">
          <a:blip r:embed="rId4">
            <a:alphaModFix/>
          </a:blip>
          <a:srcRect b="9676" l="0" r="0" t="16518"/>
          <a:stretch/>
        </p:blipFill>
        <p:spPr>
          <a:xfrm>
            <a:off x="5257925" y="5301325"/>
            <a:ext cx="1981226" cy="1462301"/>
          </a:xfrm>
          <a:prstGeom prst="rect">
            <a:avLst/>
          </a:prstGeom>
          <a:noFill/>
          <a:ln>
            <a:noFill/>
          </a:ln>
        </p:spPr>
      </p:pic>
      <p:sp>
        <p:nvSpPr>
          <p:cNvPr id="141" name="Google Shape;141;p20"/>
          <p:cNvSpPr txBox="1"/>
          <p:nvPr>
            <p:ph idx="1" type="body"/>
          </p:nvPr>
        </p:nvSpPr>
        <p:spPr>
          <a:xfrm>
            <a:off x="4079250" y="3094525"/>
            <a:ext cx="4941900" cy="220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200"/>
              <a:t>Peripheral</a:t>
            </a:r>
            <a:endParaRPr b="1" sz="2200"/>
          </a:p>
          <a:p>
            <a:pPr indent="-342900" lvl="0" marL="457200" rtl="0" algn="l">
              <a:spcBef>
                <a:spcPts val="1200"/>
              </a:spcBef>
              <a:spcAft>
                <a:spcPts val="0"/>
              </a:spcAft>
              <a:buSzPts val="1800"/>
              <a:buChar char="●"/>
            </a:pPr>
            <a:r>
              <a:rPr lang="en"/>
              <a:t>Adafruit Bluefruit BLE</a:t>
            </a:r>
            <a:endParaRPr/>
          </a:p>
          <a:p>
            <a:pPr indent="-342900" lvl="0" marL="457200" rtl="0" algn="l">
              <a:spcBef>
                <a:spcPts val="0"/>
              </a:spcBef>
              <a:spcAft>
                <a:spcPts val="0"/>
              </a:spcAft>
              <a:buSzPts val="1800"/>
              <a:buChar char="●"/>
            </a:pPr>
            <a:r>
              <a:rPr lang="en"/>
              <a:t>Called "Server" in BLE speak (</a:t>
            </a:r>
            <a:r>
              <a:rPr lang="en"/>
              <a:t>it stores the data, services, and characteristics that another device (the client) wants to read, write, or subscribe to)</a:t>
            </a:r>
            <a:endParaRPr/>
          </a:p>
        </p:txBody>
      </p:sp>
      <p:pic>
        <p:nvPicPr>
          <p:cNvPr id="142" name="Google Shape;142;p20"/>
          <p:cNvPicPr preferRelativeResize="0"/>
          <p:nvPr/>
        </p:nvPicPr>
        <p:blipFill>
          <a:blip r:embed="rId5">
            <a:alphaModFix/>
          </a:blip>
          <a:stretch>
            <a:fillRect/>
          </a:stretch>
        </p:blipFill>
        <p:spPr>
          <a:xfrm>
            <a:off x="946300" y="5109673"/>
            <a:ext cx="1653950" cy="1653950"/>
          </a:xfrm>
          <a:prstGeom prst="rect">
            <a:avLst/>
          </a:prstGeom>
          <a:noFill/>
          <a:ln>
            <a:noFill/>
          </a:ln>
        </p:spPr>
      </p:pic>
      <p:sp>
        <p:nvSpPr>
          <p:cNvPr id="143" name="Google Shape;143;p20"/>
          <p:cNvSpPr txBox="1"/>
          <p:nvPr>
            <p:ph idx="1" type="body"/>
          </p:nvPr>
        </p:nvSpPr>
        <p:spPr>
          <a:xfrm>
            <a:off x="311700" y="2110775"/>
            <a:ext cx="1653900" cy="59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200">
                <a:solidFill>
                  <a:srgbClr val="0000FF"/>
                </a:solidFill>
              </a:rPr>
              <a:t>For us:</a:t>
            </a:r>
            <a:endParaRPr>
              <a:solidFill>
                <a:srgbClr val="0000FF"/>
              </a:solidFill>
            </a:endParaRPr>
          </a:p>
          <a:p>
            <a:pPr indent="0" lvl="0" marL="0" rtl="0" algn="l">
              <a:spcBef>
                <a:spcPts val="1200"/>
              </a:spcBef>
              <a:spcAft>
                <a:spcPts val="12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1"/>
          <p:cNvSpPr txBox="1"/>
          <p:nvPr>
            <p:ph type="title"/>
          </p:nvPr>
        </p:nvSpPr>
        <p:spPr>
          <a:xfrm>
            <a:off x="311700" y="26489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a Connection is Made (GAP)</a:t>
            </a:r>
            <a:endParaRPr/>
          </a:p>
        </p:txBody>
      </p:sp>
      <p:sp>
        <p:nvSpPr>
          <p:cNvPr id="149" name="Google Shape;149;p21"/>
          <p:cNvSpPr txBox="1"/>
          <p:nvPr>
            <p:ph idx="1" type="body"/>
          </p:nvPr>
        </p:nvSpPr>
        <p:spPr>
          <a:xfrm>
            <a:off x="311700" y="1104850"/>
            <a:ext cx="8520600" cy="2956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GAP = Generic Access Profile</a:t>
            </a:r>
            <a:endParaRPr/>
          </a:p>
          <a:p>
            <a:pPr indent="-342900" lvl="0" marL="457200" rtl="0" algn="l">
              <a:spcBef>
                <a:spcPts val="0"/>
              </a:spcBef>
              <a:spcAft>
                <a:spcPts val="0"/>
              </a:spcAft>
              <a:buSzPts val="1800"/>
              <a:buChar char="●"/>
            </a:pPr>
            <a:r>
              <a:rPr lang="en"/>
              <a:t>Controls connections and advertising in Bluetooth</a:t>
            </a:r>
            <a:endParaRPr/>
          </a:p>
          <a:p>
            <a:pPr indent="-342900" lvl="0" marL="457200" rtl="0" algn="l">
              <a:spcBef>
                <a:spcPts val="0"/>
              </a:spcBef>
              <a:spcAft>
                <a:spcPts val="0"/>
              </a:spcAft>
              <a:buSzPts val="1800"/>
              <a:buChar char="●"/>
            </a:pPr>
            <a:r>
              <a:rPr lang="en"/>
              <a:t>Peripheral advertises a short packet containing its name, supported services, and a unique identifier (called a Universally Unique Identifier or UUID)</a:t>
            </a:r>
            <a:endParaRPr/>
          </a:p>
          <a:p>
            <a:pPr indent="-342900" lvl="0" marL="457200" rtl="0" algn="l">
              <a:spcBef>
                <a:spcPts val="0"/>
              </a:spcBef>
              <a:spcAft>
                <a:spcPts val="0"/>
              </a:spcAft>
              <a:buSzPts val="1800"/>
              <a:buChar char="●"/>
            </a:pPr>
            <a:r>
              <a:rPr lang="en"/>
              <a:t>The central scans for advertisements, decides which device to connect to</a:t>
            </a:r>
            <a:endParaRPr/>
          </a:p>
          <a:p>
            <a:pPr indent="-342900" lvl="0" marL="457200" rtl="0" algn="l">
              <a:spcBef>
                <a:spcPts val="0"/>
              </a:spcBef>
              <a:spcAft>
                <a:spcPts val="0"/>
              </a:spcAft>
              <a:buSzPts val="1800"/>
              <a:buChar char="●"/>
            </a:pPr>
            <a:r>
              <a:rPr lang="en"/>
              <a:t>As soon as a connection is established, the peripheral will stop advertising itself and other devices will no longer be able to see it or connect to it until the existing connection is broken</a:t>
            </a:r>
            <a:endParaRPr/>
          </a:p>
          <a:p>
            <a:pPr indent="0" lvl="0" marL="0" rtl="0" algn="l">
              <a:spcBef>
                <a:spcPts val="1200"/>
              </a:spcBef>
              <a:spcAft>
                <a:spcPts val="1200"/>
              </a:spcAft>
              <a:buNone/>
            </a:pPr>
            <a:r>
              <a:t/>
            </a:r>
            <a:endParaRPr/>
          </a:p>
        </p:txBody>
      </p:sp>
      <p:sp>
        <p:nvSpPr>
          <p:cNvPr id="150" name="Google Shape;150;p2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51" name="Google Shape;151;p21"/>
          <p:cNvPicPr preferRelativeResize="0"/>
          <p:nvPr/>
        </p:nvPicPr>
        <p:blipFill rotWithShape="1">
          <a:blip r:embed="rId3">
            <a:alphaModFix/>
          </a:blip>
          <a:srcRect b="9676" l="0" r="0" t="16518"/>
          <a:stretch/>
        </p:blipFill>
        <p:spPr>
          <a:xfrm>
            <a:off x="2590775" y="5364875"/>
            <a:ext cx="1981226" cy="1462301"/>
          </a:xfrm>
          <a:prstGeom prst="rect">
            <a:avLst/>
          </a:prstGeom>
          <a:noFill/>
          <a:ln>
            <a:noFill/>
          </a:ln>
        </p:spPr>
      </p:pic>
      <p:sp>
        <p:nvSpPr>
          <p:cNvPr id="152" name="Google Shape;152;p21"/>
          <p:cNvSpPr/>
          <p:nvPr/>
        </p:nvSpPr>
        <p:spPr>
          <a:xfrm>
            <a:off x="252150" y="4011275"/>
            <a:ext cx="4180500" cy="1353600"/>
          </a:xfrm>
          <a:prstGeom prst="wedgeEllipseCallout">
            <a:avLst>
              <a:gd fmla="val 14444" name="adj1"/>
              <a:gd fmla="val 68390" name="adj2"/>
            </a:avLst>
          </a:prstGeom>
          <a:solidFill>
            <a:srgbClr val="CFE2F3"/>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000FF"/>
                </a:solidFill>
              </a:rPr>
              <a:t>Helllllloooooooo! I have data from my ENGS 28 team's final project for you, including temperature and motor speed! Interested? Anyone?</a:t>
            </a:r>
            <a:endParaRPr>
              <a:solidFill>
                <a:srgbClr val="0000FF"/>
              </a:solidFill>
            </a:endParaRPr>
          </a:p>
        </p:txBody>
      </p:sp>
      <p:pic>
        <p:nvPicPr>
          <p:cNvPr id="153" name="Google Shape;153;p21"/>
          <p:cNvPicPr preferRelativeResize="0"/>
          <p:nvPr/>
        </p:nvPicPr>
        <p:blipFill>
          <a:blip r:embed="rId4">
            <a:alphaModFix/>
          </a:blip>
          <a:stretch>
            <a:fillRect/>
          </a:stretch>
        </p:blipFill>
        <p:spPr>
          <a:xfrm>
            <a:off x="5116125" y="4996573"/>
            <a:ext cx="1653950" cy="1653950"/>
          </a:xfrm>
          <a:prstGeom prst="rect">
            <a:avLst/>
          </a:prstGeom>
          <a:noFill/>
          <a:ln>
            <a:noFill/>
          </a:ln>
        </p:spPr>
      </p:pic>
      <p:sp>
        <p:nvSpPr>
          <p:cNvPr id="154" name="Google Shape;154;p21"/>
          <p:cNvSpPr/>
          <p:nvPr/>
        </p:nvSpPr>
        <p:spPr>
          <a:xfrm>
            <a:off x="5633675" y="3642975"/>
            <a:ext cx="3145200" cy="1353600"/>
          </a:xfrm>
          <a:prstGeom prst="wedgeEllipseCallout">
            <a:avLst>
              <a:gd fmla="val -28795" name="adj1"/>
              <a:gd fmla="val 66186" name="adj2"/>
            </a:avLst>
          </a:prstGeom>
          <a:solidFill>
            <a:srgbClr val="D9EAD3"/>
          </a:solidFill>
          <a:ln cap="flat" cmpd="sng" w="9525">
            <a:solidFill>
              <a:srgbClr val="274E1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274E13"/>
                </a:solidFill>
              </a:rPr>
              <a:t>Found your service:</a:t>
            </a:r>
            <a:r>
              <a:rPr lang="en">
                <a:solidFill>
                  <a:srgbClr val="274E13"/>
                </a:solidFill>
              </a:rPr>
              <a:t> Let's talk! Send me temperature updates and let me </a:t>
            </a:r>
            <a:r>
              <a:rPr lang="en">
                <a:solidFill>
                  <a:srgbClr val="274E13"/>
                </a:solidFill>
              </a:rPr>
              <a:t>change</a:t>
            </a:r>
            <a:r>
              <a:rPr lang="en">
                <a:solidFill>
                  <a:srgbClr val="274E13"/>
                </a:solidFill>
              </a:rPr>
              <a:t> the motor speed!</a:t>
            </a:r>
            <a:endParaRPr>
              <a:solidFill>
                <a:srgbClr val="274E13"/>
              </a:solidFill>
            </a:endParaRPr>
          </a:p>
        </p:txBody>
      </p:sp>
      <p:sp>
        <p:nvSpPr>
          <p:cNvPr id="155" name="Google Shape;155;p21"/>
          <p:cNvSpPr/>
          <p:nvPr/>
        </p:nvSpPr>
        <p:spPr>
          <a:xfrm>
            <a:off x="4409425" y="5802925"/>
            <a:ext cx="1085100" cy="278700"/>
          </a:xfrm>
          <a:prstGeom prst="leftRightArrow">
            <a:avLst>
              <a:gd fmla="val 50000" name="adj1"/>
              <a:gd fmla="val 50000" name="adj2"/>
            </a:avLst>
          </a:prstGeom>
          <a:solidFill>
            <a:srgbClr val="D9EAD3"/>
          </a:solid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2"/>
          <p:cNvSpPr txBox="1"/>
          <p:nvPr>
            <p:ph type="title"/>
          </p:nvPr>
        </p:nvSpPr>
        <p:spPr>
          <a:xfrm>
            <a:off x="311700" y="3345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Communication Happens (GAAT Protocol)</a:t>
            </a:r>
            <a:endParaRPr/>
          </a:p>
        </p:txBody>
      </p:sp>
      <p:sp>
        <p:nvSpPr>
          <p:cNvPr id="161" name="Google Shape;161;p22"/>
          <p:cNvSpPr txBox="1"/>
          <p:nvPr>
            <p:ph idx="1" type="body"/>
          </p:nvPr>
        </p:nvSpPr>
        <p:spPr>
          <a:xfrm>
            <a:off x="311700" y="1184251"/>
            <a:ext cx="8520600" cy="4379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GAAT = Generic Attribute Profile</a:t>
            </a:r>
            <a:endParaRPr/>
          </a:p>
          <a:p>
            <a:pPr indent="-342900" lvl="0" marL="457200" rtl="0" algn="l">
              <a:spcBef>
                <a:spcPts val="0"/>
              </a:spcBef>
              <a:spcAft>
                <a:spcPts val="0"/>
              </a:spcAft>
              <a:buSzPts val="1800"/>
              <a:buChar char="●"/>
            </a:pPr>
            <a:r>
              <a:rPr lang="en"/>
              <a:t>D</a:t>
            </a:r>
            <a:r>
              <a:rPr lang="en"/>
              <a:t>efines how two BLE devices transfer data back and forth </a:t>
            </a:r>
            <a:endParaRPr/>
          </a:p>
          <a:p>
            <a:pPr indent="-342900" lvl="0" marL="457200" rtl="0" algn="l">
              <a:spcBef>
                <a:spcPts val="0"/>
              </a:spcBef>
              <a:spcAft>
                <a:spcPts val="0"/>
              </a:spcAft>
              <a:buSzPts val="1800"/>
              <a:buChar char="●"/>
            </a:pPr>
            <a:r>
              <a:rPr lang="en"/>
              <a:t>Is used once a dedicated connection is established between two devices</a:t>
            </a:r>
            <a:endParaRPr/>
          </a:p>
          <a:p>
            <a:pPr indent="0" lvl="0" marL="0" rtl="0" algn="l">
              <a:spcBef>
                <a:spcPts val="1200"/>
              </a:spcBef>
              <a:spcAft>
                <a:spcPts val="0"/>
              </a:spcAft>
              <a:buClr>
                <a:schemeClr val="dk1"/>
              </a:buClr>
              <a:buSzPts val="1100"/>
              <a:buFont typeface="Arial"/>
              <a:buNone/>
            </a:pPr>
            <a:r>
              <a:rPr lang="en">
                <a:solidFill>
                  <a:srgbClr val="0000FF"/>
                </a:solidFill>
              </a:rPr>
              <a:t>Peripheral (Server)                      Team 15 Bluefruit Device</a:t>
            </a:r>
            <a:endParaRPr>
              <a:solidFill>
                <a:srgbClr val="0000FF"/>
              </a:solidFill>
            </a:endParaRPr>
          </a:p>
          <a:p>
            <a:pPr indent="0" lvl="0" marL="0" rtl="0" algn="l">
              <a:spcBef>
                <a:spcPts val="0"/>
              </a:spcBef>
              <a:spcAft>
                <a:spcPts val="0"/>
              </a:spcAft>
              <a:buClr>
                <a:schemeClr val="dk1"/>
              </a:buClr>
              <a:buSzPts val="1100"/>
              <a:buFont typeface="Arial"/>
              <a:buNone/>
            </a:pPr>
            <a:r>
              <a:rPr lang="en"/>
              <a:t>   └── </a:t>
            </a:r>
            <a:r>
              <a:rPr lang="en">
                <a:solidFill>
                  <a:srgbClr val="990000"/>
                </a:solidFill>
              </a:rPr>
              <a:t>Service(s)</a:t>
            </a:r>
            <a:r>
              <a:rPr lang="en"/>
              <a:t>                           </a:t>
            </a:r>
            <a:r>
              <a:rPr lang="en"/>
              <a:t>└──</a:t>
            </a:r>
            <a:r>
              <a:rPr lang="en"/>
              <a:t> </a:t>
            </a:r>
            <a:r>
              <a:rPr lang="en">
                <a:solidFill>
                  <a:srgbClr val="990000"/>
                </a:solidFill>
              </a:rPr>
              <a:t>ENGS 28 Super Cool Final Project</a:t>
            </a:r>
            <a:endParaRPr>
              <a:solidFill>
                <a:srgbClr val="990000"/>
              </a:solidFill>
            </a:endParaRPr>
          </a:p>
          <a:p>
            <a:pPr indent="0" lvl="0" marL="0" rtl="0" algn="l">
              <a:spcBef>
                <a:spcPts val="0"/>
              </a:spcBef>
              <a:spcAft>
                <a:spcPts val="0"/>
              </a:spcAft>
              <a:buClr>
                <a:schemeClr val="dk1"/>
              </a:buClr>
              <a:buSzPts val="1100"/>
              <a:buFont typeface="Arial"/>
              <a:buNone/>
            </a:pPr>
            <a:r>
              <a:rPr lang="en"/>
              <a:t>               └── </a:t>
            </a:r>
            <a:r>
              <a:rPr lang="en">
                <a:solidFill>
                  <a:srgbClr val="274E13"/>
                </a:solidFill>
              </a:rPr>
              <a:t>Characteristic(s)</a:t>
            </a:r>
            <a:r>
              <a:rPr lang="en"/>
              <a:t>                </a:t>
            </a:r>
            <a:r>
              <a:rPr lang="en"/>
              <a:t>└── </a:t>
            </a:r>
            <a:r>
              <a:rPr lang="en">
                <a:solidFill>
                  <a:srgbClr val="274E13"/>
                </a:solidFill>
              </a:rPr>
              <a:t>Temperature</a:t>
            </a:r>
            <a:r>
              <a:rPr lang="en"/>
              <a:t>  └── </a:t>
            </a:r>
            <a:r>
              <a:rPr lang="en">
                <a:solidFill>
                  <a:srgbClr val="274E13"/>
                </a:solidFill>
              </a:rPr>
              <a:t>Motor</a:t>
            </a:r>
            <a:r>
              <a:rPr lang="en">
                <a:solidFill>
                  <a:srgbClr val="274E13"/>
                </a:solidFill>
              </a:rPr>
              <a:t> speed</a:t>
            </a:r>
            <a:endParaRPr>
              <a:solidFill>
                <a:srgbClr val="274E13"/>
              </a:solidFill>
            </a:endParaRPr>
          </a:p>
          <a:p>
            <a:pPr indent="0" lvl="0" marL="0" rtl="0" algn="l">
              <a:spcBef>
                <a:spcPts val="0"/>
              </a:spcBef>
              <a:spcAft>
                <a:spcPts val="0"/>
              </a:spcAft>
              <a:buNone/>
            </a:pPr>
            <a:r>
              <a:rPr lang="en"/>
              <a:t>                              └── </a:t>
            </a:r>
            <a:r>
              <a:rPr lang="en">
                <a:solidFill>
                  <a:srgbClr val="9900FF"/>
                </a:solidFill>
              </a:rPr>
              <a:t>Value</a:t>
            </a:r>
            <a:r>
              <a:rPr lang="en"/>
              <a:t>                             </a:t>
            </a:r>
            <a:r>
              <a:rPr lang="en"/>
              <a:t>└── </a:t>
            </a:r>
            <a:r>
              <a:rPr lang="en">
                <a:solidFill>
                  <a:srgbClr val="9900FF"/>
                </a:solidFill>
              </a:rPr>
              <a:t>72 °F</a:t>
            </a:r>
            <a:r>
              <a:rPr lang="en"/>
              <a:t>              └── </a:t>
            </a:r>
            <a:r>
              <a:rPr lang="en">
                <a:solidFill>
                  <a:srgbClr val="9900FF"/>
                </a:solidFill>
              </a:rPr>
              <a:t>65 rpm</a:t>
            </a:r>
            <a:endParaRPr>
              <a:solidFill>
                <a:srgbClr val="9900FF"/>
              </a:solidFill>
            </a:endParaRPr>
          </a:p>
          <a:p>
            <a:pPr indent="0" lvl="0" marL="0" rtl="0" algn="l">
              <a:spcBef>
                <a:spcPts val="0"/>
              </a:spcBef>
              <a:spcAft>
                <a:spcPts val="0"/>
              </a:spcAft>
              <a:buNone/>
            </a:pPr>
            <a:r>
              <a:rPr lang="en"/>
              <a:t>                              └── </a:t>
            </a:r>
            <a:r>
              <a:rPr lang="en">
                <a:solidFill>
                  <a:schemeClr val="accent5"/>
                </a:solidFill>
              </a:rPr>
              <a:t>Properties</a:t>
            </a:r>
            <a:r>
              <a:rPr lang="en"/>
              <a:t>                      └── </a:t>
            </a:r>
            <a:r>
              <a:rPr lang="en">
                <a:solidFill>
                  <a:schemeClr val="accent5"/>
                </a:solidFill>
              </a:rPr>
              <a:t>read</a:t>
            </a:r>
            <a:r>
              <a:rPr lang="en"/>
              <a:t>               └── </a:t>
            </a:r>
            <a:r>
              <a:rPr lang="en">
                <a:solidFill>
                  <a:schemeClr val="accent5"/>
                </a:solidFill>
              </a:rPr>
              <a:t>write</a:t>
            </a:r>
            <a:endParaRPr>
              <a:solidFill>
                <a:schemeClr val="accent5"/>
              </a:solidFill>
            </a:endParaRPr>
          </a:p>
          <a:p>
            <a:pPr indent="0" lvl="0" marL="0" rtl="0" algn="l">
              <a:spcBef>
                <a:spcPts val="0"/>
              </a:spcBef>
              <a:spcAft>
                <a:spcPts val="0"/>
              </a:spcAft>
              <a:buClr>
                <a:schemeClr val="dk1"/>
              </a:buClr>
              <a:buSzPts val="1100"/>
              <a:buFont typeface="Arial"/>
              <a:buNone/>
            </a:pPr>
            <a:r>
              <a:t/>
            </a:r>
            <a:endParaRPr/>
          </a:p>
          <a:p>
            <a:pPr indent="-342900" lvl="0" marL="457200" rtl="0" algn="l">
              <a:spcBef>
                <a:spcPts val="0"/>
              </a:spcBef>
              <a:spcAft>
                <a:spcPts val="0"/>
              </a:spcAft>
              <a:buClr>
                <a:srgbClr val="990000"/>
              </a:buClr>
              <a:buSzPts val="1800"/>
              <a:buChar char="●"/>
            </a:pPr>
            <a:r>
              <a:rPr lang="en">
                <a:solidFill>
                  <a:srgbClr val="990000"/>
                </a:solidFill>
              </a:rPr>
              <a:t>Service = category of functionality</a:t>
            </a:r>
            <a:endParaRPr>
              <a:solidFill>
                <a:srgbClr val="990000"/>
              </a:solidFill>
            </a:endParaRPr>
          </a:p>
          <a:p>
            <a:pPr indent="-342900" lvl="0" marL="457200" rtl="0" algn="l">
              <a:spcBef>
                <a:spcPts val="0"/>
              </a:spcBef>
              <a:spcAft>
                <a:spcPts val="0"/>
              </a:spcAft>
              <a:buClr>
                <a:srgbClr val="274E13"/>
              </a:buClr>
              <a:buSzPts val="1800"/>
              <a:buChar char="●"/>
            </a:pPr>
            <a:r>
              <a:rPr lang="en">
                <a:solidFill>
                  <a:srgbClr val="274E13"/>
                </a:solidFill>
              </a:rPr>
              <a:t>Characteristic = one piece of data</a:t>
            </a:r>
            <a:endParaRPr>
              <a:solidFill>
                <a:srgbClr val="274E13"/>
              </a:solidFill>
            </a:endParaRPr>
          </a:p>
          <a:p>
            <a:pPr indent="-342900" lvl="0" marL="457200" rtl="0" algn="l">
              <a:spcBef>
                <a:spcPts val="0"/>
              </a:spcBef>
              <a:spcAft>
                <a:spcPts val="0"/>
              </a:spcAft>
              <a:buClr>
                <a:srgbClr val="9900FF"/>
              </a:buClr>
              <a:buSzPts val="1800"/>
              <a:buChar char="●"/>
            </a:pPr>
            <a:r>
              <a:rPr lang="en">
                <a:solidFill>
                  <a:srgbClr val="9900FF"/>
                </a:solidFill>
              </a:rPr>
              <a:t>Value = the actual data</a:t>
            </a:r>
            <a:endParaRPr>
              <a:solidFill>
                <a:srgbClr val="9900FF"/>
              </a:solidFill>
            </a:endParaRPr>
          </a:p>
          <a:p>
            <a:pPr indent="-342900" lvl="0" marL="457200" rtl="0" algn="l">
              <a:spcBef>
                <a:spcPts val="0"/>
              </a:spcBef>
              <a:spcAft>
                <a:spcPts val="0"/>
              </a:spcAft>
              <a:buClr>
                <a:schemeClr val="accent5"/>
              </a:buClr>
              <a:buSzPts val="1800"/>
              <a:buChar char="●"/>
            </a:pPr>
            <a:r>
              <a:rPr lang="en">
                <a:solidFill>
                  <a:schemeClr val="accent5"/>
                </a:solidFill>
              </a:rPr>
              <a:t>Properties = read, write, notify, …</a:t>
            </a:r>
            <a:endParaRPr/>
          </a:p>
        </p:txBody>
      </p:sp>
      <p:sp>
        <p:nvSpPr>
          <p:cNvPr id="162" name="Google Shape;162;p2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3" name="Google Shape;163;p22"/>
          <p:cNvSpPr txBox="1"/>
          <p:nvPr/>
        </p:nvSpPr>
        <p:spPr>
          <a:xfrm>
            <a:off x="517575" y="5865675"/>
            <a:ext cx="1791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Central can request the current value.</a:t>
            </a:r>
            <a:endParaRPr>
              <a:solidFill>
                <a:schemeClr val="dk2"/>
              </a:solidFill>
            </a:endParaRPr>
          </a:p>
        </p:txBody>
      </p:sp>
      <p:sp>
        <p:nvSpPr>
          <p:cNvPr id="164" name="Google Shape;164;p22"/>
          <p:cNvSpPr txBox="1"/>
          <p:nvPr/>
        </p:nvSpPr>
        <p:spPr>
          <a:xfrm>
            <a:off x="2568125" y="5865675"/>
            <a:ext cx="1642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Central can send a new value.</a:t>
            </a:r>
            <a:endParaRPr>
              <a:solidFill>
                <a:schemeClr val="dk2"/>
              </a:solidFill>
            </a:endParaRPr>
          </a:p>
        </p:txBody>
      </p:sp>
      <p:sp>
        <p:nvSpPr>
          <p:cNvPr id="165" name="Google Shape;165;p22"/>
          <p:cNvSpPr txBox="1"/>
          <p:nvPr/>
        </p:nvSpPr>
        <p:spPr>
          <a:xfrm>
            <a:off x="4572000" y="5757825"/>
            <a:ext cx="21411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Peripheral can push a new value to the central whenever it changes.</a:t>
            </a:r>
            <a:endParaRPr>
              <a:solidFill>
                <a:schemeClr val="dk2"/>
              </a:solidFill>
            </a:endParaRPr>
          </a:p>
        </p:txBody>
      </p:sp>
      <p:cxnSp>
        <p:nvCxnSpPr>
          <p:cNvPr id="166" name="Google Shape;166;p22"/>
          <p:cNvCxnSpPr>
            <a:endCxn id="163" idx="0"/>
          </p:cNvCxnSpPr>
          <p:nvPr/>
        </p:nvCxnSpPr>
        <p:spPr>
          <a:xfrm flipH="1">
            <a:off x="1413375" y="5514375"/>
            <a:ext cx="895800" cy="351300"/>
          </a:xfrm>
          <a:prstGeom prst="straightConnector1">
            <a:avLst/>
          </a:prstGeom>
          <a:noFill/>
          <a:ln cap="flat" cmpd="sng" w="28575">
            <a:solidFill>
              <a:schemeClr val="accent5"/>
            </a:solidFill>
            <a:prstDash val="solid"/>
            <a:round/>
            <a:headEnd len="med" w="med" type="none"/>
            <a:tailEnd len="med" w="med" type="triangle"/>
          </a:ln>
        </p:spPr>
      </p:cxnSp>
      <p:cxnSp>
        <p:nvCxnSpPr>
          <p:cNvPr id="167" name="Google Shape;167;p22"/>
          <p:cNvCxnSpPr/>
          <p:nvPr/>
        </p:nvCxnSpPr>
        <p:spPr>
          <a:xfrm>
            <a:off x="2986025" y="5504175"/>
            <a:ext cx="199200" cy="408300"/>
          </a:xfrm>
          <a:prstGeom prst="straightConnector1">
            <a:avLst/>
          </a:prstGeom>
          <a:noFill/>
          <a:ln cap="flat" cmpd="sng" w="28575">
            <a:solidFill>
              <a:schemeClr val="accent5"/>
            </a:solidFill>
            <a:prstDash val="solid"/>
            <a:round/>
            <a:headEnd len="med" w="med" type="none"/>
            <a:tailEnd len="med" w="med" type="triangle"/>
          </a:ln>
        </p:spPr>
      </p:cxnSp>
      <p:cxnSp>
        <p:nvCxnSpPr>
          <p:cNvPr id="168" name="Google Shape;168;p22"/>
          <p:cNvCxnSpPr/>
          <p:nvPr/>
        </p:nvCxnSpPr>
        <p:spPr>
          <a:xfrm>
            <a:off x="3633150" y="5504325"/>
            <a:ext cx="1403400" cy="318600"/>
          </a:xfrm>
          <a:prstGeom prst="straightConnector1">
            <a:avLst/>
          </a:prstGeom>
          <a:noFill/>
          <a:ln cap="flat" cmpd="sng" w="28575">
            <a:solidFill>
              <a:schemeClr val="accent5"/>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3"/>
          <p:cNvSpPr txBox="1"/>
          <p:nvPr>
            <p:ph type="title"/>
          </p:nvPr>
        </p:nvSpPr>
        <p:spPr>
          <a:xfrm>
            <a:off x="311700" y="593375"/>
            <a:ext cx="32844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Key Takeaway</a:t>
            </a:r>
            <a:endParaRPr/>
          </a:p>
        </p:txBody>
      </p:sp>
      <p:sp>
        <p:nvSpPr>
          <p:cNvPr id="174" name="Google Shape;174;p23"/>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Peripheral wakes up</a:t>
            </a:r>
            <a:endParaRPr/>
          </a:p>
          <a:p>
            <a:pPr indent="-317500" lvl="1" marL="914400" rtl="0" algn="l">
              <a:spcBef>
                <a:spcPts val="0"/>
              </a:spcBef>
              <a:spcAft>
                <a:spcPts val="0"/>
              </a:spcAft>
              <a:buSzPts val="1400"/>
              <a:buChar char="○"/>
            </a:pPr>
            <a:r>
              <a:rPr lang="en"/>
              <a:t>Begins advertising</a:t>
            </a:r>
            <a:endParaRPr/>
          </a:p>
          <a:p>
            <a:pPr indent="-317500" lvl="1" marL="914400" rtl="0" algn="l">
              <a:spcBef>
                <a:spcPts val="0"/>
              </a:spcBef>
              <a:spcAft>
                <a:spcPts val="0"/>
              </a:spcAft>
              <a:buSzPts val="1400"/>
              <a:buChar char="○"/>
            </a:pPr>
            <a:r>
              <a:rPr lang="en"/>
              <a:t>Announces available services &amp; characteristics</a:t>
            </a:r>
            <a:endParaRPr/>
          </a:p>
          <a:p>
            <a:pPr indent="-342900" lvl="0" marL="457200" rtl="0" algn="l">
              <a:spcBef>
                <a:spcPts val="0"/>
              </a:spcBef>
              <a:spcAft>
                <a:spcPts val="0"/>
              </a:spcAft>
              <a:buSzPts val="1800"/>
              <a:buChar char="●"/>
            </a:pPr>
            <a:r>
              <a:rPr lang="en"/>
              <a:t>Each characteristic defines its rules </a:t>
            </a:r>
            <a:endParaRPr/>
          </a:p>
          <a:p>
            <a:pPr indent="-317500" lvl="1" marL="914400" rtl="0" algn="l">
              <a:spcBef>
                <a:spcPts val="0"/>
              </a:spcBef>
              <a:spcAft>
                <a:spcPts val="0"/>
              </a:spcAft>
              <a:buSzPts val="1400"/>
              <a:buChar char="○"/>
            </a:pPr>
            <a:r>
              <a:rPr lang="en"/>
              <a:t>Whether it can be written, read, etc</a:t>
            </a:r>
            <a:endParaRPr/>
          </a:p>
          <a:p>
            <a:pPr indent="-317500" lvl="1" marL="914400" rtl="0" algn="l">
              <a:spcBef>
                <a:spcPts val="0"/>
              </a:spcBef>
              <a:spcAft>
                <a:spcPts val="0"/>
              </a:spcAft>
              <a:buSzPts val="1400"/>
              <a:buChar char="○"/>
            </a:pPr>
            <a:r>
              <a:rPr lang="en"/>
              <a:t>These rules define how the client can interact with the characteristics</a:t>
            </a:r>
            <a:endParaRPr/>
          </a:p>
          <a:p>
            <a:pPr indent="-342900" lvl="0" marL="457200" rtl="0" algn="l">
              <a:spcBef>
                <a:spcPts val="0"/>
              </a:spcBef>
              <a:spcAft>
                <a:spcPts val="0"/>
              </a:spcAft>
              <a:buSzPts val="1800"/>
              <a:buChar char="●"/>
            </a:pPr>
            <a:r>
              <a:rPr lang="en"/>
              <a:t>Analogy: Message board</a:t>
            </a:r>
            <a:endParaRPr/>
          </a:p>
          <a:p>
            <a:pPr indent="-317500" lvl="1" marL="914400" rtl="0" algn="l">
              <a:spcBef>
                <a:spcPts val="0"/>
              </a:spcBef>
              <a:spcAft>
                <a:spcPts val="0"/>
              </a:spcAft>
              <a:buSzPts val="1400"/>
              <a:buChar char="○"/>
            </a:pPr>
            <a:r>
              <a:rPr lang="en"/>
              <a:t>Peripheral</a:t>
            </a:r>
            <a:r>
              <a:rPr lang="en"/>
              <a:t> periodically pins a note </a:t>
            </a:r>
            <a:br>
              <a:rPr lang="en"/>
            </a:br>
            <a:r>
              <a:rPr lang="en"/>
              <a:t>to a public board</a:t>
            </a:r>
            <a:endParaRPr/>
          </a:p>
          <a:p>
            <a:pPr indent="-317500" lvl="1" marL="914400" rtl="0" algn="l">
              <a:spcBef>
                <a:spcPts val="0"/>
              </a:spcBef>
              <a:spcAft>
                <a:spcPts val="0"/>
              </a:spcAft>
              <a:buSzPts val="1400"/>
              <a:buChar char="○"/>
            </a:pPr>
            <a:r>
              <a:rPr lang="en"/>
              <a:t>Central occasionally checks the board</a:t>
            </a:r>
            <a:br>
              <a:rPr lang="en"/>
            </a:br>
            <a:r>
              <a:rPr lang="en"/>
              <a:t>for updates</a:t>
            </a:r>
            <a:endParaRPr/>
          </a:p>
          <a:p>
            <a:pPr indent="-317500" lvl="1" marL="914400" rtl="0" algn="l">
              <a:spcBef>
                <a:spcPts val="0"/>
              </a:spcBef>
              <a:spcAft>
                <a:spcPts val="0"/>
              </a:spcAft>
              <a:buSzPts val="1400"/>
              <a:buChar char="○"/>
            </a:pPr>
            <a:r>
              <a:rPr lang="en"/>
              <a:t>No constant conversation</a:t>
            </a:r>
            <a:endParaRPr/>
          </a:p>
          <a:p>
            <a:pPr indent="-317500" lvl="1" marL="914400" rtl="0" algn="l">
              <a:spcBef>
                <a:spcPts val="0"/>
              </a:spcBef>
              <a:spcAft>
                <a:spcPts val="0"/>
              </a:spcAft>
              <a:buSzPts val="1400"/>
              <a:buChar char="○"/>
            </a:pPr>
            <a:r>
              <a:rPr lang="en"/>
              <a:t>Just structured updates when needed</a:t>
            </a:r>
            <a:endParaRPr/>
          </a:p>
        </p:txBody>
      </p:sp>
      <p:sp>
        <p:nvSpPr>
          <p:cNvPr id="175" name="Google Shape;175;p2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76" name="Google Shape;176;p23"/>
          <p:cNvPicPr preferRelativeResize="0"/>
          <p:nvPr/>
        </p:nvPicPr>
        <p:blipFill rotWithShape="1">
          <a:blip r:embed="rId3">
            <a:alphaModFix/>
          </a:blip>
          <a:srcRect b="13061" l="6412" r="5638" t="13647"/>
          <a:stretch/>
        </p:blipFill>
        <p:spPr>
          <a:xfrm>
            <a:off x="4946901" y="3429000"/>
            <a:ext cx="3603200" cy="3002675"/>
          </a:xfrm>
          <a:prstGeom prst="rect">
            <a:avLst/>
          </a:prstGeom>
          <a:noFill/>
          <a:ln>
            <a:noFill/>
          </a:ln>
        </p:spPr>
      </p:pic>
      <p:pic>
        <p:nvPicPr>
          <p:cNvPr id="177" name="Google Shape;177;p23"/>
          <p:cNvPicPr preferRelativeResize="0"/>
          <p:nvPr/>
        </p:nvPicPr>
        <p:blipFill rotWithShape="1">
          <a:blip r:embed="rId4">
            <a:alphaModFix/>
          </a:blip>
          <a:srcRect b="9676" l="0" r="0" t="16518"/>
          <a:stretch/>
        </p:blipFill>
        <p:spPr>
          <a:xfrm>
            <a:off x="3596050" y="1142025"/>
            <a:ext cx="1350850" cy="997026"/>
          </a:xfrm>
          <a:prstGeom prst="rect">
            <a:avLst/>
          </a:prstGeom>
          <a:noFill/>
          <a:ln>
            <a:noFill/>
          </a:ln>
        </p:spPr>
      </p:pic>
      <p:pic>
        <p:nvPicPr>
          <p:cNvPr id="178" name="Google Shape;178;p23" title="Screenshot 2026-02-18 at 4.19.13 PM.png"/>
          <p:cNvPicPr preferRelativeResize="0"/>
          <p:nvPr/>
        </p:nvPicPr>
        <p:blipFill>
          <a:blip r:embed="rId5">
            <a:alphaModFix/>
          </a:blip>
          <a:stretch>
            <a:fillRect/>
          </a:stretch>
        </p:blipFill>
        <p:spPr>
          <a:xfrm>
            <a:off x="4492370" y="916825"/>
            <a:ext cx="626063" cy="5247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4"/>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Adafruit Bluefruit LE UART Friend</a:t>
            </a:r>
            <a:endParaRPr/>
          </a:p>
        </p:txBody>
      </p:sp>
      <p:sp>
        <p:nvSpPr>
          <p:cNvPr id="184" name="Google Shape;184;p24"/>
          <p:cNvSpPr txBox="1"/>
          <p:nvPr>
            <p:ph idx="1" type="body"/>
          </p:nvPr>
        </p:nvSpPr>
        <p:spPr>
          <a:xfrm>
            <a:off x="311700" y="1536630"/>
            <a:ext cx="8520600" cy="1796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Connects to your Nucleo via USART</a:t>
            </a:r>
            <a:endParaRPr/>
          </a:p>
          <a:p>
            <a:pPr indent="-342900" lvl="0" marL="457200" rtl="0" algn="l">
              <a:spcBef>
                <a:spcPts val="0"/>
              </a:spcBef>
              <a:spcAft>
                <a:spcPts val="0"/>
              </a:spcAft>
              <a:buSzPts val="1800"/>
              <a:buChar char="●"/>
            </a:pPr>
            <a:r>
              <a:rPr lang="en"/>
              <a:t>T</a:t>
            </a:r>
            <a:r>
              <a:rPr lang="en"/>
              <a:t>wo operating modes:</a:t>
            </a:r>
            <a:endParaRPr/>
          </a:p>
          <a:p>
            <a:pPr indent="-317500" lvl="1" marL="914400" rtl="0" algn="l">
              <a:spcBef>
                <a:spcPts val="0"/>
              </a:spcBef>
              <a:spcAft>
                <a:spcPts val="0"/>
              </a:spcAft>
              <a:buSzPts val="1400"/>
              <a:buChar char="○"/>
            </a:pPr>
            <a:r>
              <a:rPr lang="en"/>
              <a:t>Command mode – the device listens for AT commands (AT+…).</a:t>
            </a:r>
            <a:endParaRPr/>
          </a:p>
          <a:p>
            <a:pPr indent="-317500" lvl="1" marL="914400" rtl="0" algn="l">
              <a:spcBef>
                <a:spcPts val="0"/>
              </a:spcBef>
              <a:spcAft>
                <a:spcPts val="0"/>
              </a:spcAft>
              <a:buSzPts val="1400"/>
              <a:buChar char="○"/>
            </a:pPr>
            <a:r>
              <a:rPr lang="en"/>
              <a:t>Data (transparent) mode – the device streams raw data to a participating central device.</a:t>
            </a:r>
            <a:endParaRPr/>
          </a:p>
          <a:p>
            <a:pPr indent="-342900" lvl="0" marL="457200" rtl="0" algn="l">
              <a:spcBef>
                <a:spcPts val="0"/>
              </a:spcBef>
              <a:spcAft>
                <a:spcPts val="0"/>
              </a:spcAft>
              <a:buSzPts val="1800"/>
              <a:buChar char="●"/>
            </a:pPr>
            <a:r>
              <a:rPr lang="en"/>
              <a:t>Built‑in LED – useful for debugging the connection state.</a:t>
            </a:r>
            <a:endParaRPr/>
          </a:p>
        </p:txBody>
      </p:sp>
      <p:sp>
        <p:nvSpPr>
          <p:cNvPr id="185" name="Google Shape;185;p2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86" name="Google Shape;186;p24"/>
          <p:cNvPicPr preferRelativeResize="0"/>
          <p:nvPr/>
        </p:nvPicPr>
        <p:blipFill rotWithShape="1">
          <a:blip r:embed="rId3">
            <a:alphaModFix/>
          </a:blip>
          <a:srcRect b="10542" l="13007" r="10663" t="13511"/>
          <a:stretch/>
        </p:blipFill>
        <p:spPr>
          <a:xfrm>
            <a:off x="311700" y="4043750"/>
            <a:ext cx="3114772" cy="2445400"/>
          </a:xfrm>
          <a:prstGeom prst="rect">
            <a:avLst/>
          </a:prstGeom>
          <a:noFill/>
          <a:ln>
            <a:noFill/>
          </a:ln>
        </p:spPr>
      </p:pic>
      <p:pic>
        <p:nvPicPr>
          <p:cNvPr id="187" name="Google Shape;187;p24"/>
          <p:cNvPicPr preferRelativeResize="0"/>
          <p:nvPr/>
        </p:nvPicPr>
        <p:blipFill rotWithShape="1">
          <a:blip r:embed="rId4">
            <a:alphaModFix/>
          </a:blip>
          <a:srcRect b="9676" l="0" r="0" t="16518"/>
          <a:stretch/>
        </p:blipFill>
        <p:spPr>
          <a:xfrm>
            <a:off x="2918050" y="3333331"/>
            <a:ext cx="1653950" cy="1220744"/>
          </a:xfrm>
          <a:prstGeom prst="rect">
            <a:avLst/>
          </a:prstGeom>
          <a:noFill/>
          <a:ln>
            <a:noFill/>
          </a:ln>
        </p:spPr>
      </p:pic>
      <p:pic>
        <p:nvPicPr>
          <p:cNvPr id="188" name="Google Shape;188;p24"/>
          <p:cNvPicPr preferRelativeResize="0"/>
          <p:nvPr/>
        </p:nvPicPr>
        <p:blipFill>
          <a:blip r:embed="rId5">
            <a:alphaModFix/>
          </a:blip>
          <a:stretch>
            <a:fillRect/>
          </a:stretch>
        </p:blipFill>
        <p:spPr>
          <a:xfrm>
            <a:off x="6818500" y="4371948"/>
            <a:ext cx="1653950" cy="1653950"/>
          </a:xfrm>
          <a:prstGeom prst="rect">
            <a:avLst/>
          </a:prstGeom>
          <a:noFill/>
          <a:ln>
            <a:noFill/>
          </a:ln>
        </p:spPr>
      </p:pic>
      <p:cxnSp>
        <p:nvCxnSpPr>
          <p:cNvPr id="189" name="Google Shape;189;p24"/>
          <p:cNvCxnSpPr/>
          <p:nvPr/>
        </p:nvCxnSpPr>
        <p:spPr>
          <a:xfrm flipH="1">
            <a:off x="2554425" y="4262350"/>
            <a:ext cx="970200" cy="314400"/>
          </a:xfrm>
          <a:prstGeom prst="straightConnector1">
            <a:avLst/>
          </a:prstGeom>
          <a:noFill/>
          <a:ln cap="flat" cmpd="sng" w="28575">
            <a:solidFill>
              <a:schemeClr val="dk2"/>
            </a:solidFill>
            <a:prstDash val="solid"/>
            <a:round/>
            <a:headEnd len="med" w="med" type="triangle"/>
            <a:tailEnd len="med" w="med" type="triangle"/>
          </a:ln>
        </p:spPr>
      </p:cxnSp>
      <p:sp>
        <p:nvSpPr>
          <p:cNvPr id="190" name="Google Shape;190;p24"/>
          <p:cNvSpPr txBox="1"/>
          <p:nvPr/>
        </p:nvSpPr>
        <p:spPr>
          <a:xfrm rot="-1004437">
            <a:off x="2816322" y="4396808"/>
            <a:ext cx="994655" cy="415706"/>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dk2"/>
                </a:solidFill>
              </a:rPr>
              <a:t>USART1</a:t>
            </a:r>
            <a:endParaRPr b="1" sz="1500">
              <a:solidFill>
                <a:schemeClr val="dk2"/>
              </a:solidFill>
            </a:endParaRPr>
          </a:p>
        </p:txBody>
      </p:sp>
      <p:sp>
        <p:nvSpPr>
          <p:cNvPr id="191" name="Google Shape;191;p24"/>
          <p:cNvSpPr/>
          <p:nvPr/>
        </p:nvSpPr>
        <p:spPr>
          <a:xfrm>
            <a:off x="4357975" y="3251350"/>
            <a:ext cx="2240400" cy="1011000"/>
          </a:xfrm>
          <a:prstGeom prst="wedgeEllipseCallout">
            <a:avLst>
              <a:gd fmla="val -63415" name="adj1"/>
              <a:gd fmla="val -1350" name="adj2"/>
            </a:avLst>
          </a:prstGeom>
          <a:solidFill>
            <a:srgbClr val="CFE2F3"/>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000FF"/>
                </a:solidFill>
              </a:rPr>
              <a:t>I can offer a USART service!</a:t>
            </a:r>
            <a:endParaRPr>
              <a:solidFill>
                <a:srgbClr val="0000FF"/>
              </a:solidFill>
            </a:endParaRPr>
          </a:p>
        </p:txBody>
      </p:sp>
      <p:sp>
        <p:nvSpPr>
          <p:cNvPr id="192" name="Google Shape;192;p24"/>
          <p:cNvSpPr/>
          <p:nvPr/>
        </p:nvSpPr>
        <p:spPr>
          <a:xfrm>
            <a:off x="7127550" y="3388100"/>
            <a:ext cx="1893600" cy="1111200"/>
          </a:xfrm>
          <a:prstGeom prst="wedgeEllipseCallout">
            <a:avLst>
              <a:gd fmla="val -28795" name="adj1"/>
              <a:gd fmla="val 66186" name="adj2"/>
            </a:avLst>
          </a:prstGeom>
          <a:solidFill>
            <a:srgbClr val="D9EAD3"/>
          </a:solidFill>
          <a:ln cap="flat" cmpd="sng" w="9525">
            <a:solidFill>
              <a:srgbClr val="274E1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274E13"/>
                </a:solidFill>
              </a:rPr>
              <a:t>Let me subscribe to the UART service!</a:t>
            </a:r>
            <a:endParaRPr>
              <a:solidFill>
                <a:srgbClr val="274E13"/>
              </a:solidFill>
            </a:endParaRPr>
          </a:p>
        </p:txBody>
      </p:sp>
      <p:cxnSp>
        <p:nvCxnSpPr>
          <p:cNvPr id="193" name="Google Shape;193;p24"/>
          <p:cNvCxnSpPr/>
          <p:nvPr/>
        </p:nvCxnSpPr>
        <p:spPr>
          <a:xfrm rot="10800000">
            <a:off x="4207700" y="4248675"/>
            <a:ext cx="2896200" cy="888000"/>
          </a:xfrm>
          <a:prstGeom prst="straightConnector1">
            <a:avLst/>
          </a:prstGeom>
          <a:noFill/>
          <a:ln cap="flat" cmpd="sng" w="28575">
            <a:solidFill>
              <a:schemeClr val="dk2"/>
            </a:solidFill>
            <a:prstDash val="solid"/>
            <a:round/>
            <a:headEnd len="med" w="med" type="triangle"/>
            <a:tailEnd len="med" w="med" type="triangle"/>
          </a:ln>
        </p:spPr>
      </p:cxnSp>
      <p:sp>
        <p:nvSpPr>
          <p:cNvPr id="194" name="Google Shape;194;p24"/>
          <p:cNvSpPr txBox="1"/>
          <p:nvPr/>
        </p:nvSpPr>
        <p:spPr>
          <a:xfrm rot="960058">
            <a:off x="4371805" y="4696971"/>
            <a:ext cx="2251739" cy="415708"/>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dk2"/>
                </a:solidFill>
              </a:rPr>
              <a:t>USART Passthrough</a:t>
            </a:r>
            <a:endParaRPr b="1" sz="1500">
              <a:solidFill>
                <a:schemeClr val="dk2"/>
              </a:solidFill>
            </a:endParaRPr>
          </a:p>
        </p:txBody>
      </p:sp>
      <p:sp>
        <p:nvSpPr>
          <p:cNvPr id="195" name="Google Shape;195;p24"/>
          <p:cNvSpPr txBox="1"/>
          <p:nvPr/>
        </p:nvSpPr>
        <p:spPr>
          <a:xfrm>
            <a:off x="3426475" y="5414975"/>
            <a:ext cx="3171900" cy="1293000"/>
          </a:xfrm>
          <a:prstGeom prst="rect">
            <a:avLst/>
          </a:prstGeom>
          <a:solidFill>
            <a:srgbClr val="F4CCCC"/>
          </a:solidFill>
          <a:ln cap="flat" cmpd="sng" w="9525">
            <a:solidFill>
              <a:srgbClr val="99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990000"/>
                </a:solidFill>
              </a:rPr>
              <a:t>Outcome:</a:t>
            </a:r>
            <a:endParaRPr b="1" sz="1800">
              <a:solidFill>
                <a:srgbClr val="990000"/>
              </a:solidFill>
            </a:endParaRPr>
          </a:p>
          <a:p>
            <a:pPr indent="0" lvl="0" marL="0" rtl="0" algn="l">
              <a:spcBef>
                <a:spcPts val="0"/>
              </a:spcBef>
              <a:spcAft>
                <a:spcPts val="0"/>
              </a:spcAft>
              <a:buNone/>
            </a:pPr>
            <a:r>
              <a:rPr lang="en" sz="1800">
                <a:solidFill>
                  <a:srgbClr val="990000"/>
                </a:solidFill>
              </a:rPr>
              <a:t>Nucleo and phone can talk to each </a:t>
            </a:r>
            <a:r>
              <a:rPr lang="en" sz="1800">
                <a:solidFill>
                  <a:srgbClr val="990000"/>
                </a:solidFill>
              </a:rPr>
              <a:t>other</a:t>
            </a:r>
            <a:r>
              <a:rPr lang="en" sz="1800">
                <a:solidFill>
                  <a:srgbClr val="990000"/>
                </a:solidFill>
              </a:rPr>
              <a:t> as if they had a direct USART connection.</a:t>
            </a:r>
            <a:endParaRPr sz="1800">
              <a:solidFill>
                <a:srgbClr val="990000"/>
              </a:solidFill>
            </a:endParaRPr>
          </a:p>
        </p:txBody>
      </p:sp>
      <p:pic>
        <p:nvPicPr>
          <p:cNvPr id="196" name="Google Shape;196;p24"/>
          <p:cNvPicPr preferRelativeResize="0"/>
          <p:nvPr/>
        </p:nvPicPr>
        <p:blipFill>
          <a:blip r:embed="rId6">
            <a:alphaModFix/>
          </a:blip>
          <a:stretch>
            <a:fillRect/>
          </a:stretch>
        </p:blipFill>
        <p:spPr>
          <a:xfrm>
            <a:off x="7430724" y="4984174"/>
            <a:ext cx="429500" cy="429500"/>
          </a:xfrm>
          <a:prstGeom prst="rect">
            <a:avLst/>
          </a:prstGeom>
          <a:noFill/>
          <a:ln>
            <a:noFill/>
          </a:ln>
        </p:spPr>
      </p:pic>
      <p:sp>
        <p:nvSpPr>
          <p:cNvPr id="197" name="Google Shape;197;p24"/>
          <p:cNvSpPr txBox="1"/>
          <p:nvPr/>
        </p:nvSpPr>
        <p:spPr>
          <a:xfrm>
            <a:off x="7127550" y="5843900"/>
            <a:ext cx="1401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2A00FF"/>
                </a:solidFill>
              </a:rPr>
              <a:t>Adafruit Bluefruit LE Connect App</a:t>
            </a:r>
            <a:endParaRPr sz="1200">
              <a:solidFill>
                <a:srgbClr val="2A00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Using the USART1 and Hardware Flow Control</a:t>
            </a:r>
            <a:endParaRPr/>
          </a:p>
        </p:txBody>
      </p:sp>
      <p:sp>
        <p:nvSpPr>
          <p:cNvPr id="203" name="Google Shape;203;p25"/>
          <p:cNvSpPr txBox="1"/>
          <p:nvPr>
            <p:ph idx="1" type="body"/>
          </p:nvPr>
        </p:nvSpPr>
        <p:spPr>
          <a:xfrm>
            <a:off x="311700" y="1356875"/>
            <a:ext cx="8520600" cy="259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a:t>
            </a:r>
            <a:r>
              <a:rPr lang="en"/>
              <a:t>Bluefruit device requires the use of USART1 and the use of hardware based flow control. </a:t>
            </a:r>
            <a:endParaRPr/>
          </a:p>
          <a:p>
            <a:pPr indent="-342900" lvl="0" marL="457200" rtl="0" algn="l">
              <a:spcBef>
                <a:spcPts val="1200"/>
              </a:spcBef>
              <a:spcAft>
                <a:spcPts val="0"/>
              </a:spcAft>
              <a:buSzPts val="1800"/>
              <a:buChar char="●"/>
            </a:pPr>
            <a:r>
              <a:rPr lang="en"/>
              <a:t>Read the details of USART1 in the reference manual to understand how to enable this feature. </a:t>
            </a:r>
            <a:endParaRPr/>
          </a:p>
          <a:p>
            <a:pPr indent="-342900" lvl="0" marL="457200" rtl="0" algn="l">
              <a:spcBef>
                <a:spcPts val="0"/>
              </a:spcBef>
              <a:spcAft>
                <a:spcPts val="0"/>
              </a:spcAft>
              <a:buSzPts val="1800"/>
              <a:buChar char="●"/>
            </a:pPr>
            <a:r>
              <a:rPr lang="en"/>
              <a:t>Once you understand how to enable it, examine the alternate function mappings in the product data sheet. You will need to decide which physical pins you will use for the 4 USART1 signals.</a:t>
            </a:r>
            <a:endParaRPr/>
          </a:p>
          <a:p>
            <a:pPr indent="0" lvl="0" marL="0" rtl="0" algn="l">
              <a:spcBef>
                <a:spcPts val="1200"/>
              </a:spcBef>
              <a:spcAft>
                <a:spcPts val="1200"/>
              </a:spcAft>
              <a:buNone/>
            </a:pPr>
            <a:r>
              <a:t/>
            </a:r>
            <a:endParaRPr/>
          </a:p>
        </p:txBody>
      </p:sp>
      <p:sp>
        <p:nvSpPr>
          <p:cNvPr id="204" name="Google Shape;204;p2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205" name="Google Shape;205;p25"/>
          <p:cNvGraphicFramePr/>
          <p:nvPr/>
        </p:nvGraphicFramePr>
        <p:xfrm>
          <a:off x="952500" y="4238825"/>
          <a:ext cx="3000000" cy="3000000"/>
        </p:xfrm>
        <a:graphic>
          <a:graphicData uri="http://schemas.openxmlformats.org/drawingml/2006/table">
            <a:tbl>
              <a:tblPr>
                <a:noFill/>
                <a:tableStyleId>{BF0E6742-A1B7-4A8F-9146-8391ED4D20DB}</a:tableStyleId>
              </a:tblPr>
              <a:tblGrid>
                <a:gridCol w="1809750"/>
                <a:gridCol w="1809750"/>
                <a:gridCol w="1809750"/>
                <a:gridCol w="1809750"/>
              </a:tblGrid>
              <a:tr h="381000">
                <a:tc>
                  <a:txBody>
                    <a:bodyPr/>
                    <a:lstStyle/>
                    <a:p>
                      <a:pPr indent="0" lvl="0" marL="0" rtl="0" algn="l">
                        <a:spcBef>
                          <a:spcPts val="0"/>
                        </a:spcBef>
                        <a:spcAft>
                          <a:spcPts val="0"/>
                        </a:spcAft>
                        <a:buNone/>
                      </a:pPr>
                      <a:r>
                        <a:rPr b="1" lang="en" sz="1600"/>
                        <a:t>USART Function</a:t>
                      </a:r>
                      <a:endParaRPr b="1" sz="1600"/>
                    </a:p>
                  </a:txBody>
                  <a:tcPr marT="91425" marB="91425" marR="91425" marL="91425"/>
                </a:tc>
                <a:tc>
                  <a:txBody>
                    <a:bodyPr/>
                    <a:lstStyle/>
                    <a:p>
                      <a:pPr indent="0" lvl="0" marL="0" rtl="0" algn="l">
                        <a:spcBef>
                          <a:spcPts val="0"/>
                        </a:spcBef>
                        <a:spcAft>
                          <a:spcPts val="0"/>
                        </a:spcAft>
                        <a:buNone/>
                      </a:pPr>
                      <a:r>
                        <a:rPr b="1" lang="en" sz="1600"/>
                        <a:t>Port/Pin</a:t>
                      </a:r>
                      <a:endParaRPr b="1" sz="1600"/>
                    </a:p>
                  </a:txBody>
                  <a:tcPr marT="91425" marB="91425" marR="91425" marL="91425"/>
                </a:tc>
                <a:tc>
                  <a:txBody>
                    <a:bodyPr/>
                    <a:lstStyle/>
                    <a:p>
                      <a:pPr indent="0" lvl="0" marL="0" rtl="0" algn="l">
                        <a:spcBef>
                          <a:spcPts val="0"/>
                        </a:spcBef>
                        <a:spcAft>
                          <a:spcPts val="0"/>
                        </a:spcAft>
                        <a:buNone/>
                      </a:pPr>
                      <a:r>
                        <a:rPr b="1" lang="en" sz="1600"/>
                        <a:t>Alt Function</a:t>
                      </a:r>
                      <a:endParaRPr b="1" sz="1600"/>
                    </a:p>
                  </a:txBody>
                  <a:tcPr marT="91425" marB="91425" marR="91425" marL="91425"/>
                </a:tc>
                <a:tc>
                  <a:txBody>
                    <a:bodyPr/>
                    <a:lstStyle/>
                    <a:p>
                      <a:pPr indent="0" lvl="0" marL="0" rtl="0" algn="l">
                        <a:spcBef>
                          <a:spcPts val="0"/>
                        </a:spcBef>
                        <a:spcAft>
                          <a:spcPts val="0"/>
                        </a:spcAft>
                        <a:buNone/>
                      </a:pPr>
                      <a:r>
                        <a:rPr b="1" lang="en" sz="1600"/>
                        <a:t>Bluefruit Pin</a:t>
                      </a:r>
                      <a:endParaRPr b="1" sz="1600"/>
                    </a:p>
                  </a:txBody>
                  <a:tcPr marT="91425" marB="91425" marR="91425" marL="91425"/>
                </a:tc>
              </a:tr>
              <a:tr h="381000">
                <a:tc>
                  <a:txBody>
                    <a:bodyPr/>
                    <a:lstStyle/>
                    <a:p>
                      <a:pPr indent="0" lvl="0" marL="0" rtl="0" algn="l">
                        <a:spcBef>
                          <a:spcPts val="0"/>
                        </a:spcBef>
                        <a:spcAft>
                          <a:spcPts val="0"/>
                        </a:spcAft>
                        <a:buNone/>
                      </a:pPr>
                      <a:r>
                        <a:rPr lang="en"/>
                        <a:t>USART1_TX</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
                        <a:t>RXI</a:t>
                      </a:r>
                      <a:endParaRPr/>
                    </a:p>
                  </a:txBody>
                  <a:tcPr marT="91425" marB="91425" marR="91425" marL="91425"/>
                </a:tc>
              </a:tr>
              <a:tr h="381000">
                <a:tc>
                  <a:txBody>
                    <a:bodyPr/>
                    <a:lstStyle/>
                    <a:p>
                      <a:pPr indent="0" lvl="0" marL="0" rtl="0" algn="l">
                        <a:spcBef>
                          <a:spcPts val="0"/>
                        </a:spcBef>
                        <a:spcAft>
                          <a:spcPts val="0"/>
                        </a:spcAft>
                        <a:buNone/>
                      </a:pPr>
                      <a:r>
                        <a:rPr lang="en"/>
                        <a:t>USART1_RX</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rPr lang="en"/>
                        <a:t>USART1_CTS</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rPr lang="en"/>
                        <a:t>USART1_RTS</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
                        <a:t>CTS</a:t>
                      </a:r>
                      <a:endParaRPr/>
                    </a:p>
                  </a:txBody>
                  <a:tcPr marT="91425" marB="91425" marR="91425" marL="91425"/>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Write your USART1 driver</a:t>
            </a:r>
            <a:endParaRPr/>
          </a:p>
        </p:txBody>
      </p:sp>
      <p:sp>
        <p:nvSpPr>
          <p:cNvPr id="211" name="Google Shape;211;p26"/>
          <p:cNvSpPr txBox="1"/>
          <p:nvPr>
            <p:ph idx="1" type="body"/>
          </p:nvPr>
        </p:nvSpPr>
        <p:spPr>
          <a:xfrm>
            <a:off x="311700" y="1536625"/>
            <a:ext cx="8520600" cy="468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Write USART1_init():</a:t>
            </a:r>
            <a:endParaRPr b="1"/>
          </a:p>
          <a:p>
            <a:pPr indent="-342900" lvl="0" marL="457200" rtl="0" algn="l">
              <a:spcBef>
                <a:spcPts val="1200"/>
              </a:spcBef>
              <a:spcAft>
                <a:spcPts val="0"/>
              </a:spcAft>
              <a:buSzPts val="1800"/>
              <a:buChar char="●"/>
            </a:pPr>
            <a:r>
              <a:rPr lang="en"/>
              <a:t>You can start with USART2_init() and modify it to use the pins that you decided on previously. </a:t>
            </a:r>
            <a:endParaRPr/>
          </a:p>
          <a:p>
            <a:pPr indent="-342900" lvl="0" marL="457200" rtl="0" algn="l">
              <a:spcBef>
                <a:spcPts val="0"/>
              </a:spcBef>
              <a:spcAft>
                <a:spcPts val="0"/>
              </a:spcAft>
              <a:buSzPts val="1800"/>
              <a:buChar char="●"/>
            </a:pPr>
            <a:r>
              <a:rPr lang="en"/>
              <a:t>Also remember that you need to enable hardware flow control.</a:t>
            </a:r>
            <a:endParaRPr/>
          </a:p>
          <a:p>
            <a:pPr indent="0" lvl="0" marL="0" rtl="0" algn="l">
              <a:spcBef>
                <a:spcPts val="1200"/>
              </a:spcBef>
              <a:spcAft>
                <a:spcPts val="0"/>
              </a:spcAft>
              <a:buNone/>
            </a:pPr>
            <a:r>
              <a:rPr b="1" lang="en"/>
              <a:t>Write the rest of your USART1 driver</a:t>
            </a:r>
            <a:r>
              <a:rPr b="1" lang="en"/>
              <a:t>:</a:t>
            </a:r>
            <a:endParaRPr b="1"/>
          </a:p>
          <a:p>
            <a:pPr indent="-342900" lvl="0" marL="457200" rtl="0" algn="l">
              <a:spcBef>
                <a:spcPts val="1200"/>
              </a:spcBef>
              <a:spcAft>
                <a:spcPts val="0"/>
              </a:spcAft>
              <a:buSzPts val="1800"/>
              <a:buChar char="●"/>
            </a:pPr>
            <a:r>
              <a:rPr lang="en"/>
              <a:t>Mimic the USART2 Driver!</a:t>
            </a:r>
            <a:endParaRPr/>
          </a:p>
          <a:p>
            <a:pPr indent="-342900" lvl="0" marL="457200" rtl="0" algn="l">
              <a:spcBef>
                <a:spcPts val="0"/>
              </a:spcBef>
              <a:spcAft>
                <a:spcPts val="0"/>
              </a:spcAft>
              <a:buSzPts val="1800"/>
              <a:buChar char="●"/>
            </a:pPr>
            <a:r>
              <a:rPr lang="en"/>
              <a:t>In the final system, you won’t know which USART will transmit first, so you must devise a way to determine if there are any characters in the receive data register. </a:t>
            </a:r>
            <a:endParaRPr/>
          </a:p>
          <a:p>
            <a:pPr indent="-342900" lvl="0" marL="457200" rtl="0" algn="l">
              <a:spcBef>
                <a:spcPts val="0"/>
              </a:spcBef>
              <a:spcAft>
                <a:spcPts val="0"/>
              </a:spcAft>
              <a:buSzPts val="1800"/>
              <a:buChar char="●"/>
            </a:pPr>
            <a:r>
              <a:rPr lang="en"/>
              <a:t>Do not use the existing read function unless you already know there is a byte waiting, otherwise, you may block indefinitely.</a:t>
            </a:r>
            <a:endParaRPr/>
          </a:p>
        </p:txBody>
      </p:sp>
      <p:sp>
        <p:nvSpPr>
          <p:cNvPr id="212" name="Google Shape;212;p2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7"/>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Test your USART1 via Passthrough</a:t>
            </a:r>
            <a:endParaRPr/>
          </a:p>
        </p:txBody>
      </p:sp>
      <p:sp>
        <p:nvSpPr>
          <p:cNvPr id="218" name="Google Shape;218;p27"/>
          <p:cNvSpPr txBox="1"/>
          <p:nvPr>
            <p:ph idx="1" type="body"/>
          </p:nvPr>
        </p:nvSpPr>
        <p:spPr>
          <a:xfrm>
            <a:off x="311700" y="1536625"/>
            <a:ext cx="8520600" cy="4869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Write a small program which connects the transmitter of USART2 (CoolTerm) to the receiver of USART1 and vice versa. </a:t>
            </a:r>
            <a:endParaRPr/>
          </a:p>
          <a:p>
            <a:pPr indent="-342900" lvl="0" marL="457200" rtl="0" algn="l">
              <a:spcBef>
                <a:spcPts val="0"/>
              </a:spcBef>
              <a:spcAft>
                <a:spcPts val="0"/>
              </a:spcAft>
              <a:buSzPts val="1800"/>
              <a:buChar char="●"/>
            </a:pPr>
            <a:r>
              <a:rPr lang="en"/>
              <a:t>You can use your AD2 to observe the pins on USART1 in order to confirm that it is working properly using the "Protocol" tab in the main Waveforms menu (on the left-hand side of the welcome tab). </a:t>
            </a:r>
            <a:endParaRPr/>
          </a:p>
          <a:p>
            <a:pPr indent="-317500" lvl="1" marL="914400" rtl="0" algn="l">
              <a:spcBef>
                <a:spcPts val="0"/>
              </a:spcBef>
              <a:spcAft>
                <a:spcPts val="0"/>
              </a:spcAft>
              <a:buSzPts val="1400"/>
              <a:buChar char="○"/>
            </a:pPr>
            <a:r>
              <a:rPr lang="en"/>
              <a:t>The AD2 will be acting as another UART device that can send and receive; in the protocol settings you define which AD2 DIO pin acts as Tx and which acts as Rx.</a:t>
            </a:r>
            <a:endParaRPr/>
          </a:p>
          <a:p>
            <a:pPr indent="-342900" lvl="0" marL="457200" rtl="0" algn="l">
              <a:spcBef>
                <a:spcPts val="0"/>
              </a:spcBef>
              <a:spcAft>
                <a:spcPts val="0"/>
              </a:spcAft>
              <a:buSzPts val="1800"/>
              <a:buChar char="●"/>
            </a:pPr>
            <a:r>
              <a:rPr lang="en"/>
              <a:t>Sending characters from Coolterm:</a:t>
            </a:r>
            <a:endParaRPr/>
          </a:p>
          <a:p>
            <a:pPr indent="-317500" lvl="1" marL="914400" rtl="0" algn="l">
              <a:spcBef>
                <a:spcPts val="0"/>
              </a:spcBef>
              <a:spcAft>
                <a:spcPts val="0"/>
              </a:spcAft>
              <a:buSzPts val="1400"/>
              <a:buChar char="○"/>
            </a:pPr>
            <a:r>
              <a:rPr lang="en"/>
              <a:t>Coolterm sends to USART2_Rx</a:t>
            </a:r>
            <a:endParaRPr/>
          </a:p>
          <a:p>
            <a:pPr indent="-317500" lvl="1" marL="914400" rtl="0" algn="l">
              <a:spcBef>
                <a:spcPts val="0"/>
              </a:spcBef>
              <a:spcAft>
                <a:spcPts val="0"/>
              </a:spcAft>
              <a:buSzPts val="1400"/>
              <a:buChar char="○"/>
            </a:pPr>
            <a:r>
              <a:rPr lang="en"/>
              <a:t>Your passthrough program passes this on to USART1_Tx</a:t>
            </a:r>
            <a:endParaRPr/>
          </a:p>
          <a:p>
            <a:pPr indent="-317500" lvl="1" marL="914400" rtl="0" algn="l">
              <a:spcBef>
                <a:spcPts val="0"/>
              </a:spcBef>
              <a:spcAft>
                <a:spcPts val="0"/>
              </a:spcAft>
              <a:buSzPts val="1400"/>
              <a:buChar char="○"/>
            </a:pPr>
            <a:r>
              <a:rPr lang="en"/>
              <a:t>USART1 sends this out and the AD2 observes it on the Rx DIO pin.</a:t>
            </a:r>
            <a:endParaRPr/>
          </a:p>
          <a:p>
            <a:pPr indent="-342900" lvl="0" marL="457200" rtl="0" algn="l">
              <a:spcBef>
                <a:spcPts val="0"/>
              </a:spcBef>
              <a:spcAft>
                <a:spcPts val="0"/>
              </a:spcAft>
              <a:buSzPts val="1800"/>
              <a:buChar char="●"/>
            </a:pPr>
            <a:r>
              <a:rPr lang="en"/>
              <a:t>Sending characters from the AD2:</a:t>
            </a:r>
            <a:endParaRPr/>
          </a:p>
          <a:p>
            <a:pPr indent="-317500" lvl="1" marL="914400" rtl="0" algn="l">
              <a:spcBef>
                <a:spcPts val="0"/>
              </a:spcBef>
              <a:spcAft>
                <a:spcPts val="0"/>
              </a:spcAft>
              <a:buSzPts val="1400"/>
              <a:buChar char="○"/>
            </a:pPr>
            <a:r>
              <a:rPr lang="en"/>
              <a:t>The character you send through the AD2 TX is received by USART1_Rx and then passed on to USART2_Tx via your program.</a:t>
            </a:r>
            <a:endParaRPr/>
          </a:p>
          <a:p>
            <a:pPr indent="-317500" lvl="1" marL="914400" rtl="0" algn="l">
              <a:spcBef>
                <a:spcPts val="0"/>
              </a:spcBef>
              <a:spcAft>
                <a:spcPts val="0"/>
              </a:spcAft>
              <a:buSzPts val="1400"/>
              <a:buChar char="○"/>
            </a:pPr>
            <a:r>
              <a:rPr lang="en"/>
              <a:t>You will see this in Coolterm.</a:t>
            </a:r>
            <a:endParaRPr/>
          </a:p>
          <a:p>
            <a:pPr indent="-317500" lvl="1" marL="914400" rtl="0" algn="l">
              <a:spcBef>
                <a:spcPts val="0"/>
              </a:spcBef>
              <a:spcAft>
                <a:spcPts val="0"/>
              </a:spcAft>
              <a:buSzPts val="1400"/>
              <a:buChar char="○"/>
            </a:pPr>
            <a:r>
              <a:rPr lang="en"/>
              <a:t>You need to be a little careful (send 1 character at a time) because the AD2 does not support hardware flow control.</a:t>
            </a:r>
            <a:endParaRPr/>
          </a:p>
        </p:txBody>
      </p:sp>
      <p:sp>
        <p:nvSpPr>
          <p:cNvPr id="219" name="Google Shape;219;p2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3" name="Shape 223"/>
        <p:cNvGrpSpPr/>
        <p:nvPr/>
      </p:nvGrpSpPr>
      <p:grpSpPr>
        <a:xfrm>
          <a:off x="0" y="0"/>
          <a:ext cx="0" cy="0"/>
          <a:chOff x="0" y="0"/>
          <a:chExt cx="0" cy="0"/>
        </a:xfrm>
      </p:grpSpPr>
      <p:sp>
        <p:nvSpPr>
          <p:cNvPr id="224" name="Google Shape;224;p28"/>
          <p:cNvSpPr txBox="1"/>
          <p:nvPr>
            <p:ph idx="1" type="body"/>
          </p:nvPr>
        </p:nvSpPr>
        <p:spPr>
          <a:xfrm>
            <a:off x="202200" y="355900"/>
            <a:ext cx="4506600" cy="5790600"/>
          </a:xfrm>
          <a:prstGeom prst="rect">
            <a:avLst/>
          </a:prstGeom>
        </p:spPr>
        <p:txBody>
          <a:bodyPr anchorCtr="0" anchor="t" bIns="91425" lIns="91425" spcFirstLastPara="1" rIns="91425" wrap="square" tIns="91425">
            <a:noAutofit/>
          </a:bodyPr>
          <a:lstStyle/>
          <a:p>
            <a:pPr indent="0" lvl="0" marL="25400" rtl="0" algn="l">
              <a:spcBef>
                <a:spcPts val="0"/>
              </a:spcBef>
              <a:spcAft>
                <a:spcPts val="0"/>
              </a:spcAft>
              <a:buClr>
                <a:schemeClr val="dk1"/>
              </a:buClr>
              <a:buSzPts val="1100"/>
              <a:buFont typeface="Arial"/>
              <a:buNone/>
            </a:pPr>
            <a:r>
              <a:rPr b="1" lang="en" sz="1200">
                <a:solidFill>
                  <a:srgbClr val="3F7F5F"/>
                </a:solidFill>
                <a:highlight>
                  <a:srgbClr val="FFFFFF"/>
                </a:highlight>
                <a:latin typeface="Courier New"/>
                <a:ea typeface="Courier New"/>
                <a:cs typeface="Courier New"/>
                <a:sym typeface="Courier New"/>
              </a:rPr>
              <a:t>/* passthrough.c */</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t/>
            </a:r>
            <a:endParaRPr b="1" sz="1200">
              <a:solidFill>
                <a:srgbClr val="7F0055"/>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#include</a:t>
            </a:r>
            <a:r>
              <a:rPr b="1" lang="en" sz="1200">
                <a:solidFill>
                  <a:schemeClr val="dk1"/>
                </a:solidFill>
                <a:highlight>
                  <a:srgbClr val="FFFFFF"/>
                </a:highlight>
                <a:latin typeface="Courier New"/>
                <a:ea typeface="Courier New"/>
                <a:cs typeface="Courier New"/>
                <a:sym typeface="Courier New"/>
              </a:rPr>
              <a:t> </a:t>
            </a:r>
            <a:r>
              <a:rPr b="1" lang="en" sz="1200">
                <a:solidFill>
                  <a:srgbClr val="2A00FF"/>
                </a:solidFill>
                <a:highlight>
                  <a:srgbClr val="FFFFFF"/>
                </a:highlight>
                <a:latin typeface="Courier New"/>
                <a:ea typeface="Courier New"/>
                <a:cs typeface="Courier New"/>
                <a:sym typeface="Courier New"/>
              </a:rPr>
              <a:t>&lt;stdio.h&gt;</a:t>
            </a:r>
            <a:endParaRPr b="1" sz="1200">
              <a:solidFill>
                <a:srgbClr val="2A00F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#include</a:t>
            </a:r>
            <a:r>
              <a:rPr b="1" lang="en" sz="1200">
                <a:solidFill>
                  <a:schemeClr val="dk1"/>
                </a:solidFill>
                <a:highlight>
                  <a:srgbClr val="FFFFFF"/>
                </a:highlight>
                <a:latin typeface="Courier New"/>
                <a:ea typeface="Courier New"/>
                <a:cs typeface="Courier New"/>
                <a:sym typeface="Courier New"/>
              </a:rPr>
              <a:t> </a:t>
            </a:r>
            <a:r>
              <a:rPr b="1" lang="en" sz="1200">
                <a:solidFill>
                  <a:srgbClr val="2A00FF"/>
                </a:solidFill>
                <a:highlight>
                  <a:srgbClr val="FFFFFF"/>
                </a:highlight>
                <a:latin typeface="Courier New"/>
                <a:ea typeface="Courier New"/>
                <a:cs typeface="Courier New"/>
                <a:sym typeface="Courier New"/>
              </a:rPr>
              <a:t>"uart.h"</a:t>
            </a:r>
            <a:endParaRPr b="1" sz="1200">
              <a:solidFill>
                <a:srgbClr val="2A00F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#include</a:t>
            </a:r>
            <a:r>
              <a:rPr b="1" lang="en" sz="1200">
                <a:solidFill>
                  <a:schemeClr val="dk1"/>
                </a:solidFill>
                <a:highlight>
                  <a:srgbClr val="FFFFFF"/>
                </a:highlight>
                <a:latin typeface="Courier New"/>
                <a:ea typeface="Courier New"/>
                <a:cs typeface="Courier New"/>
                <a:sym typeface="Courier New"/>
              </a:rPr>
              <a:t> </a:t>
            </a:r>
            <a:r>
              <a:rPr b="1" lang="en" sz="1200">
                <a:solidFill>
                  <a:srgbClr val="2A00FF"/>
                </a:solidFill>
                <a:highlight>
                  <a:srgbClr val="FFFFFF"/>
                </a:highlight>
                <a:latin typeface="Courier New"/>
                <a:ea typeface="Courier New"/>
                <a:cs typeface="Courier New"/>
                <a:sym typeface="Courier New"/>
              </a:rPr>
              <a:t>"uart1.h"</a:t>
            </a:r>
            <a:endParaRPr b="1" sz="1200">
              <a:solidFill>
                <a:srgbClr val="2A00F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#include</a:t>
            </a:r>
            <a:r>
              <a:rPr b="1" lang="en" sz="1200">
                <a:solidFill>
                  <a:schemeClr val="dk1"/>
                </a:solidFill>
                <a:highlight>
                  <a:srgbClr val="FFFFFF"/>
                </a:highlight>
                <a:latin typeface="Courier New"/>
                <a:ea typeface="Courier New"/>
                <a:cs typeface="Courier New"/>
                <a:sym typeface="Courier New"/>
              </a:rPr>
              <a:t> </a:t>
            </a:r>
            <a:r>
              <a:rPr b="1" lang="en" sz="1200">
                <a:solidFill>
                  <a:srgbClr val="2A00FF"/>
                </a:solidFill>
                <a:highlight>
                  <a:srgbClr val="FFFFFF"/>
                </a:highlight>
                <a:latin typeface="Courier New"/>
                <a:ea typeface="Courier New"/>
                <a:cs typeface="Courier New"/>
                <a:sym typeface="Courier New"/>
              </a:rPr>
              <a:t>"ES28.h"</a:t>
            </a:r>
            <a:endParaRPr b="1" sz="1200">
              <a:solidFill>
                <a:srgbClr val="2A00FF"/>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t/>
            </a:r>
            <a:endParaRPr b="1" sz="1200">
              <a:solidFill>
                <a:srgbClr val="7F0055"/>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int</a:t>
            </a:r>
            <a:r>
              <a:rPr b="1" lang="en" sz="1200">
                <a:solidFill>
                  <a:schemeClr val="dk1"/>
                </a:solidFill>
                <a:highlight>
                  <a:srgbClr val="FFFFFF"/>
                </a:highlight>
                <a:latin typeface="Courier New"/>
                <a:ea typeface="Courier New"/>
                <a:cs typeface="Courier New"/>
                <a:sym typeface="Courier New"/>
              </a:rPr>
              <a:t> uart2_RxAvail(</a:t>
            </a:r>
            <a:r>
              <a:rPr b="1" lang="en" sz="1200">
                <a:solidFill>
                  <a:srgbClr val="7F0055"/>
                </a:solidFill>
                <a:highlight>
                  <a:srgbClr val="FFFFFF"/>
                </a:highlight>
                <a:latin typeface="Courier New"/>
                <a:ea typeface="Courier New"/>
                <a:cs typeface="Courier New"/>
                <a:sym typeface="Courier New"/>
              </a:rPr>
              <a:t>void</a:t>
            </a:r>
            <a:r>
              <a:rPr b="1" lang="en" sz="1200">
                <a:solidFill>
                  <a:schemeClr val="dk1"/>
                </a:solidFill>
                <a:highlight>
                  <a:srgbClr val="FFFFFF"/>
                </a:highlight>
                <a:latin typeface="Courier New"/>
                <a:ea typeface="Courier New"/>
                <a:cs typeface="Courier New"/>
                <a:sym typeface="Courier New"/>
              </a:rPr>
              <a:t>);</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t/>
            </a:r>
            <a:endParaRPr b="1" sz="1200">
              <a:solidFill>
                <a:srgbClr val="7F0055"/>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int</a:t>
            </a:r>
            <a:r>
              <a:rPr b="1" lang="en" sz="1200">
                <a:solidFill>
                  <a:schemeClr val="dk1"/>
                </a:solidFill>
                <a:highlight>
                  <a:srgbClr val="FFFFFF"/>
                </a:highlight>
                <a:latin typeface="Courier New"/>
                <a:ea typeface="Courier New"/>
                <a:cs typeface="Courier New"/>
                <a:sym typeface="Courier New"/>
              </a:rPr>
              <a:t> main(</a:t>
            </a:r>
            <a:r>
              <a:rPr b="1" lang="en" sz="1200">
                <a:solidFill>
                  <a:srgbClr val="7F0055"/>
                </a:solidFill>
                <a:highlight>
                  <a:srgbClr val="FFFFFF"/>
                </a:highlight>
                <a:latin typeface="Courier New"/>
                <a:ea typeface="Courier New"/>
                <a:cs typeface="Courier New"/>
                <a:sym typeface="Courier New"/>
              </a:rPr>
              <a:t>void</a:t>
            </a:r>
            <a:r>
              <a:rPr b="1" lang="en" sz="1200">
                <a:solidFill>
                  <a:schemeClr val="dk1"/>
                </a:solidFill>
                <a:highlight>
                  <a:srgbClr val="FFFFFF"/>
                </a:highlight>
                <a:latin typeface="Courier New"/>
                <a:ea typeface="Courier New"/>
                <a:cs typeface="Courier New"/>
                <a:sym typeface="Courier New"/>
              </a:rPr>
              <a:t>) {</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uart1_init();</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uart2_init();</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642880"/>
                </a:solidFill>
                <a:highlight>
                  <a:srgbClr val="FFFFFF"/>
                </a:highlight>
                <a:latin typeface="Courier New"/>
                <a:ea typeface="Courier New"/>
                <a:cs typeface="Courier New"/>
                <a:sym typeface="Courier New"/>
              </a:rPr>
              <a:t>printf</a:t>
            </a:r>
            <a:r>
              <a:rPr b="1" lang="en" sz="1200">
                <a:solidFill>
                  <a:schemeClr val="dk1"/>
                </a:solidFill>
                <a:highlight>
                  <a:srgbClr val="FFFFFF"/>
                </a:highlight>
                <a:latin typeface="Courier New"/>
                <a:ea typeface="Courier New"/>
                <a:cs typeface="Courier New"/>
                <a:sym typeface="Courier New"/>
              </a:rPr>
              <a:t>(</a:t>
            </a:r>
            <a:r>
              <a:rPr b="1" lang="en" sz="1200">
                <a:solidFill>
                  <a:srgbClr val="2A00FF"/>
                </a:solidFill>
                <a:highlight>
                  <a:srgbClr val="FFFFFF"/>
                </a:highlight>
                <a:latin typeface="Courier New"/>
                <a:ea typeface="Courier New"/>
                <a:cs typeface="Courier New"/>
                <a:sym typeface="Courier New"/>
              </a:rPr>
              <a:t>"UART1-2 </a:t>
            </a:r>
            <a:r>
              <a:rPr b="1" lang="en" sz="1200" u="sng">
                <a:solidFill>
                  <a:srgbClr val="2A00FF"/>
                </a:solidFill>
                <a:highlight>
                  <a:srgbClr val="FFFFFF"/>
                </a:highlight>
                <a:latin typeface="Courier New"/>
                <a:ea typeface="Courier New"/>
                <a:cs typeface="Courier New"/>
                <a:sym typeface="Courier New"/>
              </a:rPr>
              <a:t>passthrough</a:t>
            </a:r>
            <a:r>
              <a:rPr b="1" lang="en" sz="1200">
                <a:solidFill>
                  <a:srgbClr val="2A00FF"/>
                </a:solidFill>
                <a:highlight>
                  <a:srgbClr val="FFFFFF"/>
                </a:highlight>
                <a:latin typeface="Courier New"/>
                <a:ea typeface="Courier New"/>
                <a:cs typeface="Courier New"/>
                <a:sym typeface="Courier New"/>
              </a:rPr>
              <a:t> test.\r\n"</a:t>
            </a:r>
            <a:r>
              <a:rPr b="1" lang="en" sz="1200">
                <a:solidFill>
                  <a:schemeClr val="dk1"/>
                </a:solidFill>
                <a:highlight>
                  <a:srgbClr val="FFFFFF"/>
                </a:highlight>
                <a:latin typeface="Courier New"/>
                <a:ea typeface="Courier New"/>
                <a:cs typeface="Courier New"/>
                <a:sym typeface="Courier New"/>
              </a:rPr>
              <a:t>);</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7F0055"/>
                </a:solidFill>
                <a:highlight>
                  <a:srgbClr val="FFFFFF"/>
                </a:highlight>
                <a:latin typeface="Courier New"/>
                <a:ea typeface="Courier New"/>
                <a:cs typeface="Courier New"/>
                <a:sym typeface="Courier New"/>
              </a:rPr>
              <a:t>while</a:t>
            </a:r>
            <a:r>
              <a:rPr b="1" lang="en" sz="1200">
                <a:solidFill>
                  <a:schemeClr val="dk1"/>
                </a:solidFill>
                <a:highlight>
                  <a:srgbClr val="FFFFFF"/>
                </a:highlight>
                <a:latin typeface="Courier New"/>
                <a:ea typeface="Courier New"/>
                <a:cs typeface="Courier New"/>
                <a:sym typeface="Courier New"/>
              </a:rPr>
              <a:t> (1) {</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7F0055"/>
                </a:solidFill>
                <a:highlight>
                  <a:srgbClr val="FFFFFF"/>
                </a:highlight>
                <a:latin typeface="Courier New"/>
                <a:ea typeface="Courier New"/>
                <a:cs typeface="Courier New"/>
                <a:sym typeface="Courier New"/>
              </a:rPr>
              <a:t>if</a:t>
            </a:r>
            <a:r>
              <a:rPr b="1" lang="en" sz="1200">
                <a:solidFill>
                  <a:schemeClr val="dk1"/>
                </a:solidFill>
                <a:highlight>
                  <a:srgbClr val="FFFFFF"/>
                </a:highlight>
                <a:latin typeface="Courier New"/>
                <a:ea typeface="Courier New"/>
                <a:cs typeface="Courier New"/>
                <a:sym typeface="Courier New"/>
              </a:rPr>
              <a:t> (uart1_RxAvail()) {</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7F0055"/>
                </a:solidFill>
                <a:highlight>
                  <a:srgbClr val="FFFFFF"/>
                </a:highlight>
                <a:latin typeface="Courier New"/>
                <a:ea typeface="Courier New"/>
                <a:cs typeface="Courier New"/>
                <a:sym typeface="Courier New"/>
              </a:rPr>
              <a:t>int</a:t>
            </a:r>
            <a:r>
              <a:rPr b="1" lang="en" sz="1200">
                <a:solidFill>
                  <a:schemeClr val="dk1"/>
                </a:solidFill>
                <a:highlight>
                  <a:srgbClr val="FFFFFF"/>
                </a:highlight>
                <a:latin typeface="Courier New"/>
                <a:ea typeface="Courier New"/>
                <a:cs typeface="Courier New"/>
                <a:sym typeface="Courier New"/>
              </a:rPr>
              <a:t> c = uart1_read();</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uart2_write(c);</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7F0055"/>
                </a:solidFill>
                <a:highlight>
                  <a:srgbClr val="FFFFFF"/>
                </a:highlight>
                <a:latin typeface="Courier New"/>
                <a:ea typeface="Courier New"/>
                <a:cs typeface="Courier New"/>
                <a:sym typeface="Courier New"/>
              </a:rPr>
              <a:t>if</a:t>
            </a:r>
            <a:r>
              <a:rPr b="1" lang="en" sz="1200">
                <a:solidFill>
                  <a:schemeClr val="dk1"/>
                </a:solidFill>
                <a:highlight>
                  <a:srgbClr val="FFFFFF"/>
                </a:highlight>
                <a:latin typeface="Courier New"/>
                <a:ea typeface="Courier New"/>
                <a:cs typeface="Courier New"/>
                <a:sym typeface="Courier New"/>
              </a:rPr>
              <a:t> (uart2_RxAvail()) {</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7F0055"/>
                </a:solidFill>
                <a:highlight>
                  <a:srgbClr val="FFFFFF"/>
                </a:highlight>
                <a:latin typeface="Courier New"/>
                <a:ea typeface="Courier New"/>
                <a:cs typeface="Courier New"/>
                <a:sym typeface="Courier New"/>
              </a:rPr>
              <a:t>int</a:t>
            </a:r>
            <a:r>
              <a:rPr b="1" lang="en" sz="1200">
                <a:solidFill>
                  <a:schemeClr val="dk1"/>
                </a:solidFill>
                <a:highlight>
                  <a:srgbClr val="FFFFFF"/>
                </a:highlight>
                <a:latin typeface="Courier New"/>
                <a:ea typeface="Courier New"/>
                <a:cs typeface="Courier New"/>
                <a:sym typeface="Courier New"/>
              </a:rPr>
              <a:t> c = uart2_read();</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uart1_write(c);</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7F0055"/>
                </a:solidFill>
                <a:highlight>
                  <a:srgbClr val="FFFFFF"/>
                </a:highlight>
                <a:latin typeface="Courier New"/>
                <a:ea typeface="Courier New"/>
                <a:cs typeface="Courier New"/>
                <a:sym typeface="Courier New"/>
              </a:rPr>
              <a:t>return</a:t>
            </a:r>
            <a:r>
              <a:rPr b="1" lang="en" sz="1200">
                <a:solidFill>
                  <a:schemeClr val="dk1"/>
                </a:solidFill>
                <a:highlight>
                  <a:srgbClr val="FFFFFF"/>
                </a:highlight>
                <a:latin typeface="Courier New"/>
                <a:ea typeface="Courier New"/>
                <a:cs typeface="Courier New"/>
                <a:sym typeface="Courier New"/>
              </a:rPr>
              <a:t> 0;</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a:t>
            </a:r>
            <a:endParaRPr b="1" sz="12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1200"/>
              </a:spcAft>
              <a:buNone/>
            </a:pPr>
            <a:r>
              <a:t/>
            </a:r>
            <a:endParaRPr/>
          </a:p>
        </p:txBody>
      </p:sp>
      <p:sp>
        <p:nvSpPr>
          <p:cNvPr id="225" name="Google Shape;225;p2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6" name="Google Shape;226;p28"/>
          <p:cNvSpPr txBox="1"/>
          <p:nvPr>
            <p:ph idx="1" type="body"/>
          </p:nvPr>
        </p:nvSpPr>
        <p:spPr>
          <a:xfrm>
            <a:off x="4146325" y="3657550"/>
            <a:ext cx="4506600" cy="1708500"/>
          </a:xfrm>
          <a:prstGeom prst="rect">
            <a:avLst/>
          </a:prstGeom>
        </p:spPr>
        <p:txBody>
          <a:bodyPr anchorCtr="0" anchor="t" bIns="91425" lIns="91425" spcFirstLastPara="1" rIns="91425" wrap="square" tIns="91425">
            <a:noAutofit/>
          </a:bodyPr>
          <a:lstStyle/>
          <a:p>
            <a:pPr indent="0" lvl="0" marL="25400" rtl="0" algn="l">
              <a:spcBef>
                <a:spcPts val="0"/>
              </a:spcBef>
              <a:spcAft>
                <a:spcPts val="0"/>
              </a:spcAft>
              <a:buNone/>
            </a:pPr>
            <a:r>
              <a:rPr b="1" lang="en" sz="1200">
                <a:solidFill>
                  <a:srgbClr val="7F0055"/>
                </a:solidFill>
                <a:highlight>
                  <a:srgbClr val="FFFFFF"/>
                </a:highlight>
                <a:latin typeface="Courier New"/>
                <a:ea typeface="Courier New"/>
                <a:cs typeface="Courier New"/>
                <a:sym typeface="Courier New"/>
              </a:rPr>
              <a:t>int</a:t>
            </a:r>
            <a:r>
              <a:rPr b="1" lang="en" sz="1200">
                <a:solidFill>
                  <a:schemeClr val="dk1"/>
                </a:solidFill>
                <a:highlight>
                  <a:srgbClr val="FFFFFF"/>
                </a:highlight>
                <a:latin typeface="Courier New"/>
                <a:ea typeface="Courier New"/>
                <a:cs typeface="Courier New"/>
                <a:sym typeface="Courier New"/>
              </a:rPr>
              <a:t> uart2_RxAvail(</a:t>
            </a:r>
            <a:r>
              <a:rPr b="1" lang="en" sz="1200">
                <a:solidFill>
                  <a:srgbClr val="7F0055"/>
                </a:solidFill>
                <a:highlight>
                  <a:srgbClr val="FFFFFF"/>
                </a:highlight>
                <a:latin typeface="Courier New"/>
                <a:ea typeface="Courier New"/>
                <a:cs typeface="Courier New"/>
                <a:sym typeface="Courier New"/>
              </a:rPr>
              <a:t>void</a:t>
            </a:r>
            <a:r>
              <a:rPr b="1" lang="en" sz="1200">
                <a:solidFill>
                  <a:schemeClr val="dk1"/>
                </a:solidFill>
                <a:highlight>
                  <a:srgbClr val="FFFFFF"/>
                </a:highlight>
                <a:latin typeface="Courier New"/>
                <a:ea typeface="Courier New"/>
                <a:cs typeface="Courier New"/>
                <a:sym typeface="Courier New"/>
              </a:rPr>
              <a:t>) {</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7F0055"/>
                </a:solidFill>
                <a:highlight>
                  <a:srgbClr val="FFFFFF"/>
                </a:highlight>
                <a:latin typeface="Courier New"/>
                <a:ea typeface="Courier New"/>
                <a:cs typeface="Courier New"/>
                <a:sym typeface="Courier New"/>
              </a:rPr>
              <a:t>if</a:t>
            </a:r>
            <a:r>
              <a:rPr b="1" lang="en" sz="1200">
                <a:solidFill>
                  <a:schemeClr val="dk1"/>
                </a:solidFill>
                <a:highlight>
                  <a:srgbClr val="FFFFFF"/>
                </a:highlight>
                <a:latin typeface="Courier New"/>
                <a:ea typeface="Courier New"/>
                <a:cs typeface="Courier New"/>
                <a:sym typeface="Courier New"/>
              </a:rPr>
              <a:t> (USART2-&gt;</a:t>
            </a:r>
            <a:r>
              <a:rPr b="1" lang="en" sz="1200">
                <a:solidFill>
                  <a:srgbClr val="0000C0"/>
                </a:solidFill>
                <a:highlight>
                  <a:srgbClr val="FFFFFF"/>
                </a:highlight>
                <a:latin typeface="Courier New"/>
                <a:ea typeface="Courier New"/>
                <a:cs typeface="Courier New"/>
                <a:sym typeface="Courier New"/>
              </a:rPr>
              <a:t>ISR</a:t>
            </a:r>
            <a:r>
              <a:rPr b="1" lang="en" sz="1200">
                <a:solidFill>
                  <a:schemeClr val="dk1"/>
                </a:solidFill>
                <a:highlight>
                  <a:srgbClr val="FFFFFF"/>
                </a:highlight>
                <a:latin typeface="Courier New"/>
                <a:ea typeface="Courier New"/>
                <a:cs typeface="Courier New"/>
                <a:sym typeface="Courier New"/>
              </a:rPr>
              <a:t> &amp; USART_ISR_RXNE_RXFNE) {</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7F0055"/>
                </a:solidFill>
                <a:highlight>
                  <a:srgbClr val="FFFFFF"/>
                </a:highlight>
                <a:latin typeface="Courier New"/>
                <a:ea typeface="Courier New"/>
                <a:cs typeface="Courier New"/>
                <a:sym typeface="Courier New"/>
              </a:rPr>
              <a:t>return</a:t>
            </a:r>
            <a:r>
              <a:rPr b="1" lang="en" sz="1200">
                <a:solidFill>
                  <a:schemeClr val="dk1"/>
                </a:solidFill>
                <a:highlight>
                  <a:srgbClr val="FFFFFF"/>
                </a:highlight>
                <a:latin typeface="Courier New"/>
                <a:ea typeface="Courier New"/>
                <a:cs typeface="Courier New"/>
                <a:sym typeface="Courier New"/>
              </a:rPr>
              <a:t> 1;</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	} </a:t>
            </a:r>
            <a:r>
              <a:rPr b="1" lang="en" sz="1200">
                <a:solidFill>
                  <a:srgbClr val="7F0055"/>
                </a:solidFill>
                <a:highlight>
                  <a:srgbClr val="FFFFFF"/>
                </a:highlight>
                <a:latin typeface="Courier New"/>
                <a:ea typeface="Courier New"/>
                <a:cs typeface="Courier New"/>
                <a:sym typeface="Courier New"/>
              </a:rPr>
              <a:t>else</a:t>
            </a:r>
            <a:r>
              <a:rPr b="1" lang="en" sz="1200">
                <a:solidFill>
                  <a:schemeClr val="dk1"/>
                </a:solidFill>
                <a:highlight>
                  <a:srgbClr val="FFFFFF"/>
                </a:highlight>
                <a:latin typeface="Courier New"/>
                <a:ea typeface="Courier New"/>
                <a:cs typeface="Courier New"/>
                <a:sym typeface="Courier New"/>
              </a:rPr>
              <a:t> {</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7F0055"/>
                </a:solidFill>
                <a:highlight>
                  <a:srgbClr val="FFFFFF"/>
                </a:highlight>
                <a:latin typeface="Courier New"/>
                <a:ea typeface="Courier New"/>
                <a:cs typeface="Courier New"/>
                <a:sym typeface="Courier New"/>
              </a:rPr>
              <a:t>return</a:t>
            </a:r>
            <a:r>
              <a:rPr b="1" lang="en" sz="1200">
                <a:solidFill>
                  <a:schemeClr val="dk1"/>
                </a:solidFill>
                <a:highlight>
                  <a:srgbClr val="FFFFFF"/>
                </a:highlight>
                <a:latin typeface="Courier New"/>
                <a:ea typeface="Courier New"/>
                <a:cs typeface="Courier New"/>
                <a:sym typeface="Courier New"/>
              </a:rPr>
              <a:t> 0;</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	}</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a:t>
            </a:r>
            <a:endParaRPr b="1" sz="12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12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9"/>
          <p:cNvSpPr txBox="1"/>
          <p:nvPr>
            <p:ph type="title"/>
          </p:nvPr>
        </p:nvSpPr>
        <p:spPr>
          <a:xfrm>
            <a:off x="311700" y="11084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Connecting the Bluefruit to your Nucleo</a:t>
            </a:r>
            <a:endParaRPr/>
          </a:p>
        </p:txBody>
      </p:sp>
      <p:sp>
        <p:nvSpPr>
          <p:cNvPr id="232" name="Google Shape;232;p2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33" name="Google Shape;233;p29"/>
          <p:cNvPicPr preferRelativeResize="0"/>
          <p:nvPr/>
        </p:nvPicPr>
        <p:blipFill rotWithShape="1">
          <a:blip r:embed="rId3">
            <a:alphaModFix/>
          </a:blip>
          <a:srcRect b="12945" l="8938" r="32640" t="9167"/>
          <a:stretch/>
        </p:blipFill>
        <p:spPr>
          <a:xfrm>
            <a:off x="311700" y="874350"/>
            <a:ext cx="5163999" cy="3429000"/>
          </a:xfrm>
          <a:prstGeom prst="rect">
            <a:avLst/>
          </a:prstGeom>
          <a:noFill/>
          <a:ln>
            <a:noFill/>
          </a:ln>
        </p:spPr>
      </p:pic>
      <p:sp>
        <p:nvSpPr>
          <p:cNvPr id="234" name="Google Shape;234;p29"/>
          <p:cNvSpPr txBox="1"/>
          <p:nvPr/>
        </p:nvSpPr>
        <p:spPr>
          <a:xfrm>
            <a:off x="5669450" y="1004100"/>
            <a:ext cx="3251400" cy="299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2000">
                <a:solidFill>
                  <a:srgbClr val="2A00FF"/>
                </a:solidFill>
              </a:rPr>
              <a:t>Power Pins</a:t>
            </a:r>
            <a:endParaRPr b="1" sz="2000">
              <a:solidFill>
                <a:srgbClr val="2A00FF"/>
              </a:solidFill>
            </a:endParaRPr>
          </a:p>
          <a:p>
            <a:pPr indent="0" lvl="0" marL="0" rtl="0" algn="l">
              <a:spcBef>
                <a:spcPts val="0"/>
              </a:spcBef>
              <a:spcAft>
                <a:spcPts val="0"/>
              </a:spcAft>
              <a:buClr>
                <a:schemeClr val="dk1"/>
              </a:buClr>
              <a:buSzPts val="1100"/>
              <a:buFont typeface="Arial"/>
              <a:buNone/>
            </a:pPr>
            <a:r>
              <a:rPr b="1" lang="en" sz="1800">
                <a:solidFill>
                  <a:schemeClr val="dk2"/>
                </a:solidFill>
              </a:rPr>
              <a:t>VIN</a:t>
            </a:r>
            <a:r>
              <a:rPr lang="en" sz="1800">
                <a:solidFill>
                  <a:schemeClr val="dk2"/>
                </a:solidFill>
              </a:rPr>
              <a:t>: power supply for the module, use 3.3V.</a:t>
            </a:r>
            <a:endParaRPr sz="1800">
              <a:solidFill>
                <a:schemeClr val="dk2"/>
              </a:solidFill>
            </a:endParaRPr>
          </a:p>
          <a:p>
            <a:pPr indent="0" lvl="0" marL="0" rtl="0" algn="l">
              <a:spcBef>
                <a:spcPts val="0"/>
              </a:spcBef>
              <a:spcAft>
                <a:spcPts val="0"/>
              </a:spcAft>
              <a:buClr>
                <a:schemeClr val="dk1"/>
              </a:buClr>
              <a:buSzPts val="1100"/>
              <a:buFont typeface="Arial"/>
              <a:buNone/>
            </a:pPr>
            <a:r>
              <a:rPr b="1" lang="en" sz="1800">
                <a:solidFill>
                  <a:schemeClr val="dk2"/>
                </a:solidFill>
              </a:rPr>
              <a:t>GND</a:t>
            </a:r>
            <a:r>
              <a:rPr lang="en" sz="1800">
                <a:solidFill>
                  <a:schemeClr val="dk2"/>
                </a:solidFill>
              </a:rPr>
              <a:t>: The common/GND pin for power and logic</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Clr>
                <a:schemeClr val="dk1"/>
              </a:buClr>
              <a:buSzPts val="1100"/>
              <a:buFont typeface="Arial"/>
              <a:buNone/>
            </a:pPr>
            <a:r>
              <a:rPr b="1" lang="en" sz="2000">
                <a:solidFill>
                  <a:srgbClr val="2A00FF"/>
                </a:solidFill>
              </a:rPr>
              <a:t>Other Pins</a:t>
            </a:r>
            <a:endParaRPr b="1" sz="2000">
              <a:solidFill>
                <a:srgbClr val="2A00FF"/>
              </a:solidFill>
            </a:endParaRPr>
          </a:p>
          <a:p>
            <a:pPr indent="0" lvl="0" marL="0" rtl="0" algn="l">
              <a:spcBef>
                <a:spcPts val="0"/>
              </a:spcBef>
              <a:spcAft>
                <a:spcPts val="0"/>
              </a:spcAft>
              <a:buNone/>
            </a:pPr>
            <a:r>
              <a:rPr lang="en" sz="1800">
                <a:solidFill>
                  <a:schemeClr val="dk2"/>
                </a:solidFill>
              </a:rPr>
              <a:t>MOD: Mode Selection. The Bluefruit has two modes, Command and Data. </a:t>
            </a:r>
            <a:endParaRPr sz="1800">
              <a:solidFill>
                <a:schemeClr val="dk2"/>
              </a:solidFill>
            </a:endParaRPr>
          </a:p>
        </p:txBody>
      </p:sp>
      <p:sp>
        <p:nvSpPr>
          <p:cNvPr id="235" name="Google Shape;235;p29"/>
          <p:cNvSpPr txBox="1"/>
          <p:nvPr/>
        </p:nvSpPr>
        <p:spPr>
          <a:xfrm>
            <a:off x="220700" y="4535575"/>
            <a:ext cx="8454300" cy="198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2A00FF"/>
                </a:solidFill>
              </a:rPr>
              <a:t>UART Pins</a:t>
            </a:r>
            <a:endParaRPr b="1" sz="2000">
              <a:solidFill>
                <a:srgbClr val="2A00FF"/>
              </a:solidFill>
            </a:endParaRPr>
          </a:p>
          <a:p>
            <a:pPr indent="0" lvl="0" marL="0" rtl="0" algn="l">
              <a:spcBef>
                <a:spcPts val="0"/>
              </a:spcBef>
              <a:spcAft>
                <a:spcPts val="0"/>
              </a:spcAft>
              <a:buNone/>
            </a:pPr>
            <a:r>
              <a:rPr b="1" lang="en" sz="1800">
                <a:solidFill>
                  <a:schemeClr val="dk2"/>
                </a:solidFill>
              </a:rPr>
              <a:t>TXO</a:t>
            </a:r>
            <a:r>
              <a:rPr lang="en" sz="1800">
                <a:solidFill>
                  <a:schemeClr val="dk2"/>
                </a:solidFill>
              </a:rPr>
              <a:t> - UART Transmit pin (Bluefruit LE --&gt; MCU)</a:t>
            </a:r>
            <a:endParaRPr sz="1800">
              <a:solidFill>
                <a:schemeClr val="dk2"/>
              </a:solidFill>
            </a:endParaRPr>
          </a:p>
          <a:p>
            <a:pPr indent="0" lvl="0" marL="0" rtl="0" algn="l">
              <a:spcBef>
                <a:spcPts val="0"/>
              </a:spcBef>
              <a:spcAft>
                <a:spcPts val="0"/>
              </a:spcAft>
              <a:buNone/>
            </a:pPr>
            <a:r>
              <a:rPr b="1" lang="en" sz="1800">
                <a:solidFill>
                  <a:schemeClr val="dk2"/>
                </a:solidFill>
              </a:rPr>
              <a:t>RXI</a:t>
            </a:r>
            <a:r>
              <a:rPr lang="en" sz="1800">
                <a:solidFill>
                  <a:schemeClr val="dk2"/>
                </a:solidFill>
              </a:rPr>
              <a:t> - UART Receive pin (MCU --&gt; Bluefruit LE). </a:t>
            </a:r>
            <a:endParaRPr sz="1800">
              <a:solidFill>
                <a:schemeClr val="dk2"/>
              </a:solidFill>
            </a:endParaRPr>
          </a:p>
          <a:p>
            <a:pPr indent="0" lvl="0" marL="0" rtl="0" algn="l">
              <a:spcBef>
                <a:spcPts val="0"/>
              </a:spcBef>
              <a:spcAft>
                <a:spcPts val="0"/>
              </a:spcAft>
              <a:buNone/>
            </a:pPr>
            <a:r>
              <a:rPr b="1" lang="en" sz="1800">
                <a:solidFill>
                  <a:schemeClr val="dk2"/>
                </a:solidFill>
              </a:rPr>
              <a:t>CTS</a:t>
            </a:r>
            <a:r>
              <a:rPr lang="en" sz="1800">
                <a:solidFill>
                  <a:schemeClr val="dk2"/>
                </a:solidFill>
              </a:rPr>
              <a:t> - Clear to Send hardware flow control pin into the the </a:t>
            </a:r>
            <a:r>
              <a:rPr lang="en" sz="1800">
                <a:solidFill>
                  <a:schemeClr val="dk2"/>
                </a:solidFill>
              </a:rPr>
              <a:t>breakout</a:t>
            </a:r>
            <a:r>
              <a:rPr lang="en" sz="1800">
                <a:solidFill>
                  <a:schemeClr val="dk2"/>
                </a:solidFill>
              </a:rPr>
              <a:t> (MCU --&gt; Bluefruit LE). </a:t>
            </a:r>
            <a:endParaRPr sz="1800">
              <a:solidFill>
                <a:schemeClr val="dk2"/>
              </a:solidFill>
            </a:endParaRPr>
          </a:p>
          <a:p>
            <a:pPr indent="0" lvl="0" marL="0" rtl="0" algn="l">
              <a:spcBef>
                <a:spcPts val="0"/>
              </a:spcBef>
              <a:spcAft>
                <a:spcPts val="0"/>
              </a:spcAft>
              <a:buNone/>
            </a:pPr>
            <a:r>
              <a:rPr b="1" lang="en" sz="1800">
                <a:solidFill>
                  <a:schemeClr val="dk2"/>
                </a:solidFill>
              </a:rPr>
              <a:t>RTS</a:t>
            </a:r>
            <a:r>
              <a:rPr lang="en" sz="1800">
                <a:solidFill>
                  <a:schemeClr val="dk2"/>
                </a:solidFill>
              </a:rPr>
              <a:t> - Request to Send flow control pin out of the module (Bluefruit LE --&gt; MCU). </a:t>
            </a:r>
            <a:endParaRPr sz="1800">
              <a:solidFill>
                <a:schemeClr val="dk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0"/>
          <p:cNvSpPr txBox="1"/>
          <p:nvPr>
            <p:ph type="title"/>
          </p:nvPr>
        </p:nvSpPr>
        <p:spPr>
          <a:xfrm>
            <a:off x="311700" y="242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Connect your Bluefruit to your Nucleo.</a:t>
            </a:r>
            <a:endParaRPr sz="2400"/>
          </a:p>
        </p:txBody>
      </p:sp>
      <p:sp>
        <p:nvSpPr>
          <p:cNvPr id="241" name="Google Shape;241;p3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242" name="Google Shape;242;p30"/>
          <p:cNvGraphicFramePr/>
          <p:nvPr/>
        </p:nvGraphicFramePr>
        <p:xfrm>
          <a:off x="1498950" y="1006275"/>
          <a:ext cx="3000000" cy="3000000"/>
        </p:xfrm>
        <a:graphic>
          <a:graphicData uri="http://schemas.openxmlformats.org/drawingml/2006/table">
            <a:tbl>
              <a:tblPr>
                <a:noFill/>
                <a:tableStyleId>{BF0E6742-A1B7-4A8F-9146-8391ED4D20DB}</a:tableStyleId>
              </a:tblPr>
              <a:tblGrid>
                <a:gridCol w="3073050"/>
                <a:gridCol w="3073050"/>
              </a:tblGrid>
              <a:tr h="381000">
                <a:tc>
                  <a:txBody>
                    <a:bodyPr/>
                    <a:lstStyle/>
                    <a:p>
                      <a:pPr indent="0" lvl="0" marL="0" rtl="0" algn="ctr">
                        <a:spcBef>
                          <a:spcPts val="0"/>
                        </a:spcBef>
                        <a:spcAft>
                          <a:spcPts val="0"/>
                        </a:spcAft>
                        <a:buNone/>
                      </a:pPr>
                      <a:r>
                        <a:rPr b="1" lang="en" sz="1800"/>
                        <a:t>Bluefruit Pin</a:t>
                      </a:r>
                      <a:endParaRPr b="1" sz="1800"/>
                    </a:p>
                  </a:txBody>
                  <a:tcPr marT="91425" marB="91425" marR="91425" marL="91425"/>
                </a:tc>
                <a:tc>
                  <a:txBody>
                    <a:bodyPr/>
                    <a:lstStyle/>
                    <a:p>
                      <a:pPr indent="0" lvl="0" marL="0" rtl="0" algn="ctr">
                        <a:spcBef>
                          <a:spcPts val="0"/>
                        </a:spcBef>
                        <a:spcAft>
                          <a:spcPts val="0"/>
                        </a:spcAft>
                        <a:buNone/>
                      </a:pPr>
                      <a:r>
                        <a:rPr b="1" lang="en" sz="1800"/>
                        <a:t>Nucleo Pin</a:t>
                      </a:r>
                      <a:endParaRPr b="1" sz="1800"/>
                    </a:p>
                  </a:txBody>
                  <a:tcPr marT="91425" marB="91425" marR="91425" marL="91425"/>
                </a:tc>
              </a:tr>
              <a:tr h="381000">
                <a:tc>
                  <a:txBody>
                    <a:bodyPr/>
                    <a:lstStyle/>
                    <a:p>
                      <a:pPr indent="0" lvl="0" marL="0" rtl="0" algn="ctr">
                        <a:spcBef>
                          <a:spcPts val="0"/>
                        </a:spcBef>
                        <a:spcAft>
                          <a:spcPts val="0"/>
                        </a:spcAft>
                        <a:buNone/>
                      </a:pPr>
                      <a:r>
                        <a:rPr lang="en"/>
                        <a:t>RXI</a:t>
                      </a:r>
                      <a:endParaRPr/>
                    </a:p>
                  </a:txBody>
                  <a:tcPr marT="91425" marB="91425" marR="91425" marL="91425"/>
                </a:tc>
                <a:tc>
                  <a:txBody>
                    <a:bodyPr/>
                    <a:lstStyle/>
                    <a:p>
                      <a:pPr indent="0" lvl="0" marL="0" rtl="0" algn="ctr">
                        <a:spcBef>
                          <a:spcPts val="0"/>
                        </a:spcBef>
                        <a:spcAft>
                          <a:spcPts val="0"/>
                        </a:spcAft>
                        <a:buNone/>
                      </a:pPr>
                      <a:r>
                        <a:rPr lang="en"/>
                        <a:t>USART1_TX</a:t>
                      </a:r>
                      <a:endParaRPr/>
                    </a:p>
                  </a:txBody>
                  <a:tcPr marT="91425" marB="91425" marR="91425" marL="91425"/>
                </a:tc>
              </a:tr>
              <a:tr h="381000">
                <a:tc>
                  <a:txBody>
                    <a:bodyPr/>
                    <a:lstStyle/>
                    <a:p>
                      <a:pPr indent="0" lvl="0" marL="0" rtl="0" algn="ctr">
                        <a:spcBef>
                          <a:spcPts val="0"/>
                        </a:spcBef>
                        <a:spcAft>
                          <a:spcPts val="0"/>
                        </a:spcAft>
                        <a:buNone/>
                      </a:pPr>
                      <a:r>
                        <a:rPr lang="en"/>
                        <a:t>TXO</a:t>
                      </a:r>
                      <a:endParaRPr/>
                    </a:p>
                  </a:txBody>
                  <a:tcPr marT="91425" marB="91425" marR="91425" marL="91425"/>
                </a:tc>
                <a:tc>
                  <a:txBody>
                    <a:bodyPr/>
                    <a:lstStyle/>
                    <a:p>
                      <a:pPr indent="0" lvl="0" marL="0" rtl="0" algn="ctr">
                        <a:spcBef>
                          <a:spcPts val="0"/>
                        </a:spcBef>
                        <a:spcAft>
                          <a:spcPts val="0"/>
                        </a:spcAft>
                        <a:buNone/>
                      </a:pPr>
                      <a:r>
                        <a:rPr lang="en"/>
                        <a:t>USART1_RX</a:t>
                      </a:r>
                      <a:endParaRPr/>
                    </a:p>
                  </a:txBody>
                  <a:tcPr marT="91425" marB="91425" marR="91425" marL="91425"/>
                </a:tc>
              </a:tr>
              <a:tr h="381000">
                <a:tc>
                  <a:txBody>
                    <a:bodyPr/>
                    <a:lstStyle/>
                    <a:p>
                      <a:pPr indent="0" lvl="0" marL="0" rtl="0" algn="ctr">
                        <a:spcBef>
                          <a:spcPts val="0"/>
                        </a:spcBef>
                        <a:spcAft>
                          <a:spcPts val="0"/>
                        </a:spcAft>
                        <a:buNone/>
                      </a:pPr>
                      <a:r>
                        <a:rPr lang="en"/>
                        <a:t>RTS</a:t>
                      </a:r>
                      <a:endParaRPr/>
                    </a:p>
                  </a:txBody>
                  <a:tcPr marT="91425" marB="91425" marR="91425" marL="91425"/>
                </a:tc>
                <a:tc>
                  <a:txBody>
                    <a:bodyPr/>
                    <a:lstStyle/>
                    <a:p>
                      <a:pPr indent="0" lvl="0" marL="0" rtl="0" algn="ctr">
                        <a:spcBef>
                          <a:spcPts val="0"/>
                        </a:spcBef>
                        <a:spcAft>
                          <a:spcPts val="0"/>
                        </a:spcAft>
                        <a:buNone/>
                      </a:pPr>
                      <a:r>
                        <a:rPr lang="en"/>
                        <a:t>USART1_CTS</a:t>
                      </a:r>
                      <a:endParaRPr/>
                    </a:p>
                  </a:txBody>
                  <a:tcPr marT="91425" marB="91425" marR="91425" marL="91425"/>
                </a:tc>
              </a:tr>
              <a:tr h="381000">
                <a:tc>
                  <a:txBody>
                    <a:bodyPr/>
                    <a:lstStyle/>
                    <a:p>
                      <a:pPr indent="0" lvl="0" marL="0" rtl="0" algn="ctr">
                        <a:spcBef>
                          <a:spcPts val="0"/>
                        </a:spcBef>
                        <a:spcAft>
                          <a:spcPts val="0"/>
                        </a:spcAft>
                        <a:buNone/>
                      </a:pPr>
                      <a:r>
                        <a:rPr lang="en"/>
                        <a:t>CTS</a:t>
                      </a:r>
                      <a:endParaRPr/>
                    </a:p>
                  </a:txBody>
                  <a:tcPr marT="91425" marB="91425" marR="91425" marL="91425"/>
                </a:tc>
                <a:tc>
                  <a:txBody>
                    <a:bodyPr/>
                    <a:lstStyle/>
                    <a:p>
                      <a:pPr indent="0" lvl="0" marL="0" rtl="0" algn="ctr">
                        <a:spcBef>
                          <a:spcPts val="0"/>
                        </a:spcBef>
                        <a:spcAft>
                          <a:spcPts val="0"/>
                        </a:spcAft>
                        <a:buNone/>
                      </a:pPr>
                      <a:r>
                        <a:rPr lang="en"/>
                        <a:t>USART1_RTS</a:t>
                      </a:r>
                      <a:endParaRPr/>
                    </a:p>
                  </a:txBody>
                  <a:tcPr marT="91425" marB="91425" marR="91425" marL="91425"/>
                </a:tc>
              </a:tr>
              <a:tr h="381000">
                <a:tc>
                  <a:txBody>
                    <a:bodyPr/>
                    <a:lstStyle/>
                    <a:p>
                      <a:pPr indent="0" lvl="0" marL="0" rtl="0" algn="ctr">
                        <a:spcBef>
                          <a:spcPts val="0"/>
                        </a:spcBef>
                        <a:spcAft>
                          <a:spcPts val="0"/>
                        </a:spcAft>
                        <a:buNone/>
                      </a:pPr>
                      <a:r>
                        <a:rPr lang="en"/>
                        <a:t>VIN</a:t>
                      </a:r>
                      <a:endParaRPr/>
                    </a:p>
                  </a:txBody>
                  <a:tcPr marT="91425" marB="91425" marR="91425" marL="91425"/>
                </a:tc>
                <a:tc>
                  <a:txBody>
                    <a:bodyPr/>
                    <a:lstStyle/>
                    <a:p>
                      <a:pPr indent="0" lvl="0" marL="0" rtl="0" algn="ctr">
                        <a:spcBef>
                          <a:spcPts val="0"/>
                        </a:spcBef>
                        <a:spcAft>
                          <a:spcPts val="0"/>
                        </a:spcAft>
                        <a:buNone/>
                      </a:pPr>
                      <a:r>
                        <a:rPr lang="en"/>
                        <a:t>3V3</a:t>
                      </a:r>
                      <a:endParaRPr/>
                    </a:p>
                  </a:txBody>
                  <a:tcPr marT="91425" marB="91425" marR="91425" marL="91425"/>
                </a:tc>
              </a:tr>
              <a:tr h="381000">
                <a:tc>
                  <a:txBody>
                    <a:bodyPr/>
                    <a:lstStyle/>
                    <a:p>
                      <a:pPr indent="0" lvl="0" marL="0" rtl="0" algn="ctr">
                        <a:spcBef>
                          <a:spcPts val="0"/>
                        </a:spcBef>
                        <a:spcAft>
                          <a:spcPts val="0"/>
                        </a:spcAft>
                        <a:buNone/>
                      </a:pPr>
                      <a:r>
                        <a:rPr lang="en"/>
                        <a:t>GND</a:t>
                      </a:r>
                      <a:endParaRPr/>
                    </a:p>
                  </a:txBody>
                  <a:tcPr marT="91425" marB="91425" marR="91425" marL="91425"/>
                </a:tc>
                <a:tc>
                  <a:txBody>
                    <a:bodyPr/>
                    <a:lstStyle/>
                    <a:p>
                      <a:pPr indent="0" lvl="0" marL="0" rtl="0" algn="ctr">
                        <a:spcBef>
                          <a:spcPts val="0"/>
                        </a:spcBef>
                        <a:spcAft>
                          <a:spcPts val="0"/>
                        </a:spcAft>
                        <a:buNone/>
                      </a:pPr>
                      <a:r>
                        <a:rPr lang="en"/>
                        <a:t>GND</a:t>
                      </a:r>
                      <a:endParaRPr/>
                    </a:p>
                  </a:txBody>
                  <a:tcPr marT="91425" marB="91425" marR="91425" marL="91425"/>
                </a:tc>
              </a:tr>
            </a:tbl>
          </a:graphicData>
        </a:graphic>
      </p:graphicFrame>
      <p:sp>
        <p:nvSpPr>
          <p:cNvPr id="243" name="Google Shape;243;p30"/>
          <p:cNvSpPr txBox="1"/>
          <p:nvPr>
            <p:ph type="title"/>
          </p:nvPr>
        </p:nvSpPr>
        <p:spPr>
          <a:xfrm>
            <a:off x="311700" y="427041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Install the Adafruit Bluefruit LE Connect App on your phone.</a:t>
            </a:r>
            <a:endParaRPr sz="2400"/>
          </a:p>
        </p:txBody>
      </p:sp>
      <p:pic>
        <p:nvPicPr>
          <p:cNvPr id="244" name="Google Shape;244;p30"/>
          <p:cNvPicPr preferRelativeResize="0"/>
          <p:nvPr/>
        </p:nvPicPr>
        <p:blipFill rotWithShape="1">
          <a:blip r:embed="rId3">
            <a:alphaModFix/>
          </a:blip>
          <a:srcRect b="21659" l="0" r="77816" t="26737"/>
          <a:stretch/>
        </p:blipFill>
        <p:spPr>
          <a:xfrm>
            <a:off x="3367050" y="4884375"/>
            <a:ext cx="1960850" cy="18579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1"/>
          <p:cNvSpPr txBox="1"/>
          <p:nvPr>
            <p:ph type="title"/>
          </p:nvPr>
        </p:nvSpPr>
        <p:spPr>
          <a:xfrm>
            <a:off x="311700" y="593375"/>
            <a:ext cx="87093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Test UART Mode (aka "Data Mode" in Adafruit Speak)</a:t>
            </a:r>
            <a:endParaRPr/>
          </a:p>
        </p:txBody>
      </p:sp>
      <p:sp>
        <p:nvSpPr>
          <p:cNvPr id="250" name="Google Shape;250;p31"/>
          <p:cNvSpPr txBox="1"/>
          <p:nvPr>
            <p:ph idx="1" type="body"/>
          </p:nvPr>
        </p:nvSpPr>
        <p:spPr>
          <a:xfrm>
            <a:off x="243250" y="1495575"/>
            <a:ext cx="5656500" cy="4896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Slide the little switch on the bluefruit board to “UART”.</a:t>
            </a:r>
            <a:endParaRPr/>
          </a:p>
          <a:p>
            <a:pPr indent="-342900" lvl="0" marL="457200" rtl="0" algn="l">
              <a:spcBef>
                <a:spcPts val="0"/>
              </a:spcBef>
              <a:spcAft>
                <a:spcPts val="0"/>
              </a:spcAft>
              <a:buSzPts val="1800"/>
              <a:buChar char="●"/>
            </a:pPr>
            <a:r>
              <a:rPr lang="en"/>
              <a:t>Run the passthrough program on your Nucleo.</a:t>
            </a:r>
            <a:endParaRPr/>
          </a:p>
          <a:p>
            <a:pPr indent="-342900" lvl="0" marL="457200" rtl="0" algn="l">
              <a:spcBef>
                <a:spcPts val="0"/>
              </a:spcBef>
              <a:spcAft>
                <a:spcPts val="0"/>
              </a:spcAft>
              <a:buSzPts val="1800"/>
              <a:buChar char="●"/>
            </a:pPr>
            <a:r>
              <a:rPr lang="en"/>
              <a:t>Open the Adafruit bluetooth app on your phone and select the “Must have UART Service” filter. </a:t>
            </a:r>
            <a:endParaRPr/>
          </a:p>
          <a:p>
            <a:pPr indent="-342900" lvl="0" marL="457200" rtl="0" algn="l">
              <a:spcBef>
                <a:spcPts val="0"/>
              </a:spcBef>
              <a:spcAft>
                <a:spcPts val="0"/>
              </a:spcAft>
              <a:buSzPts val="1800"/>
              <a:buChar char="●"/>
            </a:pPr>
            <a:r>
              <a:rPr lang="en"/>
              <a:t>Find and connect to your device. </a:t>
            </a:r>
            <a:endParaRPr/>
          </a:p>
          <a:p>
            <a:pPr indent="-342900" lvl="0" marL="457200" rtl="0" algn="l">
              <a:spcBef>
                <a:spcPts val="0"/>
              </a:spcBef>
              <a:spcAft>
                <a:spcPts val="0"/>
              </a:spcAft>
              <a:buSzPts val="1800"/>
              <a:buChar char="●"/>
            </a:pPr>
            <a:r>
              <a:rPr lang="en"/>
              <a:t>Open the UART tab.</a:t>
            </a:r>
            <a:endParaRPr/>
          </a:p>
          <a:p>
            <a:pPr indent="-342900" lvl="0" marL="457200" rtl="0" algn="l">
              <a:spcBef>
                <a:spcPts val="0"/>
              </a:spcBef>
              <a:spcAft>
                <a:spcPts val="0"/>
              </a:spcAft>
              <a:buSzPts val="1800"/>
              <a:buChar char="●"/>
            </a:pPr>
            <a:r>
              <a:rPr lang="en"/>
              <a:t>Test sending and receiving </a:t>
            </a:r>
            <a:r>
              <a:rPr lang="en"/>
              <a:t>characters</a:t>
            </a:r>
            <a:r>
              <a:rPr lang="en"/>
              <a:t> over bluetooth. Make sure that characters you type here appear on CoolTerm and vice versa.</a:t>
            </a:r>
            <a:endParaRPr/>
          </a:p>
          <a:p>
            <a:pPr indent="-342900" lvl="0" marL="457200" rtl="0" algn="l">
              <a:spcBef>
                <a:spcPts val="0"/>
              </a:spcBef>
              <a:spcAft>
                <a:spcPts val="0"/>
              </a:spcAft>
              <a:buSzPts val="1800"/>
              <a:buChar char="●"/>
            </a:pPr>
            <a:r>
              <a:rPr lang="en"/>
              <a:t>If you have trouble finding your device, you may need to go to a space with fewer ES28 students trying to find their devices! Alternatively, give your </a:t>
            </a:r>
            <a:r>
              <a:rPr lang="en"/>
              <a:t>device a name via Command Mode (next slide).</a:t>
            </a:r>
            <a:endParaRPr/>
          </a:p>
        </p:txBody>
      </p:sp>
      <p:sp>
        <p:nvSpPr>
          <p:cNvPr id="251" name="Google Shape;251;p3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52" name="Google Shape;252;p31"/>
          <p:cNvPicPr preferRelativeResize="0"/>
          <p:nvPr/>
        </p:nvPicPr>
        <p:blipFill rotWithShape="1">
          <a:blip r:embed="rId3">
            <a:alphaModFix/>
          </a:blip>
          <a:srcRect b="12945" l="33598" r="32639" t="9167"/>
          <a:stretch/>
        </p:blipFill>
        <p:spPr>
          <a:xfrm>
            <a:off x="5899751" y="1285025"/>
            <a:ext cx="2984399" cy="3429000"/>
          </a:xfrm>
          <a:prstGeom prst="rect">
            <a:avLst/>
          </a:prstGeom>
          <a:noFill/>
          <a:ln>
            <a:noFill/>
          </a:ln>
        </p:spPr>
      </p:pic>
      <p:sp>
        <p:nvSpPr>
          <p:cNvPr id="253" name="Google Shape;253;p31"/>
          <p:cNvSpPr/>
          <p:nvPr/>
        </p:nvSpPr>
        <p:spPr>
          <a:xfrm>
            <a:off x="7474000" y="2628225"/>
            <a:ext cx="342300" cy="800700"/>
          </a:xfrm>
          <a:prstGeom prst="ellipse">
            <a:avLst/>
          </a:prstGeom>
          <a:noFill/>
          <a:ln cap="flat" cmpd="sng" w="7620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2"/>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CMD (Command) Mode</a:t>
            </a:r>
            <a:endParaRPr/>
          </a:p>
        </p:txBody>
      </p:sp>
      <p:sp>
        <p:nvSpPr>
          <p:cNvPr id="259" name="Google Shape;259;p32"/>
          <p:cNvSpPr txBox="1"/>
          <p:nvPr>
            <p:ph idx="1" type="body"/>
          </p:nvPr>
        </p:nvSpPr>
        <p:spPr>
          <a:xfrm>
            <a:off x="311700" y="1536627"/>
            <a:ext cx="8520600" cy="33228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In this mode you can send instructions to your device.</a:t>
            </a:r>
            <a:endParaRPr/>
          </a:p>
          <a:p>
            <a:pPr indent="-342900" lvl="0" marL="457200" rtl="0" algn="l">
              <a:spcBef>
                <a:spcPts val="0"/>
              </a:spcBef>
              <a:spcAft>
                <a:spcPts val="0"/>
              </a:spcAft>
              <a:buSzPts val="1800"/>
              <a:buChar char="●"/>
            </a:pPr>
            <a:r>
              <a:rPr lang="en"/>
              <a:t>Place your Bluefruit into CMD mode by sliding the little switch toward CMD.</a:t>
            </a:r>
            <a:endParaRPr/>
          </a:p>
          <a:p>
            <a:pPr indent="-342900" lvl="0" marL="457200" rtl="0" algn="l">
              <a:spcBef>
                <a:spcPts val="0"/>
              </a:spcBef>
              <a:spcAft>
                <a:spcPts val="0"/>
              </a:spcAft>
              <a:buSzPts val="1800"/>
              <a:buChar char="●"/>
            </a:pPr>
            <a:r>
              <a:rPr lang="en"/>
              <a:t>I</a:t>
            </a:r>
            <a:r>
              <a:rPr lang="en"/>
              <a:t>nstructions to your Bluefruit come in the form of AT commands.</a:t>
            </a:r>
            <a:endParaRPr/>
          </a:p>
          <a:p>
            <a:pPr indent="-317500" lvl="1" marL="914400" rtl="0" algn="l">
              <a:spcBef>
                <a:spcPts val="0"/>
              </a:spcBef>
              <a:spcAft>
                <a:spcPts val="0"/>
              </a:spcAft>
              <a:buSzPts val="1400"/>
              <a:buChar char="○"/>
            </a:pPr>
            <a:r>
              <a:rPr lang="en"/>
              <a:t>Read up on AT commands in the Adafruit documentation.</a:t>
            </a:r>
            <a:endParaRPr/>
          </a:p>
          <a:p>
            <a:pPr indent="-342900" lvl="0" marL="457200" rtl="0" algn="l">
              <a:spcBef>
                <a:spcPts val="0"/>
              </a:spcBef>
              <a:spcAft>
                <a:spcPts val="0"/>
              </a:spcAft>
              <a:buSzPts val="1800"/>
              <a:buChar char="●"/>
            </a:pPr>
            <a:r>
              <a:rPr lang="en"/>
              <a:t>Continue</a:t>
            </a:r>
            <a:r>
              <a:rPr lang="en"/>
              <a:t> running the passthrough program on your Nucleo.</a:t>
            </a:r>
            <a:endParaRPr/>
          </a:p>
          <a:p>
            <a:pPr indent="-342900" lvl="0" marL="457200" rtl="0" algn="l">
              <a:spcBef>
                <a:spcPts val="0"/>
              </a:spcBef>
              <a:spcAft>
                <a:spcPts val="0"/>
              </a:spcAft>
              <a:buSzPts val="1800"/>
              <a:buChar char="●"/>
            </a:pPr>
            <a:r>
              <a:rPr lang="en"/>
              <a:t>Type a few AT commands into Coolterm, for example:</a:t>
            </a:r>
            <a:endParaRPr/>
          </a:p>
          <a:p>
            <a:pPr indent="-317500" lvl="1" marL="914400" rtl="0" algn="l">
              <a:spcBef>
                <a:spcPts val="0"/>
              </a:spcBef>
              <a:spcAft>
                <a:spcPts val="0"/>
              </a:spcAft>
              <a:buSzPts val="1400"/>
              <a:buChar char="○"/>
            </a:pPr>
            <a:r>
              <a:rPr lang="en"/>
              <a:t>ATZ : Soft reset (restarts the bluetooth stack)</a:t>
            </a:r>
            <a:endParaRPr/>
          </a:p>
          <a:p>
            <a:pPr indent="-317500" lvl="1" marL="914400" rtl="0" algn="l">
              <a:spcBef>
                <a:spcPts val="0"/>
              </a:spcBef>
              <a:spcAft>
                <a:spcPts val="0"/>
              </a:spcAft>
              <a:buSzPts val="1400"/>
              <a:buChar char="○"/>
            </a:pPr>
            <a:r>
              <a:rPr lang="en"/>
              <a:t>AT+FACTORYRESET : The big hammer. </a:t>
            </a:r>
            <a:endParaRPr/>
          </a:p>
          <a:p>
            <a:pPr indent="-317500" lvl="1" marL="914400" rtl="0" algn="l">
              <a:spcBef>
                <a:spcPts val="0"/>
              </a:spcBef>
              <a:spcAft>
                <a:spcPts val="0"/>
              </a:spcAft>
              <a:buSzPts val="1400"/>
              <a:buChar char="○"/>
            </a:pPr>
            <a:r>
              <a:rPr lang="en"/>
              <a:t>AT+GAPDEVNAME : This is how you give your device a recognizable name. You need to issue an ATZ command after changing your devices name so that it starts advertising the change.</a:t>
            </a:r>
            <a:endParaRPr/>
          </a:p>
          <a:p>
            <a:pPr indent="0" lvl="0" marL="0" rtl="0" algn="l">
              <a:spcBef>
                <a:spcPts val="1200"/>
              </a:spcBef>
              <a:spcAft>
                <a:spcPts val="1200"/>
              </a:spcAft>
              <a:buNone/>
            </a:pPr>
            <a:r>
              <a:t/>
            </a:r>
            <a:endParaRPr/>
          </a:p>
        </p:txBody>
      </p:sp>
      <p:sp>
        <p:nvSpPr>
          <p:cNvPr id="260" name="Google Shape;260;p3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1" name="Google Shape;261;p32"/>
          <p:cNvSpPr txBox="1"/>
          <p:nvPr/>
        </p:nvSpPr>
        <p:spPr>
          <a:xfrm>
            <a:off x="547525" y="5039175"/>
            <a:ext cx="7788900" cy="1040400"/>
          </a:xfrm>
          <a:prstGeom prst="rect">
            <a:avLst/>
          </a:prstGeom>
          <a:solidFill>
            <a:srgbClr val="C9DAF8"/>
          </a:solidFill>
          <a:ln cap="flat" cmpd="sng" w="2857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FF"/>
                </a:solidFill>
              </a:rPr>
              <a:t>You should still be running your “passthrough” code at this point. This will allow you to see if your commands were processed correctly (Bluetooth  responds “OK”) or incorrectly (Bluetooth response “Error”).</a:t>
            </a:r>
            <a:endParaRPr sz="1800">
              <a:solidFill>
                <a:srgbClr val="0000FF"/>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3"/>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Switching Modes via Mode Pin</a:t>
            </a:r>
            <a:endParaRPr/>
          </a:p>
        </p:txBody>
      </p:sp>
      <p:sp>
        <p:nvSpPr>
          <p:cNvPr id="267" name="Google Shape;267;p33"/>
          <p:cNvSpPr txBox="1"/>
          <p:nvPr>
            <p:ph idx="1" type="body"/>
          </p:nvPr>
        </p:nvSpPr>
        <p:spPr>
          <a:xfrm>
            <a:off x="311700" y="1536624"/>
            <a:ext cx="8520600" cy="5020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You wouldn't want to keep sliding that little switch by hand…</a:t>
            </a:r>
            <a:endParaRPr/>
          </a:p>
          <a:p>
            <a:pPr indent="-342900" lvl="0" marL="457200" rtl="0" algn="l">
              <a:spcBef>
                <a:spcPts val="0"/>
              </a:spcBef>
              <a:spcAft>
                <a:spcPts val="0"/>
              </a:spcAft>
              <a:buSzPts val="1800"/>
              <a:buChar char="●"/>
            </a:pPr>
            <a:r>
              <a:rPr lang="en"/>
              <a:t>Connect a GPIO pin on your Nucleo to the Mode Pin on the Bluefruit.</a:t>
            </a:r>
            <a:endParaRPr/>
          </a:p>
          <a:p>
            <a:pPr indent="-342900" lvl="0" marL="457200" rtl="0" algn="l">
              <a:spcBef>
                <a:spcPts val="0"/>
              </a:spcBef>
              <a:spcAft>
                <a:spcPts val="0"/>
              </a:spcAft>
              <a:buSzPts val="1800"/>
              <a:buChar char="●"/>
            </a:pPr>
            <a:r>
              <a:rPr lang="en"/>
              <a:t>Y</a:t>
            </a:r>
            <a:r>
              <a:rPr lang="en"/>
              <a:t>ou can control the mode by switching the pin high (CMD Mode) or low (UART mode).</a:t>
            </a:r>
            <a:endParaRPr/>
          </a:p>
          <a:p>
            <a:pPr indent="-342900" lvl="0" marL="457200" rtl="0" algn="l">
              <a:spcBef>
                <a:spcPts val="0"/>
              </a:spcBef>
              <a:spcAft>
                <a:spcPts val="0"/>
              </a:spcAft>
              <a:buSzPts val="1800"/>
              <a:buChar char="●"/>
            </a:pPr>
            <a:r>
              <a:rPr lang="en"/>
              <a:t>In you code you'll need to </a:t>
            </a:r>
            <a:r>
              <a:rPr lang="en"/>
              <a:t>initialize</a:t>
            </a:r>
            <a:r>
              <a:rPr lang="en"/>
              <a:t> the GPIO pin (as what kind of pin?)</a:t>
            </a:r>
            <a:endParaRPr/>
          </a:p>
          <a:p>
            <a:pPr indent="0" lvl="0" marL="0" rtl="0" algn="l">
              <a:spcBef>
                <a:spcPts val="1200"/>
              </a:spcBef>
              <a:spcAft>
                <a:spcPts val="0"/>
              </a:spcAft>
              <a:buNone/>
            </a:pPr>
            <a:r>
              <a:rPr lang="en"/>
              <a:t>BLE Startup - Initialization:</a:t>
            </a:r>
            <a:endParaRPr/>
          </a:p>
          <a:p>
            <a:pPr indent="-342900" lvl="0" marL="457200" rtl="0" algn="l">
              <a:spcBef>
                <a:spcPts val="1200"/>
              </a:spcBef>
              <a:spcAft>
                <a:spcPts val="0"/>
              </a:spcAft>
              <a:buSzPts val="1800"/>
              <a:buChar char="●"/>
            </a:pPr>
            <a:r>
              <a:rPr lang="en"/>
              <a:t>Switch the mode pin to CMD mode.</a:t>
            </a:r>
            <a:endParaRPr/>
          </a:p>
          <a:p>
            <a:pPr indent="-342900" lvl="0" marL="457200" rtl="0" algn="l">
              <a:spcBef>
                <a:spcPts val="0"/>
              </a:spcBef>
              <a:spcAft>
                <a:spcPts val="0"/>
              </a:spcAft>
              <a:buSzPts val="1800"/>
              <a:buChar char="●"/>
            </a:pPr>
            <a:r>
              <a:rPr lang="en"/>
              <a:t>P</a:t>
            </a:r>
            <a:r>
              <a:rPr lang="en"/>
              <a:t>erforms a factory reset</a:t>
            </a:r>
            <a:endParaRPr/>
          </a:p>
          <a:p>
            <a:pPr indent="-342900" lvl="0" marL="457200" rtl="0" algn="l">
              <a:spcBef>
                <a:spcPts val="0"/>
              </a:spcBef>
              <a:spcAft>
                <a:spcPts val="0"/>
              </a:spcAft>
              <a:buSzPts val="1800"/>
              <a:buChar char="●"/>
            </a:pPr>
            <a:r>
              <a:rPr lang="en"/>
              <a:t>Assigns a device name.</a:t>
            </a:r>
            <a:endParaRPr/>
          </a:p>
          <a:p>
            <a:pPr indent="-342900" lvl="0" marL="457200" rtl="0" algn="l">
              <a:spcBef>
                <a:spcPts val="0"/>
              </a:spcBef>
              <a:spcAft>
                <a:spcPts val="0"/>
              </a:spcAft>
              <a:buSzPts val="1800"/>
              <a:buChar char="●"/>
            </a:pPr>
            <a:r>
              <a:rPr lang="en"/>
              <a:t>Perform a soft reset (so the device will start </a:t>
            </a:r>
            <a:r>
              <a:rPr lang="en"/>
              <a:t>advertising</a:t>
            </a:r>
            <a:r>
              <a:rPr lang="en"/>
              <a:t> the new name).</a:t>
            </a:r>
            <a:endParaRPr/>
          </a:p>
          <a:p>
            <a:pPr indent="-342900" lvl="0" marL="457200" rtl="0" algn="l">
              <a:spcBef>
                <a:spcPts val="0"/>
              </a:spcBef>
              <a:spcAft>
                <a:spcPts val="0"/>
              </a:spcAft>
              <a:buSzPts val="1800"/>
              <a:buChar char="●"/>
            </a:pPr>
            <a:r>
              <a:rPr lang="en"/>
              <a:t>Switch to UART mode.</a:t>
            </a:r>
            <a:endParaRPr/>
          </a:p>
          <a:p>
            <a:pPr indent="-342900" lvl="0" marL="457200" rtl="0" algn="l">
              <a:spcBef>
                <a:spcPts val="0"/>
              </a:spcBef>
              <a:spcAft>
                <a:spcPts val="0"/>
              </a:spcAft>
              <a:buSzPts val="1800"/>
              <a:buChar char="●"/>
            </a:pPr>
            <a:r>
              <a:rPr lang="en"/>
              <a:t>The device should then sit idly doing nothing.</a:t>
            </a:r>
            <a:endParaRPr/>
          </a:p>
          <a:p>
            <a:pPr indent="-342900" lvl="0" marL="457200" rtl="0" algn="l">
              <a:spcBef>
                <a:spcPts val="0"/>
              </a:spcBef>
              <a:spcAft>
                <a:spcPts val="0"/>
              </a:spcAft>
              <a:buSzPts val="1800"/>
              <a:buChar char="●"/>
            </a:pPr>
            <a:r>
              <a:rPr lang="en"/>
              <a:t>Consider placing the initialization in its own file as a function you can call from any program.</a:t>
            </a:r>
            <a:endParaRPr/>
          </a:p>
        </p:txBody>
      </p:sp>
      <p:sp>
        <p:nvSpPr>
          <p:cNvPr id="268" name="Google Shape;268;p3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4"/>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are now ready to build your system!</a:t>
            </a:r>
            <a:endParaRPr/>
          </a:p>
        </p:txBody>
      </p:sp>
      <p:sp>
        <p:nvSpPr>
          <p:cNvPr id="274" name="Google Shape;274;p34"/>
          <p:cNvSpPr txBox="1"/>
          <p:nvPr>
            <p:ph idx="1" type="body"/>
          </p:nvPr>
        </p:nvSpPr>
        <p:spPr>
          <a:xfrm>
            <a:off x="241725" y="1980350"/>
            <a:ext cx="8520600" cy="381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300"/>
              <a:t>Your system should behave normally even if there is no other device connected.</a:t>
            </a:r>
            <a:endParaRPr sz="2300"/>
          </a:p>
          <a:p>
            <a:pPr indent="0" lvl="0" marL="0" rtl="0" algn="l">
              <a:spcBef>
                <a:spcPts val="1200"/>
              </a:spcBef>
              <a:spcAft>
                <a:spcPts val="0"/>
              </a:spcAft>
              <a:buClr>
                <a:schemeClr val="dk1"/>
              </a:buClr>
              <a:buSzPts val="1100"/>
              <a:buFont typeface="Arial"/>
              <a:buNone/>
            </a:pPr>
            <a:r>
              <a:rPr lang="en" sz="2300"/>
              <a:t>When a bluetooth device connects, it should start receiving data from your system, and your system should start responding to commands from the Bluetooth device. Assume the Bluetooth device will come and go periodically, and make sure that your main loop does not depend on any particular state of the Bluetooth system.</a:t>
            </a:r>
            <a:endParaRPr sz="2300"/>
          </a:p>
          <a:p>
            <a:pPr indent="0" lvl="0" marL="0" rtl="0" algn="l">
              <a:spcBef>
                <a:spcPts val="1200"/>
              </a:spcBef>
              <a:spcAft>
                <a:spcPts val="1200"/>
              </a:spcAft>
              <a:buNone/>
            </a:pPr>
            <a:r>
              <a:t/>
            </a:r>
            <a:endParaRPr sz="2300"/>
          </a:p>
        </p:txBody>
      </p:sp>
      <p:sp>
        <p:nvSpPr>
          <p:cNvPr id="275" name="Google Shape;275;p3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Few Notes on the Final Project</a:t>
            </a:r>
            <a:endParaRPr/>
          </a:p>
        </p:txBody>
      </p:sp>
      <p:sp>
        <p:nvSpPr>
          <p:cNvPr id="281" name="Google Shape;281;p35"/>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Read the project description carefully. Ask questions as needed.</a:t>
            </a:r>
            <a:endParaRPr/>
          </a:p>
          <a:p>
            <a:pPr indent="-342900" lvl="0" marL="457200" rtl="0" algn="l">
              <a:spcBef>
                <a:spcPts val="0"/>
              </a:spcBef>
              <a:spcAft>
                <a:spcPts val="0"/>
              </a:spcAft>
              <a:buSzPts val="1800"/>
              <a:buChar char="●"/>
            </a:pPr>
            <a:r>
              <a:rPr lang="en"/>
              <a:t>Get started with your paper design!</a:t>
            </a:r>
            <a:endParaRPr/>
          </a:p>
          <a:p>
            <a:pPr indent="-342900" lvl="0" marL="457200" rtl="0" algn="l">
              <a:spcBef>
                <a:spcPts val="0"/>
              </a:spcBef>
              <a:spcAft>
                <a:spcPts val="0"/>
              </a:spcAft>
              <a:buSzPts val="1800"/>
              <a:buChar char="●"/>
            </a:pPr>
            <a:r>
              <a:rPr lang="en"/>
              <a:t>By Friday (10pm), submit your paper design (pseudocode, block diagram etc).</a:t>
            </a:r>
            <a:endParaRPr/>
          </a:p>
        </p:txBody>
      </p:sp>
      <p:sp>
        <p:nvSpPr>
          <p:cNvPr id="282" name="Google Shape;282;p3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6"/>
          <p:cNvSpPr txBox="1"/>
          <p:nvPr>
            <p:ph type="title"/>
          </p:nvPr>
        </p:nvSpPr>
        <p:spPr>
          <a:xfrm>
            <a:off x="219700" y="131375"/>
            <a:ext cx="27312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Paper Design</a:t>
            </a:r>
            <a:endParaRPr/>
          </a:p>
        </p:txBody>
      </p:sp>
      <p:sp>
        <p:nvSpPr>
          <p:cNvPr id="288" name="Google Shape;288;p36"/>
          <p:cNvSpPr txBox="1"/>
          <p:nvPr>
            <p:ph idx="1" type="body"/>
          </p:nvPr>
        </p:nvSpPr>
        <p:spPr>
          <a:xfrm>
            <a:off x="311700" y="792350"/>
            <a:ext cx="8520600" cy="51720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Clr>
                <a:schemeClr val="dk1"/>
              </a:buClr>
              <a:buSzPts val="935"/>
              <a:buFont typeface="Arial"/>
              <a:buNone/>
            </a:pPr>
            <a:r>
              <a:rPr lang="en" sz="1430"/>
              <a:t>This is a large, complicated project. Do not start coding until you have developed a plan!</a:t>
            </a:r>
            <a:endParaRPr sz="1430"/>
          </a:p>
          <a:p>
            <a:pPr indent="0" lvl="0" marL="0" rtl="0" algn="l">
              <a:lnSpc>
                <a:spcPct val="95000"/>
              </a:lnSpc>
              <a:spcBef>
                <a:spcPts val="1200"/>
              </a:spcBef>
              <a:spcAft>
                <a:spcPts val="0"/>
              </a:spcAft>
              <a:buClr>
                <a:schemeClr val="dk1"/>
              </a:buClr>
              <a:buSzPts val="935"/>
              <a:buFont typeface="Arial"/>
              <a:buNone/>
            </a:pPr>
            <a:r>
              <a:rPr lang="en" sz="1430"/>
              <a:t>Begin the process on paper by describing, with a block diagram, high level pseudo-code, or a state machine diagram exactly which components you are using and how they will interact. Consider in particular: Are you using timers and if so, which one(s)? Will you need interrupts? If so which one(s)? What components will you use (buttons, display, motors, etc)? If you are using a state machine, what are its states?</a:t>
            </a:r>
            <a:endParaRPr sz="1430"/>
          </a:p>
          <a:p>
            <a:pPr indent="0" lvl="0" marL="0" rtl="0" algn="l">
              <a:lnSpc>
                <a:spcPct val="95000"/>
              </a:lnSpc>
              <a:spcBef>
                <a:spcPts val="1200"/>
              </a:spcBef>
              <a:spcAft>
                <a:spcPts val="0"/>
              </a:spcAft>
              <a:buClr>
                <a:schemeClr val="dk1"/>
              </a:buClr>
              <a:buSzPts val="935"/>
              <a:buFont typeface="Arial"/>
              <a:buNone/>
            </a:pPr>
            <a:r>
              <a:rPr lang="en" sz="1430"/>
              <a:t>Your paper design should include a listing of all the IO (input/output) in your system and, importantly, how you are using it. Rather than state you are using a button for example, make notes detailing how often you will sample it (or are you using an interrupt?) and how you will use the value to decide what happens next.</a:t>
            </a:r>
            <a:endParaRPr sz="1430"/>
          </a:p>
          <a:p>
            <a:pPr indent="0" lvl="0" marL="0" rtl="0" algn="l">
              <a:lnSpc>
                <a:spcPct val="95000"/>
              </a:lnSpc>
              <a:spcBef>
                <a:spcPts val="1200"/>
              </a:spcBef>
              <a:spcAft>
                <a:spcPts val="0"/>
              </a:spcAft>
              <a:buClr>
                <a:schemeClr val="dk1"/>
              </a:buClr>
              <a:buSzPts val="935"/>
              <a:buFont typeface="Arial"/>
              <a:buNone/>
            </a:pPr>
            <a:r>
              <a:rPr lang="en" sz="1430"/>
              <a:t>If you write pseudo code, keep it at a high level and abstract. This will help you focus on the bigger picture before you get mired in the details. Do not write C! Pseudocode isn’t real code. It is just a structured way of blocking out the main steps you will need to take. Non-obvious things (such as resetting pins) should have some notations about why you are doing them.</a:t>
            </a:r>
            <a:endParaRPr sz="1430"/>
          </a:p>
          <a:p>
            <a:pPr indent="0" lvl="0" marL="0" rtl="0" algn="l">
              <a:lnSpc>
                <a:spcPct val="95000"/>
              </a:lnSpc>
              <a:spcBef>
                <a:spcPts val="1200"/>
              </a:spcBef>
              <a:spcAft>
                <a:spcPts val="1200"/>
              </a:spcAft>
              <a:buSzPts val="935"/>
              <a:buNone/>
            </a:pPr>
            <a:r>
              <a:rPr lang="en" sz="1430"/>
              <a:t>Initially there will be a lot missing, but approaching the problem in a very high level top down approach will allow you to evolve your code gradually (and gracefully) so that without too much effort, you are able to map from your high level ideas to the low level pieces we’ve been studying all term.</a:t>
            </a:r>
            <a:endParaRPr sz="1430"/>
          </a:p>
        </p:txBody>
      </p:sp>
      <p:sp>
        <p:nvSpPr>
          <p:cNvPr id="289" name="Google Shape;289;p3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0" name="Google Shape;290;p36"/>
          <p:cNvSpPr txBox="1"/>
          <p:nvPr/>
        </p:nvSpPr>
        <p:spPr>
          <a:xfrm>
            <a:off x="6421950" y="152300"/>
            <a:ext cx="24717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800">
                <a:solidFill>
                  <a:srgbClr val="FF0000"/>
                </a:solidFill>
              </a:rPr>
              <a:t>Your paper design is due FRIDAY!</a:t>
            </a:r>
            <a:endParaRPr i="1" sz="1800">
              <a:solidFill>
                <a:srgbClr val="FF0000"/>
              </a:solidFill>
            </a:endParaRPr>
          </a:p>
        </p:txBody>
      </p:sp>
      <p:pic>
        <p:nvPicPr>
          <p:cNvPr id="291" name="Google Shape;291;p36" title="Screenshot 2026-03-05 at 9.55.38 AM.png"/>
          <p:cNvPicPr preferRelativeResize="0"/>
          <p:nvPr/>
        </p:nvPicPr>
        <p:blipFill rotWithShape="1">
          <a:blip r:embed="rId3">
            <a:alphaModFix/>
          </a:blip>
          <a:srcRect b="48615" l="12831" r="0" t="0"/>
          <a:stretch/>
        </p:blipFill>
        <p:spPr>
          <a:xfrm>
            <a:off x="2481925" y="5256875"/>
            <a:ext cx="5837850" cy="1485449"/>
          </a:xfrm>
          <a:prstGeom prst="rect">
            <a:avLst/>
          </a:prstGeom>
          <a:noFill/>
          <a:ln cap="flat" cmpd="sng" w="9525">
            <a:solidFill>
              <a:srgbClr val="0000C0"/>
            </a:solidFill>
            <a:prstDash val="solid"/>
            <a:round/>
            <a:headEnd len="sm" w="sm" type="none"/>
            <a:tailEnd len="sm" w="sm" type="none"/>
          </a:ln>
        </p:spPr>
      </p:pic>
      <p:sp>
        <p:nvSpPr>
          <p:cNvPr id="292" name="Google Shape;292;p36"/>
          <p:cNvSpPr txBox="1"/>
          <p:nvPr/>
        </p:nvSpPr>
        <p:spPr>
          <a:xfrm>
            <a:off x="516650" y="5583950"/>
            <a:ext cx="18126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0000FF"/>
                </a:solidFill>
              </a:rPr>
              <a:t>Optional HiTA activity to help with your paper design</a:t>
            </a:r>
            <a:endParaRPr>
              <a:solidFill>
                <a:srgbClr val="0000FF"/>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7"/>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Lab Kits Return on Tuesday</a:t>
            </a:r>
            <a:endParaRPr/>
          </a:p>
        </p:txBody>
      </p:sp>
      <p:sp>
        <p:nvSpPr>
          <p:cNvPr id="298" name="Google Shape;298;p37"/>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All lab kits will be collected on Tuesday after class. Be sure to bring EVERYTHING back to class on Tuesday.</a:t>
            </a:r>
            <a:endParaRPr/>
          </a:p>
        </p:txBody>
      </p:sp>
      <p:sp>
        <p:nvSpPr>
          <p:cNvPr id="299" name="Google Shape;299;p3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8"/>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Project Work Time!</a:t>
            </a:r>
            <a:endParaRPr/>
          </a:p>
        </p:txBody>
      </p:sp>
      <p:sp>
        <p:nvSpPr>
          <p:cNvPr id="305" name="Google Shape;305;p3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