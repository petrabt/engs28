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 id="214748367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144000"/>
  <p:notesSz cx="6858000" cy="9144000"/>
  <p:embeddedFontLst>
    <p:embeddedFont>
      <p:font typeface="Helvetica Neue"/>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HelveticaNeue-regular.fntdata"/><Relationship Id="rId11" Type="http://schemas.openxmlformats.org/officeDocument/2006/relationships/slide" Target="slides/slide6.xml"/><Relationship Id="rId22" Type="http://schemas.openxmlformats.org/officeDocument/2006/relationships/font" Target="fonts/HelveticaNeue-italic.fntdata"/><Relationship Id="rId10" Type="http://schemas.openxmlformats.org/officeDocument/2006/relationships/slide" Target="slides/slide5.xml"/><Relationship Id="rId21" Type="http://schemas.openxmlformats.org/officeDocument/2006/relationships/font" Target="fonts/HelveticaNeue-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HelveticaNeue-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4c3fcdfa2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4c3fcdfa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cede362bd5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cede362b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7ebf9a970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7ebf9a97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78c9c42af2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78c9c42a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ee7d41d463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ee7d41d4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of the top 5 things to do improve embedded systems design flow b/c code reviews catch bugs.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4c5e669db9_2_2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4c5e669db9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one mirrors the state </a:t>
            </a:r>
            <a:r>
              <a:rPr lang="en"/>
              <a:t>machine</a:t>
            </a:r>
            <a:r>
              <a:rPr lang="en"/>
              <a:t> design.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a526e6a1b0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a526e6a1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bit more efficient but doesn't as closely mirror the state machine design that will come next.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0b07c69bab_0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0b07c69ba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ecea7d0ae3_0_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ecea7d0ae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0b07c69bab_0_4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0b07c69ba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0b07c69bab_0_6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0b07c69ba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0b07c69bab_0_1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0b07c69bab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a526e6a1b0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a526e6a1b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rtl="0" algn="l">
              <a:spcBef>
                <a:spcPts val="360"/>
              </a:spcBef>
              <a:spcAft>
                <a:spcPts val="0"/>
              </a:spcAft>
              <a:buSzPts val="1800"/>
              <a:buNone/>
              <a:defRPr/>
            </a:lvl1pPr>
            <a:lvl2pPr indent="-228600" lvl="1" marL="914400" rtl="0" algn="l">
              <a:spcBef>
                <a:spcPts val="360"/>
              </a:spcBef>
              <a:spcAft>
                <a:spcPts val="0"/>
              </a:spcAft>
              <a:buSzPts val="1400"/>
              <a:buNone/>
              <a:defRPr/>
            </a:lvl2pPr>
            <a:lvl3pPr indent="-228600" lvl="2" marL="1371600" rtl="0" algn="l">
              <a:spcBef>
                <a:spcPts val="360"/>
              </a:spcBef>
              <a:spcAft>
                <a:spcPts val="0"/>
              </a:spcAft>
              <a:buSzPts val="1400"/>
              <a:buNone/>
              <a:defRPr/>
            </a:lvl3pPr>
            <a:lvl4pPr indent="-228600" lvl="3" marL="1828800" rtl="0" algn="l">
              <a:spcBef>
                <a:spcPts val="360"/>
              </a:spcBef>
              <a:spcAft>
                <a:spcPts val="0"/>
              </a:spcAft>
              <a:buSzPts val="1400"/>
              <a:buNone/>
              <a:defRPr/>
            </a:lvl4pPr>
            <a:lvl5pPr indent="-228600" lvl="4" marL="2286000" rtl="0" algn="l">
              <a:spcBef>
                <a:spcPts val="360"/>
              </a:spcBef>
              <a:spcAft>
                <a:spcPts val="0"/>
              </a:spcAft>
              <a:buSzPts val="1400"/>
              <a:buNone/>
              <a:defRPr/>
            </a:lvl5pPr>
            <a:lvl6pPr indent="-228600" lvl="5" marL="2743200" rtl="0" algn="l">
              <a:spcBef>
                <a:spcPts val="360"/>
              </a:spcBef>
              <a:spcAft>
                <a:spcPts val="0"/>
              </a:spcAft>
              <a:buSzPts val="1400"/>
              <a:buNone/>
              <a:defRPr/>
            </a:lvl6pPr>
            <a:lvl7pPr indent="-228600" lvl="6" marL="3200400" rtl="0" algn="l">
              <a:spcBef>
                <a:spcPts val="360"/>
              </a:spcBef>
              <a:spcAft>
                <a:spcPts val="0"/>
              </a:spcAft>
              <a:buSzPts val="1400"/>
              <a:buNone/>
              <a:defRPr/>
            </a:lvl7pPr>
            <a:lvl8pPr indent="-228600" lvl="7" marL="3657600" rtl="0" algn="l">
              <a:spcBef>
                <a:spcPts val="360"/>
              </a:spcBef>
              <a:spcAft>
                <a:spcPts val="0"/>
              </a:spcAft>
              <a:buSzPts val="1400"/>
              <a:buNone/>
              <a:defRPr/>
            </a:lvl8pPr>
            <a:lvl9pPr indent="-228600" lvl="8" marL="4114800" rtl="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600"/>
              </a:spcBef>
              <a:spcAft>
                <a:spcPts val="0"/>
              </a:spcAft>
              <a:buSzPts val="1400"/>
              <a:buNone/>
              <a:defRPr i="1" sz="1200">
                <a:solidFill>
                  <a:schemeClr val="lt2"/>
                </a:solidFill>
                <a:latin typeface="Helvetica Neue"/>
                <a:ea typeface="Helvetica Neue"/>
                <a:cs typeface="Helvetica Neue"/>
                <a:sym typeface="Helvetica Neu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i="0"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p15"/>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1" name="Google Shape;61;p15"/>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2" name="Google Shape;62;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16"/>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5" name="Google Shape;65;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1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9" name="Google Shape;69;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3" name="Google Shape;73;p18"/>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4" name="Google Shape;74;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 name="Google Shape;77;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20"/>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 name="Google Shape;80;p20"/>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81" name="Google Shape;81;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1"/>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4" name="Google Shape;84;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22"/>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2"/>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8" name="Google Shape;88;p22"/>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9" name="Google Shape;89;p22"/>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90" name="Google Shape;90;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3"/>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93" name="Google Shape;93;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4"/>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6" name="Google Shape;96;p24"/>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97" name="Google Shape;97;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7" name="Google Shape;57;p1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58" name="Google Shape;58;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6"/>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105" name="Google Shape;105;p26"/>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4</a:t>
            </a:r>
            <a:endParaRPr sz="2800">
              <a:solidFill>
                <a:srgbClr val="595959"/>
              </a:solidFill>
              <a:latin typeface="Comic Sans MS"/>
              <a:ea typeface="Comic Sans MS"/>
              <a:cs typeface="Comic Sans MS"/>
              <a:sym typeface="Comic Sans MS"/>
            </a:endParaRPr>
          </a:p>
        </p:txBody>
      </p:sp>
      <p:pic>
        <p:nvPicPr>
          <p:cNvPr id="106" name="Google Shape;106;p26"/>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107" name="Google Shape;107;p26"/>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13" name="Google Shape;113;p27"/>
          <p:cNvSpPr txBox="1"/>
          <p:nvPr>
            <p:ph idx="1" type="body"/>
          </p:nvPr>
        </p:nvSpPr>
        <p:spPr>
          <a:xfrm>
            <a:off x="345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a:t>
            </a:r>
            <a:endParaRPr/>
          </a:p>
          <a:p>
            <a:pPr indent="0" lvl="0" marL="0" rtl="0" algn="l">
              <a:spcBef>
                <a:spcPts val="1600"/>
              </a:spcBef>
              <a:spcAft>
                <a:spcPts val="0"/>
              </a:spcAft>
              <a:buNone/>
            </a:pPr>
            <a:r>
              <a:rPr lang="en"/>
              <a:t>Code review: Set up your Nucleo to show the LED toggle code.</a:t>
            </a:r>
            <a:endParaRPr/>
          </a:p>
          <a:p>
            <a:pPr indent="0" lvl="0" marL="0" rtl="0" algn="l">
              <a:spcBef>
                <a:spcPts val="1600"/>
              </a:spcBef>
              <a:spcAft>
                <a:spcPts val="0"/>
              </a:spcAft>
              <a:buNone/>
            </a:pPr>
            <a:r>
              <a:rPr lang="en"/>
              <a:t>State machine design pattern</a:t>
            </a:r>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a:t>
            </a:r>
            <a:endParaRPr/>
          </a:p>
        </p:txBody>
      </p:sp>
      <p:sp>
        <p:nvSpPr>
          <p:cNvPr id="119" name="Google Shape;119;p2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t>Labs:</a:t>
            </a:r>
            <a:endParaRPr b="1" sz="2200"/>
          </a:p>
          <a:p>
            <a:pPr indent="-342900" lvl="0" marL="457200" rtl="0" algn="l">
              <a:spcBef>
                <a:spcPts val="1600"/>
              </a:spcBef>
              <a:spcAft>
                <a:spcPts val="0"/>
              </a:spcAft>
              <a:buSzPts val="1800"/>
              <a:buChar char="●"/>
            </a:pPr>
            <a:r>
              <a:rPr lang="en"/>
              <a:t>Start early! Greater chance of getting 1-1 TA time on Tuesday, Wednesday, Thursday.</a:t>
            </a:r>
            <a:endParaRPr/>
          </a:p>
          <a:p>
            <a:pPr indent="-342900" lvl="0" marL="457200" rtl="0" algn="l">
              <a:spcBef>
                <a:spcPts val="0"/>
              </a:spcBef>
              <a:spcAft>
                <a:spcPts val="0"/>
              </a:spcAft>
              <a:buSzPts val="1800"/>
              <a:buChar char="●"/>
            </a:pPr>
            <a:r>
              <a:rPr lang="en"/>
              <a:t>Signatures: try your best to get an in-person signature. Video submission should be used in an emergency only. </a:t>
            </a:r>
            <a:endParaRPr/>
          </a:p>
          <a:p>
            <a:pPr indent="-317500" lvl="1" marL="914400" rtl="0" algn="l">
              <a:spcBef>
                <a:spcPts val="0"/>
              </a:spcBef>
              <a:spcAft>
                <a:spcPts val="0"/>
              </a:spcAft>
              <a:buSzPts val="1400"/>
              <a:buChar char="○"/>
            </a:pPr>
            <a:r>
              <a:rPr lang="en"/>
              <a:t>If something is off with your demo and at signature time it is noticed by a TA, you still have the chance to fix it. -&gt; better chance for more points</a:t>
            </a:r>
            <a:endParaRPr/>
          </a:p>
          <a:p>
            <a:pPr indent="-317500" lvl="1" marL="914400" rtl="0" algn="l">
              <a:spcBef>
                <a:spcPts val="0"/>
              </a:spcBef>
              <a:spcAft>
                <a:spcPts val="0"/>
              </a:spcAft>
              <a:buSzPts val="1400"/>
              <a:buChar char="○"/>
            </a:pPr>
            <a:r>
              <a:rPr lang="en"/>
              <a:t>Videos made on apple devices are difficult to view for TAs with Windows computers.</a:t>
            </a:r>
            <a:endParaRPr/>
          </a:p>
          <a:p>
            <a:pPr indent="-342900" lvl="0" marL="457200" rtl="0" algn="l">
              <a:spcBef>
                <a:spcPts val="0"/>
              </a:spcBef>
              <a:spcAft>
                <a:spcPts val="0"/>
              </a:spcAft>
              <a:buSzPts val="1800"/>
              <a:buChar char="●"/>
            </a:pPr>
            <a:r>
              <a:rPr lang="en"/>
              <a:t>Follow the submission instructions in the lab.</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a:t>
            </a:r>
            <a:endParaRPr/>
          </a:p>
        </p:txBody>
      </p:sp>
      <p:sp>
        <p:nvSpPr>
          <p:cNvPr id="125" name="Google Shape;125;p2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Quiz 1:</a:t>
            </a:r>
            <a:endParaRPr/>
          </a:p>
          <a:p>
            <a:pPr indent="-342900" lvl="0" marL="457200" rtl="0" algn="l">
              <a:spcBef>
                <a:spcPts val="1600"/>
              </a:spcBef>
              <a:spcAft>
                <a:spcPts val="0"/>
              </a:spcAft>
              <a:buSzPts val="1800"/>
              <a:buChar char="●"/>
            </a:pPr>
            <a:r>
              <a:rPr lang="en"/>
              <a:t>Available anytime between noon on Sunday, January 18, and noon on Tuesday, January 20.</a:t>
            </a:r>
            <a:endParaRPr/>
          </a:p>
          <a:p>
            <a:pPr indent="-317500" lvl="1" marL="914400" rtl="0" algn="l">
              <a:spcBef>
                <a:spcPts val="0"/>
              </a:spcBef>
              <a:spcAft>
                <a:spcPts val="0"/>
              </a:spcAft>
              <a:buSzPts val="1400"/>
              <a:buChar char="○"/>
            </a:pPr>
            <a:r>
              <a:rPr lang="en"/>
              <a:t>Going forward, quizzes will be available on Mondays, 12:01 am-11:59 pm.</a:t>
            </a:r>
            <a:endParaRPr/>
          </a:p>
          <a:p>
            <a:pPr indent="-342900" lvl="0" marL="457200" rtl="0" algn="l">
              <a:spcBef>
                <a:spcPts val="0"/>
              </a:spcBef>
              <a:spcAft>
                <a:spcPts val="0"/>
              </a:spcAft>
              <a:buSzPts val="1800"/>
              <a:buChar char="●"/>
            </a:pPr>
            <a:r>
              <a:rPr lang="en"/>
              <a:t>The time limit is 60 minutes.  You may take the quiz in any uninterrupted one-hour period during the quiz availability.</a:t>
            </a:r>
            <a:endParaRPr/>
          </a:p>
          <a:p>
            <a:pPr indent="-342900" lvl="0" marL="457200" rtl="0" algn="l">
              <a:spcBef>
                <a:spcPts val="0"/>
              </a:spcBef>
              <a:spcAft>
                <a:spcPts val="0"/>
              </a:spcAft>
              <a:buSzPts val="1800"/>
              <a:buChar char="●"/>
            </a:pPr>
            <a:r>
              <a:rPr lang="en"/>
              <a:t>Permitted sources: lecture and lab handouts, readings in Williams and White the Nucleo reference manual, datasheet, anything else archived on Canvas.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Homework</a:t>
            </a:r>
            <a:endParaRPr/>
          </a:p>
        </p:txBody>
      </p:sp>
      <p:sp>
        <p:nvSpPr>
          <p:cNvPr id="131" name="Google Shape;131;p30"/>
          <p:cNvSpPr txBox="1"/>
          <p:nvPr>
            <p:ph idx="1" type="body"/>
          </p:nvPr>
        </p:nvSpPr>
        <p:spPr>
          <a:xfrm>
            <a:off x="311700" y="1356875"/>
            <a:ext cx="3940200" cy="341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Write code (toggleLED.c) so that the on-board LED is toggled on and off via the button:</a:t>
            </a:r>
            <a:endParaRPr sz="1600"/>
          </a:p>
          <a:p>
            <a:pPr indent="0" lvl="0" marL="0" rtl="0" algn="l">
              <a:spcBef>
                <a:spcPts val="0"/>
              </a:spcBef>
              <a:spcAft>
                <a:spcPts val="0"/>
              </a:spcAft>
              <a:buNone/>
            </a:pPr>
            <a:r>
              <a:rPr lang="en" sz="1600"/>
              <a:t>	</a:t>
            </a:r>
            <a:r>
              <a:rPr lang="en" sz="1400"/>
              <a:t>PRESS 	=&gt; LED goes ON</a:t>
            </a:r>
            <a:endParaRPr sz="1400"/>
          </a:p>
          <a:p>
            <a:pPr indent="0" lvl="0" marL="0" rtl="0" algn="l">
              <a:spcBef>
                <a:spcPts val="0"/>
              </a:spcBef>
              <a:spcAft>
                <a:spcPts val="0"/>
              </a:spcAft>
              <a:buNone/>
            </a:pPr>
            <a:r>
              <a:rPr lang="en" sz="1400"/>
              <a:t>	RELEASE	=&gt; LED stays ON</a:t>
            </a:r>
            <a:endParaRPr sz="1400"/>
          </a:p>
          <a:p>
            <a:pPr indent="0" lvl="0" marL="0" rtl="0" algn="l">
              <a:spcBef>
                <a:spcPts val="0"/>
              </a:spcBef>
              <a:spcAft>
                <a:spcPts val="0"/>
              </a:spcAft>
              <a:buNone/>
            </a:pPr>
            <a:r>
              <a:rPr lang="en" sz="1400"/>
              <a:t>	PRESS	=&gt; LED goes OFF</a:t>
            </a:r>
            <a:endParaRPr sz="1400"/>
          </a:p>
          <a:p>
            <a:pPr indent="0" lvl="0" marL="0" rtl="0" algn="l">
              <a:spcBef>
                <a:spcPts val="0"/>
              </a:spcBef>
              <a:spcAft>
                <a:spcPts val="0"/>
              </a:spcAft>
              <a:buNone/>
            </a:pPr>
            <a:r>
              <a:rPr lang="en" sz="1400"/>
              <a:t>	RELEASE	=&gt; LED stays OFF</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600"/>
              <a:t>In order to prevent</a:t>
            </a:r>
            <a:r>
              <a:rPr lang="en" sz="1600"/>
              <a:t> “glitches” (erratic behavior of the LED caused by button bounce), add a 0.15µF capacitor across the switch. </a:t>
            </a:r>
            <a:endParaRPr/>
          </a:p>
        </p:txBody>
      </p:sp>
      <p:sp>
        <p:nvSpPr>
          <p:cNvPr id="132" name="Google Shape;132;p30"/>
          <p:cNvSpPr txBox="1"/>
          <p:nvPr/>
        </p:nvSpPr>
        <p:spPr>
          <a:xfrm>
            <a:off x="2733825" y="356875"/>
            <a:ext cx="352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33" name="Google Shape;133;p30"/>
          <p:cNvPicPr preferRelativeResize="0"/>
          <p:nvPr/>
        </p:nvPicPr>
        <p:blipFill>
          <a:blip r:embed="rId3">
            <a:alphaModFix/>
          </a:blip>
          <a:stretch>
            <a:fillRect/>
          </a:stretch>
        </p:blipFill>
        <p:spPr>
          <a:xfrm>
            <a:off x="3761851" y="213575"/>
            <a:ext cx="1234976" cy="1245200"/>
          </a:xfrm>
          <a:prstGeom prst="rect">
            <a:avLst/>
          </a:prstGeom>
          <a:noFill/>
          <a:ln>
            <a:noFill/>
          </a:ln>
        </p:spPr>
      </p:pic>
      <p:pic>
        <p:nvPicPr>
          <p:cNvPr id="134" name="Google Shape;134;p30"/>
          <p:cNvPicPr preferRelativeResize="0"/>
          <p:nvPr/>
        </p:nvPicPr>
        <p:blipFill rotWithShape="1">
          <a:blip r:embed="rId4">
            <a:alphaModFix/>
          </a:blip>
          <a:srcRect b="0" l="0" r="0" t="33382"/>
          <a:stretch/>
        </p:blipFill>
        <p:spPr>
          <a:xfrm>
            <a:off x="4599553" y="1923475"/>
            <a:ext cx="4160950" cy="4622950"/>
          </a:xfrm>
          <a:prstGeom prst="rect">
            <a:avLst/>
          </a:prstGeom>
          <a:noFill/>
          <a:ln>
            <a:noFill/>
          </a:ln>
        </p:spPr>
      </p:pic>
      <p:cxnSp>
        <p:nvCxnSpPr>
          <p:cNvPr id="135" name="Google Shape;135;p30"/>
          <p:cNvCxnSpPr>
            <a:stCxn id="133" idx="2"/>
          </p:cNvCxnSpPr>
          <p:nvPr/>
        </p:nvCxnSpPr>
        <p:spPr>
          <a:xfrm>
            <a:off x="4379339" y="1458775"/>
            <a:ext cx="936300" cy="2920500"/>
          </a:xfrm>
          <a:prstGeom prst="straightConnector1">
            <a:avLst/>
          </a:prstGeom>
          <a:noFill/>
          <a:ln cap="flat" cmpd="sng" w="9525">
            <a:solidFill>
              <a:srgbClr val="FF0000"/>
            </a:solidFill>
            <a:prstDash val="dash"/>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Review</a:t>
            </a:r>
            <a:endParaRPr/>
          </a:p>
        </p:txBody>
      </p:sp>
      <p:sp>
        <p:nvSpPr>
          <p:cNvPr id="141" name="Google Shape;141;p31"/>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Share code within your group.</a:t>
            </a:r>
            <a:endParaRPr/>
          </a:p>
          <a:p>
            <a:pPr indent="-342900" lvl="0" marL="457200" rtl="0" algn="l">
              <a:spcBef>
                <a:spcPts val="0"/>
              </a:spcBef>
              <a:spcAft>
                <a:spcPts val="0"/>
              </a:spcAft>
              <a:buSzPts val="1800"/>
              <a:buChar char="●"/>
            </a:pPr>
            <a:r>
              <a:rPr lang="en"/>
              <a:t>Can you read, understand, and explain your partners’ codes?  (This is called "code review" — good for catching bugs!)</a:t>
            </a:r>
            <a:endParaRPr/>
          </a:p>
        </p:txBody>
      </p:sp>
      <p:sp>
        <p:nvSpPr>
          <p:cNvPr id="142" name="Google Shape;142;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6" name="Shape 146"/>
        <p:cNvGrpSpPr/>
        <p:nvPr/>
      </p:nvGrpSpPr>
      <p:grpSpPr>
        <a:xfrm>
          <a:off x="0" y="0"/>
          <a:ext cx="0" cy="0"/>
          <a:chOff x="0" y="0"/>
          <a:chExt cx="0" cy="0"/>
        </a:xfrm>
      </p:grpSpPr>
      <p:sp>
        <p:nvSpPr>
          <p:cNvPr id="147" name="Google Shape;147;p32"/>
          <p:cNvSpPr txBox="1"/>
          <p:nvPr>
            <p:ph type="title"/>
          </p:nvPr>
        </p:nvSpPr>
        <p:spPr>
          <a:xfrm>
            <a:off x="6204325" y="0"/>
            <a:ext cx="2792100" cy="20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Control the LED - toggle - possible solution 1</a:t>
            </a:r>
            <a:endParaRPr/>
          </a:p>
        </p:txBody>
      </p:sp>
      <p:sp>
        <p:nvSpPr>
          <p:cNvPr id="148" name="Google Shape;148;p32"/>
          <p:cNvSpPr txBox="1"/>
          <p:nvPr>
            <p:ph idx="1" type="body"/>
          </p:nvPr>
        </p:nvSpPr>
        <p:spPr>
          <a:xfrm>
            <a:off x="311700" y="88625"/>
            <a:ext cx="8520600" cy="6690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 </a:t>
            </a:r>
            <a:r>
              <a:rPr b="1" lang="en" sz="1100">
                <a:solidFill>
                  <a:srgbClr val="2A00FF"/>
                </a:solidFill>
                <a:highlight>
                  <a:srgbClr val="FFFFFF"/>
                </a:highlight>
                <a:latin typeface="Courier New"/>
                <a:ea typeface="Courier New"/>
                <a:cs typeface="Courier New"/>
                <a:sym typeface="Courier New"/>
              </a:rPr>
              <a:t>"</a:t>
            </a:r>
            <a:r>
              <a:rPr b="1" lang="en" sz="1100">
                <a:solidFill>
                  <a:srgbClr val="3F3FBF"/>
                </a:solidFill>
                <a:highlight>
                  <a:srgbClr val="FFFFFF"/>
                </a:highlight>
                <a:latin typeface="Courier New"/>
                <a:ea typeface="Courier New"/>
                <a:cs typeface="Courier New"/>
                <a:sym typeface="Courier New"/>
              </a:rPr>
              <a:t>ES28.h</a:t>
            </a:r>
            <a:r>
              <a:rPr b="1" lang="en" sz="1100">
                <a:solidFill>
                  <a:srgbClr val="2A00FF"/>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All the port definitions are here</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GPIOAEN        (1U&lt;&lt;0)    </a:t>
            </a:r>
            <a:r>
              <a:rPr b="1" lang="en" sz="1100">
                <a:solidFill>
                  <a:srgbClr val="3F7F59"/>
                </a:solidFill>
                <a:highlight>
                  <a:srgbClr val="FFFFFF"/>
                </a:highlight>
                <a:latin typeface="Courier New"/>
                <a:ea typeface="Courier New"/>
                <a:cs typeface="Courier New"/>
                <a:sym typeface="Courier New"/>
              </a:rPr>
              <a:t>// Clock access to GPIOA (LED)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GPIOBEN        (1U&lt;&lt;1)    </a:t>
            </a:r>
            <a:r>
              <a:rPr b="1" lang="en" sz="1100">
                <a:solidFill>
                  <a:srgbClr val="3F7F59"/>
                </a:solidFill>
                <a:highlight>
                  <a:srgbClr val="FFFFFF"/>
                </a:highlight>
                <a:latin typeface="Courier New"/>
                <a:ea typeface="Courier New"/>
                <a:cs typeface="Courier New"/>
                <a:sym typeface="Courier New"/>
              </a:rPr>
              <a:t>// Clock access to GPIOB (button)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LED_PIN        (1U&lt;&lt;5)    </a:t>
            </a:r>
            <a:r>
              <a:rPr b="1" lang="en" sz="1100">
                <a:solidFill>
                  <a:srgbClr val="3F7F59"/>
                </a:solidFill>
                <a:highlight>
                  <a:srgbClr val="FFFFFF"/>
                </a:highlight>
                <a:latin typeface="Courier New"/>
                <a:ea typeface="Courier New"/>
                <a:cs typeface="Courier New"/>
                <a:sym typeface="Courier New"/>
              </a:rPr>
              <a:t>// LED on PA5     (D13)</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BUTTON_PIN     (1U&lt;&lt;4)    </a:t>
            </a:r>
            <a:r>
              <a:rPr b="1" lang="en" sz="1100">
                <a:solidFill>
                  <a:srgbClr val="3F7F59"/>
                </a:solidFill>
                <a:highlight>
                  <a:srgbClr val="FFFFFF"/>
                </a:highlight>
                <a:latin typeface="Courier New"/>
                <a:ea typeface="Courier New"/>
                <a:cs typeface="Courier New"/>
                <a:sym typeface="Courier New"/>
              </a:rPr>
              <a:t>// Button on PB4 (D5)</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b="1"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unsigned</a:t>
            </a:r>
            <a:r>
              <a:rPr b="1" lang="en" sz="1100">
                <a:solidFill>
                  <a:schemeClr val="dk1"/>
                </a:solidFill>
                <a:highlight>
                  <a:srgbClr val="FFFFFF"/>
                </a:highlight>
                <a:latin typeface="Courier New"/>
                <a:ea typeface="Courier New"/>
                <a:cs typeface="Courier New"/>
                <a:sym typeface="Courier New"/>
              </a:rPr>
              <a:t> buttonAlreadyPressed = 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unsigned</a:t>
            </a:r>
            <a:r>
              <a:rPr b="1" lang="en" sz="1100">
                <a:solidFill>
                  <a:schemeClr val="dk1"/>
                </a:solidFill>
                <a:highlight>
                  <a:schemeClr val="lt1"/>
                </a:highlight>
                <a:latin typeface="Courier New"/>
                <a:ea typeface="Courier New"/>
                <a:cs typeface="Courier New"/>
                <a:sym typeface="Courier New"/>
              </a:rPr>
              <a:t> buttonPushed;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RCC-&gt;IOPENR |= (GPIOAEN | GPIOBEN);    </a:t>
            </a:r>
            <a:r>
              <a:rPr b="1" lang="en" sz="1100">
                <a:solidFill>
                  <a:srgbClr val="3F7F59"/>
                </a:solidFill>
                <a:highlight>
                  <a:srgbClr val="FFFFFF"/>
                </a:highlight>
                <a:latin typeface="Courier New"/>
                <a:ea typeface="Courier New"/>
                <a:cs typeface="Courier New"/>
                <a:sym typeface="Courier New"/>
              </a:rPr>
              <a:t>// Enable clock access to GPIOA,B</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GPIOA-&gt;MODER |= (1U&lt;&lt;10);    </a:t>
            </a:r>
            <a:r>
              <a:rPr b="1" lang="en" sz="1100">
                <a:solidFill>
                  <a:srgbClr val="3F7F59"/>
                </a:solidFill>
                <a:highlight>
                  <a:srgbClr val="FFFFFF"/>
                </a:highlight>
                <a:latin typeface="Courier New"/>
                <a:ea typeface="Courier New"/>
                <a:cs typeface="Courier New"/>
                <a:sym typeface="Courier New"/>
              </a:rPr>
              <a:t>// Configure PA5 as output pin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GPIOA-&gt;MODER &amp;= ~(1U&lt;&lt;11);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&amp;= ~(1U&lt;&lt;8);    </a:t>
            </a:r>
            <a:r>
              <a:rPr b="1" lang="en" sz="1100">
                <a:solidFill>
                  <a:srgbClr val="3F7F59"/>
                </a:solidFill>
                <a:highlight>
                  <a:srgbClr val="FFFFFF"/>
                </a:highlight>
                <a:latin typeface="Courier New"/>
                <a:ea typeface="Courier New"/>
                <a:cs typeface="Courier New"/>
                <a:sym typeface="Courier New"/>
              </a:rPr>
              <a:t>// Configure PB4 as input pin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&amp;= ~(1U&lt;&lt;9);    </a:t>
            </a:r>
            <a:r>
              <a:rPr b="1" lang="en" sz="1100">
                <a:solidFill>
                  <a:srgbClr val="3F7F59"/>
                </a:solidFill>
                <a:highlight>
                  <a:srgbClr val="FFFFFF"/>
                </a:highlight>
                <a:latin typeface="Courier New"/>
                <a:ea typeface="Courier New"/>
                <a:cs typeface="Courier New"/>
                <a:sym typeface="Courier New"/>
              </a:rPr>
              <a:t>// (not necessary since this is default reset value)</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 (1U&lt;&lt;8);     </a:t>
            </a:r>
            <a:r>
              <a:rPr b="1" lang="en" sz="1100">
                <a:solidFill>
                  <a:srgbClr val="3F7F59"/>
                </a:solidFill>
                <a:highlight>
                  <a:srgbClr val="FFFFFF"/>
                </a:highlight>
                <a:latin typeface="Courier New"/>
                <a:ea typeface="Courier New"/>
                <a:cs typeface="Courier New"/>
                <a:sym typeface="Courier New"/>
              </a:rPr>
              <a:t>// enable pull-up for PB4</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&amp;= ~(1U&lt;&lt;9);</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buttonPushed = (</a:t>
            </a:r>
            <a:r>
              <a:rPr b="1" lang="en" sz="1100">
                <a:solidFill>
                  <a:schemeClr val="dk1"/>
                </a:solidFill>
                <a:highlight>
                  <a:schemeClr val="lt1"/>
                </a:highlight>
                <a:latin typeface="Courier New"/>
                <a:ea typeface="Courier New"/>
                <a:cs typeface="Courier New"/>
                <a:sym typeface="Courier New"/>
              </a:rPr>
              <a:t>(GPIOB-&gt;IDR &amp; BUTTON_PIN) == 0); </a:t>
            </a:r>
            <a:r>
              <a:rPr b="1" lang="en" sz="1100">
                <a:solidFill>
                  <a:srgbClr val="3F7F59"/>
                </a:solidFill>
                <a:highlight>
                  <a:schemeClr val="lt1"/>
                </a:highlight>
                <a:latin typeface="Courier New"/>
                <a:ea typeface="Courier New"/>
                <a:cs typeface="Courier New"/>
                <a:sym typeface="Courier New"/>
              </a:rPr>
              <a:t>// get state of button pin (low/high)</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(!buttonAlreadyPressed)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(buttonPushed)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ODR</a:t>
            </a:r>
            <a:r>
              <a:rPr b="1" lang="en" sz="1100">
                <a:solidFill>
                  <a:schemeClr val="dk1"/>
                </a:solidFill>
                <a:highlight>
                  <a:srgbClr val="FFFFFF"/>
                </a:highlight>
                <a:latin typeface="Courier New"/>
                <a:ea typeface="Courier New"/>
                <a:cs typeface="Courier New"/>
                <a:sym typeface="Courier New"/>
              </a:rPr>
              <a:t> ^= LED_PIN; 		</a:t>
            </a:r>
            <a:r>
              <a:rPr b="1" lang="en" sz="1100">
                <a:solidFill>
                  <a:srgbClr val="3F7F5F"/>
                </a:solidFill>
                <a:highlight>
                  <a:srgbClr val="FFFFFF"/>
                </a:highlight>
                <a:latin typeface="Courier New"/>
                <a:ea typeface="Courier New"/>
                <a:cs typeface="Courier New"/>
                <a:sym typeface="Courier New"/>
              </a:rPr>
              <a:t>// toggle LED</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buttonAlreadyPressed = 1;</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(!buttonPushed)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buttonAlreadyPressed = 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rgbClr val="7F005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                    </a:t>
            </a:r>
            <a:r>
              <a:rPr b="1" lang="en" sz="1100">
                <a:solidFill>
                  <a:srgbClr val="3F7F59"/>
                </a:solidFill>
                <a:highlight>
                  <a:srgbClr val="FFFFFF"/>
                </a:highlight>
                <a:latin typeface="Courier New"/>
                <a:ea typeface="Courier New"/>
                <a:cs typeface="Courier New"/>
                <a:sym typeface="Courier New"/>
              </a:rPr>
              <a:t>// never reached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rgbClr val="004A43"/>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2" name="Shape 152"/>
        <p:cNvGrpSpPr/>
        <p:nvPr/>
      </p:nvGrpSpPr>
      <p:grpSpPr>
        <a:xfrm>
          <a:off x="0" y="0"/>
          <a:ext cx="0" cy="0"/>
          <a:chOff x="0" y="0"/>
          <a:chExt cx="0" cy="0"/>
        </a:xfrm>
      </p:grpSpPr>
      <p:sp>
        <p:nvSpPr>
          <p:cNvPr id="153" name="Google Shape;153;p33"/>
          <p:cNvSpPr txBox="1"/>
          <p:nvPr>
            <p:ph type="title"/>
          </p:nvPr>
        </p:nvSpPr>
        <p:spPr>
          <a:xfrm>
            <a:off x="311700" y="-8"/>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Control the LED - toggle - possible solution 2</a:t>
            </a:r>
            <a:endParaRPr/>
          </a:p>
        </p:txBody>
      </p:sp>
      <p:sp>
        <p:nvSpPr>
          <p:cNvPr id="154" name="Google Shape;154;p33"/>
          <p:cNvSpPr txBox="1"/>
          <p:nvPr>
            <p:ph idx="1" type="body"/>
          </p:nvPr>
        </p:nvSpPr>
        <p:spPr>
          <a:xfrm>
            <a:off x="311700" y="576125"/>
            <a:ext cx="8520600" cy="6203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 </a:t>
            </a:r>
            <a:r>
              <a:rPr b="1" lang="en" sz="1100">
                <a:solidFill>
                  <a:srgbClr val="2A00FF"/>
                </a:solidFill>
                <a:highlight>
                  <a:srgbClr val="FFFFFF"/>
                </a:highlight>
                <a:latin typeface="Courier New"/>
                <a:ea typeface="Courier New"/>
                <a:cs typeface="Courier New"/>
                <a:sym typeface="Courier New"/>
              </a:rPr>
              <a:t>"</a:t>
            </a:r>
            <a:r>
              <a:rPr b="1" lang="en" sz="1100">
                <a:solidFill>
                  <a:srgbClr val="3F3FBF"/>
                </a:solidFill>
                <a:highlight>
                  <a:srgbClr val="FFFFFF"/>
                </a:highlight>
                <a:latin typeface="Courier New"/>
                <a:ea typeface="Courier New"/>
                <a:cs typeface="Courier New"/>
                <a:sym typeface="Courier New"/>
              </a:rPr>
              <a:t>ES28.h</a:t>
            </a:r>
            <a:r>
              <a:rPr b="1" lang="en" sz="1100">
                <a:solidFill>
                  <a:srgbClr val="2A00FF"/>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All the port definitions are here</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GPIOAEN        (1U&lt;&lt;0)    </a:t>
            </a:r>
            <a:r>
              <a:rPr b="1" lang="en" sz="1100">
                <a:solidFill>
                  <a:srgbClr val="3F7F59"/>
                </a:solidFill>
                <a:highlight>
                  <a:srgbClr val="FFFFFF"/>
                </a:highlight>
                <a:latin typeface="Courier New"/>
                <a:ea typeface="Courier New"/>
                <a:cs typeface="Courier New"/>
                <a:sym typeface="Courier New"/>
              </a:rPr>
              <a:t>// Clock access to GPIOA (LED)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GPIOBEN        (1U&lt;&lt;1)    </a:t>
            </a:r>
            <a:r>
              <a:rPr b="1" lang="en" sz="1100">
                <a:solidFill>
                  <a:srgbClr val="3F7F59"/>
                </a:solidFill>
                <a:highlight>
                  <a:srgbClr val="FFFFFF"/>
                </a:highlight>
                <a:latin typeface="Courier New"/>
                <a:ea typeface="Courier New"/>
                <a:cs typeface="Courier New"/>
                <a:sym typeface="Courier New"/>
              </a:rPr>
              <a:t>// Clock access to GPIOB (button)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LED_PIN        (1U&lt;&lt;5)    </a:t>
            </a:r>
            <a:r>
              <a:rPr b="1" lang="en" sz="1100">
                <a:solidFill>
                  <a:srgbClr val="3F7F59"/>
                </a:solidFill>
                <a:highlight>
                  <a:srgbClr val="FFFFFF"/>
                </a:highlight>
                <a:latin typeface="Courier New"/>
                <a:ea typeface="Courier New"/>
                <a:cs typeface="Courier New"/>
                <a:sym typeface="Courier New"/>
              </a:rPr>
              <a:t>// LED on PA5     (D13)</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BUTTON_PIN     (1U&lt;&lt;4)    </a:t>
            </a:r>
            <a:r>
              <a:rPr b="1" lang="en" sz="1100">
                <a:solidFill>
                  <a:srgbClr val="3F7F59"/>
                </a:solidFill>
                <a:highlight>
                  <a:srgbClr val="FFFFFF"/>
                </a:highlight>
                <a:latin typeface="Courier New"/>
                <a:ea typeface="Courier New"/>
                <a:cs typeface="Courier New"/>
                <a:sym typeface="Courier New"/>
              </a:rPr>
              <a:t>// Button on PB4 (D5)</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b="1"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unsigned</a:t>
            </a:r>
            <a:r>
              <a:rPr b="1" lang="en" sz="1100">
                <a:solidFill>
                  <a:schemeClr val="dk1"/>
                </a:solidFill>
                <a:highlight>
                  <a:srgbClr val="FFFFFF"/>
                </a:highlight>
                <a:latin typeface="Courier New"/>
                <a:ea typeface="Courier New"/>
                <a:cs typeface="Courier New"/>
                <a:sym typeface="Courier New"/>
              </a:rPr>
              <a:t> buttonAlreadyPressed = 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    unsigned</a:t>
            </a:r>
            <a:r>
              <a:rPr b="1" lang="en" sz="1100">
                <a:solidFill>
                  <a:schemeClr val="dk1"/>
                </a:solidFill>
                <a:highlight>
                  <a:schemeClr val="lt1"/>
                </a:highlight>
                <a:latin typeface="Courier New"/>
                <a:ea typeface="Courier New"/>
                <a:cs typeface="Courier New"/>
                <a:sym typeface="Courier New"/>
              </a:rPr>
              <a:t> buttonPushed;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RCC-&gt;IOPENR |= (GPIOAEN | GPIOBEN);    </a:t>
            </a:r>
            <a:r>
              <a:rPr b="1" lang="en" sz="1100">
                <a:solidFill>
                  <a:srgbClr val="3F7F59"/>
                </a:solidFill>
                <a:highlight>
                  <a:srgbClr val="FFFFFF"/>
                </a:highlight>
                <a:latin typeface="Courier New"/>
                <a:ea typeface="Courier New"/>
                <a:cs typeface="Courier New"/>
                <a:sym typeface="Courier New"/>
              </a:rPr>
              <a:t>// Enable clock access to GPIOA,B</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GPIOA-&gt;MODER |= (1U&lt;&lt;10);    </a:t>
            </a:r>
            <a:r>
              <a:rPr b="1" lang="en" sz="1100">
                <a:solidFill>
                  <a:srgbClr val="3F7F59"/>
                </a:solidFill>
                <a:highlight>
                  <a:srgbClr val="FFFFFF"/>
                </a:highlight>
                <a:latin typeface="Courier New"/>
                <a:ea typeface="Courier New"/>
                <a:cs typeface="Courier New"/>
                <a:sym typeface="Courier New"/>
              </a:rPr>
              <a:t>// Configure PA5 as output pin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GPIOA-&gt;MODER &amp;= ~(1U&lt;&lt;11);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&amp;= ~(1U&lt;&lt;8);    </a:t>
            </a:r>
            <a:r>
              <a:rPr b="1" lang="en" sz="1100">
                <a:solidFill>
                  <a:srgbClr val="3F7F59"/>
                </a:solidFill>
                <a:highlight>
                  <a:srgbClr val="FFFFFF"/>
                </a:highlight>
                <a:latin typeface="Courier New"/>
                <a:ea typeface="Courier New"/>
                <a:cs typeface="Courier New"/>
                <a:sym typeface="Courier New"/>
              </a:rPr>
              <a:t>// Configure PB4 as input pin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&amp;= ~(1U&lt;&lt;9);    </a:t>
            </a:r>
            <a:r>
              <a:rPr b="1" lang="en" sz="1100">
                <a:solidFill>
                  <a:srgbClr val="3F7F59"/>
                </a:solidFill>
                <a:highlight>
                  <a:srgbClr val="FFFFFF"/>
                </a:highlight>
                <a:latin typeface="Courier New"/>
                <a:ea typeface="Courier New"/>
                <a:cs typeface="Courier New"/>
                <a:sym typeface="Courier New"/>
              </a:rPr>
              <a:t>// (not necessary since this is default reset value)</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 (1U&lt;&lt;8);     </a:t>
            </a:r>
            <a:r>
              <a:rPr b="1" lang="en" sz="1100">
                <a:solidFill>
                  <a:srgbClr val="3F7F59"/>
                </a:solidFill>
                <a:highlight>
                  <a:srgbClr val="FFFFFF"/>
                </a:highlight>
                <a:latin typeface="Courier New"/>
                <a:ea typeface="Courier New"/>
                <a:cs typeface="Courier New"/>
                <a:sym typeface="Courier New"/>
              </a:rPr>
              <a:t>// enable pull-up for PB4</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&amp;= ~(1U&lt;&lt;9);</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buttonPushed = (</a:t>
            </a:r>
            <a:r>
              <a:rPr b="1" lang="en" sz="1100">
                <a:solidFill>
                  <a:schemeClr val="dk1"/>
                </a:solidFill>
                <a:highlight>
                  <a:schemeClr val="lt1"/>
                </a:highlight>
                <a:latin typeface="Courier New"/>
                <a:ea typeface="Courier New"/>
                <a:cs typeface="Courier New"/>
                <a:sym typeface="Courier New"/>
              </a:rPr>
              <a:t>(GPIOB-&gt;IDR &amp; BUTTON_PIN) == 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(buttonPushed)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(buttonAlreadyPressed==0)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GPIOA-&gt;ODR ^= LED_PIN;         </a:t>
            </a:r>
            <a:r>
              <a:rPr b="1" lang="en" sz="1100">
                <a:solidFill>
                  <a:srgbClr val="3F7F59"/>
                </a:solidFill>
                <a:highlight>
                  <a:srgbClr val="FFFFFF"/>
                </a:highlight>
                <a:latin typeface="Courier New"/>
                <a:ea typeface="Courier New"/>
                <a:cs typeface="Courier New"/>
                <a:sym typeface="Courier New"/>
              </a:rPr>
              <a:t>// toggle LED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buttonAlreadyPressed = 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buttonAlreadyPressed = 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                    </a:t>
            </a:r>
            <a:r>
              <a:rPr b="1" lang="en" sz="1100">
                <a:solidFill>
                  <a:srgbClr val="3F7F59"/>
                </a:solidFill>
                <a:highlight>
                  <a:srgbClr val="FFFFFF"/>
                </a:highlight>
                <a:latin typeface="Courier New"/>
                <a:ea typeface="Courier New"/>
                <a:cs typeface="Courier New"/>
                <a:sym typeface="Courier New"/>
              </a:rPr>
              <a:t>// never reached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sz="1200">
              <a:solidFill>
                <a:srgbClr val="004A43"/>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State machine design pattern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5"/>
          <p:cNvSpPr txBox="1"/>
          <p:nvPr/>
        </p:nvSpPr>
        <p:spPr>
          <a:xfrm>
            <a:off x="413525" y="124225"/>
            <a:ext cx="7818600" cy="651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 </a:t>
            </a:r>
            <a:r>
              <a:rPr b="1" lang="en" sz="1100">
                <a:solidFill>
                  <a:srgbClr val="2A00FF"/>
                </a:solidFill>
                <a:highlight>
                  <a:srgbClr val="FFFFFF"/>
                </a:highlight>
                <a:latin typeface="Courier New"/>
                <a:ea typeface="Courier New"/>
                <a:cs typeface="Courier New"/>
                <a:sym typeface="Courier New"/>
              </a:rPr>
              <a:t>"</a:t>
            </a:r>
            <a:r>
              <a:rPr b="1" lang="en" sz="1100">
                <a:solidFill>
                  <a:srgbClr val="3F3FBF"/>
                </a:solidFill>
                <a:highlight>
                  <a:srgbClr val="FFFFFF"/>
                </a:highlight>
                <a:latin typeface="Courier New"/>
                <a:ea typeface="Courier New"/>
                <a:cs typeface="Courier New"/>
                <a:sym typeface="Courier New"/>
              </a:rPr>
              <a:t>ES28.h</a:t>
            </a:r>
            <a:r>
              <a:rPr b="1" lang="en" sz="1100">
                <a:solidFill>
                  <a:srgbClr val="2A00FF"/>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All the port definitions are here</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GPIOAEN        (1U&lt;&lt;0)    </a:t>
            </a:r>
            <a:r>
              <a:rPr b="1" lang="en" sz="1100">
                <a:solidFill>
                  <a:srgbClr val="3F7F59"/>
                </a:solidFill>
                <a:highlight>
                  <a:srgbClr val="FFFFFF"/>
                </a:highlight>
                <a:latin typeface="Courier New"/>
                <a:ea typeface="Courier New"/>
                <a:cs typeface="Courier New"/>
                <a:sym typeface="Courier New"/>
              </a:rPr>
              <a:t>// Clock access to GPIOA (LED)</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GPIOBEN        (1U&lt;&lt;1)    </a:t>
            </a:r>
            <a:r>
              <a:rPr b="1" lang="en" sz="1100">
                <a:solidFill>
                  <a:srgbClr val="3F7F59"/>
                </a:solidFill>
                <a:highlight>
                  <a:srgbClr val="FFFFFF"/>
                </a:highlight>
                <a:latin typeface="Courier New"/>
                <a:ea typeface="Courier New"/>
                <a:cs typeface="Courier New"/>
                <a:sym typeface="Courier New"/>
              </a:rPr>
              <a:t>// Clock access to GPIOB (button)</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LED_PIN        (1U&lt;&lt;5)    </a:t>
            </a:r>
            <a:r>
              <a:rPr b="1" lang="en" sz="1100">
                <a:solidFill>
                  <a:srgbClr val="3F7F59"/>
                </a:solidFill>
                <a:highlight>
                  <a:srgbClr val="FFFFFF"/>
                </a:highlight>
                <a:latin typeface="Courier New"/>
                <a:ea typeface="Courier New"/>
                <a:cs typeface="Courier New"/>
                <a:sym typeface="Courier New"/>
              </a:rPr>
              <a:t>// LED on PA5     (D13)</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BUTTON_PIN    (1U&lt;&lt;4)     </a:t>
            </a:r>
            <a:r>
              <a:rPr b="1" lang="en" sz="1100">
                <a:solidFill>
                  <a:srgbClr val="3F7F59"/>
                </a:solidFill>
                <a:highlight>
                  <a:srgbClr val="FFFFFF"/>
                </a:highlight>
                <a:latin typeface="Courier New"/>
                <a:ea typeface="Courier New"/>
                <a:cs typeface="Courier New"/>
                <a:sym typeface="Courier New"/>
              </a:rPr>
              <a:t>// Button on PB4 (D5)</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b="1"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unsigned</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00"/>
                </a:highlight>
                <a:latin typeface="Courier New"/>
                <a:ea typeface="Courier New"/>
                <a:cs typeface="Courier New"/>
                <a:sym typeface="Courier New"/>
              </a:rPr>
              <a:t>buttonAlreadyPressed</a:t>
            </a:r>
            <a:r>
              <a:rPr b="1" lang="en" sz="1100">
                <a:solidFill>
                  <a:schemeClr val="dk1"/>
                </a:solidFill>
                <a:highlight>
                  <a:srgbClr val="FFFFFF"/>
                </a:highlight>
                <a:latin typeface="Courier New"/>
                <a:ea typeface="Courier New"/>
                <a:cs typeface="Courier New"/>
                <a:sym typeface="Courier New"/>
              </a:rPr>
              <a:t> = 0;</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    unsigned</a:t>
            </a:r>
            <a:r>
              <a:rPr b="1" lang="en" sz="1100">
                <a:solidFill>
                  <a:schemeClr val="dk1"/>
                </a:solidFill>
                <a:highlight>
                  <a:schemeClr val="lt1"/>
                </a:highlight>
                <a:latin typeface="Courier New"/>
                <a:ea typeface="Courier New"/>
                <a:cs typeface="Courier New"/>
                <a:sym typeface="Courier New"/>
              </a:rPr>
              <a:t> </a:t>
            </a:r>
            <a:r>
              <a:rPr b="1" lang="en" sz="1100">
                <a:solidFill>
                  <a:schemeClr val="dk1"/>
                </a:solidFill>
                <a:highlight>
                  <a:srgbClr val="F4CCCC"/>
                </a:highlight>
                <a:latin typeface="Courier New"/>
                <a:ea typeface="Courier New"/>
                <a:cs typeface="Courier New"/>
                <a:sym typeface="Courier New"/>
              </a:rPr>
              <a:t>buttonPushed</a:t>
            </a: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RCC-&gt;IOPENR |= (GPIOAEN | GPIOBEN); </a:t>
            </a:r>
            <a:r>
              <a:rPr b="1" lang="en" sz="1100">
                <a:solidFill>
                  <a:srgbClr val="3F7F59"/>
                </a:solidFill>
                <a:highlight>
                  <a:srgbClr val="FFFFFF"/>
                </a:highlight>
                <a:latin typeface="Courier New"/>
                <a:ea typeface="Courier New"/>
                <a:cs typeface="Courier New"/>
                <a:sym typeface="Courier New"/>
              </a:rPr>
              <a:t>// Enable clock access </a:t>
            </a:r>
            <a:endParaRPr b="1" sz="1100">
              <a:solidFill>
                <a:srgbClr val="3F7F59"/>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rgbClr val="3F7F59"/>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GPIOA-&gt;MODER |= (1U&lt;&lt;10);    </a:t>
            </a:r>
            <a:r>
              <a:rPr b="1" lang="en" sz="1100">
                <a:solidFill>
                  <a:srgbClr val="3F7F59"/>
                </a:solidFill>
                <a:highlight>
                  <a:srgbClr val="FFFFFF"/>
                </a:highlight>
                <a:latin typeface="Courier New"/>
                <a:ea typeface="Courier New"/>
                <a:cs typeface="Courier New"/>
                <a:sym typeface="Courier New"/>
              </a:rPr>
              <a:t>// Configure PA5 as output pin</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GPIOA-&gt;MODER &amp;= ~(1U&lt;&lt;11);</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&amp;= ~(1U&lt;&lt;8);    </a:t>
            </a:r>
            <a:r>
              <a:rPr b="1" lang="en" sz="1100">
                <a:solidFill>
                  <a:srgbClr val="3F7F59"/>
                </a:solidFill>
                <a:highlight>
                  <a:srgbClr val="FFFFFF"/>
                </a:highlight>
                <a:latin typeface="Courier New"/>
                <a:ea typeface="Courier New"/>
                <a:cs typeface="Courier New"/>
                <a:sym typeface="Courier New"/>
              </a:rPr>
              <a:t>// Configure PB4 as input pin</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&amp;= ~(1U&lt;&lt;9);    </a:t>
            </a:r>
            <a:r>
              <a:rPr b="1" lang="en" sz="1100">
                <a:solidFill>
                  <a:srgbClr val="3F7F59"/>
                </a:solidFill>
                <a:highlight>
                  <a:srgbClr val="FFFFFF"/>
                </a:highlight>
                <a:latin typeface="Courier New"/>
                <a:ea typeface="Courier New"/>
                <a:cs typeface="Courier New"/>
                <a:sym typeface="Courier New"/>
              </a:rPr>
              <a:t>// (not necessary since this is default reset value)</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 (1U&lt;&lt;8);     </a:t>
            </a:r>
            <a:r>
              <a:rPr b="1" lang="en" sz="1100">
                <a:solidFill>
                  <a:srgbClr val="3F7F59"/>
                </a:solidFill>
                <a:highlight>
                  <a:srgbClr val="FFFFFF"/>
                </a:highlight>
                <a:latin typeface="Courier New"/>
                <a:ea typeface="Courier New"/>
                <a:cs typeface="Courier New"/>
                <a:sym typeface="Courier New"/>
              </a:rPr>
              <a:t>// enable pull-up for PB4</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&amp;= ~(1U&lt;&lt;9);</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4CCCC"/>
                </a:highlight>
                <a:latin typeface="Courier New"/>
                <a:ea typeface="Courier New"/>
                <a:cs typeface="Courier New"/>
                <a:sym typeface="Courier New"/>
              </a:rPr>
              <a:t>buttonPushed</a:t>
            </a:r>
            <a:r>
              <a:rPr b="1" lang="en" sz="1100">
                <a:solidFill>
                  <a:schemeClr val="dk1"/>
                </a:solidFill>
                <a:highlight>
                  <a:schemeClr val="lt1"/>
                </a:highlight>
                <a:latin typeface="Courier New"/>
                <a:ea typeface="Courier New"/>
                <a:cs typeface="Courier New"/>
                <a:sym typeface="Courier New"/>
              </a:rPr>
              <a:t> = ((GPIOB-&gt;IDR &amp; BUTTON_PIN) == 0);</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        if</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00"/>
                </a:highlight>
                <a:latin typeface="Courier New"/>
                <a:ea typeface="Courier New"/>
                <a:cs typeface="Courier New"/>
                <a:sym typeface="Courier New"/>
              </a:rPr>
              <a:t>!buttonAlreadyPressed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4CCCC"/>
                </a:highlight>
                <a:latin typeface="Courier New"/>
                <a:ea typeface="Courier New"/>
                <a:cs typeface="Courier New"/>
                <a:sym typeface="Courier New"/>
              </a:rPr>
              <a:t>buttonPushed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C9DAF8"/>
                </a:highlight>
                <a:latin typeface="Courier New"/>
                <a:ea typeface="Courier New"/>
                <a:cs typeface="Courier New"/>
                <a:sym typeface="Courier New"/>
              </a:rPr>
              <a:t>GPIOA-&gt;</a:t>
            </a:r>
            <a:r>
              <a:rPr b="1" lang="en" sz="1100">
                <a:solidFill>
                  <a:srgbClr val="0000C0"/>
                </a:solidFill>
                <a:highlight>
                  <a:srgbClr val="C9DAF8"/>
                </a:highlight>
                <a:latin typeface="Courier New"/>
                <a:ea typeface="Courier New"/>
                <a:cs typeface="Courier New"/>
                <a:sym typeface="Courier New"/>
              </a:rPr>
              <a:t>ODR</a:t>
            </a:r>
            <a:r>
              <a:rPr b="1" lang="en" sz="1100">
                <a:solidFill>
                  <a:schemeClr val="dk1"/>
                </a:solidFill>
                <a:highlight>
                  <a:srgbClr val="C9DAF8"/>
                </a:highlight>
                <a:latin typeface="Courier New"/>
                <a:ea typeface="Courier New"/>
                <a:cs typeface="Courier New"/>
                <a:sym typeface="Courier New"/>
              </a:rPr>
              <a:t> ^= LED_PIN</a:t>
            </a:r>
            <a:r>
              <a:rPr b="1" lang="en" sz="1100">
                <a:solidFill>
                  <a:schemeClr val="dk1"/>
                </a:solidFill>
                <a:highlight>
                  <a:srgbClr val="FFFFFF"/>
                </a:highlight>
                <a:latin typeface="Courier New"/>
                <a:ea typeface="Courier New"/>
                <a:cs typeface="Courier New"/>
                <a:sym typeface="Courier New"/>
              </a:rPr>
              <a:t>; 		</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D9EAD3"/>
                </a:highlight>
                <a:latin typeface="Courier New"/>
                <a:ea typeface="Courier New"/>
                <a:cs typeface="Courier New"/>
                <a:sym typeface="Courier New"/>
              </a:rPr>
              <a:t>buttonAlreadyPressed = 1</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4CCCC"/>
                </a:highlight>
                <a:latin typeface="Courier New"/>
                <a:ea typeface="Courier New"/>
                <a:cs typeface="Courier New"/>
                <a:sym typeface="Courier New"/>
              </a:rPr>
              <a:t>!buttonPushed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D9EAD3"/>
                </a:highlight>
                <a:latin typeface="Courier New"/>
                <a:ea typeface="Courier New"/>
                <a:cs typeface="Courier New"/>
                <a:sym typeface="Courier New"/>
              </a:rPr>
              <a:t>buttonAlreadyPressed = 0</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rgbClr val="7F0055"/>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                    </a:t>
            </a:r>
            <a:r>
              <a:rPr b="1" lang="en" sz="1100">
                <a:solidFill>
                  <a:srgbClr val="3F7F59"/>
                </a:solidFill>
                <a:highlight>
                  <a:srgbClr val="FFFFFF"/>
                </a:highlight>
                <a:latin typeface="Courier New"/>
                <a:ea typeface="Courier New"/>
                <a:cs typeface="Courier New"/>
                <a:sym typeface="Courier New"/>
              </a:rPr>
              <a:t>// never reached</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rgbClr val="004A43"/>
              </a:solidFill>
              <a:highlight>
                <a:schemeClr val="lt1"/>
              </a:highlight>
              <a:latin typeface="Courier New"/>
              <a:ea typeface="Courier New"/>
              <a:cs typeface="Courier New"/>
              <a:sym typeface="Courier New"/>
            </a:endParaRPr>
          </a:p>
        </p:txBody>
      </p:sp>
      <p:sp>
        <p:nvSpPr>
          <p:cNvPr id="165" name="Google Shape;165;p35"/>
          <p:cNvSpPr txBox="1"/>
          <p:nvPr>
            <p:ph type="title"/>
          </p:nvPr>
        </p:nvSpPr>
        <p:spPr>
          <a:xfrm>
            <a:off x="6468150" y="124225"/>
            <a:ext cx="2517300" cy="18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Look again at toggling the LED with pushbutton</a:t>
            </a:r>
            <a:endParaRPr/>
          </a:p>
        </p:txBody>
      </p:sp>
      <p:sp>
        <p:nvSpPr>
          <p:cNvPr id="166" name="Google Shape;166;p35"/>
          <p:cNvSpPr txBox="1"/>
          <p:nvPr/>
        </p:nvSpPr>
        <p:spPr>
          <a:xfrm>
            <a:off x="6086250" y="2218425"/>
            <a:ext cx="2899200" cy="33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FFFF00"/>
                </a:highlight>
              </a:rPr>
              <a:t>STATE</a:t>
            </a:r>
            <a:r>
              <a:rPr lang="en"/>
              <a:t>:  buttonAlreadyPressed </a:t>
            </a:r>
            <a:endParaRPr/>
          </a:p>
          <a:p>
            <a:pPr indent="0" lvl="0" marL="457200" rtl="0" algn="l">
              <a:spcBef>
                <a:spcPts val="0"/>
              </a:spcBef>
              <a:spcAft>
                <a:spcPts val="0"/>
              </a:spcAft>
              <a:buNone/>
            </a:pPr>
            <a:r>
              <a:rPr lang="en"/>
              <a:t>0:  switch unpressed</a:t>
            </a:r>
            <a:endParaRPr/>
          </a:p>
          <a:p>
            <a:pPr indent="0" lvl="0" marL="457200" rtl="0" algn="l">
              <a:spcBef>
                <a:spcPts val="0"/>
              </a:spcBef>
              <a:spcAft>
                <a:spcPts val="0"/>
              </a:spcAft>
              <a:buNone/>
            </a:pPr>
            <a:r>
              <a:rPr lang="en"/>
              <a:t>1:  switch has been pressed</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highlight>
                <a:srgbClr val="F4CCCC"/>
              </a:highlight>
            </a:endParaRPr>
          </a:p>
          <a:p>
            <a:pPr indent="0" lvl="0" marL="0" rtl="0" algn="l">
              <a:spcBef>
                <a:spcPts val="0"/>
              </a:spcBef>
              <a:spcAft>
                <a:spcPts val="0"/>
              </a:spcAft>
              <a:buNone/>
            </a:pPr>
            <a:r>
              <a:t/>
            </a:r>
            <a:endParaRPr>
              <a:highlight>
                <a:srgbClr val="F4CCCC"/>
              </a:highlight>
            </a:endParaRPr>
          </a:p>
          <a:p>
            <a:pPr indent="0" lvl="0" marL="0" rtl="0" algn="l">
              <a:spcBef>
                <a:spcPts val="0"/>
              </a:spcBef>
              <a:spcAft>
                <a:spcPts val="0"/>
              </a:spcAft>
              <a:buNone/>
            </a:pPr>
            <a:r>
              <a:t/>
            </a:r>
            <a:endParaRPr>
              <a:highlight>
                <a:srgbClr val="F4CCCC"/>
              </a:highlight>
            </a:endParaRPr>
          </a:p>
          <a:p>
            <a:pPr indent="0" lvl="0" marL="0" rtl="0" algn="l">
              <a:spcBef>
                <a:spcPts val="0"/>
              </a:spcBef>
              <a:spcAft>
                <a:spcPts val="0"/>
              </a:spcAft>
              <a:buNone/>
            </a:pPr>
            <a:r>
              <a:t/>
            </a:r>
            <a:endParaRPr>
              <a:highlight>
                <a:srgbClr val="F4CCCC"/>
              </a:highlight>
            </a:endParaRPr>
          </a:p>
          <a:p>
            <a:pPr indent="0" lvl="0" marL="0" rtl="0" algn="l">
              <a:spcBef>
                <a:spcPts val="0"/>
              </a:spcBef>
              <a:spcAft>
                <a:spcPts val="0"/>
              </a:spcAft>
              <a:buNone/>
            </a:pPr>
            <a:r>
              <a:rPr lang="en">
                <a:highlight>
                  <a:srgbClr val="F4CCCC"/>
                </a:highlight>
              </a:rPr>
              <a:t>EVENT</a:t>
            </a:r>
            <a:r>
              <a:rPr lang="en"/>
              <a:t>:  pin detected low or high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highlight>
                  <a:srgbClr val="C9DAF8"/>
                </a:highlight>
              </a:rPr>
              <a:t>ACTION:</a:t>
            </a:r>
            <a:r>
              <a:rPr lang="en"/>
              <a:t>  toggle the LED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highlight>
                  <a:srgbClr val="D9EAD3"/>
                </a:highlight>
              </a:rPr>
              <a:t>STATE TRANSITION:</a:t>
            </a:r>
            <a:r>
              <a:rPr lang="en"/>
              <a:t> mark button as pressed or unpressed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State diagram</a:t>
            </a:r>
            <a:endParaRPr/>
          </a:p>
        </p:txBody>
      </p:sp>
      <p:sp>
        <p:nvSpPr>
          <p:cNvPr id="172" name="Google Shape;172;p36"/>
          <p:cNvSpPr txBox="1"/>
          <p:nvPr/>
        </p:nvSpPr>
        <p:spPr>
          <a:xfrm>
            <a:off x="5538350" y="2921650"/>
            <a:ext cx="3489000" cy="3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FFFF00"/>
                </a:highlight>
              </a:rPr>
              <a:t>STATE</a:t>
            </a:r>
            <a:r>
              <a:rPr lang="en"/>
              <a:t>:  buttonAlreadyPressed </a:t>
            </a:r>
            <a:endParaRPr/>
          </a:p>
          <a:p>
            <a:pPr indent="0" lvl="0" marL="457200" rtl="0" algn="l">
              <a:spcBef>
                <a:spcPts val="0"/>
              </a:spcBef>
              <a:spcAft>
                <a:spcPts val="0"/>
              </a:spcAft>
              <a:buNone/>
            </a:pPr>
            <a:r>
              <a:rPr lang="en"/>
              <a:t>0:  switch unpressed</a:t>
            </a:r>
            <a:endParaRPr/>
          </a:p>
          <a:p>
            <a:pPr indent="0" lvl="0" marL="457200" rtl="0" algn="l">
              <a:spcBef>
                <a:spcPts val="0"/>
              </a:spcBef>
              <a:spcAft>
                <a:spcPts val="0"/>
              </a:spcAft>
              <a:buNone/>
            </a:pPr>
            <a:r>
              <a:rPr lang="en"/>
              <a:t>1:  switch has been pressed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highlight>
                <a:srgbClr val="F4CCCC"/>
              </a:highlight>
            </a:endParaRPr>
          </a:p>
          <a:p>
            <a:pPr indent="0" lvl="0" marL="0" rtl="0" algn="l">
              <a:spcBef>
                <a:spcPts val="0"/>
              </a:spcBef>
              <a:spcAft>
                <a:spcPts val="0"/>
              </a:spcAft>
              <a:buNone/>
            </a:pPr>
            <a:r>
              <a:t/>
            </a:r>
            <a:endParaRPr>
              <a:highlight>
                <a:srgbClr val="F4CCCC"/>
              </a:highlight>
            </a:endParaRPr>
          </a:p>
          <a:p>
            <a:pPr indent="0" lvl="0" marL="0" rtl="0" algn="l">
              <a:spcBef>
                <a:spcPts val="0"/>
              </a:spcBef>
              <a:spcAft>
                <a:spcPts val="0"/>
              </a:spcAft>
              <a:buNone/>
            </a:pPr>
            <a:r>
              <a:t/>
            </a:r>
            <a:endParaRPr>
              <a:highlight>
                <a:srgbClr val="F4CCCC"/>
              </a:highlight>
            </a:endParaRPr>
          </a:p>
          <a:p>
            <a:pPr indent="0" lvl="0" marL="0" rtl="0" algn="l">
              <a:spcBef>
                <a:spcPts val="0"/>
              </a:spcBef>
              <a:spcAft>
                <a:spcPts val="0"/>
              </a:spcAft>
              <a:buNone/>
            </a:pPr>
            <a:r>
              <a:t/>
            </a:r>
            <a:endParaRPr>
              <a:highlight>
                <a:srgbClr val="F4CCCC"/>
              </a:highlight>
            </a:endParaRPr>
          </a:p>
          <a:p>
            <a:pPr indent="0" lvl="0" marL="0" rtl="0" algn="l">
              <a:spcBef>
                <a:spcPts val="0"/>
              </a:spcBef>
              <a:spcAft>
                <a:spcPts val="0"/>
              </a:spcAft>
              <a:buNone/>
            </a:pPr>
            <a:r>
              <a:rPr lang="en">
                <a:highlight>
                  <a:srgbClr val="F4CCCC"/>
                </a:highlight>
              </a:rPr>
              <a:t>EVENT</a:t>
            </a:r>
            <a:r>
              <a:rPr lang="en"/>
              <a:t>:  PIN detected LOW or HIGH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highlight>
                  <a:srgbClr val="C9DAF8"/>
                </a:highlight>
              </a:rPr>
              <a:t>ACTION:</a:t>
            </a:r>
            <a:r>
              <a:rPr lang="en"/>
              <a:t>  toggle the LED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highlight>
                  <a:srgbClr val="D9EAD3"/>
                </a:highlight>
              </a:rPr>
              <a:t>STATE TRANSITION:</a:t>
            </a:r>
            <a:r>
              <a:rPr lang="en"/>
              <a:t> mark button as pressed or unpressed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173" name="Google Shape;173;p36"/>
          <p:cNvSpPr/>
          <p:nvPr/>
        </p:nvSpPr>
        <p:spPr>
          <a:xfrm>
            <a:off x="2106800" y="2520938"/>
            <a:ext cx="1194600" cy="1194600"/>
          </a:xfrm>
          <a:prstGeom prst="ellipse">
            <a:avLst/>
          </a:prstGeom>
          <a:solidFill>
            <a:srgbClr val="FFFF00"/>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6"/>
          <p:cNvSpPr/>
          <p:nvPr/>
        </p:nvSpPr>
        <p:spPr>
          <a:xfrm>
            <a:off x="2106800" y="4717163"/>
            <a:ext cx="1194600" cy="1194600"/>
          </a:xfrm>
          <a:prstGeom prst="ellipse">
            <a:avLst/>
          </a:prstGeom>
          <a:solidFill>
            <a:srgbClr val="FFFF00"/>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6"/>
          <p:cNvSpPr txBox="1"/>
          <p:nvPr/>
        </p:nvSpPr>
        <p:spPr>
          <a:xfrm>
            <a:off x="2166400" y="2870588"/>
            <a:ext cx="10797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Unpressed</a:t>
            </a:r>
            <a:endParaRPr/>
          </a:p>
          <a:p>
            <a:pPr indent="0" lvl="0" marL="0" rtl="0" algn="ctr">
              <a:spcBef>
                <a:spcPts val="0"/>
              </a:spcBef>
              <a:spcAft>
                <a:spcPts val="0"/>
              </a:spcAft>
              <a:buNone/>
            </a:pPr>
            <a:r>
              <a:rPr lang="en"/>
              <a:t>(0)</a:t>
            </a:r>
            <a:endParaRPr/>
          </a:p>
        </p:txBody>
      </p:sp>
      <p:sp>
        <p:nvSpPr>
          <p:cNvPr id="176" name="Google Shape;176;p36"/>
          <p:cNvSpPr txBox="1"/>
          <p:nvPr/>
        </p:nvSpPr>
        <p:spPr>
          <a:xfrm>
            <a:off x="2279750" y="5066813"/>
            <a:ext cx="8487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Pressed</a:t>
            </a:r>
            <a:endParaRPr/>
          </a:p>
          <a:p>
            <a:pPr indent="0" lvl="0" marL="0" rtl="0" algn="ctr">
              <a:spcBef>
                <a:spcPts val="0"/>
              </a:spcBef>
              <a:spcAft>
                <a:spcPts val="0"/>
              </a:spcAft>
              <a:buNone/>
            </a:pPr>
            <a:r>
              <a:rPr lang="en"/>
              <a:t>(1)</a:t>
            </a:r>
            <a:endParaRPr/>
          </a:p>
        </p:txBody>
      </p:sp>
      <p:cxnSp>
        <p:nvCxnSpPr>
          <p:cNvPr id="177" name="Google Shape;177;p36"/>
          <p:cNvCxnSpPr>
            <a:stCxn id="173" idx="4"/>
            <a:endCxn id="174" idx="0"/>
          </p:cNvCxnSpPr>
          <p:nvPr/>
        </p:nvCxnSpPr>
        <p:spPr>
          <a:xfrm>
            <a:off x="2704100" y="3715538"/>
            <a:ext cx="0" cy="1001700"/>
          </a:xfrm>
          <a:prstGeom prst="straightConnector1">
            <a:avLst/>
          </a:prstGeom>
          <a:noFill/>
          <a:ln cap="flat" cmpd="sng" w="38100">
            <a:solidFill>
              <a:srgbClr val="93C47D"/>
            </a:solidFill>
            <a:prstDash val="solid"/>
            <a:round/>
            <a:headEnd len="med" w="med" type="none"/>
            <a:tailEnd len="med" w="med" type="triangle"/>
          </a:ln>
        </p:spPr>
      </p:cxnSp>
      <p:sp>
        <p:nvSpPr>
          <p:cNvPr id="178" name="Google Shape;178;p36"/>
          <p:cNvSpPr txBox="1"/>
          <p:nvPr/>
        </p:nvSpPr>
        <p:spPr>
          <a:xfrm>
            <a:off x="2830075" y="3863675"/>
            <a:ext cx="4300200" cy="903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t>PIN is LOW</a:t>
            </a:r>
            <a:r>
              <a:rPr lang="en" sz="1200">
                <a:solidFill>
                  <a:srgbClr val="808030"/>
                </a:solidFill>
              </a:rPr>
              <a:t>  </a:t>
            </a:r>
            <a:r>
              <a:rPr lang="en" sz="1200">
                <a:solidFill>
                  <a:schemeClr val="dk1"/>
                </a:solidFill>
                <a:highlight>
                  <a:srgbClr val="F4CCCC"/>
                </a:highlight>
                <a:latin typeface="Courier New"/>
                <a:ea typeface="Courier New"/>
                <a:cs typeface="Courier New"/>
                <a:sym typeface="Courier New"/>
              </a:rPr>
              <a:t>(GPIOB-&gt;IDR &amp; BUTTON_PIN) == 0)</a:t>
            </a:r>
            <a:r>
              <a:rPr lang="en" sz="1200">
                <a:solidFill>
                  <a:srgbClr val="008C00"/>
                </a:solidFill>
                <a:latin typeface="Courier New"/>
                <a:ea typeface="Courier New"/>
                <a:cs typeface="Courier New"/>
                <a:sym typeface="Courier New"/>
              </a:rPr>
              <a:t> </a:t>
            </a:r>
            <a:endParaRPr b="1" sz="1200">
              <a:solidFill>
                <a:srgbClr val="008C00"/>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t>/   TOGGLE LED</a:t>
            </a:r>
            <a:r>
              <a:rPr b="1" lang="en" sz="1200">
                <a:solidFill>
                  <a:srgbClr val="008C00"/>
                </a:solidFill>
                <a:latin typeface="Courier New"/>
                <a:ea typeface="Courier New"/>
                <a:cs typeface="Courier New"/>
                <a:sym typeface="Courier New"/>
              </a:rPr>
              <a:t>  </a:t>
            </a:r>
            <a:r>
              <a:rPr lang="en" sz="1200">
                <a:solidFill>
                  <a:schemeClr val="dk1"/>
                </a:solidFill>
                <a:highlight>
                  <a:srgbClr val="CFE2F3"/>
                </a:highlight>
                <a:latin typeface="Courier New"/>
                <a:ea typeface="Courier New"/>
                <a:cs typeface="Courier New"/>
                <a:sym typeface="Courier New"/>
              </a:rPr>
              <a:t>GPIOA-&gt;ODR ^= LED_PIN</a:t>
            </a:r>
            <a:r>
              <a:rPr lang="en" sz="1200">
                <a:solidFill>
                  <a:srgbClr val="800080"/>
                </a:solidFill>
                <a:highlight>
                  <a:srgbClr val="CFE2F3"/>
                </a:highlight>
                <a:latin typeface="Courier New"/>
                <a:ea typeface="Courier New"/>
                <a:cs typeface="Courier New"/>
                <a:sym typeface="Courier New"/>
              </a:rPr>
              <a:t>;</a:t>
            </a:r>
            <a:endParaRPr sz="1200">
              <a:highlight>
                <a:srgbClr val="C9DAF8"/>
              </a:highlight>
            </a:endParaRPr>
          </a:p>
        </p:txBody>
      </p:sp>
      <p:cxnSp>
        <p:nvCxnSpPr>
          <p:cNvPr id="179" name="Google Shape;179;p36"/>
          <p:cNvCxnSpPr>
            <a:stCxn id="174" idx="2"/>
            <a:endCxn id="175" idx="1"/>
          </p:cNvCxnSpPr>
          <p:nvPr/>
        </p:nvCxnSpPr>
        <p:spPr>
          <a:xfrm flipH="1" rot="10800000">
            <a:off x="2106800" y="3041963"/>
            <a:ext cx="59700" cy="2272500"/>
          </a:xfrm>
          <a:prstGeom prst="bentConnector3">
            <a:avLst>
              <a:gd fmla="val -753183" name="adj1"/>
            </a:avLst>
          </a:prstGeom>
          <a:noFill/>
          <a:ln cap="flat" cmpd="sng" w="38100">
            <a:solidFill>
              <a:srgbClr val="6AA84F"/>
            </a:solidFill>
            <a:prstDash val="solid"/>
            <a:round/>
            <a:headEnd len="med" w="med" type="none"/>
            <a:tailEnd len="med" w="med" type="triangle"/>
          </a:ln>
        </p:spPr>
      </p:cxnSp>
      <p:sp>
        <p:nvSpPr>
          <p:cNvPr id="180" name="Google Shape;180;p36"/>
          <p:cNvSpPr txBox="1"/>
          <p:nvPr/>
        </p:nvSpPr>
        <p:spPr>
          <a:xfrm>
            <a:off x="359000" y="1085825"/>
            <a:ext cx="8364600" cy="5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Capture behavior of system graphically</a:t>
            </a:r>
            <a:endParaRPr sz="1800"/>
          </a:p>
        </p:txBody>
      </p:sp>
      <p:sp>
        <p:nvSpPr>
          <p:cNvPr id="181" name="Google Shape;181;p36"/>
          <p:cNvSpPr txBox="1"/>
          <p:nvPr/>
        </p:nvSpPr>
        <p:spPr>
          <a:xfrm>
            <a:off x="2227900" y="1575524"/>
            <a:ext cx="1047900" cy="372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1"/>
                </a:solidFill>
              </a:rPr>
              <a:t>PIN is HIGH</a:t>
            </a:r>
            <a:r>
              <a:rPr lang="en" sz="1200">
                <a:solidFill>
                  <a:srgbClr val="008C00"/>
                </a:solidFill>
                <a:latin typeface="Courier New"/>
                <a:ea typeface="Courier New"/>
                <a:cs typeface="Courier New"/>
                <a:sym typeface="Courier New"/>
              </a:rPr>
              <a:t> </a:t>
            </a:r>
            <a:endParaRPr b="1" sz="1200">
              <a:solidFill>
                <a:srgbClr val="008C00"/>
              </a:solidFill>
              <a:latin typeface="Courier New"/>
              <a:ea typeface="Courier New"/>
              <a:cs typeface="Courier New"/>
              <a:sym typeface="Courier New"/>
            </a:endParaRPr>
          </a:p>
        </p:txBody>
      </p:sp>
      <p:sp>
        <p:nvSpPr>
          <p:cNvPr id="182" name="Google Shape;182;p36"/>
          <p:cNvSpPr/>
          <p:nvPr/>
        </p:nvSpPr>
        <p:spPr>
          <a:xfrm>
            <a:off x="2045293" y="1947519"/>
            <a:ext cx="1297825" cy="729975"/>
          </a:xfrm>
          <a:custGeom>
            <a:rect b="b" l="l" r="r" t="t"/>
            <a:pathLst>
              <a:path extrusionOk="0" h="29199" w="51913">
                <a:moveTo>
                  <a:pt x="11340" y="29199"/>
                </a:moveTo>
                <a:cubicBezTo>
                  <a:pt x="9538" y="26091"/>
                  <a:pt x="-2534" y="15416"/>
                  <a:pt x="529" y="10551"/>
                </a:cubicBezTo>
                <a:cubicBezTo>
                  <a:pt x="3592" y="5686"/>
                  <a:pt x="21205" y="-34"/>
                  <a:pt x="29718" y="11"/>
                </a:cubicBezTo>
                <a:cubicBezTo>
                  <a:pt x="38231" y="56"/>
                  <a:pt x="49627" y="6091"/>
                  <a:pt x="51609" y="10821"/>
                </a:cubicBezTo>
                <a:cubicBezTo>
                  <a:pt x="53591" y="15551"/>
                  <a:pt x="43276" y="25461"/>
                  <a:pt x="41609" y="28389"/>
                </a:cubicBezTo>
              </a:path>
            </a:pathLst>
          </a:custGeom>
          <a:noFill/>
          <a:ln cap="flat" cmpd="sng" w="38100">
            <a:solidFill>
              <a:srgbClr val="6AA84F"/>
            </a:solidFill>
            <a:prstDash val="solid"/>
            <a:round/>
            <a:headEnd len="med" w="med" type="none"/>
            <a:tailEnd len="med" w="med" type="triangle"/>
          </a:ln>
        </p:spPr>
      </p:sp>
      <p:sp>
        <p:nvSpPr>
          <p:cNvPr id="183" name="Google Shape;183;p36"/>
          <p:cNvSpPr/>
          <p:nvPr/>
        </p:nvSpPr>
        <p:spPr>
          <a:xfrm flipH="1" rot="10800000">
            <a:off x="2003568" y="5759294"/>
            <a:ext cx="1297825" cy="729975"/>
          </a:xfrm>
          <a:custGeom>
            <a:rect b="b" l="l" r="r" t="t"/>
            <a:pathLst>
              <a:path extrusionOk="0" h="29199" w="51913">
                <a:moveTo>
                  <a:pt x="11340" y="29199"/>
                </a:moveTo>
                <a:cubicBezTo>
                  <a:pt x="9538" y="26091"/>
                  <a:pt x="-2534" y="15416"/>
                  <a:pt x="529" y="10551"/>
                </a:cubicBezTo>
                <a:cubicBezTo>
                  <a:pt x="3592" y="5686"/>
                  <a:pt x="21205" y="-34"/>
                  <a:pt x="29718" y="11"/>
                </a:cubicBezTo>
                <a:cubicBezTo>
                  <a:pt x="38231" y="56"/>
                  <a:pt x="49627" y="6091"/>
                  <a:pt x="51609" y="10821"/>
                </a:cubicBezTo>
                <a:cubicBezTo>
                  <a:pt x="53591" y="15551"/>
                  <a:pt x="43276" y="25461"/>
                  <a:pt x="41609" y="28389"/>
                </a:cubicBezTo>
              </a:path>
            </a:pathLst>
          </a:custGeom>
          <a:noFill/>
          <a:ln cap="flat" cmpd="sng" w="38100">
            <a:solidFill>
              <a:srgbClr val="6AA84F"/>
            </a:solidFill>
            <a:prstDash val="solid"/>
            <a:round/>
            <a:headEnd len="med" w="med" type="none"/>
            <a:tailEnd len="med" w="med" type="triangle"/>
          </a:ln>
        </p:spPr>
      </p:sp>
      <p:sp>
        <p:nvSpPr>
          <p:cNvPr id="184" name="Google Shape;184;p36"/>
          <p:cNvSpPr txBox="1"/>
          <p:nvPr/>
        </p:nvSpPr>
        <p:spPr>
          <a:xfrm>
            <a:off x="2043688" y="6532375"/>
            <a:ext cx="1325100" cy="3429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200">
                <a:solidFill>
                  <a:schemeClr val="dk1"/>
                </a:solidFill>
              </a:rPr>
              <a:t>PIN is LOW</a:t>
            </a:r>
            <a:endParaRPr/>
          </a:p>
        </p:txBody>
      </p:sp>
      <p:sp>
        <p:nvSpPr>
          <p:cNvPr id="185" name="Google Shape;185;p36"/>
          <p:cNvSpPr txBox="1"/>
          <p:nvPr/>
        </p:nvSpPr>
        <p:spPr>
          <a:xfrm>
            <a:off x="444988" y="3814200"/>
            <a:ext cx="1325100" cy="3429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200">
                <a:solidFill>
                  <a:schemeClr val="dk1"/>
                </a:solidFill>
              </a:rPr>
              <a:t>PIN is HIGH</a:t>
            </a:r>
            <a:endParaRPr/>
          </a:p>
        </p:txBody>
      </p:sp>
      <p:sp>
        <p:nvSpPr>
          <p:cNvPr id="186" name="Google Shape;186;p36"/>
          <p:cNvSpPr txBox="1"/>
          <p:nvPr/>
        </p:nvSpPr>
        <p:spPr>
          <a:xfrm>
            <a:off x="4973400" y="223025"/>
            <a:ext cx="4170600" cy="21240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i="1" lang="en" sz="1800">
                <a:solidFill>
                  <a:srgbClr val="0000FF"/>
                </a:solidFill>
              </a:rPr>
              <a:t>The button can be pressed or unpressed. But it is only when we observe a transition that we need to do anything: </a:t>
            </a:r>
            <a:endParaRPr i="1" sz="1800">
              <a:solidFill>
                <a:srgbClr val="0000FF"/>
              </a:solidFill>
            </a:endParaRPr>
          </a:p>
          <a:p>
            <a:pPr indent="-342900" lvl="0" marL="457200" rtl="0" algn="l">
              <a:spcBef>
                <a:spcPts val="0"/>
              </a:spcBef>
              <a:spcAft>
                <a:spcPts val="0"/>
              </a:spcAft>
              <a:buClr>
                <a:srgbClr val="0000FF"/>
              </a:buClr>
              <a:buSzPts val="1800"/>
              <a:buChar char="●"/>
            </a:pPr>
            <a:r>
              <a:rPr i="1" lang="en" sz="1800">
                <a:solidFill>
                  <a:srgbClr val="0000FF"/>
                </a:solidFill>
              </a:rPr>
              <a:t>Update the state</a:t>
            </a:r>
            <a:endParaRPr i="1" sz="1800">
              <a:solidFill>
                <a:srgbClr val="0000FF"/>
              </a:solidFill>
            </a:endParaRPr>
          </a:p>
          <a:p>
            <a:pPr indent="-342900" lvl="0" marL="457200" rtl="0" algn="l">
              <a:spcBef>
                <a:spcPts val="0"/>
              </a:spcBef>
              <a:spcAft>
                <a:spcPts val="0"/>
              </a:spcAft>
              <a:buClr>
                <a:srgbClr val="0000FF"/>
              </a:buClr>
              <a:buSzPts val="1800"/>
              <a:buChar char="●"/>
            </a:pPr>
            <a:r>
              <a:rPr i="1" lang="en" sz="1800">
                <a:solidFill>
                  <a:srgbClr val="0000FF"/>
                </a:solidFill>
              </a:rPr>
              <a:t>Toggle LED in transition from unpressed to pressed.</a:t>
            </a:r>
            <a:endParaRPr i="1" sz="1800">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Translate state diagram to C</a:t>
            </a:r>
            <a:endParaRPr/>
          </a:p>
        </p:txBody>
      </p:sp>
      <p:sp>
        <p:nvSpPr>
          <p:cNvPr id="192" name="Google Shape;192;p37"/>
          <p:cNvSpPr/>
          <p:nvPr/>
        </p:nvSpPr>
        <p:spPr>
          <a:xfrm>
            <a:off x="1649600" y="2597138"/>
            <a:ext cx="1194600" cy="1194600"/>
          </a:xfrm>
          <a:prstGeom prst="ellipse">
            <a:avLst/>
          </a:prstGeom>
          <a:solidFill>
            <a:srgbClr val="FFFF00"/>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7"/>
          <p:cNvSpPr/>
          <p:nvPr/>
        </p:nvSpPr>
        <p:spPr>
          <a:xfrm>
            <a:off x="1649600" y="4793363"/>
            <a:ext cx="1194600" cy="1194600"/>
          </a:xfrm>
          <a:prstGeom prst="ellipse">
            <a:avLst/>
          </a:prstGeom>
          <a:solidFill>
            <a:srgbClr val="FFFF00"/>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7"/>
          <p:cNvSpPr txBox="1"/>
          <p:nvPr/>
        </p:nvSpPr>
        <p:spPr>
          <a:xfrm>
            <a:off x="1709200" y="2946788"/>
            <a:ext cx="10797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Unpressed</a:t>
            </a:r>
            <a:endParaRPr/>
          </a:p>
          <a:p>
            <a:pPr indent="0" lvl="0" marL="0" rtl="0" algn="ctr">
              <a:spcBef>
                <a:spcPts val="0"/>
              </a:spcBef>
              <a:spcAft>
                <a:spcPts val="0"/>
              </a:spcAft>
              <a:buNone/>
            </a:pPr>
            <a:r>
              <a:rPr lang="en"/>
              <a:t>(0)</a:t>
            </a:r>
            <a:endParaRPr/>
          </a:p>
        </p:txBody>
      </p:sp>
      <p:sp>
        <p:nvSpPr>
          <p:cNvPr id="195" name="Google Shape;195;p37"/>
          <p:cNvSpPr txBox="1"/>
          <p:nvPr/>
        </p:nvSpPr>
        <p:spPr>
          <a:xfrm>
            <a:off x="1822550" y="5143013"/>
            <a:ext cx="8487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Pressed</a:t>
            </a:r>
            <a:endParaRPr/>
          </a:p>
          <a:p>
            <a:pPr indent="0" lvl="0" marL="0" rtl="0" algn="ctr">
              <a:spcBef>
                <a:spcPts val="0"/>
              </a:spcBef>
              <a:spcAft>
                <a:spcPts val="0"/>
              </a:spcAft>
              <a:buNone/>
            </a:pPr>
            <a:r>
              <a:rPr lang="en"/>
              <a:t>(1)</a:t>
            </a:r>
            <a:endParaRPr/>
          </a:p>
        </p:txBody>
      </p:sp>
      <p:cxnSp>
        <p:nvCxnSpPr>
          <p:cNvPr id="196" name="Google Shape;196;p37"/>
          <p:cNvCxnSpPr>
            <a:stCxn id="192" idx="4"/>
            <a:endCxn id="193" idx="0"/>
          </p:cNvCxnSpPr>
          <p:nvPr/>
        </p:nvCxnSpPr>
        <p:spPr>
          <a:xfrm>
            <a:off x="2246900" y="3791738"/>
            <a:ext cx="0" cy="1001700"/>
          </a:xfrm>
          <a:prstGeom prst="straightConnector1">
            <a:avLst/>
          </a:prstGeom>
          <a:noFill/>
          <a:ln cap="flat" cmpd="sng" w="38100">
            <a:solidFill>
              <a:srgbClr val="93C47D"/>
            </a:solidFill>
            <a:prstDash val="solid"/>
            <a:round/>
            <a:headEnd len="med" w="med" type="none"/>
            <a:tailEnd len="med" w="med" type="triangle"/>
          </a:ln>
        </p:spPr>
      </p:cxnSp>
      <p:sp>
        <p:nvSpPr>
          <p:cNvPr id="197" name="Google Shape;197;p37"/>
          <p:cNvSpPr txBox="1"/>
          <p:nvPr/>
        </p:nvSpPr>
        <p:spPr>
          <a:xfrm>
            <a:off x="2372875" y="3939875"/>
            <a:ext cx="1427400" cy="692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highlight>
                  <a:srgbClr val="F4CCCC"/>
                </a:highlight>
              </a:rPr>
              <a:t>PIN is LOW</a:t>
            </a:r>
            <a:r>
              <a:rPr lang="en" sz="1200">
                <a:solidFill>
                  <a:srgbClr val="808030"/>
                </a:solidFill>
              </a:rPr>
              <a:t>  </a:t>
            </a:r>
            <a:r>
              <a:rPr b="1" lang="en" sz="1200">
                <a:solidFill>
                  <a:srgbClr val="008C00"/>
                </a:solidFill>
                <a:latin typeface="Courier New"/>
                <a:ea typeface="Courier New"/>
                <a:cs typeface="Courier New"/>
                <a:sym typeface="Courier New"/>
              </a:rPr>
              <a:t>/</a:t>
            </a:r>
            <a:r>
              <a:rPr lang="en" sz="1200"/>
              <a:t>  </a:t>
            </a:r>
            <a:r>
              <a:rPr lang="en" sz="1200">
                <a:highlight>
                  <a:srgbClr val="C9DAF8"/>
                </a:highlight>
              </a:rPr>
              <a:t>TOGGLE LED</a:t>
            </a:r>
            <a:r>
              <a:rPr b="1" lang="en" sz="1200">
                <a:solidFill>
                  <a:srgbClr val="008C00"/>
                </a:solidFill>
                <a:latin typeface="Courier New"/>
                <a:ea typeface="Courier New"/>
                <a:cs typeface="Courier New"/>
                <a:sym typeface="Courier New"/>
              </a:rPr>
              <a:t>  </a:t>
            </a:r>
            <a:endParaRPr sz="1200">
              <a:highlight>
                <a:srgbClr val="C9DAF8"/>
              </a:highlight>
            </a:endParaRPr>
          </a:p>
        </p:txBody>
      </p:sp>
      <p:cxnSp>
        <p:nvCxnSpPr>
          <p:cNvPr id="198" name="Google Shape;198;p37"/>
          <p:cNvCxnSpPr>
            <a:stCxn id="193" idx="2"/>
            <a:endCxn id="194" idx="1"/>
          </p:cNvCxnSpPr>
          <p:nvPr/>
        </p:nvCxnSpPr>
        <p:spPr>
          <a:xfrm flipH="1" rot="10800000">
            <a:off x="1649600" y="3118163"/>
            <a:ext cx="59700" cy="2272500"/>
          </a:xfrm>
          <a:prstGeom prst="bentConnector3">
            <a:avLst>
              <a:gd fmla="val -753183" name="adj1"/>
            </a:avLst>
          </a:prstGeom>
          <a:noFill/>
          <a:ln cap="flat" cmpd="sng" w="38100">
            <a:solidFill>
              <a:srgbClr val="6AA84F"/>
            </a:solidFill>
            <a:prstDash val="solid"/>
            <a:round/>
            <a:headEnd len="med" w="med" type="none"/>
            <a:tailEnd len="med" w="med" type="triangle"/>
          </a:ln>
        </p:spPr>
      </p:cxnSp>
      <p:sp>
        <p:nvSpPr>
          <p:cNvPr id="199" name="Google Shape;199;p37"/>
          <p:cNvSpPr txBox="1"/>
          <p:nvPr/>
        </p:nvSpPr>
        <p:spPr>
          <a:xfrm>
            <a:off x="1600150" y="1680825"/>
            <a:ext cx="1297800" cy="3720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200">
                <a:solidFill>
                  <a:schemeClr val="dk1"/>
                </a:solidFill>
              </a:rPr>
              <a:t>(PIN is HIGH)</a:t>
            </a:r>
            <a:r>
              <a:rPr lang="en" sz="1200">
                <a:solidFill>
                  <a:srgbClr val="008C00"/>
                </a:solidFill>
                <a:latin typeface="Courier New"/>
                <a:ea typeface="Courier New"/>
                <a:cs typeface="Courier New"/>
                <a:sym typeface="Courier New"/>
              </a:rPr>
              <a:t> </a:t>
            </a:r>
            <a:endParaRPr b="1" sz="1200">
              <a:solidFill>
                <a:srgbClr val="008C00"/>
              </a:solidFill>
              <a:latin typeface="Courier New"/>
              <a:ea typeface="Courier New"/>
              <a:cs typeface="Courier New"/>
              <a:sym typeface="Courier New"/>
            </a:endParaRPr>
          </a:p>
        </p:txBody>
      </p:sp>
      <p:sp>
        <p:nvSpPr>
          <p:cNvPr id="200" name="Google Shape;200;p37"/>
          <p:cNvSpPr/>
          <p:nvPr/>
        </p:nvSpPr>
        <p:spPr>
          <a:xfrm>
            <a:off x="1588093" y="2023719"/>
            <a:ext cx="1297825" cy="729975"/>
          </a:xfrm>
          <a:custGeom>
            <a:rect b="b" l="l" r="r" t="t"/>
            <a:pathLst>
              <a:path extrusionOk="0" h="29199" w="51913">
                <a:moveTo>
                  <a:pt x="11340" y="29199"/>
                </a:moveTo>
                <a:cubicBezTo>
                  <a:pt x="9538" y="26091"/>
                  <a:pt x="-2534" y="15416"/>
                  <a:pt x="529" y="10551"/>
                </a:cubicBezTo>
                <a:cubicBezTo>
                  <a:pt x="3592" y="5686"/>
                  <a:pt x="21205" y="-34"/>
                  <a:pt x="29718" y="11"/>
                </a:cubicBezTo>
                <a:cubicBezTo>
                  <a:pt x="38231" y="56"/>
                  <a:pt x="49627" y="6091"/>
                  <a:pt x="51609" y="10821"/>
                </a:cubicBezTo>
                <a:cubicBezTo>
                  <a:pt x="53591" y="15551"/>
                  <a:pt x="43276" y="25461"/>
                  <a:pt x="41609" y="28389"/>
                </a:cubicBezTo>
              </a:path>
            </a:pathLst>
          </a:custGeom>
          <a:noFill/>
          <a:ln cap="flat" cmpd="sng" w="38100">
            <a:solidFill>
              <a:srgbClr val="6AA84F"/>
            </a:solidFill>
            <a:prstDash val="solid"/>
            <a:round/>
            <a:headEnd len="med" w="med" type="none"/>
            <a:tailEnd len="med" w="med" type="triangle"/>
          </a:ln>
        </p:spPr>
      </p:sp>
      <p:sp>
        <p:nvSpPr>
          <p:cNvPr id="201" name="Google Shape;201;p37"/>
          <p:cNvSpPr/>
          <p:nvPr/>
        </p:nvSpPr>
        <p:spPr>
          <a:xfrm flipH="1" rot="10800000">
            <a:off x="1546368" y="5835494"/>
            <a:ext cx="1297825" cy="729975"/>
          </a:xfrm>
          <a:custGeom>
            <a:rect b="b" l="l" r="r" t="t"/>
            <a:pathLst>
              <a:path extrusionOk="0" h="29199" w="51913">
                <a:moveTo>
                  <a:pt x="11340" y="29199"/>
                </a:moveTo>
                <a:cubicBezTo>
                  <a:pt x="9538" y="26091"/>
                  <a:pt x="-2534" y="15416"/>
                  <a:pt x="529" y="10551"/>
                </a:cubicBezTo>
                <a:cubicBezTo>
                  <a:pt x="3592" y="5686"/>
                  <a:pt x="21205" y="-34"/>
                  <a:pt x="29718" y="11"/>
                </a:cubicBezTo>
                <a:cubicBezTo>
                  <a:pt x="38231" y="56"/>
                  <a:pt x="49627" y="6091"/>
                  <a:pt x="51609" y="10821"/>
                </a:cubicBezTo>
                <a:cubicBezTo>
                  <a:pt x="53591" y="15551"/>
                  <a:pt x="43276" y="25461"/>
                  <a:pt x="41609" y="28389"/>
                </a:cubicBezTo>
              </a:path>
            </a:pathLst>
          </a:custGeom>
          <a:noFill/>
          <a:ln cap="flat" cmpd="sng" w="38100">
            <a:solidFill>
              <a:srgbClr val="6AA84F"/>
            </a:solidFill>
            <a:prstDash val="solid"/>
            <a:round/>
            <a:headEnd len="med" w="med" type="none"/>
            <a:tailEnd len="med" w="med" type="triangle"/>
          </a:ln>
        </p:spPr>
      </p:sp>
      <p:sp>
        <p:nvSpPr>
          <p:cNvPr id="202" name="Google Shape;202;p37"/>
          <p:cNvSpPr txBox="1"/>
          <p:nvPr/>
        </p:nvSpPr>
        <p:spPr>
          <a:xfrm>
            <a:off x="1574450" y="6513900"/>
            <a:ext cx="1325100" cy="3429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200">
                <a:solidFill>
                  <a:schemeClr val="dk1"/>
                </a:solidFill>
              </a:rPr>
              <a:t>(PIN is LOW)</a:t>
            </a:r>
            <a:endParaRPr/>
          </a:p>
        </p:txBody>
      </p:sp>
      <p:sp>
        <p:nvSpPr>
          <p:cNvPr id="203" name="Google Shape;203;p37"/>
          <p:cNvSpPr txBox="1"/>
          <p:nvPr/>
        </p:nvSpPr>
        <p:spPr>
          <a:xfrm>
            <a:off x="-12212" y="3890400"/>
            <a:ext cx="1325100" cy="3429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200">
                <a:solidFill>
                  <a:schemeClr val="dk1"/>
                </a:solidFill>
                <a:highlight>
                  <a:srgbClr val="F4CCCC"/>
                </a:highlight>
              </a:rPr>
              <a:t>PIN is HIGH</a:t>
            </a:r>
            <a:endParaRPr>
              <a:highlight>
                <a:srgbClr val="F4CCCC"/>
              </a:highlight>
            </a:endParaRPr>
          </a:p>
        </p:txBody>
      </p:sp>
      <p:sp>
        <p:nvSpPr>
          <p:cNvPr id="204" name="Google Shape;204;p37"/>
          <p:cNvSpPr txBox="1"/>
          <p:nvPr/>
        </p:nvSpPr>
        <p:spPr>
          <a:xfrm>
            <a:off x="3393300" y="1634525"/>
            <a:ext cx="5750700" cy="490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highlight>
                  <a:srgbClr val="FFFF00"/>
                </a:highlight>
                <a:latin typeface="Courier New"/>
                <a:ea typeface="Courier New"/>
                <a:cs typeface="Courier New"/>
                <a:sym typeface="Courier New"/>
              </a:rPr>
              <a:t>typedef enum {UNPRESSED, PRESSED} </a:t>
            </a:r>
            <a:r>
              <a:rPr b="1" lang="en">
                <a:solidFill>
                  <a:schemeClr val="dk1"/>
                </a:solidFill>
                <a:highlight>
                  <a:srgbClr val="FFFF00"/>
                </a:highlight>
                <a:latin typeface="Courier New"/>
                <a:ea typeface="Courier New"/>
                <a:cs typeface="Courier New"/>
                <a:sym typeface="Courier New"/>
              </a:rPr>
              <a:t>state_t </a:t>
            </a:r>
            <a:r>
              <a:rPr b="1" lang="en">
                <a:highlight>
                  <a:srgbClr val="FFFF00"/>
                </a:highlight>
                <a:latin typeface="Courier New"/>
                <a:ea typeface="Courier New"/>
                <a:cs typeface="Courier New"/>
                <a:sym typeface="Courier New"/>
              </a:rPr>
              <a:t>;</a:t>
            </a:r>
            <a:endParaRPr b="1">
              <a:highlight>
                <a:srgbClr val="FFFF00"/>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highlight>
                  <a:srgbClr val="FFFF00"/>
                </a:highlight>
                <a:latin typeface="Courier New"/>
                <a:ea typeface="Courier New"/>
                <a:cs typeface="Courier New"/>
                <a:sym typeface="Courier New"/>
              </a:rPr>
              <a:t>state_t state = UNPRESSED;</a:t>
            </a:r>
            <a:endParaRPr b="1">
              <a:highlight>
                <a:srgbClr val="FFFF00"/>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latin typeface="Courier New"/>
                <a:ea typeface="Courier New"/>
                <a:cs typeface="Courier New"/>
                <a:sym typeface="Courier New"/>
              </a:rPr>
              <a:t>...</a:t>
            </a:r>
            <a:endParaRPr b="1">
              <a:latin typeface="Courier New"/>
              <a:ea typeface="Courier New"/>
              <a:cs typeface="Courier New"/>
              <a:sym typeface="Courier New"/>
            </a:endParaRPr>
          </a:p>
          <a:p>
            <a:pPr indent="0" lvl="0" marL="0" rtl="0" algn="l">
              <a:lnSpc>
                <a:spcPct val="115000"/>
              </a:lnSpc>
              <a:spcBef>
                <a:spcPts val="0"/>
              </a:spcBef>
              <a:spcAft>
                <a:spcPts val="0"/>
              </a:spcAft>
              <a:buNone/>
            </a:pPr>
            <a:r>
              <a:rPr b="1" lang="en">
                <a:latin typeface="Courier New"/>
                <a:ea typeface="Courier New"/>
                <a:cs typeface="Courier New"/>
                <a:sym typeface="Courier New"/>
              </a:rPr>
              <a:t>while(1) {</a:t>
            </a:r>
            <a:endParaRPr b="1">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    </a:t>
            </a:r>
            <a:r>
              <a:rPr b="1" lang="en">
                <a:solidFill>
                  <a:schemeClr val="dk1"/>
                </a:solidFill>
                <a:highlight>
                  <a:srgbClr val="F4CCCC"/>
                </a:highlight>
                <a:latin typeface="Courier New"/>
                <a:ea typeface="Courier New"/>
                <a:cs typeface="Courier New"/>
                <a:sym typeface="Courier New"/>
              </a:rPr>
              <a:t>buttonPushed = ((GPIOB-&gt;IDR &amp; BUTTON_PIN) == 0);</a:t>
            </a:r>
            <a:endParaRPr b="1">
              <a:highlight>
                <a:srgbClr val="F4CCCC"/>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latin typeface="Courier New"/>
                <a:ea typeface="Courier New"/>
                <a:cs typeface="Courier New"/>
                <a:sym typeface="Courier New"/>
              </a:rPr>
              <a:t>	</a:t>
            </a:r>
            <a:r>
              <a:rPr b="1" lang="en">
                <a:latin typeface="Courier New"/>
                <a:ea typeface="Courier New"/>
                <a:cs typeface="Courier New"/>
                <a:sym typeface="Courier New"/>
              </a:rPr>
              <a:t>switch(</a:t>
            </a:r>
            <a:r>
              <a:rPr b="1" lang="en">
                <a:highlight>
                  <a:srgbClr val="FFFF00"/>
                </a:highlight>
                <a:latin typeface="Courier New"/>
                <a:ea typeface="Courier New"/>
                <a:cs typeface="Courier New"/>
                <a:sym typeface="Courier New"/>
              </a:rPr>
              <a:t>state</a:t>
            </a:r>
            <a:r>
              <a:rPr b="1" lang="en">
                <a:latin typeface="Courier New"/>
                <a:ea typeface="Courier New"/>
                <a:cs typeface="Courier New"/>
                <a:sym typeface="Courier New"/>
              </a:rPr>
              <a:t>) {</a:t>
            </a:r>
            <a:endParaRPr b="1">
              <a:latin typeface="Courier New"/>
              <a:ea typeface="Courier New"/>
              <a:cs typeface="Courier New"/>
              <a:sym typeface="Courier New"/>
            </a:endParaRPr>
          </a:p>
          <a:p>
            <a:pPr indent="0" lvl="0" marL="0" rtl="0" algn="l">
              <a:lnSpc>
                <a:spcPct val="115000"/>
              </a:lnSpc>
              <a:spcBef>
                <a:spcPts val="0"/>
              </a:spcBef>
              <a:spcAft>
                <a:spcPts val="0"/>
              </a:spcAft>
              <a:buNone/>
            </a:pPr>
            <a:r>
              <a:rPr b="1" lang="en">
                <a:latin typeface="Courier New"/>
                <a:ea typeface="Courier New"/>
                <a:cs typeface="Courier New"/>
                <a:sym typeface="Courier New"/>
              </a:rPr>
              <a:t>		</a:t>
            </a:r>
            <a:r>
              <a:rPr b="1" lang="en">
                <a:latin typeface="Courier New"/>
                <a:ea typeface="Courier New"/>
                <a:cs typeface="Courier New"/>
                <a:sym typeface="Courier New"/>
              </a:rPr>
              <a:t>case </a:t>
            </a:r>
            <a:r>
              <a:rPr b="1" lang="en">
                <a:highlight>
                  <a:srgbClr val="FFFF00"/>
                </a:highlight>
                <a:latin typeface="Courier New"/>
                <a:ea typeface="Courier New"/>
                <a:cs typeface="Courier New"/>
                <a:sym typeface="Courier New"/>
              </a:rPr>
              <a:t>UNPRESSED</a:t>
            </a:r>
            <a:r>
              <a:rPr b="1" lang="en">
                <a:latin typeface="Courier New"/>
                <a:ea typeface="Courier New"/>
                <a:cs typeface="Courier New"/>
                <a:sym typeface="Courier New"/>
              </a:rPr>
              <a:t>:</a:t>
            </a:r>
            <a:endParaRPr b="1">
              <a:latin typeface="Courier New"/>
              <a:ea typeface="Courier New"/>
              <a:cs typeface="Courier New"/>
              <a:sym typeface="Courier New"/>
            </a:endParaRPr>
          </a:p>
          <a:p>
            <a:pPr indent="0" lvl="0" marL="0" rtl="0" algn="l">
              <a:lnSpc>
                <a:spcPct val="115000"/>
              </a:lnSpc>
              <a:spcBef>
                <a:spcPts val="0"/>
              </a:spcBef>
              <a:spcAft>
                <a:spcPts val="0"/>
              </a:spcAft>
              <a:buNone/>
            </a:pPr>
            <a:r>
              <a:rPr b="1" lang="en">
                <a:latin typeface="Courier New"/>
                <a:ea typeface="Courier New"/>
                <a:cs typeface="Courier New"/>
                <a:sym typeface="Courier New"/>
              </a:rPr>
              <a:t>			</a:t>
            </a:r>
            <a:r>
              <a:rPr b="1" lang="en">
                <a:highlight>
                  <a:srgbClr val="F4CCCC"/>
                </a:highlight>
                <a:latin typeface="Courier New"/>
                <a:ea typeface="Courier New"/>
                <a:cs typeface="Courier New"/>
                <a:sym typeface="Courier New"/>
              </a:rPr>
              <a:t>i</a:t>
            </a:r>
            <a:r>
              <a:rPr b="1" lang="en">
                <a:highlight>
                  <a:srgbClr val="F4CCCC"/>
                </a:highlight>
                <a:latin typeface="Courier New"/>
                <a:ea typeface="Courier New"/>
                <a:cs typeface="Courier New"/>
                <a:sym typeface="Courier New"/>
              </a:rPr>
              <a:t>f </a:t>
            </a:r>
            <a:r>
              <a:rPr b="1" lang="en">
                <a:solidFill>
                  <a:schemeClr val="dk1"/>
                </a:solidFill>
                <a:highlight>
                  <a:srgbClr val="F4CCCC"/>
                </a:highlight>
                <a:latin typeface="Courier New"/>
                <a:ea typeface="Courier New"/>
                <a:cs typeface="Courier New"/>
                <a:sym typeface="Courier New"/>
              </a:rPr>
              <a:t>(</a:t>
            </a:r>
            <a:r>
              <a:rPr b="1" lang="en">
                <a:solidFill>
                  <a:schemeClr val="dk1"/>
                </a:solidFill>
                <a:highlight>
                  <a:srgbClr val="F4CCCC"/>
                </a:highlight>
                <a:latin typeface="Courier New"/>
                <a:ea typeface="Courier New"/>
                <a:cs typeface="Courier New"/>
                <a:sym typeface="Courier New"/>
              </a:rPr>
              <a:t>buttonPushed</a:t>
            </a:r>
            <a:r>
              <a:rPr b="1" lang="en">
                <a:solidFill>
                  <a:schemeClr val="dk1"/>
                </a:solidFill>
                <a:highlight>
                  <a:srgbClr val="F4CCCC"/>
                </a:highlight>
                <a:latin typeface="Courier New"/>
                <a:ea typeface="Courier New"/>
                <a:cs typeface="Courier New"/>
                <a:sym typeface="Courier New"/>
              </a:rPr>
              <a:t>)</a:t>
            </a:r>
            <a:r>
              <a:rPr b="1" lang="en">
                <a:solidFill>
                  <a:schemeClr val="dk1"/>
                </a:solidFill>
                <a:highlight>
                  <a:schemeClr val="lt1"/>
                </a:highlight>
                <a:latin typeface="Courier New"/>
                <a:ea typeface="Courier New"/>
                <a:cs typeface="Courier New"/>
                <a:sym typeface="Courier New"/>
              </a:rPr>
              <a:t> </a:t>
            </a:r>
            <a:r>
              <a:rPr b="1" lang="en">
                <a:solidFill>
                  <a:srgbClr val="800080"/>
                </a:solidFill>
                <a:highlight>
                  <a:schemeClr val="lt1"/>
                </a:highlight>
                <a:latin typeface="Courier New"/>
                <a:ea typeface="Courier New"/>
                <a:cs typeface="Courier New"/>
                <a:sym typeface="Courier New"/>
              </a:rPr>
              <a:t>{</a:t>
            </a:r>
            <a:endParaRPr b="1">
              <a:solidFill>
                <a:srgbClr val="800080"/>
              </a:solidFill>
              <a:highlight>
                <a:schemeClr val="lt1"/>
              </a:highlight>
              <a:latin typeface="Courier New"/>
              <a:ea typeface="Courier New"/>
              <a:cs typeface="Courier New"/>
              <a:sym typeface="Courier New"/>
            </a:endParaRPr>
          </a:p>
          <a:p>
            <a:pPr indent="457200" lvl="0" marL="1371600" rtl="0" algn="l">
              <a:lnSpc>
                <a:spcPct val="115000"/>
              </a:lnSpc>
              <a:spcBef>
                <a:spcPts val="0"/>
              </a:spcBef>
              <a:spcAft>
                <a:spcPts val="0"/>
              </a:spcAft>
              <a:buNone/>
            </a:pPr>
            <a:r>
              <a:rPr b="1" lang="en">
                <a:solidFill>
                  <a:schemeClr val="dk1"/>
                </a:solidFill>
                <a:highlight>
                  <a:srgbClr val="CFE2F3"/>
                </a:highlight>
                <a:latin typeface="Courier New"/>
                <a:ea typeface="Courier New"/>
                <a:cs typeface="Courier New"/>
                <a:sym typeface="Courier New"/>
              </a:rPr>
              <a:t>GPIOA-&gt;ODR</a:t>
            </a:r>
            <a:r>
              <a:rPr b="1" lang="en">
                <a:solidFill>
                  <a:schemeClr val="dk1"/>
                </a:solidFill>
                <a:highlight>
                  <a:srgbClr val="CFE2F3"/>
                </a:highlight>
                <a:latin typeface="Courier New"/>
                <a:ea typeface="Courier New"/>
                <a:cs typeface="Courier New"/>
                <a:sym typeface="Courier New"/>
              </a:rPr>
              <a:t> ^= </a:t>
            </a:r>
            <a:r>
              <a:rPr b="1" lang="en">
                <a:solidFill>
                  <a:schemeClr val="dk1"/>
                </a:solidFill>
                <a:highlight>
                  <a:srgbClr val="CFE2F3"/>
                </a:highlight>
                <a:latin typeface="Courier New"/>
                <a:ea typeface="Courier New"/>
                <a:cs typeface="Courier New"/>
                <a:sym typeface="Courier New"/>
              </a:rPr>
              <a:t>LED_PIN</a:t>
            </a:r>
            <a:r>
              <a:rPr b="1" lang="en">
                <a:solidFill>
                  <a:schemeClr val="dk1"/>
                </a:solidFill>
                <a:highlight>
                  <a:srgbClr val="CFE2F3"/>
                </a:highlight>
                <a:latin typeface="Courier New"/>
                <a:ea typeface="Courier New"/>
                <a:cs typeface="Courier New"/>
                <a:sym typeface="Courier New"/>
              </a:rPr>
              <a:t>;</a:t>
            </a:r>
            <a:endParaRPr b="1">
              <a:solidFill>
                <a:schemeClr val="dk1"/>
              </a:solidFill>
              <a:highlight>
                <a:srgbClr val="CFE2F3"/>
              </a:highlight>
              <a:latin typeface="Courier New"/>
              <a:ea typeface="Courier New"/>
              <a:cs typeface="Courier New"/>
              <a:sym typeface="Courier New"/>
            </a:endParaRPr>
          </a:p>
          <a:p>
            <a:pPr indent="457200" lvl="0" marL="1371600" rtl="0" algn="l">
              <a:lnSpc>
                <a:spcPct val="115000"/>
              </a:lnSpc>
              <a:spcBef>
                <a:spcPts val="0"/>
              </a:spcBef>
              <a:spcAft>
                <a:spcPts val="0"/>
              </a:spcAft>
              <a:buNone/>
            </a:pPr>
            <a:r>
              <a:rPr b="1" lang="en">
                <a:highlight>
                  <a:srgbClr val="D9EAD3"/>
                </a:highlight>
                <a:latin typeface="Courier New"/>
                <a:ea typeface="Courier New"/>
                <a:cs typeface="Courier New"/>
                <a:sym typeface="Courier New"/>
              </a:rPr>
              <a:t>state = PRESSED;</a:t>
            </a:r>
            <a:r>
              <a:rPr b="1" lang="en">
                <a:latin typeface="Courier New"/>
                <a:ea typeface="Courier New"/>
                <a:cs typeface="Courier New"/>
                <a:sym typeface="Courier New"/>
              </a:rPr>
              <a:t> </a:t>
            </a:r>
            <a:endParaRPr b="1">
              <a:latin typeface="Courier New"/>
              <a:ea typeface="Courier New"/>
              <a:cs typeface="Courier New"/>
              <a:sym typeface="Courier New"/>
            </a:endParaRPr>
          </a:p>
          <a:p>
            <a:pPr indent="0" lvl="0" marL="1371600" rtl="0" algn="l">
              <a:lnSpc>
                <a:spcPct val="115000"/>
              </a:lnSpc>
              <a:spcBef>
                <a:spcPts val="0"/>
              </a:spcBef>
              <a:spcAft>
                <a:spcPts val="0"/>
              </a:spcAft>
              <a:buNone/>
            </a:pPr>
            <a:r>
              <a:rPr b="1" lang="en">
                <a:latin typeface="Courier New"/>
                <a:ea typeface="Courier New"/>
                <a:cs typeface="Courier New"/>
                <a:sym typeface="Courier New"/>
              </a:rPr>
              <a:t>}</a:t>
            </a:r>
            <a:endParaRPr b="1">
              <a:latin typeface="Courier New"/>
              <a:ea typeface="Courier New"/>
              <a:cs typeface="Courier New"/>
              <a:sym typeface="Courier New"/>
            </a:endParaRPr>
          </a:p>
          <a:p>
            <a:pPr indent="0" lvl="0" marL="1371600" rtl="0" algn="l">
              <a:lnSpc>
                <a:spcPct val="115000"/>
              </a:lnSpc>
              <a:spcBef>
                <a:spcPts val="0"/>
              </a:spcBef>
              <a:spcAft>
                <a:spcPts val="0"/>
              </a:spcAft>
              <a:buNone/>
            </a:pPr>
            <a:r>
              <a:rPr b="1" lang="en">
                <a:latin typeface="Courier New"/>
                <a:ea typeface="Courier New"/>
                <a:cs typeface="Courier New"/>
                <a:sym typeface="Courier New"/>
              </a:rPr>
              <a:t>break;</a:t>
            </a:r>
            <a:endParaRPr b="1">
              <a:latin typeface="Courier New"/>
              <a:ea typeface="Courier New"/>
              <a:cs typeface="Courier New"/>
              <a:sym typeface="Courier New"/>
            </a:endParaRPr>
          </a:p>
          <a:p>
            <a:pPr indent="0" lvl="0" marL="0" rtl="0" algn="l">
              <a:lnSpc>
                <a:spcPct val="115000"/>
              </a:lnSpc>
              <a:spcBef>
                <a:spcPts val="0"/>
              </a:spcBef>
              <a:spcAft>
                <a:spcPts val="0"/>
              </a:spcAft>
              <a:buNone/>
            </a:pPr>
            <a:r>
              <a:rPr b="1" lang="en">
                <a:latin typeface="Courier New"/>
                <a:ea typeface="Courier New"/>
                <a:cs typeface="Courier New"/>
                <a:sym typeface="Courier New"/>
              </a:rPr>
              <a:t>		</a:t>
            </a:r>
            <a:r>
              <a:rPr b="1" lang="en">
                <a:latin typeface="Courier New"/>
                <a:ea typeface="Courier New"/>
                <a:cs typeface="Courier New"/>
                <a:sym typeface="Courier New"/>
              </a:rPr>
              <a:t>case </a:t>
            </a:r>
            <a:r>
              <a:rPr b="1" lang="en">
                <a:highlight>
                  <a:srgbClr val="FFFF00"/>
                </a:highlight>
                <a:latin typeface="Courier New"/>
                <a:ea typeface="Courier New"/>
                <a:cs typeface="Courier New"/>
                <a:sym typeface="Courier New"/>
              </a:rPr>
              <a:t>PRESSED</a:t>
            </a:r>
            <a:r>
              <a:rPr b="1" lang="en">
                <a:latin typeface="Courier New"/>
                <a:ea typeface="Courier New"/>
                <a:cs typeface="Courier New"/>
                <a:sym typeface="Courier New"/>
              </a:rPr>
              <a:t>:</a:t>
            </a:r>
            <a:endParaRPr b="1">
              <a:latin typeface="Courier New"/>
              <a:ea typeface="Courier New"/>
              <a:cs typeface="Courier New"/>
              <a:sym typeface="Courier New"/>
            </a:endParaRPr>
          </a:p>
          <a:p>
            <a:pPr indent="0" lvl="0" marL="0" rtl="0" algn="l">
              <a:lnSpc>
                <a:spcPct val="115000"/>
              </a:lnSpc>
              <a:spcBef>
                <a:spcPts val="0"/>
              </a:spcBef>
              <a:spcAft>
                <a:spcPts val="0"/>
              </a:spcAft>
              <a:buNone/>
            </a:pPr>
            <a:r>
              <a:rPr b="1" lang="en">
                <a:latin typeface="Courier New"/>
                <a:ea typeface="Courier New"/>
                <a:cs typeface="Courier New"/>
                <a:sym typeface="Courier New"/>
              </a:rPr>
              <a:t>		</a:t>
            </a:r>
            <a:r>
              <a:rPr b="1" lang="en">
                <a:solidFill>
                  <a:srgbClr val="808030"/>
                </a:solidFill>
                <a:highlight>
                  <a:srgbClr val="F4CCCC"/>
                </a:highlight>
                <a:latin typeface="Courier New"/>
                <a:ea typeface="Courier New"/>
                <a:cs typeface="Courier New"/>
                <a:sym typeface="Courier New"/>
              </a:rPr>
              <a:t>	</a:t>
            </a:r>
            <a:r>
              <a:rPr b="1" lang="en">
                <a:solidFill>
                  <a:schemeClr val="dk1"/>
                </a:solidFill>
                <a:highlight>
                  <a:srgbClr val="F4CCCC"/>
                </a:highlight>
                <a:latin typeface="Courier New"/>
                <a:ea typeface="Courier New"/>
                <a:cs typeface="Courier New"/>
                <a:sym typeface="Courier New"/>
              </a:rPr>
              <a:t>if </a:t>
            </a:r>
            <a:r>
              <a:rPr b="1" lang="en">
                <a:solidFill>
                  <a:schemeClr val="dk1"/>
                </a:solidFill>
                <a:highlight>
                  <a:srgbClr val="F4CCCC"/>
                </a:highlight>
                <a:latin typeface="Courier New"/>
                <a:ea typeface="Courier New"/>
                <a:cs typeface="Courier New"/>
                <a:sym typeface="Courier New"/>
              </a:rPr>
              <a:t>(!buttonPushed)</a:t>
            </a:r>
            <a:r>
              <a:rPr b="1" lang="en">
                <a:solidFill>
                  <a:schemeClr val="dk1"/>
                </a:solidFill>
                <a:highlight>
                  <a:schemeClr val="lt1"/>
                </a:highlight>
                <a:latin typeface="Courier New"/>
                <a:ea typeface="Courier New"/>
                <a:cs typeface="Courier New"/>
                <a:sym typeface="Courier New"/>
              </a:rPr>
              <a:t> </a:t>
            </a:r>
            <a:r>
              <a:rPr b="1" lang="en">
                <a:solidFill>
                  <a:srgbClr val="800080"/>
                </a:solidFill>
                <a:highlight>
                  <a:schemeClr val="lt1"/>
                </a:highlight>
                <a:latin typeface="Courier New"/>
                <a:ea typeface="Courier New"/>
                <a:cs typeface="Courier New"/>
                <a:sym typeface="Courier New"/>
              </a:rPr>
              <a:t>{</a:t>
            </a:r>
            <a:endParaRPr b="1">
              <a:solidFill>
                <a:srgbClr val="800080"/>
              </a:solidFill>
              <a:highlight>
                <a:schemeClr val="lt1"/>
              </a:highlight>
              <a:latin typeface="Courier New"/>
              <a:ea typeface="Courier New"/>
              <a:cs typeface="Courier New"/>
              <a:sym typeface="Courier New"/>
            </a:endParaRPr>
          </a:p>
          <a:p>
            <a:pPr indent="457200" lvl="0" marL="1371600" rtl="0" algn="l">
              <a:lnSpc>
                <a:spcPct val="115000"/>
              </a:lnSpc>
              <a:spcBef>
                <a:spcPts val="0"/>
              </a:spcBef>
              <a:spcAft>
                <a:spcPts val="0"/>
              </a:spcAft>
              <a:buClr>
                <a:schemeClr val="dk1"/>
              </a:buClr>
              <a:buSzPts val="1100"/>
              <a:buFont typeface="Arial"/>
              <a:buNone/>
            </a:pPr>
            <a:r>
              <a:rPr b="1" lang="en">
                <a:solidFill>
                  <a:schemeClr val="dk1"/>
                </a:solidFill>
                <a:highlight>
                  <a:srgbClr val="D9EAD3"/>
                </a:highlight>
                <a:latin typeface="Courier New"/>
                <a:ea typeface="Courier New"/>
                <a:cs typeface="Courier New"/>
                <a:sym typeface="Courier New"/>
              </a:rPr>
              <a:t>state = UNPRESSED;</a:t>
            </a:r>
            <a:r>
              <a:rPr b="1" lang="en">
                <a:solidFill>
                  <a:schemeClr val="dk1"/>
                </a:solidFill>
                <a:latin typeface="Courier New"/>
                <a:ea typeface="Courier New"/>
                <a:cs typeface="Courier New"/>
                <a:sym typeface="Courier New"/>
              </a:rPr>
              <a:t> </a:t>
            </a:r>
            <a:endParaRPr b="1">
              <a:solidFill>
                <a:schemeClr val="dk1"/>
              </a:solidFill>
              <a:latin typeface="Courier New"/>
              <a:ea typeface="Courier New"/>
              <a:cs typeface="Courier New"/>
              <a:sym typeface="Courier New"/>
            </a:endParaRPr>
          </a:p>
          <a:p>
            <a:pPr indent="0" lvl="0" marL="1371600" rtl="0" algn="l">
              <a:lnSpc>
                <a:spcPct val="115000"/>
              </a:lnSpc>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a:t>
            </a:r>
            <a:endParaRPr b="1">
              <a:solidFill>
                <a:schemeClr val="dk1"/>
              </a:solidFill>
              <a:latin typeface="Courier New"/>
              <a:ea typeface="Courier New"/>
              <a:cs typeface="Courier New"/>
              <a:sym typeface="Courier New"/>
            </a:endParaRPr>
          </a:p>
          <a:p>
            <a:pPr indent="0" lvl="0" marL="1371600" rtl="0" algn="l">
              <a:lnSpc>
                <a:spcPct val="115000"/>
              </a:lnSpc>
              <a:spcBef>
                <a:spcPts val="0"/>
              </a:spcBef>
              <a:spcAft>
                <a:spcPts val="0"/>
              </a:spcAft>
              <a:buNone/>
            </a:pPr>
            <a:r>
              <a:rPr b="1" lang="en">
                <a:solidFill>
                  <a:schemeClr val="dk1"/>
                </a:solidFill>
                <a:latin typeface="Courier New"/>
                <a:ea typeface="Courier New"/>
                <a:cs typeface="Courier New"/>
                <a:sym typeface="Courier New"/>
              </a:rPr>
              <a:t>break;</a:t>
            </a:r>
            <a:endParaRPr b="1">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chemeClr val="dk1"/>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a:t>
            </a:r>
            <a:endParaRPr b="1">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chemeClr val="dk1"/>
                </a:solidFill>
                <a:latin typeface="Courier New"/>
                <a:ea typeface="Courier New"/>
                <a:cs typeface="Courier New"/>
                <a:sym typeface="Courier New"/>
              </a:rPr>
              <a:t>}</a:t>
            </a:r>
            <a:endParaRPr b="1">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205" name="Google Shape;205;p37"/>
          <p:cNvSpPr txBox="1"/>
          <p:nvPr/>
        </p:nvSpPr>
        <p:spPr>
          <a:xfrm>
            <a:off x="352200" y="1211050"/>
            <a:ext cx="8480100" cy="3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Enumerated data type makes it easy to write code that mirrors the state diagram!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8"/>
          <p:cNvSpPr txBox="1"/>
          <p:nvPr>
            <p:ph type="title"/>
          </p:nvPr>
        </p:nvSpPr>
        <p:spPr>
          <a:xfrm>
            <a:off x="311700" y="2854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2 design challenges</a:t>
            </a:r>
            <a:endParaRPr/>
          </a:p>
        </p:txBody>
      </p:sp>
      <p:sp>
        <p:nvSpPr>
          <p:cNvPr id="211" name="Google Shape;211;p38"/>
          <p:cNvSpPr txBox="1"/>
          <p:nvPr>
            <p:ph idx="1" type="body"/>
          </p:nvPr>
        </p:nvSpPr>
        <p:spPr>
          <a:xfrm>
            <a:off x="311700" y="1048975"/>
            <a:ext cx="8520600" cy="5543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AutoNum type="arabicPeriod"/>
            </a:pPr>
            <a:r>
              <a:rPr lang="en">
                <a:solidFill>
                  <a:schemeClr val="dk1"/>
                </a:solidFill>
              </a:rPr>
              <a:t>Use a pushbutton to pause / resume a counter (begin with blinkyCNT.c, adapt LED-toggling state machine).</a:t>
            </a:r>
            <a:endParaRPr>
              <a:solidFill>
                <a:schemeClr val="dk1"/>
              </a:solidFill>
            </a:endParaRPr>
          </a:p>
          <a:p>
            <a:pPr indent="0" lvl="0" marL="457200" rtl="0" algn="l">
              <a:spcBef>
                <a:spcPts val="1000"/>
              </a:spcBef>
              <a:spcAft>
                <a:spcPts val="0"/>
              </a:spcAft>
              <a:buNone/>
            </a:pPr>
            <a:r>
              <a:t/>
            </a:r>
            <a:endParaRPr>
              <a:solidFill>
                <a:schemeClr val="dk1"/>
              </a:solidFill>
            </a:endParaRPr>
          </a:p>
          <a:p>
            <a:pPr indent="-342900" lvl="0" marL="457200" rtl="0" algn="l">
              <a:lnSpc>
                <a:spcPct val="100000"/>
              </a:lnSpc>
              <a:spcBef>
                <a:spcPts val="1000"/>
              </a:spcBef>
              <a:spcAft>
                <a:spcPts val="0"/>
              </a:spcAft>
              <a:buClr>
                <a:schemeClr val="dk1"/>
              </a:buClr>
              <a:buSzPts val="1800"/>
              <a:buAutoNum type="arabicPeriod"/>
            </a:pPr>
            <a:r>
              <a:rPr lang="en">
                <a:solidFill>
                  <a:schemeClr val="dk1"/>
                </a:solidFill>
              </a:rPr>
              <a:t>Reaction time game: </a:t>
            </a:r>
            <a:r>
              <a:rPr lang="en">
                <a:solidFill>
                  <a:schemeClr val="dk1"/>
                </a:solidFill>
              </a:rPr>
              <a:t>Each player has a (debounced) button and a red “WIN” LED. A third (green) LED serves as the start signal. 	</a:t>
            </a:r>
            <a:endParaRPr>
              <a:solidFill>
                <a:schemeClr val="dk1"/>
              </a:solidFill>
            </a:endParaRPr>
          </a:p>
          <a:p>
            <a:pPr indent="0" lvl="0" marL="457200" rtl="0" algn="l">
              <a:lnSpc>
                <a:spcPct val="100000"/>
              </a:lnSpc>
              <a:spcBef>
                <a:spcPts val="1600"/>
              </a:spcBef>
              <a:spcAft>
                <a:spcPts val="0"/>
              </a:spcAft>
              <a:buNone/>
            </a:pPr>
            <a:r>
              <a:rPr lang="en">
                <a:solidFill>
                  <a:schemeClr val="dk1"/>
                </a:solidFill>
              </a:rPr>
              <a:t>1. Initially, the starter LED is ON, or perhaps blinking rapidly.</a:t>
            </a:r>
            <a:endParaRPr>
              <a:solidFill>
                <a:schemeClr val="dk1"/>
              </a:solidFill>
            </a:endParaRPr>
          </a:p>
          <a:p>
            <a:pPr indent="0" lvl="0" marL="457200" rtl="0" algn="l">
              <a:lnSpc>
                <a:spcPct val="100000"/>
              </a:lnSpc>
              <a:spcBef>
                <a:spcPts val="1200"/>
              </a:spcBef>
              <a:spcAft>
                <a:spcPts val="0"/>
              </a:spcAft>
              <a:buNone/>
            </a:pPr>
            <a:r>
              <a:rPr lang="en">
                <a:solidFill>
                  <a:schemeClr val="dk1"/>
                </a:solidFill>
              </a:rPr>
              <a:t>2. Players can press either button to start the game.</a:t>
            </a:r>
            <a:endParaRPr>
              <a:solidFill>
                <a:schemeClr val="dk1"/>
              </a:solidFill>
            </a:endParaRPr>
          </a:p>
          <a:p>
            <a:pPr indent="0" lvl="0" marL="457200" rtl="0" algn="l">
              <a:lnSpc>
                <a:spcPct val="100000"/>
              </a:lnSpc>
              <a:spcBef>
                <a:spcPts val="1200"/>
              </a:spcBef>
              <a:spcAft>
                <a:spcPts val="0"/>
              </a:spcAft>
              <a:buNone/>
            </a:pPr>
            <a:r>
              <a:rPr lang="en">
                <a:solidFill>
                  <a:schemeClr val="dk1"/>
                </a:solidFill>
              </a:rPr>
              <a:t>3. The starter LED “counts down” with three flashes, one second apart, then glows steadily.</a:t>
            </a:r>
            <a:endParaRPr>
              <a:solidFill>
                <a:schemeClr val="dk1"/>
              </a:solidFill>
            </a:endParaRPr>
          </a:p>
          <a:p>
            <a:pPr indent="0" lvl="0" marL="457200" rtl="0" algn="l">
              <a:lnSpc>
                <a:spcPct val="100000"/>
              </a:lnSpc>
              <a:spcBef>
                <a:spcPts val="1200"/>
              </a:spcBef>
              <a:spcAft>
                <a:spcPts val="0"/>
              </a:spcAft>
              <a:buNone/>
            </a:pPr>
            <a:r>
              <a:rPr lang="en">
                <a:solidFill>
                  <a:schemeClr val="dk1"/>
                </a:solidFill>
              </a:rPr>
              <a:t>4. The players press their buttons as soon as they see the starter LED become steady. The player who presses their button first wins, and their LED lights (or blinks rapidly) for a second. </a:t>
            </a:r>
            <a:endParaRPr>
              <a:solidFill>
                <a:schemeClr val="dk1"/>
              </a:solidFill>
            </a:endParaRPr>
          </a:p>
          <a:p>
            <a:pPr indent="0" lvl="0" marL="457200" rtl="0" algn="l">
              <a:lnSpc>
                <a:spcPct val="100000"/>
              </a:lnSpc>
              <a:spcBef>
                <a:spcPts val="1200"/>
              </a:spcBef>
              <a:spcAft>
                <a:spcPts val="0"/>
              </a:spcAft>
              <a:buNone/>
            </a:pPr>
            <a:r>
              <a:rPr lang="en">
                <a:solidFill>
                  <a:schemeClr val="dk1"/>
                </a:solidFill>
              </a:rPr>
              <a:t>5. The system returns to step 1.</a:t>
            </a:r>
            <a:endParaRPr>
              <a:solidFill>
                <a:schemeClr val="dk1"/>
              </a:solidFill>
            </a:endParaRPr>
          </a:p>
          <a:p>
            <a:pPr indent="0" lvl="0" marL="457200" rtl="0" algn="l">
              <a:lnSpc>
                <a:spcPct val="100000"/>
              </a:lnSpc>
              <a:spcBef>
                <a:spcPts val="1200"/>
              </a:spcBef>
              <a:spcAft>
                <a:spcPts val="0"/>
              </a:spcAft>
              <a:buNone/>
            </a:pPr>
            <a:r>
              <a:rPr lang="en">
                <a:solidFill>
                  <a:srgbClr val="CC0000"/>
                </a:solidFill>
              </a:rPr>
              <a:t>Use state machine design pattern.  Begin with paper design / state diagram.</a:t>
            </a:r>
            <a:endParaRPr>
              <a:solidFill>
                <a:srgbClr val="CC0000"/>
              </a:solidFill>
            </a:endParaRPr>
          </a:p>
          <a:p>
            <a:pPr indent="0" lvl="0" marL="0" rtl="0" algn="l">
              <a:spcBef>
                <a:spcPts val="1200"/>
              </a:spcBef>
              <a:spcAft>
                <a:spcPts val="0"/>
              </a:spcAft>
              <a:buNone/>
            </a:pPr>
            <a:r>
              <a:rPr lang="en" sz="1100">
                <a:solidFill>
                  <a:schemeClr val="dk1"/>
                </a:solidFill>
              </a:rPr>
              <a:t>				</a:t>
            </a:r>
            <a:endParaRPr sz="1100">
              <a:solidFill>
                <a:schemeClr val="dk1"/>
              </a:solidFill>
            </a:endParaRPr>
          </a:p>
          <a:p>
            <a:pPr indent="0" lvl="0" marL="0" rtl="0" algn="l">
              <a:spcBef>
                <a:spcPts val="0"/>
              </a:spcBef>
              <a:spcAft>
                <a:spcPts val="0"/>
              </a:spcAft>
              <a:buNone/>
            </a:pPr>
            <a:r>
              <a:rPr lang="en" sz="1100">
                <a:solidFill>
                  <a:schemeClr val="dk1"/>
                </a:solidFill>
              </a:rPr>
              <a:t>			</a:t>
            </a:r>
            <a:endParaRPr sz="1100">
              <a:solidFill>
                <a:schemeClr val="dk1"/>
              </a:solidFill>
            </a:endParaRPr>
          </a:p>
          <a:p>
            <a:pPr indent="0" lvl="0" marL="0" rtl="0" algn="l">
              <a:spcBef>
                <a:spcPts val="1600"/>
              </a:spcBef>
              <a:spcAft>
                <a:spcPts val="0"/>
              </a:spcAft>
              <a:buNone/>
            </a:pPr>
            <a:r>
              <a:rPr lang="en" sz="1100">
                <a:solidFill>
                  <a:schemeClr val="dk1"/>
                </a:solidFill>
              </a:rPr>
              <a:t>		</a:t>
            </a:r>
            <a:endParaRPr sz="1100">
              <a:solidFill>
                <a:schemeClr val="dk1"/>
              </a:solidFill>
            </a:endParaRPr>
          </a:p>
          <a:p>
            <a:pPr indent="0" lvl="0" marL="0" rtl="0" algn="l">
              <a:spcBef>
                <a:spcPts val="1600"/>
              </a:spcBef>
              <a:spcAft>
                <a:spcPts val="1600"/>
              </a:spcAft>
              <a:buNone/>
            </a:pPr>
            <a:r>
              <a:rPr lang="en" sz="1100">
                <a:solidFill>
                  <a:schemeClr val="dk1"/>
                </a:solidFill>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39" title="Screenshot 2026-01-09 at 11.41.08 AM.png"/>
          <p:cNvPicPr preferRelativeResize="0"/>
          <p:nvPr/>
        </p:nvPicPr>
        <p:blipFill rotWithShape="1">
          <a:blip r:embed="rId3">
            <a:alphaModFix/>
          </a:blip>
          <a:srcRect b="0" l="0" r="0" t="0"/>
          <a:stretch/>
        </p:blipFill>
        <p:spPr>
          <a:xfrm>
            <a:off x="105550" y="1212500"/>
            <a:ext cx="8743426" cy="4760850"/>
          </a:xfrm>
          <a:prstGeom prst="rect">
            <a:avLst/>
          </a:prstGeom>
          <a:noFill/>
          <a:ln>
            <a:noFill/>
          </a:ln>
        </p:spPr>
      </p:pic>
      <p:sp>
        <p:nvSpPr>
          <p:cNvPr id="217" name="Google Shape;217;p39"/>
          <p:cNvSpPr txBox="1"/>
          <p:nvPr>
            <p:ph type="title"/>
          </p:nvPr>
        </p:nvSpPr>
        <p:spPr>
          <a:xfrm>
            <a:off x="311700" y="3250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Lastly, Don't Forget:</a:t>
            </a:r>
            <a:endParaRPr/>
          </a:p>
        </p:txBody>
      </p:sp>
      <p:sp>
        <p:nvSpPr>
          <p:cNvPr id="218" name="Google Shape;218;p39"/>
          <p:cNvSpPr/>
          <p:nvPr/>
        </p:nvSpPr>
        <p:spPr>
          <a:xfrm>
            <a:off x="3498413" y="2593900"/>
            <a:ext cx="1817700" cy="3681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