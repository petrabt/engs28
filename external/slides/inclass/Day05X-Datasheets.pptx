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45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141"/>
              </a:buClr>
              <a:buSzPts val="2400"/>
              <a:buNone/>
              <a:defRPr sz="2400">
                <a:solidFill>
                  <a:srgbClr val="42414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">
  <p:cSld name="Thayer Logo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1" y="4294640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pic>
        <p:nvPicPr>
          <p:cNvPr descr="A close up of a sign&#10;&#10;Description automatically generated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496560"/>
            <a:ext cx="7315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ark Option">
  <p:cSld name="Title Slide - Dark Option">
    <p:bg>
      <p:bgPr>
        <a:solidFill>
          <a:srgbClr val="00693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 - Dark Option">
  <p:cSld name="Thayer Logo - Dark Option">
    <p:bg>
      <p:bgPr>
        <a:solidFill>
          <a:srgbClr val="00693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" y="4737643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0" y="6290336"/>
            <a:ext cx="12192000" cy="567664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659536"/>
            <a:ext cx="7315200" cy="22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Reading Component Datasheets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ENGS 28 · Day 5X — In-Class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systems need peripherals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93776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A microcontroller on its own senses nothing and drives nothing.</a:t>
            </a:r>
          </a:p>
          <a:p>
            <a:pPr>
              <a:defRPr sz="1600"/>
            </a:pPr>
            <a:r>
              <a:rPr sz="1600"/>
              <a:t>Every useful system connects the MCU to the world through input and output components.</a:t>
            </a:r>
          </a:p>
          <a:p>
            <a:pPr>
              <a:defRPr sz="1600"/>
            </a:pPr>
            <a:r>
              <a:rPr b="1" sz="1600"/>
              <a:t>Sensors, switches, and data streams feed in; the MCU drives displays, actuators, and data streams out.</a:t>
            </a:r>
          </a:p>
        </p:txBody>
      </p:sp>
      <p:pic>
        <p:nvPicPr>
          <p:cNvPr id="4" name="Picture 3" descr="d5x_io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19474"/>
            <a:ext cx="5486400" cy="17388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3704085"/>
            <a:ext cx="54864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Inputs feed the MCU through interfaces; the MCU sends commands out through interfaces on the other side.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Only the datasheet can answer these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600"/>
            </a:pPr>
            <a:r>
              <a:rPr sz="1600"/>
              <a:t>What supply voltage does it need — and what min/max conditions can it tolerate?</a:t>
            </a:r>
          </a:p>
          <a:p>
            <a:pPr>
              <a:defRPr sz="1600"/>
            </a:pPr>
            <a:r>
              <a:rPr sz="1600"/>
              <a:t>What signal does it produce or consume, and what does that signal represent?</a:t>
            </a:r>
          </a:p>
          <a:p>
            <a:pPr>
              <a:defRPr sz="1600"/>
            </a:pPr>
            <a:r>
              <a:rPr sz="1600"/>
              <a:t>Does it do its own conversion and give you numbers over I²C, or output a raw voltage your ADC must interpret?</a:t>
            </a:r>
          </a:p>
          <a:p>
            <a:pPr>
              <a:defRPr sz="1600"/>
            </a:pPr>
            <a:r>
              <a:rPr sz="1600"/>
              <a:t>How do you wire it up, and what must your code configure before it responds?</a:t>
            </a:r>
          </a:p>
          <a:p>
            <a:pPr>
              <a:defRPr sz="1600"/>
            </a:pPr>
            <a:r>
              <a:rPr b="1" sz="1600"/>
              <a:t>Datasheets are dense and written for experts — but they follow a predictable structure. Learn where to look and you can navigate any of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datasheet has the same skeleton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  <a:defRPr sz="1400"/>
            </a:pPr>
            <a:r>
              <a:rPr b="1" sz="1400"/>
              <a:t>First page — </a:t>
            </a:r>
            <a:r>
              <a:rPr sz="1400"/>
              <a:t>Features (what it does) and Description (always read this — names the interface and application).</a:t>
            </a:r>
          </a:p>
          <a:p>
            <a:pPr>
              <a:spcAft>
                <a:spcPts val="600"/>
              </a:spcAft>
              <a:defRPr sz="1400"/>
            </a:pPr>
            <a:r>
              <a:rPr b="1" sz="1400"/>
              <a:t>Pinout / Pin descriptions</a:t>
            </a:r>
            <a:r>
              <a:rPr sz="1400"/>
              <a:t> — which pin is which.</a:t>
            </a:r>
          </a:p>
          <a:p>
            <a:pPr>
              <a:spcAft>
                <a:spcPts val="600"/>
              </a:spcAft>
              <a:defRPr sz="1400"/>
            </a:pPr>
            <a:r>
              <a:rPr b="1" sz="1400"/>
              <a:t>Absolute Maximum Ratings</a:t>
            </a:r>
            <a:r>
              <a:rPr sz="1400"/>
              <a:t> — never exceed; doing so destroys the part.</a:t>
            </a:r>
          </a:p>
          <a:p>
            <a:pPr>
              <a:spcAft>
                <a:spcPts val="600"/>
              </a:spcAft>
              <a:defRPr sz="1400"/>
            </a:pPr>
            <a:r>
              <a:rPr b="1" sz="1400"/>
              <a:t>Recommended Operating Conditions</a:t>
            </a:r>
            <a:r>
              <a:rPr sz="1400"/>
              <a:t> — the range it's designed for.</a:t>
            </a:r>
          </a:p>
          <a:p>
            <a:pPr>
              <a:spcAft>
                <a:spcPts val="600"/>
              </a:spcAft>
              <a:defRPr sz="1400"/>
            </a:pPr>
            <a:r>
              <a:rPr b="1" sz="1400"/>
              <a:t>Electrical Characteristics</a:t>
            </a:r>
            <a:r>
              <a:rPr sz="1400"/>
              <a:t> — voltages, currents, timing, with Min / Typ / Max columns.</a:t>
            </a:r>
          </a:p>
          <a:p>
            <a:pPr>
              <a:spcAft>
                <a:spcPts val="600"/>
              </a:spcAft>
              <a:defRPr sz="1400"/>
            </a:pPr>
            <a:r>
              <a:rPr b="1" sz="1400"/>
              <a:t>Application Information</a:t>
            </a:r>
            <a:r>
              <a:rPr sz="1400"/>
              <a:t> — the designer's goldmine: example schematics, register maps, usage notes.</a:t>
            </a:r>
          </a:p>
          <a:p>
            <a:pPr>
              <a:spcAft>
                <a:spcPts val="600"/>
              </a:spcAft>
              <a:defRPr sz="1400"/>
            </a:pPr>
            <a:r>
              <a:rPr b="1" sz="1400"/>
              <a:t>Packaging</a:t>
            </a:r>
            <a:r>
              <a:rPr sz="1400"/>
              <a:t> — physical dimensions (rarely needed for breadboards).</a:t>
            </a:r>
          </a:p>
          <a:p>
            <a:pPr>
              <a:defRPr sz="1400"/>
            </a:pPr>
            <a:r>
              <a:rPr b="1" sz="1400">
                <a:solidFill>
                  <a:srgbClr val="00693E"/>
                </a:solidFill>
              </a:rPr>
              <a:t>Watch for active-low: </a:t>
            </a:r>
            <a:r>
              <a:rPr sz="1400"/>
              <a:t>a bar over a pin name (or a star in a table) means you pull it to ground to activate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Datasheet Scavenger Hunt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table gets one component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600"/>
            </a:pPr>
            <a:r>
              <a:rPr sz="1600"/>
              <a:t>Open its datasheet from Canvas, display it on your table's monitor, and complete the Datasheet Passport (next slides).</a:t>
            </a:r>
          </a:p>
          <a:p>
            <a:pPr>
              <a:defRPr sz="1600"/>
            </a:pPr>
            <a:r>
              <a:rPr sz="1600"/>
              <a:t>Be ready to share your answers with the class in the last five minutes.</a:t>
            </a:r>
          </a:p>
          <a:p>
            <a:pPr>
              <a:defRPr sz="1600"/>
            </a:pPr>
            <a:r>
              <a:rPr b="1" sz="1600"/>
              <a:t>Possible components: </a:t>
            </a:r>
            <a:r>
              <a:rPr sz="1600"/>
              <a:t>TMP235 (analog temp sensor), CdS photocell (light-dependent resistor), LSM303AGR (I²C accel/mag), HT16K33 (I²C LED-matrix driver), and others as assigned.</a:t>
            </a:r>
          </a:p>
          <a:p>
            <a:pPr>
              <a:defRPr sz="1400"/>
            </a:pPr>
            <a:r>
              <a:rPr i="1" sz="1400"/>
              <a:t>Some questions have analog and digital versions — answer the one that applies. Finish early? Sketch the hookup to the STM32 on your 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Datasheet Passport — Part A: What Is It?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000"/>
              </a:spcAft>
              <a:buNone/>
              <a:defRPr sz="1500"/>
            </a:pPr>
            <a:r>
              <a:rPr i="1" sz="1500"/>
              <a:t>These answers are on the first page.</a:t>
            </a:r>
          </a:p>
          <a:p>
            <a:pPr>
              <a:spcAft>
                <a:spcPts val="900"/>
              </a:spcAft>
              <a:buAutoNum type="arabicPeriod"/>
              <a:defRPr sz="1600"/>
            </a:pPr>
            <a:r>
              <a:rPr sz="1600"/>
              <a:t>Read the Description (not the Features list). In one sentence, what does this component do?</a:t>
            </a:r>
          </a:p>
          <a:p>
            <a:pPr>
              <a:spcAft>
                <a:spcPts val="900"/>
              </a:spcAft>
              <a:buAutoNum type="arabicPeriod"/>
              <a:defRPr sz="1600"/>
            </a:pPr>
            <a:r>
              <a:rPr sz="1600"/>
              <a:t>Find the Recommended Operating Conditions. What supply voltage range (VDD/VCC) does it accept? Is 3.3 V within range? (Passive part? Find the max rated voltage and power dissipation instead.)</a:t>
            </a:r>
          </a:p>
          <a:p>
            <a:pPr>
              <a:buAutoNum type="arabicPeriod"/>
              <a:defRPr sz="1600"/>
            </a:pPr>
            <a:r>
              <a:rPr sz="1600"/>
              <a:t>Find the Absolute Maximum Ratings. What is the maximum voltage the part can survive? Any other limits a careless user might exceed?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Datasheet Passport — Part B: How Does It Communicate?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000"/>
              </a:spcAft>
              <a:buNone/>
              <a:defRPr sz="1500"/>
            </a:pPr>
            <a:r>
              <a:rPr i="1" sz="1500"/>
              <a:t>These answers are in the Pinout and Application sections.</a:t>
            </a:r>
          </a:p>
          <a:p>
            <a:pPr>
              <a:spcAft>
                <a:spcPts val="1000"/>
              </a:spcAft>
              <a:buAutoNum type="arabicPeriod"/>
              <a:defRPr sz="1600"/>
            </a:pPr>
            <a:r>
              <a:rPr sz="1600"/>
              <a:t>What interface does it use? Check one or more: passive (variable resistance), analog voltage output, I²C, SPI, UART/serial, PWM input, other.</a:t>
            </a:r>
          </a:p>
          <a:p>
            <a:pPr>
              <a:buAutoNum type="arabicPeriod"/>
              <a:defRPr sz="1600"/>
            </a:pPr>
            <a:r>
              <a:rPr sz="1600"/>
              <a:t>List every pin needed for a minimal hookup. For each, write its name and what it connects to (VDD, GND, a specific STM32 pin, etc.).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Datasheet Passport — Part C: What Does It Output or Require?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800"/>
              </a:spcAft>
              <a:buNone/>
              <a:defRPr sz="1400"/>
            </a:pPr>
            <a:r>
              <a:rPr i="1" sz="1400"/>
              <a:t>These answers are in the Electrical Characteristics table. Answer the version that matches your component.</a:t>
            </a:r>
          </a:p>
          <a:p>
            <a:pPr>
              <a:spcAft>
                <a:spcPts val="600"/>
              </a:spcAft>
              <a:buAutoNum type="arabicPeriod"/>
              <a:defRPr sz="1500"/>
            </a:pPr>
            <a:r>
              <a:rPr b="1" sz="1500"/>
              <a:t>Passive sensor: </a:t>
            </a:r>
            <a:r>
              <a:rPr sz="1500"/>
              <a:t>resistance at min/max of the range? Linear, or is there a curve/formula?</a:t>
            </a:r>
          </a:p>
          <a:p>
            <a:pPr>
              <a:spcAft>
                <a:spcPts val="600"/>
              </a:spcAft>
              <a:buAutoNum type="arabicPeriod"/>
              <a:defRPr sz="1500"/>
            </a:pPr>
            <a:r>
              <a:rPr b="1" sz="1500"/>
              <a:t>Analog output: </a:t>
            </a:r>
            <a:r>
              <a:rPr sz="1500"/>
              <a:t>output voltage at min/max? Linear? Write the transfer function (voltage → physical value).</a:t>
            </a:r>
          </a:p>
          <a:p>
            <a:pPr>
              <a:spcAft>
                <a:spcPts val="600"/>
              </a:spcAft>
              <a:buAutoNum type="arabicPeriod"/>
              <a:defRPr sz="1500"/>
            </a:pPr>
            <a:r>
              <a:rPr b="1" sz="1500"/>
              <a:t>I²C: </a:t>
            </a:r>
            <a:r>
              <a:rPr sz="1500"/>
              <a:t>what address(es) can it use? List them (base address plus A0/A1 pins).</a:t>
            </a:r>
          </a:p>
          <a:p>
            <a:pPr>
              <a:spcAft>
                <a:spcPts val="600"/>
              </a:spcAft>
              <a:buAutoNum type="arabicPeriod"/>
              <a:defRPr sz="1500"/>
            </a:pPr>
            <a:r>
              <a:rPr b="1" sz="1500"/>
              <a:t>SPI: </a:t>
            </a:r>
            <a:r>
              <a:rPr sz="1500"/>
              <a:t>what mode (CPOL/CPHA) and max clock frequency?</a:t>
            </a:r>
          </a:p>
          <a:p>
            <a:pPr>
              <a:buAutoNum type="arabicPeriod"/>
              <a:defRPr sz="1500"/>
            </a:pPr>
            <a:r>
              <a:rPr b="1" sz="1500"/>
              <a:t>All: </a:t>
            </a:r>
            <a:r>
              <a:rPr sz="1500"/>
              <a:t>max supply current? Does that rule out powering it from a GPIO pin (max 25 mA)? (Passive: max power dissipation instead.)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Datasheet Passport — Part D: Making It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900"/>
              </a:spcAft>
              <a:buNone/>
              <a:defRPr sz="1500"/>
            </a:pPr>
            <a:r>
              <a:rPr i="1" sz="1500"/>
              <a:t>These answers are in the Application Information section.</a:t>
            </a:r>
          </a:p>
          <a:p>
            <a:pPr>
              <a:spcAft>
                <a:spcPts val="800"/>
              </a:spcAft>
              <a:buAutoNum type="arabicPeriod"/>
              <a:defRPr sz="1600"/>
            </a:pPr>
            <a:r>
              <a:rPr sz="1600"/>
              <a:t>Find the example schematic. Sketch the minimal hookup on your board — power, ground, signal lines, labeled with pin names.</a:t>
            </a:r>
          </a:p>
          <a:p>
            <a:pPr>
              <a:spcAft>
                <a:spcPts val="800"/>
              </a:spcAft>
              <a:buAutoNum type="arabicPeriod"/>
              <a:defRPr sz="1600"/>
            </a:pPr>
            <a:r>
              <a:rPr sz="1600"/>
              <a:t>Name one thing you'd configure or calculate in code before reading data (set I²C address, choose a gain, apply a conversion formula, …).</a:t>
            </a:r>
          </a:p>
          <a:p>
            <a:pPr>
              <a:spcAft>
                <a:spcPts val="800"/>
              </a:spcAft>
              <a:buAutoNum type="arabicPeriod"/>
              <a:defRPr sz="1600"/>
            </a:pPr>
            <a:r>
              <a:rPr sz="1600"/>
              <a:t>What was the most confusing or surprising thing you found?</a:t>
            </a:r>
          </a:p>
          <a:p>
            <a:pPr>
              <a:buNone/>
              <a:defRPr sz="1500"/>
            </a:pPr>
            <a:r>
              <a:rPr b="1" sz="1500">
                <a:solidFill>
                  <a:srgbClr val="00693E"/>
                </a:solidFill>
              </a:rPr>
              <a:t>Part E — Group Slide: </a:t>
            </a:r>
            <a:r>
              <a:rPr sz="1500"/>
              <a:t>add one slide for your component to the shared class deck (Canvas) with your Part A–D answers (not the sketch). Short phrases, not paragraphs.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Share-Out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700"/>
            </a:pPr>
            <a:r>
              <a:rPr sz="1700"/>
              <a:t>Each table presents their slide in 30 seconds or less. Cover at least:</a:t>
            </a:r>
          </a:p>
          <a:p>
            <a:pPr lvl="1">
              <a:defRPr sz="1700"/>
            </a:pPr>
            <a:r>
              <a:rPr sz="1700"/>
              <a:t>Component name and what it does (one sentence).</a:t>
            </a:r>
          </a:p>
          <a:p>
            <a:pPr lvl="1">
              <a:defRPr sz="1700"/>
            </a:pPr>
            <a:r>
              <a:rPr sz="1700"/>
              <a:t>Interface type: passive, analog, I²C, SPI, or other.</a:t>
            </a:r>
          </a:p>
          <a:p>
            <a:pPr lvl="1">
              <a:defRPr sz="1700"/>
            </a:pPr>
            <a:r>
              <a:rPr sz="1700"/>
              <a:t>One thing that surprised you or that others should know.</a:t>
            </a:r>
          </a:p>
          <a:p>
            <a:pPr>
              <a:defRPr sz="1700"/>
            </a:pPr>
            <a:r>
              <a:rPr b="1" sz="1700"/>
              <a:t>As you listen, note which components are analog and which are digital</a:t>
            </a:r>
            <a:r>
              <a:rPr sz="1700"/>
              <a:t> — you'll use several of these parts later in the course.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