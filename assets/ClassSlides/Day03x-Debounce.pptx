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embeddedFontLst>
    <p:embeddedFont>
      <p:font typeface="Helvetica Neue"/>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JCPXckfT-6g"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d6b85160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d6b8516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52188cbc1_0_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52188cbc1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efc13170f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efc13170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time base settings depend on your chosen LED on/off time. This picture has a delay_ms(100).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52188cbc1_0_1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52188cbc1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oscilloscope can see the on/off in the LED signal, even when your eyes cannot.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Just show this here with the next slide so students can discuss (unless you miraculously got to this on Tuesday)</a:t>
            </a:r>
            <a:endParaRPr/>
          </a:p>
          <a:p>
            <a:pPr indent="0" lvl="0" marL="0" rtl="0" algn="l">
              <a:spcBef>
                <a:spcPts val="0"/>
              </a:spcBef>
              <a:spcAft>
                <a:spcPts val="0"/>
              </a:spcAft>
              <a:buNone/>
            </a:pPr>
            <a:r>
              <a:rPr lang="en"/>
              <a:t>One looks dimmer than the other but oscilloscope shows that the voltage is the same. It's our eyes that cannot perceive the flickering.</a:t>
            </a:r>
            <a:endParaRPr/>
          </a:p>
          <a:p>
            <a:pPr indent="0" lvl="0" marL="0" rtl="0" algn="l">
              <a:spcBef>
                <a:spcPts val="0"/>
              </a:spcBef>
              <a:spcAft>
                <a:spcPts val="0"/>
              </a:spcAft>
              <a:buNone/>
            </a:pPr>
            <a:r>
              <a:rPr lang="en"/>
              <a:t>Use case: dimming an LED!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a52188cbc1_0_2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a52188cbc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a52188cbc1_0_2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a52188cbc1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4abd622b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4abd622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52188cbc1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a52188cb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c5e669db9_2_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4c5e669db9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Settings for channel 1: 20 us per horizontal division and 1 V per </a:t>
            </a:r>
            <a:r>
              <a:rPr lang="en"/>
              <a:t>vertical</a:t>
            </a:r>
            <a:r>
              <a:rPr lang="en"/>
              <a:t> division. Same for channel 2. Then drag channel 1 down to separate the traces by </a:t>
            </a:r>
            <a:r>
              <a:rPr lang="en"/>
              <a:t>putting in -4V for position.</a:t>
            </a:r>
            <a:endParaRPr/>
          </a:p>
          <a:p>
            <a:pPr indent="0" lvl="0" marL="0" rtl="0" algn="l">
              <a:spcBef>
                <a:spcPts val="0"/>
              </a:spcBef>
              <a:spcAft>
                <a:spcPts val="0"/>
              </a:spcAft>
              <a:buNone/>
            </a:pPr>
            <a:r>
              <a:rPr lang="en"/>
              <a:t>Next, click on trigger on the trigger menu and set the trigger mode to normal. Set the condition to falling edge, so that it will trigger when the button is pushed. Trigger it on channel 1. That's what's connected to the button. As soon as it detects a button push it'll snap a picture.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a52188cbc1_0_2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a52188cbc1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4c5e669db9_2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4c5e669db9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4c5e669db9_2_15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4c5e669db9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8e056722e7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8e056722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ad520e61f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ad520e61f8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2ad520e61f8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ecb9aec2a9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ecb9aec2a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 I/O port is programmed as input:</a:t>
            </a:r>
            <a:endParaRPr/>
          </a:p>
          <a:p>
            <a:pPr indent="0" lvl="0" marL="0" rtl="0" algn="l">
              <a:spcBef>
                <a:spcPts val="0"/>
              </a:spcBef>
              <a:spcAft>
                <a:spcPts val="0"/>
              </a:spcAft>
              <a:buNone/>
            </a:pPr>
            <a:r>
              <a:rPr lang="en"/>
              <a:t>• The output buffer is disabled</a:t>
            </a:r>
            <a:endParaRPr/>
          </a:p>
          <a:p>
            <a:pPr indent="0" lvl="0" marL="0" rtl="0" algn="l">
              <a:spcBef>
                <a:spcPts val="0"/>
              </a:spcBef>
              <a:spcAft>
                <a:spcPts val="0"/>
              </a:spcAft>
              <a:buNone/>
            </a:pPr>
            <a:r>
              <a:rPr lang="en"/>
              <a:t>• The Schmitt trigger input is activated</a:t>
            </a:r>
            <a:endParaRPr/>
          </a:p>
          <a:p>
            <a:pPr indent="0" lvl="0" marL="0" rtl="0" algn="l">
              <a:spcBef>
                <a:spcPts val="0"/>
              </a:spcBef>
              <a:spcAft>
                <a:spcPts val="0"/>
              </a:spcAft>
              <a:buNone/>
            </a:pPr>
            <a:r>
              <a:rPr lang="en"/>
              <a:t>• The pull-up and pull-down resistors are activated depending on the value in the GPIOx_PUPDR register</a:t>
            </a:r>
            <a:endParaRPr/>
          </a:p>
          <a:p>
            <a:pPr indent="0" lvl="0" marL="0" rtl="0" algn="l">
              <a:spcBef>
                <a:spcPts val="0"/>
              </a:spcBef>
              <a:spcAft>
                <a:spcPts val="0"/>
              </a:spcAft>
              <a:buNone/>
            </a:pPr>
            <a:r>
              <a:rPr lang="en"/>
              <a:t>• The data present on the I/O pin are sampled into the input data register every AHB clock cycle</a:t>
            </a:r>
            <a:endParaRPr/>
          </a:p>
          <a:p>
            <a:pPr indent="0" lvl="0" marL="0" rtl="0" algn="l">
              <a:spcBef>
                <a:spcPts val="0"/>
              </a:spcBef>
              <a:spcAft>
                <a:spcPts val="0"/>
              </a:spcAft>
              <a:buNone/>
            </a:pPr>
            <a:r>
              <a:rPr lang="en"/>
              <a:t>• A read access to the input data register provides the I/O state</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c5e669db9_2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4c5e669db9_2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Capacitor discharge super </a:t>
            </a:r>
            <a:r>
              <a:rPr lang="en"/>
              <a:t>quick</a:t>
            </a:r>
            <a:r>
              <a:rPr lang="en"/>
              <a:t> since there is no resistor in the direct line to ground when the switch is closed.</a:t>
            </a:r>
            <a:endParaRPr/>
          </a:p>
          <a:p>
            <a:pPr indent="0" lvl="0" marL="0" rtl="0" algn="l">
              <a:spcBef>
                <a:spcPts val="0"/>
              </a:spcBef>
              <a:spcAft>
                <a:spcPts val="0"/>
              </a:spcAft>
              <a:buNone/>
            </a:pPr>
            <a:r>
              <a:rPr lang="en"/>
              <a:t>Capacitor charging depends on the values of Rpu and 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Video of resistors blowing up: </a:t>
            </a:r>
            <a:r>
              <a:rPr lang="en" u="sng">
                <a:solidFill>
                  <a:schemeClr val="hlink"/>
                </a:solidFill>
                <a:hlinkClick r:id="rId2"/>
              </a:rPr>
              <a:t>https://www.youtube.com/watch?v=JCPXckfT-6g</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6d9fbf549a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6d9fbf549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a52188cbc1_0_28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a52188cbc1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a52188cbc1_0_29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a52188cbc1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d6b85160e_0_39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d6b85160e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d6b85160e_0_4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d6b85160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d6b85160e_0_4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d6b85160e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0d6b85160e_0_4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0d6b85160e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0d6b85160e_0_4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0d6b85160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600"/>
              </a:spcBef>
              <a:spcAft>
                <a:spcPts val="0"/>
              </a:spcAft>
              <a:buSzPts val="1400"/>
              <a:buNone/>
              <a:defRPr i="1" sz="1200">
                <a:solidFill>
                  <a:schemeClr val="lt2"/>
                </a:solidFill>
                <a:latin typeface="Helvetica Neue"/>
                <a:ea typeface="Helvetica Neue"/>
                <a:cs typeface="Helvetica Neue"/>
                <a:sym typeface="Helvetica Neu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i="0"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dk1"/>
              </a:buClr>
              <a:buSzPts val="4400"/>
              <a:buFont typeface="Arial"/>
              <a:buNone/>
              <a:defRPr b="1" i="0">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26"/>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Autofit/>
          </a:bodyPr>
          <a:lstStyle>
            <a:lvl1pPr indent="-406400" lvl="0" marL="457200" rtl="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rtl="0" algn="l">
              <a:lnSpc>
                <a:spcPct val="90000"/>
              </a:lnSpc>
              <a:spcBef>
                <a:spcPts val="1600"/>
              </a:spcBef>
              <a:spcAft>
                <a:spcPts val="0"/>
              </a:spcAft>
              <a:buClr>
                <a:schemeClr val="dk1"/>
              </a:buClr>
              <a:buSzPts val="2400"/>
              <a:buChar char="○"/>
              <a:defRPr>
                <a:latin typeface="Arial"/>
                <a:ea typeface="Arial"/>
                <a:cs typeface="Arial"/>
                <a:sym typeface="Arial"/>
              </a:defRPr>
            </a:lvl2pPr>
            <a:lvl3pPr indent="-355600" lvl="2" marL="1371600" rtl="0" algn="l">
              <a:lnSpc>
                <a:spcPct val="90000"/>
              </a:lnSpc>
              <a:spcBef>
                <a:spcPts val="1600"/>
              </a:spcBef>
              <a:spcAft>
                <a:spcPts val="0"/>
              </a:spcAft>
              <a:buClr>
                <a:schemeClr val="dk1"/>
              </a:buClr>
              <a:buSzPts val="2000"/>
              <a:buChar char="■"/>
              <a:defRPr>
                <a:latin typeface="Arial"/>
                <a:ea typeface="Arial"/>
                <a:cs typeface="Arial"/>
                <a:sym typeface="Arial"/>
              </a:defRPr>
            </a:lvl3pPr>
            <a:lvl4pPr indent="-342900" lvl="3" marL="1828800" rtl="0" algn="l">
              <a:lnSpc>
                <a:spcPct val="90000"/>
              </a:lnSpc>
              <a:spcBef>
                <a:spcPts val="1600"/>
              </a:spcBef>
              <a:spcAft>
                <a:spcPts val="0"/>
              </a:spcAft>
              <a:buClr>
                <a:schemeClr val="dk1"/>
              </a:buClr>
              <a:buSzPts val="1800"/>
              <a:buChar char="●"/>
              <a:defRPr>
                <a:latin typeface="Arial"/>
                <a:ea typeface="Arial"/>
                <a:cs typeface="Arial"/>
                <a:sym typeface="Arial"/>
              </a:defRPr>
            </a:lvl4pPr>
            <a:lvl5pPr indent="-342900" lvl="4" marL="2286000" rtl="0" algn="l">
              <a:lnSpc>
                <a:spcPct val="90000"/>
              </a:lnSpc>
              <a:spcBef>
                <a:spcPts val="1600"/>
              </a:spcBef>
              <a:spcAft>
                <a:spcPts val="0"/>
              </a:spcAft>
              <a:buClr>
                <a:schemeClr val="dk1"/>
              </a:buClr>
              <a:buSzPts val="1800"/>
              <a:buChar char="○"/>
              <a:defRPr>
                <a:latin typeface="Arial"/>
                <a:ea typeface="Arial"/>
                <a:cs typeface="Arial"/>
                <a:sym typeface="Arial"/>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103" name="Google Shape;103;p26"/>
          <p:cNvSpPr txBox="1"/>
          <p:nvPr>
            <p:ph idx="10" type="dt"/>
          </p:nvPr>
        </p:nvSpPr>
        <p:spPr>
          <a:xfrm>
            <a:off x="7146235" y="6425924"/>
            <a:ext cx="7752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4" name="Google Shape;104;p26"/>
          <p:cNvSpPr txBox="1"/>
          <p:nvPr>
            <p:ph idx="11" type="ftr"/>
          </p:nvPr>
        </p:nvSpPr>
        <p:spPr>
          <a:xfrm>
            <a:off x="3886200" y="6425924"/>
            <a:ext cx="3180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5" name="Google Shape;105;p26"/>
          <p:cNvSpPr txBox="1"/>
          <p:nvPr>
            <p:ph idx="12" type="sldNum"/>
          </p:nvPr>
        </p:nvSpPr>
        <p:spPr>
          <a:xfrm>
            <a:off x="8001000" y="6425924"/>
            <a:ext cx="5145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ngs20book.thayer.dartmouth.edu/ENGS28Guide/ENGS-28-C-Programming-Guide.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111" name="Google Shape;111;p27"/>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3x</a:t>
            </a:r>
            <a:endParaRPr sz="2800">
              <a:solidFill>
                <a:srgbClr val="595959"/>
              </a:solidFill>
              <a:latin typeface="Comic Sans MS"/>
              <a:ea typeface="Comic Sans MS"/>
              <a:cs typeface="Comic Sans MS"/>
              <a:sym typeface="Comic Sans MS"/>
            </a:endParaRPr>
          </a:p>
        </p:txBody>
      </p:sp>
      <p:pic>
        <p:nvPicPr>
          <p:cNvPr id="112" name="Google Shape;112;p27"/>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13" name="Google Shape;113;p27"/>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a:t>
            </a:r>
            <a:endParaRPr/>
          </a:p>
        </p:txBody>
      </p:sp>
      <p:sp>
        <p:nvSpPr>
          <p:cNvPr id="119" name="Google Shape;119;p28"/>
          <p:cNvSpPr txBox="1"/>
          <p:nvPr>
            <p:ph idx="1" type="body"/>
          </p:nvPr>
        </p:nvSpPr>
        <p:spPr>
          <a:xfrm>
            <a:off x="311700" y="1536627"/>
            <a:ext cx="8520600" cy="320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Tuesday:</a:t>
            </a:r>
            <a:endParaRPr/>
          </a:p>
          <a:p>
            <a:pPr indent="-342900" lvl="0" marL="457200" rtl="0" algn="l">
              <a:spcBef>
                <a:spcPts val="1600"/>
              </a:spcBef>
              <a:spcAft>
                <a:spcPts val="0"/>
              </a:spcAft>
              <a:buSzPts val="1800"/>
              <a:buChar char="●"/>
            </a:pPr>
            <a:r>
              <a:rPr lang="en"/>
              <a:t>Introduction</a:t>
            </a:r>
            <a:r>
              <a:rPr lang="en"/>
              <a:t> to </a:t>
            </a:r>
            <a:r>
              <a:rPr lang="en"/>
              <a:t>oscilloscope</a:t>
            </a:r>
            <a:r>
              <a:rPr lang="en"/>
              <a:t> measurements with AD2 / Waveforms.</a:t>
            </a:r>
            <a:endParaRPr/>
          </a:p>
          <a:p>
            <a:pPr indent="-342900" lvl="0" marL="457200" rtl="0" algn="l">
              <a:spcBef>
                <a:spcPts val="0"/>
              </a:spcBef>
              <a:spcAft>
                <a:spcPts val="0"/>
              </a:spcAft>
              <a:buSzPts val="1800"/>
              <a:buChar char="●"/>
            </a:pPr>
            <a:r>
              <a:rPr lang="en"/>
              <a:t>How to interface a pushbutton switch to an STM32C0 I/O pin.</a:t>
            </a:r>
            <a:endParaRPr/>
          </a:p>
          <a:p>
            <a:pPr indent="0" lvl="0" marL="0" rtl="0" algn="l">
              <a:spcBef>
                <a:spcPts val="1600"/>
              </a:spcBef>
              <a:spcAft>
                <a:spcPts val="0"/>
              </a:spcAft>
              <a:buNone/>
            </a:pPr>
            <a:r>
              <a:rPr lang="en"/>
              <a:t>Today:  </a:t>
            </a:r>
            <a:endParaRPr/>
          </a:p>
          <a:p>
            <a:pPr indent="-342900" lvl="0" marL="457200" rtl="0" algn="l">
              <a:spcBef>
                <a:spcPts val="1600"/>
              </a:spcBef>
              <a:spcAft>
                <a:spcPts val="0"/>
              </a:spcAft>
              <a:buSzPts val="1800"/>
              <a:buChar char="●"/>
            </a:pPr>
            <a:r>
              <a:rPr lang="en"/>
              <a:t>Back to the oscilloscope</a:t>
            </a:r>
            <a:endParaRPr/>
          </a:p>
          <a:p>
            <a:pPr indent="-342900" lvl="0" marL="457200" rtl="0" algn="l">
              <a:spcBef>
                <a:spcPts val="0"/>
              </a:spcBef>
              <a:spcAft>
                <a:spcPts val="0"/>
              </a:spcAft>
              <a:buSzPts val="1800"/>
              <a:buChar char="●"/>
            </a:pPr>
            <a:r>
              <a:rPr lang="en"/>
              <a:t>More about switches and inputs.</a:t>
            </a:r>
            <a:endParaRPr/>
          </a:p>
          <a:p>
            <a:pPr indent="0" lvl="0" marL="0" rtl="0" algn="l">
              <a:spcBef>
                <a:spcPts val="1600"/>
              </a:spcBef>
              <a:spcAft>
                <a:spcPts val="1600"/>
              </a:spcAft>
              <a:buNone/>
            </a:pPr>
            <a:r>
              <a:t/>
            </a:r>
            <a:endParaRPr/>
          </a:p>
        </p:txBody>
      </p:sp>
      <p:sp>
        <p:nvSpPr>
          <p:cNvPr id="120" name="Google Shape;120;p28"/>
          <p:cNvSpPr txBox="1"/>
          <p:nvPr/>
        </p:nvSpPr>
        <p:spPr>
          <a:xfrm>
            <a:off x="448650" y="4918875"/>
            <a:ext cx="8246700" cy="1569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Need a C refresher? Check out</a:t>
            </a:r>
            <a:endParaRPr sz="1800">
              <a:solidFill>
                <a:srgbClr val="0000FF"/>
              </a:solidFill>
            </a:endParaRPr>
          </a:p>
          <a:p>
            <a:pPr indent="0" lvl="0" marL="0" rtl="0" algn="l">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 sz="1800" u="sng">
                <a:solidFill>
                  <a:schemeClr val="hlink"/>
                </a:solidFill>
                <a:hlinkClick r:id="rId3"/>
              </a:rPr>
              <a:t>https://engs20book.thayer.dartmouth.edu/ENGS28Guide</a:t>
            </a:r>
            <a:r>
              <a:rPr lang="en"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rgbClr val="0000FF"/>
                </a:solidFill>
              </a:rPr>
              <a:t>(linked under "Resources" on Canvas) </a:t>
            </a:r>
            <a:endParaRPr sz="180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9"/>
          <p:cNvSpPr txBox="1"/>
          <p:nvPr>
            <p:ph type="title"/>
          </p:nvPr>
        </p:nvSpPr>
        <p:spPr>
          <a:xfrm>
            <a:off x="311700" y="1945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AD2 with Lab 1 setup</a:t>
            </a:r>
            <a:endParaRPr/>
          </a:p>
        </p:txBody>
      </p:sp>
      <p:sp>
        <p:nvSpPr>
          <p:cNvPr id="126" name="Google Shape;126;p29"/>
          <p:cNvSpPr txBox="1"/>
          <p:nvPr>
            <p:ph idx="1" type="body"/>
          </p:nvPr>
        </p:nvSpPr>
        <p:spPr>
          <a:xfrm>
            <a:off x="311700" y="958025"/>
            <a:ext cx="8520600" cy="18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Load BlinkySEQ onto your Nucleo.</a:t>
            </a:r>
            <a:endParaRPr sz="1600"/>
          </a:p>
          <a:p>
            <a:pPr indent="0" lvl="0" marL="0" rtl="0" algn="l">
              <a:spcBef>
                <a:spcPts val="1600"/>
              </a:spcBef>
              <a:spcAft>
                <a:spcPts val="1600"/>
              </a:spcAft>
              <a:buNone/>
            </a:pPr>
            <a:r>
              <a:rPr lang="en" sz="1600"/>
              <a:t>Use “flying leads” to connect M2K to your breadboard:  “–” leads to ground, “+” leads to the LED anodes.</a:t>
            </a:r>
            <a:endParaRPr sz="1600"/>
          </a:p>
        </p:txBody>
      </p:sp>
      <p:sp>
        <p:nvSpPr>
          <p:cNvPr id="127" name="Google Shape;12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8" name="Google Shape;128;p29" title="LED_x3_AD2_bb.png"/>
          <p:cNvPicPr preferRelativeResize="0"/>
          <p:nvPr/>
        </p:nvPicPr>
        <p:blipFill>
          <a:blip r:embed="rId3">
            <a:alphaModFix/>
          </a:blip>
          <a:stretch>
            <a:fillRect/>
          </a:stretch>
        </p:blipFill>
        <p:spPr>
          <a:xfrm>
            <a:off x="2001625" y="1995800"/>
            <a:ext cx="5668876" cy="46008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ph type="title"/>
          </p:nvPr>
        </p:nvSpPr>
        <p:spPr>
          <a:xfrm>
            <a:off x="524563" y="307845"/>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 Pulse Width with Cursors</a:t>
            </a:r>
            <a:endParaRPr/>
          </a:p>
        </p:txBody>
      </p:sp>
      <p:pic>
        <p:nvPicPr>
          <p:cNvPr id="134" name="Google Shape;134;p30" title="AD2_pulse_w_cursors.png"/>
          <p:cNvPicPr preferRelativeResize="0"/>
          <p:nvPr/>
        </p:nvPicPr>
        <p:blipFill>
          <a:blip r:embed="rId3">
            <a:alphaModFix/>
          </a:blip>
          <a:stretch>
            <a:fillRect/>
          </a:stretch>
        </p:blipFill>
        <p:spPr>
          <a:xfrm>
            <a:off x="426200" y="1131145"/>
            <a:ext cx="8291610" cy="5481855"/>
          </a:xfrm>
          <a:prstGeom prst="rect">
            <a:avLst/>
          </a:prstGeom>
          <a:noFill/>
          <a:ln>
            <a:noFill/>
          </a:ln>
        </p:spPr>
      </p:pic>
      <p:grpSp>
        <p:nvGrpSpPr>
          <p:cNvPr id="135" name="Google Shape;135;p30"/>
          <p:cNvGrpSpPr/>
          <p:nvPr/>
        </p:nvGrpSpPr>
        <p:grpSpPr>
          <a:xfrm>
            <a:off x="6794350" y="1131150"/>
            <a:ext cx="2072000" cy="732475"/>
            <a:chOff x="6794350" y="1131150"/>
            <a:chExt cx="2072000" cy="732475"/>
          </a:xfrm>
        </p:grpSpPr>
        <p:sp>
          <p:nvSpPr>
            <p:cNvPr id="136" name="Google Shape;136;p30"/>
            <p:cNvSpPr/>
            <p:nvPr/>
          </p:nvSpPr>
          <p:spPr>
            <a:xfrm>
              <a:off x="6794350" y="1493125"/>
              <a:ext cx="752400" cy="370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37" name="Google Shape;137;p30"/>
            <p:cNvSpPr txBox="1"/>
            <p:nvPr/>
          </p:nvSpPr>
          <p:spPr>
            <a:xfrm>
              <a:off x="6829050" y="1131150"/>
              <a:ext cx="203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1st</a:t>
              </a:r>
              <a:endParaRPr sz="1800">
                <a:solidFill>
                  <a:srgbClr val="FF0000"/>
                </a:solidFill>
              </a:endParaRPr>
            </a:p>
          </p:txBody>
        </p:sp>
      </p:grpSp>
      <p:grpSp>
        <p:nvGrpSpPr>
          <p:cNvPr id="138" name="Google Shape;138;p30"/>
          <p:cNvGrpSpPr/>
          <p:nvPr/>
        </p:nvGrpSpPr>
        <p:grpSpPr>
          <a:xfrm>
            <a:off x="343150" y="4724400"/>
            <a:ext cx="2766475" cy="625150"/>
            <a:chOff x="6794350" y="1238475"/>
            <a:chExt cx="2766475" cy="625150"/>
          </a:xfrm>
        </p:grpSpPr>
        <p:sp>
          <p:nvSpPr>
            <p:cNvPr id="139" name="Google Shape;139;p30"/>
            <p:cNvSpPr/>
            <p:nvPr/>
          </p:nvSpPr>
          <p:spPr>
            <a:xfrm>
              <a:off x="6794350" y="1493125"/>
              <a:ext cx="752400" cy="370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40" name="Google Shape;140;p30"/>
            <p:cNvSpPr txBox="1"/>
            <p:nvPr/>
          </p:nvSpPr>
          <p:spPr>
            <a:xfrm>
              <a:off x="7523525" y="1238475"/>
              <a:ext cx="203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2nd x2</a:t>
              </a:r>
              <a:endParaRPr sz="1800">
                <a:solidFill>
                  <a:srgbClr val="FF0000"/>
                </a:solidFill>
              </a:endParaRPr>
            </a:p>
          </p:txBody>
        </p:sp>
      </p:grpSp>
      <p:cxnSp>
        <p:nvCxnSpPr>
          <p:cNvPr id="141" name="Google Shape;141;p30"/>
          <p:cNvCxnSpPr/>
          <p:nvPr/>
        </p:nvCxnSpPr>
        <p:spPr>
          <a:xfrm rot="10800000">
            <a:off x="2112275" y="3009325"/>
            <a:ext cx="729300" cy="1823100"/>
          </a:xfrm>
          <a:prstGeom prst="straightConnector1">
            <a:avLst/>
          </a:prstGeom>
          <a:noFill/>
          <a:ln cap="flat" cmpd="sng" w="19050">
            <a:solidFill>
              <a:srgbClr val="FF0000"/>
            </a:solidFill>
            <a:prstDash val="solid"/>
            <a:round/>
            <a:headEnd len="med" w="med" type="triangle"/>
            <a:tailEnd len="med" w="med" type="none"/>
          </a:ln>
        </p:spPr>
      </p:cxnSp>
      <p:sp>
        <p:nvSpPr>
          <p:cNvPr id="142" name="Google Shape;142;p30"/>
          <p:cNvSpPr txBox="1"/>
          <p:nvPr/>
        </p:nvSpPr>
        <p:spPr>
          <a:xfrm>
            <a:off x="1186400" y="2667025"/>
            <a:ext cx="3333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Click to move</a:t>
            </a:r>
            <a:endParaRPr sz="1800">
              <a:solidFill>
                <a:srgbClr val="FF0000"/>
              </a:solidFill>
            </a:endParaRPr>
          </a:p>
        </p:txBody>
      </p:sp>
      <p:sp>
        <p:nvSpPr>
          <p:cNvPr id="143" name="Google Shape;143;p30"/>
          <p:cNvSpPr/>
          <p:nvPr/>
        </p:nvSpPr>
        <p:spPr>
          <a:xfrm>
            <a:off x="1716800" y="5457800"/>
            <a:ext cx="553800" cy="330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30"/>
          <p:cNvSpPr txBox="1"/>
          <p:nvPr/>
        </p:nvSpPr>
        <p:spPr>
          <a:xfrm>
            <a:off x="1776825" y="5752275"/>
            <a:ext cx="368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Pulsewidth</a:t>
            </a:r>
            <a:endParaRPr sz="1800">
              <a:solidFill>
                <a:schemeClr val="dk2"/>
              </a:solidFill>
            </a:endParaRPr>
          </a:p>
        </p:txBody>
      </p:sp>
      <p:grpSp>
        <p:nvGrpSpPr>
          <p:cNvPr id="145" name="Google Shape;145;p30"/>
          <p:cNvGrpSpPr/>
          <p:nvPr/>
        </p:nvGrpSpPr>
        <p:grpSpPr>
          <a:xfrm>
            <a:off x="1186402" y="5487500"/>
            <a:ext cx="2125045" cy="640238"/>
            <a:chOff x="6088362" y="1498950"/>
            <a:chExt cx="2540400" cy="640238"/>
          </a:xfrm>
        </p:grpSpPr>
        <p:sp>
          <p:nvSpPr>
            <p:cNvPr id="146" name="Google Shape;146;p30"/>
            <p:cNvSpPr/>
            <p:nvPr/>
          </p:nvSpPr>
          <p:spPr>
            <a:xfrm>
              <a:off x="6308832" y="1498950"/>
              <a:ext cx="325200" cy="270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47" name="Google Shape;147;p30"/>
            <p:cNvSpPr txBox="1"/>
            <p:nvPr/>
          </p:nvSpPr>
          <p:spPr>
            <a:xfrm>
              <a:off x="6088362" y="1677488"/>
              <a:ext cx="254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3rd</a:t>
              </a:r>
              <a:endParaRPr sz="1800">
                <a:solidFill>
                  <a:srgbClr val="FF0000"/>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ph type="title"/>
          </p:nvPr>
        </p:nvSpPr>
        <p:spPr>
          <a:xfrm>
            <a:off x="311700" y="358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more experiment	</a:t>
            </a:r>
            <a:endParaRPr/>
          </a:p>
        </p:txBody>
      </p:sp>
      <p:sp>
        <p:nvSpPr>
          <p:cNvPr id="153" name="Google Shape;153;p31"/>
          <p:cNvSpPr txBox="1"/>
          <p:nvPr>
            <p:ph idx="1" type="body"/>
          </p:nvPr>
        </p:nvSpPr>
        <p:spPr>
          <a:xfrm>
            <a:off x="311700" y="1182075"/>
            <a:ext cx="4164300" cy="297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a:t>
            </a:r>
            <a:r>
              <a:rPr b="1" lang="en"/>
              <a:t>blinkySIM.c</a:t>
            </a:r>
            <a:r>
              <a:rPr lang="en"/>
              <a:t>:</a:t>
            </a:r>
            <a:endParaRPr/>
          </a:p>
          <a:p>
            <a:pPr indent="-342900" lvl="0" marL="457200" rtl="0" algn="l">
              <a:spcBef>
                <a:spcPts val="1600"/>
              </a:spcBef>
              <a:spcAft>
                <a:spcPts val="0"/>
              </a:spcAft>
              <a:buSzPts val="1800"/>
              <a:buAutoNum type="arabicPeriod"/>
            </a:pPr>
            <a:r>
              <a:rPr lang="en"/>
              <a:t>Change the blink rate as follows and note the brightness of the</a:t>
            </a:r>
            <a:br>
              <a:rPr lang="en"/>
            </a:br>
            <a:r>
              <a:rPr lang="en"/>
              <a:t>LEDs and the waveform on Scopy.</a:t>
            </a:r>
            <a:br>
              <a:rPr lang="en"/>
            </a:br>
            <a:endParaRPr/>
          </a:p>
          <a:p>
            <a:pPr indent="-342900" lvl="0" marL="457200" rtl="0" algn="l">
              <a:spcBef>
                <a:spcPts val="0"/>
              </a:spcBef>
              <a:spcAft>
                <a:spcPts val="0"/>
              </a:spcAft>
              <a:buSzPts val="1800"/>
              <a:buAutoNum type="arabicPeriod"/>
            </a:pPr>
            <a:r>
              <a:rPr lang="en"/>
              <a:t>Now swap the lengths of on and off time; again note the brightness and the waveform.</a:t>
            </a:r>
            <a:endParaRPr/>
          </a:p>
          <a:p>
            <a:pPr indent="0" lvl="0" marL="0" rtl="0" algn="l">
              <a:spcBef>
                <a:spcPts val="1600"/>
              </a:spcBef>
              <a:spcAft>
                <a:spcPts val="1600"/>
              </a:spcAft>
              <a:buNone/>
            </a:pPr>
            <a:r>
              <a:t/>
            </a:r>
            <a:endParaRPr/>
          </a:p>
        </p:txBody>
      </p:sp>
      <p:sp>
        <p:nvSpPr>
          <p:cNvPr id="154" name="Google Shape;154;p31"/>
          <p:cNvSpPr txBox="1"/>
          <p:nvPr>
            <p:ph idx="1" type="body"/>
          </p:nvPr>
        </p:nvSpPr>
        <p:spPr>
          <a:xfrm>
            <a:off x="4211850" y="1292900"/>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155" name="Google Shape;155;p31"/>
          <p:cNvSpPr txBox="1"/>
          <p:nvPr>
            <p:ph idx="1" type="body"/>
          </p:nvPr>
        </p:nvSpPr>
        <p:spPr>
          <a:xfrm>
            <a:off x="4286100" y="2876900"/>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156" name="Google Shape;156;p31"/>
          <p:cNvSpPr txBox="1"/>
          <p:nvPr/>
        </p:nvSpPr>
        <p:spPr>
          <a:xfrm>
            <a:off x="410100" y="4930125"/>
            <a:ext cx="8422200" cy="153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0000FF"/>
                </a:solidFill>
              </a:rPr>
              <a:t>The next slide shows the oscilloscope traces (so indeed the timing is as desired.)</a:t>
            </a:r>
            <a:endParaRPr sz="1800">
              <a:solidFill>
                <a:srgbClr val="0000FF"/>
              </a:solidFill>
            </a:endParaRPr>
          </a:p>
          <a:p>
            <a:pPr indent="0" lvl="0" marL="0" rtl="0" algn="l">
              <a:lnSpc>
                <a:spcPct val="115000"/>
              </a:lnSpc>
              <a:spcBef>
                <a:spcPts val="1600"/>
              </a:spcBef>
              <a:spcAft>
                <a:spcPts val="1600"/>
              </a:spcAft>
              <a:buNone/>
            </a:pPr>
            <a:r>
              <a:rPr lang="en" sz="1800">
                <a:solidFill>
                  <a:srgbClr val="0000FF"/>
                </a:solidFill>
              </a:rPr>
              <a:t>Discuss at your table why the LED brightness changes.  How could this be useful?</a:t>
            </a:r>
            <a:endParaRPr sz="18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ph idx="1" type="body"/>
          </p:nvPr>
        </p:nvSpPr>
        <p:spPr>
          <a:xfrm>
            <a:off x="-99725" y="218200"/>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162" name="Google Shape;162;p32"/>
          <p:cNvSpPr txBox="1"/>
          <p:nvPr>
            <p:ph idx="1" type="body"/>
          </p:nvPr>
        </p:nvSpPr>
        <p:spPr>
          <a:xfrm>
            <a:off x="4286100" y="218200"/>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pic>
        <p:nvPicPr>
          <p:cNvPr id="163" name="Google Shape;163;p32"/>
          <p:cNvPicPr preferRelativeResize="0"/>
          <p:nvPr/>
        </p:nvPicPr>
        <p:blipFill>
          <a:blip r:embed="rId3">
            <a:alphaModFix/>
          </a:blip>
          <a:stretch>
            <a:fillRect/>
          </a:stretch>
        </p:blipFill>
        <p:spPr>
          <a:xfrm>
            <a:off x="5831375" y="5212675"/>
            <a:ext cx="2112375" cy="1645325"/>
          </a:xfrm>
          <a:prstGeom prst="rect">
            <a:avLst/>
          </a:prstGeom>
          <a:noFill/>
          <a:ln>
            <a:noFill/>
          </a:ln>
        </p:spPr>
      </p:pic>
      <p:pic>
        <p:nvPicPr>
          <p:cNvPr id="164" name="Google Shape;164;p32"/>
          <p:cNvPicPr preferRelativeResize="0"/>
          <p:nvPr/>
        </p:nvPicPr>
        <p:blipFill>
          <a:blip r:embed="rId4">
            <a:alphaModFix/>
          </a:blip>
          <a:stretch>
            <a:fillRect/>
          </a:stretch>
        </p:blipFill>
        <p:spPr>
          <a:xfrm>
            <a:off x="1146625" y="5212675"/>
            <a:ext cx="2096786" cy="1645325"/>
          </a:xfrm>
          <a:prstGeom prst="rect">
            <a:avLst/>
          </a:prstGeom>
          <a:noFill/>
          <a:ln>
            <a:noFill/>
          </a:ln>
        </p:spPr>
      </p:pic>
      <p:pic>
        <p:nvPicPr>
          <p:cNvPr id="165" name="Google Shape;165;p32" title="1to10.png"/>
          <p:cNvPicPr preferRelativeResize="0"/>
          <p:nvPr/>
        </p:nvPicPr>
        <p:blipFill>
          <a:blip r:embed="rId5">
            <a:alphaModFix/>
          </a:blip>
          <a:stretch>
            <a:fillRect/>
          </a:stretch>
        </p:blipFill>
        <p:spPr>
          <a:xfrm>
            <a:off x="389675" y="2001350"/>
            <a:ext cx="4287124" cy="2855299"/>
          </a:xfrm>
          <a:prstGeom prst="rect">
            <a:avLst/>
          </a:prstGeom>
          <a:noFill/>
          <a:ln>
            <a:noFill/>
          </a:ln>
        </p:spPr>
      </p:pic>
      <p:pic>
        <p:nvPicPr>
          <p:cNvPr id="166" name="Google Shape;166;p32" title="10to1.png"/>
          <p:cNvPicPr preferRelativeResize="0"/>
          <p:nvPr/>
        </p:nvPicPr>
        <p:blipFill>
          <a:blip r:embed="rId6">
            <a:alphaModFix/>
          </a:blip>
          <a:stretch>
            <a:fillRect/>
          </a:stretch>
        </p:blipFill>
        <p:spPr>
          <a:xfrm>
            <a:off x="4840774" y="2006300"/>
            <a:ext cx="4162401" cy="28453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3"/>
          <p:cNvSpPr txBox="1"/>
          <p:nvPr>
            <p:ph type="title"/>
          </p:nvPr>
        </p:nvSpPr>
        <p:spPr>
          <a:xfrm>
            <a:off x="311700" y="2853517"/>
            <a:ext cx="8520600" cy="7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300"/>
              <a:t>Back to our Button</a:t>
            </a:r>
            <a:endParaRPr sz="4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34"/>
          <p:cNvPicPr preferRelativeResize="0"/>
          <p:nvPr/>
        </p:nvPicPr>
        <p:blipFill rotWithShape="1">
          <a:blip r:embed="rId3">
            <a:alphaModFix/>
          </a:blip>
          <a:srcRect b="0" l="0" r="0" t="0"/>
          <a:stretch/>
        </p:blipFill>
        <p:spPr>
          <a:xfrm>
            <a:off x="242636" y="0"/>
            <a:ext cx="8658729" cy="6858000"/>
          </a:xfrm>
          <a:prstGeom prst="rect">
            <a:avLst/>
          </a:prstGeom>
          <a:noFill/>
          <a:ln>
            <a:noFill/>
          </a:ln>
        </p:spPr>
      </p:pic>
      <p:sp>
        <p:nvSpPr>
          <p:cNvPr id="177" name="Google Shape;177;p34"/>
          <p:cNvSpPr txBox="1"/>
          <p:nvPr>
            <p:ph type="title"/>
          </p:nvPr>
        </p:nvSpPr>
        <p:spPr>
          <a:xfrm>
            <a:off x="140575" y="160750"/>
            <a:ext cx="4509600" cy="101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Use oscilloscope to observe button behavior (wiring)</a:t>
            </a:r>
            <a:endParaRPr sz="2700"/>
          </a:p>
        </p:txBody>
      </p:sp>
      <p:sp>
        <p:nvSpPr>
          <p:cNvPr id="178" name="Google Shape;178;p34"/>
          <p:cNvSpPr txBox="1"/>
          <p:nvPr/>
        </p:nvSpPr>
        <p:spPr>
          <a:xfrm>
            <a:off x="242625" y="1171050"/>
            <a:ext cx="319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Channel 1: Button on D5 (PB4)</a:t>
            </a:r>
            <a:endParaRPr/>
          </a:p>
          <a:p>
            <a:pPr indent="0" lvl="0" marL="0" rtl="0" algn="l">
              <a:spcBef>
                <a:spcPts val="0"/>
              </a:spcBef>
              <a:spcAft>
                <a:spcPts val="0"/>
              </a:spcAft>
              <a:buNone/>
            </a:pPr>
            <a:r>
              <a:rPr lang="en"/>
              <a:t>Channel 2: LED on D13 (PA5)</a:t>
            </a:r>
            <a:endParaRPr/>
          </a:p>
        </p:txBody>
      </p:sp>
      <p:sp>
        <p:nvSpPr>
          <p:cNvPr id="179" name="Google Shape;179;p34"/>
          <p:cNvSpPr txBox="1"/>
          <p:nvPr/>
        </p:nvSpPr>
        <p:spPr>
          <a:xfrm>
            <a:off x="140575" y="4514975"/>
            <a:ext cx="2303700" cy="21324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If your "toggle" LED code is finished you can use it here. Otherwise please flash the "button" code from last class onto your Nucleo.</a:t>
            </a:r>
            <a:endParaRPr sz="18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144025" y="-66475"/>
            <a:ext cx="8940900" cy="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Load button.c </a:t>
            </a:r>
            <a:r>
              <a:rPr lang="en" sz="2500"/>
              <a:t>onto</a:t>
            </a:r>
            <a:r>
              <a:rPr lang="en" sz="2500"/>
              <a:t> your Nucleo (unless you already </a:t>
            </a:r>
            <a:r>
              <a:rPr lang="en" sz="2500"/>
              <a:t>finished</a:t>
            </a:r>
            <a:r>
              <a:rPr lang="en" sz="2500"/>
              <a:t> the toggle code).</a:t>
            </a:r>
            <a:endParaRPr sz="2500"/>
          </a:p>
        </p:txBody>
      </p:sp>
      <p:sp>
        <p:nvSpPr>
          <p:cNvPr id="185" name="Google Shape;185;p35"/>
          <p:cNvSpPr txBox="1"/>
          <p:nvPr>
            <p:ph idx="1" type="body"/>
          </p:nvPr>
        </p:nvSpPr>
        <p:spPr>
          <a:xfrm>
            <a:off x="311700" y="763625"/>
            <a:ext cx="8520600" cy="6094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All the port definitions are here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Clock access to GPIOA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GPIOBEN        (1U&lt;&lt;1)        </a:t>
            </a:r>
            <a:r>
              <a:rPr b="1" lang="en" sz="1100">
                <a:solidFill>
                  <a:srgbClr val="3F7F59"/>
                </a:solidFill>
                <a:highlight>
                  <a:srgbClr val="FFFFFF"/>
                </a:highlight>
                <a:latin typeface="Courier New"/>
                <a:ea typeface="Courier New"/>
                <a:cs typeface="Courier New"/>
                <a:sym typeface="Courier New"/>
              </a:rPr>
              <a:t>// Clock access to GPIOB (button)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LED_PIN        (1U&lt;&lt;5)        </a:t>
            </a:r>
            <a:r>
              <a:rPr b="1" lang="en" sz="1100">
                <a:solidFill>
                  <a:srgbClr val="3F7F59"/>
                </a:solidFill>
                <a:highlight>
                  <a:srgbClr val="FFFFFF"/>
                </a:highlight>
                <a:latin typeface="Courier New"/>
                <a:ea typeface="Courier New"/>
                <a:cs typeface="Courier New"/>
                <a:sym typeface="Courier New"/>
              </a:rPr>
              <a:t>// LED on PA5     (D13)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BUTTON_PIN     (1U&lt;&lt;4)        </a:t>
            </a:r>
            <a:r>
              <a:rPr b="1" lang="en" sz="1100">
                <a:solidFill>
                  <a:srgbClr val="3F7F59"/>
                </a:solidFill>
                <a:highlight>
                  <a:srgbClr val="FFFFFF"/>
                </a:highlight>
                <a:latin typeface="Courier New"/>
                <a:ea typeface="Courier New"/>
                <a:cs typeface="Courier New"/>
                <a:sym typeface="Courier New"/>
              </a:rPr>
              <a:t>// Button on PB4 (D5)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RCC-&gt;IOPENR |= (GPIOAEN | GPIOBEN);   </a:t>
            </a:r>
            <a:r>
              <a:rPr b="1" lang="en" sz="1100">
                <a:solidFill>
                  <a:srgbClr val="3F7F59"/>
                </a:solidFill>
                <a:highlight>
                  <a:srgbClr val="FFFFFF"/>
                </a:highlight>
                <a:latin typeface="Courier New"/>
                <a:ea typeface="Courier New"/>
                <a:cs typeface="Courier New"/>
                <a:sym typeface="Courier New"/>
              </a:rPr>
              <a:t>// Enable clock access to GPIOA and B</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 (1U&lt;&lt;10);    	    </a:t>
            </a:r>
            <a:r>
              <a:rPr b="1" lang="en" sz="1100">
                <a:solidFill>
                  <a:srgbClr val="3F7F59"/>
                </a:solidFill>
                <a:highlight>
                  <a:srgbClr val="FFFFFF"/>
                </a:highlight>
                <a:latin typeface="Courier New"/>
                <a:ea typeface="Courier New"/>
                <a:cs typeface="Courier New"/>
                <a:sym typeface="Courier New"/>
              </a:rPr>
              <a:t>// Configure PA5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~(1U&lt;&lt;8);    	    </a:t>
            </a:r>
            <a:r>
              <a:rPr b="1" lang="en" sz="1100">
                <a:solidFill>
                  <a:srgbClr val="3F7F59"/>
                </a:solidFill>
                <a:highlight>
                  <a:srgbClr val="FFFFFF"/>
                </a:highlight>
                <a:latin typeface="Courier New"/>
                <a:ea typeface="Courier New"/>
                <a:cs typeface="Courier New"/>
                <a:sym typeface="Courier New"/>
              </a:rPr>
              <a:t>// Configure PB4 as input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~(1U&lt;&lt;9);    	    </a:t>
            </a:r>
            <a:r>
              <a:rPr b="1" lang="en" sz="1100">
                <a:solidFill>
                  <a:srgbClr val="3F7F59"/>
                </a:solidFill>
                <a:highlight>
                  <a:srgbClr val="FFFFFF"/>
                </a:highlight>
                <a:latin typeface="Courier New"/>
                <a:ea typeface="Courier New"/>
                <a:cs typeface="Courier New"/>
                <a:sym typeface="Courier New"/>
              </a:rPr>
              <a:t>// (not necessary since this is default reset value)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(1U&lt;&lt;8);    	         </a:t>
            </a:r>
            <a:r>
              <a:rPr b="1" lang="en" sz="1100">
                <a:solidFill>
                  <a:srgbClr val="3F7F59"/>
                </a:solidFill>
                <a:highlight>
                  <a:srgbClr val="FFFFFF"/>
                </a:highlight>
                <a:latin typeface="Courier New"/>
                <a:ea typeface="Courier New"/>
                <a:cs typeface="Courier New"/>
                <a:sym typeface="Courier New"/>
              </a:rPr>
              <a:t>// enable pull-up for PB4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~(1U&lt;&lt;9);</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delay_ms(50);</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Read the pin and control the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((GPIOB-&gt;IDR &amp; BUTTON_PIN) == 0) {   </a:t>
            </a:r>
            <a:r>
              <a:rPr b="1" lang="en" sz="1100">
                <a:solidFill>
                  <a:srgbClr val="3F7F59"/>
                </a:solidFill>
                <a:highlight>
                  <a:srgbClr val="FFFFFF"/>
                </a:highlight>
                <a:latin typeface="Courier New"/>
                <a:ea typeface="Courier New"/>
                <a:cs typeface="Courier New"/>
                <a:sym typeface="Courier New"/>
              </a:rPr>
              <a:t>// button input is low-true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GPIOA-&gt;ODR |= LED_PIN;              </a:t>
            </a:r>
            <a:r>
              <a:rPr b="1" lang="en" sz="1100">
                <a:solidFill>
                  <a:srgbClr val="3F7F59"/>
                </a:solidFill>
                <a:highlight>
                  <a:srgbClr val="FFFFFF"/>
                </a:highlight>
                <a:latin typeface="Courier New"/>
                <a:ea typeface="Courier New"/>
                <a:cs typeface="Courier New"/>
                <a:sym typeface="Courier New"/>
              </a:rPr>
              <a:t>// turn LED 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GPIOA-&gt;ODR &amp;= ~LED_PIN;             </a:t>
            </a:r>
            <a:r>
              <a:rPr b="1" lang="en" sz="1100">
                <a:solidFill>
                  <a:srgbClr val="3F7F59"/>
                </a:solidFill>
                <a:highlight>
                  <a:srgbClr val="FFFFFF"/>
                </a:highlight>
                <a:latin typeface="Courier New"/>
                <a:ea typeface="Courier New"/>
                <a:cs typeface="Courier New"/>
                <a:sym typeface="Courier New"/>
              </a:rPr>
              <a:t>// turn LED off</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rgbClr val="004A43"/>
              </a:solidFill>
              <a:highlight>
                <a:srgbClr val="FFFFFF"/>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960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scope to observe button (Waveforms setup)</a:t>
            </a:r>
            <a:endParaRPr/>
          </a:p>
        </p:txBody>
      </p:sp>
      <p:sp>
        <p:nvSpPr>
          <p:cNvPr id="191" name="Google Shape;191;p36"/>
          <p:cNvSpPr txBox="1"/>
          <p:nvPr>
            <p:ph idx="1" type="body"/>
          </p:nvPr>
        </p:nvSpPr>
        <p:spPr>
          <a:xfrm>
            <a:off x="370340" y="5030125"/>
            <a:ext cx="3395700" cy="485700"/>
          </a:xfrm>
          <a:prstGeom prst="rect">
            <a:avLst/>
          </a:prstGeom>
        </p:spPr>
        <p:txBody>
          <a:bodyPr anchorCtr="0" anchor="t" bIns="91425" lIns="91425" spcFirstLastPara="1" rIns="91425" wrap="square" tIns="91425">
            <a:noAutofit/>
          </a:bodyPr>
          <a:lstStyle/>
          <a:p>
            <a:pPr indent="0" lvl="0" marL="0" rtl="0" algn="r">
              <a:spcBef>
                <a:spcPts val="0"/>
              </a:spcBef>
              <a:spcAft>
                <a:spcPts val="1600"/>
              </a:spcAft>
              <a:buNone/>
            </a:pPr>
            <a:r>
              <a:rPr i="1" lang="en">
                <a:solidFill>
                  <a:srgbClr val="FFFFFF"/>
                </a:solidFill>
              </a:rPr>
              <a:t>MCU sees multiple presses</a:t>
            </a:r>
            <a:endParaRPr i="1">
              <a:solidFill>
                <a:srgbClr val="FFFFFF"/>
              </a:solidFill>
            </a:endParaRPr>
          </a:p>
        </p:txBody>
      </p:sp>
      <p:sp>
        <p:nvSpPr>
          <p:cNvPr id="192" name="Google Shape;192;p36"/>
          <p:cNvSpPr txBox="1"/>
          <p:nvPr/>
        </p:nvSpPr>
        <p:spPr>
          <a:xfrm>
            <a:off x="2901827" y="3355800"/>
            <a:ext cx="1548600" cy="1477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The ‘scope will begin an acquisition when </a:t>
            </a:r>
            <a:r>
              <a:rPr b="1" lang="en"/>
              <a:t>Channel 1</a:t>
            </a:r>
            <a:r>
              <a:rPr lang="en"/>
              <a:t> (button signal) </a:t>
            </a:r>
            <a:r>
              <a:rPr b="1" lang="en"/>
              <a:t>falls</a:t>
            </a:r>
            <a:r>
              <a:rPr lang="en"/>
              <a:t> below </a:t>
            </a:r>
            <a:r>
              <a:rPr b="1" lang="en"/>
              <a:t>1</a:t>
            </a:r>
            <a:r>
              <a:rPr b="1" lang="en"/>
              <a:t>V</a:t>
            </a:r>
            <a:r>
              <a:rPr lang="en"/>
              <a:t>. </a:t>
            </a:r>
            <a:endParaRPr/>
          </a:p>
        </p:txBody>
      </p:sp>
      <p:sp>
        <p:nvSpPr>
          <p:cNvPr id="193" name="Google Shape;193;p36"/>
          <p:cNvSpPr txBox="1"/>
          <p:nvPr/>
        </p:nvSpPr>
        <p:spPr>
          <a:xfrm>
            <a:off x="426750" y="1919800"/>
            <a:ext cx="1617000" cy="12621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May need to switch this to 'auto', depending on the software version.</a:t>
            </a:r>
            <a:endParaRPr>
              <a:solidFill>
                <a:schemeClr val="dk2"/>
              </a:solidFill>
            </a:endParaRPr>
          </a:p>
        </p:txBody>
      </p:sp>
      <p:pic>
        <p:nvPicPr>
          <p:cNvPr id="194" name="Google Shape;194;p36" title="Screenshot 2025-12-09 at 12.55.40 PM.png"/>
          <p:cNvPicPr preferRelativeResize="0"/>
          <p:nvPr/>
        </p:nvPicPr>
        <p:blipFill>
          <a:blip r:embed="rId3">
            <a:alphaModFix/>
          </a:blip>
          <a:stretch>
            <a:fillRect/>
          </a:stretch>
        </p:blipFill>
        <p:spPr>
          <a:xfrm>
            <a:off x="341450" y="1477975"/>
            <a:ext cx="8461098" cy="340975"/>
          </a:xfrm>
          <a:prstGeom prst="rect">
            <a:avLst/>
          </a:prstGeom>
          <a:noFill/>
          <a:ln>
            <a:noFill/>
          </a:ln>
        </p:spPr>
      </p:pic>
      <p:cxnSp>
        <p:nvCxnSpPr>
          <p:cNvPr id="195" name="Google Shape;195;p36"/>
          <p:cNvCxnSpPr/>
          <p:nvPr/>
        </p:nvCxnSpPr>
        <p:spPr>
          <a:xfrm flipH="1" rot="10800000">
            <a:off x="3831225" y="1880925"/>
            <a:ext cx="1684200" cy="1493100"/>
          </a:xfrm>
          <a:prstGeom prst="straightConnector1">
            <a:avLst/>
          </a:prstGeom>
          <a:noFill/>
          <a:ln cap="flat" cmpd="sng" w="19050">
            <a:solidFill>
              <a:srgbClr val="FF00FF"/>
            </a:solidFill>
            <a:prstDash val="solid"/>
            <a:round/>
            <a:headEnd len="med" w="med" type="none"/>
            <a:tailEnd len="med" w="med" type="triangle"/>
          </a:ln>
        </p:spPr>
      </p:cxnSp>
      <p:cxnSp>
        <p:nvCxnSpPr>
          <p:cNvPr id="196" name="Google Shape;196;p36"/>
          <p:cNvCxnSpPr/>
          <p:nvPr/>
        </p:nvCxnSpPr>
        <p:spPr>
          <a:xfrm flipH="1" rot="10800000">
            <a:off x="4190025" y="1846250"/>
            <a:ext cx="2876400" cy="1516200"/>
          </a:xfrm>
          <a:prstGeom prst="straightConnector1">
            <a:avLst/>
          </a:prstGeom>
          <a:noFill/>
          <a:ln cap="flat" cmpd="sng" w="19050">
            <a:solidFill>
              <a:srgbClr val="FF00FF"/>
            </a:solidFill>
            <a:prstDash val="solid"/>
            <a:round/>
            <a:headEnd len="med" w="med" type="none"/>
            <a:tailEnd len="med" w="med" type="triangle"/>
          </a:ln>
        </p:spPr>
      </p:cxnSp>
      <p:cxnSp>
        <p:nvCxnSpPr>
          <p:cNvPr id="197" name="Google Shape;197;p36"/>
          <p:cNvCxnSpPr/>
          <p:nvPr/>
        </p:nvCxnSpPr>
        <p:spPr>
          <a:xfrm rot="10800000">
            <a:off x="2968925" y="1880900"/>
            <a:ext cx="717600" cy="1452600"/>
          </a:xfrm>
          <a:prstGeom prst="straightConnector1">
            <a:avLst/>
          </a:prstGeom>
          <a:noFill/>
          <a:ln cap="flat" cmpd="sng" w="19050">
            <a:solidFill>
              <a:srgbClr val="FF00FF"/>
            </a:solidFill>
            <a:prstDash val="solid"/>
            <a:round/>
            <a:headEnd len="med" w="med" type="none"/>
            <a:tailEnd len="med" w="med" type="triangle"/>
          </a:ln>
        </p:spPr>
      </p:cxnSp>
      <p:pic>
        <p:nvPicPr>
          <p:cNvPr id="198" name="Google Shape;198;p36" title="Screenshot 2025-12-09 at 2.21.44 PM.png"/>
          <p:cNvPicPr preferRelativeResize="0"/>
          <p:nvPr/>
        </p:nvPicPr>
        <p:blipFill>
          <a:blip r:embed="rId4">
            <a:alphaModFix/>
          </a:blip>
          <a:stretch>
            <a:fillRect/>
          </a:stretch>
        </p:blipFill>
        <p:spPr>
          <a:xfrm>
            <a:off x="6871575" y="3128825"/>
            <a:ext cx="1772775" cy="3118473"/>
          </a:xfrm>
          <a:prstGeom prst="rect">
            <a:avLst/>
          </a:prstGeom>
          <a:noFill/>
          <a:ln>
            <a:noFill/>
          </a:ln>
        </p:spPr>
      </p:pic>
      <p:cxnSp>
        <p:nvCxnSpPr>
          <p:cNvPr id="199" name="Google Shape;199;p36"/>
          <p:cNvCxnSpPr/>
          <p:nvPr/>
        </p:nvCxnSpPr>
        <p:spPr>
          <a:xfrm flipH="1" rot="10800000">
            <a:off x="6250325" y="3854400"/>
            <a:ext cx="1261800" cy="677100"/>
          </a:xfrm>
          <a:prstGeom prst="straightConnector1">
            <a:avLst/>
          </a:prstGeom>
          <a:noFill/>
          <a:ln cap="flat" cmpd="sng" w="19050">
            <a:solidFill>
              <a:srgbClr val="FF00FF"/>
            </a:solidFill>
            <a:prstDash val="solid"/>
            <a:round/>
            <a:headEnd len="med" w="med" type="none"/>
            <a:tailEnd len="med" w="med" type="triangle"/>
          </a:ln>
        </p:spPr>
      </p:cxnSp>
      <p:sp>
        <p:nvSpPr>
          <p:cNvPr id="200" name="Google Shape;200;p36"/>
          <p:cNvSpPr txBox="1"/>
          <p:nvPr/>
        </p:nvSpPr>
        <p:spPr>
          <a:xfrm>
            <a:off x="4624075" y="4465475"/>
            <a:ext cx="1617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20us/div is a good start.  Might need to change depending on your button</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37" title="Screenshot 2025-12-09 at 2.24.13 PM.png"/>
          <p:cNvPicPr preferRelativeResize="0"/>
          <p:nvPr/>
        </p:nvPicPr>
        <p:blipFill>
          <a:blip r:embed="rId3">
            <a:alphaModFix/>
          </a:blip>
          <a:stretch>
            <a:fillRect/>
          </a:stretch>
        </p:blipFill>
        <p:spPr>
          <a:xfrm>
            <a:off x="476500" y="1336872"/>
            <a:ext cx="8358574" cy="5154726"/>
          </a:xfrm>
          <a:prstGeom prst="rect">
            <a:avLst/>
          </a:prstGeom>
          <a:noFill/>
          <a:ln>
            <a:noFill/>
          </a:ln>
        </p:spPr>
      </p:pic>
      <p:sp>
        <p:nvSpPr>
          <p:cNvPr id="206" name="Google Shape;206;p37"/>
          <p:cNvSpPr txBox="1"/>
          <p:nvPr>
            <p:ph type="title"/>
          </p:nvPr>
        </p:nvSpPr>
        <p:spPr>
          <a:xfrm>
            <a:off x="155100" y="0"/>
            <a:ext cx="8792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Click "Single", then press the button once to trigger.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7" name="Google Shape;207;p37"/>
          <p:cNvSpPr txBox="1"/>
          <p:nvPr/>
        </p:nvSpPr>
        <p:spPr>
          <a:xfrm>
            <a:off x="5430325" y="4316625"/>
            <a:ext cx="1994100" cy="919500"/>
          </a:xfrm>
          <a:prstGeom prst="rect">
            <a:avLst/>
          </a:prstGeom>
          <a:solidFill>
            <a:schemeClr val="lt1"/>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F3FBF"/>
                </a:solidFill>
              </a:rPr>
              <a:t>What is happening???</a:t>
            </a:r>
            <a:endParaRPr b="1" sz="1800">
              <a:solidFill>
                <a:srgbClr val="3F3FB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“debounce” a pushbutton</a:t>
            </a:r>
            <a:endParaRPr/>
          </a:p>
        </p:txBody>
      </p:sp>
      <p:sp>
        <p:nvSpPr>
          <p:cNvPr id="213" name="Google Shape;213;p3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switch contacts “bounce” for a while (here, about 120µs, can be up to 10ms, depending on mechanical structure of switch) before making a solid connection.</a:t>
            </a:r>
            <a:endParaRPr/>
          </a:p>
          <a:p>
            <a:pPr indent="0" lvl="0" marL="0" rtl="0" algn="l">
              <a:spcBef>
                <a:spcPts val="1600"/>
              </a:spcBef>
              <a:spcAft>
                <a:spcPts val="0"/>
              </a:spcAft>
              <a:buNone/>
            </a:pPr>
            <a:r>
              <a:rPr lang="en"/>
              <a:t>Debouncing consists of delaying the input to the pin until the bouncing stops.</a:t>
            </a:r>
            <a:endParaRPr/>
          </a:p>
          <a:p>
            <a:pPr indent="-342900" lvl="0" marL="457200" rtl="0" algn="l">
              <a:spcBef>
                <a:spcPts val="1600"/>
              </a:spcBef>
              <a:spcAft>
                <a:spcPts val="0"/>
              </a:spcAft>
              <a:buSzPts val="1800"/>
              <a:buChar char="●"/>
            </a:pPr>
            <a:r>
              <a:rPr lang="en"/>
              <a:t>Analog (simple circuit)</a:t>
            </a:r>
            <a:endParaRPr/>
          </a:p>
          <a:p>
            <a:pPr indent="-342900" lvl="0" marL="457200" rtl="0" algn="l">
              <a:spcBef>
                <a:spcPts val="0"/>
              </a:spcBef>
              <a:spcAft>
                <a:spcPts val="0"/>
              </a:spcAft>
              <a:buSzPts val="1800"/>
              <a:buChar char="●"/>
            </a:pPr>
            <a:r>
              <a:rPr lang="en"/>
              <a:t>Software (e.g., delay_ms) </a:t>
            </a:r>
            <a:endParaRPr/>
          </a:p>
          <a:p>
            <a:pPr indent="-342900" lvl="0" marL="457200" rtl="0" algn="l">
              <a:spcBef>
                <a:spcPts val="0"/>
              </a:spcBef>
              <a:spcAft>
                <a:spcPts val="0"/>
              </a:spcAft>
              <a:buSzPts val="1800"/>
              <a:buChar char="●"/>
            </a:pPr>
            <a:r>
              <a:rPr lang="en"/>
              <a:t>Digital timer (Engs 31 solution)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 or software?</a:t>
            </a:r>
            <a:endParaRPr/>
          </a:p>
        </p:txBody>
      </p:sp>
      <p:sp>
        <p:nvSpPr>
          <p:cNvPr id="219" name="Google Shape;219;p3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Hardware (RC circuit, digital timer)</a:t>
            </a:r>
            <a:endParaRPr b="1"/>
          </a:p>
          <a:p>
            <a:pPr indent="0" lvl="0" marL="457200" rtl="0" algn="l">
              <a:spcBef>
                <a:spcPts val="1600"/>
              </a:spcBef>
              <a:spcAft>
                <a:spcPts val="0"/>
              </a:spcAft>
              <a:buNone/>
            </a:pPr>
            <a:r>
              <a:rPr lang="en"/>
              <a:t>(+) Doesn’t tie up processor cycles.  </a:t>
            </a:r>
            <a:endParaRPr/>
          </a:p>
          <a:p>
            <a:pPr indent="0" lvl="0" marL="457200" rtl="0" algn="l">
              <a:spcBef>
                <a:spcPts val="1600"/>
              </a:spcBef>
              <a:spcAft>
                <a:spcPts val="0"/>
              </a:spcAft>
              <a:buNone/>
            </a:pPr>
            <a:r>
              <a:rPr lang="en"/>
              <a:t>(–)  Requires another (tiny) component on circuit board, additional wiring</a:t>
            </a:r>
            <a:endParaRPr/>
          </a:p>
          <a:p>
            <a:pPr indent="0" lvl="0" marL="457200" rtl="0" algn="l">
              <a:spcBef>
                <a:spcPts val="1600"/>
              </a:spcBef>
              <a:spcAft>
                <a:spcPts val="0"/>
              </a:spcAft>
              <a:buNone/>
            </a:pPr>
            <a:r>
              <a:rPr lang="en"/>
              <a:t>(–)  Hard to revise for a different switch; design with tolerance.</a:t>
            </a:r>
            <a:endParaRPr/>
          </a:p>
          <a:p>
            <a:pPr indent="0" lvl="0" marL="0" rtl="0" algn="l">
              <a:spcBef>
                <a:spcPts val="1600"/>
              </a:spcBef>
              <a:spcAft>
                <a:spcPts val="0"/>
              </a:spcAft>
              <a:buNone/>
            </a:pPr>
            <a:r>
              <a:rPr b="1" lang="en"/>
              <a:t>Software (software delay)</a:t>
            </a:r>
            <a:endParaRPr b="1"/>
          </a:p>
          <a:p>
            <a:pPr indent="0" lvl="0" marL="457200" rtl="0" algn="l">
              <a:spcBef>
                <a:spcPts val="1600"/>
              </a:spcBef>
              <a:spcAft>
                <a:spcPts val="0"/>
              </a:spcAft>
              <a:buNone/>
            </a:pPr>
            <a:r>
              <a:rPr lang="en"/>
              <a:t>(+) Flexible.  Just edit code and reflash if the switch is changed.  </a:t>
            </a:r>
            <a:endParaRPr/>
          </a:p>
          <a:p>
            <a:pPr indent="0" lvl="0" marL="457200" rtl="0" algn="l">
              <a:spcBef>
                <a:spcPts val="1600"/>
              </a:spcBef>
              <a:spcAft>
                <a:spcPts val="0"/>
              </a:spcAft>
              <a:buNone/>
            </a:pPr>
            <a:r>
              <a:rPr lang="en"/>
              <a:t>(+) Simple.  Doesn’t require additional components on the circuit board. </a:t>
            </a:r>
            <a:endParaRPr/>
          </a:p>
          <a:p>
            <a:pPr indent="0" lvl="0" marL="457200" rtl="0" algn="l">
              <a:spcBef>
                <a:spcPts val="1600"/>
              </a:spcBef>
              <a:spcAft>
                <a:spcPts val="1600"/>
              </a:spcAft>
              <a:buNone/>
            </a:pPr>
            <a:r>
              <a:rPr lang="en"/>
              <a:t>(–) Wastes processor cycles while waiting for the bouncing to stop.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40"/>
          <p:cNvPicPr preferRelativeResize="0"/>
          <p:nvPr/>
        </p:nvPicPr>
        <p:blipFill rotWithShape="1">
          <a:blip r:embed="rId3">
            <a:alphaModFix/>
          </a:blip>
          <a:srcRect b="0" l="0" r="0" t="33382"/>
          <a:stretch/>
        </p:blipFill>
        <p:spPr>
          <a:xfrm>
            <a:off x="578550" y="2420175"/>
            <a:ext cx="3626626" cy="4029251"/>
          </a:xfrm>
          <a:prstGeom prst="rect">
            <a:avLst/>
          </a:prstGeom>
          <a:noFill/>
          <a:ln>
            <a:noFill/>
          </a:ln>
        </p:spPr>
      </p:pic>
      <p:sp>
        <p:nvSpPr>
          <p:cNvPr id="225" name="Google Shape;225;p40"/>
          <p:cNvSpPr txBox="1"/>
          <p:nvPr>
            <p:ph type="title"/>
          </p:nvPr>
        </p:nvSpPr>
        <p:spPr>
          <a:xfrm>
            <a:off x="367100" y="327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try the analog solution.</a:t>
            </a:r>
            <a:endParaRPr/>
          </a:p>
        </p:txBody>
      </p:sp>
      <p:sp>
        <p:nvSpPr>
          <p:cNvPr id="226" name="Google Shape;226;p40"/>
          <p:cNvSpPr txBox="1"/>
          <p:nvPr>
            <p:ph idx="1" type="body"/>
          </p:nvPr>
        </p:nvSpPr>
        <p:spPr>
          <a:xfrm>
            <a:off x="311700" y="1210088"/>
            <a:ext cx="7909800" cy="178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Connect a </a:t>
            </a:r>
            <a:r>
              <a:rPr lang="en" sz="1600">
                <a:solidFill>
                  <a:srgbClr val="FF0000"/>
                </a:solidFill>
              </a:rPr>
              <a:t>0.1µF capacitor</a:t>
            </a:r>
            <a:r>
              <a:rPr lang="en" sz="1600"/>
              <a:t> across the switch and note the effect (we’ll see why it works soon).</a:t>
            </a:r>
            <a:endParaRPr sz="1600"/>
          </a:p>
          <a:p>
            <a:pPr indent="0" lvl="0" marL="457200" rtl="0" algn="l">
              <a:spcBef>
                <a:spcPts val="1600"/>
              </a:spcBef>
              <a:spcAft>
                <a:spcPts val="0"/>
              </a:spcAft>
              <a:buNone/>
            </a:pPr>
            <a:r>
              <a:t/>
            </a:r>
            <a:endParaRPr sz="1600"/>
          </a:p>
          <a:p>
            <a:pPr indent="0" lvl="0" marL="0" rtl="0" algn="l">
              <a:spcBef>
                <a:spcPts val="0"/>
              </a:spcBef>
              <a:spcAft>
                <a:spcPts val="1600"/>
              </a:spcAft>
              <a:buNone/>
            </a:pPr>
            <a:r>
              <a:t/>
            </a:r>
            <a:endParaRPr/>
          </a:p>
        </p:txBody>
      </p:sp>
      <p:pic>
        <p:nvPicPr>
          <p:cNvPr id="227" name="Google Shape;227;p40"/>
          <p:cNvPicPr preferRelativeResize="0"/>
          <p:nvPr/>
        </p:nvPicPr>
        <p:blipFill>
          <a:blip r:embed="rId4">
            <a:alphaModFix/>
          </a:blip>
          <a:stretch>
            <a:fillRect/>
          </a:stretch>
        </p:blipFill>
        <p:spPr>
          <a:xfrm>
            <a:off x="5650851" y="2620150"/>
            <a:ext cx="1234976" cy="1245200"/>
          </a:xfrm>
          <a:prstGeom prst="rect">
            <a:avLst/>
          </a:prstGeom>
          <a:noFill/>
          <a:ln>
            <a:noFill/>
          </a:ln>
        </p:spPr>
      </p:pic>
      <p:cxnSp>
        <p:nvCxnSpPr>
          <p:cNvPr id="228" name="Google Shape;228;p40"/>
          <p:cNvCxnSpPr/>
          <p:nvPr/>
        </p:nvCxnSpPr>
        <p:spPr>
          <a:xfrm>
            <a:off x="2393100" y="1717275"/>
            <a:ext cx="3222300" cy="1197000"/>
          </a:xfrm>
          <a:prstGeom prst="straightConnector1">
            <a:avLst/>
          </a:prstGeom>
          <a:noFill/>
          <a:ln cap="flat" cmpd="sng" w="9525">
            <a:solidFill>
              <a:srgbClr val="FF0000"/>
            </a:solidFill>
            <a:prstDash val="dash"/>
            <a:round/>
            <a:headEnd len="med" w="med" type="none"/>
            <a:tailEnd len="med" w="med" type="triangle"/>
          </a:ln>
        </p:spPr>
      </p:cxnSp>
      <p:cxnSp>
        <p:nvCxnSpPr>
          <p:cNvPr id="229" name="Google Shape;229;p40"/>
          <p:cNvCxnSpPr/>
          <p:nvPr/>
        </p:nvCxnSpPr>
        <p:spPr>
          <a:xfrm flipH="1">
            <a:off x="1449025" y="3296250"/>
            <a:ext cx="4092300" cy="1326300"/>
          </a:xfrm>
          <a:prstGeom prst="straightConnector1">
            <a:avLst/>
          </a:prstGeom>
          <a:noFill/>
          <a:ln cap="flat" cmpd="sng" w="9525">
            <a:solidFill>
              <a:srgbClr val="FF0000"/>
            </a:solidFill>
            <a:prstDash val="dash"/>
            <a:round/>
            <a:headEnd len="med" w="med" type="none"/>
            <a:tailEnd len="med" w="med" type="triangle"/>
          </a:ln>
        </p:spPr>
      </p:cxnSp>
      <p:sp>
        <p:nvSpPr>
          <p:cNvPr id="230" name="Google Shape;230;p40"/>
          <p:cNvSpPr txBox="1"/>
          <p:nvPr/>
        </p:nvSpPr>
        <p:spPr>
          <a:xfrm>
            <a:off x="4699550" y="5950525"/>
            <a:ext cx="3732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t>Why does this work?</a:t>
            </a:r>
            <a:endParaRPr sz="3000"/>
          </a:p>
        </p:txBody>
      </p:sp>
      <p:sp>
        <p:nvSpPr>
          <p:cNvPr id="231" name="Google Shape;231;p40"/>
          <p:cNvSpPr txBox="1"/>
          <p:nvPr/>
        </p:nvSpPr>
        <p:spPr>
          <a:xfrm>
            <a:off x="5650850" y="4418125"/>
            <a:ext cx="3080700" cy="738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How do you know which of the capacitors is 0.1µF?</a:t>
            </a:r>
            <a:endParaRPr sz="1800">
              <a:solidFill>
                <a:srgbClr val="00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type="title"/>
          </p:nvPr>
        </p:nvSpPr>
        <p:spPr>
          <a:xfrm>
            <a:off x="421825" y="365125"/>
            <a:ext cx="7886700" cy="962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0" lang="en"/>
              <a:t>Reading Capacitor Codes</a:t>
            </a:r>
            <a:endParaRPr b="0"/>
          </a:p>
        </p:txBody>
      </p:sp>
      <p:sp>
        <p:nvSpPr>
          <p:cNvPr id="238" name="Google Shape;238;p41"/>
          <p:cNvSpPr txBox="1"/>
          <p:nvPr>
            <p:ph idx="1" type="body"/>
          </p:nvPr>
        </p:nvSpPr>
        <p:spPr>
          <a:xfrm>
            <a:off x="475163" y="1778475"/>
            <a:ext cx="7886700" cy="704100"/>
          </a:xfrm>
          <a:prstGeom prst="rect">
            <a:avLst/>
          </a:prstGeom>
        </p:spPr>
        <p:txBody>
          <a:bodyPr anchorCtr="0" anchor="t" bIns="45700" lIns="91425" spcFirstLastPara="1" rIns="91425" wrap="square" tIns="45700">
            <a:noAutofit/>
          </a:bodyPr>
          <a:lstStyle/>
          <a:p>
            <a:pPr indent="0" lvl="0" marL="0" rtl="0" algn="l">
              <a:spcBef>
                <a:spcPts val="1000"/>
              </a:spcBef>
              <a:spcAft>
                <a:spcPts val="1600"/>
              </a:spcAft>
              <a:buNone/>
            </a:pPr>
            <a:r>
              <a:rPr lang="en" sz="2100"/>
              <a:t>Our Metal Film Capacitors have 3 fields in their marking:</a:t>
            </a:r>
            <a:endParaRPr sz="2100"/>
          </a:p>
        </p:txBody>
      </p:sp>
      <p:sp>
        <p:nvSpPr>
          <p:cNvPr id="239" name="Google Shape;239;p41"/>
          <p:cNvSpPr txBox="1"/>
          <p:nvPr>
            <p:ph idx="12" type="sldNum"/>
          </p:nvPr>
        </p:nvSpPr>
        <p:spPr>
          <a:xfrm>
            <a:off x="8001000" y="6425924"/>
            <a:ext cx="514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240" name="Google Shape;240;p41"/>
          <p:cNvPicPr preferRelativeResize="0"/>
          <p:nvPr/>
        </p:nvPicPr>
        <p:blipFill>
          <a:blip r:embed="rId3">
            <a:alphaModFix/>
          </a:blip>
          <a:stretch>
            <a:fillRect/>
          </a:stretch>
        </p:blipFill>
        <p:spPr>
          <a:xfrm>
            <a:off x="2937375" y="2664525"/>
            <a:ext cx="2962275" cy="962025"/>
          </a:xfrm>
          <a:prstGeom prst="rect">
            <a:avLst/>
          </a:prstGeom>
          <a:noFill/>
          <a:ln>
            <a:noFill/>
          </a:ln>
        </p:spPr>
      </p:pic>
      <p:sp>
        <p:nvSpPr>
          <p:cNvPr id="241" name="Google Shape;241;p41"/>
          <p:cNvSpPr txBox="1"/>
          <p:nvPr/>
        </p:nvSpPr>
        <p:spPr>
          <a:xfrm>
            <a:off x="475175" y="3723525"/>
            <a:ext cx="3769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Value is 2 digits and a decimal point.  </a:t>
            </a:r>
            <a:endParaRPr/>
          </a:p>
          <a:p>
            <a:pPr indent="0" lvl="0" marL="0" rtl="0" algn="l">
              <a:spcBef>
                <a:spcPts val="0"/>
              </a:spcBef>
              <a:spcAft>
                <a:spcPts val="0"/>
              </a:spcAft>
              <a:buNone/>
            </a:pPr>
            <a:r>
              <a:rPr lang="en"/>
              <a:t>The decimal point can be an n, a p, or a dot</a:t>
            </a:r>
            <a:endParaRPr/>
          </a:p>
          <a:p>
            <a:pPr indent="0" lvl="0" marL="0" rtl="0" algn="l">
              <a:spcBef>
                <a:spcPts val="0"/>
              </a:spcBef>
              <a:spcAft>
                <a:spcPts val="0"/>
              </a:spcAft>
              <a:buNone/>
            </a:pPr>
            <a:r>
              <a:rPr lang="en"/>
              <a:t>The default values (dot) are in microfarads.</a:t>
            </a:r>
            <a:endParaRPr/>
          </a:p>
          <a:p>
            <a:pPr indent="0" lvl="0" marL="0" rtl="0" algn="l">
              <a:spcBef>
                <a:spcPts val="0"/>
              </a:spcBef>
              <a:spcAft>
                <a:spcPts val="0"/>
              </a:spcAft>
              <a:buNone/>
            </a:pPr>
            <a:r>
              <a:rPr lang="en"/>
              <a:t>P means Pico</a:t>
            </a:r>
            <a:endParaRPr/>
          </a:p>
          <a:p>
            <a:pPr indent="0" lvl="0" marL="0" rtl="0" algn="l">
              <a:spcBef>
                <a:spcPts val="0"/>
              </a:spcBef>
              <a:spcAft>
                <a:spcPts val="0"/>
              </a:spcAft>
              <a:buNone/>
            </a:pPr>
            <a:r>
              <a:rPr lang="en"/>
              <a:t>N mean Nano.</a:t>
            </a:r>
            <a:endParaRPr/>
          </a:p>
        </p:txBody>
      </p:sp>
      <p:sp>
        <p:nvSpPr>
          <p:cNvPr id="242" name="Google Shape;242;p41"/>
          <p:cNvSpPr txBox="1"/>
          <p:nvPr/>
        </p:nvSpPr>
        <p:spPr>
          <a:xfrm>
            <a:off x="475175" y="5067125"/>
            <a:ext cx="237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Tolerance is a single letter.</a:t>
            </a:r>
            <a:endParaRPr/>
          </a:p>
          <a:p>
            <a:pPr indent="0" lvl="0" marL="0" rtl="0" algn="l">
              <a:spcBef>
                <a:spcPts val="0"/>
              </a:spcBef>
              <a:spcAft>
                <a:spcPts val="0"/>
              </a:spcAft>
              <a:buNone/>
            </a:pPr>
            <a:r>
              <a:rPr lang="en"/>
              <a:t>J means +/-5%</a:t>
            </a:r>
            <a:endParaRPr/>
          </a:p>
          <a:p>
            <a:pPr indent="0" lvl="0" marL="0" rtl="0" algn="l">
              <a:spcBef>
                <a:spcPts val="0"/>
              </a:spcBef>
              <a:spcAft>
                <a:spcPts val="0"/>
              </a:spcAft>
              <a:buNone/>
            </a:pPr>
            <a:r>
              <a:rPr lang="en"/>
              <a:t>K means +/-10%</a:t>
            </a:r>
            <a:endParaRPr/>
          </a:p>
        </p:txBody>
      </p:sp>
      <p:sp>
        <p:nvSpPr>
          <p:cNvPr id="243" name="Google Shape;243;p41"/>
          <p:cNvSpPr txBox="1"/>
          <p:nvPr/>
        </p:nvSpPr>
        <p:spPr>
          <a:xfrm>
            <a:off x="4931725" y="4664825"/>
            <a:ext cx="3376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22nJ100 =&gt; 22.0nF +/- 5%  Max 100V</a:t>
            </a:r>
            <a:endParaRPr/>
          </a:p>
          <a:p>
            <a:pPr indent="0" lvl="0" marL="0" rtl="0" algn="l">
              <a:spcBef>
                <a:spcPts val="0"/>
              </a:spcBef>
              <a:spcAft>
                <a:spcPts val="0"/>
              </a:spcAft>
              <a:buNone/>
            </a:pPr>
            <a:r>
              <a:rPr lang="en"/>
              <a:t>.15J63  =&gt; 0.15uF +/- 5% Max 63V</a:t>
            </a:r>
            <a:endParaRPr/>
          </a:p>
          <a:p>
            <a:pPr indent="0" lvl="0" marL="0" rtl="0" algn="l">
              <a:spcBef>
                <a:spcPts val="0"/>
              </a:spcBef>
              <a:spcAft>
                <a:spcPts val="0"/>
              </a:spcAft>
              <a:buNone/>
            </a:pPr>
            <a:r>
              <a:rPr lang="en"/>
              <a:t>2n2K100 =&gt; 2.2nF +/-10% Max 100V</a:t>
            </a:r>
            <a:endParaRPr/>
          </a:p>
          <a:p>
            <a:pPr indent="0" lvl="0" marL="0" rtl="0" algn="l">
              <a:spcBef>
                <a:spcPts val="0"/>
              </a:spcBef>
              <a:spcAft>
                <a:spcPts val="0"/>
              </a:spcAft>
              <a:buNone/>
            </a:pPr>
            <a:r>
              <a:rPr lang="en"/>
              <a:t>p22J63 =&gt; 0.22pF +/- 5% Max 63V</a:t>
            </a:r>
            <a:endParaRPr/>
          </a:p>
        </p:txBody>
      </p:sp>
      <p:sp>
        <p:nvSpPr>
          <p:cNvPr id="244" name="Google Shape;244;p41"/>
          <p:cNvSpPr txBox="1"/>
          <p:nvPr/>
        </p:nvSpPr>
        <p:spPr>
          <a:xfrm>
            <a:off x="4931725" y="4001750"/>
            <a:ext cx="385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Replace the letter with a decimal point and move the letter to the end:</a:t>
            </a:r>
            <a:endParaRPr/>
          </a:p>
        </p:txBody>
      </p:sp>
      <p:pic>
        <p:nvPicPr>
          <p:cNvPr id="245" name="Google Shape;245;p41"/>
          <p:cNvPicPr preferRelativeResize="0"/>
          <p:nvPr/>
        </p:nvPicPr>
        <p:blipFill>
          <a:blip r:embed="rId4">
            <a:alphaModFix/>
          </a:blip>
          <a:stretch>
            <a:fillRect/>
          </a:stretch>
        </p:blipFill>
        <p:spPr>
          <a:xfrm>
            <a:off x="5518050" y="365113"/>
            <a:ext cx="1413374" cy="1413374"/>
          </a:xfrm>
          <a:prstGeom prst="rect">
            <a:avLst/>
          </a:prstGeom>
          <a:noFill/>
          <a:ln>
            <a:noFill/>
          </a:ln>
        </p:spPr>
      </p:pic>
      <p:pic>
        <p:nvPicPr>
          <p:cNvPr id="246" name="Google Shape;246;p41"/>
          <p:cNvPicPr preferRelativeResize="0"/>
          <p:nvPr/>
        </p:nvPicPr>
        <p:blipFill>
          <a:blip r:embed="rId5">
            <a:alphaModFix/>
          </a:blip>
          <a:stretch>
            <a:fillRect/>
          </a:stretch>
        </p:blipFill>
        <p:spPr>
          <a:xfrm>
            <a:off x="7059225" y="211875"/>
            <a:ext cx="1632200" cy="1632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42"/>
          <p:cNvPicPr preferRelativeResize="0"/>
          <p:nvPr/>
        </p:nvPicPr>
        <p:blipFill rotWithShape="1">
          <a:blip r:embed="rId3">
            <a:alphaModFix/>
          </a:blip>
          <a:srcRect b="5310" l="6030" r="4235" t="25188"/>
          <a:stretch/>
        </p:blipFill>
        <p:spPr>
          <a:xfrm>
            <a:off x="94150" y="1883375"/>
            <a:ext cx="8204651" cy="3372375"/>
          </a:xfrm>
          <a:prstGeom prst="rect">
            <a:avLst/>
          </a:prstGeom>
          <a:noFill/>
          <a:ln>
            <a:noFill/>
          </a:ln>
        </p:spPr>
      </p:pic>
      <p:sp>
        <p:nvSpPr>
          <p:cNvPr id="252" name="Google Shape;252;p42"/>
          <p:cNvSpPr/>
          <p:nvPr/>
        </p:nvSpPr>
        <p:spPr>
          <a:xfrm>
            <a:off x="7611275" y="5053275"/>
            <a:ext cx="847500" cy="34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42"/>
          <p:cNvSpPr/>
          <p:nvPr/>
        </p:nvSpPr>
        <p:spPr>
          <a:xfrm>
            <a:off x="7611275" y="3518875"/>
            <a:ext cx="847500" cy="345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42"/>
          <p:cNvSpPr txBox="1"/>
          <p:nvPr>
            <p:ph type="title"/>
          </p:nvPr>
        </p:nvSpPr>
        <p:spPr>
          <a:xfrm>
            <a:off x="311700" y="187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wire a pushbutton</a:t>
            </a:r>
            <a:endParaRPr/>
          </a:p>
        </p:txBody>
      </p:sp>
      <p:sp>
        <p:nvSpPr>
          <p:cNvPr id="255" name="Google Shape;255;p42"/>
          <p:cNvSpPr/>
          <p:nvPr/>
        </p:nvSpPr>
        <p:spPr>
          <a:xfrm>
            <a:off x="1965200" y="1810225"/>
            <a:ext cx="260700" cy="1341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2"/>
          <p:cNvSpPr txBox="1"/>
          <p:nvPr/>
        </p:nvSpPr>
        <p:spPr>
          <a:xfrm>
            <a:off x="994075" y="1146238"/>
            <a:ext cx="1571400" cy="468900"/>
          </a:xfrm>
          <a:prstGeom prst="rect">
            <a:avLst/>
          </a:prstGeom>
          <a:solidFill>
            <a:schemeClr val="lt1"/>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000FF"/>
                </a:solidFill>
              </a:rPr>
              <a:t>GPIOx-&gt;IDR</a:t>
            </a:r>
            <a:endParaRPr i="1" sz="1800">
              <a:solidFill>
                <a:srgbClr val="0000FF"/>
              </a:solidFill>
            </a:endParaRPr>
          </a:p>
        </p:txBody>
      </p:sp>
      <p:sp>
        <p:nvSpPr>
          <p:cNvPr id="257" name="Google Shape;257;p42"/>
          <p:cNvSpPr/>
          <p:nvPr/>
        </p:nvSpPr>
        <p:spPr>
          <a:xfrm>
            <a:off x="7366525" y="3576125"/>
            <a:ext cx="180900" cy="20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 name="Google Shape;258;p42"/>
          <p:cNvCxnSpPr/>
          <p:nvPr/>
        </p:nvCxnSpPr>
        <p:spPr>
          <a:xfrm flipH="1">
            <a:off x="6164550" y="2543050"/>
            <a:ext cx="6600" cy="1141500"/>
          </a:xfrm>
          <a:prstGeom prst="straightConnector1">
            <a:avLst/>
          </a:prstGeom>
          <a:noFill/>
          <a:ln cap="flat" cmpd="sng" w="38100">
            <a:solidFill>
              <a:srgbClr val="0000FF"/>
            </a:solidFill>
            <a:prstDash val="solid"/>
            <a:round/>
            <a:headEnd len="med" w="med" type="none"/>
            <a:tailEnd len="med" w="med" type="none"/>
          </a:ln>
        </p:spPr>
      </p:cxnSp>
      <p:cxnSp>
        <p:nvCxnSpPr>
          <p:cNvPr id="259" name="Google Shape;259;p42"/>
          <p:cNvCxnSpPr/>
          <p:nvPr/>
        </p:nvCxnSpPr>
        <p:spPr>
          <a:xfrm flipH="1">
            <a:off x="2232225" y="2539775"/>
            <a:ext cx="3932400" cy="6600"/>
          </a:xfrm>
          <a:prstGeom prst="straightConnector1">
            <a:avLst/>
          </a:prstGeom>
          <a:noFill/>
          <a:ln cap="flat" cmpd="sng" w="38100">
            <a:solidFill>
              <a:srgbClr val="0000FF"/>
            </a:solidFill>
            <a:prstDash val="solid"/>
            <a:round/>
            <a:headEnd len="med" w="med" type="none"/>
            <a:tailEnd len="med" w="med" type="none"/>
          </a:ln>
        </p:spPr>
      </p:cxnSp>
      <p:cxnSp>
        <p:nvCxnSpPr>
          <p:cNvPr id="260" name="Google Shape;260;p42"/>
          <p:cNvCxnSpPr/>
          <p:nvPr/>
        </p:nvCxnSpPr>
        <p:spPr>
          <a:xfrm rot="10800000">
            <a:off x="383975" y="2360550"/>
            <a:ext cx="1593900" cy="9600"/>
          </a:xfrm>
          <a:prstGeom prst="straightConnector1">
            <a:avLst/>
          </a:prstGeom>
          <a:noFill/>
          <a:ln cap="flat" cmpd="sng" w="38100">
            <a:solidFill>
              <a:srgbClr val="0000FF"/>
            </a:solidFill>
            <a:prstDash val="solid"/>
            <a:round/>
            <a:headEnd len="med" w="med" type="none"/>
            <a:tailEnd len="med" w="med" type="stealth"/>
          </a:ln>
        </p:spPr>
      </p:cxnSp>
      <p:sp>
        <p:nvSpPr>
          <p:cNvPr id="261" name="Google Shape;261;p42"/>
          <p:cNvSpPr/>
          <p:nvPr/>
        </p:nvSpPr>
        <p:spPr>
          <a:xfrm>
            <a:off x="6241750" y="2564738"/>
            <a:ext cx="982200" cy="10449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2"/>
          <p:cNvSpPr txBox="1"/>
          <p:nvPr/>
        </p:nvSpPr>
        <p:spPr>
          <a:xfrm>
            <a:off x="6100525" y="1474488"/>
            <a:ext cx="2041500" cy="1044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Internal pullup charges capacitor.</a:t>
            </a:r>
            <a:endParaRPr i="1" sz="1800">
              <a:solidFill>
                <a:srgbClr val="FF0000"/>
              </a:solidFill>
            </a:endParaRPr>
          </a:p>
        </p:txBody>
      </p:sp>
      <p:cxnSp>
        <p:nvCxnSpPr>
          <p:cNvPr id="263" name="Google Shape;263;p42"/>
          <p:cNvCxnSpPr/>
          <p:nvPr/>
        </p:nvCxnSpPr>
        <p:spPr>
          <a:xfrm rot="10800000">
            <a:off x="7672650" y="4574950"/>
            <a:ext cx="219900" cy="468900"/>
          </a:xfrm>
          <a:prstGeom prst="straightConnector1">
            <a:avLst/>
          </a:prstGeom>
          <a:noFill/>
          <a:ln cap="flat" cmpd="sng" w="28575">
            <a:solidFill>
              <a:srgbClr val="FF0000"/>
            </a:solidFill>
            <a:prstDash val="solid"/>
            <a:round/>
            <a:headEnd len="med" w="med" type="none"/>
            <a:tailEnd len="med" w="med" type="triangle"/>
          </a:ln>
        </p:spPr>
      </p:cxnSp>
      <p:cxnSp>
        <p:nvCxnSpPr>
          <p:cNvPr id="264" name="Google Shape;264;p42"/>
          <p:cNvCxnSpPr/>
          <p:nvPr/>
        </p:nvCxnSpPr>
        <p:spPr>
          <a:xfrm rot="10800000">
            <a:off x="7547500" y="3678425"/>
            <a:ext cx="822000" cy="1200"/>
          </a:xfrm>
          <a:prstGeom prst="straightConnector1">
            <a:avLst/>
          </a:prstGeom>
          <a:noFill/>
          <a:ln cap="flat" cmpd="sng" w="28575">
            <a:solidFill>
              <a:srgbClr val="FF0000"/>
            </a:solidFill>
            <a:prstDash val="solid"/>
            <a:round/>
            <a:headEnd len="med" w="med" type="none"/>
            <a:tailEnd len="med" w="med" type="none"/>
          </a:ln>
        </p:spPr>
      </p:cxnSp>
      <p:cxnSp>
        <p:nvCxnSpPr>
          <p:cNvPr id="265" name="Google Shape;265;p42"/>
          <p:cNvCxnSpPr/>
          <p:nvPr/>
        </p:nvCxnSpPr>
        <p:spPr>
          <a:xfrm>
            <a:off x="7883700" y="3694125"/>
            <a:ext cx="9000" cy="860400"/>
          </a:xfrm>
          <a:prstGeom prst="straightConnector1">
            <a:avLst/>
          </a:prstGeom>
          <a:noFill/>
          <a:ln cap="flat" cmpd="sng" w="28575">
            <a:solidFill>
              <a:srgbClr val="FF0000"/>
            </a:solidFill>
            <a:prstDash val="solid"/>
            <a:round/>
            <a:headEnd len="med" w="med" type="none"/>
            <a:tailEnd len="med" w="med" type="none"/>
          </a:ln>
        </p:spPr>
      </p:cxnSp>
      <p:cxnSp>
        <p:nvCxnSpPr>
          <p:cNvPr id="266" name="Google Shape;266;p42"/>
          <p:cNvCxnSpPr/>
          <p:nvPr/>
        </p:nvCxnSpPr>
        <p:spPr>
          <a:xfrm>
            <a:off x="7892550" y="4994050"/>
            <a:ext cx="0" cy="908700"/>
          </a:xfrm>
          <a:prstGeom prst="straightConnector1">
            <a:avLst/>
          </a:prstGeom>
          <a:noFill/>
          <a:ln cap="flat" cmpd="sng" w="28575">
            <a:solidFill>
              <a:srgbClr val="FF0000"/>
            </a:solidFill>
            <a:prstDash val="solid"/>
            <a:round/>
            <a:headEnd len="med" w="med" type="none"/>
            <a:tailEnd len="med" w="med" type="none"/>
          </a:ln>
        </p:spPr>
      </p:cxnSp>
      <p:sp>
        <p:nvSpPr>
          <p:cNvPr id="267" name="Google Shape;267;p42"/>
          <p:cNvSpPr/>
          <p:nvPr/>
        </p:nvSpPr>
        <p:spPr>
          <a:xfrm>
            <a:off x="7784125" y="5887925"/>
            <a:ext cx="219900" cy="190184"/>
          </a:xfrm>
          <a:prstGeom prst="flowChartMerg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42"/>
          <p:cNvCxnSpPr>
            <a:endCxn id="269" idx="0"/>
          </p:cNvCxnSpPr>
          <p:nvPr/>
        </p:nvCxnSpPr>
        <p:spPr>
          <a:xfrm>
            <a:off x="8364025" y="4612175"/>
            <a:ext cx="0" cy="1292400"/>
          </a:xfrm>
          <a:prstGeom prst="straightConnector1">
            <a:avLst/>
          </a:prstGeom>
          <a:noFill/>
          <a:ln cap="flat" cmpd="sng" w="28575">
            <a:solidFill>
              <a:srgbClr val="FF0000"/>
            </a:solidFill>
            <a:prstDash val="solid"/>
            <a:round/>
            <a:headEnd len="med" w="med" type="none"/>
            <a:tailEnd len="med" w="med" type="none"/>
          </a:ln>
        </p:spPr>
      </p:cxnSp>
      <p:sp>
        <p:nvSpPr>
          <p:cNvPr id="269" name="Google Shape;269;p42"/>
          <p:cNvSpPr/>
          <p:nvPr/>
        </p:nvSpPr>
        <p:spPr>
          <a:xfrm>
            <a:off x="8254075" y="5904575"/>
            <a:ext cx="219900" cy="190184"/>
          </a:xfrm>
          <a:prstGeom prst="flowChartMerg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0" name="Google Shape;270;p42"/>
          <p:cNvCxnSpPr/>
          <p:nvPr/>
        </p:nvCxnSpPr>
        <p:spPr>
          <a:xfrm>
            <a:off x="8129575" y="4617875"/>
            <a:ext cx="468900" cy="0"/>
          </a:xfrm>
          <a:prstGeom prst="straightConnector1">
            <a:avLst/>
          </a:prstGeom>
          <a:noFill/>
          <a:ln cap="flat" cmpd="sng" w="28575">
            <a:solidFill>
              <a:srgbClr val="FF0000"/>
            </a:solidFill>
            <a:prstDash val="solid"/>
            <a:round/>
            <a:headEnd len="med" w="med" type="none"/>
            <a:tailEnd len="med" w="med" type="none"/>
          </a:ln>
        </p:spPr>
      </p:cxnSp>
      <p:cxnSp>
        <p:nvCxnSpPr>
          <p:cNvPr id="271" name="Google Shape;271;p42"/>
          <p:cNvCxnSpPr/>
          <p:nvPr/>
        </p:nvCxnSpPr>
        <p:spPr>
          <a:xfrm>
            <a:off x="8129575" y="4458725"/>
            <a:ext cx="468900" cy="0"/>
          </a:xfrm>
          <a:prstGeom prst="straightConnector1">
            <a:avLst/>
          </a:prstGeom>
          <a:noFill/>
          <a:ln cap="flat" cmpd="sng" w="28575">
            <a:solidFill>
              <a:srgbClr val="FF0000"/>
            </a:solidFill>
            <a:prstDash val="solid"/>
            <a:round/>
            <a:headEnd len="med" w="med" type="none"/>
            <a:tailEnd len="med" w="med" type="none"/>
          </a:ln>
        </p:spPr>
      </p:cxnSp>
      <p:cxnSp>
        <p:nvCxnSpPr>
          <p:cNvPr id="272" name="Google Shape;272;p42"/>
          <p:cNvCxnSpPr/>
          <p:nvPr/>
        </p:nvCxnSpPr>
        <p:spPr>
          <a:xfrm rot="10800000">
            <a:off x="8355625" y="3689875"/>
            <a:ext cx="8400" cy="773400"/>
          </a:xfrm>
          <a:prstGeom prst="straightConnector1">
            <a:avLst/>
          </a:prstGeom>
          <a:noFill/>
          <a:ln cap="flat" cmpd="sng" w="28575">
            <a:solidFill>
              <a:srgbClr val="FF0000"/>
            </a:solidFill>
            <a:prstDash val="solid"/>
            <a:round/>
            <a:headEnd len="med" w="med" type="none"/>
            <a:tailEnd len="med" w="med" type="none"/>
          </a:ln>
        </p:spPr>
      </p:cxnSp>
      <p:sp>
        <p:nvSpPr>
          <p:cNvPr id="273" name="Google Shape;273;p42"/>
          <p:cNvSpPr txBox="1"/>
          <p:nvPr/>
        </p:nvSpPr>
        <p:spPr>
          <a:xfrm>
            <a:off x="7460375" y="2362563"/>
            <a:ext cx="1493400" cy="1178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FF0000"/>
                </a:solidFill>
              </a:rPr>
              <a:t>Capacitor discharged by switch, recharged through Rpu</a:t>
            </a:r>
            <a:endParaRPr i="1">
              <a:solidFill>
                <a:srgbClr val="FF0000"/>
              </a:solidFill>
            </a:endParaRPr>
          </a:p>
        </p:txBody>
      </p:sp>
      <p:sp>
        <p:nvSpPr>
          <p:cNvPr id="274" name="Google Shape;274;p42"/>
          <p:cNvSpPr/>
          <p:nvPr/>
        </p:nvSpPr>
        <p:spPr>
          <a:xfrm>
            <a:off x="6252975" y="3694125"/>
            <a:ext cx="1049700" cy="90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5" name="Google Shape;275;p42"/>
          <p:cNvCxnSpPr/>
          <p:nvPr/>
        </p:nvCxnSpPr>
        <p:spPr>
          <a:xfrm flipH="1">
            <a:off x="6184525" y="3673925"/>
            <a:ext cx="1182000" cy="9000"/>
          </a:xfrm>
          <a:prstGeom prst="straightConnector1">
            <a:avLst/>
          </a:prstGeom>
          <a:noFill/>
          <a:ln cap="flat" cmpd="sng" w="38100">
            <a:solidFill>
              <a:srgbClr val="0000FF"/>
            </a:solidFill>
            <a:prstDash val="solid"/>
            <a:round/>
            <a:headEnd len="med" w="med" type="none"/>
            <a:tailEnd len="med" w="med" type="stealth"/>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465350" y="585775"/>
            <a:ext cx="47691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it work?</a:t>
            </a:r>
            <a:endParaRPr/>
          </a:p>
        </p:txBody>
      </p:sp>
      <p:sp>
        <p:nvSpPr>
          <p:cNvPr id="281" name="Google Shape;281;p43"/>
          <p:cNvSpPr txBox="1"/>
          <p:nvPr>
            <p:ph idx="1" type="body"/>
          </p:nvPr>
        </p:nvSpPr>
        <p:spPr>
          <a:xfrm>
            <a:off x="464100" y="1536625"/>
            <a:ext cx="67650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from Phys 14: a capacitor stores electric charge.  </a:t>
            </a:r>
            <a:endParaRPr/>
          </a:p>
          <a:p>
            <a:pPr indent="-342900" lvl="0" marL="457200" rtl="0" algn="l">
              <a:lnSpc>
                <a:spcPct val="114000"/>
              </a:lnSpc>
              <a:spcBef>
                <a:spcPts val="0"/>
              </a:spcBef>
              <a:spcAft>
                <a:spcPts val="0"/>
              </a:spcAft>
              <a:buSzPts val="1800"/>
              <a:buAutoNum type="arabicPeriod"/>
            </a:pPr>
            <a:r>
              <a:rPr lang="en"/>
              <a:t>When the switch is open, capacitor is kept charged by internal pullup R</a:t>
            </a:r>
            <a:r>
              <a:rPr lang="en" sz="1400"/>
              <a:t>pu.</a:t>
            </a:r>
            <a:endParaRPr sz="1400"/>
          </a:p>
          <a:p>
            <a:pPr indent="-342900" lvl="0" marL="457200" rtl="0" algn="l">
              <a:lnSpc>
                <a:spcPct val="114000"/>
              </a:lnSpc>
              <a:spcBef>
                <a:spcPts val="600"/>
              </a:spcBef>
              <a:spcAft>
                <a:spcPts val="0"/>
              </a:spcAft>
              <a:buSzPts val="1800"/>
              <a:buAutoNum type="arabicPeriod"/>
            </a:pPr>
            <a:r>
              <a:rPr lang="en"/>
              <a:t>When the switch is closed, capacitor discharges.</a:t>
            </a:r>
            <a:endParaRPr/>
          </a:p>
          <a:p>
            <a:pPr indent="-342900" lvl="0" marL="457200" rtl="0" algn="l">
              <a:lnSpc>
                <a:spcPct val="114000"/>
              </a:lnSpc>
              <a:spcBef>
                <a:spcPts val="600"/>
              </a:spcBef>
              <a:spcAft>
                <a:spcPts val="0"/>
              </a:spcAft>
              <a:buSzPts val="1800"/>
              <a:buAutoNum type="arabicPeriod"/>
            </a:pPr>
            <a:r>
              <a:rPr lang="en"/>
              <a:t>If the switch bounces open, capacitor recharges through pullup.  Recharge time proportional to R</a:t>
            </a:r>
            <a:r>
              <a:rPr lang="en" sz="1400"/>
              <a:t>pu</a:t>
            </a:r>
            <a:r>
              <a:rPr lang="en"/>
              <a:t>C.</a:t>
            </a:r>
            <a:endParaRPr/>
          </a:p>
          <a:p>
            <a:pPr indent="-342900" lvl="0" marL="457200" rtl="0" algn="l">
              <a:lnSpc>
                <a:spcPct val="114000"/>
              </a:lnSpc>
              <a:spcBef>
                <a:spcPts val="600"/>
              </a:spcBef>
              <a:spcAft>
                <a:spcPts val="0"/>
              </a:spcAft>
              <a:buSzPts val="1800"/>
              <a:buAutoNum type="arabicPeriod"/>
            </a:pPr>
            <a:r>
              <a:rPr lang="en"/>
              <a:t>Discharge-charge continues until bouncing ceases. </a:t>
            </a:r>
            <a:endParaRPr/>
          </a:p>
          <a:p>
            <a:pPr indent="0" lvl="0" marL="0" rtl="0" algn="l">
              <a:lnSpc>
                <a:spcPct val="114000"/>
              </a:lnSpc>
              <a:spcBef>
                <a:spcPts val="600"/>
              </a:spcBef>
              <a:spcAft>
                <a:spcPts val="0"/>
              </a:spcAft>
              <a:buNone/>
            </a:pPr>
            <a:r>
              <a:t/>
            </a:r>
            <a:endParaRPr/>
          </a:p>
          <a:p>
            <a:pPr indent="0" lvl="0" marL="0" rtl="0" algn="l">
              <a:lnSpc>
                <a:spcPct val="114000"/>
              </a:lnSpc>
              <a:spcBef>
                <a:spcPts val="600"/>
              </a:spcBef>
              <a:spcAft>
                <a:spcPts val="0"/>
              </a:spcAft>
              <a:buNone/>
            </a:pPr>
            <a:r>
              <a:rPr lang="en"/>
              <a:t>Choose a value of C so that R</a:t>
            </a:r>
            <a:r>
              <a:rPr lang="en" sz="1400"/>
              <a:t>pu</a:t>
            </a:r>
            <a:r>
              <a:rPr lang="en"/>
              <a:t>C is sufficiently long to prevent the bounce from rising to VIH.</a:t>
            </a:r>
            <a:endParaRPr/>
          </a:p>
          <a:p>
            <a:pPr indent="0" lvl="0" marL="457200" rtl="0" algn="l">
              <a:lnSpc>
                <a:spcPct val="114000"/>
              </a:lnSpc>
              <a:spcBef>
                <a:spcPts val="600"/>
              </a:spcBef>
              <a:spcAft>
                <a:spcPts val="0"/>
              </a:spcAft>
              <a:buNone/>
            </a:pPr>
            <a:r>
              <a:t/>
            </a:r>
            <a:endParaRPr/>
          </a:p>
          <a:p>
            <a:pPr indent="0" lvl="0" marL="0" rtl="0" algn="l">
              <a:lnSpc>
                <a:spcPct val="114000"/>
              </a:lnSpc>
              <a:spcBef>
                <a:spcPts val="600"/>
              </a:spcBef>
              <a:spcAft>
                <a:spcPts val="600"/>
              </a:spcAft>
              <a:buNone/>
            </a:pPr>
            <a:r>
              <a:rPr lang="en"/>
              <a:t>Quantitative design in Lab 2. </a:t>
            </a:r>
            <a:endParaRPr/>
          </a:p>
        </p:txBody>
      </p:sp>
      <p:pic>
        <p:nvPicPr>
          <p:cNvPr id="282" name="Google Shape;282;p43"/>
          <p:cNvPicPr preferRelativeResize="0"/>
          <p:nvPr/>
        </p:nvPicPr>
        <p:blipFill>
          <a:blip r:embed="rId3">
            <a:alphaModFix/>
          </a:blip>
          <a:stretch>
            <a:fillRect/>
          </a:stretch>
        </p:blipFill>
        <p:spPr>
          <a:xfrm>
            <a:off x="6882100" y="77400"/>
            <a:ext cx="2157726" cy="31180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pic>
        <p:nvPicPr>
          <p:cNvPr id="288" name="Google Shape;288;p44"/>
          <p:cNvPicPr preferRelativeResize="0"/>
          <p:nvPr/>
        </p:nvPicPr>
        <p:blipFill>
          <a:blip r:embed="rId3">
            <a:alphaModFix/>
          </a:blip>
          <a:stretch>
            <a:fillRect/>
          </a:stretch>
        </p:blipFill>
        <p:spPr>
          <a:xfrm>
            <a:off x="415700" y="1296150"/>
            <a:ext cx="6266775" cy="2590475"/>
          </a:xfrm>
          <a:prstGeom prst="rect">
            <a:avLst/>
          </a:prstGeom>
          <a:noFill/>
          <a:ln>
            <a:noFill/>
          </a:ln>
        </p:spPr>
      </p:pic>
      <p:pic>
        <p:nvPicPr>
          <p:cNvPr id="289" name="Google Shape;289;p44"/>
          <p:cNvPicPr preferRelativeResize="0"/>
          <p:nvPr/>
        </p:nvPicPr>
        <p:blipFill>
          <a:blip r:embed="rId4">
            <a:alphaModFix/>
          </a:blip>
          <a:stretch>
            <a:fillRect/>
          </a:stretch>
        </p:blipFill>
        <p:spPr>
          <a:xfrm>
            <a:off x="415700" y="3976350"/>
            <a:ext cx="6266775" cy="2666574"/>
          </a:xfrm>
          <a:prstGeom prst="rect">
            <a:avLst/>
          </a:prstGeom>
          <a:noFill/>
          <a:ln>
            <a:noFill/>
          </a:ln>
        </p:spPr>
      </p:pic>
      <p:sp>
        <p:nvSpPr>
          <p:cNvPr id="290" name="Google Shape;290;p44"/>
          <p:cNvSpPr txBox="1"/>
          <p:nvPr/>
        </p:nvSpPr>
        <p:spPr>
          <a:xfrm>
            <a:off x="6845475" y="2369575"/>
            <a:ext cx="16299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C=0.01µF</a:t>
            </a:r>
            <a:endParaRPr sz="2400"/>
          </a:p>
        </p:txBody>
      </p:sp>
      <p:sp>
        <p:nvSpPr>
          <p:cNvPr id="291" name="Google Shape;291;p44"/>
          <p:cNvSpPr txBox="1"/>
          <p:nvPr/>
        </p:nvSpPr>
        <p:spPr>
          <a:xfrm>
            <a:off x="6859000" y="4665875"/>
            <a:ext cx="16299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C=0.1µF</a:t>
            </a:r>
            <a:endParaRPr sz="2400"/>
          </a:p>
        </p:txBody>
      </p:sp>
      <p:sp>
        <p:nvSpPr>
          <p:cNvPr id="292" name="Google Shape;292;p44"/>
          <p:cNvSpPr txBox="1"/>
          <p:nvPr/>
        </p:nvSpPr>
        <p:spPr>
          <a:xfrm>
            <a:off x="3217950" y="1212175"/>
            <a:ext cx="3301500" cy="9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lt2"/>
                </a:solidFill>
              </a:rPr>
              <a:t>I</a:t>
            </a:r>
            <a:r>
              <a:rPr i="1" lang="en" sz="1800">
                <a:solidFill>
                  <a:schemeClr val="lt2"/>
                </a:solidFill>
              </a:rPr>
              <a:t>mmediate drop (discharge), bounce recovers slowly, but can reach VIH</a:t>
            </a:r>
            <a:endParaRPr i="1" sz="1800">
              <a:solidFill>
                <a:schemeClr val="lt2"/>
              </a:solidFill>
            </a:endParaRPr>
          </a:p>
        </p:txBody>
      </p:sp>
      <p:sp>
        <p:nvSpPr>
          <p:cNvPr id="293" name="Google Shape;293;p44"/>
          <p:cNvSpPr txBox="1"/>
          <p:nvPr/>
        </p:nvSpPr>
        <p:spPr>
          <a:xfrm>
            <a:off x="2374375" y="4867650"/>
            <a:ext cx="33015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lt2"/>
                </a:solidFill>
              </a:rPr>
              <a:t>Immediate drop (discharge), bounce recovers so slowly that voltage stays below VIH</a:t>
            </a:r>
            <a:endParaRPr i="1" sz="1800">
              <a:solidFill>
                <a:schemeClr val="lt2"/>
              </a:solidFill>
            </a:endParaRPr>
          </a:p>
        </p:txBody>
      </p:sp>
      <p:cxnSp>
        <p:nvCxnSpPr>
          <p:cNvPr id="294" name="Google Shape;294;p44"/>
          <p:cNvCxnSpPr/>
          <p:nvPr/>
        </p:nvCxnSpPr>
        <p:spPr>
          <a:xfrm>
            <a:off x="424700" y="2169125"/>
            <a:ext cx="2719200" cy="0"/>
          </a:xfrm>
          <a:prstGeom prst="straightConnector1">
            <a:avLst/>
          </a:prstGeom>
          <a:noFill/>
          <a:ln cap="flat" cmpd="sng" w="19050">
            <a:solidFill>
              <a:srgbClr val="FFFFFF"/>
            </a:solidFill>
            <a:prstDash val="solid"/>
            <a:round/>
            <a:headEnd len="med" w="med" type="none"/>
            <a:tailEnd len="med" w="med" type="none"/>
          </a:ln>
        </p:spPr>
      </p:cxnSp>
      <p:sp>
        <p:nvSpPr>
          <p:cNvPr id="295" name="Google Shape;295;p44"/>
          <p:cNvSpPr/>
          <p:nvPr/>
        </p:nvSpPr>
        <p:spPr>
          <a:xfrm>
            <a:off x="2374369" y="2092163"/>
            <a:ext cx="179700" cy="1797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45" title="Screenshot 2025-12-09 at 2.48.58 PM.png"/>
          <p:cNvPicPr preferRelativeResize="0"/>
          <p:nvPr/>
        </p:nvPicPr>
        <p:blipFill>
          <a:blip r:embed="rId3">
            <a:alphaModFix/>
          </a:blip>
          <a:stretch>
            <a:fillRect/>
          </a:stretch>
        </p:blipFill>
        <p:spPr>
          <a:xfrm>
            <a:off x="4670499" y="2311550"/>
            <a:ext cx="4315151" cy="2821286"/>
          </a:xfrm>
          <a:prstGeom prst="rect">
            <a:avLst/>
          </a:prstGeom>
          <a:noFill/>
          <a:ln>
            <a:noFill/>
          </a:ln>
        </p:spPr>
      </p:pic>
      <p:pic>
        <p:nvPicPr>
          <p:cNvPr id="301" name="Google Shape;301;p45" title="Screenshot 2025-12-09 at 2.27.08 PM.png"/>
          <p:cNvPicPr preferRelativeResize="0"/>
          <p:nvPr/>
        </p:nvPicPr>
        <p:blipFill>
          <a:blip r:embed="rId4">
            <a:alphaModFix/>
          </a:blip>
          <a:stretch>
            <a:fillRect/>
          </a:stretch>
        </p:blipFill>
        <p:spPr>
          <a:xfrm>
            <a:off x="301354" y="2305225"/>
            <a:ext cx="4315151" cy="2833925"/>
          </a:xfrm>
          <a:prstGeom prst="rect">
            <a:avLst/>
          </a:prstGeom>
          <a:noFill/>
          <a:ln>
            <a:noFill/>
          </a:ln>
        </p:spPr>
      </p:pic>
      <p:sp>
        <p:nvSpPr>
          <p:cNvPr id="302" name="Google Shape;302;p45"/>
          <p:cNvSpPr txBox="1"/>
          <p:nvPr>
            <p:ph type="title"/>
          </p:nvPr>
        </p:nvSpPr>
        <p:spPr>
          <a:xfrm>
            <a:off x="311700" y="2609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oscilloscope to observe glitches</a:t>
            </a:r>
            <a:endParaRPr/>
          </a:p>
          <a:p>
            <a:pPr indent="0" lvl="0" marL="0" rtl="0" algn="l">
              <a:spcBef>
                <a:spcPts val="0"/>
              </a:spcBef>
              <a:spcAft>
                <a:spcPts val="0"/>
              </a:spcAft>
              <a:buNone/>
            </a:pPr>
            <a:r>
              <a:rPr lang="en" sz="1800"/>
              <a:t>Also called “switch bounce”</a:t>
            </a:r>
            <a:endParaRPr sz="1800"/>
          </a:p>
        </p:txBody>
      </p:sp>
      <p:sp>
        <p:nvSpPr>
          <p:cNvPr id="303" name="Google Shape;303;p45"/>
          <p:cNvSpPr txBox="1"/>
          <p:nvPr>
            <p:ph idx="1" type="body"/>
          </p:nvPr>
        </p:nvSpPr>
        <p:spPr>
          <a:xfrm>
            <a:off x="370340" y="5030125"/>
            <a:ext cx="3395700" cy="485700"/>
          </a:xfrm>
          <a:prstGeom prst="rect">
            <a:avLst/>
          </a:prstGeom>
        </p:spPr>
        <p:txBody>
          <a:bodyPr anchorCtr="0" anchor="t" bIns="91425" lIns="91425" spcFirstLastPara="1" rIns="91425" wrap="square" tIns="91425">
            <a:noAutofit/>
          </a:bodyPr>
          <a:lstStyle/>
          <a:p>
            <a:pPr indent="0" lvl="0" marL="0" rtl="0" algn="r">
              <a:spcBef>
                <a:spcPts val="0"/>
              </a:spcBef>
              <a:spcAft>
                <a:spcPts val="1600"/>
              </a:spcAft>
              <a:buNone/>
            </a:pPr>
            <a:r>
              <a:rPr i="1" lang="en">
                <a:solidFill>
                  <a:srgbClr val="FFFFFF"/>
                </a:solidFill>
              </a:rPr>
              <a:t>MCU sees multiple presses</a:t>
            </a:r>
            <a:endParaRPr i="1">
              <a:solidFill>
                <a:srgbClr val="FFFFFF"/>
              </a:solidFill>
            </a:endParaRPr>
          </a:p>
        </p:txBody>
      </p:sp>
      <p:sp>
        <p:nvSpPr>
          <p:cNvPr id="304" name="Google Shape;304;p45"/>
          <p:cNvSpPr txBox="1"/>
          <p:nvPr/>
        </p:nvSpPr>
        <p:spPr>
          <a:xfrm>
            <a:off x="1254000" y="1356875"/>
            <a:ext cx="2282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Without capacitor</a:t>
            </a:r>
            <a:endParaRPr sz="1600"/>
          </a:p>
        </p:txBody>
      </p:sp>
      <p:sp>
        <p:nvSpPr>
          <p:cNvPr id="305" name="Google Shape;305;p45"/>
          <p:cNvSpPr txBox="1"/>
          <p:nvPr/>
        </p:nvSpPr>
        <p:spPr>
          <a:xfrm>
            <a:off x="5800575" y="1356875"/>
            <a:ext cx="2282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With capacitor</a:t>
            </a:r>
            <a:endParaRPr sz="1600"/>
          </a:p>
        </p:txBody>
      </p:sp>
      <p:sp>
        <p:nvSpPr>
          <p:cNvPr id="306" name="Google Shape;306;p45"/>
          <p:cNvSpPr txBox="1"/>
          <p:nvPr/>
        </p:nvSpPr>
        <p:spPr>
          <a:xfrm>
            <a:off x="774400" y="3144213"/>
            <a:ext cx="8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69138"/>
                </a:solidFill>
              </a:rPr>
              <a:t>switch</a:t>
            </a:r>
            <a:endParaRPr b="1">
              <a:solidFill>
                <a:srgbClr val="E69138"/>
              </a:solidFill>
            </a:endParaRPr>
          </a:p>
        </p:txBody>
      </p:sp>
      <p:sp>
        <p:nvSpPr>
          <p:cNvPr id="307" name="Google Shape;307;p45"/>
          <p:cNvSpPr txBox="1"/>
          <p:nvPr/>
        </p:nvSpPr>
        <p:spPr>
          <a:xfrm>
            <a:off x="774400" y="4087175"/>
            <a:ext cx="8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900FF"/>
                </a:solidFill>
              </a:rPr>
              <a:t>LED</a:t>
            </a:r>
            <a:endParaRPr b="1">
              <a:solidFill>
                <a:srgbClr val="9900FF"/>
              </a:solidFill>
            </a:endParaRPr>
          </a:p>
        </p:txBody>
      </p:sp>
      <p:sp>
        <p:nvSpPr>
          <p:cNvPr id="308" name="Google Shape;308;p45"/>
          <p:cNvSpPr txBox="1"/>
          <p:nvPr/>
        </p:nvSpPr>
        <p:spPr>
          <a:xfrm>
            <a:off x="5170400" y="3144225"/>
            <a:ext cx="8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E69138"/>
                </a:solidFill>
              </a:rPr>
              <a:t>switch</a:t>
            </a:r>
            <a:endParaRPr b="1">
              <a:solidFill>
                <a:srgbClr val="E69138"/>
              </a:solidFill>
            </a:endParaRPr>
          </a:p>
        </p:txBody>
      </p:sp>
      <p:sp>
        <p:nvSpPr>
          <p:cNvPr id="309" name="Google Shape;309;p45"/>
          <p:cNvSpPr txBox="1"/>
          <p:nvPr/>
        </p:nvSpPr>
        <p:spPr>
          <a:xfrm>
            <a:off x="5170400" y="4087175"/>
            <a:ext cx="8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900FF"/>
                </a:solidFill>
              </a:rPr>
              <a:t>LED</a:t>
            </a:r>
            <a:endParaRPr b="1">
              <a:solidFill>
                <a:srgbClr val="99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Pushbutton exercises</a:t>
            </a:r>
            <a:endParaRPr/>
          </a:p>
        </p:txBody>
      </p:sp>
      <p:sp>
        <p:nvSpPr>
          <p:cNvPr id="315" name="Google Shape;315;p46"/>
          <p:cNvSpPr txBox="1"/>
          <p:nvPr>
            <p:ph idx="1" type="body"/>
          </p:nvPr>
        </p:nvSpPr>
        <p:spPr>
          <a:xfrm>
            <a:off x="311700" y="1536625"/>
            <a:ext cx="382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Make a copy of one of your Lab 1 programs and modify them to use the button:</a:t>
            </a:r>
            <a:endParaRPr sz="1600"/>
          </a:p>
          <a:p>
            <a:pPr indent="-330200" lvl="0" marL="457200" rtl="0" algn="l">
              <a:spcBef>
                <a:spcPts val="1600"/>
              </a:spcBef>
              <a:spcAft>
                <a:spcPts val="0"/>
              </a:spcAft>
              <a:buSzPts val="1600"/>
              <a:buChar char="●"/>
            </a:pPr>
            <a:r>
              <a:rPr b="1" lang="en" sz="1600"/>
              <a:t>blinkySEQ.c</a:t>
            </a:r>
            <a:r>
              <a:rPr lang="en" sz="1600"/>
              <a:t>:  Pressing the button turns all the LEDs on, releasing it returns to the usual sequence.</a:t>
            </a:r>
            <a:endParaRPr sz="1600"/>
          </a:p>
          <a:p>
            <a:pPr indent="-330200" lvl="0" marL="457200" rtl="0" algn="l">
              <a:spcBef>
                <a:spcPts val="1000"/>
              </a:spcBef>
              <a:spcAft>
                <a:spcPts val="0"/>
              </a:spcAft>
              <a:buSzPts val="1600"/>
              <a:buChar char="●"/>
            </a:pPr>
            <a:r>
              <a:rPr b="1" lang="en" sz="1600"/>
              <a:t>blinkyCNT.c</a:t>
            </a:r>
            <a:r>
              <a:rPr lang="en" sz="1600"/>
              <a:t>: </a:t>
            </a:r>
            <a:r>
              <a:rPr lang="en" sz="1600"/>
              <a:t>A button press causes the counter to pause, a second press causes it to resume.</a:t>
            </a:r>
            <a:endParaRPr sz="1600"/>
          </a:p>
          <a:p>
            <a:pPr indent="0" lvl="0" marL="0" rtl="0" algn="l">
              <a:spcBef>
                <a:spcPts val="1600"/>
              </a:spcBef>
              <a:spcAft>
                <a:spcPts val="1600"/>
              </a:spcAft>
              <a:buNone/>
            </a:pPr>
            <a:r>
              <a:rPr lang="en" sz="1600"/>
              <a:t>(This is part of your Lab 2 work. You won't quite get this done right now but can get a nice headstart.)</a:t>
            </a:r>
            <a:endParaRPr sz="1600"/>
          </a:p>
        </p:txBody>
      </p:sp>
      <p:pic>
        <p:nvPicPr>
          <p:cNvPr id="316" name="Google Shape;316;p46" title="LED_x3_button_bb.png"/>
          <p:cNvPicPr preferRelativeResize="0"/>
          <p:nvPr/>
        </p:nvPicPr>
        <p:blipFill>
          <a:blip r:embed="rId3">
            <a:alphaModFix/>
          </a:blip>
          <a:stretch>
            <a:fillRect/>
          </a:stretch>
        </p:blipFill>
        <p:spPr>
          <a:xfrm>
            <a:off x="4390051" y="593363"/>
            <a:ext cx="3561950" cy="5917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type="title"/>
          </p:nvPr>
        </p:nvSpPr>
        <p:spPr>
          <a:xfrm>
            <a:off x="311700" y="1391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“Polling” an input port</a:t>
            </a:r>
            <a:endParaRPr/>
          </a:p>
        </p:txBody>
      </p:sp>
      <p:sp>
        <p:nvSpPr>
          <p:cNvPr id="322" name="Google Shape;322;p47"/>
          <p:cNvSpPr txBox="1"/>
          <p:nvPr>
            <p:ph idx="1" type="body"/>
          </p:nvPr>
        </p:nvSpPr>
        <p:spPr>
          <a:xfrm>
            <a:off x="311700" y="963875"/>
            <a:ext cx="8520600" cy="56148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F7F59"/>
                </a:solidFill>
                <a:highlight>
                  <a:schemeClr val="lt1"/>
                </a:highlight>
                <a:latin typeface="Courier New"/>
                <a:ea typeface="Courier New"/>
                <a:cs typeface="Courier New"/>
                <a:sym typeface="Courier New"/>
              </a:rPr>
              <a:t>// MAIN EVENT LOOP</a:t>
            </a:r>
            <a:r>
              <a:rPr b="1" lang="en" sz="1400">
                <a:solidFill>
                  <a:srgbClr val="7F0055"/>
                </a:solidFill>
                <a:highlight>
                  <a:schemeClr val="lt1"/>
                </a:highlight>
                <a:latin typeface="Courier New"/>
                <a:ea typeface="Courier New"/>
                <a:cs typeface="Courier New"/>
                <a:sym typeface="Courier New"/>
              </a:rPr>
              <a:t>  </a:t>
            </a:r>
            <a:endParaRPr b="1" sz="1400">
              <a:solidFill>
                <a:srgbClr val="7F0055"/>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7F0055"/>
                </a:solidFill>
                <a:highlight>
                  <a:schemeClr val="lt1"/>
                </a:highlight>
                <a:latin typeface="Courier New"/>
                <a:ea typeface="Courier New"/>
                <a:cs typeface="Courier New"/>
                <a:sym typeface="Courier New"/>
              </a:rPr>
              <a:t>    </a:t>
            </a:r>
            <a:r>
              <a:rPr b="1" lang="en" sz="1400">
                <a:solidFill>
                  <a:srgbClr val="7F0055"/>
                </a:solidFill>
                <a:highlight>
                  <a:schemeClr val="lt1"/>
                </a:highlight>
                <a:latin typeface="Courier New"/>
                <a:ea typeface="Courier New"/>
                <a:cs typeface="Courier New"/>
                <a:sym typeface="Courier New"/>
              </a:rPr>
              <a:t>while</a:t>
            </a:r>
            <a:r>
              <a:rPr b="1" lang="en" sz="1400">
                <a:solidFill>
                  <a:schemeClr val="dk1"/>
                </a:solidFill>
                <a:highlight>
                  <a:schemeClr val="lt1"/>
                </a:highlight>
                <a:latin typeface="Courier New"/>
                <a:ea typeface="Courier New"/>
                <a:cs typeface="Courier New"/>
                <a:sym typeface="Courier New"/>
              </a:rPr>
              <a:t>(1) {                                  </a:t>
            </a:r>
            <a:r>
              <a:rPr b="1" lang="en" sz="1400">
                <a:solidFill>
                  <a:srgbClr val="3F7F59"/>
                </a:solidFill>
                <a:highlight>
                  <a:schemeClr val="lt1"/>
                </a:highlight>
                <a:latin typeface="Courier New"/>
                <a:ea typeface="Courier New"/>
                <a:cs typeface="Courier New"/>
                <a:sym typeface="Courier New"/>
              </a:rPr>
              <a:t>// Every time around the loop</a:t>
            </a: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r>
              <a:rPr b="1" lang="en" sz="1400">
                <a:solidFill>
                  <a:srgbClr val="2A00FF"/>
                </a:solidFill>
                <a:latin typeface="Courier New"/>
                <a:ea typeface="Courier New"/>
                <a:cs typeface="Courier New"/>
                <a:sym typeface="Courier New"/>
              </a:rPr>
              <a:t>if ((GPIOB-&gt;IDR &amp; BUTTON_PIN) == 0</a:t>
            </a:r>
            <a:r>
              <a:rPr b="1" lang="en" sz="1400">
                <a:solidFill>
                  <a:srgbClr val="2A00FF"/>
                </a:solidFill>
                <a:highlight>
                  <a:schemeClr val="lt1"/>
                </a:highlight>
                <a:latin typeface="Courier New"/>
                <a:ea typeface="Courier New"/>
                <a:cs typeface="Courier New"/>
                <a:sym typeface="Courier New"/>
              </a:rPr>
              <a:t>)</a:t>
            </a:r>
            <a:r>
              <a:rPr b="1" lang="en" sz="1400">
                <a:solidFill>
                  <a:schemeClr val="dk1"/>
                </a:solidFill>
                <a:highlight>
                  <a:schemeClr val="lt1"/>
                </a:highlight>
                <a:latin typeface="Courier New"/>
                <a:ea typeface="Courier New"/>
                <a:cs typeface="Courier New"/>
                <a:sym typeface="Courier New"/>
              </a:rPr>
              <a:t> {   </a:t>
            </a:r>
            <a:r>
              <a:rPr b="1" lang="en" sz="1400">
                <a:solidFill>
                  <a:srgbClr val="3F7F59"/>
                </a:solidFill>
                <a:highlight>
                  <a:schemeClr val="lt1"/>
                </a:highlight>
                <a:latin typeface="Courier New"/>
                <a:ea typeface="Courier New"/>
                <a:cs typeface="Courier New"/>
                <a:sym typeface="Courier New"/>
              </a:rPr>
              <a:t>// Check (“poll”) the pin</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GPIOA-&gt;ODR |= LED_PIN;              </a:t>
            </a:r>
            <a:r>
              <a:rPr b="1" lang="en" sz="1400">
                <a:solidFill>
                  <a:srgbClr val="3F7F59"/>
                </a:solidFill>
                <a:highlight>
                  <a:schemeClr val="lt1"/>
                </a:highlight>
                <a:latin typeface="Courier New"/>
                <a:ea typeface="Courier New"/>
                <a:cs typeface="Courier New"/>
                <a:sym typeface="Courier New"/>
              </a:rPr>
              <a:t>// Then take action</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 </a:t>
            </a:r>
            <a:r>
              <a:rPr b="1" lang="en" sz="1400">
                <a:solidFill>
                  <a:srgbClr val="7F0055"/>
                </a:solidFill>
                <a:highlight>
                  <a:schemeClr val="lt1"/>
                </a:highlight>
                <a:latin typeface="Courier New"/>
                <a:ea typeface="Courier New"/>
                <a:cs typeface="Courier New"/>
                <a:sym typeface="Courier New"/>
              </a:rPr>
              <a:t>else</a:t>
            </a: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GPIOA-&gt;ODR &amp;= ~LED_PIN;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endParaRPr sz="1400">
              <a:solidFill>
                <a:schemeClr val="dk1"/>
              </a:solidFill>
              <a:highlight>
                <a:srgbClr val="FFFFFF"/>
              </a:highlight>
              <a:latin typeface="Courier New"/>
              <a:ea typeface="Courier New"/>
              <a:cs typeface="Courier New"/>
              <a:sym typeface="Courier New"/>
            </a:endParaRPr>
          </a:p>
          <a:p>
            <a:pPr indent="0" lvl="0" marL="0" rtl="0" algn="l">
              <a:lnSpc>
                <a:spcPct val="200000"/>
              </a:lnSpc>
              <a:spcBef>
                <a:spcPts val="0"/>
              </a:spcBef>
              <a:spcAft>
                <a:spcPts val="0"/>
              </a:spcAft>
              <a:buClr>
                <a:schemeClr val="dk1"/>
              </a:buClr>
              <a:buSzPts val="1100"/>
              <a:buFont typeface="Arial"/>
              <a:buNone/>
            </a:pPr>
            <a:r>
              <a:rPr lang="en">
                <a:solidFill>
                  <a:schemeClr val="dk1"/>
                </a:solidFill>
                <a:highlight>
                  <a:schemeClr val="lt1"/>
                </a:highlight>
              </a:rPr>
              <a:t>More general way: c</a:t>
            </a:r>
            <a:r>
              <a:rPr lang="en">
                <a:solidFill>
                  <a:schemeClr val="dk1"/>
                </a:solidFill>
                <a:highlight>
                  <a:schemeClr val="lt1"/>
                </a:highlight>
              </a:rPr>
              <a:t>learly separate reading the pin from acting:</a:t>
            </a:r>
            <a:endParaRPr>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400">
                <a:solidFill>
                  <a:srgbClr val="2A00FF"/>
                </a:solidFill>
                <a:highlight>
                  <a:schemeClr val="lt1"/>
                </a:highlight>
                <a:latin typeface="Courier New"/>
                <a:ea typeface="Courier New"/>
                <a:cs typeface="Courier New"/>
                <a:sym typeface="Courier New"/>
              </a:rPr>
              <a:t>uint8_t buttonPushed;</a:t>
            </a:r>
            <a:endParaRPr b="1" sz="14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3F7F59"/>
                </a:solidFill>
                <a:highlight>
                  <a:schemeClr val="lt1"/>
                </a:highlight>
                <a:latin typeface="Courier New"/>
                <a:ea typeface="Courier New"/>
                <a:cs typeface="Courier New"/>
                <a:sym typeface="Courier New"/>
              </a:rPr>
              <a:t>// MAIN EVENT LOOP</a:t>
            </a:r>
            <a:r>
              <a:rPr b="1" lang="en" sz="1400">
                <a:solidFill>
                  <a:srgbClr val="7F0055"/>
                </a:solidFill>
                <a:highlight>
                  <a:schemeClr val="lt1"/>
                </a:highlight>
                <a:latin typeface="Courier New"/>
                <a:ea typeface="Courier New"/>
                <a:cs typeface="Courier New"/>
                <a:sym typeface="Courier New"/>
              </a:rPr>
              <a:t>  </a:t>
            </a:r>
            <a:endParaRPr b="1" sz="1400">
              <a:solidFill>
                <a:srgbClr val="7F0055"/>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7F0055"/>
                </a:solidFill>
                <a:highlight>
                  <a:schemeClr val="lt1"/>
                </a:highlight>
                <a:latin typeface="Courier New"/>
                <a:ea typeface="Courier New"/>
                <a:cs typeface="Courier New"/>
                <a:sym typeface="Courier New"/>
              </a:rPr>
              <a:t>    while</a:t>
            </a:r>
            <a:r>
              <a:rPr b="1" lang="en" sz="1400">
                <a:solidFill>
                  <a:schemeClr val="dk1"/>
                </a:solidFill>
                <a:highlight>
                  <a:schemeClr val="lt1"/>
                </a:highlight>
                <a:latin typeface="Courier New"/>
                <a:ea typeface="Courier New"/>
                <a:cs typeface="Courier New"/>
                <a:sym typeface="Courier New"/>
              </a:rPr>
              <a:t>(1) {                                  </a:t>
            </a:r>
            <a:r>
              <a:rPr b="1" lang="en" sz="1400">
                <a:solidFill>
                  <a:srgbClr val="3F7F59"/>
                </a:solidFill>
                <a:highlight>
                  <a:schemeClr val="lt1"/>
                </a:highlight>
                <a:latin typeface="Courier New"/>
                <a:ea typeface="Courier New"/>
                <a:cs typeface="Courier New"/>
                <a:sym typeface="Courier New"/>
              </a:rPr>
              <a:t>// Every time around the loop</a:t>
            </a: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r>
              <a:rPr b="1" lang="en" sz="1400">
                <a:solidFill>
                  <a:srgbClr val="2A00FF"/>
                </a:solidFill>
                <a:highlight>
                  <a:schemeClr val="lt1"/>
                </a:highlight>
                <a:latin typeface="Courier New"/>
                <a:ea typeface="Courier New"/>
                <a:cs typeface="Courier New"/>
                <a:sym typeface="Courier New"/>
              </a:rPr>
              <a:t>buttonPushed = </a:t>
            </a:r>
            <a:r>
              <a:rPr b="1" lang="en" sz="1400">
                <a:solidFill>
                  <a:srgbClr val="2A00FF"/>
                </a:solidFill>
                <a:latin typeface="Courier New"/>
                <a:ea typeface="Courier New"/>
                <a:cs typeface="Courier New"/>
                <a:sym typeface="Courier New"/>
              </a:rPr>
              <a:t>((GPIOB-&gt;IDR &amp; BUTTON_PIN) == 0</a:t>
            </a:r>
            <a:r>
              <a:rPr b="1" lang="en" sz="1400">
                <a:solidFill>
                  <a:srgbClr val="2A00FF"/>
                </a:solidFill>
                <a:highlight>
                  <a:schemeClr val="lt1"/>
                </a:highlight>
                <a:latin typeface="Courier New"/>
                <a:ea typeface="Courier New"/>
                <a:cs typeface="Courier New"/>
                <a:sym typeface="Courier New"/>
              </a:rPr>
              <a:t>);  </a:t>
            </a:r>
            <a:r>
              <a:rPr b="1" lang="en" sz="1400">
                <a:solidFill>
                  <a:srgbClr val="3F7F59"/>
                </a:solidFill>
                <a:highlight>
                  <a:schemeClr val="lt1"/>
                </a:highlight>
                <a:latin typeface="Courier New"/>
                <a:ea typeface="Courier New"/>
                <a:cs typeface="Courier New"/>
                <a:sym typeface="Courier New"/>
              </a:rPr>
              <a:t>// Poll the pin</a:t>
            </a:r>
            <a:endParaRPr b="1" sz="14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r>
              <a:rPr b="1" lang="en" sz="1400">
                <a:solidFill>
                  <a:srgbClr val="7F0055"/>
                </a:solidFill>
                <a:latin typeface="Courier New"/>
                <a:ea typeface="Courier New"/>
                <a:cs typeface="Courier New"/>
                <a:sym typeface="Courier New"/>
              </a:rPr>
              <a:t>if</a:t>
            </a:r>
            <a:r>
              <a:rPr b="1" lang="en" sz="1400">
                <a:solidFill>
                  <a:schemeClr val="dk1"/>
                </a:solidFill>
                <a:latin typeface="Courier New"/>
                <a:ea typeface="Courier New"/>
                <a:cs typeface="Courier New"/>
                <a:sym typeface="Courier New"/>
              </a:rPr>
              <a:t> (</a:t>
            </a:r>
            <a:r>
              <a:rPr b="1" lang="en" sz="1400">
                <a:solidFill>
                  <a:srgbClr val="2A00FF"/>
                </a:solidFill>
                <a:highlight>
                  <a:schemeClr val="lt1"/>
                </a:highlight>
                <a:latin typeface="Courier New"/>
                <a:ea typeface="Courier New"/>
                <a:cs typeface="Courier New"/>
                <a:sym typeface="Courier New"/>
              </a:rPr>
              <a:t>buttonPushed</a:t>
            </a:r>
            <a:r>
              <a:rPr b="1" lang="en" sz="1400">
                <a:solidFill>
                  <a:schemeClr val="dk1"/>
                </a:solidFill>
                <a:highlight>
                  <a:schemeClr val="lt1"/>
                </a:highlight>
                <a:latin typeface="Courier New"/>
                <a:ea typeface="Courier New"/>
                <a:cs typeface="Courier New"/>
                <a:sym typeface="Courier New"/>
              </a:rPr>
              <a:t>) {                               </a:t>
            </a:r>
            <a:r>
              <a:rPr b="1" lang="en" sz="1400">
                <a:solidFill>
                  <a:srgbClr val="3F7F59"/>
                </a:solidFill>
                <a:highlight>
                  <a:schemeClr val="lt1"/>
                </a:highlight>
                <a:latin typeface="Courier New"/>
                <a:ea typeface="Courier New"/>
                <a:cs typeface="Courier New"/>
                <a:sym typeface="Courier New"/>
              </a:rPr>
              <a:t>// Take action</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GPIOA-&gt;ODR |= LED_PIN;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 </a:t>
            </a:r>
            <a:r>
              <a:rPr b="1" lang="en" sz="1400">
                <a:solidFill>
                  <a:srgbClr val="7F0055"/>
                </a:solidFill>
                <a:highlight>
                  <a:schemeClr val="lt1"/>
                </a:highlight>
                <a:latin typeface="Courier New"/>
                <a:ea typeface="Courier New"/>
                <a:cs typeface="Courier New"/>
                <a:sym typeface="Courier New"/>
              </a:rPr>
              <a:t>else</a:t>
            </a: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GPIOA-&gt;ODR &amp;= ~LED_PIN;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chemeClr val="dk1"/>
                </a:solidFill>
                <a:highlight>
                  <a:schemeClr val="lt1"/>
                </a:highlight>
                <a:latin typeface="Courier New"/>
                <a:ea typeface="Courier New"/>
                <a:cs typeface="Courier New"/>
                <a:sym typeface="Courier New"/>
              </a:rPr>
              <a:t>    }</a:t>
            </a:r>
            <a:endParaRPr b="1" sz="1400">
              <a:solidFill>
                <a:schemeClr val="dk1"/>
              </a:solidFill>
              <a:highlight>
                <a:schemeClr val="lt1"/>
              </a:highlight>
              <a:latin typeface="Courier New"/>
              <a:ea typeface="Courier New"/>
              <a:cs typeface="Courier New"/>
              <a:sym typeface="Courier New"/>
            </a:endParaRPr>
          </a:p>
          <a:p>
            <a:pPr indent="0" lvl="0" marL="0" rtl="0" algn="l">
              <a:lnSpc>
                <a:spcPct val="200000"/>
              </a:lnSpc>
              <a:spcBef>
                <a:spcPts val="0"/>
              </a:spcBef>
              <a:spcAft>
                <a:spcPts val="0"/>
              </a:spcAft>
              <a:buClr>
                <a:schemeClr val="dk1"/>
              </a:buClr>
              <a:buSzPts val="1100"/>
              <a:buFont typeface="Arial"/>
              <a:buNone/>
            </a:pPr>
            <a:r>
              <a:t/>
            </a:r>
            <a:endParaRPr sz="14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type="title"/>
          </p:nvPr>
        </p:nvSpPr>
        <p:spPr>
          <a:xfrm>
            <a:off x="311700" y="161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Using button to reset a counter</a:t>
            </a:r>
            <a:endParaRPr/>
          </a:p>
        </p:txBody>
      </p:sp>
      <p:sp>
        <p:nvSpPr>
          <p:cNvPr id="328" name="Google Shape;328;p48"/>
          <p:cNvSpPr txBox="1"/>
          <p:nvPr>
            <p:ph idx="1" type="body"/>
          </p:nvPr>
        </p:nvSpPr>
        <p:spPr>
          <a:xfrm>
            <a:off x="311700" y="924975"/>
            <a:ext cx="8520600" cy="57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                     </a:t>
            </a:r>
            <a:r>
              <a:rPr b="1" lang="en" sz="1100">
                <a:solidFill>
                  <a:srgbClr val="3F7F59"/>
                </a:solidFill>
                <a:highlight>
                  <a:schemeClr val="lt1"/>
                </a:highlight>
                <a:latin typeface="Courier New"/>
                <a:ea typeface="Courier New"/>
                <a:cs typeface="Courier New"/>
                <a:sym typeface="Courier New"/>
              </a:rPr>
              <a:t>// All the port definitions are here</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GPIOBEN        (1U&lt;&lt;1)        </a:t>
            </a:r>
            <a:r>
              <a:rPr b="1" lang="en" sz="1100">
                <a:solidFill>
                  <a:srgbClr val="3F7F59"/>
                </a:solidFill>
                <a:highlight>
                  <a:schemeClr val="lt1"/>
                </a:highlight>
                <a:latin typeface="Courier New"/>
                <a:ea typeface="Courier New"/>
                <a:cs typeface="Courier New"/>
                <a:sym typeface="Courier New"/>
              </a:rPr>
              <a:t>// Clock access to GPIOB (button)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BUTTON_PIN     (1U&lt;&lt;4)        </a:t>
            </a:r>
            <a:r>
              <a:rPr b="1" lang="en" sz="1100">
                <a:solidFill>
                  <a:srgbClr val="3F7F59"/>
                </a:solidFill>
                <a:highlight>
                  <a:schemeClr val="lt1"/>
                </a:highlight>
                <a:latin typeface="Courier New"/>
                <a:ea typeface="Courier New"/>
                <a:cs typeface="Courier New"/>
                <a:sym typeface="Courier New"/>
              </a:rPr>
              <a:t>// Button on PB4</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rgbClr val="7F0055"/>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main</a:t>
            </a:r>
            <a:r>
              <a:rPr b="1" lang="en" sz="1100">
                <a:solidFill>
                  <a:schemeClr val="dk1"/>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2A00FF"/>
                </a:solidFill>
                <a:highlight>
                  <a:schemeClr val="lt1"/>
                </a:highlight>
                <a:latin typeface="Courier New"/>
                <a:ea typeface="Courier New"/>
                <a:cs typeface="Courier New"/>
                <a:sym typeface="Courier New"/>
              </a:rPr>
              <a:t>unsigned buttonPushed = 0;</a:t>
            </a:r>
            <a:endParaRPr b="1" sz="11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2A00FF"/>
                </a:solidFill>
                <a:highlight>
                  <a:schemeClr val="lt1"/>
                </a:highlight>
                <a:latin typeface="Courier New"/>
                <a:ea typeface="Courier New"/>
                <a:cs typeface="Courier New"/>
                <a:sym typeface="Courier New"/>
              </a:rPr>
              <a:t>    unsigned count = 0;</a:t>
            </a:r>
            <a:endParaRPr b="1" sz="1100">
              <a:solidFill>
                <a:srgbClr val="2A00F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RCC-&gt;IOPENR |= GPIOBEN;               </a:t>
            </a:r>
            <a:r>
              <a:rPr b="1" lang="en" sz="1100">
                <a:solidFill>
                  <a:srgbClr val="3F7F59"/>
                </a:solidFill>
                <a:highlight>
                  <a:schemeClr val="lt1"/>
                </a:highlight>
                <a:latin typeface="Courier New"/>
                <a:ea typeface="Courier New"/>
                <a:cs typeface="Courier New"/>
                <a:sym typeface="Courier New"/>
              </a:rPr>
              <a:t>// Enable clock access to GPIOB</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GPIOB-&gt;MODER &amp;= ~(1U&lt;&lt;8);    	    </a:t>
            </a:r>
            <a:r>
              <a:rPr b="1" lang="en" sz="1100">
                <a:solidFill>
                  <a:srgbClr val="3F7F59"/>
                </a:solidFill>
                <a:highlight>
                  <a:schemeClr val="lt1"/>
                </a:highlight>
                <a:latin typeface="Courier New"/>
                <a:ea typeface="Courier New"/>
                <a:cs typeface="Courier New"/>
                <a:sym typeface="Courier New"/>
              </a:rPr>
              <a:t>// Configure PB4 as input pin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GPIOB-&gt;MODER &amp;= ~(1U&lt;&lt;9);    	    </a:t>
            </a:r>
            <a:r>
              <a:rPr b="1" lang="en" sz="1100">
                <a:solidFill>
                  <a:srgbClr val="3F7F59"/>
                </a:solidFill>
                <a:highlight>
                  <a:schemeClr val="lt1"/>
                </a:highlight>
                <a:latin typeface="Courier New"/>
                <a:ea typeface="Courier New"/>
                <a:cs typeface="Courier New"/>
                <a:sym typeface="Courier New"/>
              </a:rPr>
              <a:t>// (not necessary since this is default reset value)</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GPIOB-&gt;PUPDR |= (1U&lt;&lt;8);    	         </a:t>
            </a:r>
            <a:r>
              <a:rPr b="1" lang="en" sz="1100">
                <a:solidFill>
                  <a:srgbClr val="3F7F59"/>
                </a:solidFill>
                <a:highlight>
                  <a:schemeClr val="lt1"/>
                </a:highlight>
                <a:latin typeface="Courier New"/>
                <a:ea typeface="Courier New"/>
                <a:cs typeface="Courier New"/>
                <a:sym typeface="Courier New"/>
              </a:rPr>
              <a:t>// enable pull-up for PB4</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GPIOB-&gt;PUPDR &amp;= ~(1U&lt;&lt;9);</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while</a:t>
            </a:r>
            <a:r>
              <a:rPr b="1" lang="en" sz="1100">
                <a:solidFill>
                  <a:schemeClr val="dk1"/>
                </a:solidFill>
                <a:highlight>
                  <a:schemeClr val="lt1"/>
                </a:highlight>
                <a:latin typeface="Courier New"/>
                <a:ea typeface="Courier New"/>
                <a:cs typeface="Courier New"/>
                <a:sym typeface="Courier New"/>
              </a:rPr>
              <a:t>(1) {</a:t>
            </a:r>
            <a:endParaRPr b="1" sz="1100">
              <a:solidFill>
                <a:schemeClr val="dk1"/>
              </a:solidFill>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delay_ms(500)</a:t>
            </a:r>
            <a:r>
              <a:rPr b="1" lang="en" sz="1100">
                <a:solidFill>
                  <a:schemeClr val="dk1"/>
                </a:solidFill>
                <a:latin typeface="Courier New"/>
                <a:ea typeface="Courier New"/>
                <a:cs typeface="Courier New"/>
                <a:sym typeface="Courier New"/>
              </a:rPr>
              <a:t>;</a:t>
            </a:r>
            <a:r>
              <a:rPr b="1" lang="en" sz="1100">
                <a:latin typeface="Courier New"/>
                <a:ea typeface="Courier New"/>
                <a:cs typeface="Courier New"/>
                <a:sym typeface="Courier New"/>
              </a:rPr>
              <a:t>			                      </a:t>
            </a:r>
            <a:r>
              <a:rPr b="1" lang="en" sz="1100">
                <a:solidFill>
                  <a:srgbClr val="3F7F59"/>
                </a:solidFill>
                <a:highlight>
                  <a:schemeClr val="lt1"/>
                </a:highlight>
                <a:latin typeface="Courier New"/>
                <a:ea typeface="Courier New"/>
                <a:cs typeface="Courier New"/>
                <a:sym typeface="Courier New"/>
              </a:rPr>
              <a:t>// kill some time</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latin typeface="Courier New"/>
                <a:ea typeface="Courier New"/>
                <a:cs typeface="Courier New"/>
                <a:sym typeface="Courier New"/>
              </a:rPr>
              <a:t>		</a:t>
            </a:r>
            <a:r>
              <a:rPr b="1" lang="en" sz="1100">
                <a:solidFill>
                  <a:srgbClr val="0000FF"/>
                </a:solidFill>
                <a:latin typeface="Courier New"/>
                <a:ea typeface="Courier New"/>
                <a:cs typeface="Courier New"/>
                <a:sym typeface="Courier New"/>
              </a:rPr>
              <a:t>buttonPushed = ((GPIOB-&gt;IDR &amp; BUTTON_PIN) == 0); 	</a:t>
            </a:r>
            <a:r>
              <a:rPr b="1" lang="en" sz="1100">
                <a:solidFill>
                  <a:srgbClr val="3F7F59"/>
                </a:solidFill>
                <a:latin typeface="Courier New"/>
                <a:ea typeface="Courier New"/>
                <a:cs typeface="Courier New"/>
                <a:sym typeface="Courier New"/>
              </a:rPr>
              <a:t>// Poll the button</a:t>
            </a:r>
            <a:endParaRPr b="1" sz="1100">
              <a:solidFill>
                <a:srgbClr val="3F7F59"/>
              </a:solidFill>
              <a:latin typeface="Courier New"/>
              <a:ea typeface="Courier New"/>
              <a:cs typeface="Courier New"/>
              <a:sym typeface="Courier New"/>
            </a:endParaRPr>
          </a:p>
          <a:p>
            <a:pPr indent="457200" lvl="0" marL="457200" rtl="0" algn="l">
              <a:lnSpc>
                <a:spcPct val="100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if ((buttonPushed) || (count == 7)) {	 		</a:t>
            </a:r>
            <a:r>
              <a:rPr b="1" lang="en" sz="1100">
                <a:solidFill>
                  <a:srgbClr val="3F7F59"/>
                </a:solidFill>
                <a:latin typeface="Courier New"/>
                <a:ea typeface="Courier New"/>
                <a:cs typeface="Courier New"/>
                <a:sym typeface="Courier New"/>
              </a:rPr>
              <a:t>// Act on the button</a:t>
            </a:r>
            <a:endParaRPr b="1" sz="1100">
              <a:solidFill>
                <a:srgbClr val="3F7F59"/>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		   	count = 0;   						</a:t>
            </a:r>
            <a:r>
              <a:rPr b="1" lang="en" sz="1100">
                <a:solidFill>
                  <a:srgbClr val="3F7F59"/>
                </a:solidFill>
                <a:latin typeface="Courier New"/>
                <a:ea typeface="Courier New"/>
                <a:cs typeface="Courier New"/>
                <a:sym typeface="Courier New"/>
              </a:rPr>
              <a:t>// Reset the counter</a:t>
            </a:r>
            <a:endParaRPr b="1" sz="1100">
              <a:solidFill>
                <a:srgbClr val="3F7F59"/>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		}  else {</a:t>
            </a:r>
            <a:endParaRPr b="1" sz="11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		    count++;							</a:t>
            </a:r>
            <a:r>
              <a:rPr b="1" lang="en" sz="1100">
                <a:solidFill>
                  <a:srgbClr val="3F7F59"/>
                </a:solidFill>
                <a:latin typeface="Courier New"/>
                <a:ea typeface="Courier New"/>
                <a:cs typeface="Courier New"/>
                <a:sym typeface="Courier New"/>
              </a:rPr>
              <a:t>// Increment the counter</a:t>
            </a:r>
            <a:endParaRPr b="1" sz="1100">
              <a:solidFill>
                <a:srgbClr val="3F7F59"/>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0000FF"/>
                </a:solidFill>
                <a:latin typeface="Courier New"/>
                <a:ea typeface="Courier New"/>
                <a:cs typeface="Courier New"/>
                <a:sym typeface="Courier New"/>
              </a:rPr>
              <a:t>		}</a:t>
            </a:r>
            <a:endParaRPr b="1" sz="11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r>
              <a:rPr b="1" lang="en" sz="1100">
                <a:solidFill>
                  <a:srgbClr val="3F7F59"/>
                </a:solidFill>
                <a:latin typeface="Courier New"/>
                <a:ea typeface="Courier New"/>
                <a:cs typeface="Courier New"/>
                <a:sym typeface="Courier New"/>
              </a:rPr>
              <a:t>/* do stuff with count, like turn on some LEDs */</a:t>
            </a:r>
            <a:endParaRPr b="1" sz="1100">
              <a:solidFill>
                <a:srgbClr val="3F7F59"/>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endParaRPr b="1" sz="11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latin typeface="Courier New"/>
                <a:ea typeface="Courier New"/>
                <a:cs typeface="Courier New"/>
                <a:sym typeface="Courier New"/>
              </a:rPr>
              <a:t>    </a:t>
            </a:r>
            <a:r>
              <a:rPr b="1" lang="en" sz="1100">
                <a:solidFill>
                  <a:schemeClr val="dk1"/>
                </a:solidFill>
                <a:latin typeface="Courier New"/>
                <a:ea typeface="Courier New"/>
                <a:cs typeface="Courier New"/>
                <a:sym typeface="Courier New"/>
              </a:rPr>
              <a:t>return 0;								</a:t>
            </a:r>
            <a:endParaRPr b="1" sz="11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a:t>
            </a:r>
            <a:endParaRPr b="1" sz="11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11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talk about the homework for Thursday</a:t>
            </a:r>
            <a:endParaRPr/>
          </a:p>
        </p:txBody>
      </p:sp>
      <p:sp>
        <p:nvSpPr>
          <p:cNvPr id="334" name="Google Shape;334;p49"/>
          <p:cNvSpPr txBox="1"/>
          <p:nvPr>
            <p:ph idx="1" type="body"/>
          </p:nvPr>
        </p:nvSpPr>
        <p:spPr>
          <a:xfrm>
            <a:off x="311700" y="1536624"/>
            <a:ext cx="8520600" cy="512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t>Does this work (once we've debounced the switch)?</a:t>
            </a:r>
            <a:endParaRPr sz="1600"/>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    </a:t>
            </a:r>
            <a:r>
              <a:rPr b="1" lang="en" sz="1200">
                <a:latin typeface="Courier New"/>
                <a:ea typeface="Courier New"/>
                <a:cs typeface="Courier New"/>
                <a:sym typeface="Courier New"/>
              </a:rPr>
              <a:t>while(1) {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buttonPushed = </a:t>
            </a:r>
            <a:r>
              <a:rPr b="1" lang="en" sz="1200">
                <a:solidFill>
                  <a:srgbClr val="CC0000"/>
                </a:solidFill>
                <a:latin typeface="Courier New"/>
                <a:ea typeface="Courier New"/>
                <a:cs typeface="Courier New"/>
                <a:sym typeface="Courier New"/>
              </a:rPr>
              <a:t>((GPIOB-&gt;IDR &amp; BUTTON_PIN) == 0);</a:t>
            </a:r>
            <a:r>
              <a:rPr b="1" lang="en" sz="1200">
                <a:solidFill>
                  <a:srgbClr val="CC0000"/>
                </a:solidFill>
                <a:latin typeface="Courier New"/>
                <a:ea typeface="Courier New"/>
                <a:cs typeface="Courier New"/>
                <a:sym typeface="Courier New"/>
              </a:rPr>
              <a:t>	// Poll the button (1 =&gt; pressed)</a:t>
            </a:r>
            <a:endParaRPr b="1" sz="1200">
              <a:solidFill>
                <a:srgbClr val="CC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CC0000"/>
                </a:solidFill>
                <a:latin typeface="Courier New"/>
                <a:ea typeface="Courier New"/>
                <a:cs typeface="Courier New"/>
                <a:sym typeface="Courier New"/>
              </a:rPr>
              <a:t>   	 </a:t>
            </a:r>
            <a:endParaRPr b="1" sz="1200">
              <a:solidFill>
                <a:srgbClr val="CC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CC0000"/>
                </a:solidFill>
                <a:latin typeface="Courier New"/>
                <a:ea typeface="Courier New"/>
                <a:cs typeface="Courier New"/>
                <a:sym typeface="Courier New"/>
              </a:rPr>
              <a:t>   	 if ( buttonPushed ) {						// Act on the button</a:t>
            </a:r>
            <a:endParaRPr b="1" sz="1200">
              <a:solidFill>
                <a:srgbClr val="CC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CC0000"/>
                </a:solidFill>
                <a:latin typeface="Courier New"/>
                <a:ea typeface="Courier New"/>
                <a:cs typeface="Courier New"/>
                <a:sym typeface="Courier New"/>
              </a:rPr>
              <a:t>   		 	</a:t>
            </a:r>
            <a:endParaRPr b="1" sz="1200">
              <a:solidFill>
                <a:srgbClr val="CC0000"/>
              </a:solidFill>
              <a:latin typeface="Courier New"/>
              <a:ea typeface="Courier New"/>
              <a:cs typeface="Courier New"/>
              <a:sym typeface="Courier New"/>
            </a:endParaRPr>
          </a:p>
          <a:p>
            <a:pPr indent="0" lvl="0" marL="914400" rtl="0" algn="l">
              <a:lnSpc>
                <a:spcPct val="100000"/>
              </a:lnSpc>
              <a:spcBef>
                <a:spcPts val="0"/>
              </a:spcBef>
              <a:spcAft>
                <a:spcPts val="0"/>
              </a:spcAft>
              <a:buNone/>
            </a:pPr>
            <a:r>
              <a:rPr b="1" lang="en" sz="1200">
                <a:solidFill>
                  <a:srgbClr val="CC0000"/>
                </a:solidFill>
                <a:latin typeface="Courier New"/>
                <a:ea typeface="Courier New"/>
                <a:cs typeface="Courier New"/>
                <a:sym typeface="Courier New"/>
              </a:rPr>
              <a:t>// toggle the LED						// on--&gt;off or off--&gt;on</a:t>
            </a:r>
            <a:endParaRPr b="1" sz="1200">
              <a:latin typeface="Courier New"/>
              <a:ea typeface="Courier New"/>
              <a:cs typeface="Courier New"/>
              <a:sym typeface="Courier New"/>
            </a:endParaRPr>
          </a:p>
          <a:p>
            <a:pPr indent="0" lvl="0" marL="91440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a:t>
            </a:r>
            <a:endParaRPr b="1" sz="1200">
              <a:solidFill>
                <a:srgbClr val="CC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 implicit “do nothing” if button isn’t pressed</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lang="en" sz="1600">
                <a:solidFill>
                  <a:srgbClr val="0000FF"/>
                </a:solidFill>
              </a:rPr>
              <a:t>Give it a try. Think about the homework code to toggle the LED whenever the button is pushed and discuss at your table. What difficulties do you observe?</a:t>
            </a:r>
            <a:endParaRPr sz="16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Often you need to sense both states of the switch</a:t>
            </a:r>
            <a:endParaRPr/>
          </a:p>
        </p:txBody>
      </p:sp>
      <p:sp>
        <p:nvSpPr>
          <p:cNvPr id="340" name="Google Shape;340;p50"/>
          <p:cNvSpPr txBox="1"/>
          <p:nvPr>
            <p:ph idx="1" type="body"/>
          </p:nvPr>
        </p:nvSpPr>
        <p:spPr>
          <a:xfrm>
            <a:off x="311700" y="1536624"/>
            <a:ext cx="8520600" cy="5121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unsigned buttonAlreadyPressed = 0;			</a:t>
            </a:r>
            <a:endParaRPr b="1" sz="1200">
              <a:solidFill>
                <a:srgbClr val="CC0000"/>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rgbClr val="CC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latin typeface="Courier New"/>
                <a:ea typeface="Courier New"/>
                <a:cs typeface="Courier New"/>
                <a:sym typeface="Courier New"/>
              </a:rPr>
              <a:t>    while(1) {   	 </a:t>
            </a:r>
            <a:endParaRPr b="1" sz="1200">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buttonPushed = </a:t>
            </a:r>
            <a:r>
              <a:rPr b="1" lang="en" sz="1200">
                <a:solidFill>
                  <a:schemeClr val="dk1"/>
                </a:solidFill>
                <a:latin typeface="Courier New"/>
                <a:ea typeface="Courier New"/>
                <a:cs typeface="Courier New"/>
                <a:sym typeface="Courier New"/>
              </a:rPr>
              <a:t>((GPIOB-&gt;IDR &amp; BUTTON_PIN) == 0);</a:t>
            </a:r>
            <a:r>
              <a:rPr b="1" lang="en" sz="1200">
                <a:solidFill>
                  <a:schemeClr val="dk1"/>
                </a:solidFill>
                <a:latin typeface="Courier New"/>
                <a:ea typeface="Courier New"/>
                <a:cs typeface="Courier New"/>
                <a:sym typeface="Courier New"/>
              </a:rPr>
              <a:t>	// Poll the button (1 =&gt; pressed)</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if (buttonAlreadyPressed==0)</a:t>
            </a: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a:t>
            </a: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 Has button been pressed?</a:t>
            </a:r>
            <a:endParaRPr b="1" sz="1200">
              <a:solidFill>
                <a:srgbClr val="CC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if ( buttonPushed==1 ) {				</a:t>
            </a:r>
            <a:endParaRPr b="1" sz="1200">
              <a:solidFill>
                <a:schemeClr val="dk1"/>
              </a:solidFill>
              <a:latin typeface="Courier New"/>
              <a:ea typeface="Courier New"/>
              <a:cs typeface="Courier New"/>
              <a:sym typeface="Courier New"/>
            </a:endParaRPr>
          </a:p>
          <a:p>
            <a:pPr indent="457200" lvl="0" marL="914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toggle the LED				// on--&gt;off or off--&gt;on</a:t>
            </a:r>
            <a:endParaRPr b="1" sz="1200">
              <a:solidFill>
                <a:schemeClr val="dk1"/>
              </a:solidFill>
              <a:latin typeface="Courier New"/>
              <a:ea typeface="Courier New"/>
              <a:cs typeface="Courier New"/>
              <a:sym typeface="Courier New"/>
            </a:endParaRPr>
          </a:p>
          <a:p>
            <a:pPr indent="457200" lvl="0" marL="914400" rtl="0" algn="l">
              <a:lnSpc>
                <a:spcPct val="115000"/>
              </a:lnSpc>
              <a:spcBef>
                <a:spcPts val="0"/>
              </a:spcBef>
              <a:spcAft>
                <a:spcPts val="0"/>
              </a:spcAft>
              <a:buNone/>
            </a:pPr>
            <a:r>
              <a:rPr b="1" lang="en" sz="1200">
                <a:solidFill>
                  <a:srgbClr val="CC0000"/>
                </a:solidFill>
                <a:latin typeface="Courier New"/>
                <a:ea typeface="Courier New"/>
                <a:cs typeface="Courier New"/>
                <a:sym typeface="Courier New"/>
              </a:rPr>
              <a:t>buttonAlreadyPressed = 1;</a:t>
            </a: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 Mark button as pressed</a:t>
            </a:r>
            <a:endParaRPr b="1" sz="1200">
              <a:solidFill>
                <a:srgbClr val="CC0000"/>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 else {								// Button is still pressed</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if ( buttonPushed==0 ) {				// Do nothing until button is released</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buttonAlreadyPressed = 0;		// Mark button as released</a:t>
            </a:r>
            <a:endParaRPr b="1" sz="1200">
              <a:solidFill>
                <a:srgbClr val="CC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endParaRPr b="1"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rgbClr val="CC0000"/>
                </a:solidFill>
                <a:latin typeface="Courier New"/>
                <a:ea typeface="Courier New"/>
                <a:cs typeface="Courier New"/>
                <a:sym typeface="Courier New"/>
              </a:rPr>
              <a:t>}</a:t>
            </a:r>
            <a:endParaRPr b="1" sz="1200">
              <a:solidFill>
                <a:srgbClr val="CC0000"/>
              </a:solidFill>
              <a:latin typeface="Courier New"/>
              <a:ea typeface="Courier New"/>
              <a:cs typeface="Courier New"/>
              <a:sym typeface="Courier New"/>
            </a:endParaRPr>
          </a:p>
          <a:p>
            <a:pPr indent="0" lvl="0" marL="914400" rtl="0" algn="l">
              <a:lnSpc>
                <a:spcPct val="115000"/>
              </a:lnSpc>
              <a:spcBef>
                <a:spcPts val="0"/>
              </a:spcBef>
              <a:spcAft>
                <a:spcPts val="0"/>
              </a:spcAft>
              <a:buNone/>
            </a:pPr>
            <a:r>
              <a:t/>
            </a:r>
            <a:endParaRPr b="1" sz="1200">
              <a:solidFill>
                <a:srgbClr val="CC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Thursday	</a:t>
            </a:r>
            <a:endParaRPr/>
          </a:p>
        </p:txBody>
      </p:sp>
      <p:sp>
        <p:nvSpPr>
          <p:cNvPr id="346" name="Google Shape;346;p5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about watching buttons, in preparation for Lab 2.</a:t>
            </a:r>
            <a:endParaRPr/>
          </a:p>
          <a:p>
            <a:pPr indent="0" lvl="0" marL="0" rtl="0" algn="l">
              <a:spcBef>
                <a:spcPts val="1600"/>
              </a:spcBef>
              <a:spcAft>
                <a:spcPts val="1600"/>
              </a:spcAft>
              <a:buNone/>
            </a:pPr>
            <a:r>
              <a:rPr lang="en"/>
              <a:t>State machines.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