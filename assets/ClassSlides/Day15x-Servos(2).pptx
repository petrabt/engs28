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9144000"/>
  <p:notesSz cx="6858000" cy="9144000"/>
  <p:embeddedFontLst>
    <p:embeddedFont>
      <p:font typeface="Helvetica Neue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HelveticaNeue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6" Type="http://schemas.openxmlformats.org/officeDocument/2006/relationships/font" Target="fonts/HelveticaNeue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6e9c87f055_2_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6e9c87f055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badeb56c55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badeb56c5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10d9870a0e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10d9870a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10d9870a0e_0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10d9870a0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do this but kept running out of batteries. That's why we use our external power supply again, just like in the motor lab.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10d9870a0e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10d9870a0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Voltage regulator has 3 pins: Take a look at the datasheet. Pin 1 is power in, pin 2 (middle) is ground, pin 3 is power to the servo. Need those bypass capacitors.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yellow wire from the servo goes to the PWM pin. But don't wire that yet.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0e4b1ba146_0_1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0e4b1ba14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33400" y="457200"/>
            <a:ext cx="754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33400" y="990600"/>
            <a:ext cx="815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33400" y="62484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6781800" y="62484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23.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8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2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2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22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533400" y="457200"/>
            <a:ext cx="7543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533400" y="990600"/>
            <a:ext cx="815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0" type="dt"/>
          </p:nvPr>
        </p:nvSpPr>
        <p:spPr>
          <a:xfrm>
            <a:off x="533400" y="62484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2" type="sldNum"/>
          </p:nvPr>
        </p:nvSpPr>
        <p:spPr>
          <a:xfrm>
            <a:off x="6781800" y="62484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1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23.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/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Engs </a:t>
            </a:r>
            <a:r>
              <a:rPr lang="en" sz="3000">
                <a:latin typeface="Comic Sans MS"/>
                <a:ea typeface="Comic Sans MS"/>
                <a:cs typeface="Comic Sans MS"/>
                <a:sym typeface="Comic Sans MS"/>
              </a:rPr>
              <a:t>28</a:t>
            </a:r>
            <a:endParaRPr sz="3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Embedded Systems</a:t>
            </a:r>
            <a:endParaRPr sz="52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0" name="Google Shape;110;p27"/>
          <p:cNvSpPr txBox="1"/>
          <p:nvPr/>
        </p:nvSpPr>
        <p:spPr>
          <a:xfrm>
            <a:off x="311700" y="41282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595959"/>
                </a:solidFill>
                <a:latin typeface="Comic Sans MS"/>
                <a:ea typeface="Comic Sans MS"/>
                <a:cs typeface="Comic Sans MS"/>
                <a:sym typeface="Comic Sans MS"/>
              </a:rPr>
              <a:t>Day 15x</a:t>
            </a:r>
            <a:endParaRPr sz="2800">
              <a:solidFill>
                <a:srgbClr val="595959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1" name="Google Shape;11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637" y="395688"/>
            <a:ext cx="1103550" cy="133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4700" y="61000"/>
            <a:ext cx="1543875" cy="21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title"/>
          </p:nvPr>
        </p:nvSpPr>
        <p:spPr>
          <a:xfrm>
            <a:off x="311700" y="2191575"/>
            <a:ext cx="8520600" cy="179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274E13"/>
                </a:solidFill>
              </a:rPr>
              <a:t>If you didn't finish Tuesday's design exercise you need to complete that first, before moving on to the next exercise.</a:t>
            </a:r>
            <a:endParaRPr i="1">
              <a:solidFill>
                <a:srgbClr val="274E13"/>
              </a:solidFill>
            </a:endParaRPr>
          </a:p>
        </p:txBody>
      </p:sp>
      <p:sp>
        <p:nvSpPr>
          <p:cNvPr id="119" name="Google Shape;119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Servo wiring</a:t>
            </a:r>
            <a:endParaRPr/>
          </a:p>
        </p:txBody>
      </p:sp>
      <p:sp>
        <p:nvSpPr>
          <p:cNvPr id="125" name="Google Shape;125;p29"/>
          <p:cNvSpPr txBox="1"/>
          <p:nvPr/>
        </p:nvSpPr>
        <p:spPr>
          <a:xfrm>
            <a:off x="1550025" y="5646975"/>
            <a:ext cx="33138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Tower-Pro SG92R</a:t>
            </a:r>
            <a:endParaRPr sz="1600"/>
          </a:p>
        </p:txBody>
      </p:sp>
      <p:sp>
        <p:nvSpPr>
          <p:cNvPr id="126" name="Google Shape;126;p29"/>
          <p:cNvSpPr txBox="1"/>
          <p:nvPr/>
        </p:nvSpPr>
        <p:spPr>
          <a:xfrm>
            <a:off x="5949700" y="2372050"/>
            <a:ext cx="2908500" cy="25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UNPLUG POWER </a:t>
            </a:r>
            <a:r>
              <a:rPr lang="en"/>
              <a:t>before making any changes to wiring.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0000"/>
                </a:solidFill>
              </a:rPr>
              <a:t>Brown wire → ground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</a:rPr>
              <a:t>Red/Orange wire </a:t>
            </a:r>
            <a:r>
              <a:rPr lang="en">
                <a:solidFill>
                  <a:srgbClr val="FF0000"/>
                </a:solidFill>
              </a:rPr>
              <a:t>→</a:t>
            </a:r>
            <a:r>
              <a:rPr lang="en">
                <a:solidFill>
                  <a:srgbClr val="CC0000"/>
                </a:solidFill>
              </a:rPr>
              <a:t> power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</a:rPr>
              <a:t>Yellow wire →  a PWM pin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TIM14 can control PA7.</a:t>
            </a:r>
            <a:endParaRPr/>
          </a:p>
        </p:txBody>
      </p:sp>
      <p:pic>
        <p:nvPicPr>
          <p:cNvPr id="127" name="Google Shape;1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75575"/>
            <a:ext cx="5404374" cy="405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power a servo</a:t>
            </a:r>
            <a:endParaRPr/>
          </a:p>
        </p:txBody>
      </p:sp>
      <p:sp>
        <p:nvSpPr>
          <p:cNvPr id="133" name="Google Shape;133;p30"/>
          <p:cNvSpPr txBox="1"/>
          <p:nvPr>
            <p:ph idx="1" type="body"/>
          </p:nvPr>
        </p:nvSpPr>
        <p:spPr>
          <a:xfrm>
            <a:off x="311700" y="1356875"/>
            <a:ext cx="3820800" cy="51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Servo runs on 4-6V, draws a lot of current.  </a:t>
            </a:r>
            <a:r>
              <a:rPr lang="en" sz="1600">
                <a:solidFill>
                  <a:schemeClr val="dk1"/>
                </a:solidFill>
              </a:rPr>
              <a:t>It may draw 250mA while moving, can be much higher if stalled.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Because of high current draw, power the servo from a separate supply, NOT from the Nucleo’s +3/5V pin.  For example, 4 AA batteries in series = 6V.  Use a prewired “battery box” for convenience.  Higher capacity rechargeable batteries are good for extended use.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Why?  The USB power from your laptop is limited to 500mA.  High current draw by the servo can starve the Nucleo, causing it to “brown out” and reset itself.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134" name="Google Shape;13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548" y="4217350"/>
            <a:ext cx="3005225" cy="225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0"/>
          <p:cNvSpPr txBox="1"/>
          <p:nvPr/>
        </p:nvSpPr>
        <p:spPr>
          <a:xfrm>
            <a:off x="6304900" y="3912850"/>
            <a:ext cx="2401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FFFF00"/>
                </a:solidFill>
              </a:rPr>
              <a:t>https://www.adafruit.com/product/830</a:t>
            </a:r>
            <a:endParaRPr i="1" sz="1000">
              <a:solidFill>
                <a:srgbClr val="FFFF00"/>
              </a:solidFill>
            </a:endParaRPr>
          </a:p>
        </p:txBody>
      </p:sp>
      <p:pic>
        <p:nvPicPr>
          <p:cNvPr id="136" name="Google Shape;13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2500" y="137075"/>
            <a:ext cx="4801375" cy="4080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b="7433" l="0" r="0" t="7424"/>
          <a:stretch/>
        </p:blipFill>
        <p:spPr>
          <a:xfrm>
            <a:off x="2906602" y="1307313"/>
            <a:ext cx="4686772" cy="424337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1"/>
          <p:cNvSpPr txBox="1"/>
          <p:nvPr>
            <p:ph type="title"/>
          </p:nvPr>
        </p:nvSpPr>
        <p:spPr>
          <a:xfrm>
            <a:off x="272775" y="455175"/>
            <a:ext cx="42414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power a servo (2)</a:t>
            </a:r>
            <a:endParaRPr/>
          </a:p>
        </p:txBody>
      </p:sp>
      <p:sp>
        <p:nvSpPr>
          <p:cNvPr id="143" name="Google Shape;143;p31"/>
          <p:cNvSpPr txBox="1"/>
          <p:nvPr/>
        </p:nvSpPr>
        <p:spPr>
          <a:xfrm>
            <a:off x="4130449" y="4173500"/>
            <a:ext cx="1012500" cy="6045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80000"/>
                </a:solidFill>
              </a:rPr>
              <a:t>Brown ➝ GND</a:t>
            </a:r>
            <a:endParaRPr b="1" sz="800">
              <a:solidFill>
                <a:srgbClr val="98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9900"/>
                </a:solidFill>
              </a:rPr>
              <a:t>Orange ➝ power</a:t>
            </a:r>
            <a:endParaRPr b="1" sz="800">
              <a:solidFill>
                <a:srgbClr val="FF99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00"/>
                </a:solidFill>
              </a:rPr>
              <a:t>Yellow ➝ PWM</a:t>
            </a:r>
            <a:endParaRPr b="1" sz="800">
              <a:solidFill>
                <a:srgbClr val="FFFF00"/>
              </a:solidFill>
            </a:endParaRPr>
          </a:p>
        </p:txBody>
      </p:sp>
      <p:sp>
        <p:nvSpPr>
          <p:cNvPr id="144" name="Google Shape;144;p31"/>
          <p:cNvSpPr txBox="1"/>
          <p:nvPr>
            <p:ph idx="1" type="body"/>
          </p:nvPr>
        </p:nvSpPr>
        <p:spPr>
          <a:xfrm>
            <a:off x="311700" y="1309825"/>
            <a:ext cx="3797700" cy="51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We'll use the same external power supply setup as we did for the motor: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We'll use a 9V wall charger</a:t>
            </a:r>
            <a:r>
              <a:rPr lang="en" sz="1600">
                <a:solidFill>
                  <a:schemeClr val="dk1"/>
                </a:solidFill>
              </a:rPr>
              <a:t>. B</a:t>
            </a:r>
            <a:r>
              <a:rPr lang="en" sz="1600">
                <a:solidFill>
                  <a:srgbClr val="000000"/>
                </a:solidFill>
              </a:rPr>
              <a:t>ut 9V is too high for a servo!  The power board contains a 7805 linear voltage regulator that converts 9V to 5V, up to 1.5A.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(Consult the 7805 data sheet for pinout and bypass capacitor instructions if you are interested in using the voltage regulator outside of the power board).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145" name="Google Shape;14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195951" y="3694375"/>
            <a:ext cx="923300" cy="201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0676" y="1356874"/>
            <a:ext cx="4694274" cy="499187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 Exercise, Part 2</a:t>
            </a:r>
            <a:endParaRPr/>
          </a:p>
        </p:txBody>
      </p:sp>
      <p:sp>
        <p:nvSpPr>
          <p:cNvPr id="152" name="Google Shape;152;p32"/>
          <p:cNvSpPr txBox="1"/>
          <p:nvPr/>
        </p:nvSpPr>
        <p:spPr>
          <a:xfrm>
            <a:off x="2369825" y="5761225"/>
            <a:ext cx="1028100" cy="533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80000"/>
                </a:solidFill>
              </a:rPr>
              <a:t>Brown ➝ GND</a:t>
            </a:r>
            <a:endParaRPr b="1" sz="800">
              <a:solidFill>
                <a:srgbClr val="98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9900"/>
                </a:solidFill>
              </a:rPr>
              <a:t>Orange ➝ power</a:t>
            </a:r>
            <a:endParaRPr b="1" sz="800">
              <a:solidFill>
                <a:srgbClr val="FF99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00"/>
                </a:solidFill>
              </a:rPr>
              <a:t>Yellow ➝ PWM</a:t>
            </a:r>
            <a:endParaRPr b="1" sz="800">
              <a:solidFill>
                <a:srgbClr val="FFFF00"/>
              </a:solidFill>
            </a:endParaRPr>
          </a:p>
        </p:txBody>
      </p:sp>
      <p:sp>
        <p:nvSpPr>
          <p:cNvPr id="153" name="Google Shape;153;p32"/>
          <p:cNvSpPr txBox="1"/>
          <p:nvPr>
            <p:ph idx="1" type="body"/>
          </p:nvPr>
        </p:nvSpPr>
        <p:spPr>
          <a:xfrm>
            <a:off x="311700" y="1356875"/>
            <a:ext cx="3797700" cy="3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Wire the servo and power board to the breadboard.  Check wiring with instructor. </a:t>
            </a:r>
            <a:r>
              <a:rPr lang="en" sz="1600">
                <a:solidFill>
                  <a:srgbClr val="000000"/>
                </a:solidFill>
              </a:rPr>
              <a:t>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Pot → ADC → PWM controls the servo.  Use the code from Day15_servo_template.c that you completed last class.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Your program is still there on your Nucleo, so you should see the servo rotate, smoothly, as you adjust the potentiometer.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154" name="Google Shape;154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664176" y="4091950"/>
            <a:ext cx="923300" cy="201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