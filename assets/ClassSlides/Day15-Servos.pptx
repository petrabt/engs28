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6858000" cx="9144000"/>
  <p:notesSz cx="6858000" cy="9144000"/>
  <p:embeddedFontLst>
    <p:embeddedFont>
      <p:font typeface="Helvetica Neue"/>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44D4242-A1F1-43E5-9E80-658D651704D4}">
  <a:tblStyle styleId="{C44D4242-A1F1-43E5-9E80-658D651704D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HelveticaNeue-italic.fntdata"/><Relationship Id="rId20" Type="http://schemas.openxmlformats.org/officeDocument/2006/relationships/slide" Target="slides/slide14.xml"/><Relationship Id="rId41" Type="http://schemas.openxmlformats.org/officeDocument/2006/relationships/font" Target="fonts/HelveticaNeue-bold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HelveticaNeue-bold.fntdata"/><Relationship Id="rId16" Type="http://schemas.openxmlformats.org/officeDocument/2006/relationships/slide" Target="slides/slide10.xml"/><Relationship Id="rId38" Type="http://schemas.openxmlformats.org/officeDocument/2006/relationships/font" Target="fonts/HelveticaNeue-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6e9c87f055_2_4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6e9c87f055_2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6e9c87f055_2_5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6e9c87f055_2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ba85b37a88_0_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ba85b37a88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bd0ab29b91_0_15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bd0ab29b91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6e9c87f055_7_5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6e9c87f055_7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DC motor works by the current flowing through a coil interacting </a:t>
            </a:r>
            <a:r>
              <a:rPr lang="en"/>
              <a:t>with</a:t>
            </a:r>
            <a:r>
              <a:rPr lang="en"/>
              <a:t> a permanent magnetic field set up by the magnets outside. Torque is </a:t>
            </a:r>
            <a:r>
              <a:rPr lang="en"/>
              <a:t>proportional</a:t>
            </a:r>
            <a:r>
              <a:rPr lang="en"/>
              <a:t> to </a:t>
            </a:r>
            <a:r>
              <a:rPr lang="en"/>
              <a:t>current</a:t>
            </a:r>
            <a:r>
              <a:rPr lang="en"/>
              <a:t>. Now we are going to add on to it.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6e9c87f055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6e9c87f05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what's inside your servo. There is a DC Motor that's connected to a little </a:t>
            </a:r>
            <a:r>
              <a:rPr lang="en"/>
              <a:t>circuit</a:t>
            </a:r>
            <a:r>
              <a:rPr lang="en"/>
              <a:t> board (including an H-bridge). The motor shaft </a:t>
            </a:r>
            <a:r>
              <a:rPr lang="en"/>
              <a:t>goes</a:t>
            </a:r>
            <a:r>
              <a:rPr lang="en"/>
              <a:t> through this gear train that gears it way down to the output shaft that is not turning very fast. A potentiometer is attached to this shaft and gives you the angular position of the shaft. Corresponding to that angular position the pot puts out a voltage that is fed into the control circuit where it is compared with the desired voltage and then the control circuit adjusts the motor speed and direction if necessary using the h-bridge until the feedback loop signals that the error is zero.</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all the gears? Power is the product of torque and angular </a:t>
            </a:r>
            <a:r>
              <a:rPr lang="en"/>
              <a:t>velocity</a:t>
            </a:r>
            <a:r>
              <a:rPr lang="en"/>
              <a:t>. Through the gear train the speed </a:t>
            </a:r>
            <a:r>
              <a:rPr lang="en"/>
              <a:t>going</a:t>
            </a:r>
            <a:r>
              <a:rPr lang="en"/>
              <a:t> in is much </a:t>
            </a:r>
            <a:r>
              <a:rPr lang="en"/>
              <a:t>higher</a:t>
            </a:r>
            <a:r>
              <a:rPr lang="en"/>
              <a:t> than the speed </a:t>
            </a:r>
            <a:r>
              <a:rPr lang="en"/>
              <a:t>going</a:t>
            </a:r>
            <a:r>
              <a:rPr lang="en"/>
              <a:t> out. Since power is preserved, the torque going out is much higher than the torque going in. In goes a high speed motor with not a lot of torque, and out comes a low speed </a:t>
            </a:r>
            <a:r>
              <a:rPr lang="en"/>
              <a:t>with</a:t>
            </a:r>
            <a:r>
              <a:rPr lang="en"/>
              <a:t> a large amount of torque.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6e9c87f055_0_2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6e9c87f055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Used particularly to provide precise position control.</a:t>
            </a:r>
            <a:endParaRPr/>
          </a:p>
          <a:p>
            <a:pPr indent="0" lvl="0" marL="0" rtl="0" algn="l">
              <a:spcBef>
                <a:spcPts val="0"/>
              </a:spcBef>
              <a:spcAft>
                <a:spcPts val="0"/>
              </a:spcAft>
              <a:buNone/>
            </a:pPr>
            <a:r>
              <a:rPr lang="en"/>
              <a:t>Robot: servo is making that elbow move</a:t>
            </a:r>
            <a:endParaRPr/>
          </a:p>
          <a:p>
            <a:pPr indent="0" lvl="0" marL="0" rtl="0" algn="l">
              <a:spcBef>
                <a:spcPts val="0"/>
              </a:spcBef>
              <a:spcAft>
                <a:spcPts val="0"/>
              </a:spcAft>
              <a:buClr>
                <a:schemeClr val="dk1"/>
              </a:buClr>
              <a:buSzPts val="1100"/>
              <a:buFont typeface="Arial"/>
              <a:buNone/>
            </a:pPr>
            <a:r>
              <a:rPr lang="en"/>
              <a:t>Aircraft control surfaces: moving rudder etc</a:t>
            </a:r>
            <a:endParaRPr/>
          </a:p>
          <a:p>
            <a:pPr indent="0" lvl="0" marL="0" rtl="0" algn="l">
              <a:spcBef>
                <a:spcPts val="0"/>
              </a:spcBef>
              <a:spcAft>
                <a:spcPts val="0"/>
              </a:spcAft>
              <a:buClr>
                <a:schemeClr val="dk1"/>
              </a:buClr>
              <a:buSzPts val="1100"/>
              <a:buFont typeface="Arial"/>
              <a:buNone/>
            </a:pPr>
            <a:r>
              <a:rPr lang="en"/>
              <a:t>Camera auto-focus (adjusting the lens)</a:t>
            </a:r>
            <a:endParaRPr/>
          </a:p>
          <a:p>
            <a:pPr indent="0" lvl="0" marL="0" rtl="0" algn="l">
              <a:spcBef>
                <a:spcPts val="0"/>
              </a:spcBef>
              <a:spcAft>
                <a:spcPts val="0"/>
              </a:spcAft>
              <a:buClr>
                <a:schemeClr val="dk1"/>
              </a:buClr>
              <a:buSzPts val="1100"/>
              <a:buFont typeface="Arial"/>
              <a:buNone/>
            </a:pPr>
            <a:r>
              <a:rPr lang="en"/>
              <a:t>Conveyor belts: moving back and forth quickly</a:t>
            </a:r>
            <a:endParaRPr/>
          </a:p>
          <a:p>
            <a:pPr indent="0" lvl="0" marL="0" rtl="0" algn="l">
              <a:spcBef>
                <a:spcPts val="0"/>
              </a:spcBef>
              <a:spcAft>
                <a:spcPts val="0"/>
              </a:spcAft>
              <a:buClr>
                <a:schemeClr val="dk1"/>
              </a:buClr>
              <a:buSzPts val="1100"/>
              <a:buFont typeface="Arial"/>
              <a:buNone/>
            </a:pPr>
            <a:r>
              <a:rPr lang="en"/>
              <a:t>Solar trackers: you'll build one in lab 8</a:t>
            </a:r>
            <a:endParaRPr/>
          </a:p>
          <a:p>
            <a:pPr indent="0" lvl="0" marL="0" rtl="0" algn="l">
              <a:spcBef>
                <a:spcPts val="0"/>
              </a:spcBef>
              <a:spcAft>
                <a:spcPts val="0"/>
              </a:spcAft>
              <a:buClr>
                <a:schemeClr val="dk1"/>
              </a:buClr>
              <a:buSzPts val="1100"/>
              <a:buFont typeface="Arial"/>
              <a:buNone/>
            </a:pPr>
            <a:r>
              <a:rPr lang="en"/>
              <a:t>Metal and wood processing (CNC tools): bring </a:t>
            </a:r>
            <a:r>
              <a:rPr lang="en"/>
              <a:t>something</a:t>
            </a:r>
            <a:r>
              <a:rPr lang="en"/>
              <a:t> in, pull something out</a:t>
            </a:r>
            <a:endParaRPr/>
          </a:p>
          <a:p>
            <a:pPr indent="0" lvl="0" marL="0" rtl="0" algn="l">
              <a:spcBef>
                <a:spcPts val="0"/>
              </a:spcBef>
              <a:spcAft>
                <a:spcPts val="0"/>
              </a:spcAft>
              <a:buClr>
                <a:schemeClr val="dk1"/>
              </a:buClr>
              <a:buSzPts val="1100"/>
              <a:buFont typeface="Arial"/>
              <a:buNone/>
            </a:pPr>
            <a:r>
              <a:rPr lang="en"/>
              <a:t>Antenna azimuth and elevation positioning: point antenna</a:t>
            </a:r>
            <a:endParaRPr/>
          </a:p>
          <a:p>
            <a:pPr indent="0" lvl="0" marL="0" rtl="0" algn="l">
              <a:spcBef>
                <a:spcPts val="0"/>
              </a:spcBef>
              <a:spcAft>
                <a:spcPts val="0"/>
              </a:spcAft>
              <a:buClr>
                <a:schemeClr val="dk1"/>
              </a:buClr>
              <a:buSzPts val="1100"/>
              <a:buFont typeface="Arial"/>
              <a:buNone/>
            </a:pPr>
            <a:r>
              <a:rPr lang="en"/>
              <a:t>Opening and closing doors, windows, vents</a:t>
            </a:r>
            <a:endParaRPr/>
          </a:p>
          <a:p>
            <a:pPr indent="0" lvl="0" marL="0" rtl="0" algn="l">
              <a:spcBef>
                <a:spcPts val="0"/>
              </a:spcBef>
              <a:spcAft>
                <a:spcPts val="0"/>
              </a:spcAft>
              <a:buClr>
                <a:schemeClr val="dk1"/>
              </a:buClr>
              <a:buSzPts val="1100"/>
              <a:buFont typeface="Arial"/>
              <a:buNone/>
            </a:pPr>
            <a:r>
              <a:rPr lang="en"/>
              <a:t>Opening and closing valves: want precise position, open and close. May require a lot of torque but don't need to move very fast.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6e9c87f055_0_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6e9c87f05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It's the ability to go to precisely someplace that's the really valuable feature. This works by feedback.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 never take a servo all the way around. If you do you break it. That's why you can measure the position with a pot.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Angle goes into the pot, resistance varies, out comes voltage. You have set the position that you want the servo to go to, so you have the position you want (with a voltage), the position that you have (out of the pot) and an error. The feedback makes the error want to go to 0 so that the angle of the servo is the same you want.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Once in its position, if you try to turn the servo by hand the pot is </a:t>
            </a:r>
            <a:r>
              <a:rPr lang="en"/>
              <a:t>going</a:t>
            </a:r>
            <a:r>
              <a:rPr lang="en"/>
              <a:t> to sense that and the controller is going to counteract that error. So the servo will strongly resist. How exactly the </a:t>
            </a:r>
            <a:r>
              <a:rPr lang="en"/>
              <a:t>controller</a:t>
            </a:r>
            <a:r>
              <a:rPr lang="en"/>
              <a:t> does this is something you study in ENGS 26.</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All we have to do is stick in a signal to command the position. The circuitry does the rest.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be337c190f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be337c19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Little</a:t>
            </a:r>
            <a:r>
              <a:rPr lang="en"/>
              <a:t> plastic pieces are called servo horns. The holes allow you to attach rods that can then elevate things etc. Please be careful </a:t>
            </a:r>
            <a:r>
              <a:rPr lang="en"/>
              <a:t>with</a:t>
            </a:r>
            <a:r>
              <a:rPr lang="en"/>
              <a:t> your servos. Please don't break them. Please don't try to turn them by hand all that much.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stall torque is the amount of torque the servo puts out if you try to resist its turning (so hold the horns in place). Unit is kgf-cm for these hobby servos which you are probably not used to from physics (there, torque is measured in Nm, or for cars its measure in foot-pounds). A kgf (</a:t>
            </a:r>
            <a:r>
              <a:rPr lang="en"/>
              <a:t>kilogram</a:t>
            </a:r>
            <a:r>
              <a:rPr lang="en"/>
              <a:t> force) is the gravity exerted on 1kg of mass. So kgf-cm is still force times distance. So 2.5 kgf-cm is not a huge force, but remember it's a tiny motor!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 takes 1/10 of a second to go through 60 degrees.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Will explain dead band when we get there.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be337c190f_0_20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be337c190f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Servos don't have an i2c interface… Technology is fairly old, and there is a historic way to control them. This hasn't changed.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 apply a pwm signal. The width of the pulse is conveying information to the controller on how far to turn the motor. So you are using pwm as a way to communicate with the controller rather than directly sending it to the motor.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a typical hobby servo, the pwm pulse is repeated at 50Hz. That means each pulse lasts around 20ms. 60Hz also works fine as it turns out…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By convention, a 1.5 ms pulse brings the servo to the middle (a zero angle). 1ms turns it to -90 degrees, 2ms turns it to 90 degrees. This is hypothetical. Our servos don't go all that far. Please do not try to turn them that far. As long as the same pulse is applied to the motor, it stays at that one position and is held there. If you shut the signal down there is no power on the motor. So a servo spins to the correct position and then sticks there as long as you apply the same pulses. If anything tries to move it out of that position it tries to move back.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the signal is a position signal and you have to keep sending it.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be337c190f_0_20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be337c190f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f7a8d69f0a_0_1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f7a8d69f0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f7a8d69f0a_0_2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f7a8d69f0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Inside the microcontroller: counter register is TCNT (Timer Counter) n (n = 0, 1, 2).</a:t>
            </a:r>
            <a:endParaRPr/>
          </a:p>
          <a:p>
            <a:pPr indent="0" lvl="0" marL="0" rtl="0" algn="l">
              <a:spcBef>
                <a:spcPts val="0"/>
              </a:spcBef>
              <a:spcAft>
                <a:spcPts val="0"/>
              </a:spcAft>
              <a:buNone/>
            </a:pPr>
            <a:r>
              <a:rPr lang="en"/>
              <a:t>As it counts, there are a couple things it can do:</a:t>
            </a:r>
            <a:endParaRPr/>
          </a:p>
          <a:p>
            <a:pPr indent="-298450" lvl="0" marL="457200" rtl="0" algn="l">
              <a:spcBef>
                <a:spcPts val="0"/>
              </a:spcBef>
              <a:spcAft>
                <a:spcPts val="0"/>
              </a:spcAft>
              <a:buSzPts val="1100"/>
              <a:buChar char="-"/>
            </a:pPr>
            <a:r>
              <a:rPr lang="en"/>
              <a:t>Have it compare its value to a number you have stored in a register. Suppose you wanted to count to 100. Then you could use the 8-bit counter, but instead of having it count to 255 you'd store 100 in the output compare register (OCR). Comparator will compare the numbers. When the counter gets to that number it does something (generate interrupt, etc)</a:t>
            </a:r>
            <a:endParaRPr/>
          </a:p>
          <a:p>
            <a:pPr indent="-298450" lvl="0" marL="457200" rtl="0" algn="l">
              <a:spcBef>
                <a:spcPts val="0"/>
              </a:spcBef>
              <a:spcAft>
                <a:spcPts val="0"/>
              </a:spcAft>
              <a:buSzPts val="1100"/>
              <a:buChar char="-"/>
            </a:pPr>
            <a:r>
              <a:rPr lang="en"/>
              <a:t>Can tell it to do something when it reaches its top value (TOP), so when the counter overflows.</a:t>
            </a:r>
            <a:endParaRPr/>
          </a:p>
          <a:p>
            <a:pPr indent="-298450" lvl="0" marL="457200" rtl="0" algn="l">
              <a:spcBef>
                <a:spcPts val="0"/>
              </a:spcBef>
              <a:spcAft>
                <a:spcPts val="0"/>
              </a:spcAft>
              <a:buSzPts val="1100"/>
              <a:buChar char="-"/>
            </a:pPr>
            <a:r>
              <a:rPr lang="en"/>
              <a:t>When counting down can tell it to do something when it reaches 0.</a:t>
            </a:r>
            <a:endParaRPr/>
          </a:p>
          <a:p>
            <a:pPr indent="-298450" lvl="0" marL="457200" rtl="0" algn="l">
              <a:spcBef>
                <a:spcPts val="0"/>
              </a:spcBef>
              <a:spcAft>
                <a:spcPts val="0"/>
              </a:spcAft>
              <a:buSzPts val="1100"/>
              <a:buChar char="-"/>
            </a:pPr>
            <a:r>
              <a:rPr lang="en"/>
              <a:t>Timer overflow interrupt gets thrown when overflow is reached.</a:t>
            </a:r>
            <a:endParaRPr/>
          </a:p>
          <a:p>
            <a:pPr indent="-298450" lvl="0" marL="457200" rtl="0" algn="l">
              <a:spcBef>
                <a:spcPts val="0"/>
              </a:spcBef>
              <a:spcAft>
                <a:spcPts val="0"/>
              </a:spcAft>
              <a:buSzPts val="1100"/>
              <a:buChar char="-"/>
            </a:pPr>
            <a:r>
              <a:rPr lang="en"/>
              <a:t>Output compare interrupt occurs when timer reaches value in OCR (if so chosen). Those are two different interrupts.</a:t>
            </a:r>
            <a:endParaRPr/>
          </a:p>
          <a:p>
            <a:pPr indent="0" lvl="0" marL="0" rtl="0" algn="l">
              <a:spcBef>
                <a:spcPts val="0"/>
              </a:spcBef>
              <a:spcAft>
                <a:spcPts val="0"/>
              </a:spcAft>
              <a:buNone/>
            </a:pPr>
            <a:r>
              <a:rPr lang="en"/>
              <a:t>Each timer/counter has two comparison value registers, so you could in principle have one counter that interrupts both at 100 and also at 150. Seems difficult to think about, so have never used that personally…</a:t>
            </a:r>
            <a:endParaRPr/>
          </a:p>
          <a:p>
            <a:pPr indent="0" lvl="0" marL="0" rtl="0" algn="l">
              <a:spcBef>
                <a:spcPts val="0"/>
              </a:spcBef>
              <a:spcAft>
                <a:spcPts val="0"/>
              </a:spcAft>
              <a:buNone/>
            </a:pPr>
            <a:r>
              <a:rPr lang="en"/>
              <a:t>It can do other things that we'll learn about in a few weeks.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general functionality: Counter counts, generates interrupt when it reaches a specified value.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are two control registers that set the various options (clock speed, what happens when it times out - reset or done? etc)</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f7a8d69f0a_0_4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f7a8d69f0a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The digital I/O pins that have a little wiggle next to them can do PWM: a PWM output from a timer/counter.</a:t>
            </a:r>
            <a:endParaRPr sz="1400"/>
          </a:p>
          <a:p>
            <a:pPr indent="0" lvl="0" marL="0" rtl="0" algn="l">
              <a:spcBef>
                <a:spcPts val="0"/>
              </a:spcBef>
              <a:spcAft>
                <a:spcPts val="0"/>
              </a:spcAft>
              <a:buNone/>
            </a:pPr>
            <a:r>
              <a:rPr lang="en" sz="1400"/>
              <a:t>For the  motor controller we'll use Arduino pins 9, 10 and 11. We'll take pin 11 with PWM to control the voltage going into the H-bridge, so instead of those transistors going to be on all the time the will go open/close/etc (this is on the logic end of things!), so that the actual full current passes through and gets blocked according to the duty cycle.</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You don't have to think about this hard since it's all built into the chip.</a:t>
            </a:r>
            <a:endParaRPr sz="14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be337c190f_0_229: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all three prescalers will give the appropriate pulse period.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What is the minimum pulse width we can achieve with each of these? Since each pulse has a period of 20ms, that width is divided into ARR+1 number of bins. So 20ms/(ARR+1) gives you the smallest pulse width. All useful angles occur between a pulse width of 1ms and 2ms. The number of steps in between 1ms and 2ms is the resolution of your servo, so for the prescaler = 6 for example each step corresponds to 0.09 degrees. Amazing angular resolution! But this thing is made out of plastic. So… is that worth it?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servo has a dead band of 1 us. That means that if you change the pulse by that amount the motor won't notice it. So the pulse width has to have a difference of at least 1us if the motor is going to respond. So with a prescaler of 6, is that a good place to work? No, since 0.5 us is less than the dead band. It's more finely grained than is worth doing. But the 4us is good, so a prescaler of 60 is great. Next one is fine too.</a:t>
            </a:r>
            <a:endParaRPr/>
          </a:p>
        </p:txBody>
      </p:sp>
      <p:sp>
        <p:nvSpPr>
          <p:cNvPr id="195" name="Google Shape;195;gbe337c190f_0_2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1248295937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124829593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f7a8d69f0a_0_12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2f7a8d69f0a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f7a8d69f0a_0_14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2f7a8d69f0a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6eb8990de6_0_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6eb8990de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Clock runs at 12MHz */</a:t>
            </a:r>
            <a:endParaRPr/>
          </a:p>
          <a:p>
            <a:pPr indent="0" lvl="0" marL="0" rtl="0" algn="l">
              <a:spcBef>
                <a:spcPts val="0"/>
              </a:spcBef>
              <a:spcAft>
                <a:spcPts val="0"/>
              </a:spcAft>
              <a:buClr>
                <a:schemeClr val="dk1"/>
              </a:buClr>
              <a:buSzPts val="1100"/>
              <a:buFont typeface="Arial"/>
              <a:buNone/>
            </a:pPr>
            <a:r>
              <a:rPr lang="en"/>
              <a:t>/* Need to prescale by 60 to have counting to 4000 take 20ms */</a:t>
            </a:r>
            <a:endParaRPr/>
          </a:p>
          <a:p>
            <a:pPr indent="0" lvl="0" marL="0" rtl="0" algn="l">
              <a:spcBef>
                <a:spcPts val="0"/>
              </a:spcBef>
              <a:spcAft>
                <a:spcPts val="0"/>
              </a:spcAft>
              <a:buClr>
                <a:schemeClr val="dk1"/>
              </a:buClr>
              <a:buSzPts val="1100"/>
              <a:buFont typeface="Arial"/>
              <a:buNone/>
            </a:pPr>
            <a:r>
              <a:rPr lang="en"/>
              <a:t>#define PWM_PSC_FACTOR	60			// 12 MHz / 60 = 200 KHz</a:t>
            </a:r>
            <a:endParaRPr/>
          </a:p>
          <a:p>
            <a:pPr indent="0" lvl="0" marL="0" rtl="0" algn="l">
              <a:spcBef>
                <a:spcPts val="0"/>
              </a:spcBef>
              <a:spcAft>
                <a:spcPts val="0"/>
              </a:spcAft>
              <a:buClr>
                <a:schemeClr val="dk1"/>
              </a:buClr>
              <a:buSzPts val="1100"/>
              <a:buFont typeface="Arial"/>
              <a:buNone/>
            </a:pPr>
            <a:r>
              <a:rPr lang="en"/>
              <a:t>#define PWM_TIMER_MAX	4000		// 200 KHz / 4000 = 50 Hz with prescale 60 (20ms)</a:t>
            </a:r>
            <a:endParaRPr/>
          </a:p>
          <a:p>
            <a:pPr indent="0" lvl="0" marL="0" rtl="0" algn="l">
              <a:spcBef>
                <a:spcPts val="0"/>
              </a:spcBef>
              <a:spcAft>
                <a:spcPts val="0"/>
              </a:spcAft>
              <a:buClr>
                <a:schemeClr val="dk1"/>
              </a:buClr>
              <a:buSzPts val="1100"/>
              <a:buFont typeface="Arial"/>
              <a:buNone/>
            </a:pPr>
            <a:r>
              <a:rPr lang="en"/>
              <a:t>#define SERVO_MIN    	200        // 1 ms</a:t>
            </a:r>
            <a:endParaRPr/>
          </a:p>
          <a:p>
            <a:pPr indent="0" lvl="0" marL="0" rtl="0" algn="l">
              <a:spcBef>
                <a:spcPts val="0"/>
              </a:spcBef>
              <a:spcAft>
                <a:spcPts val="0"/>
              </a:spcAft>
              <a:buClr>
                <a:schemeClr val="dk1"/>
              </a:buClr>
              <a:buSzPts val="1100"/>
              <a:buFont typeface="Arial"/>
              <a:buNone/>
            </a:pPr>
            <a:r>
              <a:rPr lang="en"/>
              <a:t>#define SERVO_MID       300        // 1.5 ms</a:t>
            </a:r>
            <a:endParaRPr/>
          </a:p>
          <a:p>
            <a:pPr indent="0" lvl="0" marL="0" rtl="0" algn="l">
              <a:spcBef>
                <a:spcPts val="0"/>
              </a:spcBef>
              <a:spcAft>
                <a:spcPts val="0"/>
              </a:spcAft>
              <a:buNone/>
            </a:pPr>
            <a:r>
              <a:rPr lang="en"/>
              <a:t>#define SERVO_MAX       400        // 2 ms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Important to know SERVO_MIN and MAX since you HAVE to stay between those to not damage the servo.</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6eb8990de6_0_3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6eb8990de6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potentiometer is going into the A2D. This produces a 10-bit number between 0 and 1023. You need to convert that to a number between SERVO_MIN and SERVO_MAX so that 0 gets mapped to SERVO_MIN, 1023 to SERVO_MAX.</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Be sure to verify with Scopy - that's your safety check so that you won't break the servo.</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exercise takes students a LONG time. Lots of trouble-shooting to do. Some will get it done: send them to the lab handout or to tomorrow's slides.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d671075d96_0_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2d671075d9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potentiometer is going into the A2D. This produces a 10-bit number between 0 and 1023. You need to convert that to a number between SERVO_MIN and SERVO_MAX so that 0 gets mapped to SERVO_MIN, 1023 to SERVO_MAX.</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Be sure to verify with Scopy - that's your safety check so that you won't break the servo.</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exercise takes students a LONG time. Lots of trouble-shooting to do. Some will get it done: send them to the lab handout or to tomorrow's slides.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2d97c98f24c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2d97c98f24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d97c98f24c_0_1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2d97c98f24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20f52af8643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20f52af864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#define TIMER1_TOP	 40000   	      // 20 ms </a:t>
            </a:r>
            <a:endParaRPr/>
          </a:p>
          <a:p>
            <a:pPr indent="0" lvl="0" marL="0" rtl="0" algn="l">
              <a:spcBef>
                <a:spcPts val="0"/>
              </a:spcBef>
              <a:spcAft>
                <a:spcPts val="0"/>
              </a:spcAft>
              <a:buClr>
                <a:schemeClr val="dk1"/>
              </a:buClr>
              <a:buSzPts val="1100"/>
              <a:buFont typeface="Arial"/>
              <a:buNone/>
            </a:pPr>
            <a:r>
              <a:rPr lang="en"/>
              <a:t>#define SERVO_MIN    2000             // 1 ms </a:t>
            </a:r>
            <a:endParaRPr/>
          </a:p>
          <a:p>
            <a:pPr indent="0" lvl="0" marL="0" rtl="0" algn="l">
              <a:spcBef>
                <a:spcPts val="0"/>
              </a:spcBef>
              <a:spcAft>
                <a:spcPts val="0"/>
              </a:spcAft>
              <a:buClr>
                <a:schemeClr val="dk1"/>
              </a:buClr>
              <a:buSzPts val="1100"/>
              <a:buFont typeface="Arial"/>
              <a:buNone/>
            </a:pPr>
            <a:r>
              <a:rPr lang="en"/>
              <a:t>#define SERVO_MAX    4000             // 2 ms</a:t>
            </a:r>
            <a:endParaRPr/>
          </a:p>
          <a:p>
            <a:pPr indent="0" lvl="0" marL="0" rtl="0" algn="l">
              <a:spcBef>
                <a:spcPts val="0"/>
              </a:spcBef>
              <a:spcAft>
                <a:spcPts val="0"/>
              </a:spcAft>
              <a:buClr>
                <a:schemeClr val="dk1"/>
              </a:buClr>
              <a:buSzPts val="1100"/>
              <a:buFont typeface="Arial"/>
              <a:buNone/>
            </a:pPr>
            <a:r>
              <a:rPr lang="en"/>
              <a:t>#define SERVO_MID    3000             // 1.5 ms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pwm_value =	SERVO_MIN + (int32_t)pot_value*(SERVO_MAX-SERVO_MIN)/1023;</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TCCR1B |=  (1&lt;&lt;CS11);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1c9fe716f9_0_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1c9fe716f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#define TIMER1_TOP	 40000   	      // 20 ms </a:t>
            </a:r>
            <a:endParaRPr/>
          </a:p>
          <a:p>
            <a:pPr indent="0" lvl="0" marL="0" rtl="0" algn="l">
              <a:spcBef>
                <a:spcPts val="0"/>
              </a:spcBef>
              <a:spcAft>
                <a:spcPts val="0"/>
              </a:spcAft>
              <a:buClr>
                <a:schemeClr val="dk1"/>
              </a:buClr>
              <a:buSzPts val="1100"/>
              <a:buFont typeface="Arial"/>
              <a:buNone/>
            </a:pPr>
            <a:r>
              <a:rPr lang="en"/>
              <a:t>#define SERVO_MIN    2000             // 1 ms </a:t>
            </a:r>
            <a:endParaRPr/>
          </a:p>
          <a:p>
            <a:pPr indent="0" lvl="0" marL="0" rtl="0" algn="l">
              <a:spcBef>
                <a:spcPts val="0"/>
              </a:spcBef>
              <a:spcAft>
                <a:spcPts val="0"/>
              </a:spcAft>
              <a:buClr>
                <a:schemeClr val="dk1"/>
              </a:buClr>
              <a:buSzPts val="1100"/>
              <a:buFont typeface="Arial"/>
              <a:buNone/>
            </a:pPr>
            <a:r>
              <a:rPr lang="en"/>
              <a:t>#define SERVO_MAX    4000             // 2 ms</a:t>
            </a:r>
            <a:endParaRPr/>
          </a:p>
          <a:p>
            <a:pPr indent="0" lvl="0" marL="0" rtl="0" algn="l">
              <a:spcBef>
                <a:spcPts val="0"/>
              </a:spcBef>
              <a:spcAft>
                <a:spcPts val="0"/>
              </a:spcAft>
              <a:buClr>
                <a:schemeClr val="dk1"/>
              </a:buClr>
              <a:buSzPts val="1100"/>
              <a:buFont typeface="Arial"/>
              <a:buNone/>
            </a:pPr>
            <a:r>
              <a:rPr lang="en"/>
              <a:t>#define SERVO_MID    3000             // 1.5 ms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pwm_value =	SERVO_MIN + (int32_t)pot_value*(SERVO_MAX-SERVO_MIN)/1023;</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TCCR1B |=  (1&lt;&lt;CS11);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2fb4b293e76_0_1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2fb4b293e7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#define TIMER1_TOP	 40000   	      // 20 ms </a:t>
            </a:r>
            <a:endParaRPr/>
          </a:p>
          <a:p>
            <a:pPr indent="0" lvl="0" marL="0" rtl="0" algn="l">
              <a:spcBef>
                <a:spcPts val="0"/>
              </a:spcBef>
              <a:spcAft>
                <a:spcPts val="0"/>
              </a:spcAft>
              <a:buClr>
                <a:schemeClr val="dk1"/>
              </a:buClr>
              <a:buSzPts val="1100"/>
              <a:buFont typeface="Arial"/>
              <a:buNone/>
            </a:pPr>
            <a:r>
              <a:rPr lang="en"/>
              <a:t>#define SERVO_MIN    2000             // 1 ms </a:t>
            </a:r>
            <a:endParaRPr/>
          </a:p>
          <a:p>
            <a:pPr indent="0" lvl="0" marL="0" rtl="0" algn="l">
              <a:spcBef>
                <a:spcPts val="0"/>
              </a:spcBef>
              <a:spcAft>
                <a:spcPts val="0"/>
              </a:spcAft>
              <a:buClr>
                <a:schemeClr val="dk1"/>
              </a:buClr>
              <a:buSzPts val="1100"/>
              <a:buFont typeface="Arial"/>
              <a:buNone/>
            </a:pPr>
            <a:r>
              <a:rPr lang="en"/>
              <a:t>#define SERVO_MAX    4000             // 2 ms</a:t>
            </a:r>
            <a:endParaRPr/>
          </a:p>
          <a:p>
            <a:pPr indent="0" lvl="0" marL="0" rtl="0" algn="l">
              <a:spcBef>
                <a:spcPts val="0"/>
              </a:spcBef>
              <a:spcAft>
                <a:spcPts val="0"/>
              </a:spcAft>
              <a:buClr>
                <a:schemeClr val="dk1"/>
              </a:buClr>
              <a:buSzPts val="1100"/>
              <a:buFont typeface="Arial"/>
              <a:buNone/>
            </a:pPr>
            <a:r>
              <a:rPr lang="en"/>
              <a:t>#define SERVO_MID    3000             // 1.5 ms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pwm_value =	SERVO_MIN + (int32_t)pot_value*(SERVO_MAX-SERVO_MIN)/1023;</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TCCR1B |=  (1&lt;&lt;CS11);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9439f6f427_0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9439f6f42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9439f6f427_0_1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9439f6f42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Used to do this but kept running out of batteries. That's why we use our external power supply again, just like in the motor lab.</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9439f6f427_0_2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9439f6f427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Voltage regulator has 3 pins: Take a look at the datasheet. Pin 1 is power in, pin 2 (middle) is ground, pin 3 is power to the servo. Need those bypass capacitors. </a:t>
            </a:r>
            <a:endParaRPr/>
          </a:p>
          <a:p>
            <a:pPr indent="0" lvl="0" marL="0" rtl="0" algn="l">
              <a:spcBef>
                <a:spcPts val="0"/>
              </a:spcBef>
              <a:spcAft>
                <a:spcPts val="0"/>
              </a:spcAft>
              <a:buNone/>
            </a:pPr>
            <a:r>
              <a:rPr lang="en"/>
              <a:t>The yellow wire from the servo goes to the PWM pin. But don't wire that yet.</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9439f6f427_0_2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9439f6f427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9439f6f427_0_8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39439f6f427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533400" y="457200"/>
            <a:ext cx="7543800" cy="381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2800"/>
              <a:buNone/>
              <a:defRPr/>
            </a:lvl1pPr>
            <a:lvl2pPr lvl="1" algn="l">
              <a:spcBef>
                <a:spcPts val="0"/>
              </a:spcBef>
              <a:spcAft>
                <a:spcPts val="0"/>
              </a:spcAft>
              <a:buSzPts val="2800"/>
              <a:buNone/>
              <a:defRPr/>
            </a:lvl2pPr>
            <a:lvl3pPr lvl="2" algn="l">
              <a:spcBef>
                <a:spcPts val="0"/>
              </a:spcBef>
              <a:spcAft>
                <a:spcPts val="0"/>
              </a:spcAft>
              <a:buSzPts val="2800"/>
              <a:buNone/>
              <a:defRPr/>
            </a:lvl3pPr>
            <a:lvl4pPr lvl="3" algn="l">
              <a:spcBef>
                <a:spcPts val="0"/>
              </a:spcBef>
              <a:spcAft>
                <a:spcPts val="0"/>
              </a:spcAft>
              <a:buSzPts val="2800"/>
              <a:buNone/>
              <a:defRPr/>
            </a:lvl4pPr>
            <a:lvl5pPr lvl="4" algn="l">
              <a:spcBef>
                <a:spcPts val="0"/>
              </a:spcBef>
              <a:spcAft>
                <a:spcPts val="0"/>
              </a:spcAft>
              <a:buSzPts val="2800"/>
              <a:buNone/>
              <a:defRPr/>
            </a:lvl5pPr>
            <a:lvl6pPr lvl="5" algn="l">
              <a:spcBef>
                <a:spcPts val="0"/>
              </a:spcBef>
              <a:spcAft>
                <a:spcPts val="0"/>
              </a:spcAft>
              <a:buSzPts val="2800"/>
              <a:buNone/>
              <a:defRPr/>
            </a:lvl6pPr>
            <a:lvl7pPr lvl="6" algn="l">
              <a:spcBef>
                <a:spcPts val="0"/>
              </a:spcBef>
              <a:spcAft>
                <a:spcPts val="0"/>
              </a:spcAft>
              <a:buSzPts val="2800"/>
              <a:buNone/>
              <a:defRPr/>
            </a:lvl7pPr>
            <a:lvl8pPr lvl="7" algn="l">
              <a:spcBef>
                <a:spcPts val="0"/>
              </a:spcBef>
              <a:spcAft>
                <a:spcPts val="0"/>
              </a:spcAft>
              <a:buSzPts val="2800"/>
              <a:buNone/>
              <a:defRPr/>
            </a:lvl8pPr>
            <a:lvl9pPr lvl="8" algn="l">
              <a:spcBef>
                <a:spcPts val="0"/>
              </a:spcBef>
              <a:spcAft>
                <a:spcPts val="0"/>
              </a:spcAft>
              <a:buSzPts val="2800"/>
              <a:buNone/>
              <a:defRPr/>
            </a:lvl9pPr>
          </a:lstStyle>
          <a:p/>
        </p:txBody>
      </p:sp>
      <p:sp>
        <p:nvSpPr>
          <p:cNvPr id="52" name="Google Shape;52;p13"/>
          <p:cNvSpPr txBox="1"/>
          <p:nvPr>
            <p:ph idx="1" type="body"/>
          </p:nvPr>
        </p:nvSpPr>
        <p:spPr>
          <a:xfrm>
            <a:off x="533400" y="990600"/>
            <a:ext cx="8153400" cy="5105400"/>
          </a:xfrm>
          <a:prstGeom prst="rect">
            <a:avLst/>
          </a:prstGeom>
          <a:noFill/>
          <a:ln>
            <a:noFill/>
          </a:ln>
        </p:spPr>
        <p:txBody>
          <a:bodyPr anchorCtr="0" anchor="t" bIns="45700" lIns="91425" spcFirstLastPara="1" rIns="91425" wrap="square" tIns="45700">
            <a:noAutofit/>
          </a:bodyPr>
          <a:lstStyle>
            <a:lvl1pPr indent="-228600" lvl="0" marL="457200" algn="l">
              <a:spcBef>
                <a:spcPts val="360"/>
              </a:spcBef>
              <a:spcAft>
                <a:spcPts val="0"/>
              </a:spcAft>
              <a:buSzPts val="1800"/>
              <a:buNone/>
              <a:defRPr/>
            </a:lvl1pPr>
            <a:lvl2pPr indent="-228600" lvl="1" marL="914400" algn="l">
              <a:spcBef>
                <a:spcPts val="360"/>
              </a:spcBef>
              <a:spcAft>
                <a:spcPts val="0"/>
              </a:spcAft>
              <a:buSzPts val="1400"/>
              <a:buNone/>
              <a:defRPr/>
            </a:lvl2pPr>
            <a:lvl3pPr indent="-228600" lvl="2" marL="1371600" algn="l">
              <a:spcBef>
                <a:spcPts val="360"/>
              </a:spcBef>
              <a:spcAft>
                <a:spcPts val="0"/>
              </a:spcAft>
              <a:buSzPts val="1400"/>
              <a:buNone/>
              <a:defRPr/>
            </a:lvl3pPr>
            <a:lvl4pPr indent="-228600" lvl="3" marL="1828800" algn="l">
              <a:spcBef>
                <a:spcPts val="360"/>
              </a:spcBef>
              <a:spcAft>
                <a:spcPts val="0"/>
              </a:spcAft>
              <a:buSzPts val="1400"/>
              <a:buNone/>
              <a:defRPr/>
            </a:lvl4pPr>
            <a:lvl5pPr indent="-228600" lvl="4" marL="2286000" algn="l">
              <a:spcBef>
                <a:spcPts val="360"/>
              </a:spcBef>
              <a:spcAft>
                <a:spcPts val="0"/>
              </a:spcAft>
              <a:buSzPts val="1400"/>
              <a:buNone/>
              <a:defRPr/>
            </a:lvl5pPr>
            <a:lvl6pPr indent="-228600" lvl="5" marL="2743200" algn="l">
              <a:spcBef>
                <a:spcPts val="360"/>
              </a:spcBef>
              <a:spcAft>
                <a:spcPts val="0"/>
              </a:spcAft>
              <a:buSzPts val="1400"/>
              <a:buNone/>
              <a:defRPr/>
            </a:lvl6pPr>
            <a:lvl7pPr indent="-228600" lvl="6" marL="3200400" algn="l">
              <a:spcBef>
                <a:spcPts val="360"/>
              </a:spcBef>
              <a:spcAft>
                <a:spcPts val="0"/>
              </a:spcAft>
              <a:buSzPts val="1400"/>
              <a:buNone/>
              <a:defRPr/>
            </a:lvl7pPr>
            <a:lvl8pPr indent="-228600" lvl="7" marL="3657600" algn="l">
              <a:spcBef>
                <a:spcPts val="360"/>
              </a:spcBef>
              <a:spcAft>
                <a:spcPts val="0"/>
              </a:spcAft>
              <a:buSzPts val="1400"/>
              <a:buNone/>
              <a:defRPr/>
            </a:lvl8pPr>
            <a:lvl9pPr indent="-228600" lvl="8" marL="4114800" algn="l">
              <a:spcBef>
                <a:spcPts val="360"/>
              </a:spcBef>
              <a:spcAft>
                <a:spcPts val="0"/>
              </a:spcAft>
              <a:buSzPts val="1400"/>
              <a:buNone/>
              <a:defRPr/>
            </a:lvl9pPr>
          </a:lstStyle>
          <a:p/>
        </p:txBody>
      </p:sp>
      <p:sp>
        <p:nvSpPr>
          <p:cNvPr id="53" name="Google Shape;53;p13"/>
          <p:cNvSpPr txBox="1"/>
          <p:nvPr>
            <p:ph idx="10" type="dt"/>
          </p:nvPr>
        </p:nvSpPr>
        <p:spPr>
          <a:xfrm>
            <a:off x="533400" y="6248400"/>
            <a:ext cx="1905000" cy="304800"/>
          </a:xfrm>
          <a:prstGeom prst="rect">
            <a:avLst/>
          </a:prstGeom>
          <a:noFill/>
          <a:ln>
            <a:noFill/>
          </a:ln>
        </p:spPr>
        <p:txBody>
          <a:bodyPr anchorCtr="0" anchor="t" bIns="45700" lIns="91425" spcFirstLastPara="1" rIns="91425" wrap="square" tIns="45700">
            <a:noAutofit/>
          </a:bodyPr>
          <a:lstStyle>
            <a:lvl1pPr lvl="0" algn="l">
              <a:spcBef>
                <a:spcPts val="6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3"/>
          <p:cNvSpPr txBox="1"/>
          <p:nvPr>
            <p:ph idx="12" type="sldNum"/>
          </p:nvPr>
        </p:nvSpPr>
        <p:spPr>
          <a:xfrm>
            <a:off x="6781800" y="6248400"/>
            <a:ext cx="1905000" cy="3048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1pPr>
            <a:lvl2pPr indent="0" lvl="1"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2pPr>
            <a:lvl3pPr indent="0" lvl="2"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3pPr>
            <a:lvl4pPr indent="0" lvl="3"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4pPr>
            <a:lvl5pPr indent="0" lvl="4"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5pPr>
            <a:lvl6pPr indent="0" lvl="5"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6pPr>
            <a:lvl7pPr indent="0" lvl="6"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7pPr>
            <a:lvl8pPr indent="0" lvl="7"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8pPr>
            <a:lvl9pPr indent="0" lvl="8"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9pPr>
          </a:lstStyle>
          <a:p>
            <a:pPr indent="0" lvl="0" marL="0" rtl="0" algn="r">
              <a:spcBef>
                <a:spcPts val="0"/>
              </a:spcBef>
              <a:spcAft>
                <a:spcPts val="0"/>
              </a:spcAft>
              <a:buNone/>
            </a:pPr>
            <a:r>
              <a:rPr lang="en"/>
              <a:t>23.</a:t>
            </a: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7.png"/><Relationship Id="rId5" Type="http://schemas.openxmlformats.org/officeDocument/2006/relationships/image" Target="../media/image2.png"/><Relationship Id="rId6" Type="http://schemas.openxmlformats.org/officeDocument/2006/relationships/image" Target="../media/image11.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3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3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0.png"/><Relationship Id="rId4" Type="http://schemas.openxmlformats.org/officeDocument/2006/relationships/image" Target="../media/image21.png"/><Relationship Id="rId5"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23.png"/><Relationship Id="rId5" Type="http://schemas.openxmlformats.org/officeDocument/2006/relationships/image" Target="../media/image4.png"/><Relationship Id="rId6" Type="http://schemas.openxmlformats.org/officeDocument/2006/relationships/image" Target="../media/image16.png"/><Relationship Id="rId7" Type="http://schemas.openxmlformats.org/officeDocument/2006/relationships/image" Target="../media/image14.png"/><Relationship Id="rId8"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3.png"/><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9.png"/><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2.png"/><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nvSpPr>
        <p:spPr>
          <a:xfrm>
            <a:off x="311708" y="992767"/>
            <a:ext cx="8520600" cy="27369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3000">
                <a:solidFill>
                  <a:srgbClr val="000000"/>
                </a:solidFill>
                <a:latin typeface="Comic Sans MS"/>
                <a:ea typeface="Comic Sans MS"/>
                <a:cs typeface="Comic Sans MS"/>
                <a:sym typeface="Comic Sans MS"/>
              </a:rPr>
              <a:t>Engs </a:t>
            </a:r>
            <a:r>
              <a:rPr lang="en" sz="3000">
                <a:latin typeface="Comic Sans MS"/>
                <a:ea typeface="Comic Sans MS"/>
                <a:cs typeface="Comic Sans MS"/>
                <a:sym typeface="Comic Sans MS"/>
              </a:rPr>
              <a:t>28</a:t>
            </a:r>
            <a:endParaRPr sz="3000">
              <a:solidFill>
                <a:srgbClr val="000000"/>
              </a:solidFill>
              <a:latin typeface="Comic Sans MS"/>
              <a:ea typeface="Comic Sans MS"/>
              <a:cs typeface="Comic Sans MS"/>
              <a:sym typeface="Comic Sans MS"/>
            </a:endParaRPr>
          </a:p>
          <a:p>
            <a:pPr indent="0" lvl="0" marL="0" rtl="0" algn="ctr">
              <a:spcBef>
                <a:spcPts val="0"/>
              </a:spcBef>
              <a:spcAft>
                <a:spcPts val="0"/>
              </a:spcAft>
              <a:buNone/>
            </a:pPr>
            <a:r>
              <a:rPr lang="en" sz="5200">
                <a:solidFill>
                  <a:srgbClr val="000000"/>
                </a:solidFill>
                <a:latin typeface="Comic Sans MS"/>
                <a:ea typeface="Comic Sans MS"/>
                <a:cs typeface="Comic Sans MS"/>
                <a:sym typeface="Comic Sans MS"/>
              </a:rPr>
              <a:t>Embedded Systems</a:t>
            </a:r>
            <a:endParaRPr sz="5200">
              <a:solidFill>
                <a:srgbClr val="000000"/>
              </a:solidFill>
              <a:latin typeface="Comic Sans MS"/>
              <a:ea typeface="Comic Sans MS"/>
              <a:cs typeface="Comic Sans MS"/>
              <a:sym typeface="Comic Sans MS"/>
            </a:endParaRPr>
          </a:p>
        </p:txBody>
      </p:sp>
      <p:sp>
        <p:nvSpPr>
          <p:cNvPr id="60" name="Google Shape;60;p14"/>
          <p:cNvSpPr txBox="1"/>
          <p:nvPr/>
        </p:nvSpPr>
        <p:spPr>
          <a:xfrm>
            <a:off x="311700" y="4128267"/>
            <a:ext cx="8520600" cy="105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800">
                <a:solidFill>
                  <a:srgbClr val="595959"/>
                </a:solidFill>
                <a:latin typeface="Comic Sans MS"/>
                <a:ea typeface="Comic Sans MS"/>
                <a:cs typeface="Comic Sans MS"/>
                <a:sym typeface="Comic Sans MS"/>
              </a:rPr>
              <a:t>Day 15 </a:t>
            </a:r>
            <a:endParaRPr sz="2800">
              <a:solidFill>
                <a:srgbClr val="595959"/>
              </a:solidFill>
              <a:latin typeface="Comic Sans MS"/>
              <a:ea typeface="Comic Sans MS"/>
              <a:cs typeface="Comic Sans MS"/>
              <a:sym typeface="Comic Sans MS"/>
            </a:endParaRPr>
          </a:p>
        </p:txBody>
      </p:sp>
      <p:pic>
        <p:nvPicPr>
          <p:cNvPr id="61" name="Google Shape;61;p14"/>
          <p:cNvPicPr preferRelativeResize="0"/>
          <p:nvPr/>
        </p:nvPicPr>
        <p:blipFill>
          <a:blip r:embed="rId3">
            <a:alphaModFix/>
          </a:blip>
          <a:stretch>
            <a:fillRect/>
          </a:stretch>
        </p:blipFill>
        <p:spPr>
          <a:xfrm>
            <a:off x="525637" y="395688"/>
            <a:ext cx="1103550" cy="1334750"/>
          </a:xfrm>
          <a:prstGeom prst="rect">
            <a:avLst/>
          </a:prstGeom>
          <a:noFill/>
          <a:ln>
            <a:noFill/>
          </a:ln>
        </p:spPr>
      </p:pic>
      <p:pic>
        <p:nvPicPr>
          <p:cNvPr id="62" name="Google Shape;62;p14"/>
          <p:cNvPicPr preferRelativeResize="0"/>
          <p:nvPr/>
        </p:nvPicPr>
        <p:blipFill rotWithShape="1">
          <a:blip r:embed="rId4">
            <a:alphaModFix/>
          </a:blip>
          <a:srcRect b="0" l="0" r="0" t="0"/>
          <a:stretch/>
        </p:blipFill>
        <p:spPr>
          <a:xfrm>
            <a:off x="7094700" y="61000"/>
            <a:ext cx="1543875" cy="2126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68" name="Google Shape;68;p15"/>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Final Project Survey (please complete by 4pm TODAY - see Canvas)</a:t>
            </a:r>
            <a:endParaRPr/>
          </a:p>
          <a:p>
            <a:pPr indent="0" lvl="0" marL="0" rtl="0" algn="l">
              <a:spcBef>
                <a:spcPts val="1600"/>
              </a:spcBef>
              <a:spcAft>
                <a:spcPts val="0"/>
              </a:spcAft>
              <a:buClr>
                <a:schemeClr val="dk1"/>
              </a:buClr>
              <a:buSzPts val="1100"/>
              <a:buFont typeface="Arial"/>
              <a:buNone/>
            </a:pPr>
            <a:r>
              <a:rPr lang="en"/>
              <a:t>Servomotors (Williams, Chapter 11)</a:t>
            </a:r>
            <a:endParaRPr/>
          </a:p>
          <a:p>
            <a:pPr indent="0" lvl="0" marL="0" rtl="0" algn="l">
              <a:spcBef>
                <a:spcPts val="1600"/>
              </a:spcBef>
              <a:spcAft>
                <a:spcPts val="0"/>
              </a:spcAft>
              <a:buNone/>
            </a:pPr>
            <a:r>
              <a:rPr lang="en"/>
              <a:t>Photosensors (Williams, pp 129-133) — Thursday</a:t>
            </a:r>
            <a:endParaRPr/>
          </a:p>
          <a:p>
            <a:pPr indent="0" lvl="0" marL="0" rtl="0" algn="l">
              <a:spcBef>
                <a:spcPts val="1600"/>
              </a:spcBef>
              <a:spcAft>
                <a:spcPts val="0"/>
              </a:spcAft>
              <a:buNone/>
            </a:pPr>
            <a:r>
              <a:rPr lang="en">
                <a:solidFill>
                  <a:schemeClr val="dk1"/>
                </a:solidFill>
              </a:rPr>
              <a:t>You will need today:</a:t>
            </a:r>
            <a:endParaRPr>
              <a:solidFill>
                <a:schemeClr val="dk1"/>
              </a:solidFill>
            </a:endParaRPr>
          </a:p>
          <a:p>
            <a:pPr indent="-342900" lvl="0" marL="457200" rtl="0" algn="l">
              <a:spcBef>
                <a:spcPts val="1000"/>
              </a:spcBef>
              <a:spcAft>
                <a:spcPts val="0"/>
              </a:spcAft>
              <a:buClr>
                <a:schemeClr val="dk1"/>
              </a:buClr>
              <a:buSzPts val="1800"/>
              <a:buChar char="●"/>
            </a:pPr>
            <a:r>
              <a:rPr lang="en">
                <a:solidFill>
                  <a:schemeClr val="dk1"/>
                </a:solidFill>
              </a:rPr>
              <a:t>Nucleo &amp; </a:t>
            </a:r>
            <a:r>
              <a:rPr lang="en">
                <a:solidFill>
                  <a:schemeClr val="dk1"/>
                </a:solidFill>
              </a:rPr>
              <a:t>breadboard</a:t>
            </a:r>
            <a:endParaRPr>
              <a:solidFill>
                <a:schemeClr val="dk1"/>
              </a:solidFill>
            </a:endParaRPr>
          </a:p>
          <a:p>
            <a:pPr indent="-342900" lvl="0" marL="457200" rtl="0" algn="l">
              <a:spcBef>
                <a:spcPts val="1000"/>
              </a:spcBef>
              <a:spcAft>
                <a:spcPts val="0"/>
              </a:spcAft>
              <a:buClr>
                <a:schemeClr val="dk1"/>
              </a:buClr>
              <a:buSzPts val="1800"/>
              <a:buChar char="●"/>
            </a:pPr>
            <a:r>
              <a:rPr lang="en">
                <a:solidFill>
                  <a:schemeClr val="dk1"/>
                </a:solidFill>
              </a:rPr>
              <a:t>AD2</a:t>
            </a:r>
            <a:endParaRPr>
              <a:solidFill>
                <a:schemeClr val="dk1"/>
              </a:solidFill>
            </a:endParaRPr>
          </a:p>
          <a:p>
            <a:pPr indent="-342900" lvl="0" marL="457200" rtl="0" algn="l">
              <a:spcBef>
                <a:spcPts val="1000"/>
              </a:spcBef>
              <a:spcAft>
                <a:spcPts val="0"/>
              </a:spcAft>
              <a:buClr>
                <a:schemeClr val="dk1"/>
              </a:buClr>
              <a:buSzPts val="1800"/>
              <a:buChar char="●"/>
            </a:pPr>
            <a:r>
              <a:rPr lang="en">
                <a:solidFill>
                  <a:schemeClr val="dk1"/>
                </a:solidFill>
              </a:rPr>
              <a:t>Power supply</a:t>
            </a:r>
            <a:endParaRPr>
              <a:solidFill>
                <a:schemeClr val="dk1"/>
              </a:solidFill>
            </a:endParaRPr>
          </a:p>
          <a:p>
            <a:pPr indent="-342900" lvl="0" marL="457200" rtl="0" algn="l">
              <a:spcBef>
                <a:spcPts val="1000"/>
              </a:spcBef>
              <a:spcAft>
                <a:spcPts val="0"/>
              </a:spcAft>
              <a:buClr>
                <a:schemeClr val="dk1"/>
              </a:buClr>
              <a:buSzPts val="1800"/>
              <a:buChar char="●"/>
            </a:pPr>
            <a:r>
              <a:rPr lang="en">
                <a:solidFill>
                  <a:schemeClr val="dk1"/>
                </a:solidFill>
              </a:rPr>
              <a:t>Potentiometer</a:t>
            </a:r>
            <a:endParaRPr>
              <a:solidFill>
                <a:schemeClr val="dk1"/>
              </a:solidFill>
            </a:endParaRPr>
          </a:p>
          <a:p>
            <a:pPr indent="-342900" lvl="0" marL="457200" rtl="0" algn="l">
              <a:spcBef>
                <a:spcPts val="1000"/>
              </a:spcBef>
              <a:spcAft>
                <a:spcPts val="0"/>
              </a:spcAft>
              <a:buClr>
                <a:schemeClr val="dk1"/>
              </a:buClr>
              <a:buSzPts val="1800"/>
              <a:buChar char="●"/>
            </a:pPr>
            <a:r>
              <a:rPr lang="en">
                <a:solidFill>
                  <a:schemeClr val="dk1"/>
                </a:solidFill>
              </a:rPr>
              <a:t>Servomotor</a:t>
            </a:r>
            <a:endParaRPr>
              <a:solidFill>
                <a:schemeClr val="dk1"/>
              </a:solidFill>
            </a:endParaRPr>
          </a:p>
          <a:p>
            <a:pPr indent="-342900" lvl="0" marL="457200" rtl="0" algn="l">
              <a:spcBef>
                <a:spcPts val="1000"/>
              </a:spcBef>
              <a:spcAft>
                <a:spcPts val="0"/>
              </a:spcAft>
              <a:buClr>
                <a:schemeClr val="dk1"/>
              </a:buClr>
              <a:buSzPts val="1800"/>
              <a:buChar char="●"/>
            </a:pPr>
            <a:r>
              <a:rPr lang="en">
                <a:solidFill>
                  <a:schemeClr val="dk1"/>
                </a:solidFill>
              </a:rPr>
              <a:t>Power board</a:t>
            </a:r>
            <a:endParaRPr>
              <a:solidFill>
                <a:schemeClr val="dk1"/>
              </a:solidFill>
            </a:endParaRPr>
          </a:p>
          <a:p>
            <a:pPr indent="0" lvl="0" marL="0" rtl="0" algn="l">
              <a:spcBef>
                <a:spcPts val="0"/>
              </a:spcBef>
              <a:spcAft>
                <a:spcPts val="16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Project Survey: Due Today</a:t>
            </a:r>
            <a:endParaRPr/>
          </a:p>
        </p:txBody>
      </p:sp>
      <p:pic>
        <p:nvPicPr>
          <p:cNvPr id="74" name="Google Shape;74;p16"/>
          <p:cNvPicPr preferRelativeResize="0"/>
          <p:nvPr/>
        </p:nvPicPr>
        <p:blipFill rotWithShape="1">
          <a:blip r:embed="rId3">
            <a:alphaModFix/>
          </a:blip>
          <a:srcRect b="56755" l="0" r="0" t="0"/>
          <a:stretch/>
        </p:blipFill>
        <p:spPr>
          <a:xfrm>
            <a:off x="0" y="1509275"/>
            <a:ext cx="9144002" cy="19197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Servomotors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p:nvPr/>
        </p:nvSpPr>
        <p:spPr>
          <a:xfrm>
            <a:off x="4758475" y="4433025"/>
            <a:ext cx="3330000" cy="557700"/>
          </a:xfrm>
          <a:prstGeom prst="rect">
            <a:avLst/>
          </a:prstGeom>
          <a:noFill/>
          <a:ln cap="flat" cmpd="sng" w="28575">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Review: DC permanent magnet motor</a:t>
            </a:r>
            <a:endParaRPr sz="1800"/>
          </a:p>
        </p:txBody>
      </p:sp>
      <p:pic>
        <p:nvPicPr>
          <p:cNvPr id="86" name="Google Shape;86;p18"/>
          <p:cNvPicPr preferRelativeResize="0"/>
          <p:nvPr/>
        </p:nvPicPr>
        <p:blipFill>
          <a:blip r:embed="rId3">
            <a:alphaModFix/>
          </a:blip>
          <a:stretch>
            <a:fillRect/>
          </a:stretch>
        </p:blipFill>
        <p:spPr>
          <a:xfrm>
            <a:off x="228600" y="1356876"/>
            <a:ext cx="2057400" cy="2057400"/>
          </a:xfrm>
          <a:prstGeom prst="rect">
            <a:avLst/>
          </a:prstGeom>
          <a:noFill/>
          <a:ln>
            <a:noFill/>
          </a:ln>
        </p:spPr>
      </p:pic>
      <p:pic>
        <p:nvPicPr>
          <p:cNvPr id="87" name="Google Shape;87;p18"/>
          <p:cNvPicPr preferRelativeResize="0"/>
          <p:nvPr/>
        </p:nvPicPr>
        <p:blipFill>
          <a:blip r:embed="rId4">
            <a:alphaModFix/>
          </a:blip>
          <a:stretch>
            <a:fillRect/>
          </a:stretch>
        </p:blipFill>
        <p:spPr>
          <a:xfrm>
            <a:off x="2374392" y="1356876"/>
            <a:ext cx="2057400" cy="2057400"/>
          </a:xfrm>
          <a:prstGeom prst="rect">
            <a:avLst/>
          </a:prstGeom>
          <a:noFill/>
          <a:ln>
            <a:noFill/>
          </a:ln>
        </p:spPr>
      </p:pic>
      <p:pic>
        <p:nvPicPr>
          <p:cNvPr id="88" name="Google Shape;88;p18"/>
          <p:cNvPicPr preferRelativeResize="0"/>
          <p:nvPr/>
        </p:nvPicPr>
        <p:blipFill>
          <a:blip r:embed="rId5">
            <a:alphaModFix/>
          </a:blip>
          <a:stretch>
            <a:fillRect/>
          </a:stretch>
        </p:blipFill>
        <p:spPr>
          <a:xfrm>
            <a:off x="4532829" y="1356876"/>
            <a:ext cx="2057400" cy="2057400"/>
          </a:xfrm>
          <a:prstGeom prst="rect">
            <a:avLst/>
          </a:prstGeom>
          <a:noFill/>
          <a:ln>
            <a:noFill/>
          </a:ln>
        </p:spPr>
      </p:pic>
      <p:pic>
        <p:nvPicPr>
          <p:cNvPr id="89" name="Google Shape;89;p18"/>
          <p:cNvPicPr preferRelativeResize="0"/>
          <p:nvPr/>
        </p:nvPicPr>
        <p:blipFill>
          <a:blip r:embed="rId6">
            <a:alphaModFix/>
          </a:blip>
          <a:stretch>
            <a:fillRect/>
          </a:stretch>
        </p:blipFill>
        <p:spPr>
          <a:xfrm>
            <a:off x="6691266" y="1356876"/>
            <a:ext cx="2057400" cy="2057400"/>
          </a:xfrm>
          <a:prstGeom prst="rect">
            <a:avLst/>
          </a:prstGeom>
          <a:noFill/>
          <a:ln>
            <a:noFill/>
          </a:ln>
        </p:spPr>
      </p:pic>
      <p:sp>
        <p:nvSpPr>
          <p:cNvPr id="90" name="Google Shape;90;p18"/>
          <p:cNvSpPr txBox="1"/>
          <p:nvPr/>
        </p:nvSpPr>
        <p:spPr>
          <a:xfrm>
            <a:off x="443925" y="3670875"/>
            <a:ext cx="3741900" cy="124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Electric current flowing through </a:t>
            </a:r>
            <a:r>
              <a:rPr i="1" lang="en"/>
              <a:t>brushes</a:t>
            </a:r>
            <a:r>
              <a:rPr lang="en"/>
              <a:t> into </a:t>
            </a:r>
            <a:r>
              <a:rPr i="1" lang="en"/>
              <a:t>armature</a:t>
            </a:r>
            <a:r>
              <a:rPr lang="en"/>
              <a:t> coils creates a magnetic field.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Repulsion by field from </a:t>
            </a:r>
            <a:r>
              <a:rPr i="1" lang="en"/>
              <a:t>permanent magnets</a:t>
            </a:r>
            <a:r>
              <a:rPr lang="en"/>
              <a:t> causes armature to rotate.</a:t>
            </a:r>
            <a:endParaRPr/>
          </a:p>
        </p:txBody>
      </p:sp>
      <p:sp>
        <p:nvSpPr>
          <p:cNvPr id="91" name="Google Shape;91;p18"/>
          <p:cNvSpPr txBox="1"/>
          <p:nvPr/>
        </p:nvSpPr>
        <p:spPr>
          <a:xfrm>
            <a:off x="4822100" y="3670875"/>
            <a:ext cx="3831600" cy="225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Current flow is reversed via </a:t>
            </a:r>
            <a:r>
              <a:rPr i="1" lang="en"/>
              <a:t>commutator </a:t>
            </a:r>
            <a:r>
              <a:rPr lang="en"/>
              <a:t>so the armature continues to be repelled by magnets and keeps rotating.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rgbClr val="0000FF"/>
                </a:solidFill>
              </a:rPr>
              <a:t>Motor torque is proportional to current.</a:t>
            </a:r>
            <a:r>
              <a:rPr lang="en">
                <a:solidFill>
                  <a:srgbClr val="980000"/>
                </a:solidFill>
              </a:rPr>
              <a:t>  </a:t>
            </a:r>
            <a:endParaRPr>
              <a:solidFill>
                <a:srgbClr val="980000"/>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Armature rotating in magnetic field generates a “back emf” proportional to speed.  When back emf = applied voltage, motor is at equilibrium speed.</a:t>
            </a:r>
            <a:endParaRPr/>
          </a:p>
        </p:txBody>
      </p:sp>
      <p:sp>
        <p:nvSpPr>
          <p:cNvPr id="92" name="Google Shape;92;p18"/>
          <p:cNvSpPr txBox="1"/>
          <p:nvPr/>
        </p:nvSpPr>
        <p:spPr>
          <a:xfrm>
            <a:off x="4740825" y="6186475"/>
            <a:ext cx="4225800" cy="55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Ref: Wikipedia, “Brushed DC Electric Motor”</a:t>
            </a:r>
            <a:endParaRPr sz="1200">
              <a:solidFill>
                <a:schemeClr val="dk1"/>
              </a:solidFill>
            </a:endParaRPr>
          </a:p>
          <a:p>
            <a:pPr indent="0" lvl="0" marL="0" rtl="0" algn="l">
              <a:spcBef>
                <a:spcPts val="0"/>
              </a:spcBef>
              <a:spcAft>
                <a:spcPts val="0"/>
              </a:spcAft>
              <a:buNone/>
            </a:pPr>
            <a:r>
              <a:rPr lang="en" sz="1200">
                <a:solidFill>
                  <a:schemeClr val="dk1"/>
                </a:solidFill>
              </a:rPr>
              <a:t>https://en.wikipedia.org/wiki/Brushed_DC_electric_motor</a:t>
            </a:r>
            <a:endParaRPr sz="1200"/>
          </a:p>
        </p:txBody>
      </p:sp>
      <p:sp>
        <p:nvSpPr>
          <p:cNvPr id="93" name="Google Shape;93;p18"/>
          <p:cNvSpPr txBox="1"/>
          <p:nvPr/>
        </p:nvSpPr>
        <p:spPr>
          <a:xfrm>
            <a:off x="443925" y="5164875"/>
            <a:ext cx="2698200" cy="75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See </a:t>
            </a:r>
            <a:r>
              <a:rPr lang="en">
                <a:solidFill>
                  <a:schemeClr val="dk1"/>
                </a:solidFill>
              </a:rPr>
              <a:t>Williams, "DC Motors" section in Chapter 14 "Switches".</a:t>
            </a:r>
            <a:r>
              <a:rPr lang="en">
                <a:solidFill>
                  <a:srgbClr val="CC0000"/>
                </a:solidFill>
              </a:rPr>
              <a:t>  </a:t>
            </a:r>
            <a:endParaRPr>
              <a:solidFill>
                <a:srgbClr val="CC0000"/>
              </a:solidFill>
            </a:endParaRPr>
          </a:p>
        </p:txBody>
      </p:sp>
      <p:sp>
        <p:nvSpPr>
          <p:cNvPr id="94" name="Google Shape;94;p18"/>
          <p:cNvSpPr txBox="1"/>
          <p:nvPr/>
        </p:nvSpPr>
        <p:spPr>
          <a:xfrm>
            <a:off x="3172050" y="5350175"/>
            <a:ext cx="1107300" cy="831300"/>
          </a:xfrm>
          <a:prstGeom prst="rect">
            <a:avLst/>
          </a:prstGeom>
          <a:noFill/>
          <a:ln cap="flat" cmpd="sng" w="28575">
            <a:solidFill>
              <a:srgbClr val="00FF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0000FF"/>
                </a:solidFill>
              </a:rPr>
              <a:t>Key fact we need going </a:t>
            </a:r>
            <a:r>
              <a:rPr lang="en">
                <a:solidFill>
                  <a:srgbClr val="0000FF"/>
                </a:solidFill>
              </a:rPr>
              <a:t>forward</a:t>
            </a:r>
            <a:r>
              <a:rPr lang="en">
                <a:solidFill>
                  <a:srgbClr val="0000FF"/>
                </a:solidFill>
              </a:rPr>
              <a:t>.</a:t>
            </a:r>
            <a:endParaRPr>
              <a:solidFill>
                <a:srgbClr val="0000FF"/>
              </a:solidFill>
            </a:endParaRPr>
          </a:p>
        </p:txBody>
      </p:sp>
      <p:cxnSp>
        <p:nvCxnSpPr>
          <p:cNvPr id="95" name="Google Shape;95;p18"/>
          <p:cNvCxnSpPr>
            <a:stCxn id="94" idx="0"/>
            <a:endCxn id="91" idx="1"/>
          </p:cNvCxnSpPr>
          <p:nvPr/>
        </p:nvCxnSpPr>
        <p:spPr>
          <a:xfrm flipH="1" rot="10800000">
            <a:off x="3725700" y="4797575"/>
            <a:ext cx="1096500" cy="552600"/>
          </a:xfrm>
          <a:prstGeom prst="straightConnector1">
            <a:avLst/>
          </a:prstGeom>
          <a:noFill/>
          <a:ln cap="flat" cmpd="sng" w="28575">
            <a:solidFill>
              <a:srgbClr val="00FFFF"/>
            </a:solidFill>
            <a:prstDash val="solid"/>
            <a:round/>
            <a:headEnd len="med" w="med"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a </a:t>
            </a:r>
            <a:r>
              <a:rPr b="1" lang="en"/>
              <a:t>servo</a:t>
            </a:r>
            <a:r>
              <a:rPr lang="en"/>
              <a:t>motor?</a:t>
            </a:r>
            <a:endParaRPr/>
          </a:p>
        </p:txBody>
      </p:sp>
      <p:pic>
        <p:nvPicPr>
          <p:cNvPr id="101" name="Google Shape;101;p19"/>
          <p:cNvPicPr preferRelativeResize="0"/>
          <p:nvPr/>
        </p:nvPicPr>
        <p:blipFill>
          <a:blip r:embed="rId3">
            <a:alphaModFix/>
          </a:blip>
          <a:stretch>
            <a:fillRect/>
          </a:stretch>
        </p:blipFill>
        <p:spPr>
          <a:xfrm>
            <a:off x="1680550" y="1479625"/>
            <a:ext cx="7154501" cy="4665324"/>
          </a:xfrm>
          <a:prstGeom prst="rect">
            <a:avLst/>
          </a:prstGeom>
          <a:noFill/>
          <a:ln>
            <a:noFill/>
          </a:ln>
        </p:spPr>
      </p:pic>
      <p:sp>
        <p:nvSpPr>
          <p:cNvPr id="102" name="Google Shape;102;p19"/>
          <p:cNvSpPr txBox="1"/>
          <p:nvPr/>
        </p:nvSpPr>
        <p:spPr>
          <a:xfrm>
            <a:off x="311700" y="6337500"/>
            <a:ext cx="8707200" cy="41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200"/>
              <a:t>https://howtomechatronics.com/how-it-works/how-servo-motors-work-how-to-control-servos-using-arduino/</a:t>
            </a:r>
            <a:endParaRPr i="1" sz="1200"/>
          </a:p>
        </p:txBody>
      </p:sp>
      <p:sp>
        <p:nvSpPr>
          <p:cNvPr id="103" name="Google Shape;103;p19"/>
          <p:cNvSpPr txBox="1"/>
          <p:nvPr/>
        </p:nvSpPr>
        <p:spPr>
          <a:xfrm>
            <a:off x="6386800" y="1497625"/>
            <a:ext cx="2442900" cy="974100"/>
          </a:xfrm>
          <a:prstGeom prst="rect">
            <a:avLst/>
          </a:prstGeom>
          <a:solidFill>
            <a:srgbClr val="FFFFFF"/>
          </a:solidFill>
          <a:ln cap="flat" cmpd="sng" w="28575">
            <a:solidFill>
              <a:srgbClr val="00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0000FF"/>
                </a:solidFill>
              </a:rPr>
              <a:t>Potentiometer senses the motor position and provides feedback to the motor control electronics.</a:t>
            </a:r>
            <a:endParaRPr i="1">
              <a:solidFill>
                <a:srgbClr val="0000FF"/>
              </a:solidFill>
            </a:endParaRPr>
          </a:p>
        </p:txBody>
      </p:sp>
      <p:sp>
        <p:nvSpPr>
          <p:cNvPr id="104" name="Google Shape;104;p19"/>
          <p:cNvSpPr txBox="1"/>
          <p:nvPr/>
        </p:nvSpPr>
        <p:spPr>
          <a:xfrm>
            <a:off x="83325" y="4895775"/>
            <a:ext cx="3325200" cy="1145100"/>
          </a:xfrm>
          <a:prstGeom prst="rect">
            <a:avLst/>
          </a:prstGeom>
          <a:solidFill>
            <a:srgbClr val="FFFFFF"/>
          </a:solidFill>
          <a:ln cap="flat" cmpd="sng" w="28575">
            <a:solidFill>
              <a:srgbClr val="00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0000FF"/>
                </a:solidFill>
              </a:rPr>
              <a:t>Through a gear train, power = torque × angular velocity is (except for friction) conserved:</a:t>
            </a:r>
            <a:endParaRPr i="1">
              <a:solidFill>
                <a:srgbClr val="0000FF"/>
              </a:solidFill>
            </a:endParaRPr>
          </a:p>
          <a:p>
            <a:pPr indent="0" lvl="0" marL="0" rtl="0" algn="ctr">
              <a:spcBef>
                <a:spcPts val="0"/>
              </a:spcBef>
              <a:spcAft>
                <a:spcPts val="0"/>
              </a:spcAft>
              <a:buNone/>
            </a:pPr>
            <a:r>
              <a:rPr lang="en" sz="1800">
                <a:solidFill>
                  <a:srgbClr val="0000FF"/>
                </a:solidFill>
              </a:rPr>
              <a:t>𝝉</a:t>
            </a:r>
            <a:r>
              <a:rPr baseline="-25000" lang="en" sz="1800">
                <a:solidFill>
                  <a:srgbClr val="0000FF"/>
                </a:solidFill>
              </a:rPr>
              <a:t>in</a:t>
            </a:r>
            <a:r>
              <a:rPr lang="en" sz="1800">
                <a:solidFill>
                  <a:srgbClr val="0000FF"/>
                </a:solidFill>
              </a:rPr>
              <a:t> 𝝎</a:t>
            </a:r>
            <a:r>
              <a:rPr baseline="-25000" lang="en" sz="1800">
                <a:solidFill>
                  <a:srgbClr val="0000FF"/>
                </a:solidFill>
              </a:rPr>
              <a:t>in</a:t>
            </a:r>
            <a:r>
              <a:rPr lang="en" sz="1800">
                <a:solidFill>
                  <a:srgbClr val="0000FF"/>
                </a:solidFill>
              </a:rPr>
              <a:t> ≈ </a:t>
            </a:r>
            <a:r>
              <a:rPr lang="en" sz="1800">
                <a:solidFill>
                  <a:srgbClr val="0000FF"/>
                </a:solidFill>
              </a:rPr>
              <a:t>𝝉</a:t>
            </a:r>
            <a:r>
              <a:rPr baseline="-25000" lang="en" sz="1800">
                <a:solidFill>
                  <a:srgbClr val="0000FF"/>
                </a:solidFill>
              </a:rPr>
              <a:t>out</a:t>
            </a:r>
            <a:r>
              <a:rPr lang="en" sz="1800">
                <a:solidFill>
                  <a:srgbClr val="0000FF"/>
                </a:solidFill>
              </a:rPr>
              <a:t> 𝝎</a:t>
            </a:r>
            <a:r>
              <a:rPr baseline="-25000" lang="en" sz="1800">
                <a:solidFill>
                  <a:srgbClr val="0000FF"/>
                </a:solidFill>
              </a:rPr>
              <a:t>out</a:t>
            </a:r>
            <a:endParaRPr sz="1800">
              <a:solidFill>
                <a:srgbClr val="0000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Servomotors provide precise position control</a:t>
            </a:r>
            <a:endParaRPr/>
          </a:p>
        </p:txBody>
      </p:sp>
      <p:sp>
        <p:nvSpPr>
          <p:cNvPr id="110" name="Google Shape;110;p20"/>
          <p:cNvSpPr txBox="1"/>
          <p:nvPr>
            <p:ph idx="1" type="body"/>
          </p:nvPr>
        </p:nvSpPr>
        <p:spPr>
          <a:xfrm>
            <a:off x="311700" y="1384224"/>
            <a:ext cx="8520600" cy="485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Robot joints</a:t>
            </a:r>
            <a:endParaRPr/>
          </a:p>
          <a:p>
            <a:pPr indent="0" lvl="0" marL="0" rtl="0" algn="l">
              <a:spcBef>
                <a:spcPts val="1600"/>
              </a:spcBef>
              <a:spcAft>
                <a:spcPts val="0"/>
              </a:spcAft>
              <a:buNone/>
            </a:pPr>
            <a:r>
              <a:rPr lang="en"/>
              <a:t>Aircraft control surfaces (both hobby and full-scale)</a:t>
            </a:r>
            <a:endParaRPr/>
          </a:p>
          <a:p>
            <a:pPr indent="0" lvl="0" marL="0" rtl="0" algn="l">
              <a:spcBef>
                <a:spcPts val="1600"/>
              </a:spcBef>
              <a:spcAft>
                <a:spcPts val="0"/>
              </a:spcAft>
              <a:buNone/>
            </a:pPr>
            <a:r>
              <a:rPr lang="en"/>
              <a:t>Camera auto-focus (adjusting the lens)</a:t>
            </a:r>
            <a:endParaRPr/>
          </a:p>
          <a:p>
            <a:pPr indent="0" lvl="0" marL="0" rtl="0" algn="l">
              <a:spcBef>
                <a:spcPts val="1600"/>
              </a:spcBef>
              <a:spcAft>
                <a:spcPts val="0"/>
              </a:spcAft>
              <a:buNone/>
            </a:pPr>
            <a:r>
              <a:rPr lang="en"/>
              <a:t>Conveyor belts</a:t>
            </a:r>
            <a:endParaRPr/>
          </a:p>
          <a:p>
            <a:pPr indent="0" lvl="0" marL="0" rtl="0" algn="l">
              <a:spcBef>
                <a:spcPts val="1600"/>
              </a:spcBef>
              <a:spcAft>
                <a:spcPts val="0"/>
              </a:spcAft>
              <a:buNone/>
            </a:pPr>
            <a:r>
              <a:rPr lang="en"/>
              <a:t>Solar trackers</a:t>
            </a:r>
            <a:endParaRPr/>
          </a:p>
          <a:p>
            <a:pPr indent="0" lvl="0" marL="0" rtl="0" algn="l">
              <a:spcBef>
                <a:spcPts val="1600"/>
              </a:spcBef>
              <a:spcAft>
                <a:spcPts val="0"/>
              </a:spcAft>
              <a:buNone/>
            </a:pPr>
            <a:r>
              <a:rPr lang="en"/>
              <a:t>Metal and wood processing (CNC tools)</a:t>
            </a:r>
            <a:endParaRPr/>
          </a:p>
          <a:p>
            <a:pPr indent="0" lvl="0" marL="0" rtl="0" algn="l">
              <a:spcBef>
                <a:spcPts val="1600"/>
              </a:spcBef>
              <a:spcAft>
                <a:spcPts val="0"/>
              </a:spcAft>
              <a:buNone/>
            </a:pPr>
            <a:r>
              <a:rPr lang="en"/>
              <a:t>Antenna azimuth and elevation positioning</a:t>
            </a:r>
            <a:endParaRPr/>
          </a:p>
          <a:p>
            <a:pPr indent="0" lvl="0" marL="0" rtl="0" algn="l">
              <a:spcBef>
                <a:spcPts val="1600"/>
              </a:spcBef>
              <a:spcAft>
                <a:spcPts val="0"/>
              </a:spcAft>
              <a:buNone/>
            </a:pPr>
            <a:r>
              <a:rPr lang="en"/>
              <a:t>Opening and closing doors, windows, vents</a:t>
            </a:r>
            <a:endParaRPr/>
          </a:p>
          <a:p>
            <a:pPr indent="0" lvl="0" marL="0" rtl="0" algn="l">
              <a:spcBef>
                <a:spcPts val="1600"/>
              </a:spcBef>
              <a:spcAft>
                <a:spcPts val="1600"/>
              </a:spcAft>
              <a:buNone/>
            </a:pPr>
            <a:r>
              <a:rPr lang="en"/>
              <a:t>Opening and closing valves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1"/>
          <p:cNvSpPr txBox="1"/>
          <p:nvPr>
            <p:ph type="title"/>
          </p:nvPr>
        </p:nvSpPr>
        <p:spPr>
          <a:xfrm>
            <a:off x="311700" y="5633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a servomotor works: feedback</a:t>
            </a:r>
            <a:endParaRPr/>
          </a:p>
        </p:txBody>
      </p:sp>
      <p:sp>
        <p:nvSpPr>
          <p:cNvPr id="116" name="Google Shape;116;p21"/>
          <p:cNvSpPr txBox="1"/>
          <p:nvPr>
            <p:ph idx="1" type="body"/>
          </p:nvPr>
        </p:nvSpPr>
        <p:spPr>
          <a:xfrm>
            <a:off x="562300" y="3995925"/>
            <a:ext cx="8199600" cy="250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Command position input is a voltage.</a:t>
            </a:r>
            <a:endParaRPr sz="1600"/>
          </a:p>
          <a:p>
            <a:pPr indent="0" lvl="0" marL="0" rtl="0" algn="l">
              <a:spcBef>
                <a:spcPts val="1600"/>
              </a:spcBef>
              <a:spcAft>
                <a:spcPts val="0"/>
              </a:spcAft>
              <a:buNone/>
            </a:pPr>
            <a:r>
              <a:rPr lang="en" sz="1600"/>
              <a:t>Potentiometer, turned by the motor, outputs a voltage proportional to position output.</a:t>
            </a:r>
            <a:endParaRPr sz="1600"/>
          </a:p>
          <a:p>
            <a:pPr indent="0" lvl="0" marL="0" rtl="0" algn="l">
              <a:spcBef>
                <a:spcPts val="1600"/>
              </a:spcBef>
              <a:spcAft>
                <a:spcPts val="0"/>
              </a:spcAft>
              <a:buNone/>
            </a:pPr>
            <a:r>
              <a:rPr lang="en" sz="1600"/>
              <a:t>Controller drives the motor until position error voltage is zero.  If a disturbance perturbs the motor’s position, the feedback loop corrects.</a:t>
            </a:r>
            <a:endParaRPr sz="1600"/>
          </a:p>
          <a:p>
            <a:pPr indent="0" lvl="0" marL="0" rtl="0" algn="l">
              <a:spcBef>
                <a:spcPts val="1600"/>
              </a:spcBef>
              <a:spcAft>
                <a:spcPts val="1600"/>
              </a:spcAft>
              <a:buNone/>
            </a:pPr>
            <a:r>
              <a:rPr lang="en" sz="1600"/>
              <a:t>For details of controller design, see Engs 26.  Our servomotors have the controller built in, we just have to supply the command signal.</a:t>
            </a:r>
            <a:endParaRPr sz="1600"/>
          </a:p>
        </p:txBody>
      </p:sp>
      <p:pic>
        <p:nvPicPr>
          <p:cNvPr id="117" name="Google Shape;117;p21"/>
          <p:cNvPicPr preferRelativeResize="0"/>
          <p:nvPr/>
        </p:nvPicPr>
        <p:blipFill>
          <a:blip r:embed="rId3">
            <a:alphaModFix/>
          </a:blip>
          <a:stretch>
            <a:fillRect/>
          </a:stretch>
        </p:blipFill>
        <p:spPr>
          <a:xfrm>
            <a:off x="242500" y="1384207"/>
            <a:ext cx="8839199" cy="225910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2"/>
          <p:cNvSpPr txBox="1"/>
          <p:nvPr>
            <p:ph type="title"/>
          </p:nvPr>
        </p:nvSpPr>
        <p:spPr>
          <a:xfrm>
            <a:off x="303425" y="340150"/>
            <a:ext cx="40557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a:t>
            </a:r>
            <a:r>
              <a:rPr lang="en"/>
              <a:t>Servomotor</a:t>
            </a:r>
            <a:endParaRPr/>
          </a:p>
        </p:txBody>
      </p:sp>
      <p:sp>
        <p:nvSpPr>
          <p:cNvPr id="123" name="Google Shape;123;p22"/>
          <p:cNvSpPr txBox="1"/>
          <p:nvPr/>
        </p:nvSpPr>
        <p:spPr>
          <a:xfrm>
            <a:off x="303425" y="4285600"/>
            <a:ext cx="3471300" cy="51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highlight>
                  <a:srgbClr val="FFFFFF"/>
                </a:highlight>
              </a:rPr>
              <a:t>Tower-Pro SG92R microservo</a:t>
            </a:r>
            <a:endParaRPr sz="1800"/>
          </a:p>
        </p:txBody>
      </p:sp>
      <p:pic>
        <p:nvPicPr>
          <p:cNvPr id="124" name="Google Shape;124;p22"/>
          <p:cNvPicPr preferRelativeResize="0"/>
          <p:nvPr/>
        </p:nvPicPr>
        <p:blipFill>
          <a:blip r:embed="rId3">
            <a:alphaModFix/>
          </a:blip>
          <a:stretch>
            <a:fillRect/>
          </a:stretch>
        </p:blipFill>
        <p:spPr>
          <a:xfrm>
            <a:off x="236650" y="1204476"/>
            <a:ext cx="3604849" cy="2963800"/>
          </a:xfrm>
          <a:prstGeom prst="rect">
            <a:avLst/>
          </a:prstGeom>
          <a:noFill/>
          <a:ln>
            <a:noFill/>
          </a:ln>
        </p:spPr>
      </p:pic>
      <p:sp>
        <p:nvSpPr>
          <p:cNvPr id="125" name="Google Shape;125;p22"/>
          <p:cNvSpPr txBox="1"/>
          <p:nvPr/>
        </p:nvSpPr>
        <p:spPr>
          <a:xfrm>
            <a:off x="1617750" y="5112275"/>
            <a:ext cx="5908500" cy="126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000FF"/>
                </a:solidFill>
              </a:rPr>
              <a:t>Relevant specs:</a:t>
            </a:r>
            <a:endParaRPr sz="1600">
              <a:solidFill>
                <a:srgbClr val="0000FF"/>
              </a:solidFill>
            </a:endParaRPr>
          </a:p>
          <a:p>
            <a:pPr indent="-330200" lvl="0" marL="457200" rtl="0" algn="l">
              <a:spcBef>
                <a:spcPts val="0"/>
              </a:spcBef>
              <a:spcAft>
                <a:spcPts val="0"/>
              </a:spcAft>
              <a:buClr>
                <a:srgbClr val="0000FF"/>
              </a:buClr>
              <a:buSzPts val="1600"/>
              <a:buChar char="●"/>
            </a:pPr>
            <a:r>
              <a:rPr lang="en" sz="1600">
                <a:solidFill>
                  <a:srgbClr val="0000FF"/>
                </a:solidFill>
              </a:rPr>
              <a:t>Stall torque: 2.5 kgf-cm (</a:t>
            </a:r>
            <a:r>
              <a:rPr lang="en" sz="1600">
                <a:solidFill>
                  <a:srgbClr val="0000FF"/>
                </a:solidFill>
              </a:rPr>
              <a:t>0.245 N-m, 35 ozf-in, </a:t>
            </a:r>
            <a:r>
              <a:rPr lang="en" sz="1600">
                <a:solidFill>
                  <a:srgbClr val="0000FF"/>
                </a:solidFill>
              </a:rPr>
              <a:t>0.18 lbf-ft)</a:t>
            </a:r>
            <a:endParaRPr sz="1600">
              <a:solidFill>
                <a:srgbClr val="0000FF"/>
              </a:solidFill>
            </a:endParaRPr>
          </a:p>
          <a:p>
            <a:pPr indent="-330200" lvl="0" marL="457200" rtl="0" algn="l">
              <a:spcBef>
                <a:spcPts val="0"/>
              </a:spcBef>
              <a:spcAft>
                <a:spcPts val="0"/>
              </a:spcAft>
              <a:buClr>
                <a:srgbClr val="0000FF"/>
              </a:buClr>
              <a:buSzPts val="1600"/>
              <a:buChar char="●"/>
            </a:pPr>
            <a:r>
              <a:rPr lang="en" sz="1600">
                <a:solidFill>
                  <a:srgbClr val="0000FF"/>
                </a:solidFill>
              </a:rPr>
              <a:t>Speed: 0.1s/60° </a:t>
            </a:r>
            <a:endParaRPr sz="1600">
              <a:solidFill>
                <a:srgbClr val="0000FF"/>
              </a:solidFill>
            </a:endParaRPr>
          </a:p>
          <a:p>
            <a:pPr indent="-330200" lvl="0" marL="457200" rtl="0" algn="l">
              <a:lnSpc>
                <a:spcPct val="115000"/>
              </a:lnSpc>
              <a:spcBef>
                <a:spcPts val="0"/>
              </a:spcBef>
              <a:spcAft>
                <a:spcPts val="1000"/>
              </a:spcAft>
              <a:buClr>
                <a:srgbClr val="0000FF"/>
              </a:buClr>
              <a:buSzPts val="1600"/>
              <a:buChar char="●"/>
            </a:pPr>
            <a:r>
              <a:rPr lang="en" sz="1600">
                <a:solidFill>
                  <a:srgbClr val="0000FF"/>
                </a:solidFill>
              </a:rPr>
              <a:t>Dead band width: 1µs</a:t>
            </a:r>
            <a:endParaRPr sz="1600">
              <a:solidFill>
                <a:srgbClr val="0000FF"/>
              </a:solidFill>
            </a:endParaRPr>
          </a:p>
        </p:txBody>
      </p:sp>
      <p:pic>
        <p:nvPicPr>
          <p:cNvPr id="126" name="Google Shape;126;p22"/>
          <p:cNvPicPr preferRelativeResize="0"/>
          <p:nvPr/>
        </p:nvPicPr>
        <p:blipFill rotWithShape="1">
          <a:blip r:embed="rId4">
            <a:alphaModFix/>
          </a:blip>
          <a:srcRect b="11172" l="6473" r="3372" t="7102"/>
          <a:stretch/>
        </p:blipFill>
        <p:spPr>
          <a:xfrm>
            <a:off x="4525300" y="1235063"/>
            <a:ext cx="4315249" cy="2902625"/>
          </a:xfrm>
          <a:prstGeom prst="rect">
            <a:avLst/>
          </a:prstGeom>
          <a:noFill/>
          <a:ln>
            <a:noFill/>
          </a:ln>
        </p:spPr>
      </p:pic>
      <p:sp>
        <p:nvSpPr>
          <p:cNvPr id="127" name="Google Shape;127;p22"/>
          <p:cNvSpPr/>
          <p:nvPr/>
        </p:nvSpPr>
        <p:spPr>
          <a:xfrm>
            <a:off x="3662125" y="2564575"/>
            <a:ext cx="1118400" cy="348300"/>
          </a:xfrm>
          <a:prstGeom prst="rightArrow">
            <a:avLst>
              <a:gd fmla="val 50000" name="adj1"/>
              <a:gd fmla="val 50000" name="adj2"/>
            </a:avLst>
          </a:prstGeom>
          <a:solidFill>
            <a:srgbClr val="38761D"/>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2"/>
          <p:cNvSpPr txBox="1"/>
          <p:nvPr/>
        </p:nvSpPr>
        <p:spPr>
          <a:xfrm>
            <a:off x="4855500" y="4270313"/>
            <a:ext cx="3471300" cy="51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38761D"/>
                </a:solidFill>
                <a:highlight>
                  <a:srgbClr val="FFFFFF"/>
                </a:highlight>
              </a:rPr>
              <a:t>Much cooler than those horns!</a:t>
            </a:r>
            <a:endParaRPr sz="1800">
              <a:solidFill>
                <a:srgbClr val="38761D"/>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3"/>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Commanding a servo with a microcontroller</a:t>
            </a:r>
            <a:endParaRPr/>
          </a:p>
        </p:txBody>
      </p:sp>
      <p:sp>
        <p:nvSpPr>
          <p:cNvPr id="134" name="Google Shape;134;p23"/>
          <p:cNvSpPr txBox="1"/>
          <p:nvPr>
            <p:ph idx="1" type="body"/>
          </p:nvPr>
        </p:nvSpPr>
        <p:spPr>
          <a:xfrm>
            <a:off x="311700" y="1354775"/>
            <a:ext cx="8754300" cy="142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Microcontroller has only digital outputs.  How do we get a command voltage?</a:t>
            </a:r>
            <a:endParaRPr sz="1600"/>
          </a:p>
          <a:p>
            <a:pPr indent="-330200" lvl="0" marL="457200" rtl="0" algn="l">
              <a:spcBef>
                <a:spcPts val="1000"/>
              </a:spcBef>
              <a:spcAft>
                <a:spcPts val="0"/>
              </a:spcAft>
              <a:buSzPts val="1600"/>
              <a:buChar char="●"/>
            </a:pPr>
            <a:r>
              <a:rPr lang="en" sz="1600"/>
              <a:t>Servo controller electronics convert pulse width to control voltage.</a:t>
            </a:r>
            <a:endParaRPr sz="1600"/>
          </a:p>
          <a:p>
            <a:pPr indent="-330200" lvl="0" marL="457200" rtl="0" algn="l">
              <a:spcBef>
                <a:spcPts val="1000"/>
              </a:spcBef>
              <a:spcAft>
                <a:spcPts val="0"/>
              </a:spcAft>
              <a:buSzPts val="1600"/>
              <a:buChar char="●"/>
            </a:pPr>
            <a:r>
              <a:rPr lang="en" sz="1600"/>
              <a:t>Pulse widths between 1ms and 2ms, repeated regularly, roughly every 20 ms (so 50Hz).</a:t>
            </a:r>
            <a:endParaRPr sz="1600"/>
          </a:p>
          <a:p>
            <a:pPr indent="0" lvl="0" marL="457200" rtl="0" algn="l">
              <a:spcBef>
                <a:spcPts val="1000"/>
              </a:spcBef>
              <a:spcAft>
                <a:spcPts val="0"/>
              </a:spcAft>
              <a:buNone/>
            </a:pPr>
            <a:r>
              <a:t/>
            </a:r>
            <a:endParaRPr sz="1600"/>
          </a:p>
        </p:txBody>
      </p:sp>
      <p:pic>
        <p:nvPicPr>
          <p:cNvPr id="135" name="Google Shape;135;p23"/>
          <p:cNvPicPr preferRelativeResize="0"/>
          <p:nvPr/>
        </p:nvPicPr>
        <p:blipFill>
          <a:blip r:embed="rId3">
            <a:alphaModFix/>
          </a:blip>
          <a:stretch>
            <a:fillRect/>
          </a:stretch>
        </p:blipFill>
        <p:spPr>
          <a:xfrm>
            <a:off x="793125" y="2686900"/>
            <a:ext cx="7381815" cy="4004075"/>
          </a:xfrm>
          <a:prstGeom prst="rect">
            <a:avLst/>
          </a:prstGeom>
          <a:noFill/>
          <a:ln>
            <a:noFill/>
          </a:ln>
        </p:spPr>
      </p:pic>
      <p:sp>
        <p:nvSpPr>
          <p:cNvPr id="136" name="Google Shape;136;p23"/>
          <p:cNvSpPr txBox="1"/>
          <p:nvPr/>
        </p:nvSpPr>
        <p:spPr>
          <a:xfrm>
            <a:off x="5916200" y="2782500"/>
            <a:ext cx="2745900" cy="1293000"/>
          </a:xfrm>
          <a:prstGeom prst="rect">
            <a:avLst/>
          </a:prstGeom>
          <a:solidFill>
            <a:srgbClr val="CFE2F3"/>
          </a:solidFill>
          <a:ln cap="flat" cmpd="sng" w="2857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2A00FF"/>
                </a:solidFill>
              </a:rPr>
              <a:t>The width of the pulse is conveying information to the controller on how far to turn the motor.</a:t>
            </a:r>
            <a:endParaRPr sz="1800">
              <a:solidFill>
                <a:srgbClr val="2A00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4"/>
          <p:cNvSpPr txBox="1"/>
          <p:nvPr>
            <p:ph type="title"/>
          </p:nvPr>
        </p:nvSpPr>
        <p:spPr>
          <a:xfrm>
            <a:off x="533400" y="244000"/>
            <a:ext cx="7543800" cy="381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Setting up a timer for PWM</a:t>
            </a:r>
            <a:endParaRPr/>
          </a:p>
        </p:txBody>
      </p:sp>
      <p:sp>
        <p:nvSpPr>
          <p:cNvPr id="142" name="Google Shape;142;p24"/>
          <p:cNvSpPr txBox="1"/>
          <p:nvPr>
            <p:ph idx="1" type="body"/>
          </p:nvPr>
        </p:nvSpPr>
        <p:spPr>
          <a:xfrm>
            <a:off x="495300" y="763363"/>
            <a:ext cx="8153400" cy="803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 sz="1600"/>
              <a:t>We need a 50Hz PWM frequency (pretty small, compared to 12MHz clock). So the counter needs to take 20ms to count from 0 to its auto-reload value.</a:t>
            </a:r>
            <a:endParaRPr sz="1600">
              <a:solidFill>
                <a:srgbClr val="0000FF"/>
              </a:solidFill>
            </a:endParaRPr>
          </a:p>
        </p:txBody>
      </p:sp>
      <p:pic>
        <p:nvPicPr>
          <p:cNvPr id="143" name="Google Shape;143;p24"/>
          <p:cNvPicPr preferRelativeResize="0"/>
          <p:nvPr/>
        </p:nvPicPr>
        <p:blipFill rotWithShape="1">
          <a:blip r:embed="rId3">
            <a:alphaModFix/>
          </a:blip>
          <a:srcRect b="54400" l="0" r="0" t="0"/>
          <a:stretch/>
        </p:blipFill>
        <p:spPr>
          <a:xfrm>
            <a:off x="614388" y="1400625"/>
            <a:ext cx="7381824" cy="1825875"/>
          </a:xfrm>
          <a:prstGeom prst="rect">
            <a:avLst/>
          </a:prstGeom>
          <a:noFill/>
          <a:ln>
            <a:noFill/>
          </a:ln>
        </p:spPr>
      </p:pic>
      <p:sp>
        <p:nvSpPr>
          <p:cNvPr id="144" name="Google Shape;144;p24"/>
          <p:cNvSpPr/>
          <p:nvPr/>
        </p:nvSpPr>
        <p:spPr>
          <a:xfrm>
            <a:off x="1587175" y="2314425"/>
            <a:ext cx="2143800" cy="450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 name="Google Shape;145;p24"/>
          <p:cNvSpPr/>
          <p:nvPr/>
        </p:nvSpPr>
        <p:spPr>
          <a:xfrm>
            <a:off x="284275" y="2314425"/>
            <a:ext cx="804000" cy="450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 name="Google Shape;146;p24"/>
          <p:cNvSpPr txBox="1"/>
          <p:nvPr>
            <p:ph idx="1" type="body"/>
          </p:nvPr>
        </p:nvSpPr>
        <p:spPr>
          <a:xfrm>
            <a:off x="533400" y="3429000"/>
            <a:ext cx="8153400" cy="4500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 sz="1600"/>
              <a:t>Lots of ways to accomplish this! Which of these are usable?</a:t>
            </a:r>
            <a:endParaRPr sz="1600"/>
          </a:p>
          <a:p>
            <a:pPr indent="0" lvl="0" marL="0" rtl="0" algn="l">
              <a:spcBef>
                <a:spcPts val="360"/>
              </a:spcBef>
              <a:spcAft>
                <a:spcPts val="0"/>
              </a:spcAft>
              <a:buNone/>
            </a:pPr>
            <a:r>
              <a:rPr lang="en" sz="1600"/>
              <a:t> </a:t>
            </a:r>
            <a:endParaRPr sz="1600"/>
          </a:p>
        </p:txBody>
      </p:sp>
      <p:graphicFrame>
        <p:nvGraphicFramePr>
          <p:cNvPr id="147" name="Google Shape;147;p24"/>
          <p:cNvGraphicFramePr/>
          <p:nvPr/>
        </p:nvGraphicFramePr>
        <p:xfrm>
          <a:off x="1028975" y="4081500"/>
          <a:ext cx="3000000" cy="3000000"/>
        </p:xfrm>
        <a:graphic>
          <a:graphicData uri="http://schemas.openxmlformats.org/drawingml/2006/table">
            <a:tbl>
              <a:tblPr>
                <a:noFill/>
                <a:tableStyleId>{C44D4242-A1F1-43E5-9E80-658D651704D4}</a:tableStyleId>
              </a:tblPr>
              <a:tblGrid>
                <a:gridCol w="2100300"/>
                <a:gridCol w="2100300"/>
                <a:gridCol w="2100300"/>
              </a:tblGrid>
              <a:tr h="381000">
                <a:tc>
                  <a:txBody>
                    <a:bodyPr/>
                    <a:lstStyle/>
                    <a:p>
                      <a:pPr indent="0" lvl="0" marL="0" rtl="0" algn="ctr">
                        <a:spcBef>
                          <a:spcPts val="0"/>
                        </a:spcBef>
                        <a:spcAft>
                          <a:spcPts val="0"/>
                        </a:spcAft>
                        <a:buNone/>
                      </a:pPr>
                      <a:r>
                        <a:rPr lang="en"/>
                        <a:t>prescaler</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Timer clock speed</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Autoreload</a:t>
                      </a:r>
                      <a:r>
                        <a:rPr lang="en"/>
                        <a:t> (≤65,635)</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t>2</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t>6</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t>60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t>240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1" name="Shape 151"/>
        <p:cNvGrpSpPr/>
        <p:nvPr/>
      </p:nvGrpSpPr>
      <p:grpSpPr>
        <a:xfrm>
          <a:off x="0" y="0"/>
          <a:ext cx="0" cy="0"/>
          <a:chOff x="0" y="0"/>
          <a:chExt cx="0" cy="0"/>
        </a:xfrm>
      </p:grpSpPr>
      <p:sp>
        <p:nvSpPr>
          <p:cNvPr id="152" name="Google Shape;152;p25"/>
          <p:cNvSpPr txBox="1"/>
          <p:nvPr>
            <p:ph type="title"/>
          </p:nvPr>
        </p:nvSpPr>
        <p:spPr>
          <a:xfrm>
            <a:off x="533400" y="244000"/>
            <a:ext cx="7543800" cy="381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Setting up a timer for PWM</a:t>
            </a:r>
            <a:endParaRPr/>
          </a:p>
        </p:txBody>
      </p:sp>
      <p:sp>
        <p:nvSpPr>
          <p:cNvPr id="153" name="Google Shape;153;p25"/>
          <p:cNvSpPr txBox="1"/>
          <p:nvPr>
            <p:ph idx="1" type="body"/>
          </p:nvPr>
        </p:nvSpPr>
        <p:spPr>
          <a:xfrm>
            <a:off x="495300" y="763363"/>
            <a:ext cx="8153400" cy="8037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 sz="1600"/>
              <a:t>We need a 50Hz PWM frequency (pretty small, compared to 12MHz clock). So the counter needs to take 20ms to count from 0 to its auto-reload value.</a:t>
            </a:r>
            <a:endParaRPr sz="1600">
              <a:solidFill>
                <a:srgbClr val="0000FF"/>
              </a:solidFill>
            </a:endParaRPr>
          </a:p>
        </p:txBody>
      </p:sp>
      <p:pic>
        <p:nvPicPr>
          <p:cNvPr id="154" name="Google Shape;154;p25"/>
          <p:cNvPicPr preferRelativeResize="0"/>
          <p:nvPr/>
        </p:nvPicPr>
        <p:blipFill rotWithShape="1">
          <a:blip r:embed="rId3">
            <a:alphaModFix/>
          </a:blip>
          <a:srcRect b="54400" l="0" r="0" t="0"/>
          <a:stretch/>
        </p:blipFill>
        <p:spPr>
          <a:xfrm>
            <a:off x="614388" y="1400625"/>
            <a:ext cx="7381824" cy="1825875"/>
          </a:xfrm>
          <a:prstGeom prst="rect">
            <a:avLst/>
          </a:prstGeom>
          <a:noFill/>
          <a:ln>
            <a:noFill/>
          </a:ln>
        </p:spPr>
      </p:pic>
      <p:sp>
        <p:nvSpPr>
          <p:cNvPr id="155" name="Google Shape;155;p25"/>
          <p:cNvSpPr/>
          <p:nvPr/>
        </p:nvSpPr>
        <p:spPr>
          <a:xfrm>
            <a:off x="1587175" y="2314425"/>
            <a:ext cx="2143800" cy="450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 name="Google Shape;156;p25"/>
          <p:cNvSpPr/>
          <p:nvPr/>
        </p:nvSpPr>
        <p:spPr>
          <a:xfrm>
            <a:off x="284275" y="2314425"/>
            <a:ext cx="804000" cy="450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 name="Google Shape;157;p25"/>
          <p:cNvSpPr txBox="1"/>
          <p:nvPr>
            <p:ph idx="1" type="body"/>
          </p:nvPr>
        </p:nvSpPr>
        <p:spPr>
          <a:xfrm>
            <a:off x="533400" y="3429000"/>
            <a:ext cx="8153400" cy="4500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 sz="1600"/>
              <a:t>Lots of ways to accomplish this! Which of these are usable?</a:t>
            </a:r>
            <a:endParaRPr sz="1600"/>
          </a:p>
          <a:p>
            <a:pPr indent="0" lvl="0" marL="0" rtl="0" algn="l">
              <a:spcBef>
                <a:spcPts val="360"/>
              </a:spcBef>
              <a:spcAft>
                <a:spcPts val="0"/>
              </a:spcAft>
              <a:buNone/>
            </a:pPr>
            <a:r>
              <a:rPr lang="en" sz="1600"/>
              <a:t> </a:t>
            </a:r>
            <a:endParaRPr sz="1600"/>
          </a:p>
        </p:txBody>
      </p:sp>
      <p:graphicFrame>
        <p:nvGraphicFramePr>
          <p:cNvPr id="158" name="Google Shape;158;p25"/>
          <p:cNvGraphicFramePr/>
          <p:nvPr/>
        </p:nvGraphicFramePr>
        <p:xfrm>
          <a:off x="1028975" y="4081500"/>
          <a:ext cx="3000000" cy="3000000"/>
        </p:xfrm>
        <a:graphic>
          <a:graphicData uri="http://schemas.openxmlformats.org/drawingml/2006/table">
            <a:tbl>
              <a:tblPr>
                <a:noFill/>
                <a:tableStyleId>{C44D4242-A1F1-43E5-9E80-658D651704D4}</a:tableStyleId>
              </a:tblPr>
              <a:tblGrid>
                <a:gridCol w="2238475"/>
                <a:gridCol w="2025275"/>
                <a:gridCol w="2451675"/>
              </a:tblGrid>
              <a:tr h="381000">
                <a:tc>
                  <a:txBody>
                    <a:bodyPr/>
                    <a:lstStyle/>
                    <a:p>
                      <a:pPr indent="0" lvl="0" marL="0" rtl="0" algn="ctr">
                        <a:spcBef>
                          <a:spcPts val="0"/>
                        </a:spcBef>
                        <a:spcAft>
                          <a:spcPts val="0"/>
                        </a:spcAft>
                        <a:buNone/>
                      </a:pPr>
                      <a:r>
                        <a:rPr lang="en"/>
                        <a:t>prescaler</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Timer clock speed</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Autoreload (≤65,635)</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0000FF"/>
                          </a:solidFill>
                        </a:rPr>
                        <a:t>12 MHz</a:t>
                      </a:r>
                      <a:endParaRPr>
                        <a:solidFill>
                          <a:srgbClr val="0000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0000FF"/>
                          </a:solidFill>
                        </a:rPr>
                        <a:t>240,000</a:t>
                      </a:r>
                      <a:endParaRPr>
                        <a:solidFill>
                          <a:srgbClr val="0000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t>2</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0000FF"/>
                          </a:solidFill>
                        </a:rPr>
                        <a:t>6 MHz</a:t>
                      </a:r>
                      <a:endParaRPr>
                        <a:solidFill>
                          <a:srgbClr val="0000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0000FF"/>
                          </a:solidFill>
                        </a:rPr>
                        <a:t>120,000</a:t>
                      </a:r>
                      <a:endParaRPr>
                        <a:solidFill>
                          <a:srgbClr val="0000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t>6</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0000FF"/>
                          </a:solidFill>
                        </a:rPr>
                        <a:t>2 MHz</a:t>
                      </a:r>
                      <a:endParaRPr>
                        <a:solidFill>
                          <a:srgbClr val="0000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0000FF"/>
                          </a:solidFill>
                        </a:rPr>
                        <a:t>40,000</a:t>
                      </a:r>
                      <a:endParaRPr>
                        <a:solidFill>
                          <a:srgbClr val="0000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t>60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0000FF"/>
                          </a:solidFill>
                        </a:rPr>
                        <a:t>200 kHz</a:t>
                      </a:r>
                      <a:endParaRPr>
                        <a:solidFill>
                          <a:srgbClr val="0000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0000FF"/>
                          </a:solidFill>
                        </a:rPr>
                        <a:t>4,000</a:t>
                      </a:r>
                      <a:endParaRPr>
                        <a:solidFill>
                          <a:srgbClr val="0000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t>240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0000FF"/>
                          </a:solidFill>
                        </a:rPr>
                        <a:t>50 kHz</a:t>
                      </a:r>
                      <a:endParaRPr>
                        <a:solidFill>
                          <a:srgbClr val="0000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0000FF"/>
                          </a:solidFill>
                        </a:rPr>
                        <a:t>1,000</a:t>
                      </a:r>
                      <a:endParaRPr>
                        <a:solidFill>
                          <a:srgbClr val="0000FF"/>
                        </a:solidFill>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
        <p:nvSpPr>
          <p:cNvPr id="159" name="Google Shape;159;p25"/>
          <p:cNvSpPr/>
          <p:nvPr/>
        </p:nvSpPr>
        <p:spPr>
          <a:xfrm>
            <a:off x="1028938" y="5270100"/>
            <a:ext cx="6715500" cy="11982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6"/>
          <p:cNvPicPr preferRelativeResize="0"/>
          <p:nvPr/>
        </p:nvPicPr>
        <p:blipFill>
          <a:blip r:embed="rId3">
            <a:alphaModFix/>
          </a:blip>
          <a:stretch>
            <a:fillRect/>
          </a:stretch>
        </p:blipFill>
        <p:spPr>
          <a:xfrm>
            <a:off x="49601" y="1114950"/>
            <a:ext cx="9044799" cy="5375496"/>
          </a:xfrm>
          <a:prstGeom prst="rect">
            <a:avLst/>
          </a:prstGeom>
          <a:noFill/>
          <a:ln>
            <a:noFill/>
          </a:ln>
        </p:spPr>
      </p:pic>
      <p:sp>
        <p:nvSpPr>
          <p:cNvPr id="165" name="Google Shape;165;p26"/>
          <p:cNvSpPr/>
          <p:nvPr/>
        </p:nvSpPr>
        <p:spPr>
          <a:xfrm>
            <a:off x="4830825" y="3308550"/>
            <a:ext cx="1508400" cy="2412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6"/>
          <p:cNvSpPr txBox="1"/>
          <p:nvPr/>
        </p:nvSpPr>
        <p:spPr>
          <a:xfrm>
            <a:off x="6458900" y="2858725"/>
            <a:ext cx="1222500" cy="42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0000FF"/>
                </a:solidFill>
              </a:rPr>
              <a:t>Auto-reload</a:t>
            </a:r>
            <a:endParaRPr i="1">
              <a:solidFill>
                <a:srgbClr val="0000FF"/>
              </a:solidFill>
            </a:endParaRPr>
          </a:p>
          <a:p>
            <a:pPr indent="0" lvl="0" marL="0" rtl="0" algn="l">
              <a:spcBef>
                <a:spcPts val="0"/>
              </a:spcBef>
              <a:spcAft>
                <a:spcPts val="0"/>
              </a:spcAft>
              <a:buNone/>
            </a:pPr>
            <a:r>
              <a:rPr i="1" lang="en">
                <a:solidFill>
                  <a:srgbClr val="0000FF"/>
                </a:solidFill>
              </a:rPr>
              <a:t>(upper limit)</a:t>
            </a:r>
            <a:endParaRPr i="1">
              <a:solidFill>
                <a:srgbClr val="0000FF"/>
              </a:solidFill>
            </a:endParaRPr>
          </a:p>
        </p:txBody>
      </p:sp>
      <p:sp>
        <p:nvSpPr>
          <p:cNvPr id="167" name="Google Shape;167;p26"/>
          <p:cNvSpPr/>
          <p:nvPr/>
        </p:nvSpPr>
        <p:spPr>
          <a:xfrm>
            <a:off x="4830825" y="3967800"/>
            <a:ext cx="1508400" cy="241200"/>
          </a:xfrm>
          <a:prstGeom prst="rect">
            <a:avLst/>
          </a:prstGeom>
          <a:noFill/>
          <a:ln cap="flat" cmpd="sng" w="38100">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6"/>
          <p:cNvSpPr txBox="1"/>
          <p:nvPr/>
        </p:nvSpPr>
        <p:spPr>
          <a:xfrm>
            <a:off x="6339225" y="3866225"/>
            <a:ext cx="871200" cy="424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i="1" lang="en">
                <a:solidFill>
                  <a:srgbClr val="38761D"/>
                </a:solidFill>
              </a:rPr>
              <a:t>Counter</a:t>
            </a:r>
            <a:endParaRPr b="1" i="1">
              <a:solidFill>
                <a:srgbClr val="38761D"/>
              </a:solidFill>
            </a:endParaRPr>
          </a:p>
        </p:txBody>
      </p:sp>
      <p:sp>
        <p:nvSpPr>
          <p:cNvPr id="169" name="Google Shape;169;p26"/>
          <p:cNvSpPr txBox="1"/>
          <p:nvPr/>
        </p:nvSpPr>
        <p:spPr>
          <a:xfrm>
            <a:off x="3462825" y="3393125"/>
            <a:ext cx="1060800" cy="47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CC0000"/>
                </a:solidFill>
              </a:rPr>
              <a:t>Prescaled clock input</a:t>
            </a:r>
            <a:endParaRPr i="1">
              <a:solidFill>
                <a:srgbClr val="CC0000"/>
              </a:solidFill>
            </a:endParaRPr>
          </a:p>
        </p:txBody>
      </p:sp>
      <p:sp>
        <p:nvSpPr>
          <p:cNvPr id="170" name="Google Shape;170;p26"/>
          <p:cNvSpPr/>
          <p:nvPr/>
        </p:nvSpPr>
        <p:spPr>
          <a:xfrm>
            <a:off x="4830825" y="4366900"/>
            <a:ext cx="1512900" cy="353100"/>
          </a:xfrm>
          <a:prstGeom prst="rect">
            <a:avLst/>
          </a:prstGeom>
          <a:no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00FF"/>
              </a:solidFill>
            </a:endParaRPr>
          </a:p>
        </p:txBody>
      </p:sp>
      <p:sp>
        <p:nvSpPr>
          <p:cNvPr id="171" name="Google Shape;171;p26"/>
          <p:cNvSpPr txBox="1"/>
          <p:nvPr/>
        </p:nvSpPr>
        <p:spPr>
          <a:xfrm>
            <a:off x="4706625" y="4791100"/>
            <a:ext cx="1761300" cy="42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FF00FF"/>
                </a:solidFill>
              </a:rPr>
              <a:t>Compare register</a:t>
            </a:r>
            <a:endParaRPr i="1">
              <a:solidFill>
                <a:srgbClr val="FF00FF"/>
              </a:solidFill>
            </a:endParaRPr>
          </a:p>
        </p:txBody>
      </p:sp>
      <p:sp>
        <p:nvSpPr>
          <p:cNvPr id="172" name="Google Shape;172;p26"/>
          <p:cNvSpPr txBox="1"/>
          <p:nvPr>
            <p:ph type="title"/>
          </p:nvPr>
        </p:nvSpPr>
        <p:spPr>
          <a:xfrm>
            <a:off x="131225" y="1257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Review: Timer 14 </a:t>
            </a:r>
            <a:r>
              <a:rPr lang="en"/>
              <a:t>PWM on the STM32C0</a:t>
            </a:r>
            <a:endParaRPr/>
          </a:p>
        </p:txBody>
      </p:sp>
      <p:cxnSp>
        <p:nvCxnSpPr>
          <p:cNvPr id="173" name="Google Shape;173;p26"/>
          <p:cNvCxnSpPr/>
          <p:nvPr/>
        </p:nvCxnSpPr>
        <p:spPr>
          <a:xfrm>
            <a:off x="3203425" y="2199525"/>
            <a:ext cx="2143200" cy="11400"/>
          </a:xfrm>
          <a:prstGeom prst="straightConnector1">
            <a:avLst/>
          </a:prstGeom>
          <a:noFill/>
          <a:ln cap="flat" cmpd="sng" w="28575">
            <a:solidFill>
              <a:srgbClr val="0000FF"/>
            </a:solidFill>
            <a:prstDash val="solid"/>
            <a:round/>
            <a:headEnd len="med" w="med" type="none"/>
            <a:tailEnd len="med" w="med" type="none"/>
          </a:ln>
        </p:spPr>
      </p:cxnSp>
      <p:cxnSp>
        <p:nvCxnSpPr>
          <p:cNvPr id="174" name="Google Shape;174;p26"/>
          <p:cNvCxnSpPr/>
          <p:nvPr/>
        </p:nvCxnSpPr>
        <p:spPr>
          <a:xfrm flipH="1" rot="10800000">
            <a:off x="2791850" y="3068125"/>
            <a:ext cx="3682800" cy="5400"/>
          </a:xfrm>
          <a:prstGeom prst="straightConnector1">
            <a:avLst/>
          </a:prstGeom>
          <a:noFill/>
          <a:ln cap="flat" cmpd="sng" w="28575">
            <a:solidFill>
              <a:srgbClr val="0000FF"/>
            </a:solidFill>
            <a:prstDash val="solid"/>
            <a:round/>
            <a:headEnd len="med" w="med" type="none"/>
            <a:tailEnd len="med" w="med" type="none"/>
          </a:ln>
        </p:spPr>
      </p:cxnSp>
      <p:cxnSp>
        <p:nvCxnSpPr>
          <p:cNvPr id="175" name="Google Shape;175;p26"/>
          <p:cNvCxnSpPr/>
          <p:nvPr/>
        </p:nvCxnSpPr>
        <p:spPr>
          <a:xfrm>
            <a:off x="6084175" y="2198075"/>
            <a:ext cx="386100" cy="0"/>
          </a:xfrm>
          <a:prstGeom prst="straightConnector1">
            <a:avLst/>
          </a:prstGeom>
          <a:noFill/>
          <a:ln cap="flat" cmpd="sng" w="28575">
            <a:solidFill>
              <a:srgbClr val="0000FF"/>
            </a:solidFill>
            <a:prstDash val="solid"/>
            <a:round/>
            <a:headEnd len="med" w="med" type="none"/>
            <a:tailEnd len="med" w="med" type="none"/>
          </a:ln>
        </p:spPr>
      </p:cxnSp>
      <p:cxnSp>
        <p:nvCxnSpPr>
          <p:cNvPr id="176" name="Google Shape;176;p26"/>
          <p:cNvCxnSpPr/>
          <p:nvPr/>
        </p:nvCxnSpPr>
        <p:spPr>
          <a:xfrm rot="10800000">
            <a:off x="6458900" y="2203775"/>
            <a:ext cx="5700" cy="867900"/>
          </a:xfrm>
          <a:prstGeom prst="straightConnector1">
            <a:avLst/>
          </a:prstGeom>
          <a:noFill/>
          <a:ln cap="flat" cmpd="sng" w="28575">
            <a:solidFill>
              <a:srgbClr val="0000FF"/>
            </a:solidFill>
            <a:prstDash val="solid"/>
            <a:round/>
            <a:headEnd len="med" w="med" type="none"/>
            <a:tailEnd len="med" w="med" type="none"/>
          </a:ln>
        </p:spPr>
      </p:cxnSp>
      <p:cxnSp>
        <p:nvCxnSpPr>
          <p:cNvPr id="177" name="Google Shape;177;p26"/>
          <p:cNvCxnSpPr/>
          <p:nvPr/>
        </p:nvCxnSpPr>
        <p:spPr>
          <a:xfrm flipH="1" rot="10800000">
            <a:off x="2775775" y="3065975"/>
            <a:ext cx="2700" cy="1037100"/>
          </a:xfrm>
          <a:prstGeom prst="straightConnector1">
            <a:avLst/>
          </a:prstGeom>
          <a:noFill/>
          <a:ln cap="flat" cmpd="sng" w="28575">
            <a:solidFill>
              <a:srgbClr val="0000FF"/>
            </a:solidFill>
            <a:prstDash val="solid"/>
            <a:round/>
            <a:headEnd len="med" w="med" type="none"/>
            <a:tailEnd len="med" w="med" type="none"/>
          </a:ln>
        </p:spPr>
      </p:cxnSp>
      <p:cxnSp>
        <p:nvCxnSpPr>
          <p:cNvPr id="178" name="Google Shape;178;p26"/>
          <p:cNvCxnSpPr/>
          <p:nvPr/>
        </p:nvCxnSpPr>
        <p:spPr>
          <a:xfrm flipH="1" rot="10800000">
            <a:off x="2791850" y="4103075"/>
            <a:ext cx="699600" cy="2700"/>
          </a:xfrm>
          <a:prstGeom prst="straightConnector1">
            <a:avLst/>
          </a:prstGeom>
          <a:noFill/>
          <a:ln cap="flat" cmpd="sng" w="28575">
            <a:solidFill>
              <a:srgbClr val="0000FF"/>
            </a:solidFill>
            <a:prstDash val="solid"/>
            <a:round/>
            <a:headEnd len="med" w="med" type="none"/>
            <a:tailEnd len="med" w="med" type="triangle"/>
          </a:ln>
        </p:spPr>
      </p:cxnSp>
      <p:cxnSp>
        <p:nvCxnSpPr>
          <p:cNvPr id="179" name="Google Shape;179;p26"/>
          <p:cNvCxnSpPr/>
          <p:nvPr/>
        </p:nvCxnSpPr>
        <p:spPr>
          <a:xfrm flipH="1" rot="10800000">
            <a:off x="4157275" y="4103075"/>
            <a:ext cx="699600" cy="2700"/>
          </a:xfrm>
          <a:prstGeom prst="straightConnector1">
            <a:avLst/>
          </a:prstGeom>
          <a:noFill/>
          <a:ln cap="flat" cmpd="sng" w="28575">
            <a:solidFill>
              <a:srgbClr val="CC0000"/>
            </a:solidFill>
            <a:prstDash val="solid"/>
            <a:round/>
            <a:headEnd len="med" w="med" type="none"/>
            <a:tailEnd len="med" w="med" type="triangle"/>
          </a:ln>
        </p:spPr>
      </p:cxnSp>
      <p:sp>
        <p:nvSpPr>
          <p:cNvPr id="180" name="Google Shape;180;p26"/>
          <p:cNvSpPr/>
          <p:nvPr/>
        </p:nvSpPr>
        <p:spPr>
          <a:xfrm>
            <a:off x="3504825" y="3930725"/>
            <a:ext cx="652500" cy="3021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1" name="Google Shape;181;p26"/>
          <p:cNvCxnSpPr/>
          <p:nvPr/>
        </p:nvCxnSpPr>
        <p:spPr>
          <a:xfrm flipH="1" rot="10800000">
            <a:off x="6339225" y="4606900"/>
            <a:ext cx="699600" cy="2700"/>
          </a:xfrm>
          <a:prstGeom prst="straightConnector1">
            <a:avLst/>
          </a:prstGeom>
          <a:noFill/>
          <a:ln cap="flat" cmpd="sng" w="28575">
            <a:solidFill>
              <a:srgbClr val="0000FF"/>
            </a:solidFill>
            <a:prstDash val="solid"/>
            <a:round/>
            <a:headEnd len="med" w="med" type="none"/>
            <a:tailEnd len="med" w="med" type="triangle"/>
          </a:ln>
        </p:spPr>
      </p:cxnSp>
      <p:cxnSp>
        <p:nvCxnSpPr>
          <p:cNvPr id="182" name="Google Shape;182;p26"/>
          <p:cNvCxnSpPr/>
          <p:nvPr/>
        </p:nvCxnSpPr>
        <p:spPr>
          <a:xfrm flipH="1" rot="10800000">
            <a:off x="7595750" y="4606900"/>
            <a:ext cx="699600" cy="2700"/>
          </a:xfrm>
          <a:prstGeom prst="straightConnector1">
            <a:avLst/>
          </a:prstGeom>
          <a:noFill/>
          <a:ln cap="flat" cmpd="sng" w="28575">
            <a:solidFill>
              <a:srgbClr val="0000FF"/>
            </a:solidFill>
            <a:prstDash val="solid"/>
            <a:round/>
            <a:headEnd len="med" w="med" type="none"/>
            <a:tailEnd len="med" w="med" type="triangle"/>
          </a:ln>
        </p:spPr>
      </p:cxnSp>
      <p:sp>
        <p:nvSpPr>
          <p:cNvPr id="183" name="Google Shape;183;p26"/>
          <p:cNvSpPr/>
          <p:nvPr/>
        </p:nvSpPr>
        <p:spPr>
          <a:xfrm>
            <a:off x="7082563" y="4366900"/>
            <a:ext cx="513000" cy="424200"/>
          </a:xfrm>
          <a:prstGeom prst="rect">
            <a:avLst/>
          </a:prstGeom>
          <a:no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00F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p27"/>
          <p:cNvPicPr preferRelativeResize="0"/>
          <p:nvPr/>
        </p:nvPicPr>
        <p:blipFill>
          <a:blip r:embed="rId3">
            <a:alphaModFix/>
          </a:blip>
          <a:stretch>
            <a:fillRect/>
          </a:stretch>
        </p:blipFill>
        <p:spPr>
          <a:xfrm>
            <a:off x="152400" y="990600"/>
            <a:ext cx="8841290" cy="5867401"/>
          </a:xfrm>
          <a:prstGeom prst="rect">
            <a:avLst/>
          </a:prstGeom>
          <a:noFill/>
          <a:ln>
            <a:noFill/>
          </a:ln>
        </p:spPr>
      </p:pic>
      <p:sp>
        <p:nvSpPr>
          <p:cNvPr id="189" name="Google Shape;189;p27"/>
          <p:cNvSpPr txBox="1"/>
          <p:nvPr>
            <p:ph type="title"/>
          </p:nvPr>
        </p:nvSpPr>
        <p:spPr>
          <a:xfrm>
            <a:off x="533400" y="457200"/>
            <a:ext cx="7543800" cy="3810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lang="en"/>
              <a:t>Nucleo PWM outputs</a:t>
            </a:r>
            <a:endParaRPr/>
          </a:p>
        </p:txBody>
      </p:sp>
      <p:sp>
        <p:nvSpPr>
          <p:cNvPr id="190" name="Google Shape;190;p27"/>
          <p:cNvSpPr/>
          <p:nvPr/>
        </p:nvSpPr>
        <p:spPr>
          <a:xfrm>
            <a:off x="2919600" y="5829850"/>
            <a:ext cx="1317600" cy="3810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7"/>
          <p:cNvSpPr txBox="1"/>
          <p:nvPr>
            <p:ph idx="1" type="body"/>
          </p:nvPr>
        </p:nvSpPr>
        <p:spPr>
          <a:xfrm>
            <a:off x="152400" y="3122250"/>
            <a:ext cx="2390100" cy="1688700"/>
          </a:xfrm>
          <a:prstGeom prst="rect">
            <a:avLst/>
          </a:prstGeom>
          <a:solidFill>
            <a:srgbClr val="FFFFFF"/>
          </a:solidFill>
          <a:ln>
            <a:noFill/>
          </a:ln>
        </p:spPr>
        <p:txBody>
          <a:bodyPr anchorCtr="0" anchor="t" bIns="45700" lIns="91425" spcFirstLastPara="1" rIns="91425" wrap="square" tIns="45700">
            <a:noAutofit/>
          </a:bodyPr>
          <a:lstStyle/>
          <a:p>
            <a:pPr indent="0" lvl="0" marL="0" rtl="0" algn="r">
              <a:spcBef>
                <a:spcPts val="360"/>
              </a:spcBef>
              <a:spcAft>
                <a:spcPts val="0"/>
              </a:spcAft>
              <a:buNone/>
            </a:pPr>
            <a:r>
              <a:rPr i="1" lang="en" sz="1400">
                <a:solidFill>
                  <a:srgbClr val="FF0000"/>
                </a:solidFill>
              </a:rPr>
              <a:t>Almost every pin is capable of PWM, driven by different counters.</a:t>
            </a:r>
            <a:endParaRPr i="1" sz="1400">
              <a:solidFill>
                <a:srgbClr val="FF0000"/>
              </a:solidFill>
            </a:endParaRPr>
          </a:p>
          <a:p>
            <a:pPr indent="0" lvl="0" marL="0" rtl="0" algn="r">
              <a:spcBef>
                <a:spcPts val="360"/>
              </a:spcBef>
              <a:spcAft>
                <a:spcPts val="0"/>
              </a:spcAft>
              <a:buNone/>
            </a:pPr>
            <a:r>
              <a:rPr i="1" lang="en" sz="1400">
                <a:solidFill>
                  <a:srgbClr val="FF0000"/>
                </a:solidFill>
              </a:rPr>
              <a:t>PA4, PA7 and PB1 can be driven by TIM14.</a:t>
            </a:r>
            <a:endParaRPr i="1" sz="1400">
              <a:solidFill>
                <a:srgbClr val="FF0000"/>
              </a:solidFill>
            </a:endParaRPr>
          </a:p>
          <a:p>
            <a:pPr indent="0" lvl="0" marL="0" rtl="0" algn="r">
              <a:spcBef>
                <a:spcPts val="360"/>
              </a:spcBef>
              <a:spcAft>
                <a:spcPts val="0"/>
              </a:spcAft>
              <a:buNone/>
            </a:pPr>
            <a:r>
              <a:rPr i="1" lang="en" sz="1400">
                <a:solidFill>
                  <a:srgbClr val="FF0000"/>
                </a:solidFill>
              </a:rPr>
              <a:t>See Datasheet, Table 12.</a:t>
            </a:r>
            <a:endParaRPr i="1" sz="1400">
              <a:solidFill>
                <a:srgbClr val="FF0000"/>
              </a:solidFill>
            </a:endParaRPr>
          </a:p>
        </p:txBody>
      </p:sp>
      <p:sp>
        <p:nvSpPr>
          <p:cNvPr id="192" name="Google Shape;192;p27"/>
          <p:cNvSpPr/>
          <p:nvPr/>
        </p:nvSpPr>
        <p:spPr>
          <a:xfrm>
            <a:off x="6253275" y="4339475"/>
            <a:ext cx="1317600" cy="1806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8"/>
          <p:cNvSpPr txBox="1"/>
          <p:nvPr>
            <p:ph type="title"/>
          </p:nvPr>
        </p:nvSpPr>
        <p:spPr>
          <a:xfrm>
            <a:off x="533400" y="457200"/>
            <a:ext cx="7543800" cy="381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a:t>Setting up Timer 14 for PWM</a:t>
            </a:r>
            <a:endParaRPr/>
          </a:p>
        </p:txBody>
      </p:sp>
      <p:pic>
        <p:nvPicPr>
          <p:cNvPr descr="PWM-2.pdf" id="198" name="Google Shape;198;p28"/>
          <p:cNvPicPr preferRelativeResize="0"/>
          <p:nvPr/>
        </p:nvPicPr>
        <p:blipFill rotWithShape="1">
          <a:blip r:embed="rId3">
            <a:alphaModFix/>
          </a:blip>
          <a:srcRect b="0" l="0" r="0" t="0"/>
          <a:stretch/>
        </p:blipFill>
        <p:spPr>
          <a:xfrm>
            <a:off x="1029784" y="1077925"/>
            <a:ext cx="7047416" cy="2133600"/>
          </a:xfrm>
          <a:prstGeom prst="rect">
            <a:avLst/>
          </a:prstGeom>
          <a:noFill/>
          <a:ln>
            <a:noFill/>
          </a:ln>
        </p:spPr>
      </p:pic>
      <p:sp>
        <p:nvSpPr>
          <p:cNvPr id="199" name="Google Shape;199;p28"/>
          <p:cNvSpPr txBox="1"/>
          <p:nvPr/>
        </p:nvSpPr>
        <p:spPr>
          <a:xfrm>
            <a:off x="2138671" y="1141175"/>
            <a:ext cx="3693000" cy="369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rPr i="0" lang="en" u="none" cap="none" strike="noStrike">
                <a:solidFill>
                  <a:schemeClr val="dk1"/>
                </a:solidFill>
              </a:rPr>
              <a:t>Minimum pulse width, </a:t>
            </a:r>
            <a:r>
              <a:rPr i="1" lang="en" u="none" cap="none" strike="noStrike">
                <a:solidFill>
                  <a:schemeClr val="dk1"/>
                </a:solidFill>
              </a:rPr>
              <a:t>T</a:t>
            </a:r>
            <a:r>
              <a:rPr baseline="-25000" i="0" lang="en" u="none" cap="none" strike="noStrike">
                <a:solidFill>
                  <a:schemeClr val="dk1"/>
                </a:solidFill>
              </a:rPr>
              <a:t>0 </a:t>
            </a:r>
            <a:r>
              <a:rPr i="0" lang="en" u="none" cap="none" strike="noStrike">
                <a:solidFill>
                  <a:schemeClr val="dk1"/>
                </a:solidFill>
              </a:rPr>
              <a:t> = </a:t>
            </a:r>
            <a:r>
              <a:rPr i="1" lang="en" u="none" cap="none" strike="noStrike">
                <a:solidFill>
                  <a:schemeClr val="dk1"/>
                </a:solidFill>
              </a:rPr>
              <a:t>T</a:t>
            </a:r>
            <a:r>
              <a:rPr baseline="-25000" i="0" lang="en" u="none" cap="none" strike="noStrike">
                <a:solidFill>
                  <a:schemeClr val="dk1"/>
                </a:solidFill>
              </a:rPr>
              <a:t>p</a:t>
            </a:r>
            <a:r>
              <a:rPr i="0" lang="en" u="none" cap="none" strike="noStrike">
                <a:solidFill>
                  <a:schemeClr val="dk1"/>
                </a:solidFill>
              </a:rPr>
              <a:t>/</a:t>
            </a:r>
            <a:r>
              <a:rPr lang="en">
                <a:solidFill>
                  <a:schemeClr val="dk1"/>
                </a:solidFill>
              </a:rPr>
              <a:t> MAXCOUNT</a:t>
            </a:r>
            <a:endParaRPr/>
          </a:p>
        </p:txBody>
      </p:sp>
      <p:sp>
        <p:nvSpPr>
          <p:cNvPr id="200" name="Google Shape;200;p28"/>
          <p:cNvSpPr txBox="1"/>
          <p:nvPr/>
        </p:nvSpPr>
        <p:spPr>
          <a:xfrm>
            <a:off x="2138663" y="2495263"/>
            <a:ext cx="1821000" cy="369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rPr i="0" lang="en" u="none" cap="none" strike="noStrike">
                <a:solidFill>
                  <a:schemeClr val="dk1"/>
                </a:solidFill>
              </a:rPr>
              <a:t>Pulse period, </a:t>
            </a:r>
            <a:r>
              <a:rPr i="1" lang="en" u="none" cap="none" strike="noStrike">
                <a:solidFill>
                  <a:schemeClr val="dk1"/>
                </a:solidFill>
              </a:rPr>
              <a:t>T</a:t>
            </a:r>
            <a:r>
              <a:rPr baseline="-25000" i="0" lang="en" u="none" cap="none" strike="noStrike">
                <a:solidFill>
                  <a:schemeClr val="dk1"/>
                </a:solidFill>
              </a:rPr>
              <a:t>p</a:t>
            </a:r>
            <a:endParaRPr/>
          </a:p>
        </p:txBody>
      </p:sp>
      <p:graphicFrame>
        <p:nvGraphicFramePr>
          <p:cNvPr id="201" name="Google Shape;201;p28"/>
          <p:cNvGraphicFramePr/>
          <p:nvPr/>
        </p:nvGraphicFramePr>
        <p:xfrm>
          <a:off x="533400" y="3317630"/>
          <a:ext cx="3000000" cy="3000000"/>
        </p:xfrm>
        <a:graphic>
          <a:graphicData uri="http://schemas.openxmlformats.org/drawingml/2006/table">
            <a:tbl>
              <a:tblPr>
                <a:noFill/>
                <a:tableStyleId>{C44D4242-A1F1-43E5-9E80-658D651704D4}</a:tableStyleId>
              </a:tblPr>
              <a:tblGrid>
                <a:gridCol w="1015950"/>
                <a:gridCol w="910125"/>
                <a:gridCol w="1889625"/>
                <a:gridCol w="2377725"/>
                <a:gridCol w="1661025"/>
              </a:tblGrid>
              <a:tr h="393950">
                <a:tc>
                  <a:txBody>
                    <a:bodyPr/>
                    <a:lstStyle/>
                    <a:p>
                      <a:pPr indent="0" lvl="0" marL="0" rtl="0" algn="ctr">
                        <a:spcBef>
                          <a:spcPts val="0"/>
                        </a:spcBef>
                        <a:spcAft>
                          <a:spcPts val="0"/>
                        </a:spcAft>
                        <a:buNone/>
                      </a:pPr>
                      <a:r>
                        <a:rPr lang="en"/>
                        <a:t>prescaler</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ARR+1</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T</a:t>
                      </a:r>
                      <a:r>
                        <a:rPr baseline="-25000" lang="en"/>
                        <a:t>0</a:t>
                      </a:r>
                      <a:r>
                        <a:rPr lang="en"/>
                        <a:t> = </a:t>
                      </a:r>
                      <a:r>
                        <a:rPr lang="en">
                          <a:solidFill>
                            <a:srgbClr val="0000FF"/>
                          </a:solidFill>
                        </a:rPr>
                        <a:t>20ms</a:t>
                      </a:r>
                      <a:r>
                        <a:rPr lang="en"/>
                        <a:t> / (ARR+1)</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#steps, 1ms - 2ms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a:t>
                      </a:r>
                      <a:r>
                        <a:rPr lang="en"/>
                        <a:t>𝜃 = 180° / #steps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47925">
                <a:tc>
                  <a:txBody>
                    <a:bodyPr/>
                    <a:lstStyle/>
                    <a:p>
                      <a:pPr indent="0" lvl="0" marL="0" rtl="0" algn="ctr">
                        <a:spcBef>
                          <a:spcPts val="0"/>
                        </a:spcBef>
                        <a:spcAft>
                          <a:spcPts val="0"/>
                        </a:spcAft>
                        <a:buNone/>
                      </a:pPr>
                      <a:r>
                        <a:rPr lang="en"/>
                        <a:t>6</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40000</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0.5µs</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 (2ms–1ms) / 0.5µs = 2000</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0.09°</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47925">
                <a:tc>
                  <a:txBody>
                    <a:bodyPr/>
                    <a:lstStyle/>
                    <a:p>
                      <a:pPr indent="0" lvl="0" marL="0" rtl="0" algn="ctr">
                        <a:spcBef>
                          <a:spcPts val="0"/>
                        </a:spcBef>
                        <a:spcAft>
                          <a:spcPts val="0"/>
                        </a:spcAft>
                        <a:buNone/>
                      </a:pPr>
                      <a:r>
                        <a:rPr lang="en"/>
                        <a:t>60</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4000</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5µs</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200</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0.9°</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47925">
                <a:tc>
                  <a:txBody>
                    <a:bodyPr/>
                    <a:lstStyle/>
                    <a:p>
                      <a:pPr indent="0" lvl="0" marL="0" rtl="0" algn="ctr">
                        <a:spcBef>
                          <a:spcPts val="0"/>
                        </a:spcBef>
                        <a:spcAft>
                          <a:spcPts val="0"/>
                        </a:spcAft>
                        <a:buNone/>
                      </a:pPr>
                      <a:r>
                        <a:rPr lang="en"/>
                        <a:t>240</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1000</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20µs</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50</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3.6°</a:t>
                      </a:r>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202" name="Google Shape;202;p28"/>
          <p:cNvSpPr txBox="1"/>
          <p:nvPr/>
        </p:nvSpPr>
        <p:spPr>
          <a:xfrm>
            <a:off x="2459475" y="5576725"/>
            <a:ext cx="3414000" cy="45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rgbClr val="0000FF"/>
                </a:solidFill>
              </a:rPr>
              <a:t>Which one do you like best?</a:t>
            </a:r>
            <a:endParaRPr sz="1600">
              <a:solidFill>
                <a:srgbClr val="0000FF"/>
              </a:solidFill>
            </a:endParaRPr>
          </a:p>
        </p:txBody>
      </p:sp>
      <p:sp>
        <p:nvSpPr>
          <p:cNvPr id="203" name="Google Shape;203;p28"/>
          <p:cNvSpPr txBox="1"/>
          <p:nvPr/>
        </p:nvSpPr>
        <p:spPr>
          <a:xfrm>
            <a:off x="6237450" y="356225"/>
            <a:ext cx="2841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0000FF"/>
                </a:solidFill>
              </a:rPr>
              <a:t>50 Hz frequency gives a pulse </a:t>
            </a:r>
            <a:r>
              <a:rPr lang="en">
                <a:solidFill>
                  <a:srgbClr val="0000FF"/>
                </a:solidFill>
              </a:rPr>
              <a:t>period of T</a:t>
            </a:r>
            <a:r>
              <a:rPr baseline="-25000" lang="en">
                <a:solidFill>
                  <a:srgbClr val="0000FF"/>
                </a:solidFill>
              </a:rPr>
              <a:t>p</a:t>
            </a:r>
            <a:r>
              <a:rPr lang="en">
                <a:solidFill>
                  <a:srgbClr val="0000FF"/>
                </a:solidFill>
              </a:rPr>
              <a:t> = 1000/50 = 20ms.</a:t>
            </a:r>
            <a:endParaRPr>
              <a:solidFill>
                <a:srgbClr val="0000FF"/>
              </a:solidFill>
            </a:endParaRPr>
          </a:p>
        </p:txBody>
      </p:sp>
      <p:sp>
        <p:nvSpPr>
          <p:cNvPr id="204" name="Google Shape;204;p28"/>
          <p:cNvSpPr txBox="1"/>
          <p:nvPr/>
        </p:nvSpPr>
        <p:spPr>
          <a:xfrm>
            <a:off x="2307975" y="6171000"/>
            <a:ext cx="4044600" cy="45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38761D"/>
                </a:solidFill>
              </a:rPr>
              <a:t>Recall: The servo has a dead band of 1µs.</a:t>
            </a:r>
            <a:endParaRPr sz="1600">
              <a:solidFill>
                <a:srgbClr val="38761D"/>
              </a:solidFill>
            </a:endParaRPr>
          </a:p>
        </p:txBody>
      </p:sp>
      <p:sp>
        <p:nvSpPr>
          <p:cNvPr id="205" name="Google Shape;205;p28"/>
          <p:cNvSpPr txBox="1"/>
          <p:nvPr/>
        </p:nvSpPr>
        <p:spPr>
          <a:xfrm>
            <a:off x="6583650" y="5762050"/>
            <a:ext cx="2148900" cy="960000"/>
          </a:xfrm>
          <a:prstGeom prst="rect">
            <a:avLst/>
          </a:prstGeom>
          <a:solidFill>
            <a:srgbClr val="D9EAD3"/>
          </a:solidFill>
          <a:ln cap="flat" cmpd="sng" w="28575">
            <a:solidFill>
              <a:srgbClr val="274E13"/>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274E13"/>
                </a:solidFill>
              </a:rPr>
              <a:t>If you change the pulse by 1µs the motor won't notice.</a:t>
            </a:r>
            <a:endParaRPr sz="1800">
              <a:solidFill>
                <a:srgbClr val="274E13"/>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9"/>
          <p:cNvSpPr txBox="1"/>
          <p:nvPr>
            <p:ph type="title"/>
          </p:nvPr>
        </p:nvSpPr>
        <p:spPr>
          <a:xfrm>
            <a:off x="6823825" y="83500"/>
            <a:ext cx="2262900" cy="110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Timer 14 Registers</a:t>
            </a:r>
            <a:endParaRPr/>
          </a:p>
        </p:txBody>
      </p:sp>
      <p:pic>
        <p:nvPicPr>
          <p:cNvPr id="211" name="Google Shape;211;p29"/>
          <p:cNvPicPr preferRelativeResize="0"/>
          <p:nvPr/>
        </p:nvPicPr>
        <p:blipFill>
          <a:blip r:embed="rId3">
            <a:alphaModFix/>
          </a:blip>
          <a:stretch>
            <a:fillRect/>
          </a:stretch>
        </p:blipFill>
        <p:spPr>
          <a:xfrm>
            <a:off x="63113" y="436874"/>
            <a:ext cx="6663525" cy="1307125"/>
          </a:xfrm>
          <a:prstGeom prst="rect">
            <a:avLst/>
          </a:prstGeom>
          <a:noFill/>
          <a:ln>
            <a:noFill/>
          </a:ln>
        </p:spPr>
      </p:pic>
      <p:sp>
        <p:nvSpPr>
          <p:cNvPr id="212" name="Google Shape;212;p29"/>
          <p:cNvSpPr txBox="1"/>
          <p:nvPr/>
        </p:nvSpPr>
        <p:spPr>
          <a:xfrm>
            <a:off x="164738" y="98500"/>
            <a:ext cx="6561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2"/>
                </a:solidFill>
              </a:rPr>
              <a:t>TIM14 capture/compare mode register 1 (</a:t>
            </a:r>
            <a:r>
              <a:rPr b="1" lang="en" sz="1200">
                <a:solidFill>
                  <a:schemeClr val="dk2"/>
                </a:solidFill>
                <a:highlight>
                  <a:srgbClr val="FFFF00"/>
                </a:highlight>
              </a:rPr>
              <a:t>TIM14_CCMR1</a:t>
            </a:r>
            <a:r>
              <a:rPr b="1" lang="en" sz="1200">
                <a:solidFill>
                  <a:schemeClr val="dk2"/>
                </a:solidFill>
              </a:rPr>
              <a:t>) in Output Compare Mode</a:t>
            </a:r>
            <a:endParaRPr b="1" sz="1200">
              <a:solidFill>
                <a:schemeClr val="dk2"/>
              </a:solidFill>
            </a:endParaRPr>
          </a:p>
        </p:txBody>
      </p:sp>
      <p:pic>
        <p:nvPicPr>
          <p:cNvPr id="213" name="Google Shape;213;p29"/>
          <p:cNvPicPr preferRelativeResize="0"/>
          <p:nvPr/>
        </p:nvPicPr>
        <p:blipFill>
          <a:blip r:embed="rId4">
            <a:alphaModFix/>
          </a:blip>
          <a:stretch>
            <a:fillRect/>
          </a:stretch>
        </p:blipFill>
        <p:spPr>
          <a:xfrm>
            <a:off x="-63850" y="1806800"/>
            <a:ext cx="7205749" cy="3481650"/>
          </a:xfrm>
          <a:prstGeom prst="rect">
            <a:avLst/>
          </a:prstGeom>
          <a:noFill/>
          <a:ln>
            <a:noFill/>
          </a:ln>
        </p:spPr>
      </p:pic>
      <p:pic>
        <p:nvPicPr>
          <p:cNvPr id="214" name="Google Shape;214;p29"/>
          <p:cNvPicPr preferRelativeResize="0"/>
          <p:nvPr/>
        </p:nvPicPr>
        <p:blipFill>
          <a:blip r:embed="rId5">
            <a:alphaModFix/>
          </a:blip>
          <a:stretch>
            <a:fillRect/>
          </a:stretch>
        </p:blipFill>
        <p:spPr>
          <a:xfrm>
            <a:off x="164738" y="5351250"/>
            <a:ext cx="7145575" cy="1359025"/>
          </a:xfrm>
          <a:prstGeom prst="rect">
            <a:avLst/>
          </a:prstGeom>
          <a:noFill/>
          <a:ln>
            <a:noFill/>
          </a:ln>
        </p:spPr>
      </p:pic>
      <p:sp>
        <p:nvSpPr>
          <p:cNvPr id="215" name="Google Shape;215;p29"/>
          <p:cNvSpPr/>
          <p:nvPr/>
        </p:nvSpPr>
        <p:spPr>
          <a:xfrm>
            <a:off x="6218500" y="467800"/>
            <a:ext cx="457200" cy="7170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9"/>
          <p:cNvSpPr/>
          <p:nvPr/>
        </p:nvSpPr>
        <p:spPr>
          <a:xfrm>
            <a:off x="3807700" y="1116450"/>
            <a:ext cx="1216200" cy="5592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9"/>
          <p:cNvSpPr/>
          <p:nvPr/>
        </p:nvSpPr>
        <p:spPr>
          <a:xfrm>
            <a:off x="951825" y="4634250"/>
            <a:ext cx="6129900" cy="3099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9"/>
          <p:cNvSpPr/>
          <p:nvPr/>
        </p:nvSpPr>
        <p:spPr>
          <a:xfrm rot="10800000">
            <a:off x="979725" y="5837025"/>
            <a:ext cx="2984700" cy="2805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9"/>
          <p:cNvSpPr txBox="1"/>
          <p:nvPr/>
        </p:nvSpPr>
        <p:spPr>
          <a:xfrm>
            <a:off x="5309050" y="3417500"/>
            <a:ext cx="3346200" cy="921900"/>
          </a:xfrm>
          <a:prstGeom prst="rect">
            <a:avLst/>
          </a:prstGeom>
          <a:solidFill>
            <a:srgbClr val="CFE2F3"/>
          </a:solidFill>
          <a:ln cap="flat" cmpd="sng" w="2857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100">
                <a:solidFill>
                  <a:schemeClr val="dk2"/>
                </a:solidFill>
                <a:latin typeface="Courier New"/>
                <a:ea typeface="Courier New"/>
                <a:cs typeface="Courier New"/>
                <a:sym typeface="Courier New"/>
              </a:rPr>
              <a:t>// Set pwm mode 1 (0110)</a:t>
            </a:r>
            <a:endParaRPr b="1" sz="11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rgbClr val="0000FF"/>
                </a:solidFill>
                <a:latin typeface="Courier New"/>
                <a:ea typeface="Courier New"/>
                <a:cs typeface="Courier New"/>
                <a:sym typeface="Courier New"/>
              </a:rPr>
              <a:t>TIM14-&gt;CCMR1</a:t>
            </a:r>
            <a:r>
              <a:rPr b="1" lang="en" sz="1100">
                <a:solidFill>
                  <a:schemeClr val="dk2"/>
                </a:solidFill>
                <a:latin typeface="Courier New"/>
                <a:ea typeface="Courier New"/>
                <a:cs typeface="Courier New"/>
                <a:sym typeface="Courier New"/>
              </a:rPr>
              <a:t> &amp;= ~TIM_CCMR1_OC1M_Msk;</a:t>
            </a:r>
            <a:endParaRPr b="1" sz="11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rgbClr val="0000FF"/>
                </a:solidFill>
                <a:latin typeface="Courier New"/>
                <a:ea typeface="Courier New"/>
                <a:cs typeface="Courier New"/>
                <a:sym typeface="Courier New"/>
              </a:rPr>
              <a:t>TIM14-&gt;CCMR1</a:t>
            </a:r>
            <a:r>
              <a:rPr b="1" lang="en" sz="1100">
                <a:solidFill>
                  <a:schemeClr val="dk2"/>
                </a:solidFill>
                <a:latin typeface="Courier New"/>
                <a:ea typeface="Courier New"/>
                <a:cs typeface="Courier New"/>
                <a:sym typeface="Courier New"/>
              </a:rPr>
              <a:t> |= (TIM_OC1_PWM1 &lt;&lt; </a:t>
            </a:r>
            <a:endParaRPr b="1" sz="11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2"/>
                </a:solidFill>
                <a:latin typeface="Courier New"/>
                <a:ea typeface="Courier New"/>
                <a:cs typeface="Courier New"/>
                <a:sym typeface="Courier New"/>
              </a:rPr>
              <a:t>                 TIM_CCMR1_OC1M_Pos);</a:t>
            </a:r>
            <a:endParaRPr b="1" sz="1700">
              <a:solidFill>
                <a:schemeClr val="dk2"/>
              </a:solidFill>
            </a:endParaRPr>
          </a:p>
        </p:txBody>
      </p:sp>
      <p:sp>
        <p:nvSpPr>
          <p:cNvPr id="220" name="Google Shape;220;p29"/>
          <p:cNvSpPr txBox="1"/>
          <p:nvPr/>
        </p:nvSpPr>
        <p:spPr>
          <a:xfrm>
            <a:off x="5309050" y="5788375"/>
            <a:ext cx="3346200" cy="921900"/>
          </a:xfrm>
          <a:prstGeom prst="rect">
            <a:avLst/>
          </a:prstGeom>
          <a:solidFill>
            <a:srgbClr val="CFE2F3"/>
          </a:solidFill>
          <a:ln cap="flat" cmpd="sng" w="2857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00">
                <a:solidFill>
                  <a:schemeClr val="dk2"/>
                </a:solidFill>
                <a:latin typeface="Courier New"/>
                <a:ea typeface="Courier New"/>
                <a:cs typeface="Courier New"/>
                <a:sym typeface="Courier New"/>
              </a:rPr>
              <a:t>// Set pwm mode 1 (0110)</a:t>
            </a:r>
            <a:endParaRPr b="1" sz="11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rgbClr val="0000FF"/>
                </a:solidFill>
                <a:latin typeface="Courier New"/>
                <a:ea typeface="Courier New"/>
                <a:cs typeface="Courier New"/>
                <a:sym typeface="Courier New"/>
              </a:rPr>
              <a:t>TIM14-&gt;CCMR1</a:t>
            </a:r>
            <a:r>
              <a:rPr b="1" lang="en" sz="1100">
                <a:solidFill>
                  <a:schemeClr val="dk2"/>
                </a:solidFill>
                <a:latin typeface="Courier New"/>
                <a:ea typeface="Courier New"/>
                <a:cs typeface="Courier New"/>
                <a:sym typeface="Courier New"/>
              </a:rPr>
              <a:t> &amp;= ~TIM_CCMR1_CC1S_Msk;</a:t>
            </a:r>
            <a:endParaRPr b="1" sz="11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rgbClr val="0000FF"/>
                </a:solidFill>
                <a:latin typeface="Courier New"/>
                <a:ea typeface="Courier New"/>
                <a:cs typeface="Courier New"/>
                <a:sym typeface="Courier New"/>
              </a:rPr>
              <a:t>TIM14-&gt;CCMR1</a:t>
            </a:r>
            <a:r>
              <a:rPr b="1" lang="en" sz="1100">
                <a:solidFill>
                  <a:schemeClr val="dk2"/>
                </a:solidFill>
                <a:latin typeface="Courier New"/>
                <a:ea typeface="Courier New"/>
                <a:cs typeface="Courier New"/>
                <a:sym typeface="Courier New"/>
              </a:rPr>
              <a:t> |= TIM_CC1_OUTPUT &lt;&lt; </a:t>
            </a:r>
            <a:endParaRPr b="1" sz="1100">
              <a:solidFill>
                <a:schemeClr val="dk2"/>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100">
                <a:solidFill>
                  <a:schemeClr val="dk2"/>
                </a:solidFill>
                <a:latin typeface="Courier New"/>
                <a:ea typeface="Courier New"/>
                <a:cs typeface="Courier New"/>
                <a:sym typeface="Courier New"/>
              </a:rPr>
              <a:t>                 TIM_CCMR1_CC1S_Pos;</a:t>
            </a:r>
            <a:endParaRPr b="1" sz="17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id="225" name="Google Shape;225;p30"/>
          <p:cNvPicPr preferRelativeResize="0"/>
          <p:nvPr/>
        </p:nvPicPr>
        <p:blipFill>
          <a:blip r:embed="rId3">
            <a:alphaModFix/>
          </a:blip>
          <a:stretch>
            <a:fillRect/>
          </a:stretch>
        </p:blipFill>
        <p:spPr>
          <a:xfrm>
            <a:off x="220750" y="2394617"/>
            <a:ext cx="6475576" cy="789558"/>
          </a:xfrm>
          <a:prstGeom prst="rect">
            <a:avLst/>
          </a:prstGeom>
          <a:noFill/>
          <a:ln>
            <a:noFill/>
          </a:ln>
        </p:spPr>
      </p:pic>
      <p:pic>
        <p:nvPicPr>
          <p:cNvPr id="226" name="Google Shape;226;p30"/>
          <p:cNvPicPr preferRelativeResize="0"/>
          <p:nvPr/>
        </p:nvPicPr>
        <p:blipFill>
          <a:blip r:embed="rId4">
            <a:alphaModFix/>
          </a:blip>
          <a:stretch>
            <a:fillRect/>
          </a:stretch>
        </p:blipFill>
        <p:spPr>
          <a:xfrm>
            <a:off x="448600" y="3215375"/>
            <a:ext cx="7604151" cy="1255875"/>
          </a:xfrm>
          <a:prstGeom prst="rect">
            <a:avLst/>
          </a:prstGeom>
          <a:noFill/>
          <a:ln>
            <a:noFill/>
          </a:ln>
        </p:spPr>
      </p:pic>
      <p:pic>
        <p:nvPicPr>
          <p:cNvPr id="227" name="Google Shape;227;p30"/>
          <p:cNvPicPr preferRelativeResize="0"/>
          <p:nvPr/>
        </p:nvPicPr>
        <p:blipFill>
          <a:blip r:embed="rId5">
            <a:alphaModFix/>
          </a:blip>
          <a:stretch>
            <a:fillRect/>
          </a:stretch>
        </p:blipFill>
        <p:spPr>
          <a:xfrm>
            <a:off x="448600" y="1103900"/>
            <a:ext cx="7708100" cy="942775"/>
          </a:xfrm>
          <a:prstGeom prst="rect">
            <a:avLst/>
          </a:prstGeom>
          <a:noFill/>
          <a:ln>
            <a:noFill/>
          </a:ln>
        </p:spPr>
      </p:pic>
      <p:pic>
        <p:nvPicPr>
          <p:cNvPr id="228" name="Google Shape;228;p30"/>
          <p:cNvPicPr preferRelativeResize="0"/>
          <p:nvPr/>
        </p:nvPicPr>
        <p:blipFill>
          <a:blip r:embed="rId6">
            <a:alphaModFix/>
          </a:blip>
          <a:stretch>
            <a:fillRect/>
          </a:stretch>
        </p:blipFill>
        <p:spPr>
          <a:xfrm>
            <a:off x="164750" y="319475"/>
            <a:ext cx="6475581" cy="717000"/>
          </a:xfrm>
          <a:prstGeom prst="rect">
            <a:avLst/>
          </a:prstGeom>
          <a:noFill/>
          <a:ln>
            <a:noFill/>
          </a:ln>
        </p:spPr>
      </p:pic>
      <p:sp>
        <p:nvSpPr>
          <p:cNvPr id="229" name="Google Shape;229;p30"/>
          <p:cNvSpPr txBox="1"/>
          <p:nvPr>
            <p:ph type="title"/>
          </p:nvPr>
        </p:nvSpPr>
        <p:spPr>
          <a:xfrm>
            <a:off x="6823825" y="83500"/>
            <a:ext cx="2262900" cy="110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Timer 14 Registers</a:t>
            </a:r>
            <a:endParaRPr/>
          </a:p>
        </p:txBody>
      </p:sp>
      <p:sp>
        <p:nvSpPr>
          <p:cNvPr id="230" name="Google Shape;230;p30"/>
          <p:cNvSpPr txBox="1"/>
          <p:nvPr/>
        </p:nvSpPr>
        <p:spPr>
          <a:xfrm>
            <a:off x="164745" y="98500"/>
            <a:ext cx="4164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2"/>
                </a:solidFill>
              </a:rPr>
              <a:t>TIM14 capture/compare enable register (</a:t>
            </a:r>
            <a:r>
              <a:rPr b="1" lang="en" sz="1200">
                <a:solidFill>
                  <a:schemeClr val="dk2"/>
                </a:solidFill>
                <a:highlight>
                  <a:srgbClr val="FFFF00"/>
                </a:highlight>
              </a:rPr>
              <a:t>TIM14_CCER</a:t>
            </a:r>
            <a:r>
              <a:rPr b="1" lang="en" sz="1200">
                <a:solidFill>
                  <a:schemeClr val="dk2"/>
                </a:solidFill>
              </a:rPr>
              <a:t>)</a:t>
            </a:r>
            <a:endParaRPr b="1" sz="1200">
              <a:solidFill>
                <a:schemeClr val="dk2"/>
              </a:solidFill>
            </a:endParaRPr>
          </a:p>
        </p:txBody>
      </p:sp>
      <p:sp>
        <p:nvSpPr>
          <p:cNvPr id="231" name="Google Shape;231;p30"/>
          <p:cNvSpPr/>
          <p:nvPr/>
        </p:nvSpPr>
        <p:spPr>
          <a:xfrm>
            <a:off x="6115950" y="378725"/>
            <a:ext cx="457200" cy="5592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0"/>
          <p:cNvSpPr/>
          <p:nvPr/>
        </p:nvSpPr>
        <p:spPr>
          <a:xfrm>
            <a:off x="6222800" y="2452550"/>
            <a:ext cx="417600" cy="5592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30"/>
          <p:cNvSpPr/>
          <p:nvPr/>
        </p:nvSpPr>
        <p:spPr>
          <a:xfrm>
            <a:off x="1100675" y="1663725"/>
            <a:ext cx="7056000" cy="3099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0"/>
          <p:cNvSpPr/>
          <p:nvPr/>
        </p:nvSpPr>
        <p:spPr>
          <a:xfrm rot="10800000">
            <a:off x="1048025" y="3909975"/>
            <a:ext cx="6926400" cy="5043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0"/>
          <p:cNvSpPr txBox="1"/>
          <p:nvPr/>
        </p:nvSpPr>
        <p:spPr>
          <a:xfrm>
            <a:off x="164745" y="2163925"/>
            <a:ext cx="4164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2"/>
                </a:solidFill>
              </a:rPr>
              <a:t>TIM14 event generation register (</a:t>
            </a:r>
            <a:r>
              <a:rPr b="1" lang="en" sz="1200">
                <a:solidFill>
                  <a:schemeClr val="dk2"/>
                </a:solidFill>
                <a:highlight>
                  <a:srgbClr val="FFFF00"/>
                </a:highlight>
              </a:rPr>
              <a:t>TIM14_EGR</a:t>
            </a:r>
            <a:r>
              <a:rPr b="1" lang="en" sz="1200">
                <a:solidFill>
                  <a:schemeClr val="dk2"/>
                </a:solidFill>
              </a:rPr>
              <a:t>)</a:t>
            </a:r>
            <a:endParaRPr b="1" sz="1200">
              <a:solidFill>
                <a:schemeClr val="dk2"/>
              </a:solidFill>
            </a:endParaRPr>
          </a:p>
        </p:txBody>
      </p:sp>
      <p:pic>
        <p:nvPicPr>
          <p:cNvPr id="236" name="Google Shape;236;p30"/>
          <p:cNvPicPr preferRelativeResize="0"/>
          <p:nvPr/>
        </p:nvPicPr>
        <p:blipFill>
          <a:blip r:embed="rId7">
            <a:alphaModFix/>
          </a:blip>
          <a:stretch>
            <a:fillRect/>
          </a:stretch>
        </p:blipFill>
        <p:spPr>
          <a:xfrm>
            <a:off x="152400" y="4917091"/>
            <a:ext cx="6543926" cy="836610"/>
          </a:xfrm>
          <a:prstGeom prst="rect">
            <a:avLst/>
          </a:prstGeom>
          <a:noFill/>
          <a:ln>
            <a:noFill/>
          </a:ln>
        </p:spPr>
      </p:pic>
      <p:sp>
        <p:nvSpPr>
          <p:cNvPr id="237" name="Google Shape;237;p30"/>
          <p:cNvSpPr txBox="1"/>
          <p:nvPr/>
        </p:nvSpPr>
        <p:spPr>
          <a:xfrm>
            <a:off x="220745" y="4608225"/>
            <a:ext cx="4164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2"/>
                </a:solidFill>
              </a:rPr>
              <a:t>TIM14 control register 1 (</a:t>
            </a:r>
            <a:r>
              <a:rPr b="1" lang="en" sz="1200">
                <a:solidFill>
                  <a:schemeClr val="dk2"/>
                </a:solidFill>
                <a:highlight>
                  <a:srgbClr val="FFFF00"/>
                </a:highlight>
              </a:rPr>
              <a:t>TIM14_CR1</a:t>
            </a:r>
            <a:r>
              <a:rPr b="1" lang="en" sz="1200">
                <a:solidFill>
                  <a:schemeClr val="dk2"/>
                </a:solidFill>
              </a:rPr>
              <a:t>)</a:t>
            </a:r>
            <a:endParaRPr b="1" sz="1200">
              <a:solidFill>
                <a:schemeClr val="dk2"/>
              </a:solidFill>
            </a:endParaRPr>
          </a:p>
        </p:txBody>
      </p:sp>
      <p:sp>
        <p:nvSpPr>
          <p:cNvPr id="238" name="Google Shape;238;p30"/>
          <p:cNvSpPr/>
          <p:nvPr/>
        </p:nvSpPr>
        <p:spPr>
          <a:xfrm>
            <a:off x="6222800" y="4977525"/>
            <a:ext cx="417600" cy="6501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9" name="Google Shape;239;p30"/>
          <p:cNvPicPr preferRelativeResize="0"/>
          <p:nvPr/>
        </p:nvPicPr>
        <p:blipFill>
          <a:blip r:embed="rId8">
            <a:alphaModFix/>
          </a:blip>
          <a:stretch>
            <a:fillRect/>
          </a:stretch>
        </p:blipFill>
        <p:spPr>
          <a:xfrm>
            <a:off x="448600" y="5839050"/>
            <a:ext cx="1875289" cy="650100"/>
          </a:xfrm>
          <a:prstGeom prst="rect">
            <a:avLst/>
          </a:prstGeom>
          <a:noFill/>
          <a:ln>
            <a:noFill/>
          </a:ln>
        </p:spPr>
      </p:pic>
      <p:sp>
        <p:nvSpPr>
          <p:cNvPr id="240" name="Google Shape;240;p30"/>
          <p:cNvSpPr/>
          <p:nvPr/>
        </p:nvSpPr>
        <p:spPr>
          <a:xfrm rot="10800000">
            <a:off x="995325" y="6242950"/>
            <a:ext cx="1248900" cy="2619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id="245" name="Google Shape;245;p31"/>
          <p:cNvPicPr preferRelativeResize="0"/>
          <p:nvPr/>
        </p:nvPicPr>
        <p:blipFill>
          <a:blip r:embed="rId3">
            <a:alphaModFix/>
          </a:blip>
          <a:stretch>
            <a:fillRect/>
          </a:stretch>
        </p:blipFill>
        <p:spPr>
          <a:xfrm>
            <a:off x="155588" y="2054625"/>
            <a:ext cx="8832826" cy="4699575"/>
          </a:xfrm>
          <a:prstGeom prst="rect">
            <a:avLst/>
          </a:prstGeom>
          <a:noFill/>
          <a:ln>
            <a:noFill/>
          </a:ln>
        </p:spPr>
      </p:pic>
      <p:sp>
        <p:nvSpPr>
          <p:cNvPr id="246" name="Google Shape;246;p31"/>
          <p:cNvSpPr txBox="1"/>
          <p:nvPr>
            <p:ph type="title"/>
          </p:nvPr>
        </p:nvSpPr>
        <p:spPr>
          <a:xfrm>
            <a:off x="6823825" y="83500"/>
            <a:ext cx="2262900" cy="110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Timer 14 Registers</a:t>
            </a:r>
            <a:endParaRPr/>
          </a:p>
        </p:txBody>
      </p:sp>
      <p:sp>
        <p:nvSpPr>
          <p:cNvPr id="247" name="Google Shape;247;p31"/>
          <p:cNvSpPr/>
          <p:nvPr/>
        </p:nvSpPr>
        <p:spPr>
          <a:xfrm>
            <a:off x="5010975" y="2054625"/>
            <a:ext cx="3920400" cy="9858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1"/>
          <p:cNvSpPr/>
          <p:nvPr/>
        </p:nvSpPr>
        <p:spPr>
          <a:xfrm>
            <a:off x="5016650" y="3080300"/>
            <a:ext cx="3920400" cy="843000"/>
          </a:xfrm>
          <a:prstGeom prst="rect">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31"/>
          <p:cNvSpPr/>
          <p:nvPr/>
        </p:nvSpPr>
        <p:spPr>
          <a:xfrm>
            <a:off x="5010975" y="5331225"/>
            <a:ext cx="3920400" cy="843000"/>
          </a:xfrm>
          <a:prstGeom prst="rect">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1"/>
          <p:cNvSpPr/>
          <p:nvPr/>
        </p:nvSpPr>
        <p:spPr>
          <a:xfrm rot="10800000">
            <a:off x="5010950" y="3963175"/>
            <a:ext cx="3931800" cy="843000"/>
          </a:xfrm>
          <a:prstGeom prst="rect">
            <a:avLst/>
          </a:prstGeom>
          <a:noFill/>
          <a:ln cap="flat" cmpd="sng" w="2857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1" name="Google Shape;251;p31"/>
          <p:cNvGrpSpPr/>
          <p:nvPr/>
        </p:nvGrpSpPr>
        <p:grpSpPr>
          <a:xfrm>
            <a:off x="3314750" y="256225"/>
            <a:ext cx="3073225" cy="1521925"/>
            <a:chOff x="4829875" y="183550"/>
            <a:chExt cx="3073225" cy="1521925"/>
          </a:xfrm>
        </p:grpSpPr>
        <p:sp>
          <p:nvSpPr>
            <p:cNvPr id="252" name="Google Shape;252;p31"/>
            <p:cNvSpPr/>
            <p:nvPr/>
          </p:nvSpPr>
          <p:spPr>
            <a:xfrm>
              <a:off x="4829875" y="805900"/>
              <a:ext cx="3073225" cy="408750"/>
            </a:xfrm>
            <a:custGeom>
              <a:rect b="b" l="l" r="r" t="t"/>
              <a:pathLst>
                <a:path extrusionOk="0" h="16350" w="122929">
                  <a:moveTo>
                    <a:pt x="0" y="15442"/>
                  </a:moveTo>
                  <a:lnTo>
                    <a:pt x="8781" y="15442"/>
                  </a:lnTo>
                  <a:lnTo>
                    <a:pt x="8781" y="303"/>
                  </a:lnTo>
                  <a:lnTo>
                    <a:pt x="21800" y="303"/>
                  </a:lnTo>
                  <a:lnTo>
                    <a:pt x="21800" y="15442"/>
                  </a:lnTo>
                  <a:lnTo>
                    <a:pt x="81448" y="15442"/>
                  </a:lnTo>
                  <a:lnTo>
                    <a:pt x="81448" y="0"/>
                  </a:lnTo>
                  <a:lnTo>
                    <a:pt x="98404" y="0"/>
                  </a:lnTo>
                  <a:lnTo>
                    <a:pt x="98101" y="16350"/>
                  </a:lnTo>
                  <a:lnTo>
                    <a:pt x="122929" y="16350"/>
                  </a:lnTo>
                </a:path>
              </a:pathLst>
            </a:custGeom>
            <a:noFill/>
            <a:ln cap="flat" cmpd="sng" w="28575">
              <a:solidFill>
                <a:schemeClr val="dk2"/>
              </a:solidFill>
              <a:prstDash val="solid"/>
              <a:round/>
              <a:headEnd len="med" w="med" type="none"/>
              <a:tailEnd len="med" w="med" type="none"/>
            </a:ln>
          </p:spPr>
        </p:sp>
        <p:cxnSp>
          <p:nvCxnSpPr>
            <p:cNvPr id="253" name="Google Shape;253;p31"/>
            <p:cNvCxnSpPr/>
            <p:nvPr/>
          </p:nvCxnSpPr>
          <p:spPr>
            <a:xfrm>
              <a:off x="5056467" y="638895"/>
              <a:ext cx="348000" cy="0"/>
            </a:xfrm>
            <a:prstGeom prst="straightConnector1">
              <a:avLst/>
            </a:prstGeom>
            <a:noFill/>
            <a:ln cap="flat" cmpd="sng" w="19050">
              <a:solidFill>
                <a:srgbClr val="CC0000"/>
              </a:solidFill>
              <a:prstDash val="solid"/>
              <a:round/>
              <a:headEnd len="med" w="med" type="none"/>
              <a:tailEnd len="med" w="med" type="stealth"/>
            </a:ln>
          </p:spPr>
        </p:cxnSp>
        <p:cxnSp>
          <p:nvCxnSpPr>
            <p:cNvPr id="254" name="Google Shape;254;p31"/>
            <p:cNvCxnSpPr/>
            <p:nvPr/>
          </p:nvCxnSpPr>
          <p:spPr>
            <a:xfrm>
              <a:off x="5056450" y="1357475"/>
              <a:ext cx="1809000" cy="0"/>
            </a:xfrm>
            <a:prstGeom prst="straightConnector1">
              <a:avLst/>
            </a:prstGeom>
            <a:noFill/>
            <a:ln cap="flat" cmpd="sng" w="19050">
              <a:solidFill>
                <a:srgbClr val="CC0000"/>
              </a:solidFill>
              <a:prstDash val="solid"/>
              <a:round/>
              <a:headEnd len="med" w="med" type="none"/>
              <a:tailEnd len="med" w="med" type="stealth"/>
            </a:ln>
          </p:spPr>
        </p:cxnSp>
        <p:sp>
          <p:nvSpPr>
            <p:cNvPr id="255" name="Google Shape;255;p31"/>
            <p:cNvSpPr txBox="1"/>
            <p:nvPr/>
          </p:nvSpPr>
          <p:spPr>
            <a:xfrm>
              <a:off x="4835825" y="183550"/>
              <a:ext cx="789300" cy="42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i="1" lang="en">
                  <a:solidFill>
                    <a:srgbClr val="CC0000"/>
                  </a:solidFill>
                </a:rPr>
                <a:t>T</a:t>
              </a:r>
              <a:r>
                <a:rPr b="1" baseline="-25000" i="1" lang="en">
                  <a:solidFill>
                    <a:srgbClr val="CC0000"/>
                  </a:solidFill>
                </a:rPr>
                <a:t>HIGH</a:t>
              </a:r>
              <a:endParaRPr b="1" baseline="-25000" i="1">
                <a:solidFill>
                  <a:srgbClr val="CC0000"/>
                </a:solidFill>
              </a:endParaRPr>
            </a:p>
          </p:txBody>
        </p:sp>
        <p:sp>
          <p:nvSpPr>
            <p:cNvPr id="256" name="Google Shape;256;p31"/>
            <p:cNvSpPr txBox="1"/>
            <p:nvPr/>
          </p:nvSpPr>
          <p:spPr>
            <a:xfrm>
              <a:off x="5433400" y="1281275"/>
              <a:ext cx="1055100" cy="42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i="1" lang="en">
                  <a:solidFill>
                    <a:srgbClr val="CC0000"/>
                  </a:solidFill>
                </a:rPr>
                <a:t>T</a:t>
              </a:r>
              <a:r>
                <a:rPr b="1" baseline="-25000" i="1" lang="en">
                  <a:solidFill>
                    <a:srgbClr val="CC0000"/>
                  </a:solidFill>
                </a:rPr>
                <a:t>PERIOD</a:t>
              </a:r>
              <a:endParaRPr b="1" baseline="-25000" i="1">
                <a:solidFill>
                  <a:srgbClr val="CC0000"/>
                </a:solidFill>
              </a:endParaRPr>
            </a:p>
          </p:txBody>
        </p:sp>
        <p:cxnSp>
          <p:nvCxnSpPr>
            <p:cNvPr id="257" name="Google Shape;257;p31"/>
            <p:cNvCxnSpPr/>
            <p:nvPr/>
          </p:nvCxnSpPr>
          <p:spPr>
            <a:xfrm flipH="1" rot="10800000">
              <a:off x="6857492" y="661520"/>
              <a:ext cx="454800" cy="600"/>
            </a:xfrm>
            <a:prstGeom prst="straightConnector1">
              <a:avLst/>
            </a:prstGeom>
            <a:noFill/>
            <a:ln cap="flat" cmpd="sng" w="19050">
              <a:solidFill>
                <a:srgbClr val="CC0000"/>
              </a:solidFill>
              <a:prstDash val="solid"/>
              <a:round/>
              <a:headEnd len="med" w="med" type="none"/>
              <a:tailEnd len="med" w="med" type="stealth"/>
            </a:ln>
          </p:spPr>
        </p:cxnSp>
        <p:sp>
          <p:nvSpPr>
            <p:cNvPr id="258" name="Google Shape;258;p31"/>
            <p:cNvSpPr txBox="1"/>
            <p:nvPr/>
          </p:nvSpPr>
          <p:spPr>
            <a:xfrm>
              <a:off x="6636850" y="206775"/>
              <a:ext cx="789300" cy="42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i="1" lang="en">
                  <a:solidFill>
                    <a:srgbClr val="CC0000"/>
                  </a:solidFill>
                </a:rPr>
                <a:t>T</a:t>
              </a:r>
              <a:r>
                <a:rPr b="1" baseline="-25000" i="1" lang="en">
                  <a:solidFill>
                    <a:srgbClr val="CC0000"/>
                  </a:solidFill>
                </a:rPr>
                <a:t>HIGH</a:t>
              </a:r>
              <a:endParaRPr b="1" baseline="-25000" i="1">
                <a:solidFill>
                  <a:srgbClr val="CC0000"/>
                </a:solidFill>
              </a:endParaRPr>
            </a:p>
          </p:txBody>
        </p:sp>
      </p:grpSp>
      <p:sp>
        <p:nvSpPr>
          <p:cNvPr id="259" name="Google Shape;259;p31"/>
          <p:cNvSpPr txBox="1"/>
          <p:nvPr/>
        </p:nvSpPr>
        <p:spPr>
          <a:xfrm>
            <a:off x="230875" y="335950"/>
            <a:ext cx="2535900" cy="508800"/>
          </a:xfrm>
          <a:prstGeom prst="rect">
            <a:avLst/>
          </a:prstGeom>
          <a:noFill/>
          <a:ln cap="flat" cmpd="sng" w="19050">
            <a:solidFill>
              <a:srgbClr val="CC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CC0000"/>
                </a:solidFill>
              </a:rPr>
              <a:t>V</a:t>
            </a:r>
            <a:r>
              <a:rPr baseline="-25000" lang="en" sz="1600">
                <a:solidFill>
                  <a:srgbClr val="CC0000"/>
                </a:solidFill>
              </a:rPr>
              <a:t>avg</a:t>
            </a:r>
            <a:r>
              <a:rPr lang="en" sz="1600">
                <a:solidFill>
                  <a:srgbClr val="CC0000"/>
                </a:solidFill>
              </a:rPr>
              <a:t> = V</a:t>
            </a:r>
            <a:r>
              <a:rPr baseline="-25000" lang="en" sz="1600">
                <a:solidFill>
                  <a:srgbClr val="CC0000"/>
                </a:solidFill>
              </a:rPr>
              <a:t>M</a:t>
            </a:r>
            <a:r>
              <a:rPr lang="en" sz="1600">
                <a:solidFill>
                  <a:srgbClr val="CC0000"/>
                </a:solidFill>
              </a:rPr>
              <a:t> × T</a:t>
            </a:r>
            <a:r>
              <a:rPr baseline="-25000" lang="en" sz="1600">
                <a:solidFill>
                  <a:srgbClr val="CC0000"/>
                </a:solidFill>
              </a:rPr>
              <a:t>HIGH</a:t>
            </a:r>
            <a:r>
              <a:rPr lang="en" sz="1600">
                <a:solidFill>
                  <a:srgbClr val="CC0000"/>
                </a:solidFill>
              </a:rPr>
              <a:t> / T</a:t>
            </a:r>
            <a:r>
              <a:rPr baseline="-25000" lang="en" sz="1600">
                <a:solidFill>
                  <a:srgbClr val="CC0000"/>
                </a:solidFill>
              </a:rPr>
              <a:t>PERIOD</a:t>
            </a:r>
            <a:endParaRPr baseline="-25000" sz="1600">
              <a:solidFill>
                <a:srgbClr val="CC0000"/>
              </a:solidFill>
            </a:endParaRPr>
          </a:p>
        </p:txBody>
      </p:sp>
      <p:sp>
        <p:nvSpPr>
          <p:cNvPr id="260" name="Google Shape;260;p31"/>
          <p:cNvSpPr txBox="1"/>
          <p:nvPr/>
        </p:nvSpPr>
        <p:spPr>
          <a:xfrm>
            <a:off x="2470150" y="4034350"/>
            <a:ext cx="1733400" cy="400200"/>
          </a:xfrm>
          <a:prstGeom prst="rect">
            <a:avLst/>
          </a:prstGeom>
          <a:solidFill>
            <a:schemeClr val="lt1"/>
          </a:solidFill>
          <a:ln cap="flat" cmpd="sng" w="19050">
            <a:solidFill>
              <a:srgbClr val="CC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CC0000"/>
                </a:solidFill>
              </a:rPr>
              <a:t>determines </a:t>
            </a:r>
            <a:r>
              <a:rPr b="1" i="1" lang="en">
                <a:solidFill>
                  <a:srgbClr val="CC0000"/>
                </a:solidFill>
              </a:rPr>
              <a:t>T</a:t>
            </a:r>
            <a:r>
              <a:rPr b="1" baseline="-25000" i="1" lang="en">
                <a:solidFill>
                  <a:srgbClr val="CC0000"/>
                </a:solidFill>
              </a:rPr>
              <a:t>PERIOD</a:t>
            </a:r>
            <a:endParaRPr>
              <a:solidFill>
                <a:srgbClr val="CC0000"/>
              </a:solidFill>
            </a:endParaRPr>
          </a:p>
        </p:txBody>
      </p:sp>
      <p:sp>
        <p:nvSpPr>
          <p:cNvPr id="261" name="Google Shape;261;p31"/>
          <p:cNvSpPr txBox="1"/>
          <p:nvPr/>
        </p:nvSpPr>
        <p:spPr>
          <a:xfrm>
            <a:off x="2470150" y="5405700"/>
            <a:ext cx="1733400" cy="400200"/>
          </a:xfrm>
          <a:prstGeom prst="rect">
            <a:avLst/>
          </a:prstGeom>
          <a:solidFill>
            <a:schemeClr val="lt1"/>
          </a:solidFill>
          <a:ln cap="flat" cmpd="sng" w="19050">
            <a:solidFill>
              <a:srgbClr val="CC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CC0000"/>
                </a:solidFill>
              </a:rPr>
              <a:t>determines </a:t>
            </a:r>
            <a:r>
              <a:rPr b="1" i="1" lang="en">
                <a:solidFill>
                  <a:srgbClr val="CC0000"/>
                </a:solidFill>
              </a:rPr>
              <a:t>T</a:t>
            </a:r>
            <a:r>
              <a:rPr b="1" baseline="-25000" i="1" lang="en">
                <a:solidFill>
                  <a:srgbClr val="CC0000"/>
                </a:solidFill>
              </a:rPr>
              <a:t>HIGH</a:t>
            </a:r>
            <a:endParaRPr>
              <a:solidFill>
                <a:srgbClr val="CC0000"/>
              </a:solidFill>
            </a:endParaRPr>
          </a:p>
        </p:txBody>
      </p:sp>
      <p:sp>
        <p:nvSpPr>
          <p:cNvPr id="262" name="Google Shape;262;p31"/>
          <p:cNvSpPr txBox="1"/>
          <p:nvPr/>
        </p:nvSpPr>
        <p:spPr>
          <a:xfrm>
            <a:off x="2232850" y="3154375"/>
            <a:ext cx="2488800" cy="400200"/>
          </a:xfrm>
          <a:prstGeom prst="rect">
            <a:avLst/>
          </a:prstGeom>
          <a:solidFill>
            <a:schemeClr val="lt1"/>
          </a:solidFill>
          <a:ln cap="flat" cmpd="sng" w="19050">
            <a:solidFill>
              <a:srgbClr val="CC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CC0000"/>
                </a:solidFill>
              </a:rPr>
              <a:t>Prescaler - counting rate</a:t>
            </a:r>
            <a:endParaRPr>
              <a:solidFill>
                <a:srgbClr val="CC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2"/>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Choosing TIM14_ARR and TIM14_CCR1</a:t>
            </a:r>
            <a:endParaRPr/>
          </a:p>
        </p:txBody>
      </p:sp>
      <p:grpSp>
        <p:nvGrpSpPr>
          <p:cNvPr id="268" name="Google Shape;268;p32"/>
          <p:cNvGrpSpPr/>
          <p:nvPr/>
        </p:nvGrpSpPr>
        <p:grpSpPr>
          <a:xfrm>
            <a:off x="426625" y="2179575"/>
            <a:ext cx="3655650" cy="947925"/>
            <a:chOff x="655225" y="4541775"/>
            <a:chExt cx="3655650" cy="947925"/>
          </a:xfrm>
        </p:grpSpPr>
        <p:cxnSp>
          <p:nvCxnSpPr>
            <p:cNvPr id="269" name="Google Shape;269;p32"/>
            <p:cNvCxnSpPr/>
            <p:nvPr/>
          </p:nvCxnSpPr>
          <p:spPr>
            <a:xfrm>
              <a:off x="655225" y="4550025"/>
              <a:ext cx="684300" cy="0"/>
            </a:xfrm>
            <a:prstGeom prst="straightConnector1">
              <a:avLst/>
            </a:prstGeom>
            <a:noFill/>
            <a:ln cap="flat" cmpd="sng" w="28575">
              <a:solidFill>
                <a:schemeClr val="dk2"/>
              </a:solidFill>
              <a:prstDash val="solid"/>
              <a:round/>
              <a:headEnd len="med" w="med" type="none"/>
              <a:tailEnd len="med" w="med" type="none"/>
            </a:ln>
          </p:spPr>
        </p:cxnSp>
        <p:cxnSp>
          <p:nvCxnSpPr>
            <p:cNvPr id="270" name="Google Shape;270;p32"/>
            <p:cNvCxnSpPr/>
            <p:nvPr/>
          </p:nvCxnSpPr>
          <p:spPr>
            <a:xfrm>
              <a:off x="1343575" y="4541775"/>
              <a:ext cx="0" cy="939600"/>
            </a:xfrm>
            <a:prstGeom prst="straightConnector1">
              <a:avLst/>
            </a:prstGeom>
            <a:noFill/>
            <a:ln cap="flat" cmpd="sng" w="28575">
              <a:solidFill>
                <a:schemeClr val="dk2"/>
              </a:solidFill>
              <a:prstDash val="solid"/>
              <a:round/>
              <a:headEnd len="med" w="med" type="none"/>
              <a:tailEnd len="med" w="med" type="none"/>
            </a:ln>
          </p:spPr>
        </p:cxnSp>
        <p:cxnSp>
          <p:nvCxnSpPr>
            <p:cNvPr id="271" name="Google Shape;271;p32"/>
            <p:cNvCxnSpPr/>
            <p:nvPr/>
          </p:nvCxnSpPr>
          <p:spPr>
            <a:xfrm flipH="1" rot="10800000">
              <a:off x="1343575" y="5481300"/>
              <a:ext cx="2967300" cy="8400"/>
            </a:xfrm>
            <a:prstGeom prst="straightConnector1">
              <a:avLst/>
            </a:prstGeom>
            <a:noFill/>
            <a:ln cap="flat" cmpd="sng" w="28575">
              <a:solidFill>
                <a:schemeClr val="dk2"/>
              </a:solidFill>
              <a:prstDash val="solid"/>
              <a:round/>
              <a:headEnd len="med" w="med" type="none"/>
              <a:tailEnd len="med" w="med" type="none"/>
            </a:ln>
          </p:spPr>
        </p:cxnSp>
        <p:cxnSp>
          <p:nvCxnSpPr>
            <p:cNvPr id="272" name="Google Shape;272;p32"/>
            <p:cNvCxnSpPr/>
            <p:nvPr/>
          </p:nvCxnSpPr>
          <p:spPr>
            <a:xfrm>
              <a:off x="655225" y="4550025"/>
              <a:ext cx="0" cy="939600"/>
            </a:xfrm>
            <a:prstGeom prst="straightConnector1">
              <a:avLst/>
            </a:prstGeom>
            <a:noFill/>
            <a:ln cap="flat" cmpd="sng" w="28575">
              <a:solidFill>
                <a:schemeClr val="dk2"/>
              </a:solidFill>
              <a:prstDash val="solid"/>
              <a:round/>
              <a:headEnd len="med" w="med" type="none"/>
              <a:tailEnd len="med" w="med" type="none"/>
            </a:ln>
          </p:spPr>
        </p:cxnSp>
      </p:grpSp>
      <p:cxnSp>
        <p:nvCxnSpPr>
          <p:cNvPr id="273" name="Google Shape;273;p32"/>
          <p:cNvCxnSpPr/>
          <p:nvPr/>
        </p:nvCxnSpPr>
        <p:spPr>
          <a:xfrm>
            <a:off x="428650" y="3300475"/>
            <a:ext cx="3651600" cy="0"/>
          </a:xfrm>
          <a:prstGeom prst="straightConnector1">
            <a:avLst/>
          </a:prstGeom>
          <a:noFill/>
          <a:ln cap="flat" cmpd="sng" w="19050">
            <a:solidFill>
              <a:srgbClr val="0000FF"/>
            </a:solidFill>
            <a:prstDash val="solid"/>
            <a:round/>
            <a:headEnd len="med" w="med" type="stealth"/>
            <a:tailEnd len="med" w="med" type="stealth"/>
          </a:ln>
        </p:spPr>
      </p:cxnSp>
      <p:sp>
        <p:nvSpPr>
          <p:cNvPr id="274" name="Google Shape;274;p32"/>
          <p:cNvSpPr txBox="1"/>
          <p:nvPr/>
        </p:nvSpPr>
        <p:spPr>
          <a:xfrm>
            <a:off x="1609725" y="3473450"/>
            <a:ext cx="832500" cy="43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~20 ms</a:t>
            </a:r>
            <a:endParaRPr>
              <a:solidFill>
                <a:srgbClr val="0000FF"/>
              </a:solidFill>
            </a:endParaRPr>
          </a:p>
        </p:txBody>
      </p:sp>
      <p:cxnSp>
        <p:nvCxnSpPr>
          <p:cNvPr id="275" name="Google Shape;275;p32"/>
          <p:cNvCxnSpPr/>
          <p:nvPr/>
        </p:nvCxnSpPr>
        <p:spPr>
          <a:xfrm>
            <a:off x="414525" y="2002125"/>
            <a:ext cx="694800" cy="4200"/>
          </a:xfrm>
          <a:prstGeom prst="straightConnector1">
            <a:avLst/>
          </a:prstGeom>
          <a:noFill/>
          <a:ln cap="flat" cmpd="sng" w="19050">
            <a:solidFill>
              <a:srgbClr val="FF0000"/>
            </a:solidFill>
            <a:prstDash val="solid"/>
            <a:round/>
            <a:headEnd len="med" w="med" type="stealth"/>
            <a:tailEnd len="med" w="med" type="stealth"/>
          </a:ln>
        </p:spPr>
      </p:cxnSp>
      <p:sp>
        <p:nvSpPr>
          <p:cNvPr id="276" name="Google Shape;276;p32"/>
          <p:cNvSpPr txBox="1"/>
          <p:nvPr/>
        </p:nvSpPr>
        <p:spPr>
          <a:xfrm>
            <a:off x="345675" y="1606375"/>
            <a:ext cx="832500" cy="43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00"/>
                </a:solidFill>
              </a:rPr>
              <a:t>1-2ms</a:t>
            </a:r>
            <a:endParaRPr>
              <a:solidFill>
                <a:srgbClr val="FF0000"/>
              </a:solidFill>
            </a:endParaRPr>
          </a:p>
        </p:txBody>
      </p:sp>
      <p:sp>
        <p:nvSpPr>
          <p:cNvPr id="277" name="Google Shape;277;p32"/>
          <p:cNvSpPr txBox="1"/>
          <p:nvPr/>
        </p:nvSpPr>
        <p:spPr>
          <a:xfrm>
            <a:off x="241675" y="4013700"/>
            <a:ext cx="4214700" cy="247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Timer 14 will:</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Count continuously from 0 to the value stored in TIM14_ARR</a:t>
            </a:r>
            <a:endParaRPr/>
          </a:p>
          <a:p>
            <a:pPr indent="-317500" lvl="0" marL="457200" rtl="0" algn="l">
              <a:spcBef>
                <a:spcPts val="1000"/>
              </a:spcBef>
              <a:spcAft>
                <a:spcPts val="0"/>
              </a:spcAft>
              <a:buSzPts val="1400"/>
              <a:buChar char="●"/>
            </a:pPr>
            <a:r>
              <a:rPr lang="en"/>
              <a:t>Drive the connected pin high while the timer is between 0 and the value stored in </a:t>
            </a:r>
            <a:r>
              <a:rPr lang="en">
                <a:solidFill>
                  <a:schemeClr val="dk1"/>
                </a:solidFill>
              </a:rPr>
              <a:t>TIM14_CCR1</a:t>
            </a:r>
            <a:endParaRPr/>
          </a:p>
          <a:p>
            <a:pPr indent="-317500" lvl="0" marL="457200" rtl="0" algn="l">
              <a:spcBef>
                <a:spcPts val="1000"/>
              </a:spcBef>
              <a:spcAft>
                <a:spcPts val="0"/>
              </a:spcAft>
              <a:buSzPts val="1400"/>
              <a:buChar char="●"/>
            </a:pPr>
            <a:r>
              <a:rPr lang="en"/>
              <a:t>Drive the pin low while the timer is between TIM14_CCR1 and </a:t>
            </a:r>
            <a:r>
              <a:rPr lang="en">
                <a:solidFill>
                  <a:schemeClr val="dk1"/>
                </a:solidFill>
              </a:rPr>
              <a:t>TIM14_ARR</a:t>
            </a:r>
            <a:endParaRPr/>
          </a:p>
          <a:p>
            <a:pPr indent="0" lvl="0" marL="0" rtl="0" algn="l">
              <a:spcBef>
                <a:spcPts val="1000"/>
              </a:spcBef>
              <a:spcAft>
                <a:spcPts val="0"/>
              </a:spcAft>
              <a:buNone/>
            </a:pPr>
            <a:r>
              <a:t/>
            </a:r>
            <a:endParaRPr/>
          </a:p>
          <a:p>
            <a:pPr indent="0" lvl="0" marL="0" rtl="0" algn="l">
              <a:spcBef>
                <a:spcPts val="0"/>
              </a:spcBef>
              <a:spcAft>
                <a:spcPts val="0"/>
              </a:spcAft>
              <a:buNone/>
            </a:pPr>
            <a:r>
              <a:t/>
            </a:r>
            <a:endParaRPr/>
          </a:p>
        </p:txBody>
      </p:sp>
      <p:sp>
        <p:nvSpPr>
          <p:cNvPr id="278" name="Google Shape;278;p32"/>
          <p:cNvSpPr txBox="1"/>
          <p:nvPr/>
        </p:nvSpPr>
        <p:spPr>
          <a:xfrm>
            <a:off x="4572000" y="1570200"/>
            <a:ext cx="4102200" cy="492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Recall: By </a:t>
            </a:r>
            <a:r>
              <a:rPr lang="en"/>
              <a:t>default</a:t>
            </a:r>
            <a:r>
              <a:rPr lang="en"/>
              <a:t> the oscillator on the STM32C031 runs at </a:t>
            </a:r>
            <a:endParaRPr/>
          </a:p>
          <a:p>
            <a:pPr indent="0" lvl="0" marL="0" rtl="0" algn="l">
              <a:spcBef>
                <a:spcPts val="0"/>
              </a:spcBef>
              <a:spcAft>
                <a:spcPts val="0"/>
              </a:spcAft>
              <a:buNone/>
            </a:pPr>
            <a:r>
              <a:rPr lang="en"/>
              <a:t>                  _____________ MHz.</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Prescaler slows the clock down to</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______________MHz.</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What value should we chose for ARR+1?</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                 _____________ = PWM_TIMER_MAX</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What value for CCR1 will yield a pulse of:</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1ms:         _____________ = SERVO_MIN</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1.5ms:       _____________= SERVO_MID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2ms:          _____________= SERVO_MAX</a:t>
            </a:r>
            <a:endParaRPr>
              <a:solidFill>
                <a:schemeClr val="dk1"/>
              </a:solidFill>
            </a:endParaRPr>
          </a:p>
          <a:p>
            <a:pPr indent="0" lvl="0" marL="0" rtl="0" algn="l">
              <a:spcBef>
                <a:spcPts val="0"/>
              </a:spcBef>
              <a:spcAft>
                <a:spcPts val="0"/>
              </a:spcAft>
              <a:buNone/>
            </a:pPr>
            <a:r>
              <a:t/>
            </a:r>
            <a:endParaRPr/>
          </a:p>
        </p:txBody>
      </p:sp>
      <p:sp>
        <p:nvSpPr>
          <p:cNvPr id="279" name="Google Shape;279;p32"/>
          <p:cNvSpPr txBox="1"/>
          <p:nvPr/>
        </p:nvSpPr>
        <p:spPr>
          <a:xfrm>
            <a:off x="2882350" y="2328600"/>
            <a:ext cx="1121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38761D"/>
                </a:solidFill>
              </a:rPr>
              <a:t>Pick one</a:t>
            </a:r>
            <a:endParaRPr sz="1800">
              <a:solidFill>
                <a:srgbClr val="38761D"/>
              </a:solidFill>
            </a:endParaRPr>
          </a:p>
        </p:txBody>
      </p:sp>
      <p:cxnSp>
        <p:nvCxnSpPr>
          <p:cNvPr id="280" name="Google Shape;280;p32"/>
          <p:cNvCxnSpPr>
            <a:stCxn id="279" idx="3"/>
          </p:cNvCxnSpPr>
          <p:nvPr/>
        </p:nvCxnSpPr>
        <p:spPr>
          <a:xfrm>
            <a:off x="4004050" y="2559450"/>
            <a:ext cx="1235400" cy="408000"/>
          </a:xfrm>
          <a:prstGeom prst="straightConnector1">
            <a:avLst/>
          </a:prstGeom>
          <a:noFill/>
          <a:ln cap="flat" cmpd="sng" w="28575">
            <a:solidFill>
              <a:srgbClr val="38761D"/>
            </a:solidFill>
            <a:prstDash val="solid"/>
            <a:round/>
            <a:headEnd len="med" w="med" type="none"/>
            <a:tailEnd len="med" w="med" type="triangl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3"/>
          <p:cNvSpPr txBox="1"/>
          <p:nvPr>
            <p:ph type="title"/>
          </p:nvPr>
        </p:nvSpPr>
        <p:spPr>
          <a:xfrm>
            <a:off x="221625" y="2918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Design exercise, Part 1</a:t>
            </a:r>
            <a:endParaRPr/>
          </a:p>
        </p:txBody>
      </p:sp>
      <p:sp>
        <p:nvSpPr>
          <p:cNvPr id="286" name="Google Shape;286;p33"/>
          <p:cNvSpPr txBox="1"/>
          <p:nvPr>
            <p:ph idx="1" type="body"/>
          </p:nvPr>
        </p:nvSpPr>
        <p:spPr>
          <a:xfrm>
            <a:off x="221625" y="1339500"/>
            <a:ext cx="8520600" cy="401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Make a copy of your TemplateProject and call the new one Servo. Download Day15_servo_template.c and tim.c, tim.h from Canvas and place them into your new project's Src and Inc folders, respectively.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You'll also need your adc code. If you have </a:t>
            </a:r>
            <a:r>
              <a:rPr lang="en" sz="1600"/>
              <a:t>previously</a:t>
            </a:r>
            <a:r>
              <a:rPr lang="en" sz="1600"/>
              <a:t> added your adc code to the mylib folder you are good to go, otherwise you'll need to copy your adc.c and adc.h into the Src and Inc folders or your Servo project, respectively.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Complete the missing pieces in Day15_servo_template.c:</a:t>
            </a:r>
            <a:endParaRPr sz="1600"/>
          </a:p>
          <a:p>
            <a:pPr indent="-330200" lvl="0" marL="457200" rtl="0" algn="l">
              <a:spcBef>
                <a:spcPts val="0"/>
              </a:spcBef>
              <a:spcAft>
                <a:spcPts val="0"/>
              </a:spcAft>
              <a:buSzPts val="1600"/>
              <a:buChar char="●"/>
            </a:pPr>
            <a:r>
              <a:rPr lang="en" sz="1600"/>
              <a:t>Set up Timer 14 prescaling </a:t>
            </a:r>
            <a:endParaRPr sz="1600"/>
          </a:p>
          <a:p>
            <a:pPr indent="-330200" lvl="0" marL="457200" rtl="0" algn="l">
              <a:spcBef>
                <a:spcPts val="0"/>
              </a:spcBef>
              <a:spcAft>
                <a:spcPts val="0"/>
              </a:spcAft>
              <a:buSzPts val="1600"/>
              <a:buChar char="●"/>
            </a:pPr>
            <a:r>
              <a:rPr lang="en" sz="1600"/>
              <a:t>Define SERVO_MIN, SERVO_MAX, SERVO_MID, </a:t>
            </a:r>
            <a:r>
              <a:rPr lang="en" sz="1600"/>
              <a:t>PWM_TIMER_MAX</a:t>
            </a:r>
            <a:r>
              <a:rPr lang="en" sz="1600"/>
              <a:t> for your prescaling</a:t>
            </a:r>
            <a:endParaRPr sz="1600"/>
          </a:p>
          <a:p>
            <a:pPr indent="-330200" lvl="0" marL="457200" rtl="0" algn="l">
              <a:spcBef>
                <a:spcPts val="0"/>
              </a:spcBef>
              <a:spcAft>
                <a:spcPts val="0"/>
              </a:spcAft>
              <a:buSzPts val="1600"/>
              <a:buChar char="●"/>
            </a:pPr>
            <a:r>
              <a:rPr lang="en" sz="1600"/>
              <a:t>Write an expression to map the pot_value to the pwm_value.</a:t>
            </a:r>
            <a:endParaRPr sz="1600"/>
          </a:p>
          <a:p>
            <a:pPr indent="-330200" lvl="0" marL="457200" rtl="0" algn="l">
              <a:spcBef>
                <a:spcPts val="0"/>
              </a:spcBef>
              <a:spcAft>
                <a:spcPts val="0"/>
              </a:spcAft>
              <a:buSzPts val="1600"/>
              <a:buChar char="●"/>
            </a:pPr>
            <a:r>
              <a:rPr lang="en" sz="1600"/>
              <a:t>Adjust anything adc-related to your own adc files.</a:t>
            </a:r>
            <a:endParaRPr sz="16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4"/>
          <p:cNvSpPr txBox="1"/>
          <p:nvPr>
            <p:ph type="title"/>
          </p:nvPr>
        </p:nvSpPr>
        <p:spPr>
          <a:xfrm>
            <a:off x="221625" y="3355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Design exercise, Part 1</a:t>
            </a:r>
            <a:endParaRPr/>
          </a:p>
        </p:txBody>
      </p:sp>
      <p:sp>
        <p:nvSpPr>
          <p:cNvPr id="292" name="Google Shape;292;p34"/>
          <p:cNvSpPr txBox="1"/>
          <p:nvPr>
            <p:ph idx="1" type="body"/>
          </p:nvPr>
        </p:nvSpPr>
        <p:spPr>
          <a:xfrm>
            <a:off x="221625" y="1429975"/>
            <a:ext cx="8520600" cy="281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Wire potentiometer to Analog 0, as usual.  Wire AD2 Channel 1 to PA7 and ground.</a:t>
            </a:r>
            <a:endParaRPr sz="1600"/>
          </a:p>
          <a:p>
            <a:pPr indent="0" lvl="0" marL="0" rtl="0" algn="l">
              <a:spcBef>
                <a:spcPts val="1600"/>
              </a:spcBef>
              <a:spcAft>
                <a:spcPts val="0"/>
              </a:spcAft>
              <a:buNone/>
            </a:pPr>
            <a:r>
              <a:rPr lang="en" sz="1600"/>
              <a:t>Run your code and verify, using the AD2, that your pulse widths smoothly sweep from 1ms to 2ms as you rotate the potentiometer.  Demonstrate to an instructor or LF.</a:t>
            </a:r>
            <a:endParaRPr sz="1600"/>
          </a:p>
          <a:p>
            <a:pPr indent="0" lvl="0" marL="0" rtl="0" algn="l">
              <a:spcBef>
                <a:spcPts val="1600"/>
              </a:spcBef>
              <a:spcAft>
                <a:spcPts val="0"/>
              </a:spcAft>
              <a:buNone/>
            </a:pPr>
            <a:r>
              <a:rPr lang="en" sz="1600"/>
              <a:t>What setting might you use for your time base? Trigger on the rising edge.</a:t>
            </a:r>
            <a:endParaRPr sz="1600"/>
          </a:p>
          <a:p>
            <a:pPr indent="0" lvl="0" marL="0" rtl="0" algn="l">
              <a:spcBef>
                <a:spcPts val="1600"/>
              </a:spcBef>
              <a:spcAft>
                <a:spcPts val="1600"/>
              </a:spcAft>
              <a:buNone/>
            </a:pPr>
            <a:r>
              <a:rPr lang="en" sz="1600"/>
              <a:t>Note and remember the potentiometer position that gives you a 1.5ms pulse.  Remove and reattach the knob, if necessary, so that it is at the midway position.</a:t>
            </a:r>
            <a:endParaRPr sz="1600"/>
          </a:p>
        </p:txBody>
      </p:sp>
      <p:grpSp>
        <p:nvGrpSpPr>
          <p:cNvPr id="293" name="Google Shape;293;p34"/>
          <p:cNvGrpSpPr/>
          <p:nvPr/>
        </p:nvGrpSpPr>
        <p:grpSpPr>
          <a:xfrm>
            <a:off x="879075" y="4578175"/>
            <a:ext cx="7392250" cy="1999075"/>
            <a:chOff x="879075" y="4882975"/>
            <a:chExt cx="7392250" cy="1999075"/>
          </a:xfrm>
        </p:grpSpPr>
        <p:cxnSp>
          <p:nvCxnSpPr>
            <p:cNvPr id="294" name="Google Shape;294;p34"/>
            <p:cNvCxnSpPr/>
            <p:nvPr/>
          </p:nvCxnSpPr>
          <p:spPr>
            <a:xfrm>
              <a:off x="960025" y="5388225"/>
              <a:ext cx="684300" cy="0"/>
            </a:xfrm>
            <a:prstGeom prst="straightConnector1">
              <a:avLst/>
            </a:prstGeom>
            <a:noFill/>
            <a:ln cap="flat" cmpd="sng" w="28575">
              <a:solidFill>
                <a:schemeClr val="dk2"/>
              </a:solidFill>
              <a:prstDash val="solid"/>
              <a:round/>
              <a:headEnd len="med" w="med" type="none"/>
              <a:tailEnd len="med" w="med" type="none"/>
            </a:ln>
          </p:spPr>
        </p:cxnSp>
        <p:cxnSp>
          <p:nvCxnSpPr>
            <p:cNvPr id="295" name="Google Shape;295;p34"/>
            <p:cNvCxnSpPr/>
            <p:nvPr/>
          </p:nvCxnSpPr>
          <p:spPr>
            <a:xfrm>
              <a:off x="960025" y="5388225"/>
              <a:ext cx="0" cy="939600"/>
            </a:xfrm>
            <a:prstGeom prst="straightConnector1">
              <a:avLst/>
            </a:prstGeom>
            <a:noFill/>
            <a:ln cap="flat" cmpd="sng" w="28575">
              <a:solidFill>
                <a:schemeClr val="dk2"/>
              </a:solidFill>
              <a:prstDash val="solid"/>
              <a:round/>
              <a:headEnd len="med" w="med" type="none"/>
              <a:tailEnd len="med" w="med" type="none"/>
            </a:ln>
          </p:spPr>
        </p:cxnSp>
        <p:cxnSp>
          <p:nvCxnSpPr>
            <p:cNvPr id="296" name="Google Shape;296;p34"/>
            <p:cNvCxnSpPr/>
            <p:nvPr/>
          </p:nvCxnSpPr>
          <p:spPr>
            <a:xfrm>
              <a:off x="4615675" y="5388225"/>
              <a:ext cx="684300" cy="0"/>
            </a:xfrm>
            <a:prstGeom prst="straightConnector1">
              <a:avLst/>
            </a:prstGeom>
            <a:noFill/>
            <a:ln cap="flat" cmpd="sng" w="28575">
              <a:solidFill>
                <a:schemeClr val="dk2"/>
              </a:solidFill>
              <a:prstDash val="solid"/>
              <a:round/>
              <a:headEnd len="med" w="med" type="none"/>
              <a:tailEnd len="med" w="med" type="none"/>
            </a:ln>
          </p:spPr>
        </p:cxnSp>
        <p:cxnSp>
          <p:nvCxnSpPr>
            <p:cNvPr id="297" name="Google Shape;297;p34"/>
            <p:cNvCxnSpPr/>
            <p:nvPr/>
          </p:nvCxnSpPr>
          <p:spPr>
            <a:xfrm>
              <a:off x="947925" y="5202525"/>
              <a:ext cx="694800" cy="4200"/>
            </a:xfrm>
            <a:prstGeom prst="straightConnector1">
              <a:avLst/>
            </a:prstGeom>
            <a:noFill/>
            <a:ln cap="flat" cmpd="sng" w="19050">
              <a:solidFill>
                <a:srgbClr val="FF0000"/>
              </a:solidFill>
              <a:prstDash val="solid"/>
              <a:round/>
              <a:headEnd len="med" w="med" type="stealth"/>
              <a:tailEnd len="med" w="med" type="stealth"/>
            </a:ln>
          </p:spPr>
        </p:cxnSp>
        <p:cxnSp>
          <p:nvCxnSpPr>
            <p:cNvPr id="298" name="Google Shape;298;p34"/>
            <p:cNvCxnSpPr/>
            <p:nvPr/>
          </p:nvCxnSpPr>
          <p:spPr>
            <a:xfrm>
              <a:off x="1648375" y="5379975"/>
              <a:ext cx="0" cy="939600"/>
            </a:xfrm>
            <a:prstGeom prst="straightConnector1">
              <a:avLst/>
            </a:prstGeom>
            <a:noFill/>
            <a:ln cap="flat" cmpd="sng" w="28575">
              <a:solidFill>
                <a:schemeClr val="dk2"/>
              </a:solidFill>
              <a:prstDash val="solid"/>
              <a:round/>
              <a:headEnd len="med" w="med" type="none"/>
              <a:tailEnd len="med" w="med" type="none"/>
            </a:ln>
          </p:spPr>
        </p:cxnSp>
        <p:cxnSp>
          <p:nvCxnSpPr>
            <p:cNvPr id="299" name="Google Shape;299;p34"/>
            <p:cNvCxnSpPr/>
            <p:nvPr/>
          </p:nvCxnSpPr>
          <p:spPr>
            <a:xfrm flipH="1" rot="10800000">
              <a:off x="1648375" y="6319500"/>
              <a:ext cx="2967300" cy="8400"/>
            </a:xfrm>
            <a:prstGeom prst="straightConnector1">
              <a:avLst/>
            </a:prstGeom>
            <a:noFill/>
            <a:ln cap="flat" cmpd="sng" w="28575">
              <a:solidFill>
                <a:schemeClr val="dk2"/>
              </a:solidFill>
              <a:prstDash val="solid"/>
              <a:round/>
              <a:headEnd len="med" w="med" type="none"/>
              <a:tailEnd len="med" w="med" type="none"/>
            </a:ln>
          </p:spPr>
        </p:cxnSp>
        <p:cxnSp>
          <p:nvCxnSpPr>
            <p:cNvPr id="300" name="Google Shape;300;p34"/>
            <p:cNvCxnSpPr/>
            <p:nvPr/>
          </p:nvCxnSpPr>
          <p:spPr>
            <a:xfrm>
              <a:off x="5304025" y="5379975"/>
              <a:ext cx="0" cy="939600"/>
            </a:xfrm>
            <a:prstGeom prst="straightConnector1">
              <a:avLst/>
            </a:prstGeom>
            <a:noFill/>
            <a:ln cap="flat" cmpd="sng" w="28575">
              <a:solidFill>
                <a:schemeClr val="dk2"/>
              </a:solidFill>
              <a:prstDash val="solid"/>
              <a:round/>
              <a:headEnd len="med" w="med" type="none"/>
              <a:tailEnd len="med" w="med" type="none"/>
            </a:ln>
          </p:spPr>
        </p:cxnSp>
        <p:cxnSp>
          <p:nvCxnSpPr>
            <p:cNvPr id="301" name="Google Shape;301;p34"/>
            <p:cNvCxnSpPr/>
            <p:nvPr/>
          </p:nvCxnSpPr>
          <p:spPr>
            <a:xfrm flipH="1" rot="10800000">
              <a:off x="5304025" y="6319500"/>
              <a:ext cx="2967300" cy="8400"/>
            </a:xfrm>
            <a:prstGeom prst="straightConnector1">
              <a:avLst/>
            </a:prstGeom>
            <a:noFill/>
            <a:ln cap="flat" cmpd="sng" w="28575">
              <a:solidFill>
                <a:schemeClr val="dk2"/>
              </a:solidFill>
              <a:prstDash val="solid"/>
              <a:round/>
              <a:headEnd len="med" w="med" type="none"/>
              <a:tailEnd len="med" w="med" type="none"/>
            </a:ln>
          </p:spPr>
        </p:cxnSp>
        <p:cxnSp>
          <p:nvCxnSpPr>
            <p:cNvPr id="302" name="Google Shape;302;p34"/>
            <p:cNvCxnSpPr/>
            <p:nvPr/>
          </p:nvCxnSpPr>
          <p:spPr>
            <a:xfrm>
              <a:off x="4615675" y="5388225"/>
              <a:ext cx="0" cy="939600"/>
            </a:xfrm>
            <a:prstGeom prst="straightConnector1">
              <a:avLst/>
            </a:prstGeom>
            <a:noFill/>
            <a:ln cap="flat" cmpd="sng" w="28575">
              <a:solidFill>
                <a:schemeClr val="dk2"/>
              </a:solidFill>
              <a:prstDash val="solid"/>
              <a:round/>
              <a:headEnd len="med" w="med" type="none"/>
              <a:tailEnd len="med" w="med" type="none"/>
            </a:ln>
          </p:spPr>
        </p:cxnSp>
        <p:cxnSp>
          <p:nvCxnSpPr>
            <p:cNvPr id="303" name="Google Shape;303;p34"/>
            <p:cNvCxnSpPr/>
            <p:nvPr/>
          </p:nvCxnSpPr>
          <p:spPr>
            <a:xfrm>
              <a:off x="962050" y="6500875"/>
              <a:ext cx="3651600" cy="0"/>
            </a:xfrm>
            <a:prstGeom prst="straightConnector1">
              <a:avLst/>
            </a:prstGeom>
            <a:noFill/>
            <a:ln cap="flat" cmpd="sng" w="19050">
              <a:solidFill>
                <a:srgbClr val="0000FF"/>
              </a:solidFill>
              <a:prstDash val="solid"/>
              <a:round/>
              <a:headEnd len="med" w="med" type="stealth"/>
              <a:tailEnd len="med" w="med" type="stealth"/>
            </a:ln>
          </p:spPr>
        </p:cxnSp>
        <p:sp>
          <p:nvSpPr>
            <p:cNvPr id="304" name="Google Shape;304;p34"/>
            <p:cNvSpPr txBox="1"/>
            <p:nvPr/>
          </p:nvSpPr>
          <p:spPr>
            <a:xfrm>
              <a:off x="2219325" y="6445250"/>
              <a:ext cx="832500" cy="43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~20 ms</a:t>
              </a:r>
              <a:endParaRPr>
                <a:solidFill>
                  <a:srgbClr val="0000FF"/>
                </a:solidFill>
              </a:endParaRPr>
            </a:p>
          </p:txBody>
        </p:sp>
        <p:sp>
          <p:nvSpPr>
            <p:cNvPr id="305" name="Google Shape;305;p34"/>
            <p:cNvSpPr txBox="1"/>
            <p:nvPr/>
          </p:nvSpPr>
          <p:spPr>
            <a:xfrm>
              <a:off x="879075" y="4882975"/>
              <a:ext cx="832500" cy="436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0000"/>
                  </a:solidFill>
                </a:rPr>
                <a:t>1-2ms</a:t>
              </a:r>
              <a:endParaRPr>
                <a:solidFill>
                  <a:srgbClr val="FF0000"/>
                </a:solidFill>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5"/>
          <p:cNvSpPr txBox="1"/>
          <p:nvPr>
            <p:ph type="title"/>
          </p:nvPr>
        </p:nvSpPr>
        <p:spPr>
          <a:xfrm>
            <a:off x="311700" y="3283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Potentiometer knob in the leftmost position (1ms pulse)</a:t>
            </a:r>
            <a:endParaRPr sz="2600"/>
          </a:p>
        </p:txBody>
      </p:sp>
      <p:pic>
        <p:nvPicPr>
          <p:cNvPr id="311" name="Google Shape;311;p35"/>
          <p:cNvPicPr preferRelativeResize="0"/>
          <p:nvPr/>
        </p:nvPicPr>
        <p:blipFill>
          <a:blip r:embed="rId3">
            <a:alphaModFix/>
          </a:blip>
          <a:stretch>
            <a:fillRect/>
          </a:stretch>
        </p:blipFill>
        <p:spPr>
          <a:xfrm>
            <a:off x="163513" y="1194417"/>
            <a:ext cx="8816978" cy="519633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6"/>
          <p:cNvSpPr txBox="1"/>
          <p:nvPr>
            <p:ph type="title"/>
          </p:nvPr>
        </p:nvSpPr>
        <p:spPr>
          <a:xfrm>
            <a:off x="311700" y="3283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00"/>
              <a:t>Potentiometer knob in the rightmost position (2ms pulse)</a:t>
            </a:r>
            <a:endParaRPr sz="2600"/>
          </a:p>
        </p:txBody>
      </p:sp>
      <p:pic>
        <p:nvPicPr>
          <p:cNvPr id="317" name="Google Shape;317;p36"/>
          <p:cNvPicPr preferRelativeResize="0"/>
          <p:nvPr/>
        </p:nvPicPr>
        <p:blipFill>
          <a:blip r:embed="rId3">
            <a:alphaModFix/>
          </a:blip>
          <a:stretch>
            <a:fillRect/>
          </a:stretch>
        </p:blipFill>
        <p:spPr>
          <a:xfrm>
            <a:off x="152400" y="1244242"/>
            <a:ext cx="8839204" cy="512311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7"/>
          <p:cNvSpPr txBox="1"/>
          <p:nvPr>
            <p:ph type="title"/>
          </p:nvPr>
        </p:nvSpPr>
        <p:spPr>
          <a:xfrm>
            <a:off x="162075" y="69850"/>
            <a:ext cx="41763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Day15_servo_template.c</a:t>
            </a:r>
            <a:endParaRPr/>
          </a:p>
        </p:txBody>
      </p:sp>
      <p:sp>
        <p:nvSpPr>
          <p:cNvPr id="323" name="Google Shape;323;p37"/>
          <p:cNvSpPr txBox="1"/>
          <p:nvPr>
            <p:ph idx="1" type="body"/>
          </p:nvPr>
        </p:nvSpPr>
        <p:spPr>
          <a:xfrm>
            <a:off x="220200" y="673625"/>
            <a:ext cx="4351800" cy="6184500"/>
          </a:xfrm>
          <a:prstGeom prst="rect">
            <a:avLst/>
          </a:prstGeom>
        </p:spPr>
        <p:txBody>
          <a:bodyPr anchorCtr="0" anchor="t" bIns="91425" lIns="91425" spcFirstLastPara="1" rIns="91425" wrap="square" tIns="91425">
            <a:noAutofit/>
          </a:bodyPr>
          <a:lstStyle/>
          <a:p>
            <a:pPr indent="0" lvl="0" marL="25400" rtl="0" algn="l">
              <a:spcBef>
                <a:spcPts val="0"/>
              </a:spcBef>
              <a:spcAft>
                <a:spcPts val="0"/>
              </a:spcAft>
              <a:buClr>
                <a:schemeClr val="dk1"/>
              </a:buClr>
              <a:buSzPts val="1100"/>
              <a:buFont typeface="Arial"/>
              <a:buNone/>
            </a:pPr>
            <a:r>
              <a:rPr lang="en" sz="1100">
                <a:solidFill>
                  <a:srgbClr val="3F7F5F"/>
                </a:solidFill>
                <a:highlight>
                  <a:srgbClr val="FFFFFF"/>
                </a:highlight>
                <a:latin typeface="Courier New"/>
                <a:ea typeface="Courier New"/>
                <a:cs typeface="Courier New"/>
                <a:sym typeface="Courier New"/>
              </a:rPr>
              <a:t>/* Potentiometer:  	Analog channel PA0</a:t>
            </a:r>
            <a:endParaRPr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rgbClr val="3F7F5F"/>
                </a:solidFill>
                <a:highlight>
                  <a:srgbClr val="FFFFFF"/>
                </a:highlight>
                <a:latin typeface="Courier New"/>
                <a:ea typeface="Courier New"/>
                <a:cs typeface="Courier New"/>
                <a:sym typeface="Courier New"/>
              </a:rPr>
              <a:t> * Servo PWM input:	PA7 */</a:t>
            </a:r>
            <a:endParaRPr sz="1100">
              <a:solidFill>
                <a:srgbClr val="3F7F5F"/>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lang="en" sz="1100">
                <a:solidFill>
                  <a:schemeClr val="dk1"/>
                </a:solidFill>
                <a:highlight>
                  <a:srgbClr val="FFFFFF"/>
                </a:highlight>
                <a:latin typeface="Courier New"/>
                <a:ea typeface="Courier New"/>
                <a:cs typeface="Courier New"/>
                <a:sym typeface="Courier New"/>
              </a:rPr>
              <a:t> </a:t>
            </a:r>
            <a:r>
              <a:rPr lang="en" sz="1100">
                <a:solidFill>
                  <a:srgbClr val="2A00FF"/>
                </a:solidFill>
                <a:highlight>
                  <a:srgbClr val="FFFFFF"/>
                </a:highlight>
                <a:latin typeface="Courier New"/>
                <a:ea typeface="Courier New"/>
                <a:cs typeface="Courier New"/>
                <a:sym typeface="Courier New"/>
              </a:rPr>
              <a:t>&lt;stdio.h&gt;</a:t>
            </a:r>
            <a:endParaRPr sz="11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lang="en" sz="1100">
                <a:solidFill>
                  <a:schemeClr val="dk1"/>
                </a:solidFill>
                <a:highlight>
                  <a:srgbClr val="FFFFFF"/>
                </a:highlight>
                <a:latin typeface="Courier New"/>
                <a:ea typeface="Courier New"/>
                <a:cs typeface="Courier New"/>
                <a:sym typeface="Courier New"/>
              </a:rPr>
              <a:t> </a:t>
            </a:r>
            <a:r>
              <a:rPr lang="en" sz="1100">
                <a:solidFill>
                  <a:srgbClr val="2A00FF"/>
                </a:solidFill>
                <a:highlight>
                  <a:srgbClr val="FFFFFF"/>
                </a:highlight>
                <a:latin typeface="Courier New"/>
                <a:ea typeface="Courier New"/>
                <a:cs typeface="Courier New"/>
                <a:sym typeface="Courier New"/>
              </a:rPr>
              <a:t>"ES28.h"</a:t>
            </a:r>
            <a:endParaRPr sz="11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lang="en" sz="1100">
                <a:solidFill>
                  <a:schemeClr val="dk1"/>
                </a:solidFill>
                <a:highlight>
                  <a:srgbClr val="FFFFFF"/>
                </a:highlight>
                <a:latin typeface="Courier New"/>
                <a:ea typeface="Courier New"/>
                <a:cs typeface="Courier New"/>
                <a:sym typeface="Courier New"/>
              </a:rPr>
              <a:t> </a:t>
            </a:r>
            <a:r>
              <a:rPr lang="en" sz="1100">
                <a:solidFill>
                  <a:srgbClr val="2A00FF"/>
                </a:solidFill>
                <a:highlight>
                  <a:srgbClr val="FFFFFF"/>
                </a:highlight>
                <a:latin typeface="Courier New"/>
                <a:ea typeface="Courier New"/>
                <a:cs typeface="Courier New"/>
                <a:sym typeface="Courier New"/>
              </a:rPr>
              <a:t>"uart.h"</a:t>
            </a:r>
            <a:endParaRPr sz="11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EAD1DC"/>
                </a:highlight>
                <a:latin typeface="Courier New"/>
                <a:ea typeface="Courier New"/>
                <a:cs typeface="Courier New"/>
                <a:sym typeface="Courier New"/>
              </a:rPr>
              <a:t>#include</a:t>
            </a:r>
            <a:r>
              <a:rPr lang="en" sz="1100">
                <a:solidFill>
                  <a:schemeClr val="dk1"/>
                </a:solidFill>
                <a:highlight>
                  <a:srgbClr val="EAD1DC"/>
                </a:highlight>
                <a:latin typeface="Courier New"/>
                <a:ea typeface="Courier New"/>
                <a:cs typeface="Courier New"/>
                <a:sym typeface="Courier New"/>
              </a:rPr>
              <a:t> </a:t>
            </a:r>
            <a:r>
              <a:rPr lang="en" sz="1100">
                <a:solidFill>
                  <a:srgbClr val="2A00FF"/>
                </a:solidFill>
                <a:highlight>
                  <a:srgbClr val="EAD1DC"/>
                </a:highlight>
                <a:latin typeface="Courier New"/>
                <a:ea typeface="Courier New"/>
                <a:cs typeface="Courier New"/>
                <a:sym typeface="Courier New"/>
              </a:rPr>
              <a:t>"adc.h"</a:t>
            </a:r>
            <a:endParaRPr sz="1100">
              <a:solidFill>
                <a:srgbClr val="2A00FF"/>
              </a:solidFill>
              <a:highlight>
                <a:srgbClr val="EAD1DC"/>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lang="en" sz="1100">
                <a:solidFill>
                  <a:schemeClr val="dk1"/>
                </a:solidFill>
                <a:highlight>
                  <a:srgbClr val="FFFFFF"/>
                </a:highlight>
                <a:latin typeface="Courier New"/>
                <a:ea typeface="Courier New"/>
                <a:cs typeface="Courier New"/>
                <a:sym typeface="Courier New"/>
              </a:rPr>
              <a:t> </a:t>
            </a:r>
            <a:r>
              <a:rPr lang="en" sz="1100">
                <a:solidFill>
                  <a:srgbClr val="2A00FF"/>
                </a:solidFill>
                <a:highlight>
                  <a:srgbClr val="FFFFFF"/>
                </a:highlight>
                <a:latin typeface="Courier New"/>
                <a:ea typeface="Courier New"/>
                <a:cs typeface="Courier New"/>
                <a:sym typeface="Courier New"/>
              </a:rPr>
              <a:t>"tim.h"</a:t>
            </a:r>
            <a:endParaRPr sz="11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t/>
            </a:r>
            <a:endParaRPr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00"/>
                </a:highlight>
                <a:latin typeface="Courier New"/>
                <a:ea typeface="Courier New"/>
                <a:cs typeface="Courier New"/>
                <a:sym typeface="Courier New"/>
              </a:rPr>
              <a:t>#define</a:t>
            </a:r>
            <a:r>
              <a:rPr lang="en" sz="1100">
                <a:solidFill>
                  <a:schemeClr val="dk1"/>
                </a:solidFill>
                <a:highlight>
                  <a:srgbClr val="FFFF00"/>
                </a:highlight>
                <a:latin typeface="Courier New"/>
                <a:ea typeface="Courier New"/>
                <a:cs typeface="Courier New"/>
                <a:sym typeface="Courier New"/>
              </a:rPr>
              <a:t> PWM_PSC_FACTO</a:t>
            </a:r>
            <a:r>
              <a:rPr lang="en" sz="1100">
                <a:solidFill>
                  <a:schemeClr val="dk1"/>
                </a:solidFill>
                <a:highlight>
                  <a:srgbClr val="FFFF00"/>
                </a:highlight>
                <a:latin typeface="Courier New"/>
                <a:ea typeface="Courier New"/>
                <a:cs typeface="Courier New"/>
                <a:sym typeface="Courier New"/>
              </a:rPr>
              <a:t>R  </a:t>
            </a:r>
            <a:r>
              <a:rPr lang="en" sz="1100">
                <a:solidFill>
                  <a:srgbClr val="3F7F5F"/>
                </a:solidFill>
                <a:highlight>
                  <a:srgbClr val="FFFF00"/>
                </a:highlight>
                <a:latin typeface="Courier New"/>
                <a:ea typeface="Courier New"/>
                <a:cs typeface="Courier New"/>
                <a:sym typeface="Courier New"/>
              </a:rPr>
              <a:t>// prescaler</a:t>
            </a:r>
            <a:endParaRPr sz="1100">
              <a:solidFill>
                <a:srgbClr val="3F7F5F"/>
              </a:solidFill>
              <a:highlight>
                <a:srgbClr val="FFFF00"/>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00"/>
                </a:highlight>
                <a:latin typeface="Courier New"/>
                <a:ea typeface="Courier New"/>
                <a:cs typeface="Courier New"/>
                <a:sym typeface="Courier New"/>
              </a:rPr>
              <a:t>#define</a:t>
            </a:r>
            <a:r>
              <a:rPr lang="en" sz="1100">
                <a:solidFill>
                  <a:schemeClr val="dk1"/>
                </a:solidFill>
                <a:highlight>
                  <a:srgbClr val="FFFF00"/>
                </a:highlight>
                <a:latin typeface="Courier New"/>
                <a:ea typeface="Courier New"/>
                <a:cs typeface="Courier New"/>
                <a:sym typeface="Courier New"/>
              </a:rPr>
              <a:t> PWM_TIMER_MAX   </a:t>
            </a:r>
            <a:r>
              <a:rPr lang="en" sz="1100">
                <a:solidFill>
                  <a:srgbClr val="3F7F5F"/>
                </a:solidFill>
                <a:highlight>
                  <a:srgbClr val="FFFF00"/>
                </a:highlight>
                <a:latin typeface="Courier New"/>
                <a:ea typeface="Courier New"/>
                <a:cs typeface="Courier New"/>
                <a:sym typeface="Courier New"/>
              </a:rPr>
              <a:t>// 20 ms</a:t>
            </a:r>
            <a:endParaRPr sz="1100">
              <a:solidFill>
                <a:srgbClr val="3F7F5F"/>
              </a:solidFill>
              <a:highlight>
                <a:srgbClr val="FFFF00"/>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00"/>
                </a:highlight>
                <a:latin typeface="Courier New"/>
                <a:ea typeface="Courier New"/>
                <a:cs typeface="Courier New"/>
                <a:sym typeface="Courier New"/>
              </a:rPr>
              <a:t>#define</a:t>
            </a:r>
            <a:r>
              <a:rPr lang="en" sz="1100">
                <a:solidFill>
                  <a:schemeClr val="dk1"/>
                </a:solidFill>
                <a:highlight>
                  <a:srgbClr val="FFFF00"/>
                </a:highlight>
                <a:latin typeface="Courier New"/>
                <a:ea typeface="Courier New"/>
                <a:cs typeface="Courier New"/>
                <a:sym typeface="Courier New"/>
              </a:rPr>
              <a:t> SERVO_MIN       </a:t>
            </a:r>
            <a:r>
              <a:rPr lang="en" sz="1100">
                <a:solidFill>
                  <a:srgbClr val="3F7F5F"/>
                </a:solidFill>
                <a:highlight>
                  <a:srgbClr val="FFFF00"/>
                </a:highlight>
                <a:latin typeface="Courier New"/>
                <a:ea typeface="Courier New"/>
                <a:cs typeface="Courier New"/>
                <a:sym typeface="Courier New"/>
              </a:rPr>
              <a:t>// 1 ms</a:t>
            </a:r>
            <a:endParaRPr sz="1100">
              <a:solidFill>
                <a:srgbClr val="3F7F5F"/>
              </a:solidFill>
              <a:highlight>
                <a:srgbClr val="FFFF00"/>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00"/>
                </a:highlight>
                <a:latin typeface="Courier New"/>
                <a:ea typeface="Courier New"/>
                <a:cs typeface="Courier New"/>
                <a:sym typeface="Courier New"/>
              </a:rPr>
              <a:t>#define</a:t>
            </a:r>
            <a:r>
              <a:rPr lang="en" sz="1100">
                <a:solidFill>
                  <a:schemeClr val="dk1"/>
                </a:solidFill>
                <a:highlight>
                  <a:srgbClr val="FFFF00"/>
                </a:highlight>
                <a:latin typeface="Courier New"/>
                <a:ea typeface="Courier New"/>
                <a:cs typeface="Courier New"/>
                <a:sym typeface="Courier New"/>
              </a:rPr>
              <a:t> SERVO_MID       </a:t>
            </a:r>
            <a:r>
              <a:rPr lang="en" sz="1100">
                <a:solidFill>
                  <a:srgbClr val="3F7F5F"/>
                </a:solidFill>
                <a:highlight>
                  <a:srgbClr val="FFFF00"/>
                </a:highlight>
                <a:latin typeface="Courier New"/>
                <a:ea typeface="Courier New"/>
                <a:cs typeface="Courier New"/>
                <a:sym typeface="Courier New"/>
              </a:rPr>
              <a:t>// 1.5 ms</a:t>
            </a:r>
            <a:endParaRPr sz="1100">
              <a:solidFill>
                <a:srgbClr val="3F7F5F"/>
              </a:solidFill>
              <a:highlight>
                <a:srgbClr val="FFFF00"/>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00"/>
                </a:highlight>
                <a:latin typeface="Courier New"/>
                <a:ea typeface="Courier New"/>
                <a:cs typeface="Courier New"/>
                <a:sym typeface="Courier New"/>
              </a:rPr>
              <a:t>#define</a:t>
            </a:r>
            <a:r>
              <a:rPr lang="en" sz="1100">
                <a:solidFill>
                  <a:schemeClr val="dk1"/>
                </a:solidFill>
                <a:highlight>
                  <a:srgbClr val="FFFF00"/>
                </a:highlight>
                <a:latin typeface="Courier New"/>
                <a:ea typeface="Courier New"/>
                <a:cs typeface="Courier New"/>
                <a:sym typeface="Courier New"/>
              </a:rPr>
              <a:t> SERVO_MAX       </a:t>
            </a:r>
            <a:r>
              <a:rPr lang="en" sz="1100">
                <a:solidFill>
                  <a:srgbClr val="3F7F5F"/>
                </a:solidFill>
                <a:highlight>
                  <a:srgbClr val="FFFF00"/>
                </a:highlight>
                <a:latin typeface="Courier New"/>
                <a:ea typeface="Courier New"/>
                <a:cs typeface="Courier New"/>
                <a:sym typeface="Courier New"/>
              </a:rPr>
              <a:t>// 2 ms</a:t>
            </a:r>
            <a:endParaRPr sz="1100">
              <a:solidFill>
                <a:srgbClr val="3F7F5F"/>
              </a:solidFill>
              <a:highlight>
                <a:srgbClr val="FFFF00"/>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4CCCC"/>
                </a:highlight>
                <a:latin typeface="Courier New"/>
                <a:ea typeface="Courier New"/>
                <a:cs typeface="Courier New"/>
                <a:sym typeface="Courier New"/>
              </a:rPr>
              <a:t>#define</a:t>
            </a:r>
            <a:r>
              <a:rPr lang="en" sz="1100">
                <a:solidFill>
                  <a:schemeClr val="dk1"/>
                </a:solidFill>
                <a:highlight>
                  <a:srgbClr val="F4CCCC"/>
                </a:highlight>
                <a:latin typeface="Courier New"/>
                <a:ea typeface="Courier New"/>
                <a:cs typeface="Courier New"/>
                <a:sym typeface="Courier New"/>
              </a:rPr>
              <a:t> MAXADC   4096   </a:t>
            </a:r>
            <a:r>
              <a:rPr lang="en" sz="1100">
                <a:solidFill>
                  <a:srgbClr val="3F7F5F"/>
                </a:solidFill>
                <a:highlight>
                  <a:srgbClr val="F4CCCC"/>
                </a:highlight>
                <a:latin typeface="Courier New"/>
                <a:ea typeface="Courier New"/>
                <a:cs typeface="Courier New"/>
                <a:sym typeface="Courier New"/>
              </a:rPr>
              <a:t>// 12-bit converter</a:t>
            </a:r>
            <a:endParaRPr sz="1100">
              <a:solidFill>
                <a:srgbClr val="3F7F5F"/>
              </a:solidFill>
              <a:highlight>
                <a:srgbClr val="F4CCCC"/>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t/>
            </a:r>
            <a:endParaRPr b="1" sz="1100">
              <a:solidFill>
                <a:srgbClr val="7F0055"/>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volatile</a:t>
            </a:r>
            <a:r>
              <a:rPr lang="en" sz="1100">
                <a:solidFill>
                  <a:schemeClr val="dk1"/>
                </a:solidFill>
                <a:highlight>
                  <a:srgbClr val="FFFFFF"/>
                </a:highlight>
                <a:latin typeface="Courier New"/>
                <a:ea typeface="Courier New"/>
                <a:cs typeface="Courier New"/>
                <a:sym typeface="Courier New"/>
              </a:rPr>
              <a:t> </a:t>
            </a:r>
            <a:r>
              <a:rPr lang="en" sz="1100">
                <a:solidFill>
                  <a:srgbClr val="005032"/>
                </a:solidFill>
                <a:highlight>
                  <a:srgbClr val="FFFFFF"/>
                </a:highlight>
                <a:latin typeface="Courier New"/>
                <a:ea typeface="Courier New"/>
                <a:cs typeface="Courier New"/>
                <a:sym typeface="Courier New"/>
              </a:rPr>
              <a:t>uint8_t</a:t>
            </a:r>
            <a:r>
              <a:rPr lang="en" sz="1100">
                <a:solidFill>
                  <a:schemeClr val="dk1"/>
                </a:solidFill>
                <a:highlight>
                  <a:srgbClr val="FFFFFF"/>
                </a:highlight>
                <a:latin typeface="Courier New"/>
                <a:ea typeface="Courier New"/>
                <a:cs typeface="Courier New"/>
                <a:sym typeface="Courier New"/>
              </a:rPr>
              <a:t> timerFlag = 0;</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void</a:t>
            </a:r>
            <a:r>
              <a:rPr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rgbClr val="FFFFFF"/>
                </a:highlight>
                <a:latin typeface="Courier New"/>
                <a:ea typeface="Courier New"/>
                <a:cs typeface="Courier New"/>
                <a:sym typeface="Courier New"/>
              </a:rPr>
              <a:t>updateServo</a:t>
            </a:r>
            <a:r>
              <a:rPr lang="en" sz="1100">
                <a:solidFill>
                  <a:schemeClr val="dk1"/>
                </a:solidFill>
                <a:highlight>
                  <a:srgbClr val="FFFFFF"/>
                </a:highlight>
                <a:latin typeface="Courier New"/>
                <a:ea typeface="Courier New"/>
                <a:cs typeface="Courier New"/>
                <a:sym typeface="Courier New"/>
              </a:rPr>
              <a:t>(</a:t>
            </a:r>
            <a:r>
              <a:rPr lang="en" sz="1100">
                <a:solidFill>
                  <a:srgbClr val="005032"/>
                </a:solidFill>
                <a:highlight>
                  <a:srgbClr val="FFFFFF"/>
                </a:highlight>
                <a:latin typeface="Courier New"/>
                <a:ea typeface="Courier New"/>
                <a:cs typeface="Courier New"/>
                <a:sym typeface="Courier New"/>
              </a:rPr>
              <a:t>uint16_t</a:t>
            </a:r>
            <a:r>
              <a:rPr lang="en" sz="1100">
                <a:solidFill>
                  <a:schemeClr val="dk1"/>
                </a:solidFill>
                <a:highlight>
                  <a:srgbClr val="FFFFFF"/>
                </a:highlight>
                <a:latin typeface="Courier New"/>
                <a:ea typeface="Courier New"/>
                <a:cs typeface="Courier New"/>
                <a:sym typeface="Courier New"/>
              </a:rPr>
              <a:t> value);</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void</a:t>
            </a:r>
            <a:r>
              <a:rPr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rgbClr val="FFFFFF"/>
                </a:highlight>
                <a:latin typeface="Courier New"/>
                <a:ea typeface="Courier New"/>
                <a:cs typeface="Courier New"/>
                <a:sym typeface="Courier New"/>
              </a:rPr>
              <a:t>updateServo</a:t>
            </a:r>
            <a:r>
              <a:rPr lang="en" sz="1100">
                <a:solidFill>
                  <a:schemeClr val="dk1"/>
                </a:solidFill>
                <a:highlight>
                  <a:srgbClr val="FFFFFF"/>
                </a:highlight>
                <a:latin typeface="Courier New"/>
                <a:ea typeface="Courier New"/>
                <a:cs typeface="Courier New"/>
                <a:sym typeface="Courier New"/>
              </a:rPr>
              <a:t>(</a:t>
            </a:r>
            <a:r>
              <a:rPr lang="en" sz="1100">
                <a:solidFill>
                  <a:srgbClr val="005032"/>
                </a:solidFill>
                <a:highlight>
                  <a:srgbClr val="FFFFFF"/>
                </a:highlight>
                <a:latin typeface="Courier New"/>
                <a:ea typeface="Courier New"/>
                <a:cs typeface="Courier New"/>
                <a:sym typeface="Courier New"/>
              </a:rPr>
              <a:t>uint16_t</a:t>
            </a:r>
            <a:r>
              <a:rPr lang="en" sz="1100">
                <a:solidFill>
                  <a:schemeClr val="dk1"/>
                </a:solidFill>
                <a:highlight>
                  <a:srgbClr val="FFFFFF"/>
                </a:highlight>
                <a:latin typeface="Courier New"/>
                <a:ea typeface="Courier New"/>
                <a:cs typeface="Courier New"/>
                <a:sym typeface="Courier New"/>
              </a:rPr>
              <a:t> value) {</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lang="en" sz="1100">
                <a:solidFill>
                  <a:schemeClr val="dk1"/>
                </a:solidFill>
                <a:highlight>
                  <a:srgbClr val="FFFFFF"/>
                </a:highlight>
                <a:latin typeface="Courier New"/>
                <a:ea typeface="Courier New"/>
                <a:cs typeface="Courier New"/>
                <a:sym typeface="Courier New"/>
              </a:rPr>
              <a:t> (value&gt;SERVO_MAX)</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value = SERVO_MAX;</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else</a:t>
            </a:r>
            <a:r>
              <a:rPr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lang="en" sz="1100">
                <a:solidFill>
                  <a:schemeClr val="dk1"/>
                </a:solidFill>
                <a:highlight>
                  <a:srgbClr val="FFFFFF"/>
                </a:highlight>
                <a:latin typeface="Courier New"/>
                <a:ea typeface="Courier New"/>
                <a:cs typeface="Courier New"/>
                <a:sym typeface="Courier New"/>
              </a:rPr>
              <a:t> (value &lt; SERVO_MIN)</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value = SERVO_MIN;</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tim14_pwm_set(value);</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void</a:t>
            </a:r>
            <a:r>
              <a:rPr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rgbClr val="FFFFFF"/>
                </a:highlight>
                <a:latin typeface="Courier New"/>
                <a:ea typeface="Courier New"/>
                <a:cs typeface="Courier New"/>
                <a:sym typeface="Courier New"/>
              </a:rPr>
              <a:t>TIM16_IRQHandler</a:t>
            </a:r>
            <a:r>
              <a:rPr lang="en" sz="1100">
                <a:solidFill>
                  <a:schemeClr val="dk1"/>
                </a:solidFill>
                <a:highlight>
                  <a:srgbClr val="FFFFFF"/>
                </a:highlight>
                <a:latin typeface="Courier New"/>
                <a:ea typeface="Courier New"/>
                <a:cs typeface="Courier New"/>
                <a:sym typeface="Courier New"/>
              </a:rPr>
              <a:t>(</a:t>
            </a:r>
            <a:r>
              <a:rPr b="1" lang="en" sz="1100">
                <a:solidFill>
                  <a:srgbClr val="7F0055"/>
                </a:solidFill>
                <a:highlight>
                  <a:srgbClr val="FFFFFF"/>
                </a:highlight>
                <a:latin typeface="Courier New"/>
                <a:ea typeface="Courier New"/>
                <a:cs typeface="Courier New"/>
                <a:sym typeface="Courier New"/>
              </a:rPr>
              <a:t>void</a:t>
            </a:r>
            <a:r>
              <a:rPr lang="en" sz="1100">
                <a:solidFill>
                  <a:schemeClr val="dk1"/>
                </a:solidFill>
                <a:highlight>
                  <a:srgbClr val="FFFFFF"/>
                </a:highlight>
                <a:latin typeface="Courier New"/>
                <a:ea typeface="Courier New"/>
                <a:cs typeface="Courier New"/>
                <a:sym typeface="Courier New"/>
              </a:rPr>
              <a:t>) {</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lang="en" sz="1100">
                <a:solidFill>
                  <a:schemeClr val="dk1"/>
                </a:solidFill>
                <a:highlight>
                  <a:schemeClr val="lt1"/>
                </a:highlight>
                <a:latin typeface="Courier New"/>
                <a:ea typeface="Courier New"/>
                <a:cs typeface="Courier New"/>
                <a:sym typeface="Courier New"/>
              </a:rPr>
              <a:t>__disable_irq();</a:t>
            </a:r>
            <a:endParaRPr sz="1100">
              <a:solidFill>
                <a:schemeClr val="dk1"/>
              </a:solidFill>
              <a:highlight>
                <a:schemeClr val="lt1"/>
              </a:highlight>
              <a:latin typeface="Courier New"/>
              <a:ea typeface="Courier New"/>
              <a:cs typeface="Courier New"/>
              <a:sym typeface="Courier New"/>
            </a:endParaRPr>
          </a:p>
          <a:p>
            <a:pPr indent="431800" lvl="0" marL="25400" rtl="0" algn="l">
              <a:spcBef>
                <a:spcPts val="0"/>
              </a:spcBef>
              <a:spcAft>
                <a:spcPts val="0"/>
              </a:spcAft>
              <a:buClr>
                <a:schemeClr val="dk1"/>
              </a:buClr>
              <a:buSzPts val="1100"/>
              <a:buFont typeface="Arial"/>
              <a:buNone/>
            </a:pPr>
            <a:r>
              <a:rPr lang="en" sz="1100">
                <a:solidFill>
                  <a:srgbClr val="3F7F5F"/>
                </a:solidFill>
                <a:highlight>
                  <a:srgbClr val="FFFFFF"/>
                </a:highlight>
                <a:latin typeface="Courier New"/>
                <a:ea typeface="Courier New"/>
                <a:cs typeface="Courier New"/>
                <a:sym typeface="Courier New"/>
              </a:rPr>
              <a:t>/* Clear UIF in status register */</a:t>
            </a:r>
            <a:endParaRPr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TIM16-&gt;</a:t>
            </a:r>
            <a:r>
              <a:rPr lang="en" sz="1100">
                <a:solidFill>
                  <a:srgbClr val="0000C0"/>
                </a:solidFill>
                <a:highlight>
                  <a:srgbClr val="FFFFFF"/>
                </a:highlight>
                <a:latin typeface="Courier New"/>
                <a:ea typeface="Courier New"/>
                <a:cs typeface="Courier New"/>
                <a:sym typeface="Courier New"/>
              </a:rPr>
              <a:t>SR</a:t>
            </a:r>
            <a:r>
              <a:rPr lang="en" sz="1100">
                <a:solidFill>
                  <a:schemeClr val="dk1"/>
                </a:solidFill>
                <a:highlight>
                  <a:srgbClr val="FFFFFF"/>
                </a:highlight>
                <a:latin typeface="Courier New"/>
                <a:ea typeface="Courier New"/>
                <a:cs typeface="Courier New"/>
                <a:sym typeface="Courier New"/>
              </a:rPr>
              <a:t> &amp;= ~TIM_SR_UIF;</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timerFlag = 1;</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__enable_irq();</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latin typeface="Courier New"/>
              <a:ea typeface="Courier New"/>
              <a:cs typeface="Courier New"/>
              <a:sym typeface="Courier New"/>
            </a:endParaRPr>
          </a:p>
        </p:txBody>
      </p:sp>
      <p:sp>
        <p:nvSpPr>
          <p:cNvPr id="324" name="Google Shape;324;p37"/>
          <p:cNvSpPr txBox="1"/>
          <p:nvPr>
            <p:ph idx="1" type="body"/>
          </p:nvPr>
        </p:nvSpPr>
        <p:spPr>
          <a:xfrm>
            <a:off x="4234850" y="1223175"/>
            <a:ext cx="4846200" cy="5566200"/>
          </a:xfrm>
          <a:prstGeom prst="rect">
            <a:avLst/>
          </a:prstGeom>
        </p:spPr>
        <p:txBody>
          <a:bodyPr anchorCtr="0" anchor="t" bIns="91425" lIns="91425" spcFirstLastPara="1" rIns="91425" wrap="square" tIns="91425">
            <a:noAutofit/>
          </a:bodyPr>
          <a:lstStyle/>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int</a:t>
            </a:r>
            <a:r>
              <a:rPr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rgbClr val="FFFFFF"/>
                </a:highlight>
                <a:latin typeface="Courier New"/>
                <a:ea typeface="Courier New"/>
                <a:cs typeface="Courier New"/>
                <a:sym typeface="Courier New"/>
              </a:rPr>
              <a:t>main</a:t>
            </a:r>
            <a:r>
              <a:rPr lang="en" sz="1100">
                <a:solidFill>
                  <a:schemeClr val="dk1"/>
                </a:solidFill>
                <a:highlight>
                  <a:srgbClr val="FFFFFF"/>
                </a:highlight>
                <a:latin typeface="Courier New"/>
                <a:ea typeface="Courier New"/>
                <a:cs typeface="Courier New"/>
                <a:sym typeface="Courier New"/>
              </a:rPr>
              <a:t>(</a:t>
            </a:r>
            <a:r>
              <a:rPr b="1" lang="en" sz="1100">
                <a:solidFill>
                  <a:srgbClr val="7F0055"/>
                </a:solidFill>
                <a:highlight>
                  <a:srgbClr val="FFFFFF"/>
                </a:highlight>
                <a:latin typeface="Courier New"/>
                <a:ea typeface="Courier New"/>
                <a:cs typeface="Courier New"/>
                <a:sym typeface="Courier New"/>
              </a:rPr>
              <a:t>void</a:t>
            </a:r>
            <a:r>
              <a:rPr lang="en" sz="1100">
                <a:solidFill>
                  <a:schemeClr val="dk1"/>
                </a:solidFill>
                <a:highlight>
                  <a:srgbClr val="FFFFFF"/>
                </a:highlight>
                <a:latin typeface="Courier New"/>
                <a:ea typeface="Courier New"/>
                <a:cs typeface="Courier New"/>
                <a:sym typeface="Courier New"/>
              </a:rPr>
              <a:t>) {</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lang="en" sz="1100">
                <a:solidFill>
                  <a:srgbClr val="005032"/>
                </a:solidFill>
                <a:highlight>
                  <a:srgbClr val="FFFFFF"/>
                </a:highlight>
                <a:latin typeface="Courier New"/>
                <a:ea typeface="Courier New"/>
                <a:cs typeface="Courier New"/>
                <a:sym typeface="Courier New"/>
              </a:rPr>
              <a:t>int16_t</a:t>
            </a:r>
            <a:r>
              <a:rPr lang="en" sz="1100">
                <a:solidFill>
                  <a:schemeClr val="dk1"/>
                </a:solidFill>
                <a:highlight>
                  <a:srgbClr val="FFFFFF"/>
                </a:highlight>
                <a:latin typeface="Courier New"/>
                <a:ea typeface="Courier New"/>
                <a:cs typeface="Courier New"/>
                <a:sym typeface="Courier New"/>
              </a:rPr>
              <a:t> pot_value = 0;</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int16_t pwm_value = SERVO_MIN;</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uart2_init();</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tim14_pa7_pwm_init(PWM_PSC_FACTOR, PWM_TIMER_MAX);</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lang="en" sz="1100">
                <a:solidFill>
                  <a:schemeClr val="dk1"/>
                </a:solidFill>
                <a:highlight>
                  <a:srgbClr val="EAD1DC"/>
                </a:highlight>
                <a:latin typeface="Courier New"/>
                <a:ea typeface="Courier New"/>
                <a:cs typeface="Courier New"/>
                <a:sym typeface="Courier New"/>
              </a:rPr>
              <a:t>pa0_adc_init();</a:t>
            </a:r>
            <a:endParaRPr sz="1100">
              <a:solidFill>
                <a:schemeClr val="dk1"/>
              </a:solidFill>
              <a:highlight>
                <a:srgbClr val="EAD1DC"/>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b="1" lang="en" sz="1100">
                <a:solidFill>
                  <a:srgbClr val="642880"/>
                </a:solidFill>
                <a:highlight>
                  <a:srgbClr val="FFFFFF"/>
                </a:highlight>
                <a:latin typeface="Courier New"/>
                <a:ea typeface="Courier New"/>
                <a:cs typeface="Courier New"/>
                <a:sym typeface="Courier New"/>
              </a:rPr>
              <a:t>printf</a:t>
            </a:r>
            <a:r>
              <a:rPr lang="en" sz="1100">
                <a:solidFill>
                  <a:schemeClr val="dk1"/>
                </a:solidFill>
                <a:highlight>
                  <a:srgbClr val="FFFFFF"/>
                </a:highlight>
                <a:latin typeface="Courier New"/>
                <a:ea typeface="Courier New"/>
                <a:cs typeface="Courier New"/>
                <a:sym typeface="Courier New"/>
              </a:rPr>
              <a:t>(</a:t>
            </a:r>
            <a:r>
              <a:rPr lang="en" sz="1100">
                <a:solidFill>
                  <a:srgbClr val="2A00FF"/>
                </a:solidFill>
                <a:highlight>
                  <a:srgbClr val="FFFFFF"/>
                </a:highlight>
                <a:latin typeface="Courier New"/>
                <a:ea typeface="Courier New"/>
                <a:cs typeface="Courier New"/>
                <a:sym typeface="Courier New"/>
              </a:rPr>
              <a:t>"Potentiometer-controlled servo\n\r"</a:t>
            </a:r>
            <a:r>
              <a:rPr lang="en" sz="1100">
                <a:solidFill>
                  <a:schemeClr val="dk1"/>
                </a:solidFill>
                <a:highlight>
                  <a:srgbClr val="FFFFFF"/>
                </a:highlight>
                <a:latin typeface="Courier New"/>
                <a:ea typeface="Courier New"/>
                <a:cs typeface="Courier New"/>
                <a:sym typeface="Courier New"/>
              </a:rPr>
              <a:t>);</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timerFlag = 0;</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tim16_ms_interrupt_init(500);</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lang="en" sz="1100">
                <a:solidFill>
                  <a:schemeClr val="dk1"/>
                </a:solidFill>
                <a:highlight>
                  <a:srgbClr val="FFFFFF"/>
                </a:highlight>
                <a:latin typeface="Courier New"/>
                <a:ea typeface="Courier New"/>
                <a:cs typeface="Courier New"/>
                <a:sym typeface="Courier New"/>
              </a:rPr>
              <a:t>(1) {</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lang="en" sz="1100">
                <a:solidFill>
                  <a:schemeClr val="dk1"/>
                </a:solidFill>
                <a:highlight>
                  <a:srgbClr val="FFFFFF"/>
                </a:highlight>
                <a:latin typeface="Courier New"/>
                <a:ea typeface="Courier New"/>
                <a:cs typeface="Courier New"/>
                <a:sym typeface="Courier New"/>
              </a:rPr>
              <a:t>(timerFlag==1) {</a:t>
            </a:r>
            <a:endParaRPr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start_conversion();</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pot_value = adc_read(); </a:t>
            </a:r>
            <a:r>
              <a:rPr lang="en" sz="1100">
                <a:solidFill>
                  <a:srgbClr val="3F7F5F"/>
                </a:solidFill>
                <a:highlight>
                  <a:srgbClr val="FFFFFF"/>
                </a:highlight>
                <a:latin typeface="Courier New"/>
                <a:ea typeface="Courier New"/>
                <a:cs typeface="Courier New"/>
                <a:sym typeface="Courier New"/>
              </a:rPr>
              <a:t>// Pot value (0 to 4095)</a:t>
            </a:r>
            <a:endParaRPr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lang="en" sz="1100">
                <a:solidFill>
                  <a:schemeClr val="dk1"/>
                </a:solidFill>
                <a:highlight>
                  <a:srgbClr val="FFFF00"/>
                </a:highlight>
                <a:latin typeface="Courier New"/>
                <a:ea typeface="Courier New"/>
                <a:cs typeface="Courier New"/>
                <a:sym typeface="Courier New"/>
              </a:rPr>
              <a:t>pwm_value =	  	</a:t>
            </a:r>
            <a:r>
              <a:rPr lang="en" sz="1100">
                <a:solidFill>
                  <a:srgbClr val="3F7F5F"/>
                </a:solidFill>
                <a:latin typeface="Courier New"/>
                <a:ea typeface="Courier New"/>
                <a:cs typeface="Courier New"/>
                <a:sym typeface="Courier New"/>
              </a:rPr>
              <a:t>// Map pot_value to pwm_value</a:t>
            </a:r>
            <a:endParaRPr sz="1100">
              <a:solidFill>
                <a:srgbClr val="3F7F5F"/>
              </a:solidFill>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rgbClr val="3F7F5F"/>
                </a:solidFill>
                <a:highlight>
                  <a:srgbClr val="FFFFFF"/>
                </a:highlight>
                <a:latin typeface="Courier New"/>
                <a:ea typeface="Courier New"/>
                <a:cs typeface="Courier New"/>
                <a:sym typeface="Courier New"/>
              </a:rPr>
              <a:t>     </a:t>
            </a:r>
            <a:r>
              <a:rPr lang="en" sz="1100">
                <a:solidFill>
                  <a:schemeClr val="dk1"/>
                </a:solidFill>
                <a:highlight>
                  <a:srgbClr val="FFFFFF"/>
                </a:highlight>
                <a:latin typeface="Courier New"/>
                <a:ea typeface="Courier New"/>
                <a:cs typeface="Courier New"/>
                <a:sym typeface="Courier New"/>
              </a:rPr>
              <a:t>updateServo(pwm_value);	 </a:t>
            </a:r>
            <a:r>
              <a:rPr lang="en" sz="1100">
                <a:solidFill>
                  <a:srgbClr val="3F7F5F"/>
                </a:solidFill>
                <a:highlight>
                  <a:srgbClr val="FFFFFF"/>
                </a:highlight>
                <a:latin typeface="Courier New"/>
                <a:ea typeface="Courier New"/>
                <a:cs typeface="Courier New"/>
                <a:sym typeface="Courier New"/>
              </a:rPr>
              <a:t>// Update the PWM</a:t>
            </a:r>
            <a:endParaRPr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b="1" lang="en" sz="1100">
                <a:solidFill>
                  <a:srgbClr val="642880"/>
                </a:solidFill>
                <a:highlight>
                  <a:srgbClr val="FFFFFF"/>
                </a:highlight>
                <a:latin typeface="Courier New"/>
                <a:ea typeface="Courier New"/>
                <a:cs typeface="Courier New"/>
                <a:sym typeface="Courier New"/>
              </a:rPr>
              <a:t>printf</a:t>
            </a:r>
            <a:r>
              <a:rPr lang="en" sz="1100">
                <a:solidFill>
                  <a:schemeClr val="dk1"/>
                </a:solidFill>
                <a:highlight>
                  <a:srgbClr val="FFFFFF"/>
                </a:highlight>
                <a:latin typeface="Courier New"/>
                <a:ea typeface="Courier New"/>
                <a:cs typeface="Courier New"/>
                <a:sym typeface="Courier New"/>
              </a:rPr>
              <a:t>(</a:t>
            </a:r>
            <a:r>
              <a:rPr lang="en" sz="1100">
                <a:solidFill>
                  <a:srgbClr val="2A00FF"/>
                </a:solidFill>
                <a:highlight>
                  <a:srgbClr val="FFFFFF"/>
                </a:highlight>
                <a:latin typeface="Courier New"/>
                <a:ea typeface="Courier New"/>
                <a:cs typeface="Courier New"/>
                <a:sym typeface="Courier New"/>
              </a:rPr>
              <a:t>"pot_value=%d, \tpwm_value=%d\n\r"</a:t>
            </a:r>
            <a:r>
              <a:rPr lang="en" sz="1100">
                <a:solidFill>
                  <a:schemeClr val="dk1"/>
                </a:solidFill>
                <a:highlight>
                  <a:srgbClr val="FFFFFF"/>
                </a:highlight>
                <a:latin typeface="Courier New"/>
                <a:ea typeface="Courier New"/>
                <a:cs typeface="Courier New"/>
                <a:sym typeface="Courier New"/>
              </a:rPr>
              <a:t>, </a:t>
            </a:r>
            <a:endParaRPr sz="1100">
              <a:solidFill>
                <a:schemeClr val="dk1"/>
              </a:solidFill>
              <a:highlight>
                <a:srgbClr val="FFFFFF"/>
              </a:highlight>
              <a:latin typeface="Courier New"/>
              <a:ea typeface="Courier New"/>
              <a:cs typeface="Courier New"/>
              <a:sym typeface="Courier New"/>
            </a:endParaRPr>
          </a:p>
          <a:p>
            <a:pPr indent="431800" lvl="0" marL="9398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pot_value,</a:t>
            </a:r>
            <a:r>
              <a:rPr lang="en" sz="1100">
                <a:solidFill>
                  <a:schemeClr val="dk1"/>
                </a:solidFill>
                <a:highlight>
                  <a:srgbClr val="FFFFFF"/>
                </a:highlight>
                <a:latin typeface="Courier New"/>
                <a:ea typeface="Courier New"/>
                <a:cs typeface="Courier New"/>
                <a:sym typeface="Courier New"/>
              </a:rPr>
              <a:t> pwm_value);</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timerFlag=0;			 </a:t>
            </a:r>
            <a:r>
              <a:rPr lang="en" sz="1100">
                <a:solidFill>
                  <a:srgbClr val="3F7F5F"/>
                </a:solidFill>
                <a:highlight>
                  <a:srgbClr val="FFFFFF"/>
                </a:highlight>
                <a:latin typeface="Courier New"/>
                <a:ea typeface="Courier New"/>
                <a:cs typeface="Courier New"/>
                <a:sym typeface="Courier New"/>
              </a:rPr>
              <a:t>// Put the flag down</a:t>
            </a:r>
            <a:endParaRPr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lang="en" sz="1100">
                <a:solidFill>
                  <a:schemeClr val="dk1"/>
                </a:solidFill>
                <a:highlight>
                  <a:srgbClr val="FFFFFF"/>
                </a:highlight>
                <a:latin typeface="Courier New"/>
                <a:ea typeface="Courier New"/>
                <a:cs typeface="Courier New"/>
                <a:sym typeface="Courier New"/>
              </a:rPr>
              <a:t>}</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return</a:t>
            </a:r>
            <a:r>
              <a:rPr lang="en" sz="1100">
                <a:solidFill>
                  <a:schemeClr val="dk1"/>
                </a:solidFill>
                <a:highlight>
                  <a:srgbClr val="FFFFFF"/>
                </a:highlight>
                <a:latin typeface="Courier New"/>
                <a:ea typeface="Courier New"/>
                <a:cs typeface="Courier New"/>
                <a:sym typeface="Courier New"/>
              </a:rPr>
              <a:t> 0; </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latin typeface="Courier New"/>
              <a:ea typeface="Courier New"/>
              <a:cs typeface="Courier New"/>
              <a:sym typeface="Courier New"/>
            </a:endParaRPr>
          </a:p>
        </p:txBody>
      </p:sp>
      <p:sp>
        <p:nvSpPr>
          <p:cNvPr id="325" name="Google Shape;325;p37"/>
          <p:cNvSpPr txBox="1"/>
          <p:nvPr/>
        </p:nvSpPr>
        <p:spPr>
          <a:xfrm>
            <a:off x="5209150" y="248050"/>
            <a:ext cx="3210000" cy="510600"/>
          </a:xfrm>
          <a:prstGeom prst="rect">
            <a:avLst/>
          </a:prstGeom>
          <a:solidFill>
            <a:srgbClr val="F4CCCC"/>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Adjust to your own adc code</a:t>
            </a:r>
            <a:endParaRPr sz="1800">
              <a:solidFill>
                <a:schemeClr val="dk2"/>
              </a:solidFill>
            </a:endParaRPr>
          </a:p>
        </p:txBody>
      </p:sp>
      <p:cxnSp>
        <p:nvCxnSpPr>
          <p:cNvPr id="326" name="Google Shape;326;p37"/>
          <p:cNvCxnSpPr>
            <a:stCxn id="325" idx="2"/>
          </p:cNvCxnSpPr>
          <p:nvPr/>
        </p:nvCxnSpPr>
        <p:spPr>
          <a:xfrm flipH="1">
            <a:off x="1838650" y="758650"/>
            <a:ext cx="4975500" cy="1182000"/>
          </a:xfrm>
          <a:prstGeom prst="straightConnector1">
            <a:avLst/>
          </a:prstGeom>
          <a:noFill/>
          <a:ln cap="flat" cmpd="sng" w="28575">
            <a:solidFill>
              <a:srgbClr val="F4CCCC"/>
            </a:solidFill>
            <a:prstDash val="solid"/>
            <a:round/>
            <a:headEnd len="med" w="med" type="none"/>
            <a:tailEnd len="med" w="med" type="triangle"/>
          </a:ln>
        </p:spPr>
      </p:cxnSp>
      <p:cxnSp>
        <p:nvCxnSpPr>
          <p:cNvPr id="327" name="Google Shape;327;p37"/>
          <p:cNvCxnSpPr>
            <a:stCxn id="325" idx="2"/>
          </p:cNvCxnSpPr>
          <p:nvPr/>
        </p:nvCxnSpPr>
        <p:spPr>
          <a:xfrm flipH="1">
            <a:off x="5501050" y="758650"/>
            <a:ext cx="1313100" cy="1459200"/>
          </a:xfrm>
          <a:prstGeom prst="straightConnector1">
            <a:avLst/>
          </a:prstGeom>
          <a:noFill/>
          <a:ln cap="flat" cmpd="sng" w="28575">
            <a:solidFill>
              <a:srgbClr val="F4CCCC"/>
            </a:solidFill>
            <a:prstDash val="solid"/>
            <a:round/>
            <a:headEnd len="med" w="med" type="none"/>
            <a:tailEnd len="med" w="med" type="triangle"/>
          </a:ln>
        </p:spPr>
      </p:cxnSp>
      <p:sp>
        <p:nvSpPr>
          <p:cNvPr id="328" name="Google Shape;328;p37"/>
          <p:cNvSpPr txBox="1"/>
          <p:nvPr/>
        </p:nvSpPr>
        <p:spPr>
          <a:xfrm>
            <a:off x="4537950" y="5763650"/>
            <a:ext cx="1138200" cy="510600"/>
          </a:xfrm>
          <a:prstGeom prst="rect">
            <a:avLst/>
          </a:prstGeom>
          <a:solidFill>
            <a:srgbClr val="FFFF00"/>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complete</a:t>
            </a:r>
            <a:endParaRPr sz="1800">
              <a:solidFill>
                <a:schemeClr val="dk2"/>
              </a:solidFill>
            </a:endParaRPr>
          </a:p>
        </p:txBody>
      </p:sp>
      <p:cxnSp>
        <p:nvCxnSpPr>
          <p:cNvPr id="329" name="Google Shape;329;p37"/>
          <p:cNvCxnSpPr/>
          <p:nvPr/>
        </p:nvCxnSpPr>
        <p:spPr>
          <a:xfrm rot="10800000">
            <a:off x="3150350" y="3080450"/>
            <a:ext cx="1927500" cy="2683200"/>
          </a:xfrm>
          <a:prstGeom prst="straightConnector1">
            <a:avLst/>
          </a:prstGeom>
          <a:noFill/>
          <a:ln cap="flat" cmpd="sng" w="28575">
            <a:solidFill>
              <a:srgbClr val="FFFF00"/>
            </a:solidFill>
            <a:prstDash val="solid"/>
            <a:round/>
            <a:headEnd len="med" w="med" type="none"/>
            <a:tailEnd len="med" w="med" type="triangle"/>
          </a:ln>
        </p:spPr>
      </p:cxnSp>
      <p:cxnSp>
        <p:nvCxnSpPr>
          <p:cNvPr id="330" name="Google Shape;330;p37"/>
          <p:cNvCxnSpPr>
            <a:stCxn id="328" idx="0"/>
          </p:cNvCxnSpPr>
          <p:nvPr/>
        </p:nvCxnSpPr>
        <p:spPr>
          <a:xfrm flipH="1" rot="10800000">
            <a:off x="5107050" y="3954350"/>
            <a:ext cx="773400" cy="1809300"/>
          </a:xfrm>
          <a:prstGeom prst="straightConnector1">
            <a:avLst/>
          </a:prstGeom>
          <a:noFill/>
          <a:ln cap="flat" cmpd="sng" w="28575">
            <a:solidFill>
              <a:srgbClr val="FFFF00"/>
            </a:solidFill>
            <a:prstDash val="solid"/>
            <a:round/>
            <a:headEnd len="med" w="med" type="none"/>
            <a:tailEnd len="med" w="med" type="triangle"/>
          </a:ln>
        </p:spPr>
      </p:cxnSp>
      <p:cxnSp>
        <p:nvCxnSpPr>
          <p:cNvPr id="331" name="Google Shape;331;p37"/>
          <p:cNvCxnSpPr>
            <a:stCxn id="325" idx="2"/>
          </p:cNvCxnSpPr>
          <p:nvPr/>
        </p:nvCxnSpPr>
        <p:spPr>
          <a:xfrm flipH="1">
            <a:off x="3010750" y="758650"/>
            <a:ext cx="3803400" cy="2656500"/>
          </a:xfrm>
          <a:prstGeom prst="straightConnector1">
            <a:avLst/>
          </a:prstGeom>
          <a:noFill/>
          <a:ln cap="flat" cmpd="sng" w="28575">
            <a:solidFill>
              <a:srgbClr val="F4CCCC"/>
            </a:solidFill>
            <a:prstDash val="solid"/>
            <a:round/>
            <a:headEnd len="med" w="med" type="none"/>
            <a:tailEnd len="med" w="med" type="triangl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5" name="Shape 335"/>
        <p:cNvGrpSpPr/>
        <p:nvPr/>
      </p:nvGrpSpPr>
      <p:grpSpPr>
        <a:xfrm>
          <a:off x="0" y="0"/>
          <a:ext cx="0" cy="0"/>
          <a:chOff x="0" y="0"/>
          <a:chExt cx="0" cy="0"/>
        </a:xfrm>
      </p:grpSpPr>
      <p:sp>
        <p:nvSpPr>
          <p:cNvPr id="336" name="Google Shape;336;p38"/>
          <p:cNvSpPr txBox="1"/>
          <p:nvPr>
            <p:ph type="title"/>
          </p:nvPr>
        </p:nvSpPr>
        <p:spPr>
          <a:xfrm>
            <a:off x="162075" y="69850"/>
            <a:ext cx="41763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Day15_servo_template.c</a:t>
            </a:r>
            <a:endParaRPr/>
          </a:p>
        </p:txBody>
      </p:sp>
      <p:sp>
        <p:nvSpPr>
          <p:cNvPr id="337" name="Google Shape;337;p38"/>
          <p:cNvSpPr txBox="1"/>
          <p:nvPr>
            <p:ph idx="1" type="body"/>
          </p:nvPr>
        </p:nvSpPr>
        <p:spPr>
          <a:xfrm>
            <a:off x="220200" y="673625"/>
            <a:ext cx="4351800" cy="6184500"/>
          </a:xfrm>
          <a:prstGeom prst="rect">
            <a:avLst/>
          </a:prstGeom>
        </p:spPr>
        <p:txBody>
          <a:bodyPr anchorCtr="0" anchor="t" bIns="91425" lIns="91425" spcFirstLastPara="1" rIns="91425" wrap="square" tIns="91425">
            <a:noAutofit/>
          </a:bodyPr>
          <a:lstStyle/>
          <a:p>
            <a:pPr indent="0" lvl="0" marL="25400" rtl="0" algn="l">
              <a:spcBef>
                <a:spcPts val="0"/>
              </a:spcBef>
              <a:spcAft>
                <a:spcPts val="0"/>
              </a:spcAft>
              <a:buClr>
                <a:schemeClr val="dk1"/>
              </a:buClr>
              <a:buSzPts val="1100"/>
              <a:buFont typeface="Arial"/>
              <a:buNone/>
            </a:pPr>
            <a:r>
              <a:rPr lang="en" sz="1100">
                <a:solidFill>
                  <a:srgbClr val="3F7F5F"/>
                </a:solidFill>
                <a:highlight>
                  <a:srgbClr val="FFFFFF"/>
                </a:highlight>
                <a:latin typeface="Courier New"/>
                <a:ea typeface="Courier New"/>
                <a:cs typeface="Courier New"/>
                <a:sym typeface="Courier New"/>
              </a:rPr>
              <a:t>/* Potentiometer:  	Analog channel PA0</a:t>
            </a:r>
            <a:endParaRPr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rgbClr val="3F7F5F"/>
                </a:solidFill>
                <a:highlight>
                  <a:srgbClr val="FFFFFF"/>
                </a:highlight>
                <a:latin typeface="Courier New"/>
                <a:ea typeface="Courier New"/>
                <a:cs typeface="Courier New"/>
                <a:sym typeface="Courier New"/>
              </a:rPr>
              <a:t> * Servo PWM input:	PA7 */</a:t>
            </a:r>
            <a:endParaRPr sz="1100">
              <a:solidFill>
                <a:srgbClr val="3F7F5F"/>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lang="en" sz="1100">
                <a:solidFill>
                  <a:schemeClr val="dk1"/>
                </a:solidFill>
                <a:highlight>
                  <a:srgbClr val="FFFFFF"/>
                </a:highlight>
                <a:latin typeface="Courier New"/>
                <a:ea typeface="Courier New"/>
                <a:cs typeface="Courier New"/>
                <a:sym typeface="Courier New"/>
              </a:rPr>
              <a:t> </a:t>
            </a:r>
            <a:r>
              <a:rPr lang="en" sz="1100">
                <a:solidFill>
                  <a:srgbClr val="2A00FF"/>
                </a:solidFill>
                <a:highlight>
                  <a:srgbClr val="FFFFFF"/>
                </a:highlight>
                <a:latin typeface="Courier New"/>
                <a:ea typeface="Courier New"/>
                <a:cs typeface="Courier New"/>
                <a:sym typeface="Courier New"/>
              </a:rPr>
              <a:t>&lt;stdio.h&gt;</a:t>
            </a:r>
            <a:endParaRPr sz="11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lang="en" sz="1100">
                <a:solidFill>
                  <a:schemeClr val="dk1"/>
                </a:solidFill>
                <a:highlight>
                  <a:srgbClr val="FFFFFF"/>
                </a:highlight>
                <a:latin typeface="Courier New"/>
                <a:ea typeface="Courier New"/>
                <a:cs typeface="Courier New"/>
                <a:sym typeface="Courier New"/>
              </a:rPr>
              <a:t> </a:t>
            </a:r>
            <a:r>
              <a:rPr lang="en" sz="1100">
                <a:solidFill>
                  <a:srgbClr val="2A00FF"/>
                </a:solidFill>
                <a:highlight>
                  <a:srgbClr val="FFFFFF"/>
                </a:highlight>
                <a:latin typeface="Courier New"/>
                <a:ea typeface="Courier New"/>
                <a:cs typeface="Courier New"/>
                <a:sym typeface="Courier New"/>
              </a:rPr>
              <a:t>"ES28.h"</a:t>
            </a:r>
            <a:endParaRPr sz="11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lang="en" sz="1100">
                <a:solidFill>
                  <a:schemeClr val="dk1"/>
                </a:solidFill>
                <a:highlight>
                  <a:srgbClr val="FFFFFF"/>
                </a:highlight>
                <a:latin typeface="Courier New"/>
                <a:ea typeface="Courier New"/>
                <a:cs typeface="Courier New"/>
                <a:sym typeface="Courier New"/>
              </a:rPr>
              <a:t> </a:t>
            </a:r>
            <a:r>
              <a:rPr lang="en" sz="1100">
                <a:solidFill>
                  <a:srgbClr val="2A00FF"/>
                </a:solidFill>
                <a:highlight>
                  <a:srgbClr val="FFFFFF"/>
                </a:highlight>
                <a:latin typeface="Courier New"/>
                <a:ea typeface="Courier New"/>
                <a:cs typeface="Courier New"/>
                <a:sym typeface="Courier New"/>
              </a:rPr>
              <a:t>"uart.h"</a:t>
            </a:r>
            <a:endParaRPr sz="11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EAD1DC"/>
                </a:highlight>
                <a:latin typeface="Courier New"/>
                <a:ea typeface="Courier New"/>
                <a:cs typeface="Courier New"/>
                <a:sym typeface="Courier New"/>
              </a:rPr>
              <a:t>#include</a:t>
            </a:r>
            <a:r>
              <a:rPr lang="en" sz="1100">
                <a:solidFill>
                  <a:schemeClr val="dk1"/>
                </a:solidFill>
                <a:highlight>
                  <a:srgbClr val="EAD1DC"/>
                </a:highlight>
                <a:latin typeface="Courier New"/>
                <a:ea typeface="Courier New"/>
                <a:cs typeface="Courier New"/>
                <a:sym typeface="Courier New"/>
              </a:rPr>
              <a:t> </a:t>
            </a:r>
            <a:r>
              <a:rPr lang="en" sz="1100">
                <a:solidFill>
                  <a:srgbClr val="2A00FF"/>
                </a:solidFill>
                <a:highlight>
                  <a:srgbClr val="EAD1DC"/>
                </a:highlight>
                <a:latin typeface="Courier New"/>
                <a:ea typeface="Courier New"/>
                <a:cs typeface="Courier New"/>
                <a:sym typeface="Courier New"/>
              </a:rPr>
              <a:t>"adc.h"</a:t>
            </a:r>
            <a:endParaRPr sz="1100">
              <a:solidFill>
                <a:srgbClr val="2A00FF"/>
              </a:solidFill>
              <a:highlight>
                <a:srgbClr val="EAD1DC"/>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lang="en" sz="1100">
                <a:solidFill>
                  <a:schemeClr val="dk1"/>
                </a:solidFill>
                <a:highlight>
                  <a:srgbClr val="FFFFFF"/>
                </a:highlight>
                <a:latin typeface="Courier New"/>
                <a:ea typeface="Courier New"/>
                <a:cs typeface="Courier New"/>
                <a:sym typeface="Courier New"/>
              </a:rPr>
              <a:t> </a:t>
            </a:r>
            <a:r>
              <a:rPr lang="en" sz="1100">
                <a:solidFill>
                  <a:srgbClr val="2A00FF"/>
                </a:solidFill>
                <a:highlight>
                  <a:srgbClr val="FFFFFF"/>
                </a:highlight>
                <a:latin typeface="Courier New"/>
                <a:ea typeface="Courier New"/>
                <a:cs typeface="Courier New"/>
                <a:sym typeface="Courier New"/>
              </a:rPr>
              <a:t>"tim.h"</a:t>
            </a:r>
            <a:endParaRPr sz="11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t/>
            </a:r>
            <a:endParaRPr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00"/>
                </a:highlight>
                <a:latin typeface="Courier New"/>
                <a:ea typeface="Courier New"/>
                <a:cs typeface="Courier New"/>
                <a:sym typeface="Courier New"/>
              </a:rPr>
              <a:t>#define</a:t>
            </a:r>
            <a:r>
              <a:rPr lang="en" sz="1100">
                <a:solidFill>
                  <a:schemeClr val="dk1"/>
                </a:solidFill>
                <a:highlight>
                  <a:srgbClr val="FFFF00"/>
                </a:highlight>
                <a:latin typeface="Courier New"/>
                <a:ea typeface="Courier New"/>
                <a:cs typeface="Courier New"/>
                <a:sym typeface="Courier New"/>
              </a:rPr>
              <a:t> PWM_PSC_FACTOR  60 </a:t>
            </a:r>
            <a:r>
              <a:rPr lang="en" sz="1100">
                <a:solidFill>
                  <a:srgbClr val="3F7F5F"/>
                </a:solidFill>
                <a:highlight>
                  <a:srgbClr val="FFFF00"/>
                </a:highlight>
                <a:latin typeface="Courier New"/>
                <a:ea typeface="Courier New"/>
                <a:cs typeface="Courier New"/>
                <a:sym typeface="Courier New"/>
              </a:rPr>
              <a:t>// prescaler</a:t>
            </a:r>
            <a:endParaRPr sz="1100">
              <a:solidFill>
                <a:srgbClr val="3F7F5F"/>
              </a:solidFill>
              <a:highlight>
                <a:srgbClr val="FFFF00"/>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00"/>
                </a:highlight>
                <a:latin typeface="Courier New"/>
                <a:ea typeface="Courier New"/>
                <a:cs typeface="Courier New"/>
                <a:sym typeface="Courier New"/>
              </a:rPr>
              <a:t>#define</a:t>
            </a:r>
            <a:r>
              <a:rPr lang="en" sz="1100">
                <a:solidFill>
                  <a:schemeClr val="dk1"/>
                </a:solidFill>
                <a:highlight>
                  <a:srgbClr val="FFFF00"/>
                </a:highlight>
                <a:latin typeface="Courier New"/>
                <a:ea typeface="Courier New"/>
                <a:cs typeface="Courier New"/>
                <a:sym typeface="Courier New"/>
              </a:rPr>
              <a:t> PWM_TIMER_MAX   4000 </a:t>
            </a:r>
            <a:r>
              <a:rPr lang="en" sz="1100">
                <a:solidFill>
                  <a:srgbClr val="3F7F5F"/>
                </a:solidFill>
                <a:highlight>
                  <a:srgbClr val="FFFF00"/>
                </a:highlight>
                <a:latin typeface="Courier New"/>
                <a:ea typeface="Courier New"/>
                <a:cs typeface="Courier New"/>
                <a:sym typeface="Courier New"/>
              </a:rPr>
              <a:t>// 20 ms</a:t>
            </a:r>
            <a:endParaRPr sz="1100">
              <a:solidFill>
                <a:srgbClr val="3F7F5F"/>
              </a:solidFill>
              <a:highlight>
                <a:srgbClr val="FFFF00"/>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00"/>
                </a:highlight>
                <a:latin typeface="Courier New"/>
                <a:ea typeface="Courier New"/>
                <a:cs typeface="Courier New"/>
                <a:sym typeface="Courier New"/>
              </a:rPr>
              <a:t>#define</a:t>
            </a:r>
            <a:r>
              <a:rPr lang="en" sz="1100">
                <a:solidFill>
                  <a:schemeClr val="dk1"/>
                </a:solidFill>
                <a:highlight>
                  <a:srgbClr val="FFFF00"/>
                </a:highlight>
                <a:latin typeface="Courier New"/>
                <a:ea typeface="Courier New"/>
                <a:cs typeface="Courier New"/>
                <a:sym typeface="Courier New"/>
              </a:rPr>
              <a:t> SERVO_MIN       200 </a:t>
            </a:r>
            <a:r>
              <a:rPr lang="en" sz="1100">
                <a:solidFill>
                  <a:srgbClr val="3F7F5F"/>
                </a:solidFill>
                <a:highlight>
                  <a:srgbClr val="FFFF00"/>
                </a:highlight>
                <a:latin typeface="Courier New"/>
                <a:ea typeface="Courier New"/>
                <a:cs typeface="Courier New"/>
                <a:sym typeface="Courier New"/>
              </a:rPr>
              <a:t>// 1 ms</a:t>
            </a:r>
            <a:endParaRPr sz="1100">
              <a:solidFill>
                <a:srgbClr val="3F7F5F"/>
              </a:solidFill>
              <a:highlight>
                <a:srgbClr val="FFFF00"/>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00"/>
                </a:highlight>
                <a:latin typeface="Courier New"/>
                <a:ea typeface="Courier New"/>
                <a:cs typeface="Courier New"/>
                <a:sym typeface="Courier New"/>
              </a:rPr>
              <a:t>#define</a:t>
            </a:r>
            <a:r>
              <a:rPr lang="en" sz="1100">
                <a:solidFill>
                  <a:schemeClr val="dk1"/>
                </a:solidFill>
                <a:highlight>
                  <a:srgbClr val="FFFF00"/>
                </a:highlight>
                <a:latin typeface="Courier New"/>
                <a:ea typeface="Courier New"/>
                <a:cs typeface="Courier New"/>
                <a:sym typeface="Courier New"/>
              </a:rPr>
              <a:t> SERVO_MID       300 </a:t>
            </a:r>
            <a:r>
              <a:rPr lang="en" sz="1100">
                <a:solidFill>
                  <a:srgbClr val="3F7F5F"/>
                </a:solidFill>
                <a:highlight>
                  <a:srgbClr val="FFFF00"/>
                </a:highlight>
                <a:latin typeface="Courier New"/>
                <a:ea typeface="Courier New"/>
                <a:cs typeface="Courier New"/>
                <a:sym typeface="Courier New"/>
              </a:rPr>
              <a:t>// 1.5 ms</a:t>
            </a:r>
            <a:endParaRPr sz="1100">
              <a:solidFill>
                <a:srgbClr val="3F7F5F"/>
              </a:solidFill>
              <a:highlight>
                <a:srgbClr val="FFFF00"/>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00"/>
                </a:highlight>
                <a:latin typeface="Courier New"/>
                <a:ea typeface="Courier New"/>
                <a:cs typeface="Courier New"/>
                <a:sym typeface="Courier New"/>
              </a:rPr>
              <a:t>#define</a:t>
            </a:r>
            <a:r>
              <a:rPr lang="en" sz="1100">
                <a:solidFill>
                  <a:schemeClr val="dk1"/>
                </a:solidFill>
                <a:highlight>
                  <a:srgbClr val="FFFF00"/>
                </a:highlight>
                <a:latin typeface="Courier New"/>
                <a:ea typeface="Courier New"/>
                <a:cs typeface="Courier New"/>
                <a:sym typeface="Courier New"/>
              </a:rPr>
              <a:t> SERVO_MAX       400 </a:t>
            </a:r>
            <a:r>
              <a:rPr lang="en" sz="1100">
                <a:solidFill>
                  <a:srgbClr val="3F7F5F"/>
                </a:solidFill>
                <a:highlight>
                  <a:srgbClr val="FFFF00"/>
                </a:highlight>
                <a:latin typeface="Courier New"/>
                <a:ea typeface="Courier New"/>
                <a:cs typeface="Courier New"/>
                <a:sym typeface="Courier New"/>
              </a:rPr>
              <a:t>// 2 ms</a:t>
            </a:r>
            <a:endParaRPr sz="1100">
              <a:solidFill>
                <a:srgbClr val="3F7F5F"/>
              </a:solidFill>
              <a:highlight>
                <a:srgbClr val="FFFF00"/>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4CCCC"/>
                </a:highlight>
                <a:latin typeface="Courier New"/>
                <a:ea typeface="Courier New"/>
                <a:cs typeface="Courier New"/>
                <a:sym typeface="Courier New"/>
              </a:rPr>
              <a:t>#define</a:t>
            </a:r>
            <a:r>
              <a:rPr lang="en" sz="1100">
                <a:solidFill>
                  <a:schemeClr val="dk1"/>
                </a:solidFill>
                <a:highlight>
                  <a:srgbClr val="F4CCCC"/>
                </a:highlight>
                <a:latin typeface="Courier New"/>
                <a:ea typeface="Courier New"/>
                <a:cs typeface="Courier New"/>
                <a:sym typeface="Courier New"/>
              </a:rPr>
              <a:t> MAXADC   4096   </a:t>
            </a:r>
            <a:r>
              <a:rPr lang="en" sz="1100">
                <a:solidFill>
                  <a:srgbClr val="3F7F5F"/>
                </a:solidFill>
                <a:highlight>
                  <a:srgbClr val="F4CCCC"/>
                </a:highlight>
                <a:latin typeface="Courier New"/>
                <a:ea typeface="Courier New"/>
                <a:cs typeface="Courier New"/>
                <a:sym typeface="Courier New"/>
              </a:rPr>
              <a:t>// 12-bit converter</a:t>
            </a:r>
            <a:endParaRPr sz="1100">
              <a:solidFill>
                <a:srgbClr val="3F7F5F"/>
              </a:solidFill>
              <a:highlight>
                <a:srgbClr val="F4CCCC"/>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t/>
            </a:r>
            <a:endParaRPr b="1" sz="1100">
              <a:solidFill>
                <a:srgbClr val="7F0055"/>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volatile</a:t>
            </a:r>
            <a:r>
              <a:rPr lang="en" sz="1100">
                <a:solidFill>
                  <a:schemeClr val="dk1"/>
                </a:solidFill>
                <a:highlight>
                  <a:srgbClr val="FFFFFF"/>
                </a:highlight>
                <a:latin typeface="Courier New"/>
                <a:ea typeface="Courier New"/>
                <a:cs typeface="Courier New"/>
                <a:sym typeface="Courier New"/>
              </a:rPr>
              <a:t> </a:t>
            </a:r>
            <a:r>
              <a:rPr lang="en" sz="1100">
                <a:solidFill>
                  <a:srgbClr val="005032"/>
                </a:solidFill>
                <a:highlight>
                  <a:srgbClr val="FFFFFF"/>
                </a:highlight>
                <a:latin typeface="Courier New"/>
                <a:ea typeface="Courier New"/>
                <a:cs typeface="Courier New"/>
                <a:sym typeface="Courier New"/>
              </a:rPr>
              <a:t>uint8_t</a:t>
            </a:r>
            <a:r>
              <a:rPr lang="en" sz="1100">
                <a:solidFill>
                  <a:schemeClr val="dk1"/>
                </a:solidFill>
                <a:highlight>
                  <a:srgbClr val="FFFFFF"/>
                </a:highlight>
                <a:latin typeface="Courier New"/>
                <a:ea typeface="Courier New"/>
                <a:cs typeface="Courier New"/>
                <a:sym typeface="Courier New"/>
              </a:rPr>
              <a:t> timerFlag = 0;</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void</a:t>
            </a:r>
            <a:r>
              <a:rPr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rgbClr val="FFFFFF"/>
                </a:highlight>
                <a:latin typeface="Courier New"/>
                <a:ea typeface="Courier New"/>
                <a:cs typeface="Courier New"/>
                <a:sym typeface="Courier New"/>
              </a:rPr>
              <a:t>updateServo</a:t>
            </a:r>
            <a:r>
              <a:rPr lang="en" sz="1100">
                <a:solidFill>
                  <a:schemeClr val="dk1"/>
                </a:solidFill>
                <a:highlight>
                  <a:srgbClr val="FFFFFF"/>
                </a:highlight>
                <a:latin typeface="Courier New"/>
                <a:ea typeface="Courier New"/>
                <a:cs typeface="Courier New"/>
                <a:sym typeface="Courier New"/>
              </a:rPr>
              <a:t>(</a:t>
            </a:r>
            <a:r>
              <a:rPr lang="en" sz="1100">
                <a:solidFill>
                  <a:srgbClr val="005032"/>
                </a:solidFill>
                <a:highlight>
                  <a:srgbClr val="FFFFFF"/>
                </a:highlight>
                <a:latin typeface="Courier New"/>
                <a:ea typeface="Courier New"/>
                <a:cs typeface="Courier New"/>
                <a:sym typeface="Courier New"/>
              </a:rPr>
              <a:t>uint16_t</a:t>
            </a:r>
            <a:r>
              <a:rPr lang="en" sz="1100">
                <a:solidFill>
                  <a:schemeClr val="dk1"/>
                </a:solidFill>
                <a:highlight>
                  <a:srgbClr val="FFFFFF"/>
                </a:highlight>
                <a:latin typeface="Courier New"/>
                <a:ea typeface="Courier New"/>
                <a:cs typeface="Courier New"/>
                <a:sym typeface="Courier New"/>
              </a:rPr>
              <a:t> value);</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void</a:t>
            </a:r>
            <a:r>
              <a:rPr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rgbClr val="FFFFFF"/>
                </a:highlight>
                <a:latin typeface="Courier New"/>
                <a:ea typeface="Courier New"/>
                <a:cs typeface="Courier New"/>
                <a:sym typeface="Courier New"/>
              </a:rPr>
              <a:t>updateServo</a:t>
            </a:r>
            <a:r>
              <a:rPr lang="en" sz="1100">
                <a:solidFill>
                  <a:schemeClr val="dk1"/>
                </a:solidFill>
                <a:highlight>
                  <a:srgbClr val="FFFFFF"/>
                </a:highlight>
                <a:latin typeface="Courier New"/>
                <a:ea typeface="Courier New"/>
                <a:cs typeface="Courier New"/>
                <a:sym typeface="Courier New"/>
              </a:rPr>
              <a:t>(</a:t>
            </a:r>
            <a:r>
              <a:rPr lang="en" sz="1100">
                <a:solidFill>
                  <a:srgbClr val="005032"/>
                </a:solidFill>
                <a:highlight>
                  <a:srgbClr val="FFFFFF"/>
                </a:highlight>
                <a:latin typeface="Courier New"/>
                <a:ea typeface="Courier New"/>
                <a:cs typeface="Courier New"/>
                <a:sym typeface="Courier New"/>
              </a:rPr>
              <a:t>uint16_t</a:t>
            </a:r>
            <a:r>
              <a:rPr lang="en" sz="1100">
                <a:solidFill>
                  <a:schemeClr val="dk1"/>
                </a:solidFill>
                <a:highlight>
                  <a:srgbClr val="FFFFFF"/>
                </a:highlight>
                <a:latin typeface="Courier New"/>
                <a:ea typeface="Courier New"/>
                <a:cs typeface="Courier New"/>
                <a:sym typeface="Courier New"/>
              </a:rPr>
              <a:t> value) {</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lang="en" sz="1100">
                <a:solidFill>
                  <a:schemeClr val="dk1"/>
                </a:solidFill>
                <a:highlight>
                  <a:srgbClr val="FFFFFF"/>
                </a:highlight>
                <a:latin typeface="Courier New"/>
                <a:ea typeface="Courier New"/>
                <a:cs typeface="Courier New"/>
                <a:sym typeface="Courier New"/>
              </a:rPr>
              <a:t> (value&gt;SERVO_MAX)</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value = SERVO_MAX;</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else</a:t>
            </a:r>
            <a:r>
              <a:rPr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lang="en" sz="1100">
                <a:solidFill>
                  <a:schemeClr val="dk1"/>
                </a:solidFill>
                <a:highlight>
                  <a:srgbClr val="FFFFFF"/>
                </a:highlight>
                <a:latin typeface="Courier New"/>
                <a:ea typeface="Courier New"/>
                <a:cs typeface="Courier New"/>
                <a:sym typeface="Courier New"/>
              </a:rPr>
              <a:t> (value &lt; SERVO_MIN)</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value = SERVO_MIN;</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tim14_pwm_set(value);</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void</a:t>
            </a:r>
            <a:r>
              <a:rPr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rgbClr val="FFFFFF"/>
                </a:highlight>
                <a:latin typeface="Courier New"/>
                <a:ea typeface="Courier New"/>
                <a:cs typeface="Courier New"/>
                <a:sym typeface="Courier New"/>
              </a:rPr>
              <a:t>TIM16_IRQHandler</a:t>
            </a:r>
            <a:r>
              <a:rPr lang="en" sz="1100">
                <a:solidFill>
                  <a:schemeClr val="dk1"/>
                </a:solidFill>
                <a:highlight>
                  <a:srgbClr val="FFFFFF"/>
                </a:highlight>
                <a:latin typeface="Courier New"/>
                <a:ea typeface="Courier New"/>
                <a:cs typeface="Courier New"/>
                <a:sym typeface="Courier New"/>
              </a:rPr>
              <a:t>(</a:t>
            </a:r>
            <a:r>
              <a:rPr b="1" lang="en" sz="1100">
                <a:solidFill>
                  <a:srgbClr val="7F0055"/>
                </a:solidFill>
                <a:highlight>
                  <a:srgbClr val="FFFFFF"/>
                </a:highlight>
                <a:latin typeface="Courier New"/>
                <a:ea typeface="Courier New"/>
                <a:cs typeface="Courier New"/>
                <a:sym typeface="Courier New"/>
              </a:rPr>
              <a:t>void</a:t>
            </a:r>
            <a:r>
              <a:rPr lang="en" sz="1100">
                <a:solidFill>
                  <a:schemeClr val="dk1"/>
                </a:solidFill>
                <a:highlight>
                  <a:srgbClr val="FFFFFF"/>
                </a:highlight>
                <a:latin typeface="Courier New"/>
                <a:ea typeface="Courier New"/>
                <a:cs typeface="Courier New"/>
                <a:sym typeface="Courier New"/>
              </a:rPr>
              <a:t>) {</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lang="en" sz="1100">
                <a:solidFill>
                  <a:schemeClr val="dk1"/>
                </a:solidFill>
                <a:highlight>
                  <a:schemeClr val="lt1"/>
                </a:highlight>
                <a:latin typeface="Courier New"/>
                <a:ea typeface="Courier New"/>
                <a:cs typeface="Courier New"/>
                <a:sym typeface="Courier New"/>
              </a:rPr>
              <a:t>__disable_irq();</a:t>
            </a:r>
            <a:endParaRPr sz="1100">
              <a:solidFill>
                <a:schemeClr val="dk1"/>
              </a:solidFill>
              <a:highlight>
                <a:schemeClr val="lt1"/>
              </a:highlight>
              <a:latin typeface="Courier New"/>
              <a:ea typeface="Courier New"/>
              <a:cs typeface="Courier New"/>
              <a:sym typeface="Courier New"/>
            </a:endParaRPr>
          </a:p>
          <a:p>
            <a:pPr indent="431800" lvl="0" marL="25400" rtl="0" algn="l">
              <a:spcBef>
                <a:spcPts val="0"/>
              </a:spcBef>
              <a:spcAft>
                <a:spcPts val="0"/>
              </a:spcAft>
              <a:buClr>
                <a:schemeClr val="dk1"/>
              </a:buClr>
              <a:buSzPts val="1100"/>
              <a:buFont typeface="Arial"/>
              <a:buNone/>
            </a:pPr>
            <a:r>
              <a:rPr lang="en" sz="1100">
                <a:solidFill>
                  <a:srgbClr val="3F7F5F"/>
                </a:solidFill>
                <a:highlight>
                  <a:srgbClr val="FFFFFF"/>
                </a:highlight>
                <a:latin typeface="Courier New"/>
                <a:ea typeface="Courier New"/>
                <a:cs typeface="Courier New"/>
                <a:sym typeface="Courier New"/>
              </a:rPr>
              <a:t>/* Clear UIF in status register */</a:t>
            </a:r>
            <a:endParaRPr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TIM16-&gt;</a:t>
            </a:r>
            <a:r>
              <a:rPr lang="en" sz="1100">
                <a:solidFill>
                  <a:srgbClr val="0000C0"/>
                </a:solidFill>
                <a:highlight>
                  <a:srgbClr val="FFFFFF"/>
                </a:highlight>
                <a:latin typeface="Courier New"/>
                <a:ea typeface="Courier New"/>
                <a:cs typeface="Courier New"/>
                <a:sym typeface="Courier New"/>
              </a:rPr>
              <a:t>SR</a:t>
            </a:r>
            <a:r>
              <a:rPr lang="en" sz="1100">
                <a:solidFill>
                  <a:schemeClr val="dk1"/>
                </a:solidFill>
                <a:highlight>
                  <a:srgbClr val="FFFFFF"/>
                </a:highlight>
                <a:latin typeface="Courier New"/>
                <a:ea typeface="Courier New"/>
                <a:cs typeface="Courier New"/>
                <a:sym typeface="Courier New"/>
              </a:rPr>
              <a:t> &amp;= ~TIM_SR_UIF;</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timerFlag = 1;</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__enable_irq();</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latin typeface="Courier New"/>
              <a:ea typeface="Courier New"/>
              <a:cs typeface="Courier New"/>
              <a:sym typeface="Courier New"/>
            </a:endParaRPr>
          </a:p>
        </p:txBody>
      </p:sp>
      <p:sp>
        <p:nvSpPr>
          <p:cNvPr id="338" name="Google Shape;338;p38"/>
          <p:cNvSpPr txBox="1"/>
          <p:nvPr>
            <p:ph idx="1" type="body"/>
          </p:nvPr>
        </p:nvSpPr>
        <p:spPr>
          <a:xfrm>
            <a:off x="4234850" y="1223175"/>
            <a:ext cx="4846200" cy="5566200"/>
          </a:xfrm>
          <a:prstGeom prst="rect">
            <a:avLst/>
          </a:prstGeom>
        </p:spPr>
        <p:txBody>
          <a:bodyPr anchorCtr="0" anchor="t" bIns="91425" lIns="91425" spcFirstLastPara="1" rIns="91425" wrap="square" tIns="91425">
            <a:noAutofit/>
          </a:bodyPr>
          <a:lstStyle/>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int</a:t>
            </a:r>
            <a:r>
              <a:rPr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rgbClr val="FFFFFF"/>
                </a:highlight>
                <a:latin typeface="Courier New"/>
                <a:ea typeface="Courier New"/>
                <a:cs typeface="Courier New"/>
                <a:sym typeface="Courier New"/>
              </a:rPr>
              <a:t>main</a:t>
            </a:r>
            <a:r>
              <a:rPr lang="en" sz="1100">
                <a:solidFill>
                  <a:schemeClr val="dk1"/>
                </a:solidFill>
                <a:highlight>
                  <a:srgbClr val="FFFFFF"/>
                </a:highlight>
                <a:latin typeface="Courier New"/>
                <a:ea typeface="Courier New"/>
                <a:cs typeface="Courier New"/>
                <a:sym typeface="Courier New"/>
              </a:rPr>
              <a:t>(</a:t>
            </a:r>
            <a:r>
              <a:rPr b="1" lang="en" sz="1100">
                <a:solidFill>
                  <a:srgbClr val="7F0055"/>
                </a:solidFill>
                <a:highlight>
                  <a:srgbClr val="FFFFFF"/>
                </a:highlight>
                <a:latin typeface="Courier New"/>
                <a:ea typeface="Courier New"/>
                <a:cs typeface="Courier New"/>
                <a:sym typeface="Courier New"/>
              </a:rPr>
              <a:t>void</a:t>
            </a:r>
            <a:r>
              <a:rPr lang="en" sz="1100">
                <a:solidFill>
                  <a:schemeClr val="dk1"/>
                </a:solidFill>
                <a:highlight>
                  <a:srgbClr val="FFFFFF"/>
                </a:highlight>
                <a:latin typeface="Courier New"/>
                <a:ea typeface="Courier New"/>
                <a:cs typeface="Courier New"/>
                <a:sym typeface="Courier New"/>
              </a:rPr>
              <a:t>) {</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lang="en" sz="1100">
                <a:solidFill>
                  <a:srgbClr val="005032"/>
                </a:solidFill>
                <a:highlight>
                  <a:srgbClr val="FFFFFF"/>
                </a:highlight>
                <a:latin typeface="Courier New"/>
                <a:ea typeface="Courier New"/>
                <a:cs typeface="Courier New"/>
                <a:sym typeface="Courier New"/>
              </a:rPr>
              <a:t>int16_t</a:t>
            </a:r>
            <a:r>
              <a:rPr lang="en" sz="1100">
                <a:solidFill>
                  <a:schemeClr val="dk1"/>
                </a:solidFill>
                <a:highlight>
                  <a:srgbClr val="FFFFFF"/>
                </a:highlight>
                <a:latin typeface="Courier New"/>
                <a:ea typeface="Courier New"/>
                <a:cs typeface="Courier New"/>
                <a:sym typeface="Courier New"/>
              </a:rPr>
              <a:t> pot_value = 0;</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int16_t pwm_value = SERVO_MIN;</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uart2_init();</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tim14_pa7_pwm_init(PWM_PSC_FACTOR, PWM_TIMER_MAX);</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lang="en" sz="1100">
                <a:solidFill>
                  <a:schemeClr val="dk1"/>
                </a:solidFill>
                <a:highlight>
                  <a:srgbClr val="EAD1DC"/>
                </a:highlight>
                <a:latin typeface="Courier New"/>
                <a:ea typeface="Courier New"/>
                <a:cs typeface="Courier New"/>
                <a:sym typeface="Courier New"/>
              </a:rPr>
              <a:t>pa0_adc_init();</a:t>
            </a:r>
            <a:endParaRPr sz="1100">
              <a:solidFill>
                <a:schemeClr val="dk1"/>
              </a:solidFill>
              <a:highlight>
                <a:srgbClr val="EAD1DC"/>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b="1" lang="en" sz="1100">
                <a:solidFill>
                  <a:srgbClr val="642880"/>
                </a:solidFill>
                <a:highlight>
                  <a:srgbClr val="FFFFFF"/>
                </a:highlight>
                <a:latin typeface="Courier New"/>
                <a:ea typeface="Courier New"/>
                <a:cs typeface="Courier New"/>
                <a:sym typeface="Courier New"/>
              </a:rPr>
              <a:t>printf</a:t>
            </a:r>
            <a:r>
              <a:rPr lang="en" sz="1100">
                <a:solidFill>
                  <a:schemeClr val="dk1"/>
                </a:solidFill>
                <a:highlight>
                  <a:srgbClr val="FFFFFF"/>
                </a:highlight>
                <a:latin typeface="Courier New"/>
                <a:ea typeface="Courier New"/>
                <a:cs typeface="Courier New"/>
                <a:sym typeface="Courier New"/>
              </a:rPr>
              <a:t>(</a:t>
            </a:r>
            <a:r>
              <a:rPr lang="en" sz="1100">
                <a:solidFill>
                  <a:srgbClr val="2A00FF"/>
                </a:solidFill>
                <a:highlight>
                  <a:srgbClr val="FFFFFF"/>
                </a:highlight>
                <a:latin typeface="Courier New"/>
                <a:ea typeface="Courier New"/>
                <a:cs typeface="Courier New"/>
                <a:sym typeface="Courier New"/>
              </a:rPr>
              <a:t>"Potentiometer-controlled servo\n\r"</a:t>
            </a:r>
            <a:r>
              <a:rPr lang="en" sz="1100">
                <a:solidFill>
                  <a:schemeClr val="dk1"/>
                </a:solidFill>
                <a:highlight>
                  <a:srgbClr val="FFFFFF"/>
                </a:highlight>
                <a:latin typeface="Courier New"/>
                <a:ea typeface="Courier New"/>
                <a:cs typeface="Courier New"/>
                <a:sym typeface="Courier New"/>
              </a:rPr>
              <a:t>);</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timerFlag = 0;</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tim16_ms_interrupt_init(500);</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lang="en" sz="1100">
                <a:solidFill>
                  <a:schemeClr val="dk1"/>
                </a:solidFill>
                <a:highlight>
                  <a:srgbClr val="FFFFFF"/>
                </a:highlight>
                <a:latin typeface="Courier New"/>
                <a:ea typeface="Courier New"/>
                <a:cs typeface="Courier New"/>
                <a:sym typeface="Courier New"/>
              </a:rPr>
              <a:t>(1) {</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lang="en" sz="1100">
                <a:solidFill>
                  <a:schemeClr val="dk1"/>
                </a:solidFill>
                <a:highlight>
                  <a:srgbClr val="FFFFFF"/>
                </a:highlight>
                <a:latin typeface="Courier New"/>
                <a:ea typeface="Courier New"/>
                <a:cs typeface="Courier New"/>
                <a:sym typeface="Courier New"/>
              </a:rPr>
              <a:t>(timerFlag==1) {</a:t>
            </a:r>
            <a:endParaRPr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start_conversion();</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pot_value = adc_read(); </a:t>
            </a:r>
            <a:r>
              <a:rPr lang="en" sz="1100">
                <a:solidFill>
                  <a:srgbClr val="3F7F5F"/>
                </a:solidFill>
                <a:highlight>
                  <a:srgbClr val="FFFFFF"/>
                </a:highlight>
                <a:latin typeface="Courier New"/>
                <a:ea typeface="Courier New"/>
                <a:cs typeface="Courier New"/>
                <a:sym typeface="Courier New"/>
              </a:rPr>
              <a:t>// Pot value (0 to 4095)</a:t>
            </a:r>
            <a:endParaRPr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lang="en" sz="1100">
                <a:solidFill>
                  <a:schemeClr val="dk1"/>
                </a:solidFill>
                <a:highlight>
                  <a:srgbClr val="FFFF00"/>
                </a:highlight>
                <a:latin typeface="Courier New"/>
                <a:ea typeface="Courier New"/>
                <a:cs typeface="Courier New"/>
                <a:sym typeface="Courier New"/>
              </a:rPr>
              <a:t>pwm_value =	 </a:t>
            </a:r>
            <a:r>
              <a:rPr lang="en" sz="1100">
                <a:solidFill>
                  <a:schemeClr val="dk1"/>
                </a:solidFill>
                <a:latin typeface="Courier New"/>
                <a:ea typeface="Courier New"/>
                <a:cs typeface="Courier New"/>
                <a:sym typeface="Courier New"/>
              </a:rPr>
              <a:t>S</a:t>
            </a:r>
            <a:r>
              <a:rPr lang="en" sz="1100">
                <a:solidFill>
                  <a:schemeClr val="dk1"/>
                </a:solidFill>
                <a:latin typeface="Courier New"/>
                <a:ea typeface="Courier New"/>
                <a:cs typeface="Courier New"/>
                <a:sym typeface="Courier New"/>
              </a:rPr>
              <a:t>E</a:t>
            </a:r>
            <a:r>
              <a:rPr lang="en" sz="1100">
                <a:solidFill>
                  <a:schemeClr val="dk1"/>
                </a:solidFill>
                <a:latin typeface="Courier New"/>
                <a:ea typeface="Courier New"/>
                <a:cs typeface="Courier New"/>
                <a:sym typeface="Courier New"/>
              </a:rPr>
              <a:t>RVO_MIN + </a:t>
            </a:r>
            <a:endParaRPr sz="1100">
              <a:solidFill>
                <a:schemeClr val="dk1"/>
              </a:solidFill>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latin typeface="Courier New"/>
                <a:ea typeface="Courier New"/>
                <a:cs typeface="Courier New"/>
                <a:sym typeface="Courier New"/>
              </a:rPr>
              <a:t>              pot_value*(SERVO_MAX-SERVO_MIN)/MAXADC;</a:t>
            </a:r>
            <a:endParaRPr sz="1100">
              <a:solidFill>
                <a:srgbClr val="3F7F5F"/>
              </a:solidFill>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rgbClr val="3F7F5F"/>
                </a:solidFill>
                <a:highlight>
                  <a:srgbClr val="FFFFFF"/>
                </a:highlight>
                <a:latin typeface="Courier New"/>
                <a:ea typeface="Courier New"/>
                <a:cs typeface="Courier New"/>
                <a:sym typeface="Courier New"/>
              </a:rPr>
              <a:t>     </a:t>
            </a:r>
            <a:r>
              <a:rPr lang="en" sz="1100">
                <a:solidFill>
                  <a:schemeClr val="dk1"/>
                </a:solidFill>
                <a:highlight>
                  <a:srgbClr val="FFFFFF"/>
                </a:highlight>
                <a:latin typeface="Courier New"/>
                <a:ea typeface="Courier New"/>
                <a:cs typeface="Courier New"/>
                <a:sym typeface="Courier New"/>
              </a:rPr>
              <a:t>updateServo(pwm_value);	 </a:t>
            </a:r>
            <a:r>
              <a:rPr lang="en" sz="1100">
                <a:solidFill>
                  <a:srgbClr val="3F7F5F"/>
                </a:solidFill>
                <a:highlight>
                  <a:srgbClr val="FFFFFF"/>
                </a:highlight>
                <a:latin typeface="Courier New"/>
                <a:ea typeface="Courier New"/>
                <a:cs typeface="Courier New"/>
                <a:sym typeface="Courier New"/>
              </a:rPr>
              <a:t>// Update the PWM</a:t>
            </a:r>
            <a:endParaRPr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b="1" lang="en" sz="1100">
                <a:solidFill>
                  <a:srgbClr val="642880"/>
                </a:solidFill>
                <a:highlight>
                  <a:srgbClr val="FFFFFF"/>
                </a:highlight>
                <a:latin typeface="Courier New"/>
                <a:ea typeface="Courier New"/>
                <a:cs typeface="Courier New"/>
                <a:sym typeface="Courier New"/>
              </a:rPr>
              <a:t>printf</a:t>
            </a:r>
            <a:r>
              <a:rPr lang="en" sz="1100">
                <a:solidFill>
                  <a:schemeClr val="dk1"/>
                </a:solidFill>
                <a:highlight>
                  <a:srgbClr val="FFFFFF"/>
                </a:highlight>
                <a:latin typeface="Courier New"/>
                <a:ea typeface="Courier New"/>
                <a:cs typeface="Courier New"/>
                <a:sym typeface="Courier New"/>
              </a:rPr>
              <a:t>(</a:t>
            </a:r>
            <a:r>
              <a:rPr lang="en" sz="1100">
                <a:solidFill>
                  <a:srgbClr val="2A00FF"/>
                </a:solidFill>
                <a:highlight>
                  <a:srgbClr val="FFFFFF"/>
                </a:highlight>
                <a:latin typeface="Courier New"/>
                <a:ea typeface="Courier New"/>
                <a:cs typeface="Courier New"/>
                <a:sym typeface="Courier New"/>
              </a:rPr>
              <a:t>"pot_value=%d, \tpwm_value=%d\n\r"</a:t>
            </a:r>
            <a:r>
              <a:rPr lang="en" sz="1100">
                <a:solidFill>
                  <a:schemeClr val="dk1"/>
                </a:solidFill>
                <a:highlight>
                  <a:srgbClr val="FFFFFF"/>
                </a:highlight>
                <a:latin typeface="Courier New"/>
                <a:ea typeface="Courier New"/>
                <a:cs typeface="Courier New"/>
                <a:sym typeface="Courier New"/>
              </a:rPr>
              <a:t>, </a:t>
            </a:r>
            <a:endParaRPr sz="1100">
              <a:solidFill>
                <a:schemeClr val="dk1"/>
              </a:solidFill>
              <a:highlight>
                <a:srgbClr val="FFFFFF"/>
              </a:highlight>
              <a:latin typeface="Courier New"/>
              <a:ea typeface="Courier New"/>
              <a:cs typeface="Courier New"/>
              <a:sym typeface="Courier New"/>
            </a:endParaRPr>
          </a:p>
          <a:p>
            <a:pPr indent="431800" lvl="0" marL="9398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pot_value, pwm_value);</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timerFlag=0;			 </a:t>
            </a:r>
            <a:r>
              <a:rPr lang="en" sz="1100">
                <a:solidFill>
                  <a:srgbClr val="3F7F5F"/>
                </a:solidFill>
                <a:highlight>
                  <a:srgbClr val="FFFFFF"/>
                </a:highlight>
                <a:latin typeface="Courier New"/>
                <a:ea typeface="Courier New"/>
                <a:cs typeface="Courier New"/>
                <a:sym typeface="Courier New"/>
              </a:rPr>
              <a:t>// Put the flag down</a:t>
            </a:r>
            <a:endParaRPr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return</a:t>
            </a:r>
            <a:r>
              <a:rPr lang="en" sz="1100">
                <a:solidFill>
                  <a:schemeClr val="dk1"/>
                </a:solidFill>
                <a:highlight>
                  <a:srgbClr val="FFFFFF"/>
                </a:highlight>
                <a:latin typeface="Courier New"/>
                <a:ea typeface="Courier New"/>
                <a:cs typeface="Courier New"/>
                <a:sym typeface="Courier New"/>
              </a:rPr>
              <a:t> 0; </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latin typeface="Courier New"/>
              <a:ea typeface="Courier New"/>
              <a:cs typeface="Courier New"/>
              <a:sym typeface="Courier New"/>
            </a:endParaRPr>
          </a:p>
        </p:txBody>
      </p:sp>
      <p:sp>
        <p:nvSpPr>
          <p:cNvPr id="339" name="Google Shape;339;p38"/>
          <p:cNvSpPr txBox="1"/>
          <p:nvPr/>
        </p:nvSpPr>
        <p:spPr>
          <a:xfrm>
            <a:off x="5209150" y="248050"/>
            <a:ext cx="3210000" cy="510600"/>
          </a:xfrm>
          <a:prstGeom prst="rect">
            <a:avLst/>
          </a:prstGeom>
          <a:solidFill>
            <a:srgbClr val="F4CCCC"/>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Adjust to your own adc code</a:t>
            </a:r>
            <a:endParaRPr sz="1800">
              <a:solidFill>
                <a:schemeClr val="dk2"/>
              </a:solidFill>
            </a:endParaRPr>
          </a:p>
        </p:txBody>
      </p:sp>
      <p:cxnSp>
        <p:nvCxnSpPr>
          <p:cNvPr id="340" name="Google Shape;340;p38"/>
          <p:cNvCxnSpPr>
            <a:stCxn id="339" idx="2"/>
          </p:cNvCxnSpPr>
          <p:nvPr/>
        </p:nvCxnSpPr>
        <p:spPr>
          <a:xfrm flipH="1">
            <a:off x="1838650" y="758650"/>
            <a:ext cx="4975500" cy="1182000"/>
          </a:xfrm>
          <a:prstGeom prst="straightConnector1">
            <a:avLst/>
          </a:prstGeom>
          <a:noFill/>
          <a:ln cap="flat" cmpd="sng" w="28575">
            <a:solidFill>
              <a:srgbClr val="F4CCCC"/>
            </a:solidFill>
            <a:prstDash val="solid"/>
            <a:round/>
            <a:headEnd len="med" w="med" type="none"/>
            <a:tailEnd len="med" w="med" type="triangle"/>
          </a:ln>
        </p:spPr>
      </p:cxnSp>
      <p:cxnSp>
        <p:nvCxnSpPr>
          <p:cNvPr id="341" name="Google Shape;341;p38"/>
          <p:cNvCxnSpPr>
            <a:stCxn id="339" idx="2"/>
          </p:cNvCxnSpPr>
          <p:nvPr/>
        </p:nvCxnSpPr>
        <p:spPr>
          <a:xfrm flipH="1">
            <a:off x="5501050" y="758650"/>
            <a:ext cx="1313100" cy="1459200"/>
          </a:xfrm>
          <a:prstGeom prst="straightConnector1">
            <a:avLst/>
          </a:prstGeom>
          <a:noFill/>
          <a:ln cap="flat" cmpd="sng" w="28575">
            <a:solidFill>
              <a:srgbClr val="F4CCCC"/>
            </a:solidFill>
            <a:prstDash val="solid"/>
            <a:round/>
            <a:headEnd len="med" w="med" type="none"/>
            <a:tailEnd len="med" w="med" type="triangle"/>
          </a:ln>
        </p:spPr>
      </p:cxnSp>
      <p:sp>
        <p:nvSpPr>
          <p:cNvPr id="342" name="Google Shape;342;p38"/>
          <p:cNvSpPr txBox="1"/>
          <p:nvPr/>
        </p:nvSpPr>
        <p:spPr>
          <a:xfrm>
            <a:off x="4537950" y="5763650"/>
            <a:ext cx="1138200" cy="510600"/>
          </a:xfrm>
          <a:prstGeom prst="rect">
            <a:avLst/>
          </a:prstGeom>
          <a:solidFill>
            <a:srgbClr val="FFFF00"/>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complete</a:t>
            </a:r>
            <a:endParaRPr sz="1800">
              <a:solidFill>
                <a:schemeClr val="dk2"/>
              </a:solidFill>
            </a:endParaRPr>
          </a:p>
        </p:txBody>
      </p:sp>
      <p:cxnSp>
        <p:nvCxnSpPr>
          <p:cNvPr id="343" name="Google Shape;343;p38"/>
          <p:cNvCxnSpPr/>
          <p:nvPr/>
        </p:nvCxnSpPr>
        <p:spPr>
          <a:xfrm rot="10800000">
            <a:off x="3150350" y="3080450"/>
            <a:ext cx="1927500" cy="2683200"/>
          </a:xfrm>
          <a:prstGeom prst="straightConnector1">
            <a:avLst/>
          </a:prstGeom>
          <a:noFill/>
          <a:ln cap="flat" cmpd="sng" w="28575">
            <a:solidFill>
              <a:srgbClr val="FFFF00"/>
            </a:solidFill>
            <a:prstDash val="solid"/>
            <a:round/>
            <a:headEnd len="med" w="med" type="none"/>
            <a:tailEnd len="med" w="med" type="triangle"/>
          </a:ln>
        </p:spPr>
      </p:cxnSp>
      <p:cxnSp>
        <p:nvCxnSpPr>
          <p:cNvPr id="344" name="Google Shape;344;p38"/>
          <p:cNvCxnSpPr>
            <a:stCxn id="342" idx="0"/>
          </p:cNvCxnSpPr>
          <p:nvPr/>
        </p:nvCxnSpPr>
        <p:spPr>
          <a:xfrm flipH="1" rot="10800000">
            <a:off x="5107050" y="3954350"/>
            <a:ext cx="773400" cy="1809300"/>
          </a:xfrm>
          <a:prstGeom prst="straightConnector1">
            <a:avLst/>
          </a:prstGeom>
          <a:noFill/>
          <a:ln cap="flat" cmpd="sng" w="28575">
            <a:solidFill>
              <a:srgbClr val="FFFF00"/>
            </a:solidFill>
            <a:prstDash val="solid"/>
            <a:round/>
            <a:headEnd len="med" w="med" type="none"/>
            <a:tailEnd len="med" w="med" type="triangle"/>
          </a:ln>
        </p:spPr>
      </p:cxnSp>
      <p:cxnSp>
        <p:nvCxnSpPr>
          <p:cNvPr id="345" name="Google Shape;345;p38"/>
          <p:cNvCxnSpPr>
            <a:stCxn id="339" idx="2"/>
          </p:cNvCxnSpPr>
          <p:nvPr/>
        </p:nvCxnSpPr>
        <p:spPr>
          <a:xfrm flipH="1">
            <a:off x="3010750" y="758650"/>
            <a:ext cx="3803400" cy="2656500"/>
          </a:xfrm>
          <a:prstGeom prst="straightConnector1">
            <a:avLst/>
          </a:prstGeom>
          <a:noFill/>
          <a:ln cap="flat" cmpd="sng" w="28575">
            <a:solidFill>
              <a:srgbClr val="F4CCCC"/>
            </a:solidFill>
            <a:prstDash val="solid"/>
            <a:round/>
            <a:headEnd len="med" w="med" type="none"/>
            <a:tailEnd len="med" w="med" type="triangl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9"/>
          <p:cNvSpPr txBox="1"/>
          <p:nvPr>
            <p:ph type="title"/>
          </p:nvPr>
        </p:nvSpPr>
        <p:spPr>
          <a:xfrm>
            <a:off x="162075" y="69850"/>
            <a:ext cx="41763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tim</a:t>
            </a:r>
            <a:r>
              <a:rPr lang="en"/>
              <a:t>.c</a:t>
            </a:r>
            <a:endParaRPr/>
          </a:p>
        </p:txBody>
      </p:sp>
      <p:sp>
        <p:nvSpPr>
          <p:cNvPr id="351" name="Google Shape;351;p39"/>
          <p:cNvSpPr txBox="1"/>
          <p:nvPr>
            <p:ph idx="1" type="body"/>
          </p:nvPr>
        </p:nvSpPr>
        <p:spPr>
          <a:xfrm>
            <a:off x="220200" y="975800"/>
            <a:ext cx="4521300" cy="5780700"/>
          </a:xfrm>
          <a:prstGeom prst="rect">
            <a:avLst/>
          </a:prstGeom>
        </p:spPr>
        <p:txBody>
          <a:bodyPr anchorCtr="0" anchor="t" bIns="91425" lIns="91425" spcFirstLastPara="1" rIns="91425" wrap="square" tIns="91425">
            <a:noAutofit/>
          </a:bodyPr>
          <a:lstStyle/>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lang="en" sz="1100">
                <a:solidFill>
                  <a:schemeClr val="dk1"/>
                </a:solidFill>
                <a:highlight>
                  <a:srgbClr val="FFFFFF"/>
                </a:highlight>
                <a:latin typeface="Courier New"/>
                <a:ea typeface="Courier New"/>
                <a:cs typeface="Courier New"/>
                <a:sym typeface="Courier New"/>
              </a:rPr>
              <a:t> </a:t>
            </a:r>
            <a:r>
              <a:rPr lang="en" sz="1100">
                <a:solidFill>
                  <a:srgbClr val="2A00FF"/>
                </a:solidFill>
                <a:highlight>
                  <a:srgbClr val="FFFFFF"/>
                </a:highlight>
                <a:latin typeface="Courier New"/>
                <a:ea typeface="Courier New"/>
                <a:cs typeface="Courier New"/>
                <a:sym typeface="Courier New"/>
              </a:rPr>
              <a:t>"tim.h"</a:t>
            </a:r>
            <a:endParaRPr sz="11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lang="en" sz="1100">
                <a:solidFill>
                  <a:schemeClr val="dk1"/>
                </a:solidFill>
                <a:highlight>
                  <a:srgbClr val="FFFFFF"/>
                </a:highlight>
                <a:latin typeface="Courier New"/>
                <a:ea typeface="Courier New"/>
                <a:cs typeface="Courier New"/>
                <a:sym typeface="Courier New"/>
              </a:rPr>
              <a:t> </a:t>
            </a:r>
            <a:r>
              <a:rPr lang="en" sz="1100">
                <a:solidFill>
                  <a:srgbClr val="2A00FF"/>
                </a:solidFill>
                <a:highlight>
                  <a:srgbClr val="FFFFFF"/>
                </a:highlight>
                <a:latin typeface="Courier New"/>
                <a:ea typeface="Courier New"/>
                <a:cs typeface="Courier New"/>
                <a:sym typeface="Courier New"/>
              </a:rPr>
              <a:t>"ES28.h"</a:t>
            </a:r>
            <a:endParaRPr sz="11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a:t>
            </a:r>
            <a:r>
              <a:rPr lang="en" sz="1100">
                <a:solidFill>
                  <a:schemeClr val="dk1"/>
                </a:solidFill>
                <a:highlight>
                  <a:srgbClr val="FFFFFF"/>
                </a:highlight>
                <a:latin typeface="Courier New"/>
                <a:ea typeface="Courier New"/>
                <a:cs typeface="Courier New"/>
                <a:sym typeface="Courier New"/>
              </a:rPr>
              <a:t> TIM16_PSC_FACTOR	12000</a:t>
            </a:r>
            <a:endParaRPr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void</a:t>
            </a:r>
            <a:r>
              <a:rPr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rgbClr val="FFFFFF"/>
                </a:highlight>
                <a:latin typeface="Courier New"/>
                <a:ea typeface="Courier New"/>
                <a:cs typeface="Courier New"/>
                <a:sym typeface="Courier New"/>
              </a:rPr>
              <a:t>tim16_ms_interrupt_init</a:t>
            </a:r>
            <a:r>
              <a:rPr lang="en" sz="1100">
                <a:solidFill>
                  <a:schemeClr val="dk1"/>
                </a:solidFill>
                <a:highlight>
                  <a:srgbClr val="FFFFFF"/>
                </a:highlight>
                <a:latin typeface="Courier New"/>
                <a:ea typeface="Courier New"/>
                <a:cs typeface="Courier New"/>
                <a:sym typeface="Courier New"/>
              </a:rPr>
              <a:t>(</a:t>
            </a:r>
            <a:r>
              <a:rPr b="1" lang="en" sz="1100">
                <a:solidFill>
                  <a:srgbClr val="7F0055"/>
                </a:solidFill>
                <a:highlight>
                  <a:srgbClr val="FFFFFF"/>
                </a:highlight>
                <a:latin typeface="Courier New"/>
                <a:ea typeface="Courier New"/>
                <a:cs typeface="Courier New"/>
                <a:sym typeface="Courier New"/>
              </a:rPr>
              <a:t>int</a:t>
            </a:r>
            <a:r>
              <a:rPr lang="en" sz="1100">
                <a:solidFill>
                  <a:schemeClr val="dk1"/>
                </a:solidFill>
                <a:highlight>
                  <a:srgbClr val="FFFFFF"/>
                </a:highlight>
                <a:latin typeface="Courier New"/>
                <a:ea typeface="Courier New"/>
                <a:cs typeface="Courier New"/>
                <a:sym typeface="Courier New"/>
              </a:rPr>
              <a:t> milliseconds) {</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lang="en" sz="1100">
                <a:solidFill>
                  <a:srgbClr val="3F7F5F"/>
                </a:solidFill>
                <a:highlight>
                  <a:srgbClr val="FFFFFF"/>
                </a:highlight>
                <a:latin typeface="Courier New"/>
                <a:ea typeface="Courier New"/>
                <a:cs typeface="Courier New"/>
                <a:sym typeface="Courier New"/>
              </a:rPr>
              <a:t>// enable clock access to timer 16</a:t>
            </a:r>
            <a:endParaRPr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RCC-&gt;</a:t>
            </a:r>
            <a:r>
              <a:rPr lang="en" sz="1100">
                <a:solidFill>
                  <a:srgbClr val="0000C0"/>
                </a:solidFill>
                <a:highlight>
                  <a:srgbClr val="FFFFFF"/>
                </a:highlight>
                <a:latin typeface="Courier New"/>
                <a:ea typeface="Courier New"/>
                <a:cs typeface="Courier New"/>
                <a:sym typeface="Courier New"/>
              </a:rPr>
              <a:t>APBENR2</a:t>
            </a:r>
            <a:r>
              <a:rPr lang="en" sz="1100">
                <a:solidFill>
                  <a:schemeClr val="dk1"/>
                </a:solidFill>
                <a:highlight>
                  <a:srgbClr val="FFFFFF"/>
                </a:highlight>
                <a:latin typeface="Courier New"/>
                <a:ea typeface="Courier New"/>
                <a:cs typeface="Courier New"/>
                <a:sym typeface="Courier New"/>
              </a:rPr>
              <a:t> |= RCC_APBENR2_TIM16EN;</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lang="en" sz="1100">
                <a:solidFill>
                  <a:srgbClr val="3F7F5F"/>
                </a:solidFill>
                <a:highlight>
                  <a:srgbClr val="FFFFFF"/>
                </a:highlight>
                <a:latin typeface="Courier New"/>
                <a:ea typeface="Courier New"/>
                <a:cs typeface="Courier New"/>
                <a:sym typeface="Courier New"/>
              </a:rPr>
              <a:t>// Set prescaler value</a:t>
            </a:r>
            <a:endParaRPr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TIM16-&gt;</a:t>
            </a:r>
            <a:r>
              <a:rPr lang="en" sz="1100">
                <a:solidFill>
                  <a:srgbClr val="0000C0"/>
                </a:solidFill>
                <a:highlight>
                  <a:srgbClr val="FFFFFF"/>
                </a:highlight>
                <a:latin typeface="Courier New"/>
                <a:ea typeface="Courier New"/>
                <a:cs typeface="Courier New"/>
                <a:sym typeface="Courier New"/>
              </a:rPr>
              <a:t>PSC</a:t>
            </a:r>
            <a:r>
              <a:rPr lang="en" sz="1100">
                <a:solidFill>
                  <a:schemeClr val="dk1"/>
                </a:solidFill>
                <a:highlight>
                  <a:srgbClr val="FFFFFF"/>
                </a:highlight>
                <a:latin typeface="Courier New"/>
                <a:ea typeface="Courier New"/>
                <a:cs typeface="Courier New"/>
                <a:sym typeface="Courier New"/>
              </a:rPr>
              <a:t> = TIM16_PSC_FACTOR - 1;</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lang="en" sz="1100">
                <a:solidFill>
                  <a:srgbClr val="3F7F5F"/>
                </a:solidFill>
                <a:highlight>
                  <a:srgbClr val="FFFFFF"/>
                </a:highlight>
                <a:latin typeface="Courier New"/>
                <a:ea typeface="Courier New"/>
                <a:cs typeface="Courier New"/>
                <a:sym typeface="Courier New"/>
              </a:rPr>
              <a:t>// Set auto-reload value</a:t>
            </a:r>
            <a:endParaRPr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TIM16-&gt;</a:t>
            </a:r>
            <a:r>
              <a:rPr lang="en" sz="1100">
                <a:solidFill>
                  <a:srgbClr val="0000C0"/>
                </a:solidFill>
                <a:highlight>
                  <a:srgbClr val="FFFFFF"/>
                </a:highlight>
                <a:latin typeface="Courier New"/>
                <a:ea typeface="Courier New"/>
                <a:cs typeface="Courier New"/>
                <a:sym typeface="Courier New"/>
              </a:rPr>
              <a:t>ARR</a:t>
            </a:r>
            <a:r>
              <a:rPr lang="en" sz="1100">
                <a:solidFill>
                  <a:schemeClr val="dk1"/>
                </a:solidFill>
                <a:highlight>
                  <a:srgbClr val="FFFFFF"/>
                </a:highlight>
                <a:latin typeface="Courier New"/>
                <a:ea typeface="Courier New"/>
                <a:cs typeface="Courier New"/>
                <a:sym typeface="Courier New"/>
              </a:rPr>
              <a:t> = milliseconds - 1;</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lang="en" sz="1100">
                <a:solidFill>
                  <a:srgbClr val="3F7F5F"/>
                </a:solidFill>
                <a:highlight>
                  <a:srgbClr val="FFFFFF"/>
                </a:highlight>
                <a:latin typeface="Courier New"/>
                <a:ea typeface="Courier New"/>
                <a:cs typeface="Courier New"/>
                <a:sym typeface="Courier New"/>
              </a:rPr>
              <a:t>// Clear counter</a:t>
            </a:r>
            <a:endParaRPr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TIM16-&gt;</a:t>
            </a:r>
            <a:r>
              <a:rPr lang="en" sz="1100">
                <a:solidFill>
                  <a:srgbClr val="0000C0"/>
                </a:solidFill>
                <a:highlight>
                  <a:srgbClr val="FFFFFF"/>
                </a:highlight>
                <a:latin typeface="Courier New"/>
                <a:ea typeface="Courier New"/>
                <a:cs typeface="Courier New"/>
                <a:sym typeface="Courier New"/>
              </a:rPr>
              <a:t>CNT</a:t>
            </a:r>
            <a:r>
              <a:rPr lang="en" sz="1100">
                <a:solidFill>
                  <a:schemeClr val="dk1"/>
                </a:solidFill>
                <a:highlight>
                  <a:srgbClr val="FFFFFF"/>
                </a:highlight>
                <a:latin typeface="Courier New"/>
                <a:ea typeface="Courier New"/>
                <a:cs typeface="Courier New"/>
                <a:sym typeface="Courier New"/>
              </a:rPr>
              <a:t> = 0;</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lang="en" sz="1100">
                <a:solidFill>
                  <a:srgbClr val="3F7F5F"/>
                </a:solidFill>
                <a:highlight>
                  <a:srgbClr val="FFFFFF"/>
                </a:highlight>
                <a:latin typeface="Courier New"/>
                <a:ea typeface="Courier New"/>
                <a:cs typeface="Courier New"/>
                <a:sym typeface="Courier New"/>
              </a:rPr>
              <a:t>// Enable update interrupt</a:t>
            </a:r>
            <a:endParaRPr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TIM16-&gt;</a:t>
            </a:r>
            <a:r>
              <a:rPr lang="en" sz="1100">
                <a:solidFill>
                  <a:srgbClr val="0000C0"/>
                </a:solidFill>
                <a:highlight>
                  <a:srgbClr val="FFFFFF"/>
                </a:highlight>
                <a:latin typeface="Courier New"/>
                <a:ea typeface="Courier New"/>
                <a:cs typeface="Courier New"/>
                <a:sym typeface="Courier New"/>
              </a:rPr>
              <a:t>DIER</a:t>
            </a:r>
            <a:r>
              <a:rPr lang="en" sz="1100">
                <a:solidFill>
                  <a:schemeClr val="dk1"/>
                </a:solidFill>
                <a:highlight>
                  <a:srgbClr val="FFFFFF"/>
                </a:highlight>
                <a:latin typeface="Courier New"/>
                <a:ea typeface="Courier New"/>
                <a:cs typeface="Courier New"/>
                <a:sym typeface="Courier New"/>
              </a:rPr>
              <a:t> |= TIM_DIER_UIE;</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lang="en" sz="1100">
                <a:solidFill>
                  <a:srgbClr val="3F7F5F"/>
                </a:solidFill>
                <a:highlight>
                  <a:srgbClr val="FFFFFF"/>
                </a:highlight>
                <a:latin typeface="Courier New"/>
                <a:ea typeface="Courier New"/>
                <a:cs typeface="Courier New"/>
                <a:sym typeface="Courier New"/>
              </a:rPr>
              <a:t>// Enable timer interrupt in NVIC</a:t>
            </a:r>
            <a:endParaRPr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NVIC_EnableIRQ(</a:t>
            </a:r>
            <a:r>
              <a:rPr i="1" lang="en" sz="1100">
                <a:solidFill>
                  <a:srgbClr val="0000C0"/>
                </a:solidFill>
                <a:highlight>
                  <a:srgbClr val="FFFFFF"/>
                </a:highlight>
                <a:latin typeface="Courier New"/>
                <a:ea typeface="Courier New"/>
                <a:cs typeface="Courier New"/>
                <a:sym typeface="Courier New"/>
              </a:rPr>
              <a:t>TIM16_IRQn</a:t>
            </a:r>
            <a:r>
              <a:rPr lang="en" sz="1100">
                <a:solidFill>
                  <a:schemeClr val="dk1"/>
                </a:solidFill>
                <a:highlight>
                  <a:srgbClr val="FFFFFF"/>
                </a:highlight>
                <a:latin typeface="Courier New"/>
                <a:ea typeface="Courier New"/>
                <a:cs typeface="Courier New"/>
                <a:sym typeface="Courier New"/>
              </a:rPr>
              <a:t>);</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lang="en" sz="1100">
                <a:solidFill>
                  <a:srgbClr val="3F7F5F"/>
                </a:solidFill>
                <a:highlight>
                  <a:srgbClr val="FFFFFF"/>
                </a:highlight>
                <a:latin typeface="Courier New"/>
                <a:ea typeface="Courier New"/>
                <a:cs typeface="Courier New"/>
                <a:sym typeface="Courier New"/>
              </a:rPr>
              <a:t>// Enable timer</a:t>
            </a:r>
            <a:endParaRPr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TIM16-&gt;</a:t>
            </a:r>
            <a:r>
              <a:rPr lang="en" sz="1100">
                <a:solidFill>
                  <a:srgbClr val="0000C0"/>
                </a:solidFill>
                <a:highlight>
                  <a:srgbClr val="FFFFFF"/>
                </a:highlight>
                <a:latin typeface="Courier New"/>
                <a:ea typeface="Courier New"/>
                <a:cs typeface="Courier New"/>
                <a:sym typeface="Courier New"/>
              </a:rPr>
              <a:t>CR1</a:t>
            </a:r>
            <a:r>
              <a:rPr lang="en" sz="1100">
                <a:solidFill>
                  <a:schemeClr val="dk1"/>
                </a:solidFill>
                <a:highlight>
                  <a:srgbClr val="FFFFFF"/>
                </a:highlight>
                <a:latin typeface="Courier New"/>
                <a:ea typeface="Courier New"/>
                <a:cs typeface="Courier New"/>
                <a:sym typeface="Courier New"/>
              </a:rPr>
              <a:t> |= TIM_CR1_CEN;</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t/>
            </a:r>
            <a:endParaRPr b="1" sz="1100">
              <a:solidFill>
                <a:srgbClr val="7F0055"/>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void</a:t>
            </a:r>
            <a:r>
              <a:rPr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rgbClr val="FFFFFF"/>
                </a:highlight>
                <a:latin typeface="Courier New"/>
                <a:ea typeface="Courier New"/>
                <a:cs typeface="Courier New"/>
                <a:sym typeface="Courier New"/>
              </a:rPr>
              <a:t>tim14_pwm_set</a:t>
            </a:r>
            <a:r>
              <a:rPr lang="en" sz="1100">
                <a:solidFill>
                  <a:schemeClr val="dk1"/>
                </a:solidFill>
                <a:highlight>
                  <a:srgbClr val="FFFFFF"/>
                </a:highlight>
                <a:latin typeface="Courier New"/>
                <a:ea typeface="Courier New"/>
                <a:cs typeface="Courier New"/>
                <a:sym typeface="Courier New"/>
              </a:rPr>
              <a:t>(</a:t>
            </a:r>
            <a:r>
              <a:rPr lang="en" sz="1100">
                <a:solidFill>
                  <a:srgbClr val="005032"/>
                </a:solidFill>
                <a:highlight>
                  <a:srgbClr val="FFFFFF"/>
                </a:highlight>
                <a:latin typeface="Courier New"/>
                <a:ea typeface="Courier New"/>
                <a:cs typeface="Courier New"/>
                <a:sym typeface="Courier New"/>
              </a:rPr>
              <a:t>uint16_t</a:t>
            </a:r>
            <a:r>
              <a:rPr lang="en" sz="1100">
                <a:solidFill>
                  <a:schemeClr val="dk1"/>
                </a:solidFill>
                <a:highlight>
                  <a:srgbClr val="FFFFFF"/>
                </a:highlight>
                <a:latin typeface="Courier New"/>
                <a:ea typeface="Courier New"/>
                <a:cs typeface="Courier New"/>
                <a:sym typeface="Courier New"/>
              </a:rPr>
              <a:t> value) {</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TIM14-&gt;</a:t>
            </a:r>
            <a:r>
              <a:rPr lang="en" sz="1100">
                <a:solidFill>
                  <a:srgbClr val="0000C0"/>
                </a:solidFill>
                <a:highlight>
                  <a:srgbClr val="FFFFFF"/>
                </a:highlight>
                <a:latin typeface="Courier New"/>
                <a:ea typeface="Courier New"/>
                <a:cs typeface="Courier New"/>
                <a:sym typeface="Courier New"/>
              </a:rPr>
              <a:t>CCR1</a:t>
            </a:r>
            <a:r>
              <a:rPr lang="en" sz="1100">
                <a:solidFill>
                  <a:schemeClr val="dk1"/>
                </a:solidFill>
                <a:highlight>
                  <a:srgbClr val="FFFFFF"/>
                </a:highlight>
                <a:latin typeface="Courier New"/>
                <a:ea typeface="Courier New"/>
                <a:cs typeface="Courier New"/>
                <a:sym typeface="Courier New"/>
              </a:rPr>
              <a:t> = value-1;</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latin typeface="Courier New"/>
              <a:ea typeface="Courier New"/>
              <a:cs typeface="Courier New"/>
              <a:sym typeface="Courier New"/>
            </a:endParaRPr>
          </a:p>
        </p:txBody>
      </p:sp>
      <p:sp>
        <p:nvSpPr>
          <p:cNvPr id="352" name="Google Shape;352;p39"/>
          <p:cNvSpPr txBox="1"/>
          <p:nvPr>
            <p:ph idx="1" type="body"/>
          </p:nvPr>
        </p:nvSpPr>
        <p:spPr>
          <a:xfrm>
            <a:off x="4622900" y="233650"/>
            <a:ext cx="4423500" cy="6624300"/>
          </a:xfrm>
          <a:prstGeom prst="rect">
            <a:avLst/>
          </a:prstGeom>
        </p:spPr>
        <p:txBody>
          <a:bodyPr anchorCtr="0" anchor="t" bIns="91425" lIns="91425" spcFirstLastPara="1" rIns="91425" wrap="square" tIns="91425">
            <a:noAutofit/>
          </a:bodyPr>
          <a:lstStyle/>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void</a:t>
            </a:r>
            <a:r>
              <a:rPr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rgbClr val="FFFFFF"/>
                </a:highlight>
                <a:latin typeface="Courier New"/>
                <a:ea typeface="Courier New"/>
                <a:cs typeface="Courier New"/>
                <a:sym typeface="Courier New"/>
              </a:rPr>
              <a:t>tim14_pa7_pwm_init</a:t>
            </a:r>
            <a:r>
              <a:rPr lang="en" sz="1100">
                <a:solidFill>
                  <a:schemeClr val="dk1"/>
                </a:solidFill>
                <a:highlight>
                  <a:srgbClr val="FFFFFF"/>
                </a:highlight>
                <a:latin typeface="Courier New"/>
                <a:ea typeface="Courier New"/>
                <a:cs typeface="Courier New"/>
                <a:sym typeface="Courier New"/>
              </a:rPr>
              <a:t>(</a:t>
            </a:r>
            <a:r>
              <a:rPr lang="en" sz="1100">
                <a:solidFill>
                  <a:srgbClr val="005032"/>
                </a:solidFill>
                <a:highlight>
                  <a:srgbClr val="FFFFFF"/>
                </a:highlight>
                <a:latin typeface="Courier New"/>
                <a:ea typeface="Courier New"/>
                <a:cs typeface="Courier New"/>
                <a:sym typeface="Courier New"/>
              </a:rPr>
              <a:t>uint16_t</a:t>
            </a:r>
            <a:r>
              <a:rPr lang="en" sz="1100">
                <a:solidFill>
                  <a:schemeClr val="dk1"/>
                </a:solidFill>
                <a:highlight>
                  <a:srgbClr val="FFFFFF"/>
                </a:highlight>
                <a:latin typeface="Courier New"/>
                <a:ea typeface="Courier New"/>
                <a:cs typeface="Courier New"/>
                <a:sym typeface="Courier New"/>
              </a:rPr>
              <a:t> prescaleFactor, </a:t>
            </a:r>
            <a:r>
              <a:rPr lang="en" sz="1100">
                <a:solidFill>
                  <a:srgbClr val="005032"/>
                </a:solidFill>
                <a:highlight>
                  <a:srgbClr val="FFFFFF"/>
                </a:highlight>
                <a:latin typeface="Courier New"/>
                <a:ea typeface="Courier New"/>
                <a:cs typeface="Courier New"/>
                <a:sym typeface="Courier New"/>
              </a:rPr>
              <a:t>uint16_t</a:t>
            </a:r>
            <a:r>
              <a:rPr lang="en" sz="1100">
                <a:solidFill>
                  <a:schemeClr val="dk1"/>
                </a:solidFill>
                <a:highlight>
                  <a:srgbClr val="FFFFFF"/>
                </a:highlight>
                <a:latin typeface="Courier New"/>
                <a:ea typeface="Courier New"/>
                <a:cs typeface="Courier New"/>
                <a:sym typeface="Courier New"/>
              </a:rPr>
              <a:t> timerMax) {</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RCC-&gt;</a:t>
            </a:r>
            <a:r>
              <a:rPr lang="en" sz="1100">
                <a:solidFill>
                  <a:srgbClr val="0000C0"/>
                </a:solidFill>
                <a:highlight>
                  <a:srgbClr val="FFFFFF"/>
                </a:highlight>
                <a:latin typeface="Courier New"/>
                <a:ea typeface="Courier New"/>
                <a:cs typeface="Courier New"/>
                <a:sym typeface="Courier New"/>
              </a:rPr>
              <a:t>IOPENR</a:t>
            </a:r>
            <a:r>
              <a:rPr lang="en" sz="1100">
                <a:solidFill>
                  <a:schemeClr val="dk1"/>
                </a:solidFill>
                <a:highlight>
                  <a:srgbClr val="FFFFFF"/>
                </a:highlight>
                <a:latin typeface="Courier New"/>
                <a:ea typeface="Courier New"/>
                <a:cs typeface="Courier New"/>
                <a:sym typeface="Courier New"/>
              </a:rPr>
              <a:t> |=  RCC_IOPENR_GPIOAEN;</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lang="en" sz="1100">
                <a:solidFill>
                  <a:srgbClr val="3F7F5F"/>
                </a:solidFill>
                <a:highlight>
                  <a:srgbClr val="FFFFFF"/>
                </a:highlight>
                <a:latin typeface="Courier New"/>
                <a:ea typeface="Courier New"/>
                <a:cs typeface="Courier New"/>
                <a:sym typeface="Courier New"/>
              </a:rPr>
              <a:t>// Set PA7 in alternate function mode (10)</a:t>
            </a:r>
            <a:endParaRPr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GPIOA-&gt;</a:t>
            </a:r>
            <a:r>
              <a:rPr lang="en" sz="1100">
                <a:solidFill>
                  <a:srgbClr val="0000C0"/>
                </a:solidFill>
                <a:highlight>
                  <a:srgbClr val="FFFFFF"/>
                </a:highlight>
                <a:latin typeface="Courier New"/>
                <a:ea typeface="Courier New"/>
                <a:cs typeface="Courier New"/>
                <a:sym typeface="Courier New"/>
              </a:rPr>
              <a:t>MODER</a:t>
            </a:r>
            <a:r>
              <a:rPr lang="en" sz="1100">
                <a:solidFill>
                  <a:schemeClr val="dk1"/>
                </a:solidFill>
                <a:highlight>
                  <a:srgbClr val="FFFFFF"/>
                </a:highlight>
                <a:latin typeface="Courier New"/>
                <a:ea typeface="Courier New"/>
                <a:cs typeface="Courier New"/>
                <a:sym typeface="Courier New"/>
              </a:rPr>
              <a:t> &amp;= ~GPIO_MODER_MODE7_Msk;</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GPIOA-&gt;</a:t>
            </a:r>
            <a:r>
              <a:rPr lang="en" sz="1100">
                <a:solidFill>
                  <a:srgbClr val="0000C0"/>
                </a:solidFill>
                <a:highlight>
                  <a:srgbClr val="FFFFFF"/>
                </a:highlight>
                <a:latin typeface="Courier New"/>
                <a:ea typeface="Courier New"/>
                <a:cs typeface="Courier New"/>
                <a:sym typeface="Courier New"/>
              </a:rPr>
              <a:t>MODER</a:t>
            </a:r>
            <a:r>
              <a:rPr lang="en" sz="1100">
                <a:solidFill>
                  <a:schemeClr val="dk1"/>
                </a:solidFill>
                <a:highlight>
                  <a:srgbClr val="FFFFFF"/>
                </a:highlight>
                <a:latin typeface="Courier New"/>
                <a:ea typeface="Courier New"/>
                <a:cs typeface="Courier New"/>
                <a:sym typeface="Courier New"/>
              </a:rPr>
              <a:t> |= GPIO_ALTERNATE &lt;&lt;</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GPIO_MODER_MODE7_Pos;</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lang="en" sz="1100">
                <a:solidFill>
                  <a:srgbClr val="3F7F5F"/>
                </a:solidFill>
                <a:highlight>
                  <a:srgbClr val="FFFFFF"/>
                </a:highlight>
                <a:latin typeface="Courier New"/>
                <a:ea typeface="Courier New"/>
                <a:cs typeface="Courier New"/>
                <a:sym typeface="Courier New"/>
              </a:rPr>
              <a:t>// Set PA7 alternate function type AF4</a:t>
            </a:r>
            <a:endParaRPr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GPIOA-&gt;</a:t>
            </a:r>
            <a:r>
              <a:rPr lang="en" sz="1100">
                <a:solidFill>
                  <a:srgbClr val="0000C0"/>
                </a:solidFill>
                <a:highlight>
                  <a:srgbClr val="FFFFFF"/>
                </a:highlight>
                <a:latin typeface="Courier New"/>
                <a:ea typeface="Courier New"/>
                <a:cs typeface="Courier New"/>
                <a:sym typeface="Courier New"/>
              </a:rPr>
              <a:t>AFR</a:t>
            </a:r>
            <a:r>
              <a:rPr lang="en" sz="1100">
                <a:solidFill>
                  <a:schemeClr val="dk1"/>
                </a:solidFill>
                <a:highlight>
                  <a:srgbClr val="FFFFFF"/>
                </a:highlight>
                <a:latin typeface="Courier New"/>
                <a:ea typeface="Courier New"/>
                <a:cs typeface="Courier New"/>
                <a:sym typeface="Courier New"/>
              </a:rPr>
              <a:t>[0] &amp;= ~GPIO_AFRL_AFSEL7_Msk;</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GPIOA-&gt;</a:t>
            </a:r>
            <a:r>
              <a:rPr lang="en" sz="1100">
                <a:solidFill>
                  <a:srgbClr val="0000C0"/>
                </a:solidFill>
                <a:highlight>
                  <a:srgbClr val="FFFFFF"/>
                </a:highlight>
                <a:latin typeface="Courier New"/>
                <a:ea typeface="Courier New"/>
                <a:cs typeface="Courier New"/>
                <a:sym typeface="Courier New"/>
              </a:rPr>
              <a:t>AFR</a:t>
            </a:r>
            <a:r>
              <a:rPr lang="en" sz="1100">
                <a:solidFill>
                  <a:schemeClr val="dk1"/>
                </a:solidFill>
                <a:highlight>
                  <a:srgbClr val="FFFFFF"/>
                </a:highlight>
                <a:latin typeface="Courier New"/>
                <a:ea typeface="Courier New"/>
                <a:cs typeface="Courier New"/>
                <a:sym typeface="Courier New"/>
              </a:rPr>
              <a:t>[0] |= GPIO_AF4 &lt;&lt; </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GPIO_AFRL_AFSEL7_Pos;</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lang="en" sz="1100">
                <a:solidFill>
                  <a:srgbClr val="3F7F5F"/>
                </a:solidFill>
                <a:highlight>
                  <a:srgbClr val="FFFFFF"/>
                </a:highlight>
                <a:latin typeface="Courier New"/>
                <a:ea typeface="Courier New"/>
                <a:cs typeface="Courier New"/>
                <a:sym typeface="Courier New"/>
              </a:rPr>
              <a:t>// Enable clock access to Timer 14</a:t>
            </a:r>
            <a:endParaRPr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RCC-&gt;</a:t>
            </a:r>
            <a:r>
              <a:rPr lang="en" sz="1100">
                <a:solidFill>
                  <a:srgbClr val="0000C0"/>
                </a:solidFill>
                <a:highlight>
                  <a:srgbClr val="FFFFFF"/>
                </a:highlight>
                <a:latin typeface="Courier New"/>
                <a:ea typeface="Courier New"/>
                <a:cs typeface="Courier New"/>
                <a:sym typeface="Courier New"/>
              </a:rPr>
              <a:t>APBENR2</a:t>
            </a:r>
            <a:r>
              <a:rPr lang="en" sz="1100">
                <a:solidFill>
                  <a:schemeClr val="dk1"/>
                </a:solidFill>
                <a:highlight>
                  <a:srgbClr val="FFFFFF"/>
                </a:highlight>
                <a:latin typeface="Courier New"/>
                <a:ea typeface="Courier New"/>
                <a:cs typeface="Courier New"/>
                <a:sym typeface="Courier New"/>
              </a:rPr>
              <a:t> |= RCC_APBENR2_TIM14EN;</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lang="en" sz="1100">
                <a:solidFill>
                  <a:srgbClr val="3F7F5F"/>
                </a:solidFill>
                <a:highlight>
                  <a:srgbClr val="FFFFFF"/>
                </a:highlight>
                <a:latin typeface="Courier New"/>
                <a:ea typeface="Courier New"/>
                <a:cs typeface="Courier New"/>
                <a:sym typeface="Courier New"/>
              </a:rPr>
              <a:t>// Set prescaler</a:t>
            </a:r>
            <a:endParaRPr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TIM14-&gt;</a:t>
            </a:r>
            <a:r>
              <a:rPr lang="en" sz="1100">
                <a:solidFill>
                  <a:srgbClr val="0000C0"/>
                </a:solidFill>
                <a:highlight>
                  <a:srgbClr val="FFFFFF"/>
                </a:highlight>
                <a:latin typeface="Courier New"/>
                <a:ea typeface="Courier New"/>
                <a:cs typeface="Courier New"/>
                <a:sym typeface="Courier New"/>
              </a:rPr>
              <a:t>PSC</a:t>
            </a:r>
            <a:r>
              <a:rPr lang="en" sz="1100">
                <a:solidFill>
                  <a:schemeClr val="dk1"/>
                </a:solidFill>
                <a:highlight>
                  <a:srgbClr val="FFFFFF"/>
                </a:highlight>
                <a:latin typeface="Courier New"/>
                <a:ea typeface="Courier New"/>
                <a:cs typeface="Courier New"/>
                <a:sym typeface="Courier New"/>
              </a:rPr>
              <a:t> = prescaleFactor-1;</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lang="en" sz="1100">
                <a:solidFill>
                  <a:srgbClr val="3F7F5F"/>
                </a:solidFill>
                <a:highlight>
                  <a:srgbClr val="FFFFFF"/>
                </a:highlight>
                <a:latin typeface="Courier New"/>
                <a:ea typeface="Courier New"/>
                <a:cs typeface="Courier New"/>
                <a:sym typeface="Courier New"/>
              </a:rPr>
              <a:t>// Set autoreload value</a:t>
            </a:r>
            <a:endParaRPr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TIM14-&gt;</a:t>
            </a:r>
            <a:r>
              <a:rPr lang="en" sz="1100">
                <a:solidFill>
                  <a:srgbClr val="0000C0"/>
                </a:solidFill>
                <a:highlight>
                  <a:srgbClr val="FFFFFF"/>
                </a:highlight>
                <a:latin typeface="Courier New"/>
                <a:ea typeface="Courier New"/>
                <a:cs typeface="Courier New"/>
                <a:sym typeface="Courier New"/>
              </a:rPr>
              <a:t>ARR</a:t>
            </a:r>
            <a:r>
              <a:rPr lang="en" sz="1100">
                <a:solidFill>
                  <a:schemeClr val="dk1"/>
                </a:solidFill>
                <a:highlight>
                  <a:srgbClr val="FFFFFF"/>
                </a:highlight>
                <a:latin typeface="Courier New"/>
                <a:ea typeface="Courier New"/>
                <a:cs typeface="Courier New"/>
                <a:sym typeface="Courier New"/>
              </a:rPr>
              <a:t> = timerMax;</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lang="en" sz="1100">
                <a:solidFill>
                  <a:srgbClr val="3F7F5F"/>
                </a:solidFill>
                <a:highlight>
                  <a:srgbClr val="FFFFFF"/>
                </a:highlight>
                <a:latin typeface="Courier New"/>
                <a:ea typeface="Courier New"/>
                <a:cs typeface="Courier New"/>
                <a:sym typeface="Courier New"/>
              </a:rPr>
              <a:t>// Set the compare register value</a:t>
            </a:r>
            <a:endParaRPr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TIM14-&gt;</a:t>
            </a:r>
            <a:r>
              <a:rPr lang="en" sz="1100">
                <a:solidFill>
                  <a:srgbClr val="0000C0"/>
                </a:solidFill>
                <a:highlight>
                  <a:srgbClr val="FFFFFF"/>
                </a:highlight>
                <a:latin typeface="Courier New"/>
                <a:ea typeface="Courier New"/>
                <a:cs typeface="Courier New"/>
                <a:sym typeface="Courier New"/>
              </a:rPr>
              <a:t>CCR1</a:t>
            </a:r>
            <a:r>
              <a:rPr lang="en" sz="1100">
                <a:solidFill>
                  <a:schemeClr val="dk1"/>
                </a:solidFill>
                <a:highlight>
                  <a:srgbClr val="FFFFFF"/>
                </a:highlight>
                <a:latin typeface="Courier New"/>
                <a:ea typeface="Courier New"/>
                <a:cs typeface="Courier New"/>
                <a:sym typeface="Courier New"/>
              </a:rPr>
              <a:t> = 0;</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lang="en" sz="1100">
                <a:solidFill>
                  <a:srgbClr val="3F7F5F"/>
                </a:solidFill>
                <a:highlight>
                  <a:srgbClr val="FFFFFF"/>
                </a:highlight>
                <a:latin typeface="Courier New"/>
                <a:ea typeface="Courier New"/>
                <a:cs typeface="Courier New"/>
                <a:sym typeface="Courier New"/>
              </a:rPr>
              <a:t>// Set pwm mode 1 (0110)</a:t>
            </a:r>
            <a:endParaRPr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TIM14-&gt;</a:t>
            </a:r>
            <a:r>
              <a:rPr lang="en" sz="1100">
                <a:solidFill>
                  <a:srgbClr val="0000C0"/>
                </a:solidFill>
                <a:highlight>
                  <a:srgbClr val="FFFFFF"/>
                </a:highlight>
                <a:latin typeface="Courier New"/>
                <a:ea typeface="Courier New"/>
                <a:cs typeface="Courier New"/>
                <a:sym typeface="Courier New"/>
              </a:rPr>
              <a:t>CCMR1</a:t>
            </a:r>
            <a:r>
              <a:rPr lang="en" sz="1100">
                <a:solidFill>
                  <a:schemeClr val="dk1"/>
                </a:solidFill>
                <a:highlight>
                  <a:srgbClr val="FFFFFF"/>
                </a:highlight>
                <a:latin typeface="Courier New"/>
                <a:ea typeface="Courier New"/>
                <a:cs typeface="Courier New"/>
                <a:sym typeface="Courier New"/>
              </a:rPr>
              <a:t> &amp;= ~TIM_CCMR1_OC1M_Msk;</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TIM14-&gt;</a:t>
            </a:r>
            <a:r>
              <a:rPr lang="en" sz="1100">
                <a:solidFill>
                  <a:srgbClr val="0000C0"/>
                </a:solidFill>
                <a:highlight>
                  <a:srgbClr val="FFFFFF"/>
                </a:highlight>
                <a:latin typeface="Courier New"/>
                <a:ea typeface="Courier New"/>
                <a:cs typeface="Courier New"/>
                <a:sym typeface="Courier New"/>
              </a:rPr>
              <a:t>CCMR1</a:t>
            </a:r>
            <a:r>
              <a:rPr lang="en" sz="1100">
                <a:solidFill>
                  <a:schemeClr val="dk1"/>
                </a:solidFill>
                <a:highlight>
                  <a:srgbClr val="FFFFFF"/>
                </a:highlight>
                <a:latin typeface="Courier New"/>
                <a:ea typeface="Courier New"/>
                <a:cs typeface="Courier New"/>
                <a:sym typeface="Courier New"/>
              </a:rPr>
              <a:t> |= TIM_OC1_PWM1 &lt;&lt; </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TIM_CCMR1_OC1M_Pos;</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lang="en" sz="1100">
                <a:solidFill>
                  <a:srgbClr val="3F7F5F"/>
                </a:solidFill>
                <a:highlight>
                  <a:srgbClr val="FFFFFF"/>
                </a:highlight>
                <a:latin typeface="Courier New"/>
                <a:ea typeface="Courier New"/>
                <a:cs typeface="Courier New"/>
                <a:sym typeface="Courier New"/>
              </a:rPr>
              <a:t>// Make sure timer is in output mode</a:t>
            </a:r>
            <a:endParaRPr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TIM14-&gt;</a:t>
            </a:r>
            <a:r>
              <a:rPr lang="en" sz="1100">
                <a:solidFill>
                  <a:srgbClr val="0000C0"/>
                </a:solidFill>
                <a:highlight>
                  <a:srgbClr val="FFFFFF"/>
                </a:highlight>
                <a:latin typeface="Courier New"/>
                <a:ea typeface="Courier New"/>
                <a:cs typeface="Courier New"/>
                <a:sym typeface="Courier New"/>
              </a:rPr>
              <a:t>CCMR1</a:t>
            </a:r>
            <a:r>
              <a:rPr lang="en" sz="1100">
                <a:solidFill>
                  <a:schemeClr val="dk1"/>
                </a:solidFill>
                <a:highlight>
                  <a:srgbClr val="FFFFFF"/>
                </a:highlight>
                <a:latin typeface="Courier New"/>
                <a:ea typeface="Courier New"/>
                <a:cs typeface="Courier New"/>
                <a:sym typeface="Courier New"/>
              </a:rPr>
              <a:t> &amp;= ~TIM_CCMR1_CC1S_Msk;</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TIM14-&gt;</a:t>
            </a:r>
            <a:r>
              <a:rPr lang="en" sz="1100">
                <a:solidFill>
                  <a:srgbClr val="0000C0"/>
                </a:solidFill>
                <a:highlight>
                  <a:srgbClr val="FFFFFF"/>
                </a:highlight>
                <a:latin typeface="Courier New"/>
                <a:ea typeface="Courier New"/>
                <a:cs typeface="Courier New"/>
                <a:sym typeface="Courier New"/>
              </a:rPr>
              <a:t>CCMR1</a:t>
            </a:r>
            <a:r>
              <a:rPr lang="en" sz="1100">
                <a:solidFill>
                  <a:schemeClr val="dk1"/>
                </a:solidFill>
                <a:highlight>
                  <a:srgbClr val="FFFFFF"/>
                </a:highlight>
                <a:latin typeface="Courier New"/>
                <a:ea typeface="Courier New"/>
                <a:cs typeface="Courier New"/>
                <a:sym typeface="Courier New"/>
              </a:rPr>
              <a:t> |= TIM_CC1_OUTPUT &lt;&lt; </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TIM_CCMR1_CC1S_Pos;</a:t>
            </a:r>
            <a:endParaRPr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lang="en" sz="1100">
                <a:solidFill>
                  <a:srgbClr val="3F7F5F"/>
                </a:solidFill>
                <a:highlight>
                  <a:srgbClr val="FFFFFF"/>
                </a:highlight>
                <a:latin typeface="Courier New"/>
                <a:ea typeface="Courier New"/>
                <a:cs typeface="Courier New"/>
                <a:sym typeface="Courier New"/>
              </a:rPr>
              <a:t>// Enable TIM14_CH1 in output mode</a:t>
            </a:r>
            <a:endParaRPr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TIM14-&gt;</a:t>
            </a:r>
            <a:r>
              <a:rPr lang="en" sz="1100">
                <a:solidFill>
                  <a:srgbClr val="0000C0"/>
                </a:solidFill>
                <a:highlight>
                  <a:srgbClr val="FFFFFF"/>
                </a:highlight>
                <a:latin typeface="Courier New"/>
                <a:ea typeface="Courier New"/>
                <a:cs typeface="Courier New"/>
                <a:sym typeface="Courier New"/>
              </a:rPr>
              <a:t>CCER</a:t>
            </a:r>
            <a:r>
              <a:rPr lang="en" sz="1100">
                <a:solidFill>
                  <a:schemeClr val="dk1"/>
                </a:solidFill>
                <a:highlight>
                  <a:srgbClr val="FFFFFF"/>
                </a:highlight>
                <a:latin typeface="Courier New"/>
                <a:ea typeface="Courier New"/>
                <a:cs typeface="Courier New"/>
                <a:sym typeface="Courier New"/>
              </a:rPr>
              <a:t> |= TIM_CCER_CC1E;</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lang="en" sz="1100">
                <a:solidFill>
                  <a:srgbClr val="3F7F5F"/>
                </a:solidFill>
                <a:highlight>
                  <a:srgbClr val="FFFFFF"/>
                </a:highlight>
                <a:latin typeface="Courier New"/>
                <a:ea typeface="Courier New"/>
                <a:cs typeface="Courier New"/>
                <a:sym typeface="Courier New"/>
              </a:rPr>
              <a:t>// Generate an update event</a:t>
            </a:r>
            <a:endParaRPr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TIM14-&gt;</a:t>
            </a:r>
            <a:r>
              <a:rPr lang="en" sz="1100">
                <a:solidFill>
                  <a:srgbClr val="0000C0"/>
                </a:solidFill>
                <a:highlight>
                  <a:srgbClr val="FFFFFF"/>
                </a:highlight>
                <a:latin typeface="Courier New"/>
                <a:ea typeface="Courier New"/>
                <a:cs typeface="Courier New"/>
                <a:sym typeface="Courier New"/>
              </a:rPr>
              <a:t>EGR</a:t>
            </a:r>
            <a:r>
              <a:rPr lang="en" sz="1100">
                <a:solidFill>
                  <a:schemeClr val="dk1"/>
                </a:solidFill>
                <a:highlight>
                  <a:srgbClr val="FFFFFF"/>
                </a:highlight>
                <a:latin typeface="Courier New"/>
                <a:ea typeface="Courier New"/>
                <a:cs typeface="Courier New"/>
                <a:sym typeface="Courier New"/>
              </a:rPr>
              <a:t> |= TIM_EGR_UG;</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a:t>
            </a:r>
            <a:r>
              <a:rPr lang="en" sz="1100">
                <a:solidFill>
                  <a:srgbClr val="3F7F5F"/>
                </a:solidFill>
                <a:highlight>
                  <a:srgbClr val="FFFFFF"/>
                </a:highlight>
                <a:latin typeface="Courier New"/>
                <a:ea typeface="Courier New"/>
                <a:cs typeface="Courier New"/>
                <a:sym typeface="Courier New"/>
              </a:rPr>
              <a:t>// Enable timer</a:t>
            </a:r>
            <a:endParaRPr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	TIM14-&gt;</a:t>
            </a:r>
            <a:r>
              <a:rPr lang="en" sz="1100">
                <a:solidFill>
                  <a:srgbClr val="0000C0"/>
                </a:solidFill>
                <a:highlight>
                  <a:srgbClr val="FFFFFF"/>
                </a:highlight>
                <a:latin typeface="Courier New"/>
                <a:ea typeface="Courier New"/>
                <a:cs typeface="Courier New"/>
                <a:sym typeface="Courier New"/>
              </a:rPr>
              <a:t>CR1</a:t>
            </a:r>
            <a:r>
              <a:rPr lang="en" sz="1100">
                <a:solidFill>
                  <a:schemeClr val="dk1"/>
                </a:solidFill>
                <a:highlight>
                  <a:srgbClr val="FFFFFF"/>
                </a:highlight>
                <a:latin typeface="Courier New"/>
                <a:ea typeface="Courier New"/>
                <a:cs typeface="Courier New"/>
                <a:sym typeface="Courier New"/>
              </a:rPr>
              <a:t> |= TIM_CR1_CEN;</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100">
                <a:solidFill>
                  <a:schemeClr val="dk1"/>
                </a:solidFill>
                <a:highlight>
                  <a:srgbClr val="FFFFFF"/>
                </a:highlight>
                <a:latin typeface="Courier New"/>
                <a:ea typeface="Courier New"/>
                <a:cs typeface="Courier New"/>
                <a:sym typeface="Courier New"/>
              </a:rPr>
              <a:t>}</a:t>
            </a:r>
            <a:endParaRPr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t/>
            </a:r>
            <a:endParaRPr sz="1100">
              <a:solidFill>
                <a:srgbClr val="3F7F5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latin typeface="Courier New"/>
              <a:ea typeface="Courier New"/>
              <a:cs typeface="Courier New"/>
              <a:sym typeface="Courier New"/>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0"/>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Servo wiring</a:t>
            </a:r>
            <a:endParaRPr/>
          </a:p>
        </p:txBody>
      </p:sp>
      <p:sp>
        <p:nvSpPr>
          <p:cNvPr id="358" name="Google Shape;358;p40"/>
          <p:cNvSpPr txBox="1"/>
          <p:nvPr/>
        </p:nvSpPr>
        <p:spPr>
          <a:xfrm>
            <a:off x="1550025" y="5646975"/>
            <a:ext cx="3313800" cy="36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highlight>
                  <a:srgbClr val="FFFFFF"/>
                </a:highlight>
              </a:rPr>
              <a:t>Tower-Pro SG92R</a:t>
            </a:r>
            <a:endParaRPr sz="1600"/>
          </a:p>
        </p:txBody>
      </p:sp>
      <p:sp>
        <p:nvSpPr>
          <p:cNvPr id="359" name="Google Shape;359;p40"/>
          <p:cNvSpPr txBox="1"/>
          <p:nvPr/>
        </p:nvSpPr>
        <p:spPr>
          <a:xfrm>
            <a:off x="5949700" y="2372050"/>
            <a:ext cx="2908500" cy="25716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00"/>
                </a:solidFill>
              </a:rPr>
              <a:t>UNPLUG POWER </a:t>
            </a:r>
            <a:r>
              <a:rPr lang="en"/>
              <a:t>before making any changes to wiring.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rgbClr val="660000"/>
                </a:solidFill>
              </a:rPr>
              <a:t>Brown wire → ground</a:t>
            </a:r>
            <a:r>
              <a:rPr lang="en"/>
              <a:t> </a:t>
            </a:r>
            <a:endParaRPr/>
          </a:p>
          <a:p>
            <a:pPr indent="0" lvl="0" marL="0" rtl="0" algn="l">
              <a:spcBef>
                <a:spcPts val="0"/>
              </a:spcBef>
              <a:spcAft>
                <a:spcPts val="0"/>
              </a:spcAft>
              <a:buNone/>
            </a:pPr>
            <a:r>
              <a:rPr lang="en">
                <a:solidFill>
                  <a:srgbClr val="CC0000"/>
                </a:solidFill>
              </a:rPr>
              <a:t>Red/Orange wire </a:t>
            </a:r>
            <a:r>
              <a:rPr lang="en">
                <a:solidFill>
                  <a:srgbClr val="FF0000"/>
                </a:solidFill>
              </a:rPr>
              <a:t>→</a:t>
            </a:r>
            <a:r>
              <a:rPr lang="en">
                <a:solidFill>
                  <a:srgbClr val="CC0000"/>
                </a:solidFill>
              </a:rPr>
              <a:t> power</a:t>
            </a:r>
            <a:endParaRPr>
              <a:solidFill>
                <a:srgbClr val="CC0000"/>
              </a:solidFill>
            </a:endParaRPr>
          </a:p>
          <a:p>
            <a:pPr indent="0" lvl="0" marL="0" rtl="0" algn="l">
              <a:spcBef>
                <a:spcPts val="0"/>
              </a:spcBef>
              <a:spcAft>
                <a:spcPts val="0"/>
              </a:spcAft>
              <a:buNone/>
            </a:pPr>
            <a:r>
              <a:rPr lang="en">
                <a:solidFill>
                  <a:srgbClr val="F1C232"/>
                </a:solidFill>
              </a:rPr>
              <a:t>Yellow wire →  a PWM pin</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TIM14 can control PA7.</a:t>
            </a:r>
            <a:endParaRPr/>
          </a:p>
        </p:txBody>
      </p:sp>
      <p:pic>
        <p:nvPicPr>
          <p:cNvPr id="360" name="Google Shape;360;p40"/>
          <p:cNvPicPr preferRelativeResize="0"/>
          <p:nvPr/>
        </p:nvPicPr>
        <p:blipFill>
          <a:blip r:embed="rId3">
            <a:alphaModFix/>
          </a:blip>
          <a:stretch>
            <a:fillRect/>
          </a:stretch>
        </p:blipFill>
        <p:spPr>
          <a:xfrm>
            <a:off x="457200" y="1575575"/>
            <a:ext cx="5404374" cy="40560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1"/>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to power a servo</a:t>
            </a:r>
            <a:endParaRPr/>
          </a:p>
        </p:txBody>
      </p:sp>
      <p:sp>
        <p:nvSpPr>
          <p:cNvPr id="366" name="Google Shape;366;p41"/>
          <p:cNvSpPr txBox="1"/>
          <p:nvPr>
            <p:ph idx="1" type="body"/>
          </p:nvPr>
        </p:nvSpPr>
        <p:spPr>
          <a:xfrm>
            <a:off x="311700" y="1356875"/>
            <a:ext cx="3820800" cy="510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00000"/>
                </a:solidFill>
              </a:rPr>
              <a:t>Servo runs on 4-6V, draws a lot of current.  </a:t>
            </a:r>
            <a:r>
              <a:rPr lang="en" sz="1600">
                <a:solidFill>
                  <a:schemeClr val="dk1"/>
                </a:solidFill>
              </a:rPr>
              <a:t>It may draw 250mA while moving, can be much higher if stalled.</a:t>
            </a:r>
            <a:endParaRPr sz="1600">
              <a:solidFill>
                <a:srgbClr val="000000"/>
              </a:solidFill>
            </a:endParaRPr>
          </a:p>
          <a:p>
            <a:pPr indent="0" lvl="0" marL="0" rtl="0" algn="l">
              <a:spcBef>
                <a:spcPts val="1600"/>
              </a:spcBef>
              <a:spcAft>
                <a:spcPts val="0"/>
              </a:spcAft>
              <a:buNone/>
            </a:pPr>
            <a:r>
              <a:rPr lang="en" sz="1600">
                <a:solidFill>
                  <a:srgbClr val="000000"/>
                </a:solidFill>
              </a:rPr>
              <a:t>Because of high current draw, power the servo from a separate supply, NOT from the Nucleo’s +3/5V pin.  For example, 4 AA batteries in series = 6V.  Use a prewired “battery box” for convenience.  Higher capacity rechargeable batteries are good for extended use.</a:t>
            </a:r>
            <a:endParaRPr sz="1600">
              <a:solidFill>
                <a:srgbClr val="000000"/>
              </a:solidFill>
            </a:endParaRPr>
          </a:p>
          <a:p>
            <a:pPr indent="0" lvl="0" marL="0" rtl="0" algn="l">
              <a:spcBef>
                <a:spcPts val="1600"/>
              </a:spcBef>
              <a:spcAft>
                <a:spcPts val="0"/>
              </a:spcAft>
              <a:buNone/>
            </a:pPr>
            <a:r>
              <a:rPr lang="en" sz="1600">
                <a:solidFill>
                  <a:srgbClr val="000000"/>
                </a:solidFill>
              </a:rPr>
              <a:t>Why?  The USB power from your laptop is limited to 500mA.  High current draw by the servo can starve the Nucleo, causing it to “brown out” and reset itself.</a:t>
            </a:r>
            <a:endParaRPr sz="1600">
              <a:solidFill>
                <a:srgbClr val="000000"/>
              </a:solidFill>
            </a:endParaRPr>
          </a:p>
          <a:p>
            <a:pPr indent="0" lvl="0" marL="0" rtl="0" algn="l">
              <a:spcBef>
                <a:spcPts val="1600"/>
              </a:spcBef>
              <a:spcAft>
                <a:spcPts val="1600"/>
              </a:spcAft>
              <a:buNone/>
            </a:pPr>
            <a:r>
              <a:t/>
            </a:r>
            <a:endParaRPr sz="1600">
              <a:solidFill>
                <a:srgbClr val="000000"/>
              </a:solidFill>
            </a:endParaRPr>
          </a:p>
        </p:txBody>
      </p:sp>
      <p:pic>
        <p:nvPicPr>
          <p:cNvPr id="367" name="Google Shape;367;p41"/>
          <p:cNvPicPr preferRelativeResize="0"/>
          <p:nvPr/>
        </p:nvPicPr>
        <p:blipFill>
          <a:blip r:embed="rId3">
            <a:alphaModFix/>
          </a:blip>
          <a:stretch>
            <a:fillRect/>
          </a:stretch>
        </p:blipFill>
        <p:spPr>
          <a:xfrm>
            <a:off x="4661548" y="4217350"/>
            <a:ext cx="3005225" cy="2255475"/>
          </a:xfrm>
          <a:prstGeom prst="rect">
            <a:avLst/>
          </a:prstGeom>
          <a:noFill/>
          <a:ln>
            <a:noFill/>
          </a:ln>
        </p:spPr>
      </p:pic>
      <p:sp>
        <p:nvSpPr>
          <p:cNvPr id="368" name="Google Shape;368;p41"/>
          <p:cNvSpPr txBox="1"/>
          <p:nvPr/>
        </p:nvSpPr>
        <p:spPr>
          <a:xfrm>
            <a:off x="6304900" y="3912850"/>
            <a:ext cx="2401800" cy="30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sz="1000">
                <a:solidFill>
                  <a:srgbClr val="FFFF00"/>
                </a:solidFill>
              </a:rPr>
              <a:t>https://www.adafruit.com/product/830</a:t>
            </a:r>
            <a:endParaRPr i="1" sz="1000">
              <a:solidFill>
                <a:srgbClr val="FFFF00"/>
              </a:solidFill>
            </a:endParaRPr>
          </a:p>
        </p:txBody>
      </p:sp>
      <p:pic>
        <p:nvPicPr>
          <p:cNvPr id="369" name="Google Shape;369;p41"/>
          <p:cNvPicPr preferRelativeResize="0"/>
          <p:nvPr/>
        </p:nvPicPr>
        <p:blipFill>
          <a:blip r:embed="rId4">
            <a:alphaModFix/>
          </a:blip>
          <a:stretch>
            <a:fillRect/>
          </a:stretch>
        </p:blipFill>
        <p:spPr>
          <a:xfrm>
            <a:off x="4132500" y="137075"/>
            <a:ext cx="4801375" cy="408028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pic>
        <p:nvPicPr>
          <p:cNvPr id="374" name="Google Shape;374;p42"/>
          <p:cNvPicPr preferRelativeResize="0"/>
          <p:nvPr/>
        </p:nvPicPr>
        <p:blipFill rotWithShape="1">
          <a:blip r:embed="rId3">
            <a:alphaModFix/>
          </a:blip>
          <a:srcRect b="7433" l="0" r="0" t="7424"/>
          <a:stretch/>
        </p:blipFill>
        <p:spPr>
          <a:xfrm>
            <a:off x="2906602" y="1307313"/>
            <a:ext cx="4686772" cy="4243377"/>
          </a:xfrm>
          <a:prstGeom prst="rect">
            <a:avLst/>
          </a:prstGeom>
          <a:noFill/>
          <a:ln>
            <a:noFill/>
          </a:ln>
        </p:spPr>
      </p:pic>
      <p:sp>
        <p:nvSpPr>
          <p:cNvPr id="375" name="Google Shape;375;p42"/>
          <p:cNvSpPr txBox="1"/>
          <p:nvPr>
            <p:ph type="title"/>
          </p:nvPr>
        </p:nvSpPr>
        <p:spPr>
          <a:xfrm>
            <a:off x="272775" y="455175"/>
            <a:ext cx="42414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to power a servo (2)</a:t>
            </a:r>
            <a:endParaRPr/>
          </a:p>
        </p:txBody>
      </p:sp>
      <p:sp>
        <p:nvSpPr>
          <p:cNvPr id="376" name="Google Shape;376;p42"/>
          <p:cNvSpPr txBox="1"/>
          <p:nvPr/>
        </p:nvSpPr>
        <p:spPr>
          <a:xfrm>
            <a:off x="4130449" y="4173500"/>
            <a:ext cx="1012500" cy="604500"/>
          </a:xfrm>
          <a:prstGeom prst="rect">
            <a:avLst/>
          </a:prstGeom>
          <a:solidFill>
            <a:srgbClr val="999999"/>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800">
                <a:solidFill>
                  <a:srgbClr val="980000"/>
                </a:solidFill>
              </a:rPr>
              <a:t>Brown ➝ GND</a:t>
            </a:r>
            <a:endParaRPr b="1" sz="800">
              <a:solidFill>
                <a:srgbClr val="980000"/>
              </a:solidFill>
            </a:endParaRPr>
          </a:p>
          <a:p>
            <a:pPr indent="0" lvl="0" marL="0" rtl="0" algn="l">
              <a:lnSpc>
                <a:spcPct val="100000"/>
              </a:lnSpc>
              <a:spcBef>
                <a:spcPts val="0"/>
              </a:spcBef>
              <a:spcAft>
                <a:spcPts val="0"/>
              </a:spcAft>
              <a:buNone/>
            </a:pPr>
            <a:r>
              <a:rPr b="1" lang="en" sz="800">
                <a:solidFill>
                  <a:srgbClr val="FF9900"/>
                </a:solidFill>
              </a:rPr>
              <a:t>Orange ➝ power</a:t>
            </a:r>
            <a:endParaRPr b="1" sz="800">
              <a:solidFill>
                <a:srgbClr val="FF9900"/>
              </a:solidFill>
            </a:endParaRPr>
          </a:p>
          <a:p>
            <a:pPr indent="0" lvl="0" marL="0" rtl="0" algn="l">
              <a:lnSpc>
                <a:spcPct val="100000"/>
              </a:lnSpc>
              <a:spcBef>
                <a:spcPts val="0"/>
              </a:spcBef>
              <a:spcAft>
                <a:spcPts val="0"/>
              </a:spcAft>
              <a:buNone/>
            </a:pPr>
            <a:r>
              <a:rPr b="1" lang="en" sz="800">
                <a:solidFill>
                  <a:srgbClr val="FFFF00"/>
                </a:solidFill>
              </a:rPr>
              <a:t>Yellow ➝ PWM</a:t>
            </a:r>
            <a:endParaRPr b="1" sz="800">
              <a:solidFill>
                <a:srgbClr val="FFFF00"/>
              </a:solidFill>
            </a:endParaRPr>
          </a:p>
        </p:txBody>
      </p:sp>
      <p:sp>
        <p:nvSpPr>
          <p:cNvPr id="377" name="Google Shape;377;p42"/>
          <p:cNvSpPr txBox="1"/>
          <p:nvPr>
            <p:ph idx="1" type="body"/>
          </p:nvPr>
        </p:nvSpPr>
        <p:spPr>
          <a:xfrm>
            <a:off x="311700" y="1309825"/>
            <a:ext cx="3797700" cy="510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00000"/>
                </a:solidFill>
              </a:rPr>
              <a:t>We'll use the same external power supply setup as we did for the motor: </a:t>
            </a:r>
            <a:endParaRPr sz="1600">
              <a:solidFill>
                <a:srgbClr val="000000"/>
              </a:solidFill>
            </a:endParaRPr>
          </a:p>
          <a:p>
            <a:pPr indent="0" lvl="0" marL="0" rtl="0" algn="l">
              <a:spcBef>
                <a:spcPts val="1600"/>
              </a:spcBef>
              <a:spcAft>
                <a:spcPts val="0"/>
              </a:spcAft>
              <a:buNone/>
            </a:pPr>
            <a:r>
              <a:rPr lang="en" sz="1600">
                <a:solidFill>
                  <a:srgbClr val="000000"/>
                </a:solidFill>
              </a:rPr>
              <a:t>We'll use a 9V wall charger</a:t>
            </a:r>
            <a:r>
              <a:rPr lang="en" sz="1600">
                <a:solidFill>
                  <a:schemeClr val="dk1"/>
                </a:solidFill>
              </a:rPr>
              <a:t>. B</a:t>
            </a:r>
            <a:r>
              <a:rPr lang="en" sz="1600">
                <a:solidFill>
                  <a:srgbClr val="000000"/>
                </a:solidFill>
              </a:rPr>
              <a:t>ut 9V is too high for a servo!  The power board contains a 7805 linear voltage regulator that converts 9V to 5V, up to 1.5A.</a:t>
            </a:r>
            <a:endParaRPr sz="1600">
              <a:solidFill>
                <a:srgbClr val="000000"/>
              </a:solidFill>
            </a:endParaRPr>
          </a:p>
          <a:p>
            <a:pPr indent="0" lvl="0" marL="0" rtl="0" algn="l">
              <a:spcBef>
                <a:spcPts val="1600"/>
              </a:spcBef>
              <a:spcAft>
                <a:spcPts val="0"/>
              </a:spcAft>
              <a:buNone/>
            </a:pPr>
            <a:r>
              <a:rPr lang="en" sz="1600">
                <a:solidFill>
                  <a:srgbClr val="000000"/>
                </a:solidFill>
              </a:rPr>
              <a:t>(Consult the 7805 data sheet for pinout and bypass capacitor instructions if you are interested in using the voltage regulator outside of the power board).</a:t>
            </a:r>
            <a:endParaRPr sz="1600">
              <a:solidFill>
                <a:srgbClr val="000000"/>
              </a:solidFill>
            </a:endParaRPr>
          </a:p>
          <a:p>
            <a:pPr indent="0" lvl="0" marL="0" rtl="0" algn="l">
              <a:spcBef>
                <a:spcPts val="1600"/>
              </a:spcBef>
              <a:spcAft>
                <a:spcPts val="1600"/>
              </a:spcAft>
              <a:buNone/>
            </a:pPr>
            <a:r>
              <a:t/>
            </a:r>
            <a:endParaRPr sz="1600">
              <a:solidFill>
                <a:srgbClr val="000000"/>
              </a:solidFill>
            </a:endParaRPr>
          </a:p>
        </p:txBody>
      </p:sp>
      <p:pic>
        <p:nvPicPr>
          <p:cNvPr id="378" name="Google Shape;378;p42"/>
          <p:cNvPicPr preferRelativeResize="0"/>
          <p:nvPr/>
        </p:nvPicPr>
        <p:blipFill>
          <a:blip r:embed="rId4">
            <a:alphaModFix/>
          </a:blip>
          <a:stretch>
            <a:fillRect/>
          </a:stretch>
        </p:blipFill>
        <p:spPr>
          <a:xfrm rot="-5400000">
            <a:off x="7195951" y="3694375"/>
            <a:ext cx="923300" cy="201220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pic>
        <p:nvPicPr>
          <p:cNvPr id="383" name="Google Shape;383;p43"/>
          <p:cNvPicPr preferRelativeResize="0"/>
          <p:nvPr/>
        </p:nvPicPr>
        <p:blipFill>
          <a:blip r:embed="rId3">
            <a:alphaModFix/>
          </a:blip>
          <a:stretch>
            <a:fillRect/>
          </a:stretch>
        </p:blipFill>
        <p:spPr>
          <a:xfrm>
            <a:off x="3380676" y="1356874"/>
            <a:ext cx="4694274" cy="4991873"/>
          </a:xfrm>
          <a:prstGeom prst="rect">
            <a:avLst/>
          </a:prstGeom>
          <a:noFill/>
          <a:ln>
            <a:noFill/>
          </a:ln>
        </p:spPr>
      </p:pic>
      <p:sp>
        <p:nvSpPr>
          <p:cNvPr id="384" name="Google Shape;384;p43"/>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Design Exercise, Part 2</a:t>
            </a:r>
            <a:endParaRPr/>
          </a:p>
        </p:txBody>
      </p:sp>
      <p:sp>
        <p:nvSpPr>
          <p:cNvPr id="385" name="Google Shape;385;p43"/>
          <p:cNvSpPr txBox="1"/>
          <p:nvPr/>
        </p:nvSpPr>
        <p:spPr>
          <a:xfrm>
            <a:off x="2369825" y="5761225"/>
            <a:ext cx="1028100" cy="533700"/>
          </a:xfrm>
          <a:prstGeom prst="rect">
            <a:avLst/>
          </a:prstGeom>
          <a:solidFill>
            <a:srgbClr val="999999"/>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800">
                <a:solidFill>
                  <a:srgbClr val="980000"/>
                </a:solidFill>
              </a:rPr>
              <a:t>Brown ➝ GND</a:t>
            </a:r>
            <a:endParaRPr b="1" sz="800">
              <a:solidFill>
                <a:srgbClr val="980000"/>
              </a:solidFill>
            </a:endParaRPr>
          </a:p>
          <a:p>
            <a:pPr indent="0" lvl="0" marL="0" rtl="0" algn="l">
              <a:lnSpc>
                <a:spcPct val="100000"/>
              </a:lnSpc>
              <a:spcBef>
                <a:spcPts val="0"/>
              </a:spcBef>
              <a:spcAft>
                <a:spcPts val="0"/>
              </a:spcAft>
              <a:buNone/>
            </a:pPr>
            <a:r>
              <a:rPr b="1" lang="en" sz="800">
                <a:solidFill>
                  <a:srgbClr val="FF9900"/>
                </a:solidFill>
              </a:rPr>
              <a:t>Orange ➝ power</a:t>
            </a:r>
            <a:endParaRPr b="1" sz="800">
              <a:solidFill>
                <a:srgbClr val="FF9900"/>
              </a:solidFill>
            </a:endParaRPr>
          </a:p>
          <a:p>
            <a:pPr indent="0" lvl="0" marL="0" rtl="0" algn="l">
              <a:lnSpc>
                <a:spcPct val="100000"/>
              </a:lnSpc>
              <a:spcBef>
                <a:spcPts val="0"/>
              </a:spcBef>
              <a:spcAft>
                <a:spcPts val="0"/>
              </a:spcAft>
              <a:buNone/>
            </a:pPr>
            <a:r>
              <a:rPr b="1" lang="en" sz="800">
                <a:solidFill>
                  <a:srgbClr val="FFFF00"/>
                </a:solidFill>
              </a:rPr>
              <a:t>Yellow ➝ PWM</a:t>
            </a:r>
            <a:endParaRPr b="1" sz="800">
              <a:solidFill>
                <a:srgbClr val="FFFF00"/>
              </a:solidFill>
            </a:endParaRPr>
          </a:p>
        </p:txBody>
      </p:sp>
      <p:sp>
        <p:nvSpPr>
          <p:cNvPr id="386" name="Google Shape;386;p43"/>
          <p:cNvSpPr txBox="1"/>
          <p:nvPr>
            <p:ph idx="1" type="body"/>
          </p:nvPr>
        </p:nvSpPr>
        <p:spPr>
          <a:xfrm>
            <a:off x="311700" y="1356875"/>
            <a:ext cx="3797700" cy="359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00000"/>
                </a:solidFill>
              </a:rPr>
              <a:t>Wire the servo and power board to the breadboard.  Check wiring with instructor.  </a:t>
            </a:r>
            <a:endParaRPr sz="1600">
              <a:solidFill>
                <a:srgbClr val="000000"/>
              </a:solidFill>
            </a:endParaRPr>
          </a:p>
          <a:p>
            <a:pPr indent="0" lvl="0" marL="0" rtl="0" algn="l">
              <a:spcBef>
                <a:spcPts val="1600"/>
              </a:spcBef>
              <a:spcAft>
                <a:spcPts val="0"/>
              </a:spcAft>
              <a:buNone/>
            </a:pPr>
            <a:r>
              <a:rPr lang="en" sz="1600">
                <a:solidFill>
                  <a:srgbClr val="000000"/>
                </a:solidFill>
              </a:rPr>
              <a:t>Pot → ADC → PWM controls the servo.  </a:t>
            </a:r>
            <a:endParaRPr sz="1600">
              <a:solidFill>
                <a:srgbClr val="000000"/>
              </a:solidFill>
            </a:endParaRPr>
          </a:p>
          <a:p>
            <a:pPr indent="0" lvl="0" marL="0" rtl="0" algn="l">
              <a:spcBef>
                <a:spcPts val="1600"/>
              </a:spcBef>
              <a:spcAft>
                <a:spcPts val="1600"/>
              </a:spcAft>
              <a:buNone/>
            </a:pPr>
            <a:r>
              <a:rPr lang="en" sz="1600">
                <a:solidFill>
                  <a:srgbClr val="0000FF"/>
                </a:solidFill>
              </a:rPr>
              <a:t>Your program is still there on your Nucleo, so you should see the servo rotate, smoothly, as you adjust the potentiometer.</a:t>
            </a:r>
            <a:endParaRPr sz="1600">
              <a:solidFill>
                <a:srgbClr val="000000"/>
              </a:solidFill>
            </a:endParaRPr>
          </a:p>
        </p:txBody>
      </p:sp>
      <p:sp>
        <p:nvSpPr>
          <p:cNvPr id="387" name="Google Shape;387;p4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88" name="Google Shape;388;p43"/>
          <p:cNvPicPr preferRelativeResize="0"/>
          <p:nvPr/>
        </p:nvPicPr>
        <p:blipFill>
          <a:blip r:embed="rId4">
            <a:alphaModFix/>
          </a:blip>
          <a:stretch>
            <a:fillRect/>
          </a:stretch>
        </p:blipFill>
        <p:spPr>
          <a:xfrm rot="-5400000">
            <a:off x="7664176" y="4091950"/>
            <a:ext cx="923300" cy="201220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2" name="Shape 392"/>
        <p:cNvGrpSpPr/>
        <p:nvPr/>
      </p:nvGrpSpPr>
      <p:grpSpPr>
        <a:xfrm>
          <a:off x="0" y="0"/>
          <a:ext cx="0" cy="0"/>
          <a:chOff x="0" y="0"/>
          <a:chExt cx="0" cy="0"/>
        </a:xfrm>
      </p:grpSpPr>
      <p:sp>
        <p:nvSpPr>
          <p:cNvPr id="393" name="Google Shape;393;p4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you finished everything…</a:t>
            </a:r>
            <a:endParaRPr/>
          </a:p>
        </p:txBody>
      </p:sp>
      <p:sp>
        <p:nvSpPr>
          <p:cNvPr id="394" name="Google Shape;394;p4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 then you don't need to come to tomorrow's x-hour.</a:t>
            </a:r>
            <a:endParaRPr/>
          </a:p>
        </p:txBody>
      </p:sp>
      <p:sp>
        <p:nvSpPr>
          <p:cNvPr id="395" name="Google Shape;395;p4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