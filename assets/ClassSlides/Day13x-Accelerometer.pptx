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9144000"/>
  <p:notesSz cx="6858000" cy="9144000"/>
  <p:embeddedFontLst>
    <p:embeddedFont>
      <p:font typeface="Helvetica Neu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HelveticaNeue-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italic.fntdata"/><Relationship Id="rId25" Type="http://schemas.openxmlformats.org/officeDocument/2006/relationships/font" Target="fonts/HelveticaNeue-bold.fntdata"/><Relationship Id="rId27" Type="http://schemas.openxmlformats.org/officeDocument/2006/relationships/font" Target="fonts/HelveticaNe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bb1032d479_0_3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bb1032d479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727dc388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727dc38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727dc3888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727dc388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145c05d62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145c05d6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Huge innovation in the last 30 years: figure out how to put these systems into silicone.</a:t>
            </a:r>
            <a:endParaRPr sz="1400"/>
          </a:p>
          <a:p>
            <a:pPr indent="0" lvl="0" marL="0" rtl="0" algn="l">
              <a:spcBef>
                <a:spcPts val="0"/>
              </a:spcBef>
              <a:spcAft>
                <a:spcPts val="0"/>
              </a:spcAft>
              <a:buNone/>
            </a:pPr>
            <a:r>
              <a:rPr lang="en" sz="1400"/>
              <a:t>Capacitor is the black vertical plate(s) of the fixed plate together with the grey vertical plate(s) of the moving mass (see yellow).</a:t>
            </a:r>
            <a:endParaRPr sz="1400"/>
          </a:p>
          <a:p>
            <a:pPr indent="0" lvl="0" marL="0" rtl="0" algn="l">
              <a:spcBef>
                <a:spcPts val="0"/>
              </a:spcBef>
              <a:spcAft>
                <a:spcPts val="0"/>
              </a:spcAft>
              <a:buNone/>
            </a:pPr>
            <a:r>
              <a:rPr lang="en" sz="1400"/>
              <a:t>So you've got all the pieces of a spring mass system accelerometer: fixed case, moving mass, springs, sensor. These things can be made on micron scales in silicon chips like the one on our chip. You can make 3-axes accelerometers out of micro-machined silicone.</a:t>
            </a:r>
            <a:endParaRPr sz="1400"/>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Inside the chip: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a:t>
            </a:r>
            <a:r>
              <a:rPr b="1" lang="en">
                <a:solidFill>
                  <a:schemeClr val="dk1"/>
                </a:solidFill>
              </a:rPr>
              <a:t>proof mass</a:t>
            </a:r>
            <a:r>
              <a:rPr lang="en">
                <a:solidFill>
                  <a:schemeClr val="dk1"/>
                </a:solidFill>
              </a:rPr>
              <a:t> is suspended by tiny springs.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both sides are </a:t>
            </a:r>
            <a:r>
              <a:rPr b="1" lang="en">
                <a:solidFill>
                  <a:schemeClr val="dk1"/>
                </a:solidFill>
              </a:rPr>
              <a:t>interdigitated comb fingers</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form </a:t>
            </a:r>
            <a:r>
              <a:rPr b="1" lang="en">
                <a:solidFill>
                  <a:schemeClr val="dk1"/>
                </a:solidFill>
              </a:rPr>
              <a:t>two capacitors</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C1andC2C_1 \quad \text{and} \quad C_2C1​andC2​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acceleration occurs: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mass moves slightly.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capacitor increases.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other decreases.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system measures:</a:t>
            </a:r>
            <a:endParaRPr>
              <a:solidFill>
                <a:schemeClr val="dk1"/>
              </a:solidFill>
            </a:endParaRPr>
          </a:p>
          <a:p>
            <a:pPr indent="0" lvl="0" marL="0" rtl="0" algn="l">
              <a:spcBef>
                <a:spcPts val="1200"/>
              </a:spcBef>
              <a:spcAft>
                <a:spcPts val="0"/>
              </a:spcAft>
              <a:buNone/>
            </a:pPr>
            <a:r>
              <a:rPr lang="en">
                <a:solidFill>
                  <a:schemeClr val="dk1"/>
                </a:solidFill>
              </a:rPr>
              <a:t>ΔC=C1−C2\Delta C = C_1 - C_2ΔC=C1​−C2​</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Q=CV</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C1C_1C1​ increases and C2C_2C2​ decreases, the differential charge changes: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ΔQ=(C1−C2)Vexc\Delta Q = (C_1 - C_2) V_{exc}ΔQ=(C1​−C2​)Vexc​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145c05d622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145c05d62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Applications</a:t>
            </a:r>
            <a:r>
              <a:rPr lang="en" sz="1400"/>
              <a:t> that you experience every day:</a:t>
            </a:r>
            <a:endParaRPr sz="1400"/>
          </a:p>
          <a:p>
            <a:pPr indent="0" lvl="0" marL="0" rtl="0" algn="l">
              <a:spcBef>
                <a:spcPts val="0"/>
              </a:spcBef>
              <a:spcAft>
                <a:spcPts val="0"/>
              </a:spcAft>
              <a:buNone/>
            </a:pPr>
            <a:r>
              <a:rPr lang="en" sz="1400"/>
              <a:t>MEMS (Microelectromechanical systems) accelerometers have been a game changer.</a:t>
            </a:r>
            <a:endParaRPr sz="1400"/>
          </a:p>
          <a:p>
            <a:pPr indent="0" lvl="0" marL="0" rtl="0" algn="l">
              <a:spcBef>
                <a:spcPts val="0"/>
              </a:spcBef>
              <a:spcAft>
                <a:spcPts val="0"/>
              </a:spcAft>
              <a:buNone/>
            </a:pPr>
            <a:r>
              <a:rPr lang="en" sz="1400"/>
              <a:t>Airbag sensor senses when you are hitting something.</a:t>
            </a:r>
            <a:endParaRPr sz="1400"/>
          </a:p>
          <a:p>
            <a:pPr indent="0" lvl="0" marL="0" rtl="0" algn="l">
              <a:spcBef>
                <a:spcPts val="0"/>
              </a:spcBef>
              <a:spcAft>
                <a:spcPts val="0"/>
              </a:spcAft>
              <a:buNone/>
            </a:pPr>
            <a:r>
              <a:rPr lang="en" sz="1400"/>
              <a:t>Pedometer set up to pick up impact of every foot slapping the ground.</a:t>
            </a:r>
            <a:endParaRPr sz="1400"/>
          </a:p>
          <a:p>
            <a:pPr indent="0" lvl="0" marL="0" rtl="0" algn="l">
              <a:spcBef>
                <a:spcPts val="0"/>
              </a:spcBef>
              <a:spcAft>
                <a:spcPts val="0"/>
              </a:spcAft>
              <a:buNone/>
            </a:pPr>
            <a:r>
              <a:rPr lang="en" sz="1400"/>
              <a:t>Football helmets have accelerometers to measure shock to head under collision.</a:t>
            </a:r>
            <a:endParaRPr sz="1400"/>
          </a:p>
          <a:p>
            <a:pPr indent="0" lvl="0" marL="0" rtl="0" algn="l">
              <a:spcBef>
                <a:spcPts val="0"/>
              </a:spcBef>
              <a:spcAft>
                <a:spcPts val="0"/>
              </a:spcAft>
              <a:buNone/>
            </a:pPr>
            <a:r>
              <a:rPr lang="en" sz="1400"/>
              <a:t>Before solid state hard drives it was catastrophic to drop your laptop (head crash on your spinning hard drive). Accelerometer would detect free fall and pull heads off disk </a:t>
            </a:r>
            <a:r>
              <a:rPr lang="en" sz="1400"/>
              <a:t>drive</a:t>
            </a:r>
            <a:r>
              <a:rPr lang="en" sz="1400"/>
              <a:t> to prevent catastrophic damage.</a:t>
            </a:r>
            <a:endParaRPr sz="1400"/>
          </a:p>
          <a:p>
            <a:pPr indent="0" lvl="0" marL="0" rtl="0" algn="l">
              <a:spcBef>
                <a:spcPts val="0"/>
              </a:spcBef>
              <a:spcAft>
                <a:spcPts val="0"/>
              </a:spcAft>
              <a:buNone/>
            </a:pPr>
            <a:r>
              <a:rPr lang="en" sz="1400"/>
              <a:t>Gyroscope picks up twisting rather than shifting. Same technology</a:t>
            </a:r>
            <a:endParaRPr sz="1400"/>
          </a:p>
          <a:p>
            <a:pPr indent="0" lvl="0" marL="0" rtl="0" algn="l">
              <a:spcBef>
                <a:spcPts val="0"/>
              </a:spcBef>
              <a:spcAft>
                <a:spcPts val="0"/>
              </a:spcAft>
              <a:buNone/>
            </a:pPr>
            <a:r>
              <a:rPr lang="en" sz="1400"/>
              <a:t>Used in </a:t>
            </a:r>
            <a:r>
              <a:rPr lang="en" sz="1400"/>
              <a:t>drones</a:t>
            </a:r>
            <a:r>
              <a:rPr lang="en" sz="1400"/>
              <a:t> or cars (IMUs). </a:t>
            </a:r>
            <a:endParaRPr sz="1400"/>
          </a:p>
          <a:p>
            <a:pPr indent="0" lvl="0" marL="0" rtl="0" algn="l">
              <a:spcBef>
                <a:spcPts val="0"/>
              </a:spcBef>
              <a:spcAft>
                <a:spcPts val="0"/>
              </a:spcAft>
              <a:buNone/>
            </a:pPr>
            <a:r>
              <a:rPr lang="en" sz="1400"/>
              <a:t>Thayer has some connections to this business: Signal Quest in Leb, founded by Thayer alum. Integrates chips on boards and assembly.</a:t>
            </a:r>
            <a:endParaRPr sz="1400"/>
          </a:p>
          <a:p>
            <a:pPr indent="0" lvl="0" marL="0" rtl="0" algn="l">
              <a:spcBef>
                <a:spcPts val="0"/>
              </a:spcBef>
              <a:spcAft>
                <a:spcPts val="0"/>
              </a:spcAft>
              <a:buNone/>
            </a:pPr>
            <a:r>
              <a:rPr lang="en" sz="1400"/>
              <a:t>Simbex, local medical device company, initiated accelerometers in football helmets.</a:t>
            </a:r>
            <a:endParaRPr sz="1400"/>
          </a:p>
          <a:p>
            <a:pPr indent="0" lvl="0" marL="0" rtl="0" algn="l">
              <a:spcBef>
                <a:spcPts val="0"/>
              </a:spcBef>
              <a:spcAft>
                <a:spcPts val="0"/>
              </a:spcAft>
              <a:buNone/>
            </a:pPr>
            <a:r>
              <a:rPr lang="en" sz="1400"/>
              <a:t>Vibration: relatively new application of accelerometers. Learn </a:t>
            </a:r>
            <a:r>
              <a:rPr lang="en" sz="1400"/>
              <a:t>vibration</a:t>
            </a:r>
            <a:r>
              <a:rPr lang="en" sz="1400"/>
              <a:t> patterns of a normal operating machine. Then accelerometers can pick up vibration changes as the machine starts to fail and know of issues before anyone would otherwise figure out. So accelerometer plus machine learning is a huge new up and coming field.</a:t>
            </a:r>
            <a:endParaRPr sz="1400"/>
          </a:p>
          <a:p>
            <a:pPr indent="0" lvl="0" marL="0" rtl="0" algn="l">
              <a:spcBef>
                <a:spcPts val="0"/>
              </a:spcBef>
              <a:spcAft>
                <a:spcPts val="0"/>
              </a:spcAft>
              <a:buNone/>
            </a:pPr>
            <a:r>
              <a:t/>
            </a:r>
            <a:endParaRPr sz="1400"/>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In MEMS Gyroscopes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where it becomes engineering magic.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Inside a MEMS gyro: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tiny mass vibrates with velocity vvv.</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the chip rotates with angular rate ΩΩΩ,</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vibrating mass feels a sideways Coriolis force.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tiny perpendicular displacement is measured capacitively.</a:t>
            </a:r>
            <a:endParaRPr>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45c05d622_1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45c05d622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Our device.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Three capacitors with arrow </a:t>
            </a:r>
            <a:r>
              <a:rPr lang="en" sz="1400"/>
              <a:t>through</a:t>
            </a:r>
            <a:r>
              <a:rPr lang="en" sz="1400"/>
              <a:t> them are variable capacitors whose capacitance changes as the sensors move back and forth in their three respective axes (those are the ones in the accelerometer), that are </a:t>
            </a:r>
            <a:r>
              <a:rPr lang="en" sz="1400"/>
              <a:t>processed</a:t>
            </a:r>
            <a:r>
              <a:rPr lang="en" sz="1400"/>
              <a:t> to a voltage by some analog circuitry, that is fed into an A/D converter that feeds some control logic that creates a signal for the I2C bus.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There is also a magnetometer but we are not using that.</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45c05d622_1_2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145c05d622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 are continuing to slowly expose you to data sheets.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Here are the sensor characteristics of how the acceleration at the input end gets translated into bits at the </a:t>
            </a:r>
            <a:r>
              <a:rPr lang="en" sz="1400"/>
              <a:t>output</a:t>
            </a:r>
            <a:r>
              <a:rPr lang="en" sz="1400"/>
              <a:t> end. So the number it creates is a function of the physics.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Measurement range: measured in units of g's (gravity) (rather than in volts, degrees Fahrenheit, etc). So the first thing you need to decide is what your measurement range is so that you can select the correct setting.</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Next is the sensitivity. How are bits at the output related to acceleration at the input? Sensitivity is full </a:t>
            </a:r>
            <a:r>
              <a:rPr lang="en" sz="1400"/>
              <a:t>measurement</a:t>
            </a:r>
            <a:r>
              <a:rPr lang="en" sz="1400"/>
              <a:t> range divided by 2^bits. So this is the resolution of the sensor. This accelerometer has 3 resolution modes: 8 bit, 10 bit or 12 bit. The lower the number of bits, the faster you can generate measurements but the lower the </a:t>
            </a:r>
            <a:r>
              <a:rPr lang="en" sz="1400"/>
              <a:t>resolution</a:t>
            </a:r>
            <a:r>
              <a:rPr lang="en" sz="1400"/>
              <a:t>. 2^bits is the number of bins that the input range is divided into. The width of each bin is the sensitivity. Example: +-2g, so a 4g range; at 10 bit, 4g/2^10 = 4g/1024 = 3.9 mg (milli g) is the sensitivity. So you can only pick up differences that are more than 3.9 mg.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low power mode you only get 8 bits, in normal mode 10 bits, in high 12 bits. Notice how the </a:t>
            </a:r>
            <a:r>
              <a:rPr lang="en" sz="1400"/>
              <a:t>sensitivity</a:t>
            </a:r>
            <a:r>
              <a:rPr lang="en" sz="1400"/>
              <a:t> gets better as you go to higher resolutions. mg/LSB stands for mg per least significant bit (which is the significance of the last bit).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Zero-g level offset accuracy: If you lay this thing out on a perfectly flat surface you'd expect to measure exactly 1g. If you flipped it over you'd expect -1g. It won't be totally accurate </a:t>
            </a:r>
            <a:r>
              <a:rPr lang="en" sz="1400"/>
              <a:t>though, and that's what's called the 0g offset. Similarly, when you put it vertical, you should get exactly 0g. But you won't. That's again the zero-g offset accuracy. 40mg is a significant amount of error! You can calibrate this out by reading the value on a perfectly flat surface: take the average of perfectly flat and flipped over, and that's what you need to calibrate out.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Also, temperature dependency etc but we don't consider those. Each sensor datasheet has tables like this.</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45c05d622_1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45c05d622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Schematic of the board. Shows how things are wired together.</a:t>
            </a:r>
            <a:endParaRPr sz="1400"/>
          </a:p>
          <a:p>
            <a:pPr indent="0" lvl="0" marL="0" rtl="0" algn="l">
              <a:spcBef>
                <a:spcPts val="0"/>
              </a:spcBef>
              <a:spcAft>
                <a:spcPts val="0"/>
              </a:spcAft>
              <a:buNone/>
            </a:pPr>
            <a:r>
              <a:rPr lang="en" sz="1400"/>
              <a:t>Big chip is the accelerometer, little chip is the voltage regulator. Can see the SDA and SCL wires, including, right on the board, pullup resistors.</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45c05d622_1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45c05d622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If you wanted to use one of the interrupts you'd take the interrupt pin and wire it to a pin on your microcontroller, set a pin change interrupt. They you'd write an ISR for that pin change interrupt.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We won't use these: we'll strictly communicate via I2C.</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45c05d622_1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45c05d622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There are 6 control registers, all have I2C addresses.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We only need registers 1 and 4 (the others are all about interrupts). We we only need to understand 1 and 4.</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Look at data sheet and take a look at what the bits of these control registers do.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We'll code this in class tomorrow.</a:t>
            </a: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bc8ecf1c70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bc8ecf1c7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again is the header file (address of control registers, WHO_AM_I register, addresses of the data registers, etc.</a:t>
            </a: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c8ecf1c70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c8ecf1c7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We'll need 4 functions. Have given you the single register read function. You'll write the write function. Given you </a:t>
            </a:r>
            <a:r>
              <a:rPr lang="en" sz="1400"/>
              <a:t>skeleton</a:t>
            </a:r>
            <a:r>
              <a:rPr lang="en" sz="1400"/>
              <a:t> for the init function. Giving you the readraw function. You'll finish the others tomorrow. Think about it for </a:t>
            </a:r>
            <a:r>
              <a:rPr lang="en" sz="1400"/>
              <a:t>tomorrow</a:t>
            </a:r>
            <a:r>
              <a:rPr lang="en" sz="1400"/>
              <a:t>.</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45c05d622_1_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45c05d622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45c05d622_1_1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45c05d622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3 resolution modes. Even though you have this 16 bit number, many of them are zeros. Always need 2 bytes. Some bits are always zero.</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bc8ecf1c70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bc8ecf1c7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c8ecf1c70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c8ecf1c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So instead of sending 0x28 as the address you need to send 0x28 | (1&lt;&lt;7).</a:t>
            </a:r>
            <a:endParaRPr sz="1400"/>
          </a:p>
          <a:p>
            <a:pPr indent="0" lvl="0" marL="0" rtl="0" algn="l">
              <a:spcBef>
                <a:spcPts val="0"/>
              </a:spcBef>
              <a:spcAft>
                <a:spcPts val="0"/>
              </a:spcAft>
              <a:buNone/>
            </a:pPr>
            <a:r>
              <a:rPr lang="en" sz="1400"/>
              <a:t>If you start reading at 0x28 | (1&lt;&lt;7), it sends you data, you ACK back, then it sends you the next piece of data, </a:t>
            </a:r>
            <a:r>
              <a:rPr lang="en" sz="1400"/>
              <a:t>you</a:t>
            </a:r>
            <a:r>
              <a:rPr lang="en" sz="1400"/>
              <a:t> ACK back, etc, so that you can read all 6 in one transfer. This is implemented in our driver.</a:t>
            </a: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145c05d622_1_1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145c05d622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145c05d622_1_1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145c05d622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reading quiz gives you a scavenger hunt through the data sheet.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signalquest.com" TargetMode="External"/><Relationship Id="rId4" Type="http://schemas.openxmlformats.org/officeDocument/2006/relationships/hyperlink" Target="https://simbex.com/our-work/wearables-development/" TargetMode="External"/><Relationship Id="rId5" Type="http://schemas.openxmlformats.org/officeDocument/2006/relationships/hyperlink" Target="https://www.technologyreview.com/2007/09/10/223860/a-helmet-that-detects-hard-hi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13x</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Accelerometers</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98750" y="347525"/>
            <a:ext cx="3039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Accelerometer</a:t>
            </a:r>
            <a:endParaRPr/>
          </a:p>
        </p:txBody>
      </p:sp>
      <p:sp>
        <p:nvSpPr>
          <p:cNvPr id="75" name="Google Shape;7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 name="Google Shape;76;p16"/>
          <p:cNvSpPr txBox="1"/>
          <p:nvPr/>
        </p:nvSpPr>
        <p:spPr>
          <a:xfrm>
            <a:off x="353175" y="1283325"/>
            <a:ext cx="5874300" cy="356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sz="1600"/>
          </a:p>
        </p:txBody>
      </p:sp>
      <p:sp>
        <p:nvSpPr>
          <p:cNvPr id="77" name="Google Shape;77;p16"/>
          <p:cNvSpPr txBox="1"/>
          <p:nvPr/>
        </p:nvSpPr>
        <p:spPr>
          <a:xfrm>
            <a:off x="353175" y="1111025"/>
            <a:ext cx="8059800" cy="5678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A proof mass is </a:t>
            </a:r>
            <a:r>
              <a:rPr lang="en" sz="1600"/>
              <a:t>connected</a:t>
            </a:r>
            <a:r>
              <a:rPr lang="en" sz="1600"/>
              <a:t> to a spring which </a:t>
            </a:r>
            <a:br>
              <a:rPr lang="en" sz="1600"/>
            </a:br>
            <a:r>
              <a:rPr lang="en" sz="1600"/>
              <a:t>is attached to a case.</a:t>
            </a:r>
            <a:endParaRPr sz="1600"/>
          </a:p>
          <a:p>
            <a:pPr indent="-330200" lvl="0" marL="457200" rtl="0" algn="l">
              <a:lnSpc>
                <a:spcPct val="115000"/>
              </a:lnSpc>
              <a:spcBef>
                <a:spcPts val="0"/>
              </a:spcBef>
              <a:spcAft>
                <a:spcPts val="0"/>
              </a:spcAft>
              <a:buSzPts val="1600"/>
              <a:buChar char="●"/>
            </a:pPr>
            <a:r>
              <a:rPr lang="en" sz="1600"/>
              <a:t>If the case is accelerated, the mass wants </a:t>
            </a:r>
            <a:br>
              <a:rPr lang="en" sz="1600"/>
            </a:br>
            <a:r>
              <a:rPr lang="en" sz="1600"/>
              <a:t>to stay behind because of its inertia.  </a:t>
            </a:r>
            <a:endParaRPr sz="1600"/>
          </a:p>
          <a:p>
            <a:pPr indent="-330200" lvl="0" marL="457200" rtl="0" algn="l">
              <a:lnSpc>
                <a:spcPct val="115000"/>
              </a:lnSpc>
              <a:spcBef>
                <a:spcPts val="0"/>
              </a:spcBef>
              <a:spcAft>
                <a:spcPts val="0"/>
              </a:spcAft>
              <a:buSzPts val="1600"/>
              <a:buChar char="●"/>
            </a:pPr>
            <a:r>
              <a:rPr lang="en" sz="1600"/>
              <a:t>Acceleration </a:t>
            </a:r>
            <a:r>
              <a:rPr b="1" i="1" lang="en" sz="1600"/>
              <a:t>a</a:t>
            </a:r>
            <a:r>
              <a:rPr lang="en" sz="1600"/>
              <a:t> results in force </a:t>
            </a:r>
            <a:r>
              <a:rPr b="1" i="1" lang="en" sz="1600"/>
              <a:t>ma</a:t>
            </a:r>
            <a:r>
              <a:rPr lang="en" sz="1600"/>
              <a:t> on the mass.</a:t>
            </a:r>
            <a:endParaRPr sz="1600"/>
          </a:p>
          <a:p>
            <a:pPr indent="-330200" lvl="0" marL="457200" rtl="0" algn="l">
              <a:lnSpc>
                <a:spcPct val="115000"/>
              </a:lnSpc>
              <a:spcBef>
                <a:spcPts val="0"/>
              </a:spcBef>
              <a:spcAft>
                <a:spcPts val="0"/>
              </a:spcAft>
              <a:buSzPts val="1600"/>
              <a:buChar char="●"/>
            </a:pPr>
            <a:r>
              <a:rPr lang="en" sz="1600"/>
              <a:t>This force causes the spring to compress or expand (depending on the direction of the movement).</a:t>
            </a:r>
            <a:endParaRPr sz="1600"/>
          </a:p>
          <a:p>
            <a:pPr indent="-330200" lvl="0" marL="457200" rtl="0" algn="l">
              <a:lnSpc>
                <a:spcPct val="115000"/>
              </a:lnSpc>
              <a:spcBef>
                <a:spcPts val="0"/>
              </a:spcBef>
              <a:spcAft>
                <a:spcPts val="0"/>
              </a:spcAft>
              <a:buSzPts val="1600"/>
              <a:buChar char="●"/>
            </a:pPr>
            <a:r>
              <a:rPr lang="en" sz="1600"/>
              <a:t>Spring counteracts with force </a:t>
            </a:r>
            <a:r>
              <a:rPr b="1" i="1" lang="en" sz="1600"/>
              <a:t>kx</a:t>
            </a:r>
            <a:r>
              <a:rPr lang="en" sz="1600"/>
              <a:t> (k = spring constant, x = displacement).</a:t>
            </a:r>
            <a:endParaRPr sz="1600"/>
          </a:p>
          <a:p>
            <a:pPr indent="-330200" lvl="0" marL="457200" rtl="0" algn="l">
              <a:lnSpc>
                <a:spcPct val="115000"/>
              </a:lnSpc>
              <a:spcBef>
                <a:spcPts val="0"/>
              </a:spcBef>
              <a:spcAft>
                <a:spcPts val="0"/>
              </a:spcAft>
              <a:buSzPts val="1600"/>
              <a:buChar char="●"/>
            </a:pPr>
            <a:r>
              <a:rPr lang="en" sz="1600"/>
              <a:t>Measure displacement </a:t>
            </a:r>
            <a:r>
              <a:rPr b="1" i="1" lang="en" sz="1600"/>
              <a:t>x</a:t>
            </a:r>
            <a:r>
              <a:rPr lang="en" sz="1600"/>
              <a:t> when forces balance: </a:t>
            </a:r>
            <a:r>
              <a:rPr b="1" i="1" lang="en" sz="1600"/>
              <a:t>kx = ma</a:t>
            </a:r>
            <a:r>
              <a:rPr lang="en" sz="1600"/>
              <a:t>.</a:t>
            </a:r>
            <a:endParaRPr sz="1600"/>
          </a:p>
          <a:p>
            <a:pPr indent="-330200" lvl="0" marL="457200" rtl="0" algn="l">
              <a:lnSpc>
                <a:spcPct val="115000"/>
              </a:lnSpc>
              <a:spcBef>
                <a:spcPts val="0"/>
              </a:spcBef>
              <a:spcAft>
                <a:spcPts val="0"/>
              </a:spcAft>
              <a:buSzPts val="1600"/>
              <a:buChar char="●"/>
            </a:pPr>
            <a:r>
              <a:rPr b="1" i="1" lang="en" sz="1600"/>
              <a:t>a = (k/m) x</a:t>
            </a:r>
            <a:r>
              <a:rPr lang="en" sz="1600"/>
              <a:t>, so if we observe a displacement </a:t>
            </a:r>
            <a:r>
              <a:rPr b="1" i="1" lang="en" sz="1600"/>
              <a:t>x</a:t>
            </a:r>
            <a:r>
              <a:rPr lang="en" sz="1600"/>
              <a:t> then the mass has undergone acceleration </a:t>
            </a:r>
            <a:r>
              <a:rPr b="1" i="1" lang="en" sz="1600"/>
              <a:t>a</a:t>
            </a:r>
            <a:r>
              <a:rPr lang="en" sz="1600"/>
              <a:t>.</a:t>
            </a:r>
            <a:endParaRPr sz="1600"/>
          </a:p>
          <a:p>
            <a:pPr indent="0" lvl="0" marL="0" rtl="0" algn="ctr">
              <a:lnSpc>
                <a:spcPct val="115000"/>
              </a:lnSpc>
              <a:spcBef>
                <a:spcPts val="1000"/>
              </a:spcBef>
              <a:spcAft>
                <a:spcPts val="0"/>
              </a:spcAft>
              <a:buNone/>
            </a:pPr>
            <a:r>
              <a:rPr b="1" lang="en" sz="1600">
                <a:solidFill>
                  <a:srgbClr val="0000FF"/>
                </a:solidFill>
              </a:rPr>
              <a:t>If</a:t>
            </a:r>
            <a:r>
              <a:rPr b="1" lang="en" sz="1600">
                <a:solidFill>
                  <a:srgbClr val="0000FF"/>
                </a:solidFill>
              </a:rPr>
              <a:t> we can measure the displacement we can compute acceleration!</a:t>
            </a:r>
            <a:endParaRPr b="1" sz="1600">
              <a:solidFill>
                <a:srgbClr val="0000FF"/>
              </a:solidFill>
            </a:endParaRPr>
          </a:p>
          <a:p>
            <a:pPr indent="0" lvl="0" marL="0" rtl="0" algn="l">
              <a:lnSpc>
                <a:spcPct val="115000"/>
              </a:lnSpc>
              <a:spcBef>
                <a:spcPts val="1000"/>
              </a:spcBef>
              <a:spcAft>
                <a:spcPts val="0"/>
              </a:spcAft>
              <a:buNone/>
            </a:pPr>
            <a:r>
              <a:rPr lang="en" sz="1600"/>
              <a:t>Note: </a:t>
            </a:r>
            <a:endParaRPr sz="1600"/>
          </a:p>
          <a:p>
            <a:pPr indent="-330200" lvl="0" marL="457200" rtl="0" algn="l">
              <a:lnSpc>
                <a:spcPct val="115000"/>
              </a:lnSpc>
              <a:spcBef>
                <a:spcPts val="1000"/>
              </a:spcBef>
              <a:spcAft>
                <a:spcPts val="0"/>
              </a:spcAft>
              <a:buSzPts val="1600"/>
              <a:buChar char="●"/>
            </a:pPr>
            <a:r>
              <a:rPr lang="en" sz="1600"/>
              <a:t>This system is one-dimensional and only measures acceleration along the length of the spring.</a:t>
            </a:r>
            <a:endParaRPr sz="1600"/>
          </a:p>
          <a:p>
            <a:pPr indent="-330200" lvl="0" marL="457200" rtl="0" algn="l">
              <a:lnSpc>
                <a:spcPct val="115000"/>
              </a:lnSpc>
              <a:spcBef>
                <a:spcPts val="0"/>
              </a:spcBef>
              <a:spcAft>
                <a:spcPts val="0"/>
              </a:spcAft>
              <a:buSzPts val="1600"/>
              <a:buChar char="●"/>
            </a:pPr>
            <a:r>
              <a:rPr lang="en" sz="1600"/>
              <a:t>For a 3-axis accelerometer, duplicate this system along three axes.</a:t>
            </a:r>
            <a:endParaRPr sz="1600"/>
          </a:p>
          <a:p>
            <a:pPr indent="0" lvl="0" marL="0" rtl="0" algn="ctr">
              <a:lnSpc>
                <a:spcPct val="115000"/>
              </a:lnSpc>
              <a:spcBef>
                <a:spcPts val="1000"/>
              </a:spcBef>
              <a:spcAft>
                <a:spcPts val="1000"/>
              </a:spcAft>
              <a:buNone/>
            </a:pPr>
            <a:r>
              <a:rPr b="1" lang="en" sz="1600">
                <a:solidFill>
                  <a:srgbClr val="0000FF"/>
                </a:solidFill>
              </a:rPr>
              <a:t>How do we measure displacement?</a:t>
            </a:r>
            <a:endParaRPr b="1" sz="1600">
              <a:solidFill>
                <a:srgbClr val="0000FF"/>
              </a:solidFill>
            </a:endParaRPr>
          </a:p>
        </p:txBody>
      </p:sp>
      <p:pic>
        <p:nvPicPr>
          <p:cNvPr id="78" name="Google Shape;78;p16"/>
          <p:cNvPicPr preferRelativeResize="0"/>
          <p:nvPr/>
        </p:nvPicPr>
        <p:blipFill>
          <a:blip r:embed="rId3">
            <a:alphaModFix/>
          </a:blip>
          <a:stretch>
            <a:fillRect/>
          </a:stretch>
        </p:blipFill>
        <p:spPr>
          <a:xfrm>
            <a:off x="5295075" y="89300"/>
            <a:ext cx="3581400" cy="1771650"/>
          </a:xfrm>
          <a:prstGeom prst="rect">
            <a:avLst/>
          </a:prstGeom>
          <a:noFill/>
          <a:ln>
            <a:noFill/>
          </a:ln>
        </p:spPr>
      </p:pic>
      <p:sp>
        <p:nvSpPr>
          <p:cNvPr id="79" name="Google Shape;79;p16"/>
          <p:cNvSpPr txBox="1"/>
          <p:nvPr/>
        </p:nvSpPr>
        <p:spPr>
          <a:xfrm>
            <a:off x="5151375" y="1770400"/>
            <a:ext cx="3868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38761D"/>
                </a:solidFill>
              </a:rPr>
              <a:t>Mass-spring system (Phys 13, Engs 22)</a:t>
            </a:r>
            <a:endParaRPr sz="1600">
              <a:solidFill>
                <a:srgbClr val="38761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measure "displacement"?</a:t>
            </a:r>
            <a:endParaRPr/>
          </a:p>
        </p:txBody>
      </p:sp>
      <p:sp>
        <p:nvSpPr>
          <p:cNvPr id="85" name="Google Shape;85;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ways of measuring displacement: </a:t>
            </a:r>
            <a:endParaRPr/>
          </a:p>
          <a:p>
            <a:pPr indent="-342900" lvl="0" marL="457200" rtl="0" algn="l">
              <a:spcBef>
                <a:spcPts val="1600"/>
              </a:spcBef>
              <a:spcAft>
                <a:spcPts val="0"/>
              </a:spcAft>
              <a:buSzPts val="1800"/>
              <a:buChar char="●"/>
            </a:pPr>
            <a:r>
              <a:rPr lang="en"/>
              <a:t>resistive techniques</a:t>
            </a:r>
            <a:endParaRPr/>
          </a:p>
          <a:p>
            <a:pPr indent="-342900" lvl="0" marL="457200" rtl="0" algn="l">
              <a:spcBef>
                <a:spcPts val="0"/>
              </a:spcBef>
              <a:spcAft>
                <a:spcPts val="0"/>
              </a:spcAft>
              <a:buSzPts val="1800"/>
              <a:buChar char="●"/>
            </a:pPr>
            <a:r>
              <a:rPr lang="en"/>
              <a:t>capacitive techniques</a:t>
            </a:r>
            <a:endParaRPr/>
          </a:p>
          <a:p>
            <a:pPr indent="-342900" lvl="0" marL="457200" rtl="0" algn="l">
              <a:spcBef>
                <a:spcPts val="0"/>
              </a:spcBef>
              <a:spcAft>
                <a:spcPts val="0"/>
              </a:spcAft>
              <a:buSzPts val="1800"/>
              <a:buChar char="●"/>
            </a:pPr>
            <a:r>
              <a:rPr lang="en"/>
              <a:t>inductive techniques.</a:t>
            </a:r>
            <a:endParaRPr/>
          </a:p>
          <a:p>
            <a:pPr indent="0" lvl="0" marL="0" rtl="0" algn="l">
              <a:spcBef>
                <a:spcPts val="1600"/>
              </a:spcBef>
              <a:spcAft>
                <a:spcPts val="0"/>
              </a:spcAft>
              <a:buNone/>
            </a:pPr>
            <a:r>
              <a:rPr lang="en"/>
              <a:t>Capacitive: Imagine capacitor plates attached to mass and case:</a:t>
            </a:r>
            <a:endParaRPr/>
          </a:p>
          <a:p>
            <a:pPr indent="-342900" lvl="0" marL="457200" rtl="0" algn="l">
              <a:spcBef>
                <a:spcPts val="1600"/>
              </a:spcBef>
              <a:spcAft>
                <a:spcPts val="0"/>
              </a:spcAft>
              <a:buSzPts val="1800"/>
              <a:buChar char="●"/>
            </a:pPr>
            <a:r>
              <a:rPr lang="en"/>
              <a:t>As </a:t>
            </a:r>
            <a:r>
              <a:rPr b="1" i="1" lang="en"/>
              <a:t>x</a:t>
            </a:r>
            <a:r>
              <a:rPr lang="en"/>
              <a:t> increases, so does capacitance.</a:t>
            </a:r>
            <a:endParaRPr/>
          </a:p>
          <a:p>
            <a:pPr indent="-342900" lvl="0" marL="457200" rtl="0" algn="l">
              <a:spcBef>
                <a:spcPts val="0"/>
              </a:spcBef>
              <a:spcAft>
                <a:spcPts val="0"/>
              </a:spcAft>
              <a:buSzPts val="1800"/>
              <a:buChar char="●"/>
            </a:pPr>
            <a:r>
              <a:rPr lang="en"/>
              <a:t>Measuring capacitance allows us to </a:t>
            </a:r>
            <a:br>
              <a:rPr lang="en"/>
            </a:br>
            <a:r>
              <a:rPr lang="en"/>
              <a:t>compute </a:t>
            </a:r>
            <a:r>
              <a:rPr b="1" i="1" lang="en"/>
              <a:t>x</a:t>
            </a:r>
            <a:r>
              <a:rPr lang="en"/>
              <a:t>.</a:t>
            </a:r>
            <a:endParaRPr/>
          </a:p>
          <a:p>
            <a:pPr indent="0" lvl="0" marL="0" rtl="0" algn="l">
              <a:spcBef>
                <a:spcPts val="1600"/>
              </a:spcBef>
              <a:spcAft>
                <a:spcPts val="1600"/>
              </a:spcAft>
              <a:buNone/>
            </a:pPr>
            <a:r>
              <a:t/>
            </a:r>
            <a:endParaRPr/>
          </a:p>
        </p:txBody>
      </p:sp>
      <p:sp>
        <p:nvSpPr>
          <p:cNvPr id="86" name="Google Shape;86;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7" name="Google Shape;87;p17"/>
          <p:cNvPicPr preferRelativeResize="0"/>
          <p:nvPr/>
        </p:nvPicPr>
        <p:blipFill>
          <a:blip r:embed="rId3">
            <a:alphaModFix/>
          </a:blip>
          <a:stretch>
            <a:fillRect/>
          </a:stretch>
        </p:blipFill>
        <p:spPr>
          <a:xfrm>
            <a:off x="4987800" y="4756525"/>
            <a:ext cx="3581400" cy="1771650"/>
          </a:xfrm>
          <a:prstGeom prst="rect">
            <a:avLst/>
          </a:prstGeom>
          <a:noFill/>
          <a:ln>
            <a:noFill/>
          </a:ln>
        </p:spPr>
      </p:pic>
      <p:cxnSp>
        <p:nvCxnSpPr>
          <p:cNvPr id="88" name="Google Shape;88;p17"/>
          <p:cNvCxnSpPr/>
          <p:nvPr/>
        </p:nvCxnSpPr>
        <p:spPr>
          <a:xfrm flipH="1">
            <a:off x="5854200" y="4428800"/>
            <a:ext cx="6600" cy="900600"/>
          </a:xfrm>
          <a:prstGeom prst="straightConnector1">
            <a:avLst/>
          </a:prstGeom>
          <a:noFill/>
          <a:ln cap="flat" cmpd="sng" w="28575">
            <a:solidFill>
              <a:srgbClr val="0000FF"/>
            </a:solidFill>
            <a:prstDash val="solid"/>
            <a:round/>
            <a:headEnd len="med" w="med" type="none"/>
            <a:tailEnd len="med" w="med" type="none"/>
          </a:ln>
        </p:spPr>
      </p:cxnSp>
      <p:cxnSp>
        <p:nvCxnSpPr>
          <p:cNvPr id="89" name="Google Shape;89;p17"/>
          <p:cNvCxnSpPr/>
          <p:nvPr/>
        </p:nvCxnSpPr>
        <p:spPr>
          <a:xfrm flipH="1">
            <a:off x="6239750" y="4428800"/>
            <a:ext cx="13200" cy="12894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p:cNvPicPr preferRelativeResize="0"/>
          <p:nvPr/>
        </p:nvPicPr>
        <p:blipFill>
          <a:blip r:embed="rId3">
            <a:alphaModFix/>
          </a:blip>
          <a:stretch>
            <a:fillRect/>
          </a:stretch>
        </p:blipFill>
        <p:spPr>
          <a:xfrm>
            <a:off x="342550" y="2449801"/>
            <a:ext cx="5443926" cy="2062950"/>
          </a:xfrm>
          <a:prstGeom prst="rect">
            <a:avLst/>
          </a:prstGeom>
          <a:noFill/>
          <a:ln>
            <a:noFill/>
          </a:ln>
        </p:spPr>
      </p:pic>
      <p:sp>
        <p:nvSpPr>
          <p:cNvPr id="95" name="Google Shape;95;p18"/>
          <p:cNvSpPr txBox="1"/>
          <p:nvPr/>
        </p:nvSpPr>
        <p:spPr>
          <a:xfrm>
            <a:off x="342550" y="4872725"/>
            <a:ext cx="8167800" cy="1683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Proof mass, spring, and capacitive sensor are “machined” out of silicon.</a:t>
            </a:r>
            <a:endParaRPr sz="1600"/>
          </a:p>
          <a:p>
            <a:pPr indent="-330200" lvl="0" marL="457200" rtl="0" algn="l">
              <a:spcBef>
                <a:spcPts val="1000"/>
              </a:spcBef>
              <a:spcAft>
                <a:spcPts val="0"/>
              </a:spcAft>
              <a:buSzPts val="1600"/>
              <a:buChar char="●"/>
            </a:pPr>
            <a:r>
              <a:rPr lang="en" sz="1600"/>
              <a:t>Motion of moving plate (proof mass) relative to fixed plate (substrate) produces a varying capacitance.</a:t>
            </a:r>
            <a:endParaRPr sz="1600"/>
          </a:p>
          <a:p>
            <a:pPr indent="-330200" lvl="0" marL="457200" rtl="0" algn="l">
              <a:spcBef>
                <a:spcPts val="1000"/>
              </a:spcBef>
              <a:spcAft>
                <a:spcPts val="1000"/>
              </a:spcAft>
              <a:buSzPts val="1600"/>
              <a:buChar char="●"/>
            </a:pPr>
            <a:r>
              <a:rPr lang="en" sz="1600"/>
              <a:t>A capacitance-to-voltage circuit translates the dynamic variation in capacitance to a voltage signal. </a:t>
            </a:r>
            <a:endParaRPr sz="1600"/>
          </a:p>
        </p:txBody>
      </p:sp>
      <p:pic>
        <p:nvPicPr>
          <p:cNvPr id="96" name="Google Shape;96;p18"/>
          <p:cNvPicPr preferRelativeResize="0"/>
          <p:nvPr/>
        </p:nvPicPr>
        <p:blipFill>
          <a:blip r:embed="rId4">
            <a:alphaModFix/>
          </a:blip>
          <a:stretch>
            <a:fillRect/>
          </a:stretch>
        </p:blipFill>
        <p:spPr>
          <a:xfrm>
            <a:off x="6564220" y="2286198"/>
            <a:ext cx="2209909" cy="2390150"/>
          </a:xfrm>
          <a:prstGeom prst="rect">
            <a:avLst/>
          </a:prstGeom>
          <a:noFill/>
          <a:ln>
            <a:noFill/>
          </a:ln>
        </p:spPr>
      </p:pic>
      <p:sp>
        <p:nvSpPr>
          <p:cNvPr id="97" name="Google Shape;97;p18"/>
          <p:cNvSpPr txBox="1"/>
          <p:nvPr/>
        </p:nvSpPr>
        <p:spPr>
          <a:xfrm>
            <a:off x="6186275" y="1571150"/>
            <a:ext cx="2965800" cy="7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t>Surface micromachined capacitors </a:t>
            </a:r>
            <a:endParaRPr i="1"/>
          </a:p>
          <a:p>
            <a:pPr indent="0" lvl="0" marL="0" rtl="0" algn="l">
              <a:spcBef>
                <a:spcPts val="0"/>
              </a:spcBef>
              <a:spcAft>
                <a:spcPts val="0"/>
              </a:spcAft>
              <a:buNone/>
            </a:pPr>
            <a:r>
              <a:rPr i="1" lang="en" sz="1000"/>
              <a:t>Roger Howe, Stanford</a:t>
            </a:r>
            <a:endParaRPr i="1" sz="1000"/>
          </a:p>
        </p:txBody>
      </p:sp>
      <p:sp>
        <p:nvSpPr>
          <p:cNvPr id="98" name="Google Shape;98;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 name="Google Shape;99;p18"/>
          <p:cNvSpPr txBox="1"/>
          <p:nvPr>
            <p:ph type="title"/>
          </p:nvPr>
        </p:nvSpPr>
        <p:spPr>
          <a:xfrm>
            <a:off x="311700" y="321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MEMS accelerometer</a:t>
            </a:r>
            <a:endParaRPr sz="1800"/>
          </a:p>
          <a:p>
            <a:pPr indent="0" lvl="0" marL="0" rtl="0" algn="l">
              <a:spcBef>
                <a:spcPts val="0"/>
              </a:spcBef>
              <a:spcAft>
                <a:spcPts val="0"/>
              </a:spcAft>
              <a:buNone/>
            </a:pPr>
            <a:r>
              <a:rPr i="1" lang="en" sz="1800"/>
              <a:t>(Micro Electro-Mechanical System)</a:t>
            </a:r>
            <a:endParaRPr i="1" sz="1800"/>
          </a:p>
        </p:txBody>
      </p:sp>
      <p:sp>
        <p:nvSpPr>
          <p:cNvPr id="100" name="Google Shape;100;p18"/>
          <p:cNvSpPr txBox="1"/>
          <p:nvPr/>
        </p:nvSpPr>
        <p:spPr>
          <a:xfrm>
            <a:off x="342550" y="1585025"/>
            <a:ext cx="5004300" cy="6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t>Analog Devices single-axis accelerometer</a:t>
            </a:r>
            <a:endParaRPr i="1"/>
          </a:p>
          <a:p>
            <a:pPr indent="0" lvl="0" marL="0" rtl="0" algn="l">
              <a:spcBef>
                <a:spcPts val="0"/>
              </a:spcBef>
              <a:spcAft>
                <a:spcPts val="0"/>
              </a:spcAft>
              <a:buNone/>
            </a:pPr>
            <a:r>
              <a:rPr i="1" lang="en" sz="1000"/>
              <a:t>https://www.electronicwings.com/public/images/user_images/images/Sensor%20%26%20Modules/Accelerometer/1_Accelerometer_Sensor_MEMs_Mechanism.PNG</a:t>
            </a:r>
            <a:endParaRPr i="1"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Accelerometer applications</a:t>
            </a:r>
            <a:endParaRPr/>
          </a:p>
        </p:txBody>
      </p:sp>
      <p:sp>
        <p:nvSpPr>
          <p:cNvPr id="106" name="Google Shape;106;p19"/>
          <p:cNvSpPr txBox="1"/>
          <p:nvPr>
            <p:ph idx="1" type="body"/>
          </p:nvPr>
        </p:nvSpPr>
        <p:spPr>
          <a:xfrm>
            <a:off x="387900" y="1292325"/>
            <a:ext cx="7738200" cy="510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Acceleration</a:t>
            </a:r>
            <a:endParaRPr sz="1600"/>
          </a:p>
          <a:p>
            <a:pPr indent="0" lvl="0" marL="0" rtl="0" algn="l">
              <a:spcBef>
                <a:spcPts val="1000"/>
              </a:spcBef>
              <a:spcAft>
                <a:spcPts val="0"/>
              </a:spcAft>
              <a:buNone/>
            </a:pPr>
            <a:r>
              <a:rPr lang="en" sz="1600"/>
              <a:t>Tilt (e.g., phone, game controller)</a:t>
            </a:r>
            <a:endParaRPr sz="1600"/>
          </a:p>
          <a:p>
            <a:pPr indent="0" lvl="0" marL="0" rtl="0" algn="l">
              <a:spcBef>
                <a:spcPts val="1000"/>
              </a:spcBef>
              <a:spcAft>
                <a:spcPts val="0"/>
              </a:spcAft>
              <a:buNone/>
            </a:pPr>
            <a:r>
              <a:rPr lang="en" sz="1600"/>
              <a:t>Vibration (</a:t>
            </a:r>
            <a:r>
              <a:rPr lang="en" sz="1600"/>
              <a:t>e.g., </a:t>
            </a:r>
            <a:r>
              <a:rPr lang="en" sz="1600"/>
              <a:t>condition based monitoring of machinery)</a:t>
            </a:r>
            <a:endParaRPr sz="1600"/>
          </a:p>
          <a:p>
            <a:pPr indent="0" lvl="0" marL="0" rtl="0" algn="l">
              <a:spcBef>
                <a:spcPts val="1000"/>
              </a:spcBef>
              <a:spcAft>
                <a:spcPts val="0"/>
              </a:spcAft>
              <a:buNone/>
            </a:pPr>
            <a:r>
              <a:rPr lang="en" sz="1600"/>
              <a:t>Shock (</a:t>
            </a:r>
            <a:r>
              <a:rPr lang="en" sz="1600"/>
              <a:t>e.g., </a:t>
            </a:r>
            <a:r>
              <a:rPr lang="en" sz="1600"/>
              <a:t>airbag sensor)</a:t>
            </a:r>
            <a:endParaRPr sz="1600"/>
          </a:p>
          <a:p>
            <a:pPr indent="0" lvl="0" marL="0" rtl="0" algn="l">
              <a:spcBef>
                <a:spcPts val="1000"/>
              </a:spcBef>
              <a:spcAft>
                <a:spcPts val="0"/>
              </a:spcAft>
              <a:buNone/>
            </a:pPr>
            <a:r>
              <a:rPr lang="en" sz="1600"/>
              <a:t>Wearables (e.g.</a:t>
            </a:r>
            <a:r>
              <a:rPr lang="en" sz="1600"/>
              <a:t>, pedometer, football helmets)</a:t>
            </a:r>
            <a:r>
              <a:rPr lang="en" sz="1600"/>
              <a:t> </a:t>
            </a:r>
            <a:endParaRPr sz="1600"/>
          </a:p>
          <a:p>
            <a:pPr indent="0" lvl="0" marL="0" rtl="0" algn="l">
              <a:spcBef>
                <a:spcPts val="1000"/>
              </a:spcBef>
              <a:spcAft>
                <a:spcPts val="0"/>
              </a:spcAft>
              <a:buNone/>
            </a:pPr>
            <a:r>
              <a:rPr lang="en" sz="1600"/>
              <a:t>Free fall detection (e.g., laptop protection)</a:t>
            </a:r>
            <a:endParaRPr sz="1600"/>
          </a:p>
          <a:p>
            <a:pPr indent="0" lvl="0" marL="0" rtl="0" algn="l">
              <a:spcBef>
                <a:spcPts val="1000"/>
              </a:spcBef>
              <a:spcAft>
                <a:spcPts val="0"/>
              </a:spcAft>
              <a:buNone/>
            </a:pPr>
            <a:r>
              <a:rPr lang="en" sz="1600"/>
              <a:t>3-axis accelerometer + 3-axis gyro = Inertial Measurement Unit (</a:t>
            </a:r>
            <a:r>
              <a:rPr lang="en" sz="1600"/>
              <a:t>e.g., </a:t>
            </a:r>
            <a:r>
              <a:rPr lang="en" sz="1600"/>
              <a:t>vehicles): A real-time 6-dimensional motion derivative sensor.</a:t>
            </a:r>
            <a:endParaRPr sz="1600"/>
          </a:p>
          <a:p>
            <a:pPr indent="0" lvl="0" marL="0" rtl="0" algn="l">
              <a:spcBef>
                <a:spcPts val="1000"/>
              </a:spcBef>
              <a:spcAft>
                <a:spcPts val="0"/>
              </a:spcAft>
              <a:buNone/>
            </a:pPr>
            <a:r>
              <a:t/>
            </a:r>
            <a:endParaRPr sz="1600"/>
          </a:p>
          <a:p>
            <a:pPr indent="0" lvl="0" marL="0" rtl="0" algn="l">
              <a:spcBef>
                <a:spcPts val="1000"/>
              </a:spcBef>
              <a:spcAft>
                <a:spcPts val="0"/>
              </a:spcAft>
              <a:buNone/>
            </a:pPr>
            <a:r>
              <a:rPr lang="en" sz="1600"/>
              <a:t>Local precision motion sensor company founded by a Thayer alum: SignalQuest, </a:t>
            </a:r>
            <a:r>
              <a:rPr i="1" lang="en" sz="1400" u="sng">
                <a:solidFill>
                  <a:schemeClr val="hlink"/>
                </a:solidFill>
                <a:hlinkClick r:id="rId3"/>
              </a:rPr>
              <a:t>https://signalquest.com</a:t>
            </a:r>
            <a:endParaRPr i="1" sz="1400"/>
          </a:p>
          <a:p>
            <a:pPr indent="0" lvl="0" marL="0" rtl="0" algn="l">
              <a:spcBef>
                <a:spcPts val="1000"/>
              </a:spcBef>
              <a:spcAft>
                <a:spcPts val="0"/>
              </a:spcAft>
              <a:buNone/>
            </a:pPr>
            <a:r>
              <a:rPr lang="en" sz="1600"/>
              <a:t>Local medical device company, founded by a Thayer alum: Simbex,</a:t>
            </a:r>
            <a:r>
              <a:rPr i="1" lang="en" sz="1600"/>
              <a:t> </a:t>
            </a:r>
            <a:r>
              <a:rPr i="1" lang="en" sz="1400" u="sng">
                <a:solidFill>
                  <a:schemeClr val="hlink"/>
                </a:solidFill>
                <a:hlinkClick r:id="rId4"/>
              </a:rPr>
              <a:t>https://simbex.com/our-work/wearables-development/</a:t>
            </a:r>
            <a:endParaRPr i="1" sz="1400"/>
          </a:p>
          <a:p>
            <a:pPr indent="0" lvl="0" marL="0" rtl="0" algn="l">
              <a:spcBef>
                <a:spcPts val="0"/>
              </a:spcBef>
              <a:spcAft>
                <a:spcPts val="0"/>
              </a:spcAft>
              <a:buNone/>
            </a:pPr>
            <a:r>
              <a:rPr i="1" lang="en" sz="1400" u="sng">
                <a:solidFill>
                  <a:schemeClr val="hlink"/>
                </a:solidFill>
                <a:hlinkClick r:id="rId5"/>
              </a:rPr>
              <a:t>https://www.technologyreview.com/2007/09/10/223860/a-helmet-that-detects-hard-hits/</a:t>
            </a:r>
            <a:endParaRPr i="1" sz="1400"/>
          </a:p>
          <a:p>
            <a:pPr indent="0" lvl="0" marL="0" rtl="0" algn="l">
              <a:spcBef>
                <a:spcPts val="0"/>
              </a:spcBef>
              <a:spcAft>
                <a:spcPts val="0"/>
              </a:spcAft>
              <a:buNone/>
            </a:pPr>
            <a:r>
              <a:t/>
            </a:r>
            <a:endParaRPr i="1" sz="1600"/>
          </a:p>
          <a:p>
            <a:pPr indent="0" lvl="0" marL="0" rtl="0" algn="l">
              <a:spcBef>
                <a:spcPts val="1000"/>
              </a:spcBef>
              <a:spcAft>
                <a:spcPts val="1000"/>
              </a:spcAft>
              <a:buNone/>
            </a:pPr>
            <a:r>
              <a:t/>
            </a:r>
            <a:endParaRPr i="1" sz="1600"/>
          </a:p>
        </p:txBody>
      </p:sp>
      <p:sp>
        <p:nvSpPr>
          <p:cNvPr id="107" name="Google Shape;10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0"/>
          <p:cNvPicPr preferRelativeResize="0"/>
          <p:nvPr/>
        </p:nvPicPr>
        <p:blipFill rotWithShape="1">
          <a:blip r:embed="rId3">
            <a:alphaModFix/>
          </a:blip>
          <a:srcRect b="0" l="0" r="0" t="0"/>
          <a:stretch/>
        </p:blipFill>
        <p:spPr>
          <a:xfrm>
            <a:off x="0" y="1225248"/>
            <a:ext cx="9143999" cy="5559974"/>
          </a:xfrm>
          <a:prstGeom prst="rect">
            <a:avLst/>
          </a:prstGeom>
          <a:noFill/>
          <a:ln>
            <a:noFill/>
          </a:ln>
        </p:spPr>
      </p:pic>
      <p:sp>
        <p:nvSpPr>
          <p:cNvPr id="113" name="Google Shape;113;p20"/>
          <p:cNvSpPr txBox="1"/>
          <p:nvPr>
            <p:ph type="title"/>
          </p:nvPr>
        </p:nvSpPr>
        <p:spPr>
          <a:xfrm>
            <a:off x="84600" y="199625"/>
            <a:ext cx="8708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STMicro LSM303AGR </a:t>
            </a:r>
            <a:endParaRPr/>
          </a:p>
          <a:p>
            <a:pPr indent="0" lvl="0" marL="0" rtl="0" algn="l">
              <a:spcBef>
                <a:spcPts val="0"/>
              </a:spcBef>
              <a:spcAft>
                <a:spcPts val="0"/>
              </a:spcAft>
              <a:buNone/>
            </a:pPr>
            <a:r>
              <a:rPr lang="en" sz="1800"/>
              <a:t>3-axis accelerometer + 3-axis magnetometer + temperature sensor</a:t>
            </a:r>
            <a:endParaRPr sz="1800"/>
          </a:p>
        </p:txBody>
      </p:sp>
      <p:sp>
        <p:nvSpPr>
          <p:cNvPr id="114" name="Google Shape;114;p20"/>
          <p:cNvSpPr txBox="1"/>
          <p:nvPr>
            <p:ph idx="1" type="body"/>
          </p:nvPr>
        </p:nvSpPr>
        <p:spPr>
          <a:xfrm>
            <a:off x="6542850" y="76425"/>
            <a:ext cx="2478300" cy="657900"/>
          </a:xfrm>
          <a:prstGeom prst="rect">
            <a:avLst/>
          </a:prstGeom>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sz="1600">
                <a:solidFill>
                  <a:srgbClr val="0000FF"/>
                </a:solidFill>
              </a:rPr>
              <a:t>We’re only using the accelerometer portion.</a:t>
            </a:r>
            <a:endParaRPr sz="1600">
              <a:solidFill>
                <a:srgbClr val="0000FF"/>
              </a:solidFill>
            </a:endParaRPr>
          </a:p>
        </p:txBody>
      </p:sp>
      <p:sp>
        <p:nvSpPr>
          <p:cNvPr id="115" name="Google Shape;115;p20"/>
          <p:cNvSpPr/>
          <p:nvPr/>
        </p:nvSpPr>
        <p:spPr>
          <a:xfrm>
            <a:off x="84600" y="1355050"/>
            <a:ext cx="8982000" cy="3332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p:nvPr/>
        </p:nvSpPr>
        <p:spPr>
          <a:xfrm>
            <a:off x="8033600" y="4021400"/>
            <a:ext cx="898800" cy="445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1371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STMicro LSM303AGR</a:t>
            </a:r>
            <a:endParaRPr/>
          </a:p>
        </p:txBody>
      </p:sp>
      <p:sp>
        <p:nvSpPr>
          <p:cNvPr id="123" name="Google Shape;123;p21"/>
          <p:cNvSpPr txBox="1"/>
          <p:nvPr>
            <p:ph idx="1" type="body"/>
          </p:nvPr>
        </p:nvSpPr>
        <p:spPr>
          <a:xfrm>
            <a:off x="5058450" y="137125"/>
            <a:ext cx="3962700" cy="455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Important accelerometer specifications</a:t>
            </a:r>
            <a:endParaRPr sz="1600"/>
          </a:p>
        </p:txBody>
      </p:sp>
      <p:sp>
        <p:nvSpPr>
          <p:cNvPr id="124" name="Google Shape;12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 name="Google Shape;125;p21"/>
          <p:cNvPicPr preferRelativeResize="0"/>
          <p:nvPr/>
        </p:nvPicPr>
        <p:blipFill>
          <a:blip r:embed="rId3">
            <a:alphaModFix/>
          </a:blip>
          <a:stretch>
            <a:fillRect/>
          </a:stretch>
        </p:blipFill>
        <p:spPr>
          <a:xfrm>
            <a:off x="374050" y="6008769"/>
            <a:ext cx="7790900" cy="438306"/>
          </a:xfrm>
          <a:prstGeom prst="rect">
            <a:avLst/>
          </a:prstGeom>
          <a:noFill/>
          <a:ln>
            <a:noFill/>
          </a:ln>
        </p:spPr>
      </p:pic>
      <p:pic>
        <p:nvPicPr>
          <p:cNvPr id="126" name="Google Shape;126;p21"/>
          <p:cNvPicPr preferRelativeResize="0"/>
          <p:nvPr/>
        </p:nvPicPr>
        <p:blipFill>
          <a:blip r:embed="rId4">
            <a:alphaModFix/>
          </a:blip>
          <a:stretch>
            <a:fillRect/>
          </a:stretch>
        </p:blipFill>
        <p:spPr>
          <a:xfrm>
            <a:off x="276600" y="2722812"/>
            <a:ext cx="7790900" cy="3002413"/>
          </a:xfrm>
          <a:prstGeom prst="rect">
            <a:avLst/>
          </a:prstGeom>
          <a:noFill/>
          <a:ln>
            <a:noFill/>
          </a:ln>
        </p:spPr>
      </p:pic>
      <p:pic>
        <p:nvPicPr>
          <p:cNvPr id="127" name="Google Shape;127;p21"/>
          <p:cNvPicPr preferRelativeResize="0"/>
          <p:nvPr/>
        </p:nvPicPr>
        <p:blipFill>
          <a:blip r:embed="rId5">
            <a:alphaModFix/>
          </a:blip>
          <a:stretch>
            <a:fillRect/>
          </a:stretch>
        </p:blipFill>
        <p:spPr>
          <a:xfrm>
            <a:off x="276600" y="828477"/>
            <a:ext cx="7790900" cy="1610777"/>
          </a:xfrm>
          <a:prstGeom prst="rect">
            <a:avLst/>
          </a:prstGeom>
          <a:noFill/>
          <a:ln>
            <a:noFill/>
          </a:ln>
        </p:spPr>
      </p:pic>
      <p:sp>
        <p:nvSpPr>
          <p:cNvPr id="128" name="Google Shape;128;p21"/>
          <p:cNvSpPr txBox="1"/>
          <p:nvPr/>
        </p:nvSpPr>
        <p:spPr>
          <a:xfrm>
            <a:off x="8067500" y="3581125"/>
            <a:ext cx="1034700" cy="52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rgbClr val="0000FF"/>
                </a:solidFill>
              </a:rPr>
              <a:t>Full range</a:t>
            </a:r>
            <a:endParaRPr u="sng">
              <a:solidFill>
                <a:srgbClr val="0000FF"/>
              </a:solidFill>
            </a:endParaRPr>
          </a:p>
          <a:p>
            <a:pPr indent="0" lvl="0" marL="0" rtl="0" algn="ctr">
              <a:spcBef>
                <a:spcPts val="0"/>
              </a:spcBef>
              <a:spcAft>
                <a:spcPts val="0"/>
              </a:spcAft>
              <a:buNone/>
            </a:pPr>
            <a:r>
              <a:rPr lang="en">
                <a:solidFill>
                  <a:srgbClr val="0000FF"/>
                </a:solidFill>
              </a:rPr>
              <a:t>2</a:t>
            </a:r>
            <a:r>
              <a:rPr baseline="30000" lang="en">
                <a:solidFill>
                  <a:srgbClr val="0000FF"/>
                </a:solidFill>
              </a:rPr>
              <a:t>#bits</a:t>
            </a:r>
            <a:endParaRPr baseline="30000">
              <a:solidFill>
                <a:srgbClr val="0000FF"/>
              </a:solidFill>
            </a:endParaRPr>
          </a:p>
        </p:txBody>
      </p:sp>
      <p:sp>
        <p:nvSpPr>
          <p:cNvPr id="129" name="Google Shape;129;p21"/>
          <p:cNvSpPr/>
          <p:nvPr/>
        </p:nvSpPr>
        <p:spPr>
          <a:xfrm>
            <a:off x="6189200" y="1390450"/>
            <a:ext cx="548700" cy="289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p:nvPr/>
        </p:nvSpPr>
        <p:spPr>
          <a:xfrm>
            <a:off x="3017800" y="3699600"/>
            <a:ext cx="2672400" cy="289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1"/>
          <p:cNvSpPr/>
          <p:nvPr/>
        </p:nvSpPr>
        <p:spPr>
          <a:xfrm>
            <a:off x="6189200" y="3699613"/>
            <a:ext cx="548700" cy="289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1"/>
          <p:cNvSpPr txBox="1"/>
          <p:nvPr/>
        </p:nvSpPr>
        <p:spPr>
          <a:xfrm>
            <a:off x="2089450" y="2933225"/>
            <a:ext cx="79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12-bit</a:t>
            </a:r>
            <a:endParaRPr sz="1800">
              <a:solidFill>
                <a:srgbClr val="FF0000"/>
              </a:solidFill>
            </a:endParaRPr>
          </a:p>
        </p:txBody>
      </p:sp>
      <p:cxnSp>
        <p:nvCxnSpPr>
          <p:cNvPr id="133" name="Google Shape;133;p21"/>
          <p:cNvCxnSpPr/>
          <p:nvPr/>
        </p:nvCxnSpPr>
        <p:spPr>
          <a:xfrm flipH="1">
            <a:off x="2934850" y="2722800"/>
            <a:ext cx="7200" cy="969600"/>
          </a:xfrm>
          <a:prstGeom prst="straightConnector1">
            <a:avLst/>
          </a:prstGeom>
          <a:noFill/>
          <a:ln cap="flat" cmpd="sng" w="28575">
            <a:solidFill>
              <a:srgbClr val="FF0000"/>
            </a:solidFill>
            <a:prstDash val="solid"/>
            <a:round/>
            <a:headEnd len="med" w="med" type="none"/>
            <a:tailEnd len="med" w="med" type="none"/>
          </a:ln>
        </p:spPr>
      </p:cxnSp>
      <p:cxnSp>
        <p:nvCxnSpPr>
          <p:cNvPr id="134" name="Google Shape;134;p21"/>
          <p:cNvCxnSpPr/>
          <p:nvPr/>
        </p:nvCxnSpPr>
        <p:spPr>
          <a:xfrm>
            <a:off x="4184200" y="2897700"/>
            <a:ext cx="971100" cy="3000"/>
          </a:xfrm>
          <a:prstGeom prst="straightConnector1">
            <a:avLst/>
          </a:prstGeom>
          <a:noFill/>
          <a:ln cap="flat" cmpd="sng" w="28575">
            <a:solidFill>
              <a:srgbClr val="FF0000"/>
            </a:solidFill>
            <a:prstDash val="solid"/>
            <a:round/>
            <a:headEnd len="med" w="med" type="none"/>
            <a:tailEnd len="med" w="med" type="none"/>
          </a:ln>
        </p:spPr>
      </p:cxnSp>
      <p:sp>
        <p:nvSpPr>
          <p:cNvPr id="135" name="Google Shape;135;p21"/>
          <p:cNvSpPr txBox="1"/>
          <p:nvPr/>
        </p:nvSpPr>
        <p:spPr>
          <a:xfrm>
            <a:off x="2102675" y="4107925"/>
            <a:ext cx="79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900FF"/>
                </a:solidFill>
              </a:rPr>
              <a:t>10-bit</a:t>
            </a:r>
            <a:endParaRPr sz="1800">
              <a:solidFill>
                <a:srgbClr val="9900FF"/>
              </a:solidFill>
            </a:endParaRPr>
          </a:p>
        </p:txBody>
      </p:sp>
      <p:cxnSp>
        <p:nvCxnSpPr>
          <p:cNvPr id="136" name="Google Shape;136;p21"/>
          <p:cNvCxnSpPr/>
          <p:nvPr/>
        </p:nvCxnSpPr>
        <p:spPr>
          <a:xfrm flipH="1">
            <a:off x="2934850" y="3725850"/>
            <a:ext cx="7200" cy="944700"/>
          </a:xfrm>
          <a:prstGeom prst="straightConnector1">
            <a:avLst/>
          </a:prstGeom>
          <a:noFill/>
          <a:ln cap="flat" cmpd="sng" w="28575">
            <a:solidFill>
              <a:srgbClr val="9900FF"/>
            </a:solidFill>
            <a:prstDash val="solid"/>
            <a:round/>
            <a:headEnd len="med" w="med" type="none"/>
            <a:tailEnd len="med" w="med" type="none"/>
          </a:ln>
        </p:spPr>
      </p:cxnSp>
      <p:cxnSp>
        <p:nvCxnSpPr>
          <p:cNvPr id="137" name="Google Shape;137;p21"/>
          <p:cNvCxnSpPr/>
          <p:nvPr/>
        </p:nvCxnSpPr>
        <p:spPr>
          <a:xfrm>
            <a:off x="4184200" y="3894350"/>
            <a:ext cx="463800" cy="2400"/>
          </a:xfrm>
          <a:prstGeom prst="straightConnector1">
            <a:avLst/>
          </a:prstGeom>
          <a:noFill/>
          <a:ln cap="flat" cmpd="sng" w="28575">
            <a:solidFill>
              <a:srgbClr val="9900FF"/>
            </a:solidFill>
            <a:prstDash val="solid"/>
            <a:round/>
            <a:headEnd len="med" w="med" type="none"/>
            <a:tailEnd len="med" w="med" type="none"/>
          </a:ln>
        </p:spPr>
      </p:cxnSp>
      <p:sp>
        <p:nvSpPr>
          <p:cNvPr id="138" name="Google Shape;138;p21"/>
          <p:cNvSpPr txBox="1"/>
          <p:nvPr/>
        </p:nvSpPr>
        <p:spPr>
          <a:xfrm>
            <a:off x="2089450" y="4914425"/>
            <a:ext cx="79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74E13"/>
                </a:solidFill>
              </a:rPr>
              <a:t>8</a:t>
            </a:r>
            <a:r>
              <a:rPr lang="en" sz="1800">
                <a:solidFill>
                  <a:srgbClr val="274E13"/>
                </a:solidFill>
              </a:rPr>
              <a:t>-bit</a:t>
            </a:r>
            <a:endParaRPr sz="1800">
              <a:solidFill>
                <a:srgbClr val="274E13"/>
              </a:solidFill>
            </a:endParaRPr>
          </a:p>
        </p:txBody>
      </p:sp>
      <p:cxnSp>
        <p:nvCxnSpPr>
          <p:cNvPr id="139" name="Google Shape;139;p21"/>
          <p:cNvCxnSpPr/>
          <p:nvPr/>
        </p:nvCxnSpPr>
        <p:spPr>
          <a:xfrm flipH="1">
            <a:off x="2934850" y="4704000"/>
            <a:ext cx="7200" cy="969600"/>
          </a:xfrm>
          <a:prstGeom prst="straightConnector1">
            <a:avLst/>
          </a:prstGeom>
          <a:noFill/>
          <a:ln cap="flat" cmpd="sng" w="28575">
            <a:solidFill>
              <a:srgbClr val="274E13"/>
            </a:solidFill>
            <a:prstDash val="solid"/>
            <a:round/>
            <a:headEnd len="med" w="med" type="none"/>
            <a:tailEnd len="med" w="med" type="none"/>
          </a:ln>
        </p:spPr>
      </p:cxnSp>
      <p:cxnSp>
        <p:nvCxnSpPr>
          <p:cNvPr id="140" name="Google Shape;140;p21"/>
          <p:cNvCxnSpPr/>
          <p:nvPr/>
        </p:nvCxnSpPr>
        <p:spPr>
          <a:xfrm>
            <a:off x="4184200" y="4890400"/>
            <a:ext cx="674100" cy="1200"/>
          </a:xfrm>
          <a:prstGeom prst="straightConnector1">
            <a:avLst/>
          </a:prstGeom>
          <a:noFill/>
          <a:ln cap="flat" cmpd="sng" w="28575">
            <a:solidFill>
              <a:srgbClr val="274E13"/>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2"/>
          <p:cNvPicPr preferRelativeResize="0"/>
          <p:nvPr/>
        </p:nvPicPr>
        <p:blipFill rotWithShape="1">
          <a:blip r:embed="rId3">
            <a:alphaModFix/>
          </a:blip>
          <a:srcRect b="18087" l="0" r="29133" t="0"/>
          <a:stretch/>
        </p:blipFill>
        <p:spPr>
          <a:xfrm>
            <a:off x="74675" y="1219725"/>
            <a:ext cx="8994652" cy="5522599"/>
          </a:xfrm>
          <a:prstGeom prst="rect">
            <a:avLst/>
          </a:prstGeom>
          <a:noFill/>
          <a:ln>
            <a:noFill/>
          </a:ln>
        </p:spPr>
      </p:pic>
      <p:sp>
        <p:nvSpPr>
          <p:cNvPr id="146" name="Google Shape;146;p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Breakout board schematic (partial)</a:t>
            </a:r>
            <a:endParaRPr/>
          </a:p>
        </p:txBody>
      </p:sp>
      <p:sp>
        <p:nvSpPr>
          <p:cNvPr id="147" name="Google Shape;147;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 name="Google Shape;148;p22"/>
          <p:cNvSpPr txBox="1"/>
          <p:nvPr/>
        </p:nvSpPr>
        <p:spPr>
          <a:xfrm>
            <a:off x="6509175" y="1873450"/>
            <a:ext cx="11835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I</a:t>
            </a:r>
            <a:r>
              <a:rPr baseline="30000" lang="en">
                <a:solidFill>
                  <a:srgbClr val="0000FF"/>
                </a:solidFill>
              </a:rPr>
              <a:t>2</a:t>
            </a:r>
            <a:r>
              <a:rPr lang="en">
                <a:solidFill>
                  <a:srgbClr val="0000FF"/>
                </a:solidFill>
              </a:rPr>
              <a:t>C pullups</a:t>
            </a:r>
            <a:endParaRPr>
              <a:solidFill>
                <a:srgbClr val="0000FF"/>
              </a:solidFill>
            </a:endParaRPr>
          </a:p>
        </p:txBody>
      </p:sp>
      <p:sp>
        <p:nvSpPr>
          <p:cNvPr id="149" name="Google Shape;149;p22"/>
          <p:cNvSpPr txBox="1"/>
          <p:nvPr/>
        </p:nvSpPr>
        <p:spPr>
          <a:xfrm>
            <a:off x="1736525" y="5571550"/>
            <a:ext cx="11835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6-pin header</a:t>
            </a:r>
            <a:endParaRPr>
              <a:solidFill>
                <a:srgbClr val="0000FF"/>
              </a:solidFill>
            </a:endParaRPr>
          </a:p>
        </p:txBody>
      </p:sp>
      <p:sp>
        <p:nvSpPr>
          <p:cNvPr id="150" name="Google Shape;150;p22"/>
          <p:cNvSpPr txBox="1"/>
          <p:nvPr/>
        </p:nvSpPr>
        <p:spPr>
          <a:xfrm>
            <a:off x="856125" y="2501450"/>
            <a:ext cx="995400" cy="5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5V-3.3V regulator</a:t>
            </a:r>
            <a:endParaRPr>
              <a:solidFill>
                <a:srgbClr val="0000FF"/>
              </a:solidFill>
            </a:endParaRPr>
          </a:p>
        </p:txBody>
      </p:sp>
      <p:sp>
        <p:nvSpPr>
          <p:cNvPr id="151" name="Google Shape;151;p22"/>
          <p:cNvSpPr txBox="1"/>
          <p:nvPr/>
        </p:nvSpPr>
        <p:spPr>
          <a:xfrm>
            <a:off x="6216225" y="3702375"/>
            <a:ext cx="23100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Pullups set device for I</a:t>
            </a:r>
            <a:r>
              <a:rPr baseline="30000" lang="en">
                <a:solidFill>
                  <a:srgbClr val="0000FF"/>
                </a:solidFill>
              </a:rPr>
              <a:t>2</a:t>
            </a:r>
            <a:r>
              <a:rPr lang="en">
                <a:solidFill>
                  <a:srgbClr val="0000FF"/>
                </a:solidFill>
              </a:rPr>
              <a:t>C</a:t>
            </a:r>
            <a:endParaRPr>
              <a:solidFill>
                <a:srgbClr val="0000FF"/>
              </a:solidFill>
            </a:endParaRPr>
          </a:p>
        </p:txBody>
      </p:sp>
      <p:cxnSp>
        <p:nvCxnSpPr>
          <p:cNvPr id="152" name="Google Shape;152;p22"/>
          <p:cNvCxnSpPr/>
          <p:nvPr/>
        </p:nvCxnSpPr>
        <p:spPr>
          <a:xfrm flipH="1" rot="10800000">
            <a:off x="1716825" y="2453875"/>
            <a:ext cx="69000" cy="332700"/>
          </a:xfrm>
          <a:prstGeom prst="straightConnector1">
            <a:avLst/>
          </a:prstGeom>
          <a:noFill/>
          <a:ln cap="flat" cmpd="sng" w="28575">
            <a:solidFill>
              <a:srgbClr val="0000FF"/>
            </a:solidFill>
            <a:prstDash val="solid"/>
            <a:round/>
            <a:headEnd len="med" w="med" type="none"/>
            <a:tailEnd len="med" w="med" type="triangle"/>
          </a:ln>
        </p:spPr>
      </p:cxnSp>
      <p:cxnSp>
        <p:nvCxnSpPr>
          <p:cNvPr id="153" name="Google Shape;153;p22"/>
          <p:cNvCxnSpPr/>
          <p:nvPr/>
        </p:nvCxnSpPr>
        <p:spPr>
          <a:xfrm rot="10800000">
            <a:off x="1372725" y="5262100"/>
            <a:ext cx="583500" cy="4245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you interact with the device?</a:t>
            </a:r>
            <a:endParaRPr/>
          </a:p>
        </p:txBody>
      </p:sp>
      <p:sp>
        <p:nvSpPr>
          <p:cNvPr id="159" name="Google Shape;159;p2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sz="1600"/>
              <a:t>2</a:t>
            </a:r>
            <a:r>
              <a:rPr lang="en" sz="1600"/>
              <a:t>C or SPI interface (breakout is wired for I</a:t>
            </a:r>
            <a:r>
              <a:rPr baseline="30000" lang="en" sz="1600"/>
              <a:t>2</a:t>
            </a:r>
            <a:r>
              <a:rPr lang="en" sz="1600"/>
              <a:t>C by default)</a:t>
            </a:r>
            <a:endParaRPr sz="1600"/>
          </a:p>
          <a:p>
            <a:pPr indent="-330200" lvl="0" marL="457200" rtl="0" algn="l">
              <a:spcBef>
                <a:spcPts val="1000"/>
              </a:spcBef>
              <a:spcAft>
                <a:spcPts val="0"/>
              </a:spcAft>
              <a:buSzPts val="1600"/>
              <a:buChar char="●"/>
            </a:pPr>
            <a:r>
              <a:rPr lang="en" sz="1600"/>
              <a:t>Control and data registers</a:t>
            </a:r>
            <a:endParaRPr sz="1600"/>
          </a:p>
          <a:p>
            <a:pPr indent="0" lvl="0" marL="0" rtl="0" algn="l">
              <a:spcBef>
                <a:spcPts val="1000"/>
              </a:spcBef>
              <a:spcAft>
                <a:spcPts val="0"/>
              </a:spcAft>
              <a:buNone/>
            </a:pPr>
            <a:r>
              <a:t/>
            </a:r>
            <a:endParaRPr sz="1600"/>
          </a:p>
          <a:p>
            <a:pPr indent="0" lvl="0" marL="0" rtl="0" algn="l">
              <a:spcBef>
                <a:spcPts val="1000"/>
              </a:spcBef>
              <a:spcAft>
                <a:spcPts val="0"/>
              </a:spcAft>
              <a:buNone/>
            </a:pPr>
            <a:r>
              <a:rPr lang="en" sz="1600"/>
              <a:t>Hardware interrupt pins (we’re not using)</a:t>
            </a:r>
            <a:endParaRPr sz="1600"/>
          </a:p>
          <a:p>
            <a:pPr indent="-330200" lvl="0" marL="457200" rtl="0" algn="l">
              <a:spcBef>
                <a:spcPts val="1000"/>
              </a:spcBef>
              <a:spcAft>
                <a:spcPts val="0"/>
              </a:spcAft>
              <a:buSzPts val="1600"/>
              <a:buChar char="●"/>
            </a:pPr>
            <a:r>
              <a:rPr lang="en" sz="1600"/>
              <a:t>INT_MAG (magnetometer)</a:t>
            </a:r>
            <a:endParaRPr sz="1600"/>
          </a:p>
          <a:p>
            <a:pPr indent="-330200" lvl="0" marL="457200" rtl="0" algn="l">
              <a:spcBef>
                <a:spcPts val="1000"/>
              </a:spcBef>
              <a:spcAft>
                <a:spcPts val="1000"/>
              </a:spcAft>
              <a:buSzPts val="1600"/>
              <a:buChar char="●"/>
            </a:pPr>
            <a:r>
              <a:rPr lang="en" sz="1600"/>
              <a:t>INT_1_XL and INT_2_XL (accelerometer)</a:t>
            </a:r>
            <a:endParaRPr sz="1600"/>
          </a:p>
        </p:txBody>
      </p:sp>
      <p:sp>
        <p:nvSpPr>
          <p:cNvPr id="160" name="Google Shape;160;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Settings for basic accelerometer operation</a:t>
            </a:r>
            <a:endParaRPr/>
          </a:p>
        </p:txBody>
      </p:sp>
      <p:sp>
        <p:nvSpPr>
          <p:cNvPr id="166" name="Google Shape;166;p2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Control registers:</a:t>
            </a:r>
            <a:endParaRPr sz="1600"/>
          </a:p>
          <a:p>
            <a:pPr indent="-330200" lvl="0" marL="457200" rtl="0" algn="l">
              <a:spcBef>
                <a:spcPts val="1000"/>
              </a:spcBef>
              <a:spcAft>
                <a:spcPts val="0"/>
              </a:spcAft>
              <a:buSzPts val="1600"/>
              <a:buAutoNum type="arabicPeriod"/>
            </a:pPr>
            <a:r>
              <a:rPr lang="en" sz="1600"/>
              <a:t>Data rate, power mode, axis selection</a:t>
            </a:r>
            <a:endParaRPr sz="1600"/>
          </a:p>
          <a:p>
            <a:pPr indent="-330200" lvl="0" marL="457200" rtl="0" algn="l">
              <a:spcBef>
                <a:spcPts val="1000"/>
              </a:spcBef>
              <a:spcAft>
                <a:spcPts val="0"/>
              </a:spcAft>
              <a:buSzPts val="1600"/>
              <a:buAutoNum type="arabicPeriod"/>
            </a:pPr>
            <a:r>
              <a:rPr lang="en" sz="1600"/>
              <a:t>Analog filter selection (accept defaults)</a:t>
            </a:r>
            <a:endParaRPr sz="1600"/>
          </a:p>
          <a:p>
            <a:pPr indent="-330200" lvl="0" marL="457200" rtl="0" algn="l">
              <a:spcBef>
                <a:spcPts val="1000"/>
              </a:spcBef>
              <a:spcAft>
                <a:spcPts val="0"/>
              </a:spcAft>
              <a:buSzPts val="1600"/>
              <a:buAutoNum type="arabicPeriod"/>
            </a:pPr>
            <a:r>
              <a:rPr lang="en" sz="1600"/>
              <a:t>Interrupt selection (none used, off by default)</a:t>
            </a:r>
            <a:endParaRPr sz="1600"/>
          </a:p>
          <a:p>
            <a:pPr indent="-330200" lvl="0" marL="457200" rtl="0" algn="l">
              <a:spcBef>
                <a:spcPts val="1000"/>
              </a:spcBef>
              <a:spcAft>
                <a:spcPts val="0"/>
              </a:spcAft>
              <a:buSzPts val="1600"/>
              <a:buAutoNum type="arabicPeriod"/>
            </a:pPr>
            <a:r>
              <a:rPr lang="en" sz="1600"/>
              <a:t>Full-scale range selection (±2g, ±4g, ±8g, ±16g)</a:t>
            </a:r>
            <a:endParaRPr sz="1600"/>
          </a:p>
          <a:p>
            <a:pPr indent="-330200" lvl="0" marL="457200" rtl="0" algn="l">
              <a:spcBef>
                <a:spcPts val="1000"/>
              </a:spcBef>
              <a:spcAft>
                <a:spcPts val="0"/>
              </a:spcAft>
              <a:buSzPts val="1600"/>
              <a:buAutoNum type="arabicPeriod"/>
            </a:pPr>
            <a:r>
              <a:rPr lang="en" sz="1600"/>
              <a:t>More interrupts (none used, off by default)</a:t>
            </a:r>
            <a:endParaRPr sz="1600"/>
          </a:p>
          <a:p>
            <a:pPr indent="-330200" lvl="0" marL="457200" rtl="0" algn="l">
              <a:spcBef>
                <a:spcPts val="1000"/>
              </a:spcBef>
              <a:spcAft>
                <a:spcPts val="0"/>
              </a:spcAft>
              <a:buSzPts val="1600"/>
              <a:buAutoNum type="arabicPeriod"/>
            </a:pPr>
            <a:r>
              <a:rPr lang="en" sz="1600"/>
              <a:t>Yet more interrupts (none used, off by default)</a:t>
            </a:r>
            <a:endParaRPr sz="1600"/>
          </a:p>
          <a:p>
            <a:pPr indent="0" lvl="0" marL="0" rtl="0" algn="l">
              <a:spcBef>
                <a:spcPts val="1000"/>
              </a:spcBef>
              <a:spcAft>
                <a:spcPts val="0"/>
              </a:spcAft>
              <a:buNone/>
            </a:pPr>
            <a:r>
              <a:t/>
            </a:r>
            <a:endParaRPr sz="1600"/>
          </a:p>
          <a:p>
            <a:pPr indent="0" lvl="0" marL="0" rtl="0" algn="l">
              <a:spcBef>
                <a:spcPts val="1000"/>
              </a:spcBef>
              <a:spcAft>
                <a:spcPts val="1000"/>
              </a:spcAft>
              <a:buNone/>
            </a:pPr>
            <a:r>
              <a:rPr lang="en" sz="1600">
                <a:solidFill>
                  <a:srgbClr val="0000FF"/>
                </a:solidFill>
              </a:rPr>
              <a:t>For Thursday: </a:t>
            </a:r>
            <a:r>
              <a:rPr lang="en" sz="1600">
                <a:solidFill>
                  <a:srgbClr val="0000FF"/>
                </a:solidFill>
              </a:rPr>
              <a:t>Think about</a:t>
            </a:r>
            <a:r>
              <a:rPr lang="en" sz="1600">
                <a:solidFill>
                  <a:srgbClr val="0000FF"/>
                </a:solidFill>
              </a:rPr>
              <a:t> setups for Control Registers 1 and 4.</a:t>
            </a:r>
            <a:endParaRPr sz="1600">
              <a:solidFill>
                <a:srgbClr val="0000FF"/>
              </a:solidFill>
            </a:endParaRPr>
          </a:p>
        </p:txBody>
      </p:sp>
      <p:sp>
        <p:nvSpPr>
          <p:cNvPr id="167" name="Google Shape;16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header file, lsm303agr.h</a:t>
            </a:r>
            <a:endParaRPr/>
          </a:p>
        </p:txBody>
      </p:sp>
      <p:sp>
        <p:nvSpPr>
          <p:cNvPr id="173" name="Google Shape;173;p25"/>
          <p:cNvSpPr txBox="1"/>
          <p:nvPr>
            <p:ph idx="1" type="body"/>
          </p:nvPr>
        </p:nvSpPr>
        <p:spPr>
          <a:xfrm>
            <a:off x="311700" y="1308024"/>
            <a:ext cx="8520600" cy="509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Includes macros and addresses for all the registers, e.g.,</a:t>
            </a:r>
            <a:endParaRPr/>
          </a:p>
          <a:p>
            <a:pPr indent="0" lvl="0" marL="0" rtl="0" algn="l">
              <a:lnSpc>
                <a:spcPct val="115000"/>
              </a:lnSpc>
              <a:spcBef>
                <a:spcPts val="1600"/>
              </a:spcBef>
              <a:spcAft>
                <a:spcPts val="0"/>
              </a:spcAft>
              <a:buNone/>
            </a:pPr>
            <a:r>
              <a:rPr lang="en" sz="1200">
                <a:latin typeface="Courier New"/>
                <a:ea typeface="Courier New"/>
                <a:cs typeface="Courier New"/>
                <a:sym typeface="Courier New"/>
              </a:rPr>
              <a:t>#define LSM303_ADDRESS_ACCEL    (0x32 &gt;&gt; 1) 				// append r/w bit</a:t>
            </a:r>
            <a:endParaRPr sz="1200">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NAME					ADDR		   		        DEFAULT    TYPE</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LSM303_WHO_AM_I_A   		0x0F      			// 00110011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LSM303_CTRL_REG1_A     	0x20   				// 00000111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LSM303_CTRL_REG2_A     	0x21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LSM303_CTRL_REG3_A     	0x22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LSM303_CTRL_REG4_A     	0x23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LSM303_CTRL_REG5_A     	0x24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LSM303_CTRL_REG6_A     	0x25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LSM303_REFERENCE_A     	0x26   				// 00000000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LSM303_STATUS_REG_A    	0x27   				// 00000000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LSM303_OUT_X_L_A       	0x28</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LSM303_OUT_X_H_A       	0x29</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LSM303_OUT_Y_L_A       	0x2A</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LSM303_OUT_Y_H_A       	0x2B</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LSM303_OUT_Z_L_A       	0x2C</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LSM303_OUT_Z_H_A       	0x2D</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1600"/>
              </a:spcBef>
              <a:spcAft>
                <a:spcPts val="1600"/>
              </a:spcAft>
              <a:buNone/>
            </a:pPr>
            <a:r>
              <a:t/>
            </a:r>
            <a:endParaRPr/>
          </a:p>
        </p:txBody>
      </p:sp>
      <p:sp>
        <p:nvSpPr>
          <p:cNvPr id="174" name="Google Shape;174;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driver function prototypes</a:t>
            </a:r>
            <a:endParaRPr/>
          </a:p>
        </p:txBody>
      </p:sp>
      <p:sp>
        <p:nvSpPr>
          <p:cNvPr id="180" name="Google Shape;180;p2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Names are borrowed from Adafruit’s driver for the Arduino</a:t>
            </a:r>
            <a:endParaRPr sz="16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accelerometer has several gain and update rate settings.  These are described</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in Section 7.1 of the datasheet and are set up in the AccelInit function.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int lsm303_AccelInit();</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AccelRegisterWrite function should take a register address and a command byte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to be written into the register.</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void lsm303_AccelRegisterWrite(uint8_t RegisterAddress, uint8_t data);</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AccelRegisterRead function should take a register address and return a data byte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read from the register.</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uint8_t lsm303_AccelRegisterRead(uint8_t RegisterAddress);</a:t>
            </a:r>
            <a:endParaRPr b="1"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Here is the higher-level function to read the acceleration vector.  Output struct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contains raw (unscaled) acceleration values.</a:t>
            </a:r>
            <a:endParaRPr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void lsm303_AccelReadRaw(lsm303AccelData_s * const result);</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en" sz="1600"/>
              <a:t>These functions use i2c.c and lsm303agr.h.</a:t>
            </a:r>
            <a:endParaRPr sz="1600"/>
          </a:p>
        </p:txBody>
      </p:sp>
      <p:sp>
        <p:nvSpPr>
          <p:cNvPr id="181" name="Google Shape;181;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Getting data out of the accelerometer</a:t>
            </a:r>
            <a:endParaRPr/>
          </a:p>
        </p:txBody>
      </p:sp>
      <p:sp>
        <p:nvSpPr>
          <p:cNvPr id="187" name="Google Shape;187;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idx="1" type="body"/>
          </p:nvPr>
        </p:nvSpPr>
        <p:spPr>
          <a:xfrm>
            <a:off x="311700" y="1018225"/>
            <a:ext cx="8400300" cy="53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output of the accelerometer is a 16-bit, left-justified 2s complement number.</a:t>
            </a:r>
            <a:br>
              <a:rPr lang="en"/>
            </a:br>
            <a:r>
              <a:rPr lang="en"/>
              <a:t>Assuming a full-range of 4g (±2g):</a:t>
            </a:r>
            <a:endParaRPr/>
          </a:p>
          <a:p>
            <a:pPr indent="-342900" lvl="0" marL="457200" rtl="0" algn="l">
              <a:spcBef>
                <a:spcPts val="1600"/>
              </a:spcBef>
              <a:spcAft>
                <a:spcPts val="0"/>
              </a:spcAft>
              <a:buSzPts val="1800"/>
              <a:buChar char="●"/>
            </a:pPr>
            <a:r>
              <a:rPr lang="en"/>
              <a:t>Low-power (8-bits), </a:t>
            </a:r>
            <a:r>
              <a:rPr lang="en">
                <a:solidFill>
                  <a:schemeClr val="dk1"/>
                </a:solidFill>
              </a:rPr>
              <a:t>resolution = 4g/2</a:t>
            </a:r>
            <a:r>
              <a:rPr baseline="30000" lang="en">
                <a:solidFill>
                  <a:srgbClr val="0000FF"/>
                </a:solidFill>
              </a:rPr>
              <a:t>8</a:t>
            </a:r>
            <a:endParaRPr baseline="30000">
              <a:solidFill>
                <a:srgbClr val="0000FF"/>
              </a:solidFil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342900" lvl="0" marL="457200" rtl="0" algn="l">
              <a:spcBef>
                <a:spcPts val="1600"/>
              </a:spcBef>
              <a:spcAft>
                <a:spcPts val="0"/>
              </a:spcAft>
              <a:buSzPts val="1800"/>
              <a:buChar char="●"/>
            </a:pPr>
            <a:r>
              <a:rPr lang="en"/>
              <a:t>Normal mode (10 bits)</a:t>
            </a:r>
            <a:r>
              <a:rPr lang="en"/>
              <a:t>, resolution = 4g/2</a:t>
            </a:r>
            <a:r>
              <a:rPr baseline="30000" lang="en">
                <a:solidFill>
                  <a:srgbClr val="9900FF"/>
                </a:solidFill>
              </a:rPr>
              <a:t>10</a:t>
            </a:r>
            <a:endParaRPr>
              <a:solidFill>
                <a:srgbClr val="9900FF"/>
              </a:solidFil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342900" lvl="0" marL="457200" rtl="0" algn="l">
              <a:spcBef>
                <a:spcPts val="1600"/>
              </a:spcBef>
              <a:spcAft>
                <a:spcPts val="0"/>
              </a:spcAft>
              <a:buSzPts val="1800"/>
              <a:buChar char="●"/>
            </a:pPr>
            <a:r>
              <a:rPr lang="en"/>
              <a:t>High-resolution (12 bits)</a:t>
            </a:r>
            <a:r>
              <a:rPr lang="en"/>
              <a:t>, resolution = 4g/2</a:t>
            </a:r>
            <a:r>
              <a:rPr baseline="30000" lang="en">
                <a:solidFill>
                  <a:srgbClr val="38761D"/>
                </a:solidFill>
              </a:rPr>
              <a:t>12</a:t>
            </a:r>
            <a:endParaRPr>
              <a:solidFill>
                <a:srgbClr val="38761D"/>
              </a:solidFill>
            </a:endParaRPr>
          </a:p>
        </p:txBody>
      </p:sp>
      <p:sp>
        <p:nvSpPr>
          <p:cNvPr id="193" name="Google Shape;193;p28"/>
          <p:cNvSpPr txBox="1"/>
          <p:nvPr>
            <p:ph type="title"/>
          </p:nvPr>
        </p:nvSpPr>
        <p:spPr>
          <a:xfrm>
            <a:off x="311700" y="3667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Accelerometer data format</a:t>
            </a:r>
            <a:endParaRPr/>
          </a:p>
        </p:txBody>
      </p:sp>
      <p:sp>
        <p:nvSpPr>
          <p:cNvPr id="194" name="Google Shape;194;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95" name="Google Shape;195;p28"/>
          <p:cNvGrpSpPr/>
          <p:nvPr/>
        </p:nvGrpSpPr>
        <p:grpSpPr>
          <a:xfrm>
            <a:off x="213900" y="2642875"/>
            <a:ext cx="5894400" cy="368400"/>
            <a:chOff x="3394250" y="2721250"/>
            <a:chExt cx="5894400" cy="368400"/>
          </a:xfrm>
        </p:grpSpPr>
        <p:sp>
          <p:nvSpPr>
            <p:cNvPr id="196" name="Google Shape;196;p28"/>
            <p:cNvSpPr/>
            <p:nvPr/>
          </p:nvSpPr>
          <p:spPr>
            <a:xfrm>
              <a:off x="3394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8"/>
            <p:cNvSpPr/>
            <p:nvPr/>
          </p:nvSpPr>
          <p:spPr>
            <a:xfrm>
              <a:off x="3762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8"/>
            <p:cNvSpPr/>
            <p:nvPr/>
          </p:nvSpPr>
          <p:spPr>
            <a:xfrm>
              <a:off x="4131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8"/>
            <p:cNvSpPr/>
            <p:nvPr/>
          </p:nvSpPr>
          <p:spPr>
            <a:xfrm>
              <a:off x="4499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8"/>
            <p:cNvSpPr/>
            <p:nvPr/>
          </p:nvSpPr>
          <p:spPr>
            <a:xfrm>
              <a:off x="4867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8"/>
            <p:cNvSpPr/>
            <p:nvPr/>
          </p:nvSpPr>
          <p:spPr>
            <a:xfrm>
              <a:off x="5236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8"/>
            <p:cNvSpPr/>
            <p:nvPr/>
          </p:nvSpPr>
          <p:spPr>
            <a:xfrm>
              <a:off x="5604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8"/>
            <p:cNvSpPr/>
            <p:nvPr/>
          </p:nvSpPr>
          <p:spPr>
            <a:xfrm>
              <a:off x="5973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8"/>
            <p:cNvSpPr/>
            <p:nvPr/>
          </p:nvSpPr>
          <p:spPr>
            <a:xfrm>
              <a:off x="6341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8"/>
            <p:cNvSpPr/>
            <p:nvPr/>
          </p:nvSpPr>
          <p:spPr>
            <a:xfrm>
              <a:off x="6709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p:nvPr/>
          </p:nvSpPr>
          <p:spPr>
            <a:xfrm>
              <a:off x="7078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8"/>
            <p:cNvSpPr/>
            <p:nvPr/>
          </p:nvSpPr>
          <p:spPr>
            <a:xfrm>
              <a:off x="7446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7815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8183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a:off x="8551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a:off x="8920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28"/>
          <p:cNvSpPr txBox="1"/>
          <p:nvPr/>
        </p:nvSpPr>
        <p:spPr>
          <a:xfrm>
            <a:off x="213900" y="2642875"/>
            <a:ext cx="5894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 b</a:t>
            </a:r>
            <a:r>
              <a:rPr lang="en" sz="1600"/>
              <a:t>    b    b     b    b     b     b    b     </a:t>
            </a:r>
            <a:r>
              <a:rPr lang="en" sz="1600">
                <a:solidFill>
                  <a:srgbClr val="0000FF"/>
                </a:solidFill>
              </a:rPr>
              <a:t>0</a:t>
            </a:r>
            <a:r>
              <a:rPr lang="en" sz="1600">
                <a:solidFill>
                  <a:srgbClr val="0000FF"/>
                </a:solidFill>
              </a:rPr>
              <a:t>    0     0     0    0     0     0    0</a:t>
            </a:r>
            <a:r>
              <a:rPr lang="en" sz="1600"/>
              <a:t>      </a:t>
            </a:r>
            <a:endParaRPr sz="1600"/>
          </a:p>
        </p:txBody>
      </p:sp>
      <p:grpSp>
        <p:nvGrpSpPr>
          <p:cNvPr id="213" name="Google Shape;213;p28"/>
          <p:cNvGrpSpPr/>
          <p:nvPr/>
        </p:nvGrpSpPr>
        <p:grpSpPr>
          <a:xfrm>
            <a:off x="213900" y="4243075"/>
            <a:ext cx="5894400" cy="368400"/>
            <a:chOff x="3394250" y="2721250"/>
            <a:chExt cx="5894400" cy="368400"/>
          </a:xfrm>
        </p:grpSpPr>
        <p:sp>
          <p:nvSpPr>
            <p:cNvPr id="214" name="Google Shape;214;p28"/>
            <p:cNvSpPr/>
            <p:nvPr/>
          </p:nvSpPr>
          <p:spPr>
            <a:xfrm>
              <a:off x="3394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3762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4131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4499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a:off x="4867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p:nvPr/>
          </p:nvSpPr>
          <p:spPr>
            <a:xfrm>
              <a:off x="5236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a:off x="5604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8"/>
            <p:cNvSpPr/>
            <p:nvPr/>
          </p:nvSpPr>
          <p:spPr>
            <a:xfrm>
              <a:off x="5973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8"/>
            <p:cNvSpPr/>
            <p:nvPr/>
          </p:nvSpPr>
          <p:spPr>
            <a:xfrm>
              <a:off x="6341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8"/>
            <p:cNvSpPr/>
            <p:nvPr/>
          </p:nvSpPr>
          <p:spPr>
            <a:xfrm>
              <a:off x="6709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8"/>
            <p:cNvSpPr/>
            <p:nvPr/>
          </p:nvSpPr>
          <p:spPr>
            <a:xfrm>
              <a:off x="7078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8"/>
            <p:cNvSpPr/>
            <p:nvPr/>
          </p:nvSpPr>
          <p:spPr>
            <a:xfrm>
              <a:off x="7446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a:off x="7815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8183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8551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a:off x="8920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 name="Google Shape;230;p28"/>
          <p:cNvSpPr txBox="1"/>
          <p:nvPr/>
        </p:nvSpPr>
        <p:spPr>
          <a:xfrm>
            <a:off x="213900" y="4243075"/>
            <a:ext cx="5894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 b    b    b     b    b     b     b    b     </a:t>
            </a:r>
            <a:r>
              <a:rPr lang="en" sz="1600">
                <a:solidFill>
                  <a:schemeClr val="dk1"/>
                </a:solidFill>
              </a:rPr>
              <a:t>b</a:t>
            </a:r>
            <a:r>
              <a:rPr lang="en" sz="1600">
                <a:solidFill>
                  <a:schemeClr val="dk1"/>
                </a:solidFill>
              </a:rPr>
              <a:t>    b     </a:t>
            </a:r>
            <a:r>
              <a:rPr lang="en" sz="1600">
                <a:solidFill>
                  <a:srgbClr val="9900FF"/>
                </a:solidFill>
              </a:rPr>
              <a:t>0     0    0     0     0    0</a:t>
            </a:r>
            <a:r>
              <a:rPr lang="en" sz="1600"/>
              <a:t>      </a:t>
            </a:r>
            <a:endParaRPr sz="1600"/>
          </a:p>
        </p:txBody>
      </p:sp>
      <p:grpSp>
        <p:nvGrpSpPr>
          <p:cNvPr id="231" name="Google Shape;231;p28"/>
          <p:cNvGrpSpPr/>
          <p:nvPr/>
        </p:nvGrpSpPr>
        <p:grpSpPr>
          <a:xfrm>
            <a:off x="213900" y="5767075"/>
            <a:ext cx="5894400" cy="368400"/>
            <a:chOff x="3394250" y="2721250"/>
            <a:chExt cx="5894400" cy="368400"/>
          </a:xfrm>
        </p:grpSpPr>
        <p:sp>
          <p:nvSpPr>
            <p:cNvPr id="232" name="Google Shape;232;p28"/>
            <p:cNvSpPr/>
            <p:nvPr/>
          </p:nvSpPr>
          <p:spPr>
            <a:xfrm>
              <a:off x="3394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
            <p:cNvSpPr/>
            <p:nvPr/>
          </p:nvSpPr>
          <p:spPr>
            <a:xfrm>
              <a:off x="3762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4131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4499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8"/>
            <p:cNvSpPr/>
            <p:nvPr/>
          </p:nvSpPr>
          <p:spPr>
            <a:xfrm>
              <a:off x="4867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8"/>
            <p:cNvSpPr/>
            <p:nvPr/>
          </p:nvSpPr>
          <p:spPr>
            <a:xfrm>
              <a:off x="5236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8"/>
            <p:cNvSpPr/>
            <p:nvPr/>
          </p:nvSpPr>
          <p:spPr>
            <a:xfrm>
              <a:off x="5604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8"/>
            <p:cNvSpPr/>
            <p:nvPr/>
          </p:nvSpPr>
          <p:spPr>
            <a:xfrm>
              <a:off x="5973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8"/>
            <p:cNvSpPr/>
            <p:nvPr/>
          </p:nvSpPr>
          <p:spPr>
            <a:xfrm>
              <a:off x="6341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8"/>
            <p:cNvSpPr/>
            <p:nvPr/>
          </p:nvSpPr>
          <p:spPr>
            <a:xfrm>
              <a:off x="6709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8"/>
            <p:cNvSpPr/>
            <p:nvPr/>
          </p:nvSpPr>
          <p:spPr>
            <a:xfrm>
              <a:off x="7078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8"/>
            <p:cNvSpPr/>
            <p:nvPr/>
          </p:nvSpPr>
          <p:spPr>
            <a:xfrm>
              <a:off x="74466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8"/>
            <p:cNvSpPr/>
            <p:nvPr/>
          </p:nvSpPr>
          <p:spPr>
            <a:xfrm>
              <a:off x="78150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
            <p:cNvSpPr/>
            <p:nvPr/>
          </p:nvSpPr>
          <p:spPr>
            <a:xfrm>
              <a:off x="81834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8"/>
            <p:cNvSpPr/>
            <p:nvPr/>
          </p:nvSpPr>
          <p:spPr>
            <a:xfrm>
              <a:off x="85518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8"/>
            <p:cNvSpPr/>
            <p:nvPr/>
          </p:nvSpPr>
          <p:spPr>
            <a:xfrm>
              <a:off x="8920250" y="2721250"/>
              <a:ext cx="368400" cy="3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28"/>
          <p:cNvSpPr txBox="1"/>
          <p:nvPr/>
        </p:nvSpPr>
        <p:spPr>
          <a:xfrm>
            <a:off x="213900" y="5767075"/>
            <a:ext cx="5894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 b    b    b     b    b     b     b    b     </a:t>
            </a:r>
            <a:r>
              <a:rPr lang="en" sz="1600">
                <a:solidFill>
                  <a:schemeClr val="dk1"/>
                </a:solidFill>
              </a:rPr>
              <a:t>b</a:t>
            </a:r>
            <a:r>
              <a:rPr lang="en" sz="1600">
                <a:solidFill>
                  <a:schemeClr val="dk1"/>
                </a:solidFill>
              </a:rPr>
              <a:t>    b     b     b    </a:t>
            </a:r>
            <a:r>
              <a:rPr lang="en" sz="1600">
                <a:solidFill>
                  <a:srgbClr val="38761D"/>
                </a:solidFill>
              </a:rPr>
              <a:t>0     0     0    0</a:t>
            </a:r>
            <a:r>
              <a:rPr lang="en" sz="1600"/>
              <a:t>      </a:t>
            </a:r>
            <a:endParaRPr sz="1600"/>
          </a:p>
        </p:txBody>
      </p:sp>
      <p:sp>
        <p:nvSpPr>
          <p:cNvPr id="249" name="Google Shape;249;p28"/>
          <p:cNvSpPr txBox="1"/>
          <p:nvPr/>
        </p:nvSpPr>
        <p:spPr>
          <a:xfrm>
            <a:off x="5222100" y="3140750"/>
            <a:ext cx="3798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Acceleration = </a:t>
            </a:r>
            <a:br>
              <a:rPr lang="en" sz="1800"/>
            </a:br>
            <a:r>
              <a:rPr lang="en" sz="1800"/>
              <a:t>   (raw &gt;&gt; </a:t>
            </a:r>
            <a:r>
              <a:rPr lang="en" sz="1800">
                <a:solidFill>
                  <a:srgbClr val="9900FF"/>
                </a:solidFill>
              </a:rPr>
              <a:t>6</a:t>
            </a:r>
            <a:r>
              <a:rPr lang="en" sz="1800"/>
              <a:t>) * resolution    </a:t>
            </a:r>
            <a:br>
              <a:rPr lang="en" sz="1800"/>
            </a:br>
            <a:r>
              <a:rPr lang="en" sz="1800">
                <a:solidFill>
                  <a:srgbClr val="9900FF"/>
                </a:solidFill>
              </a:rPr>
              <a:t>= </a:t>
            </a:r>
            <a:r>
              <a:rPr lang="en" sz="1800">
                <a:solidFill>
                  <a:srgbClr val="9900FF"/>
                </a:solidFill>
              </a:rPr>
              <a:t>(raw / 2</a:t>
            </a:r>
            <a:r>
              <a:rPr baseline="30000" lang="en" sz="1800">
                <a:solidFill>
                  <a:srgbClr val="9900FF"/>
                </a:solidFill>
              </a:rPr>
              <a:t>6</a:t>
            </a:r>
            <a:r>
              <a:rPr lang="en" sz="1800">
                <a:solidFill>
                  <a:srgbClr val="9900FF"/>
                </a:solidFill>
              </a:rPr>
              <a:t>) * 4g/2</a:t>
            </a:r>
            <a:r>
              <a:rPr baseline="30000" lang="en" sz="1800">
                <a:solidFill>
                  <a:srgbClr val="9900FF"/>
                </a:solidFill>
              </a:rPr>
              <a:t>10</a:t>
            </a:r>
            <a:r>
              <a:rPr lang="en" sz="1800">
                <a:solidFill>
                  <a:srgbClr val="9900FF"/>
                </a:solidFill>
              </a:rPr>
              <a:t> = 4g*raw/2</a:t>
            </a:r>
            <a:r>
              <a:rPr baseline="30000" lang="en" sz="1800">
                <a:solidFill>
                  <a:srgbClr val="9900FF"/>
                </a:solidFill>
              </a:rPr>
              <a:t>16</a:t>
            </a:r>
            <a:endParaRPr sz="1800">
              <a:solidFill>
                <a:srgbClr val="9900FF"/>
              </a:solidFill>
            </a:endParaRPr>
          </a:p>
        </p:txBody>
      </p:sp>
      <p:sp>
        <p:nvSpPr>
          <p:cNvPr id="250" name="Google Shape;250;p28"/>
          <p:cNvSpPr txBox="1"/>
          <p:nvPr/>
        </p:nvSpPr>
        <p:spPr>
          <a:xfrm>
            <a:off x="5222100" y="1517125"/>
            <a:ext cx="3764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Acceleration = </a:t>
            </a:r>
            <a:br>
              <a:rPr lang="en" sz="1800">
                <a:solidFill>
                  <a:schemeClr val="dk1"/>
                </a:solidFill>
              </a:rPr>
            </a:br>
            <a:r>
              <a:rPr lang="en" sz="1800">
                <a:solidFill>
                  <a:schemeClr val="dk1"/>
                </a:solidFill>
              </a:rPr>
              <a:t>    (raw &gt;&gt; </a:t>
            </a:r>
            <a:r>
              <a:rPr lang="en" sz="1800">
                <a:solidFill>
                  <a:srgbClr val="0000FF"/>
                </a:solidFill>
              </a:rPr>
              <a:t>8</a:t>
            </a:r>
            <a:r>
              <a:rPr lang="en" sz="1800">
                <a:solidFill>
                  <a:schemeClr val="dk1"/>
                </a:solidFill>
              </a:rPr>
              <a:t>) * resolution</a:t>
            </a:r>
            <a:endParaRPr sz="1800">
              <a:solidFill>
                <a:schemeClr val="dk1"/>
              </a:solidFill>
            </a:endParaRPr>
          </a:p>
          <a:p>
            <a:pPr indent="0" lvl="0" marL="0" rtl="0" algn="l">
              <a:spcBef>
                <a:spcPts val="0"/>
              </a:spcBef>
              <a:spcAft>
                <a:spcPts val="0"/>
              </a:spcAft>
              <a:buNone/>
            </a:pPr>
            <a:r>
              <a:rPr lang="en" sz="1800">
                <a:solidFill>
                  <a:srgbClr val="0000FF"/>
                </a:solidFill>
              </a:rPr>
              <a:t>= (raw / 2</a:t>
            </a:r>
            <a:r>
              <a:rPr baseline="30000" lang="en" sz="1800">
                <a:solidFill>
                  <a:srgbClr val="0000FF"/>
                </a:solidFill>
              </a:rPr>
              <a:t>8</a:t>
            </a:r>
            <a:r>
              <a:rPr lang="en" sz="1800">
                <a:solidFill>
                  <a:srgbClr val="0000FF"/>
                </a:solidFill>
              </a:rPr>
              <a:t>) * 4g/2</a:t>
            </a:r>
            <a:r>
              <a:rPr baseline="30000" lang="en" sz="1800">
                <a:solidFill>
                  <a:srgbClr val="0000FF"/>
                </a:solidFill>
              </a:rPr>
              <a:t>8</a:t>
            </a:r>
            <a:r>
              <a:rPr lang="en" sz="1800">
                <a:solidFill>
                  <a:srgbClr val="0000FF"/>
                </a:solidFill>
              </a:rPr>
              <a:t> = 4g*raw/2</a:t>
            </a:r>
            <a:r>
              <a:rPr baseline="30000" lang="en" sz="1800">
                <a:solidFill>
                  <a:srgbClr val="0000FF"/>
                </a:solidFill>
              </a:rPr>
              <a:t>16</a:t>
            </a:r>
            <a:r>
              <a:rPr lang="en" sz="1800">
                <a:solidFill>
                  <a:srgbClr val="0000FF"/>
                </a:solidFill>
              </a:rPr>
              <a:t> </a:t>
            </a:r>
            <a:r>
              <a:rPr lang="en" sz="1800">
                <a:solidFill>
                  <a:srgbClr val="0000FF"/>
                </a:solidFill>
              </a:rPr>
              <a:t> </a:t>
            </a:r>
            <a:endParaRPr sz="1800">
              <a:solidFill>
                <a:srgbClr val="0000FF"/>
              </a:solidFill>
            </a:endParaRPr>
          </a:p>
        </p:txBody>
      </p:sp>
      <p:sp>
        <p:nvSpPr>
          <p:cNvPr id="251" name="Google Shape;251;p28"/>
          <p:cNvSpPr txBox="1"/>
          <p:nvPr/>
        </p:nvSpPr>
        <p:spPr>
          <a:xfrm>
            <a:off x="5319650" y="4764375"/>
            <a:ext cx="3764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Acceleration = </a:t>
            </a:r>
            <a:br>
              <a:rPr lang="en" sz="1800"/>
            </a:br>
            <a:r>
              <a:rPr lang="en" sz="1800"/>
              <a:t>    (raw &gt;&gt; </a:t>
            </a:r>
            <a:r>
              <a:rPr lang="en" sz="1800">
                <a:solidFill>
                  <a:srgbClr val="38761D"/>
                </a:solidFill>
              </a:rPr>
              <a:t>4)</a:t>
            </a:r>
            <a:r>
              <a:rPr lang="en" sz="1800"/>
              <a:t> * resolution</a:t>
            </a:r>
            <a:endParaRPr sz="1800"/>
          </a:p>
          <a:p>
            <a:pPr indent="0" lvl="0" marL="0" rtl="0" algn="l">
              <a:spcBef>
                <a:spcPts val="0"/>
              </a:spcBef>
              <a:spcAft>
                <a:spcPts val="0"/>
              </a:spcAft>
              <a:buNone/>
            </a:pPr>
            <a:r>
              <a:rPr lang="en" sz="1800">
                <a:solidFill>
                  <a:srgbClr val="005032"/>
                </a:solidFill>
              </a:rPr>
              <a:t>= (raw / 2</a:t>
            </a:r>
            <a:r>
              <a:rPr baseline="30000" lang="en" sz="1800">
                <a:solidFill>
                  <a:srgbClr val="005032"/>
                </a:solidFill>
              </a:rPr>
              <a:t>4</a:t>
            </a:r>
            <a:r>
              <a:rPr lang="en" sz="1800">
                <a:solidFill>
                  <a:srgbClr val="005032"/>
                </a:solidFill>
              </a:rPr>
              <a:t>) * 4g/2</a:t>
            </a:r>
            <a:r>
              <a:rPr baseline="30000" lang="en" sz="1800">
                <a:solidFill>
                  <a:srgbClr val="005032"/>
                </a:solidFill>
              </a:rPr>
              <a:t>12</a:t>
            </a:r>
            <a:r>
              <a:rPr lang="en" sz="1800">
                <a:solidFill>
                  <a:srgbClr val="005032"/>
                </a:solidFill>
              </a:rPr>
              <a:t> = 4g*raw/2</a:t>
            </a:r>
            <a:r>
              <a:rPr baseline="30000" lang="en" sz="1800">
                <a:solidFill>
                  <a:srgbClr val="005032"/>
                </a:solidFill>
              </a:rPr>
              <a:t>16</a:t>
            </a:r>
            <a:r>
              <a:rPr lang="en">
                <a:solidFill>
                  <a:srgbClr val="005032"/>
                </a:solidFill>
              </a:rPr>
              <a:t> </a:t>
            </a:r>
            <a:endParaRPr>
              <a:solidFill>
                <a:srgbClr val="00503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ph type="title"/>
          </p:nvPr>
        </p:nvSpPr>
        <p:spPr>
          <a:xfrm>
            <a:off x="311700" y="2230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Accelerometer data format (2)</a:t>
            </a:r>
            <a:endParaRPr/>
          </a:p>
        </p:txBody>
      </p:sp>
      <p:sp>
        <p:nvSpPr>
          <p:cNvPr id="257" name="Google Shape;257;p29"/>
          <p:cNvSpPr txBox="1"/>
          <p:nvPr>
            <p:ph idx="1" type="body"/>
          </p:nvPr>
        </p:nvSpPr>
        <p:spPr>
          <a:xfrm>
            <a:off x="311700" y="1179800"/>
            <a:ext cx="8520600" cy="52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FF"/>
                </a:solidFill>
              </a:rPr>
              <a:t>For a full-scale range of +/- 2g</a:t>
            </a:r>
            <a:r>
              <a:rPr lang="en" sz="1600"/>
              <a:t>, o</a:t>
            </a:r>
            <a:r>
              <a:rPr lang="en" sz="1600"/>
              <a:t>ne thus computes the acceleration </a:t>
            </a:r>
            <a:r>
              <a:rPr b="1" i="1" lang="en" sz="1600"/>
              <a:t>a</a:t>
            </a:r>
            <a:r>
              <a:rPr lang="en" sz="1600"/>
              <a:t> by</a:t>
            </a:r>
            <a:endParaRPr sz="1600"/>
          </a:p>
          <a:p>
            <a:pPr indent="0" lvl="0" marL="0" rtl="0" algn="l">
              <a:spcBef>
                <a:spcPts val="1000"/>
              </a:spcBef>
              <a:spcAft>
                <a:spcPts val="0"/>
              </a:spcAft>
              <a:buNone/>
            </a:pPr>
            <a:r>
              <a:rPr lang="en" sz="1600"/>
              <a:t>	</a:t>
            </a:r>
            <a:r>
              <a:rPr b="1" i="1" lang="en" sz="1600"/>
              <a:t>a = 4*ACCEL_raw / 2</a:t>
            </a:r>
            <a:r>
              <a:rPr b="1" baseline="30000" i="1" lang="en" sz="1600"/>
              <a:t>16</a:t>
            </a:r>
            <a:r>
              <a:rPr b="1" i="1" lang="en" sz="1600"/>
              <a:t> </a:t>
            </a:r>
            <a:r>
              <a:rPr lang="en" sz="1600"/>
              <a:t>(g)</a:t>
            </a:r>
            <a:endParaRPr sz="1600"/>
          </a:p>
          <a:p>
            <a:pPr indent="0" lvl="0" marL="0" rtl="0" algn="l">
              <a:spcBef>
                <a:spcPts val="1000"/>
              </a:spcBef>
              <a:spcAft>
                <a:spcPts val="0"/>
              </a:spcAft>
              <a:buClr>
                <a:schemeClr val="dk1"/>
              </a:buClr>
              <a:buSzPts val="1100"/>
              <a:buFont typeface="Arial"/>
              <a:buNone/>
            </a:pPr>
            <a:r>
              <a:rPr lang="en" sz="1600"/>
              <a:t>The units of the accelerometer output are “g”, i.e., 1 g = 9.8 m/s</a:t>
            </a:r>
            <a:r>
              <a:rPr baseline="30000" lang="en" sz="1600"/>
              <a:t>2</a:t>
            </a:r>
            <a:r>
              <a:rPr lang="en" sz="1600"/>
              <a:t>.  </a:t>
            </a:r>
            <a:endParaRPr sz="1600"/>
          </a:p>
          <a:p>
            <a:pPr indent="0" lvl="0" marL="0" rtl="0" algn="l">
              <a:spcBef>
                <a:spcPts val="1600"/>
              </a:spcBef>
              <a:spcAft>
                <a:spcPts val="0"/>
              </a:spcAft>
              <a:buNone/>
            </a:pPr>
            <a:r>
              <a:rPr lang="en" sz="1600"/>
              <a:t>In “milli-g”,</a:t>
            </a:r>
            <a:endParaRPr sz="1600"/>
          </a:p>
          <a:p>
            <a:pPr indent="0" lvl="0" marL="0" rtl="0" algn="l">
              <a:spcBef>
                <a:spcPts val="1000"/>
              </a:spcBef>
              <a:spcAft>
                <a:spcPts val="0"/>
              </a:spcAft>
              <a:buNone/>
            </a:pPr>
            <a:r>
              <a:rPr lang="en" sz="1600"/>
              <a:t>	a = (4 * ACCEL_raw * 1000) / 2</a:t>
            </a:r>
            <a:r>
              <a:rPr baseline="30000" lang="en" sz="1600"/>
              <a:t>16</a:t>
            </a:r>
            <a:r>
              <a:rPr lang="en" sz="1600"/>
              <a:t>  (mg) </a:t>
            </a:r>
            <a:endParaRPr sz="1600"/>
          </a:p>
          <a:p>
            <a:pPr indent="0" lvl="0" marL="0" rtl="0" algn="l">
              <a:spcBef>
                <a:spcPts val="1000"/>
              </a:spcBef>
              <a:spcAft>
                <a:spcPts val="0"/>
              </a:spcAft>
              <a:buNone/>
            </a:pPr>
            <a:r>
              <a:rPr lang="en" sz="1600"/>
              <a:t>        a = </a:t>
            </a:r>
            <a:r>
              <a:rPr b="1" lang="en" sz="1600">
                <a:solidFill>
                  <a:srgbClr val="0000FF"/>
                </a:solidFill>
              </a:rPr>
              <a:t>(ACC_FS * ACCEL_raw * MILLI) / 2</a:t>
            </a:r>
            <a:r>
              <a:rPr b="1" baseline="30000" lang="en" sz="1600">
                <a:solidFill>
                  <a:srgbClr val="0000FF"/>
                </a:solidFill>
              </a:rPr>
              <a:t>ACC_REGISTERWIDTH</a:t>
            </a:r>
            <a:r>
              <a:rPr b="1" lang="en" sz="1600">
                <a:solidFill>
                  <a:srgbClr val="0000FF"/>
                </a:solidFill>
              </a:rPr>
              <a:t>  (mg)</a:t>
            </a:r>
            <a:r>
              <a:rPr lang="en" sz="1600"/>
              <a:t> </a:t>
            </a:r>
            <a:endParaRPr sz="1600"/>
          </a:p>
          <a:p>
            <a:pPr indent="0" lvl="0" marL="0" rtl="0" algn="l">
              <a:spcBef>
                <a:spcPts val="1000"/>
              </a:spcBef>
              <a:spcAft>
                <a:spcPts val="0"/>
              </a:spcAft>
              <a:buNone/>
            </a:pPr>
            <a:r>
              <a:t/>
            </a:r>
            <a:endParaRPr sz="1600"/>
          </a:p>
          <a:p>
            <a:pPr indent="457200" lvl="0" marL="0" rtl="0" algn="l">
              <a:spcBef>
                <a:spcPts val="1000"/>
              </a:spcBef>
              <a:spcAft>
                <a:spcPts val="0"/>
              </a:spcAft>
              <a:buClr>
                <a:schemeClr val="dk1"/>
              </a:buClr>
              <a:buSzPts val="1100"/>
              <a:buFont typeface="Arial"/>
              <a:buNone/>
            </a:pPr>
            <a:r>
              <a:rPr b="1" lang="en" sz="1600">
                <a:solidFill>
                  <a:srgbClr val="38761D"/>
                </a:solidFill>
                <a:latin typeface="Courier New"/>
                <a:ea typeface="Courier New"/>
                <a:cs typeface="Courier New"/>
                <a:sym typeface="Courier New"/>
              </a:rPr>
              <a:t>#define ACC_FS 4</a:t>
            </a:r>
            <a:endParaRPr b="1" sz="16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600">
                <a:solidFill>
                  <a:srgbClr val="38761D"/>
                </a:solidFill>
                <a:latin typeface="Courier New"/>
                <a:ea typeface="Courier New"/>
                <a:cs typeface="Courier New"/>
                <a:sym typeface="Courier New"/>
              </a:rPr>
              <a:t>#define ACC_REGISTERWIDTH 16</a:t>
            </a:r>
            <a:endParaRPr b="1" sz="16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600">
                <a:solidFill>
                  <a:srgbClr val="38761D"/>
                </a:solidFill>
                <a:latin typeface="Courier New"/>
                <a:ea typeface="Courier New"/>
                <a:cs typeface="Courier New"/>
                <a:sym typeface="Courier New"/>
              </a:rPr>
              <a:t>#define MILLI 1000</a:t>
            </a:r>
            <a:endParaRPr b="1" sz="1600">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sz="1600"/>
          </a:p>
          <a:p>
            <a:pPr indent="0" lvl="0" marL="0" rtl="0" algn="l">
              <a:spcBef>
                <a:spcPts val="1000"/>
              </a:spcBef>
              <a:spcAft>
                <a:spcPts val="1000"/>
              </a:spcAft>
              <a:buNone/>
            </a:pPr>
            <a:r>
              <a:t/>
            </a:r>
            <a:endParaRPr sz="1600"/>
          </a:p>
        </p:txBody>
      </p:sp>
      <p:sp>
        <p:nvSpPr>
          <p:cNvPr id="258" name="Google Shape;258;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 transfers, Control (MCU) ⟷ Peripheral (sensor) </a:t>
            </a:r>
            <a:endParaRPr/>
          </a:p>
        </p:txBody>
      </p:sp>
      <p:pic>
        <p:nvPicPr>
          <p:cNvPr id="264" name="Google Shape;264;p30"/>
          <p:cNvPicPr preferRelativeResize="0"/>
          <p:nvPr/>
        </p:nvPicPr>
        <p:blipFill rotWithShape="1">
          <a:blip r:embed="rId3">
            <a:alphaModFix/>
          </a:blip>
          <a:srcRect b="0" l="0" r="0" t="50251"/>
          <a:stretch/>
        </p:blipFill>
        <p:spPr>
          <a:xfrm>
            <a:off x="152400" y="974331"/>
            <a:ext cx="8839199" cy="2487825"/>
          </a:xfrm>
          <a:prstGeom prst="rect">
            <a:avLst/>
          </a:prstGeom>
          <a:noFill/>
          <a:ln>
            <a:noFill/>
          </a:ln>
        </p:spPr>
      </p:pic>
      <p:sp>
        <p:nvSpPr>
          <p:cNvPr id="265" name="Google Shape;265;p30"/>
          <p:cNvSpPr txBox="1"/>
          <p:nvPr/>
        </p:nvSpPr>
        <p:spPr>
          <a:xfrm>
            <a:off x="1144950" y="1837575"/>
            <a:ext cx="78000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start   sensor addr  ACK   subaddr   ACK    start  sensor addr   ACK       byte        NACK     stop</a:t>
            </a:r>
            <a:r>
              <a:rPr lang="en"/>
              <a:t>    </a:t>
            </a:r>
            <a:endParaRPr/>
          </a:p>
        </p:txBody>
      </p:sp>
      <p:sp>
        <p:nvSpPr>
          <p:cNvPr id="266" name="Google Shape;266;p30"/>
          <p:cNvSpPr txBox="1"/>
          <p:nvPr/>
        </p:nvSpPr>
        <p:spPr>
          <a:xfrm>
            <a:off x="2491050" y="3282175"/>
            <a:ext cx="5733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Subaddress autoincrements for multiple reads, see Sec 6.1.1</a:t>
            </a:r>
            <a:endParaRPr i="1">
              <a:solidFill>
                <a:srgbClr val="980000"/>
              </a:solidFill>
            </a:endParaRPr>
          </a:p>
        </p:txBody>
      </p:sp>
      <p:sp>
        <p:nvSpPr>
          <p:cNvPr id="267" name="Google Shape;267;p30"/>
          <p:cNvSpPr txBox="1"/>
          <p:nvPr>
            <p:ph idx="12" type="sldNum"/>
          </p:nvPr>
        </p:nvSpPr>
        <p:spPr>
          <a:xfrm>
            <a:off x="8472458" y="3169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30"/>
          <p:cNvSpPr txBox="1"/>
          <p:nvPr/>
        </p:nvSpPr>
        <p:spPr>
          <a:xfrm>
            <a:off x="152400" y="3856875"/>
            <a:ext cx="4801500" cy="12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0000FF"/>
                </a:solidFill>
              </a:rPr>
              <a:t>Data registers are at successive subaddresses.</a:t>
            </a:r>
            <a:endParaRPr sz="1600">
              <a:solidFill>
                <a:srgbClr val="0000FF"/>
              </a:solidFill>
            </a:endParaRPr>
          </a:p>
          <a:p>
            <a:pPr indent="0" lvl="0" marL="0" rtl="0" algn="l">
              <a:lnSpc>
                <a:spcPct val="115000"/>
              </a:lnSpc>
              <a:spcBef>
                <a:spcPts val="1000"/>
              </a:spcBef>
              <a:spcAft>
                <a:spcPts val="1000"/>
              </a:spcAft>
              <a:buNone/>
            </a:pPr>
            <a:r>
              <a:rPr lang="en" sz="1600">
                <a:solidFill>
                  <a:srgbClr val="0000FF"/>
                </a:solidFill>
              </a:rPr>
              <a:t>You can read all six bytes of data in one transfer, starting at 0x28, but note (see datasheet 6.1.1):</a:t>
            </a:r>
            <a:endParaRPr sz="1600">
              <a:solidFill>
                <a:srgbClr val="0000FF"/>
              </a:solidFill>
            </a:endParaRPr>
          </a:p>
        </p:txBody>
      </p:sp>
      <p:sp>
        <p:nvSpPr>
          <p:cNvPr id="269" name="Google Shape;269;p30"/>
          <p:cNvSpPr txBox="1"/>
          <p:nvPr/>
        </p:nvSpPr>
        <p:spPr>
          <a:xfrm>
            <a:off x="5031900" y="3726825"/>
            <a:ext cx="3800400" cy="149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LSM303_OUT_X_L_A       	0x28</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LSM303_OUT_X_H_A       	0x29</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LSM303_OUT_Y_L_A       	0x2A</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LSM303_OUT_Y_H_A       	0x2B</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LSM303_OUT_Z_L_A       	0x2C</a:t>
            </a:r>
            <a:endParaRPr b="1" sz="1200">
              <a:solidFill>
                <a:srgbClr val="0000FF"/>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0000FF"/>
                </a:solidFill>
                <a:latin typeface="Courier New"/>
                <a:ea typeface="Courier New"/>
                <a:cs typeface="Courier New"/>
                <a:sym typeface="Courier New"/>
              </a:rPr>
              <a:t>#define LSM303_OUT_Z_H_A       	0x2D</a:t>
            </a:r>
            <a:endParaRPr b="1">
              <a:solidFill>
                <a:srgbClr val="0000FF"/>
              </a:solidFill>
            </a:endParaRPr>
          </a:p>
        </p:txBody>
      </p:sp>
      <p:sp>
        <p:nvSpPr>
          <p:cNvPr id="270" name="Google Shape;270;p30"/>
          <p:cNvSpPr txBox="1"/>
          <p:nvPr/>
        </p:nvSpPr>
        <p:spPr>
          <a:xfrm>
            <a:off x="280450" y="5144475"/>
            <a:ext cx="8664600" cy="14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"After the start condition (ST) a slave address is sent, once a slave acknowledge (SAK) has been returned, an 8-bit sub-address (SUB) is transmitted: the 7 LSb represent the actual register address while </a:t>
            </a:r>
            <a:r>
              <a:rPr lang="en" sz="1800">
                <a:solidFill>
                  <a:schemeClr val="dk2"/>
                </a:solidFill>
                <a:highlight>
                  <a:srgbClr val="FFFF00"/>
                </a:highlight>
              </a:rPr>
              <a:t>the MSB enables address auto increment</a:t>
            </a:r>
            <a:r>
              <a:rPr lang="en" sz="1800">
                <a:solidFill>
                  <a:schemeClr val="dk2"/>
                </a:solidFill>
              </a:rPr>
              <a:t>. If the MSb of the SUB field is ‘1’, the SUB (register address) is automatically increased to allow multiple data read/writes."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2"/>
                </a:solidFill>
              </a:rPr>
              <a:t>l</a:t>
            </a:r>
            <a:r>
              <a:rPr lang="en">
                <a:solidFill>
                  <a:schemeClr val="dk2"/>
                </a:solidFill>
              </a:rPr>
              <a:t>sm303_AccelReadRaw() function</a:t>
            </a:r>
            <a:endParaRPr sz="4400"/>
          </a:p>
        </p:txBody>
      </p:sp>
      <p:sp>
        <p:nvSpPr>
          <p:cNvPr id="276" name="Google Shape;276;p31"/>
          <p:cNvSpPr txBox="1"/>
          <p:nvPr>
            <p:ph idx="1" type="body"/>
          </p:nvPr>
        </p:nvSpPr>
        <p:spPr>
          <a:xfrm>
            <a:off x="108650" y="3456100"/>
            <a:ext cx="9035100" cy="30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 pointer to a variable of that structure type is passed to </a:t>
            </a:r>
            <a:r>
              <a:rPr b="1" lang="en" sz="1500">
                <a:latin typeface="Courier New"/>
                <a:ea typeface="Courier New"/>
                <a:cs typeface="Courier New"/>
                <a:sym typeface="Courier New"/>
              </a:rPr>
              <a:t>lsm303_AccelReadRaw()</a:t>
            </a:r>
            <a:r>
              <a:rPr b="1" lang="en" sz="1500"/>
              <a:t>:</a:t>
            </a:r>
            <a:endParaRPr b="1" sz="1500"/>
          </a:p>
          <a:p>
            <a:pPr indent="0" lvl="0" marL="25400" rtl="0" algn="l">
              <a:spcBef>
                <a:spcPts val="0"/>
              </a:spcBef>
              <a:spcAft>
                <a:spcPts val="0"/>
              </a:spcAft>
              <a:buNone/>
            </a:pPr>
            <a:r>
              <a:t/>
            </a:r>
            <a:endParaRPr b="1" sz="15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rgbClr val="7F0055"/>
                </a:solidFill>
                <a:highlight>
                  <a:srgbClr val="FFFFFF"/>
                </a:highlight>
                <a:latin typeface="Courier New"/>
                <a:ea typeface="Courier New"/>
                <a:cs typeface="Courier New"/>
                <a:sym typeface="Courier New"/>
              </a:rPr>
              <a:t>void</a:t>
            </a:r>
            <a:r>
              <a:rPr b="1" lang="en" sz="1500">
                <a:solidFill>
                  <a:schemeClr val="dk1"/>
                </a:solidFill>
                <a:highlight>
                  <a:srgbClr val="FFFFFF"/>
                </a:highlight>
                <a:latin typeface="Courier New"/>
                <a:ea typeface="Courier New"/>
                <a:cs typeface="Courier New"/>
                <a:sym typeface="Courier New"/>
              </a:rPr>
              <a:t> lsm303_AccelReadRaw(</a:t>
            </a:r>
            <a:r>
              <a:rPr b="1" lang="en" sz="1500">
                <a:solidFill>
                  <a:srgbClr val="005032"/>
                </a:solidFill>
                <a:highlight>
                  <a:srgbClr val="FFFFFF"/>
                </a:highlight>
                <a:latin typeface="Courier New"/>
                <a:ea typeface="Courier New"/>
                <a:cs typeface="Courier New"/>
                <a:sym typeface="Courier New"/>
              </a:rPr>
              <a:t>lsm303AccelData_s</a:t>
            </a:r>
            <a:r>
              <a:rPr b="1" lang="en" sz="1500">
                <a:solidFill>
                  <a:schemeClr val="dk1"/>
                </a:solidFill>
                <a:highlight>
                  <a:srgbClr val="FFFFFF"/>
                </a:highlight>
                <a:latin typeface="Courier New"/>
                <a:ea typeface="Courier New"/>
                <a:cs typeface="Courier New"/>
                <a:sym typeface="Courier New"/>
              </a:rPr>
              <a:t> * result)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uint8_t</a:t>
            </a:r>
            <a:r>
              <a:rPr b="1" lang="en" sz="1500">
                <a:solidFill>
                  <a:schemeClr val="dk1"/>
                </a:solidFill>
                <a:highlight>
                  <a:srgbClr val="FFFFFF"/>
                </a:highlight>
                <a:latin typeface="Courier New"/>
                <a:ea typeface="Courier New"/>
                <a:cs typeface="Courier New"/>
                <a:sym typeface="Courier New"/>
              </a:rPr>
              <a:t> data[6];</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i2c1_memRead(LSM303_ADDRESS_ACCEL, LSM303_OUT_X_L_A | (1&lt;&lt;7), 6, &amp;data[0]);</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result-&gt;</a:t>
            </a:r>
            <a:r>
              <a:rPr b="1" lang="en" sz="1500">
                <a:solidFill>
                  <a:srgbClr val="0000C0"/>
                </a:solidFill>
                <a:highlight>
                  <a:srgbClr val="FFFFFF"/>
                </a:highlight>
                <a:latin typeface="Courier New"/>
                <a:ea typeface="Courier New"/>
                <a:cs typeface="Courier New"/>
                <a:sym typeface="Courier New"/>
              </a:rPr>
              <a:t>x</a:t>
            </a:r>
            <a:r>
              <a:rPr b="1" lang="en" sz="1500">
                <a:solidFill>
                  <a:schemeClr val="dk1"/>
                </a:solidFill>
                <a:highlight>
                  <a:srgbClr val="FFFFFF"/>
                </a:highlight>
                <a:latin typeface="Courier New"/>
                <a:ea typeface="Courier New"/>
                <a:cs typeface="Courier New"/>
                <a:sym typeface="Courier New"/>
              </a:rPr>
              <a:t>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data[1] &lt;&lt; 8)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data[0]);</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result-&gt;</a:t>
            </a:r>
            <a:r>
              <a:rPr b="1" lang="en" sz="1500">
                <a:solidFill>
                  <a:srgbClr val="0000C0"/>
                </a:solidFill>
                <a:highlight>
                  <a:srgbClr val="FFFFFF"/>
                </a:highlight>
                <a:latin typeface="Courier New"/>
                <a:ea typeface="Courier New"/>
                <a:cs typeface="Courier New"/>
                <a:sym typeface="Courier New"/>
              </a:rPr>
              <a:t>y</a:t>
            </a:r>
            <a:r>
              <a:rPr b="1" lang="en" sz="1500">
                <a:solidFill>
                  <a:schemeClr val="dk1"/>
                </a:solidFill>
                <a:highlight>
                  <a:srgbClr val="FFFFFF"/>
                </a:highlight>
                <a:latin typeface="Courier New"/>
                <a:ea typeface="Courier New"/>
                <a:cs typeface="Courier New"/>
                <a:sym typeface="Courier New"/>
              </a:rPr>
              <a:t>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data[3] &lt;&lt; 8)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data[2]);</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result-&gt;</a:t>
            </a:r>
            <a:r>
              <a:rPr b="1" lang="en" sz="1500">
                <a:solidFill>
                  <a:srgbClr val="0000C0"/>
                </a:solidFill>
                <a:highlight>
                  <a:srgbClr val="FFFFFF"/>
                </a:highlight>
                <a:latin typeface="Courier New"/>
                <a:ea typeface="Courier New"/>
                <a:cs typeface="Courier New"/>
                <a:sym typeface="Courier New"/>
              </a:rPr>
              <a:t>z</a:t>
            </a:r>
            <a:r>
              <a:rPr b="1" lang="en" sz="1500">
                <a:solidFill>
                  <a:schemeClr val="dk1"/>
                </a:solidFill>
                <a:highlight>
                  <a:srgbClr val="FFFFFF"/>
                </a:highlight>
                <a:latin typeface="Courier New"/>
                <a:ea typeface="Courier New"/>
                <a:cs typeface="Courier New"/>
                <a:sym typeface="Courier New"/>
              </a:rPr>
              <a:t>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data[5] &lt;&lt; 8) |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data[4]);</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500">
                <a:solidFill>
                  <a:schemeClr val="dk1"/>
                </a:solidFill>
                <a:highlight>
                  <a:srgbClr val="FFFFFF"/>
                </a:highlight>
                <a:latin typeface="Courier New"/>
                <a:ea typeface="Courier New"/>
                <a:cs typeface="Courier New"/>
                <a:sym typeface="Courier New"/>
              </a:rPr>
              <a:t>}</a:t>
            </a:r>
            <a:endParaRPr b="1" sz="1500">
              <a:latin typeface="Courier New"/>
              <a:ea typeface="Courier New"/>
              <a:cs typeface="Courier New"/>
              <a:sym typeface="Courier New"/>
            </a:endParaRPr>
          </a:p>
        </p:txBody>
      </p:sp>
      <p:sp>
        <p:nvSpPr>
          <p:cNvPr id="277" name="Google Shape;277;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1"/>
          <p:cNvSpPr txBox="1"/>
          <p:nvPr/>
        </p:nvSpPr>
        <p:spPr>
          <a:xfrm>
            <a:off x="311700" y="1232275"/>
            <a:ext cx="7923900" cy="19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lsm303agr.h declares a structure, </a:t>
            </a:r>
            <a:r>
              <a:rPr b="1" lang="en" sz="1500">
                <a:latin typeface="Courier New"/>
                <a:ea typeface="Courier New"/>
                <a:cs typeface="Courier New"/>
                <a:sym typeface="Courier New"/>
              </a:rPr>
              <a:t>lsm303AccelData_s:</a:t>
            </a:r>
            <a:endParaRPr b="1" sz="1500">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5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500">
                <a:solidFill>
                  <a:srgbClr val="7F0055"/>
                </a:solidFill>
                <a:highlight>
                  <a:srgbClr val="FFFFFF"/>
                </a:highlight>
                <a:latin typeface="Courier New"/>
                <a:ea typeface="Courier New"/>
                <a:cs typeface="Courier New"/>
                <a:sym typeface="Courier New"/>
              </a:rPr>
              <a:t>typedef</a:t>
            </a:r>
            <a:r>
              <a:rPr b="1" lang="en" sz="1500">
                <a:solidFill>
                  <a:schemeClr val="dk1"/>
                </a:solidFill>
                <a:highlight>
                  <a:srgbClr val="FFFFFF"/>
                </a:highlight>
                <a:latin typeface="Courier New"/>
                <a:ea typeface="Courier New"/>
                <a:cs typeface="Courier New"/>
                <a:sym typeface="Courier New"/>
              </a:rPr>
              <a:t> </a:t>
            </a:r>
            <a:r>
              <a:rPr b="1" lang="en" sz="1500">
                <a:solidFill>
                  <a:srgbClr val="7F0055"/>
                </a:solidFill>
                <a:highlight>
                  <a:srgbClr val="FFFFFF"/>
                </a:highlight>
                <a:latin typeface="Courier New"/>
                <a:ea typeface="Courier New"/>
                <a:cs typeface="Courier New"/>
                <a:sym typeface="Courier New"/>
              </a:rPr>
              <a:t>struct</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a:t>
            </a:r>
            <a:r>
              <a:rPr b="1" lang="en" sz="1500">
                <a:solidFill>
                  <a:srgbClr val="0000C0"/>
                </a:solidFill>
                <a:highlight>
                  <a:srgbClr val="FFFFFF"/>
                </a:highlight>
                <a:latin typeface="Courier New"/>
                <a:ea typeface="Courier New"/>
                <a:cs typeface="Courier New"/>
                <a:sym typeface="Courier New"/>
              </a:rPr>
              <a:t>x</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a:t>
            </a:r>
            <a:r>
              <a:rPr b="1" lang="en" sz="1500">
                <a:solidFill>
                  <a:srgbClr val="0000C0"/>
                </a:solidFill>
                <a:highlight>
                  <a:srgbClr val="FFFFFF"/>
                </a:highlight>
                <a:latin typeface="Courier New"/>
                <a:ea typeface="Courier New"/>
                <a:cs typeface="Courier New"/>
                <a:sym typeface="Courier New"/>
              </a:rPr>
              <a:t>y</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int16_t</a:t>
            </a:r>
            <a:r>
              <a:rPr b="1" lang="en" sz="1500">
                <a:solidFill>
                  <a:schemeClr val="dk1"/>
                </a:solidFill>
                <a:highlight>
                  <a:srgbClr val="FFFFFF"/>
                </a:highlight>
                <a:latin typeface="Courier New"/>
                <a:ea typeface="Courier New"/>
                <a:cs typeface="Courier New"/>
                <a:sym typeface="Courier New"/>
              </a:rPr>
              <a:t> </a:t>
            </a:r>
            <a:r>
              <a:rPr b="1" lang="en" sz="1500">
                <a:solidFill>
                  <a:srgbClr val="0000C0"/>
                </a:solidFill>
                <a:highlight>
                  <a:srgbClr val="FFFFFF"/>
                </a:highlight>
                <a:latin typeface="Courier New"/>
                <a:ea typeface="Courier New"/>
                <a:cs typeface="Courier New"/>
                <a:sym typeface="Courier New"/>
              </a:rPr>
              <a:t>z</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lsm303AccelData_s</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457200" rtl="0" algn="l">
              <a:spcBef>
                <a:spcPts val="0"/>
              </a:spcBef>
              <a:spcAft>
                <a:spcPts val="0"/>
              </a:spcAft>
              <a:buNone/>
            </a:pPr>
            <a:r>
              <a:t/>
            </a:r>
            <a:endParaRPr>
              <a:latin typeface="Courier New"/>
              <a:ea typeface="Courier New"/>
              <a:cs typeface="Courier New"/>
              <a:sym typeface="Courier New"/>
            </a:endParaRPr>
          </a:p>
        </p:txBody>
      </p:sp>
      <p:sp>
        <p:nvSpPr>
          <p:cNvPr id="279" name="Google Shape;279;p31"/>
          <p:cNvSpPr txBox="1"/>
          <p:nvPr/>
        </p:nvSpPr>
        <p:spPr>
          <a:xfrm>
            <a:off x="5031900" y="1734475"/>
            <a:ext cx="3800400" cy="14907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LSM303_OUT_X_L_A       	0x28</a:t>
            </a:r>
            <a:endParaRPr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LSM303_OUT_X_H_A       	0x29</a:t>
            </a:r>
            <a:endParaRPr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LSM303_OUT_Y_L_A       	0x2A</a:t>
            </a:r>
            <a:endParaRPr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LSM303_OUT_Y_H_A       	0x2B</a:t>
            </a:r>
            <a:endParaRPr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LSM303_OUT_Z_L_A       	0x2C</a:t>
            </a:r>
            <a:endParaRPr sz="12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2"/>
                </a:solidFill>
                <a:latin typeface="Courier New"/>
                <a:ea typeface="Courier New"/>
                <a:cs typeface="Courier New"/>
                <a:sym typeface="Courier New"/>
              </a:rPr>
              <a:t>#define LSM303_OUT_Z_H_A       	0x2D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Thursday</a:t>
            </a:r>
            <a:endParaRPr/>
          </a:p>
        </p:txBody>
      </p:sp>
      <p:sp>
        <p:nvSpPr>
          <p:cNvPr id="285" name="Google Shape;285;p32"/>
          <p:cNvSpPr txBox="1"/>
          <p:nvPr>
            <p:ph idx="1" type="body"/>
          </p:nvPr>
        </p:nvSpPr>
        <p:spPr>
          <a:xfrm>
            <a:off x="311700" y="1536624"/>
            <a:ext cx="8520600" cy="388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the accelerometer readings on the daily page.</a:t>
            </a:r>
            <a:endParaRPr/>
          </a:p>
          <a:p>
            <a:pPr indent="-342900" lvl="0" marL="457200" rtl="0" algn="l">
              <a:spcBef>
                <a:spcPts val="0"/>
              </a:spcBef>
              <a:spcAft>
                <a:spcPts val="0"/>
              </a:spcAft>
              <a:buSzPts val="1800"/>
              <a:buChar char="●"/>
            </a:pPr>
            <a:r>
              <a:rPr lang="en"/>
              <a:t>On paper, write </a:t>
            </a:r>
            <a:r>
              <a:rPr b="1" lang="en">
                <a:latin typeface="Courier New"/>
                <a:ea typeface="Courier New"/>
                <a:cs typeface="Courier New"/>
                <a:sym typeface="Courier New"/>
              </a:rPr>
              <a:t>lsm303_AccelRegisterWrite()</a:t>
            </a:r>
            <a:r>
              <a:rPr lang="en"/>
              <a:t>.  (Mimic the read function.)</a:t>
            </a:r>
            <a:endParaRPr/>
          </a:p>
          <a:p>
            <a:pPr indent="-342900" lvl="0" marL="457200" rtl="0" algn="l">
              <a:spcBef>
                <a:spcPts val="0"/>
              </a:spcBef>
              <a:spcAft>
                <a:spcPts val="0"/>
              </a:spcAft>
              <a:buSzPts val="1800"/>
              <a:buChar char="●"/>
            </a:pPr>
            <a:r>
              <a:rPr lang="en"/>
              <a:t>From the data sheet, what values should you program into Control Registers 1 and 4? Take notes on paper.</a:t>
            </a:r>
            <a:endParaRPr/>
          </a:p>
          <a:p>
            <a:pPr indent="0" lvl="0" marL="0" rtl="0" algn="l">
              <a:spcBef>
                <a:spcPts val="1600"/>
              </a:spcBef>
              <a:spcAft>
                <a:spcPts val="1600"/>
              </a:spcAft>
              <a:buNone/>
            </a:pPr>
            <a:r>
              <a:t/>
            </a:r>
            <a:endParaRPr/>
          </a:p>
        </p:txBody>
      </p:sp>
      <p:sp>
        <p:nvSpPr>
          <p:cNvPr id="286" name="Google Shape;286;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