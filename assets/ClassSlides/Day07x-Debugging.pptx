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3"/>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18eb1d304b_1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118eb1d304b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fb7cdf397f_0_24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fb7cdf397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1e0e04a80_0_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91e0e04a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1e0e04a80_0_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1e0e04a8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18eb1d304b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118eb1d304b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1e0e04a80_0_20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1e0e04a80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8eb1d304b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118eb1d304b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8eb1d304b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118eb1d304b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1e0e04a80_0_21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1e0e04a80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18eb1d304b_1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118eb1d304b_1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91e0e04a80_0_21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91e0e04a80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18eb1d304b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118eb1d304b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8eb1d304b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118eb1d304b_1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8eb1d304b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118eb1d304b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fc400b210_0_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efc400b21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efc400b210_0_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efc400b21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efc400b210_0_2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efc400b21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efc400b210_0_2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efc400b21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efc400b210_0_5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efc400b21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fc400b210_0_6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efc400b21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efc400b210_0_6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efc400b21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 = 117 = 0x75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fceccdfa53_0_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fceccdfa5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 name="Shape 62"/>
        <p:cNvGrpSpPr/>
        <p:nvPr/>
      </p:nvGrpSpPr>
      <p:grpSpPr>
        <a:xfrm>
          <a:off x="0" y="0"/>
          <a:ext cx="0" cy="0"/>
          <a:chOff x="0" y="0"/>
          <a:chExt cx="0" cy="0"/>
        </a:xfrm>
      </p:grpSpPr>
      <p:sp>
        <p:nvSpPr>
          <p:cNvPr id="63" name="Google Shape;6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p1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5" name="Google Shape;65;p1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6" name="Google Shape;6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0" name="Shape 70"/>
        <p:cNvGrpSpPr/>
        <p:nvPr/>
      </p:nvGrpSpPr>
      <p:grpSpPr>
        <a:xfrm>
          <a:off x="0" y="0"/>
          <a:ext cx="0" cy="0"/>
          <a:chOff x="0" y="0"/>
          <a:chExt cx="0" cy="0"/>
        </a:xfrm>
      </p:grpSpPr>
      <p:sp>
        <p:nvSpPr>
          <p:cNvPr id="71" name="Google Shape;71;p1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2" name="Google Shape;72;p1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3" name="Google Shape;7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 name="Shape 74"/>
        <p:cNvGrpSpPr/>
        <p:nvPr/>
      </p:nvGrpSpPr>
      <p:grpSpPr>
        <a:xfrm>
          <a:off x="0" y="0"/>
          <a:ext cx="0" cy="0"/>
          <a:chOff x="0" y="0"/>
          <a:chExt cx="0" cy="0"/>
        </a:xfrm>
      </p:grpSpPr>
      <p:sp>
        <p:nvSpPr>
          <p:cNvPr id="75" name="Google Shape;75;p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6" name="Google Shape;7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2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0" name="Google Shape;80;p2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1" name="Google Shape;81;p2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2" name="Google Shape;82;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p2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5" name="Google Shape;8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sp>
        <p:nvSpPr>
          <p:cNvPr id="87" name="Google Shape;87;p2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8" name="Google Shape;88;p2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89" name="Google Shape;8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3.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20.png"/><Relationship Id="rId5"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4"/>
          <p:cNvSpPr txBox="1"/>
          <p:nvPr>
            <p:ph type="ctrTitle"/>
          </p:nvPr>
        </p:nvSpPr>
        <p:spPr>
          <a:xfrm>
            <a:off x="1376781" y="744575"/>
            <a:ext cx="6390600" cy="2052600"/>
          </a:xfrm>
          <a:prstGeom prst="rect">
            <a:avLst/>
          </a:prstGeom>
          <a:noFill/>
          <a:ln>
            <a:noFill/>
          </a:ln>
        </p:spPr>
        <p:txBody>
          <a:bodyPr anchorCtr="0" anchor="b" bIns="68550" lIns="68550" spcFirstLastPara="1" rIns="68550" wrap="square" tIns="68550">
            <a:noAutofit/>
          </a:bodyPr>
          <a:lstStyle/>
          <a:p>
            <a:pPr indent="0" lvl="0" marL="0" rtl="0" algn="ctr">
              <a:lnSpc>
                <a:spcPct val="100000"/>
              </a:lnSpc>
              <a:spcBef>
                <a:spcPts val="0"/>
              </a:spcBef>
              <a:spcAft>
                <a:spcPts val="0"/>
              </a:spcAft>
              <a:buSzPts val="5200"/>
              <a:buNone/>
            </a:pPr>
            <a:r>
              <a:rPr lang="en" sz="2800">
                <a:solidFill>
                  <a:schemeClr val="dk2"/>
                </a:solidFill>
                <a:latin typeface="Comic Sans MS"/>
                <a:ea typeface="Comic Sans MS"/>
                <a:cs typeface="Comic Sans MS"/>
                <a:sym typeface="Comic Sans MS"/>
              </a:rPr>
              <a:t>ENGS 28</a:t>
            </a:r>
            <a:endParaRPr sz="2800">
              <a:solidFill>
                <a:schemeClr val="dk2"/>
              </a:solidFill>
              <a:latin typeface="Comic Sans MS"/>
              <a:ea typeface="Comic Sans MS"/>
              <a:cs typeface="Comic Sans MS"/>
              <a:sym typeface="Comic Sans MS"/>
            </a:endParaRPr>
          </a:p>
          <a:p>
            <a:pPr indent="0" lvl="0" marL="0" rtl="0" algn="ctr">
              <a:lnSpc>
                <a:spcPct val="100000"/>
              </a:lnSpc>
              <a:spcBef>
                <a:spcPts val="0"/>
              </a:spcBef>
              <a:spcAft>
                <a:spcPts val="0"/>
              </a:spcAft>
              <a:buSzPts val="5200"/>
              <a:buNone/>
            </a:pPr>
            <a:r>
              <a:rPr lang="en">
                <a:latin typeface="Comic Sans MS"/>
                <a:ea typeface="Comic Sans MS"/>
                <a:cs typeface="Comic Sans MS"/>
                <a:sym typeface="Comic Sans MS"/>
              </a:rPr>
              <a:t>Embedded Systems</a:t>
            </a:r>
            <a:endParaRPr>
              <a:latin typeface="Comic Sans MS"/>
              <a:ea typeface="Comic Sans MS"/>
              <a:cs typeface="Comic Sans MS"/>
              <a:sym typeface="Comic Sans MS"/>
            </a:endParaRPr>
          </a:p>
        </p:txBody>
      </p:sp>
      <p:sp>
        <p:nvSpPr>
          <p:cNvPr id="97" name="Google Shape;97;p24"/>
          <p:cNvSpPr txBox="1"/>
          <p:nvPr>
            <p:ph idx="1" type="subTitle"/>
          </p:nvPr>
        </p:nvSpPr>
        <p:spPr>
          <a:xfrm>
            <a:off x="1376700" y="2719006"/>
            <a:ext cx="6390600" cy="792600"/>
          </a:xfrm>
          <a:prstGeom prst="rect">
            <a:avLst/>
          </a:prstGeom>
          <a:noFill/>
          <a:ln>
            <a:noFill/>
          </a:ln>
        </p:spPr>
        <p:txBody>
          <a:bodyPr anchorCtr="0" anchor="t" bIns="68550" lIns="68550" spcFirstLastPara="1" rIns="68550" wrap="square" tIns="68550">
            <a:noAutofit/>
          </a:bodyPr>
          <a:lstStyle/>
          <a:p>
            <a:pPr indent="0" lvl="0" marL="0" rtl="0" algn="ctr">
              <a:lnSpc>
                <a:spcPct val="100000"/>
              </a:lnSpc>
              <a:spcBef>
                <a:spcPts val="0"/>
              </a:spcBef>
              <a:spcAft>
                <a:spcPts val="0"/>
              </a:spcAft>
              <a:buSzPts val="2800"/>
              <a:buNone/>
            </a:pPr>
            <a:r>
              <a:t/>
            </a:r>
            <a:endParaRPr>
              <a:latin typeface="Comic Sans MS"/>
              <a:ea typeface="Comic Sans MS"/>
              <a:cs typeface="Comic Sans MS"/>
              <a:sym typeface="Comic Sans MS"/>
            </a:endParaRPr>
          </a:p>
          <a:p>
            <a:pPr indent="0" lvl="0" marL="0" rtl="0" algn="ctr">
              <a:lnSpc>
                <a:spcPct val="100000"/>
              </a:lnSpc>
              <a:spcBef>
                <a:spcPts val="0"/>
              </a:spcBef>
              <a:spcAft>
                <a:spcPts val="0"/>
              </a:spcAft>
              <a:buSzPts val="2800"/>
              <a:buNone/>
            </a:pPr>
            <a:r>
              <a:rPr lang="en">
                <a:latin typeface="Comic Sans MS"/>
                <a:ea typeface="Comic Sans MS"/>
                <a:cs typeface="Comic Sans MS"/>
                <a:sym typeface="Comic Sans MS"/>
              </a:rPr>
              <a:t>Day 7x Debugging tips</a:t>
            </a:r>
            <a:endParaRPr sz="2000">
              <a:latin typeface="Comic Sans MS"/>
              <a:ea typeface="Comic Sans MS"/>
              <a:cs typeface="Comic Sans MS"/>
              <a:sym typeface="Comic Sans MS"/>
            </a:endParaRPr>
          </a:p>
        </p:txBody>
      </p:sp>
      <p:pic>
        <p:nvPicPr>
          <p:cNvPr id="98" name="Google Shape;98;p24"/>
          <p:cNvPicPr preferRelativeResize="0"/>
          <p:nvPr/>
        </p:nvPicPr>
        <p:blipFill>
          <a:blip r:embed="rId3">
            <a:alphaModFix/>
          </a:blip>
          <a:stretch>
            <a:fillRect/>
          </a:stretch>
        </p:blipFill>
        <p:spPr>
          <a:xfrm>
            <a:off x="525637" y="296766"/>
            <a:ext cx="1103550" cy="1001062"/>
          </a:xfrm>
          <a:prstGeom prst="rect">
            <a:avLst/>
          </a:prstGeom>
          <a:noFill/>
          <a:ln>
            <a:noFill/>
          </a:ln>
        </p:spPr>
      </p:pic>
      <p:pic>
        <p:nvPicPr>
          <p:cNvPr id="99" name="Google Shape;99;p24"/>
          <p:cNvPicPr preferRelativeResize="0"/>
          <p:nvPr/>
        </p:nvPicPr>
        <p:blipFill rotWithShape="1">
          <a:blip r:embed="rId4">
            <a:alphaModFix/>
          </a:blip>
          <a:srcRect b="0" l="0" r="0" t="0"/>
          <a:stretch/>
        </p:blipFill>
        <p:spPr>
          <a:xfrm>
            <a:off x="7600125" y="0"/>
            <a:ext cx="1157907" cy="15945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ph type="ctrTitle"/>
          </p:nvPr>
        </p:nvSpPr>
        <p:spPr>
          <a:xfrm>
            <a:off x="311700" y="1994213"/>
            <a:ext cx="8520600" cy="701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Debugging Tips and Tricks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 name="Shape 108"/>
        <p:cNvGrpSpPr/>
        <p:nvPr/>
      </p:nvGrpSpPr>
      <p:grpSpPr>
        <a:xfrm>
          <a:off x="0" y="0"/>
          <a:ext cx="0" cy="0"/>
          <a:chOff x="0" y="0"/>
          <a:chExt cx="0" cy="0"/>
        </a:xfrm>
      </p:grpSpPr>
      <p:sp>
        <p:nvSpPr>
          <p:cNvPr id="109" name="Google Shape;10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Instructor Notes</a:t>
            </a:r>
            <a:endParaRPr/>
          </a:p>
        </p:txBody>
      </p:sp>
      <p:sp>
        <p:nvSpPr>
          <p:cNvPr id="110" name="Google Shape;110;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Lots of weird problems cropping up with the debugger.  Some are probably related to not stopping one debug session before starting the next. </a:t>
            </a:r>
            <a:endParaRPr/>
          </a:p>
          <a:p>
            <a:pPr indent="-342900" lvl="0" marL="457200" rtl="0" algn="l">
              <a:spcBef>
                <a:spcPts val="0"/>
              </a:spcBef>
              <a:spcAft>
                <a:spcPts val="0"/>
              </a:spcAft>
              <a:buSzPts val="1800"/>
              <a:buChar char="●"/>
            </a:pPr>
            <a:r>
              <a:rPr lang="en"/>
              <a:t>Many many cases of plugging VDD for the breadboard into the NRST pin.  This tends to reset the processor unexpectedly.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 name="Shape 114"/>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Where do bugs come from?</a:t>
            </a:r>
            <a:br>
              <a:rPr lang="en"/>
            </a:br>
            <a:r>
              <a:rPr lang="en" sz="1800"/>
              <a:t>How many of these programming errors have you made?</a:t>
            </a:r>
            <a:endParaRPr/>
          </a:p>
        </p:txBody>
      </p:sp>
      <p:sp>
        <p:nvSpPr>
          <p:cNvPr id="120" name="Google Shape;120;p28"/>
          <p:cNvSpPr txBox="1"/>
          <p:nvPr>
            <p:ph idx="1" type="body"/>
          </p:nvPr>
        </p:nvSpPr>
        <p:spPr>
          <a:xfrm>
            <a:off x="248270" y="1309171"/>
            <a:ext cx="4281300" cy="3177900"/>
          </a:xfrm>
          <a:prstGeom prst="rect">
            <a:avLst/>
          </a:prstGeom>
          <a:noFill/>
          <a:ln>
            <a:noFill/>
          </a:ln>
        </p:spPr>
        <p:txBody>
          <a:bodyPr anchorCtr="0" anchor="t" bIns="91425" lIns="91425" spcFirstLastPara="1" rIns="91425" wrap="square" tIns="91425">
            <a:normAutofit fontScale="47500" lnSpcReduction="10000"/>
          </a:bodyPr>
          <a:lstStyle/>
          <a:p>
            <a:pPr indent="-263461" lvl="0" marL="336550" rtl="0" algn="l">
              <a:lnSpc>
                <a:spcPct val="160000"/>
              </a:lnSpc>
              <a:spcBef>
                <a:spcPts val="0"/>
              </a:spcBef>
              <a:spcAft>
                <a:spcPts val="0"/>
              </a:spcAft>
              <a:buSzPct val="90000"/>
              <a:buChar char="●"/>
            </a:pPr>
            <a:r>
              <a:rPr lang="en" sz="2600">
                <a:solidFill>
                  <a:schemeClr val="dk2"/>
                </a:solidFill>
              </a:rPr>
              <a:t>Missing or extra semicolon, ), or }</a:t>
            </a:r>
            <a:endParaRPr/>
          </a:p>
          <a:p>
            <a:pPr indent="-263461" lvl="0" marL="336550" rtl="0" algn="l">
              <a:lnSpc>
                <a:spcPct val="160000"/>
              </a:lnSpc>
              <a:spcBef>
                <a:spcPts val="0"/>
              </a:spcBef>
              <a:spcAft>
                <a:spcPts val="0"/>
              </a:spcAft>
              <a:buSzPct val="90000"/>
              <a:buChar char="●"/>
            </a:pPr>
            <a:r>
              <a:rPr lang="en" sz="2600">
                <a:solidFill>
                  <a:schemeClr val="dk2"/>
                </a:solidFill>
              </a:rPr>
              <a:t>Incorrect register name</a:t>
            </a:r>
            <a:endParaRPr/>
          </a:p>
          <a:p>
            <a:pPr indent="-263461" lvl="0" marL="336550" rtl="0" algn="l">
              <a:lnSpc>
                <a:spcPct val="160000"/>
              </a:lnSpc>
              <a:spcBef>
                <a:spcPts val="0"/>
              </a:spcBef>
              <a:spcAft>
                <a:spcPts val="0"/>
              </a:spcAft>
              <a:buSzPct val="90000"/>
              <a:buChar char="●"/>
            </a:pPr>
            <a:r>
              <a:rPr lang="en" sz="2600">
                <a:solidFill>
                  <a:schemeClr val="dk2"/>
                </a:solidFill>
              </a:rPr>
              <a:t>Missing #include files</a:t>
            </a:r>
            <a:endParaRPr/>
          </a:p>
          <a:p>
            <a:pPr indent="-263461" lvl="0" marL="336550" rtl="0" algn="l">
              <a:lnSpc>
                <a:spcPct val="160000"/>
              </a:lnSpc>
              <a:spcBef>
                <a:spcPts val="0"/>
              </a:spcBef>
              <a:spcAft>
                <a:spcPts val="0"/>
              </a:spcAft>
              <a:buSzPct val="90000"/>
              <a:buChar char="●"/>
            </a:pPr>
            <a:r>
              <a:rPr lang="en" sz="2600">
                <a:solidFill>
                  <a:schemeClr val="dk2"/>
                </a:solidFill>
              </a:rPr>
              <a:t>Incorrect constant (#define) values</a:t>
            </a:r>
            <a:endParaRPr/>
          </a:p>
          <a:p>
            <a:pPr indent="-263461" lvl="0" marL="336550" rtl="0" algn="l">
              <a:lnSpc>
                <a:spcPct val="160000"/>
              </a:lnSpc>
              <a:spcBef>
                <a:spcPts val="0"/>
              </a:spcBef>
              <a:spcAft>
                <a:spcPts val="0"/>
              </a:spcAft>
              <a:buSzPct val="90000"/>
              <a:buChar char="●"/>
            </a:pPr>
            <a:r>
              <a:rPr lang="en" sz="2600">
                <a:solidFill>
                  <a:schemeClr val="dk2"/>
                </a:solidFill>
              </a:rPr>
              <a:t>Undeclared or uninitialized variables</a:t>
            </a:r>
            <a:endParaRPr/>
          </a:p>
          <a:p>
            <a:pPr indent="-263461" lvl="0" marL="336550" rtl="0" algn="l">
              <a:lnSpc>
                <a:spcPct val="160000"/>
              </a:lnSpc>
              <a:spcBef>
                <a:spcPts val="0"/>
              </a:spcBef>
              <a:spcAft>
                <a:spcPts val="0"/>
              </a:spcAft>
              <a:buSzPct val="90000"/>
              <a:buChar char="●"/>
            </a:pPr>
            <a:r>
              <a:rPr lang="en" sz="2600">
                <a:solidFill>
                  <a:schemeClr val="dk2"/>
                </a:solidFill>
              </a:rPr>
              <a:t>Misspelled names</a:t>
            </a:r>
            <a:endParaRPr/>
          </a:p>
          <a:p>
            <a:pPr indent="-263461" lvl="0" marL="336550" rtl="0" algn="l">
              <a:lnSpc>
                <a:spcPct val="160000"/>
              </a:lnSpc>
              <a:spcBef>
                <a:spcPts val="0"/>
              </a:spcBef>
              <a:spcAft>
                <a:spcPts val="0"/>
              </a:spcAft>
              <a:buSzPct val="90000"/>
              <a:buChar char="●"/>
            </a:pPr>
            <a:r>
              <a:rPr lang="en" sz="2600">
                <a:solidFill>
                  <a:schemeClr val="dk2"/>
                </a:solidFill>
              </a:rPr>
              <a:t>Type mismatches</a:t>
            </a:r>
            <a:endParaRPr/>
          </a:p>
          <a:p>
            <a:pPr indent="-263461" lvl="0" marL="336550" rtl="0" algn="l">
              <a:lnSpc>
                <a:spcPct val="160000"/>
              </a:lnSpc>
              <a:spcBef>
                <a:spcPts val="0"/>
              </a:spcBef>
              <a:spcAft>
                <a:spcPts val="0"/>
              </a:spcAft>
              <a:buSzPct val="90000"/>
              <a:buChar char="●"/>
            </a:pPr>
            <a:r>
              <a:rPr lang="en" sz="2600">
                <a:solidFill>
                  <a:schemeClr val="dk2"/>
                </a:solidFill>
              </a:rPr>
              <a:t>No return statement in a function</a:t>
            </a:r>
            <a:endParaRPr/>
          </a:p>
          <a:p>
            <a:pPr indent="-263461" lvl="0" marL="336550" rtl="0" algn="l">
              <a:lnSpc>
                <a:spcPct val="160000"/>
              </a:lnSpc>
              <a:spcBef>
                <a:spcPts val="0"/>
              </a:spcBef>
              <a:spcAft>
                <a:spcPts val="0"/>
              </a:spcAft>
              <a:buSzPct val="90000"/>
              <a:buChar char="●"/>
            </a:pPr>
            <a:r>
              <a:rPr lang="en" sz="2600">
                <a:solidFill>
                  <a:schemeClr val="dk2"/>
                </a:solidFill>
              </a:rPr>
              <a:t>= or ==?  &amp; or &amp;&amp;?  | or ||?  ~ or !?</a:t>
            </a:r>
            <a:endParaRPr/>
          </a:p>
          <a:p>
            <a:pPr indent="-263461" lvl="0" marL="336550" rtl="0" algn="l">
              <a:lnSpc>
                <a:spcPct val="160000"/>
              </a:lnSpc>
              <a:spcBef>
                <a:spcPts val="0"/>
              </a:spcBef>
              <a:spcAft>
                <a:spcPts val="0"/>
              </a:spcAft>
              <a:buSzPct val="90000"/>
              <a:buChar char="●"/>
            </a:pPr>
            <a:r>
              <a:rPr lang="en" sz="2600">
                <a:solidFill>
                  <a:schemeClr val="dk2"/>
                </a:solidFill>
              </a:rPr>
              <a:t>Alas, many others…</a:t>
            </a:r>
            <a:endParaRPr/>
          </a:p>
          <a:p>
            <a:pPr indent="0" lvl="0" marL="50800" rtl="0" algn="l">
              <a:lnSpc>
                <a:spcPct val="115000"/>
              </a:lnSpc>
              <a:spcBef>
                <a:spcPts val="0"/>
              </a:spcBef>
              <a:spcAft>
                <a:spcPts val="0"/>
              </a:spcAft>
              <a:buSzPct val="90000"/>
              <a:buNone/>
            </a:pPr>
            <a:r>
              <a:t/>
            </a:r>
            <a:endParaRPr>
              <a:solidFill>
                <a:schemeClr val="dk2"/>
              </a:solidFill>
            </a:endParaRPr>
          </a:p>
        </p:txBody>
      </p:sp>
      <p:sp>
        <p:nvSpPr>
          <p:cNvPr id="121" name="Google Shape;121;p28"/>
          <p:cNvSpPr txBox="1"/>
          <p:nvPr/>
        </p:nvSpPr>
        <p:spPr>
          <a:xfrm>
            <a:off x="5038283" y="1733070"/>
            <a:ext cx="3730500" cy="206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600" u="none" cap="none" strike="noStrike">
                <a:solidFill>
                  <a:schemeClr val="dk2"/>
                </a:solidFill>
                <a:latin typeface="Arial"/>
                <a:ea typeface="Arial"/>
                <a:cs typeface="Arial"/>
                <a:sym typeface="Arial"/>
              </a:rPr>
              <a:t>Some of these will be caught by the compiler.</a:t>
            </a:r>
            <a:endParaRPr/>
          </a:p>
          <a:p>
            <a:pPr indent="0" lvl="0" marL="0" marR="0" rtl="0" algn="l">
              <a:lnSpc>
                <a:spcPct val="100000"/>
              </a:lnSpc>
              <a:spcBef>
                <a:spcPts val="0"/>
              </a:spcBef>
              <a:spcAft>
                <a:spcPts val="0"/>
              </a:spcAft>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b="0" i="0" lang="en" sz="1600" u="none" cap="none" strike="noStrike">
                <a:solidFill>
                  <a:schemeClr val="dk2"/>
                </a:solidFill>
                <a:latin typeface="Arial"/>
                <a:ea typeface="Arial"/>
                <a:cs typeface="Arial"/>
                <a:sym typeface="Arial"/>
              </a:rPr>
              <a:t>The ones that aren’t caught lead to incorrect program execution.</a:t>
            </a:r>
            <a:endParaRPr/>
          </a:p>
          <a:p>
            <a:pPr indent="0" lvl="0" marL="0" marR="0" rtl="0" algn="l">
              <a:lnSpc>
                <a:spcPct val="100000"/>
              </a:lnSpc>
              <a:spcBef>
                <a:spcPts val="0"/>
              </a:spcBef>
              <a:spcAft>
                <a:spcPts val="0"/>
              </a:spcAft>
              <a:buNone/>
            </a:pPr>
            <a:r>
              <a:t/>
            </a:r>
            <a:endParaRPr b="0" i="0" sz="16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None/>
            </a:pPr>
            <a:r>
              <a:rPr b="0" i="0" lang="en" sz="1600" u="none" cap="none" strike="noStrike">
                <a:solidFill>
                  <a:schemeClr val="dk2"/>
                </a:solidFill>
                <a:latin typeface="Arial"/>
                <a:ea typeface="Arial"/>
                <a:cs typeface="Arial"/>
                <a:sym typeface="Arial"/>
              </a:rPr>
              <a:t>When your program fails, how do you find the errors?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Good practices to help prevent bugs</a:t>
            </a:r>
            <a:endParaRPr/>
          </a:p>
        </p:txBody>
      </p:sp>
      <p:sp>
        <p:nvSpPr>
          <p:cNvPr id="131" name="Google Shape;131;p30"/>
          <p:cNvSpPr txBox="1"/>
          <p:nvPr>
            <p:ph idx="1" type="body"/>
          </p:nvPr>
        </p:nvSpPr>
        <p:spPr>
          <a:xfrm>
            <a:off x="239032" y="1017725"/>
            <a:ext cx="8593200" cy="37662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Char char="●"/>
            </a:pPr>
            <a:r>
              <a:rPr lang="en" sz="1600"/>
              <a:t>Plan the design on paper — block diagrams, pseudocode, state diagrams, etc.</a:t>
            </a:r>
            <a:endParaRPr/>
          </a:p>
          <a:p>
            <a:pPr indent="-342900" lvl="0" marL="457200" rtl="0" algn="l">
              <a:lnSpc>
                <a:spcPct val="115000"/>
              </a:lnSpc>
              <a:spcBef>
                <a:spcPts val="600"/>
              </a:spcBef>
              <a:spcAft>
                <a:spcPts val="0"/>
              </a:spcAft>
              <a:buSzPts val="1800"/>
              <a:buChar char="●"/>
            </a:pPr>
            <a:r>
              <a:rPr lang="en" sz="1600"/>
              <a:t>Use the file header to record information about the file.</a:t>
            </a:r>
            <a:endParaRPr/>
          </a:p>
          <a:p>
            <a:pPr indent="-342900" lvl="0" marL="457200" rtl="0" algn="l">
              <a:lnSpc>
                <a:spcPct val="115000"/>
              </a:lnSpc>
              <a:spcBef>
                <a:spcPts val="600"/>
              </a:spcBef>
              <a:spcAft>
                <a:spcPts val="0"/>
              </a:spcAft>
              <a:buSzPts val="1800"/>
              <a:buChar char="●"/>
            </a:pPr>
            <a:r>
              <a:rPr lang="en" sz="1600"/>
              <a:t>Write in small chunks and test as you go.</a:t>
            </a:r>
            <a:endParaRPr/>
          </a:p>
          <a:p>
            <a:pPr indent="-342900" lvl="0" marL="457200" rtl="0" algn="l">
              <a:lnSpc>
                <a:spcPct val="115000"/>
              </a:lnSpc>
              <a:spcBef>
                <a:spcPts val="600"/>
              </a:spcBef>
              <a:spcAft>
                <a:spcPts val="0"/>
              </a:spcAft>
              <a:buSzPts val="1800"/>
              <a:buChar char="●"/>
            </a:pPr>
            <a:r>
              <a:rPr lang="en" sz="1600"/>
              <a:t>Strive for readable code.</a:t>
            </a:r>
            <a:endParaRPr/>
          </a:p>
          <a:p>
            <a:pPr indent="-342900" lvl="0" marL="457200" rtl="0" algn="l">
              <a:lnSpc>
                <a:spcPct val="115000"/>
              </a:lnSpc>
              <a:spcBef>
                <a:spcPts val="600"/>
              </a:spcBef>
              <a:spcAft>
                <a:spcPts val="0"/>
              </a:spcAft>
              <a:buSzPts val="1800"/>
              <a:buChar char="●"/>
            </a:pPr>
            <a:r>
              <a:rPr lang="en" sz="1600"/>
              <a:t>Use functions — a good function has one clear objective, “set up the UART”, “get a value from the ADC”.</a:t>
            </a:r>
            <a:endParaRPr/>
          </a:p>
          <a:p>
            <a:pPr indent="-342900" lvl="0" marL="457200" rtl="0" algn="l">
              <a:lnSpc>
                <a:spcPct val="115000"/>
              </a:lnSpc>
              <a:spcBef>
                <a:spcPts val="600"/>
              </a:spcBef>
              <a:spcAft>
                <a:spcPts val="0"/>
              </a:spcAft>
              <a:buSzPts val="1800"/>
              <a:buChar char="●"/>
            </a:pPr>
            <a:r>
              <a:rPr lang="en" sz="1600"/>
              <a:t>Comment as you go, to narrate your process and leave notes for the next person.</a:t>
            </a:r>
            <a:endParaRPr/>
          </a:p>
          <a:p>
            <a:pPr indent="-342900" lvl="0" marL="457200" rtl="0" algn="l">
              <a:lnSpc>
                <a:spcPct val="115000"/>
              </a:lnSpc>
              <a:spcBef>
                <a:spcPts val="600"/>
              </a:spcBef>
              <a:spcAft>
                <a:spcPts val="0"/>
              </a:spcAft>
              <a:buSzPts val="1800"/>
              <a:buChar char="●"/>
            </a:pPr>
            <a:r>
              <a:rPr lang="en" sz="1600"/>
              <a:t>Use named constants (const or #define) rather than literal constants (a.k.a. “magic numbers”).</a:t>
            </a:r>
            <a:endParaRPr/>
          </a:p>
          <a:p>
            <a:pPr indent="-342900" lvl="0" marL="457200" rtl="0" algn="l">
              <a:lnSpc>
                <a:spcPct val="115000"/>
              </a:lnSpc>
              <a:spcBef>
                <a:spcPts val="600"/>
              </a:spcBef>
              <a:spcAft>
                <a:spcPts val="0"/>
              </a:spcAft>
              <a:buSzPts val="1800"/>
              <a:buChar char="●"/>
            </a:pPr>
            <a:r>
              <a:rPr lang="en" sz="1600"/>
              <a:t>Delete commented-out code from the final version.</a:t>
            </a:r>
            <a:endParaRPr/>
          </a:p>
          <a:p>
            <a:pPr indent="-228600" lvl="0" marL="457200" rtl="0" algn="l">
              <a:lnSpc>
                <a:spcPct val="115000"/>
              </a:lnSpc>
              <a:spcBef>
                <a:spcPts val="600"/>
              </a:spcBef>
              <a:spcAft>
                <a:spcPts val="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Writing loops: for or while?</a:t>
            </a:r>
            <a:endParaRPr/>
          </a:p>
        </p:txBody>
      </p:sp>
      <p:sp>
        <p:nvSpPr>
          <p:cNvPr id="137" name="Google Shape;137;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114300" rtl="0" algn="l">
              <a:lnSpc>
                <a:spcPct val="115000"/>
              </a:lnSpc>
              <a:spcBef>
                <a:spcPts val="0"/>
              </a:spcBef>
              <a:spcAft>
                <a:spcPts val="0"/>
              </a:spcAft>
              <a:buSzPts val="1800"/>
              <a:buNone/>
            </a:pPr>
            <a:r>
              <a:rPr lang="en" sz="1600"/>
              <a:t>Typically, </a:t>
            </a:r>
            <a:r>
              <a:rPr b="1" lang="en" sz="1600"/>
              <a:t>for</a:t>
            </a:r>
            <a:r>
              <a:rPr lang="en" sz="1600"/>
              <a:t> is used when you know in advance how many times you want to iterate over the loop, e.g.,</a:t>
            </a:r>
            <a:endParaRPr/>
          </a:p>
          <a:p>
            <a:pPr indent="0" lvl="1" marL="571500" rtl="0" algn="l">
              <a:lnSpc>
                <a:spcPct val="115000"/>
              </a:lnSpc>
              <a:spcBef>
                <a:spcPts val="0"/>
              </a:spcBef>
              <a:spcAft>
                <a:spcPts val="0"/>
              </a:spcAft>
              <a:buSzPts val="1400"/>
              <a:buNone/>
            </a:pPr>
            <a:r>
              <a:rPr b="1" lang="en">
                <a:solidFill>
                  <a:srgbClr val="0000FF"/>
                </a:solidFill>
                <a:latin typeface="Courier New"/>
                <a:ea typeface="Courier New"/>
                <a:cs typeface="Courier New"/>
                <a:sym typeface="Courier New"/>
              </a:rPr>
              <a:t>for(i=0; i&lt;N; i++) { /* do stuff */ }</a:t>
            </a:r>
            <a:endParaRPr b="1">
              <a:solidFill>
                <a:srgbClr val="0000FF"/>
              </a:solidFill>
            </a:endParaRPr>
          </a:p>
          <a:p>
            <a:pPr indent="0" lvl="0" marL="114300" rtl="0" algn="l">
              <a:lnSpc>
                <a:spcPct val="115000"/>
              </a:lnSpc>
              <a:spcBef>
                <a:spcPts val="0"/>
              </a:spcBef>
              <a:spcAft>
                <a:spcPts val="0"/>
              </a:spcAft>
              <a:buSzPts val="1800"/>
              <a:buNone/>
            </a:pPr>
            <a:r>
              <a:t/>
            </a:r>
            <a:endParaRPr sz="1600"/>
          </a:p>
          <a:p>
            <a:pPr indent="0" lvl="0" marL="114300" rtl="0" algn="l">
              <a:lnSpc>
                <a:spcPct val="115000"/>
              </a:lnSpc>
              <a:spcBef>
                <a:spcPts val="0"/>
              </a:spcBef>
              <a:spcAft>
                <a:spcPts val="0"/>
              </a:spcAft>
              <a:buSzPts val="1800"/>
              <a:buNone/>
            </a:pPr>
            <a:r>
              <a:rPr lang="en" sz="1600"/>
              <a:t>On the other hand, </a:t>
            </a:r>
            <a:r>
              <a:rPr b="1" lang="en" sz="1600"/>
              <a:t>while</a:t>
            </a:r>
            <a:r>
              <a:rPr lang="en" sz="1600"/>
              <a:t> is typically used when you don't know how many times you will iterate, e.g.,</a:t>
            </a:r>
            <a:endParaRPr/>
          </a:p>
          <a:p>
            <a:pPr indent="0" lvl="1" marL="571500" rtl="0" algn="l">
              <a:lnSpc>
                <a:spcPct val="115000"/>
              </a:lnSpc>
              <a:spcBef>
                <a:spcPts val="0"/>
              </a:spcBef>
              <a:spcAft>
                <a:spcPts val="0"/>
              </a:spcAft>
              <a:buSzPts val="1400"/>
              <a:buNone/>
            </a:pPr>
            <a:r>
              <a:rPr b="1" lang="en">
                <a:solidFill>
                  <a:srgbClr val="0000FF"/>
                </a:solidFill>
                <a:latin typeface="Courier New"/>
                <a:ea typeface="Courier New"/>
                <a:cs typeface="Courier New"/>
                <a:sym typeface="Courier New"/>
              </a:rPr>
              <a:t>while (condition) { /* do stuff */ }</a:t>
            </a:r>
            <a:endParaRPr b="1">
              <a:solidFill>
                <a:srgbClr val="0000FF"/>
              </a:solidFill>
            </a:endParaRPr>
          </a:p>
          <a:p>
            <a:pPr indent="0" lvl="0" marL="114300" rtl="0" algn="l">
              <a:lnSpc>
                <a:spcPct val="115000"/>
              </a:lnSpc>
              <a:spcBef>
                <a:spcPts val="0"/>
              </a:spcBef>
              <a:spcAft>
                <a:spcPts val="0"/>
              </a:spcAft>
              <a:buSzPts val="1800"/>
              <a:buNone/>
            </a:pPr>
            <a:r>
              <a:rPr lang="en" sz="1600"/>
              <a:t>or</a:t>
            </a:r>
            <a:endParaRPr/>
          </a:p>
          <a:p>
            <a:pPr indent="0" lvl="1" marL="571500" rtl="0" algn="l">
              <a:lnSpc>
                <a:spcPct val="115000"/>
              </a:lnSpc>
              <a:spcBef>
                <a:spcPts val="0"/>
              </a:spcBef>
              <a:spcAft>
                <a:spcPts val="0"/>
              </a:spcAft>
              <a:buSzPts val="1400"/>
              <a:buNone/>
            </a:pPr>
            <a:r>
              <a:rPr b="1" lang="en">
                <a:solidFill>
                  <a:srgbClr val="0000FF"/>
                </a:solidFill>
                <a:latin typeface="Courier New"/>
                <a:ea typeface="Courier New"/>
                <a:cs typeface="Courier New"/>
                <a:sym typeface="Courier New"/>
              </a:rPr>
              <a:t>do { /* stuff */ } while (condition);</a:t>
            </a:r>
            <a:endParaRPr b="1">
              <a:solidFill>
                <a:srgbClr val="0000FF"/>
              </a:solidFill>
            </a:endParaRPr>
          </a:p>
          <a:p>
            <a:pPr indent="0" lvl="0" marL="114300" rtl="0" algn="l">
              <a:lnSpc>
                <a:spcPct val="115000"/>
              </a:lnSpc>
              <a:spcBef>
                <a:spcPts val="0"/>
              </a:spcBef>
              <a:spcAft>
                <a:spcPts val="0"/>
              </a:spcAft>
              <a:buSzPts val="1800"/>
              <a:buNone/>
            </a:pPr>
            <a:r>
              <a:t/>
            </a:r>
            <a:endParaRPr sz="1600"/>
          </a:p>
          <a:p>
            <a:pPr indent="0" lvl="0" marL="114300" rtl="0" algn="l">
              <a:lnSpc>
                <a:spcPct val="115000"/>
              </a:lnSpc>
              <a:spcBef>
                <a:spcPts val="0"/>
              </a:spcBef>
              <a:spcAft>
                <a:spcPts val="0"/>
              </a:spcAft>
              <a:buSzPts val="1800"/>
              <a:buNone/>
            </a:pPr>
            <a:r>
              <a:rPr lang="en" sz="1600"/>
              <a:t>C allows the use of </a:t>
            </a:r>
            <a:r>
              <a:rPr b="1" lang="en" sz="1600"/>
              <a:t>break</a:t>
            </a:r>
            <a:r>
              <a:rPr lang="en" sz="1600"/>
              <a:t> to prematurely exit a </a:t>
            </a:r>
            <a:r>
              <a:rPr b="1" lang="en" sz="1600"/>
              <a:t>for</a:t>
            </a:r>
            <a:r>
              <a:rPr lang="en" sz="1600"/>
              <a:t> loop, but this may indicate an awkward situation where the code should be written differently (try </a:t>
            </a:r>
            <a:r>
              <a:rPr b="1" lang="en" sz="1600"/>
              <a:t>while</a:t>
            </a:r>
            <a:r>
              <a:rPr lang="en" sz="1600"/>
              <a:t> instead).</a:t>
            </a:r>
            <a:endParaRPr/>
          </a:p>
          <a:p>
            <a:pPr indent="0" lvl="0" marL="114300" rtl="0" algn="l">
              <a:lnSpc>
                <a:spcPct val="115000"/>
              </a:lnSpc>
              <a:spcBef>
                <a:spcPts val="0"/>
              </a:spcBef>
              <a:spcAft>
                <a:spcPts val="0"/>
              </a:spcAft>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Finding bugs:  Hardware</a:t>
            </a:r>
            <a:endParaRPr/>
          </a:p>
        </p:txBody>
      </p:sp>
      <p:sp>
        <p:nvSpPr>
          <p:cNvPr id="147" name="Google Shape;147;p33"/>
          <p:cNvSpPr txBox="1"/>
          <p:nvPr>
            <p:ph idx="1" type="body"/>
          </p:nvPr>
        </p:nvSpPr>
        <p:spPr>
          <a:xfrm>
            <a:off x="311700" y="1017726"/>
            <a:ext cx="8577900" cy="3911700"/>
          </a:xfrm>
          <a:prstGeom prst="rect">
            <a:avLst/>
          </a:prstGeom>
          <a:noFill/>
          <a:ln>
            <a:noFill/>
          </a:ln>
        </p:spPr>
        <p:txBody>
          <a:bodyPr anchorCtr="0" anchor="t" bIns="91425" lIns="91425" spcFirstLastPara="1" rIns="91425" wrap="square" tIns="91425">
            <a:normAutofit/>
          </a:bodyPr>
          <a:lstStyle/>
          <a:p>
            <a:pPr indent="-285750" lvl="0" marL="412750" rtl="0" algn="l">
              <a:lnSpc>
                <a:spcPct val="115000"/>
              </a:lnSpc>
              <a:spcBef>
                <a:spcPts val="1200"/>
              </a:spcBef>
              <a:spcAft>
                <a:spcPts val="0"/>
              </a:spcAft>
              <a:buClr>
                <a:schemeClr val="dk1"/>
              </a:buClr>
              <a:buSzPts val="1440"/>
              <a:buChar char="●"/>
            </a:pPr>
            <a:r>
              <a:rPr lang="en" sz="1600">
                <a:solidFill>
                  <a:schemeClr val="dk2"/>
                </a:solidFill>
              </a:rPr>
              <a:t>Check your wiring</a:t>
            </a:r>
            <a:endParaRPr sz="1600">
              <a:solidFill>
                <a:schemeClr val="dk2"/>
              </a:solidFill>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Power and ground connected to the correct pins on devices?</a:t>
            </a:r>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Bypass capacitors installed?</a:t>
            </a:r>
            <a:endParaRPr sz="1600">
              <a:solidFill>
                <a:schemeClr val="dk2"/>
              </a:solidFill>
            </a:endParaRPr>
          </a:p>
          <a:p>
            <a:pPr indent="-295910" lvl="1" marL="869950" rtl="0" algn="l">
              <a:lnSpc>
                <a:spcPct val="115000"/>
              </a:lnSpc>
              <a:spcBef>
                <a:spcPts val="0"/>
              </a:spcBef>
              <a:spcAft>
                <a:spcPts val="0"/>
              </a:spcAft>
              <a:buSzPts val="1600"/>
              <a:buChar char="○"/>
            </a:pPr>
            <a:r>
              <a:rPr lang="en" sz="1600"/>
              <a:t>LED polarity correct?</a:t>
            </a:r>
            <a:endParaRPr sz="1600"/>
          </a:p>
          <a:p>
            <a:pPr indent="-285750" lvl="1" marL="869950" rtl="0" algn="l">
              <a:lnSpc>
                <a:spcPct val="115000"/>
              </a:lnSpc>
              <a:spcBef>
                <a:spcPts val="0"/>
              </a:spcBef>
              <a:spcAft>
                <a:spcPts val="0"/>
              </a:spcAft>
              <a:buClr>
                <a:schemeClr val="dk1"/>
              </a:buClr>
              <a:buSzPts val="1440"/>
              <a:buChar char="○"/>
            </a:pPr>
            <a:r>
              <a:rPr lang="en" sz="1600">
                <a:solidFill>
                  <a:schemeClr val="dk2"/>
                </a:solidFill>
              </a:rPr>
              <a:t>Are wires pushed into the breadboard all the way?</a:t>
            </a:r>
            <a:endParaRPr sz="1600">
              <a:solidFill>
                <a:schemeClr val="dk2"/>
              </a:solidFill>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Does each wire begin and end where it should, according to your circuit diagram?</a:t>
            </a:r>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If (and only if) wiring checks out, apply power.</a:t>
            </a:r>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Remove power to make changes.</a:t>
            </a:r>
            <a:endParaRPr/>
          </a:p>
          <a:p>
            <a:pPr indent="0" lvl="1" marL="584200" rtl="0" algn="l">
              <a:lnSpc>
                <a:spcPct val="115000"/>
              </a:lnSpc>
              <a:spcBef>
                <a:spcPts val="0"/>
              </a:spcBef>
              <a:spcAft>
                <a:spcPts val="0"/>
              </a:spcAft>
              <a:buClr>
                <a:schemeClr val="dk1"/>
              </a:buClr>
              <a:buSzPts val="1440"/>
              <a:buNone/>
            </a:pPr>
            <a:r>
              <a:t/>
            </a:r>
            <a:endParaRPr sz="1600">
              <a:solidFill>
                <a:schemeClr val="dk2"/>
              </a:solidFill>
            </a:endParaRPr>
          </a:p>
          <a:p>
            <a:pPr indent="-285750" lvl="0" marL="412750" rtl="0" algn="l">
              <a:lnSpc>
                <a:spcPct val="115000"/>
              </a:lnSpc>
              <a:spcBef>
                <a:spcPts val="0"/>
              </a:spcBef>
              <a:spcAft>
                <a:spcPts val="0"/>
              </a:spcAft>
              <a:buClr>
                <a:schemeClr val="dk1"/>
              </a:buClr>
              <a:buSzPts val="1440"/>
              <a:buChar char="●"/>
            </a:pPr>
            <a:r>
              <a:rPr lang="en" sz="1600">
                <a:solidFill>
                  <a:schemeClr val="dk2"/>
                </a:solidFill>
              </a:rPr>
              <a:t>Use a multimeter &amp; </a:t>
            </a:r>
            <a:r>
              <a:rPr lang="en" sz="1600"/>
              <a:t>oscilloscope</a:t>
            </a:r>
            <a:r>
              <a:rPr lang="en" sz="1600">
                <a:solidFill>
                  <a:schemeClr val="dk2"/>
                </a:solidFill>
              </a:rPr>
              <a:t> to check that voltages are what you expect.</a:t>
            </a:r>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Is each chip getting power (measure at the pins)?</a:t>
            </a:r>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Do the UART signals look right?</a:t>
            </a:r>
            <a:endParaRPr/>
          </a:p>
          <a:p>
            <a:pPr indent="-285750" lvl="1" marL="869950" rtl="0" algn="l">
              <a:lnSpc>
                <a:spcPct val="115000"/>
              </a:lnSpc>
              <a:spcBef>
                <a:spcPts val="0"/>
              </a:spcBef>
              <a:spcAft>
                <a:spcPts val="0"/>
              </a:spcAft>
              <a:buClr>
                <a:schemeClr val="dk1"/>
              </a:buClr>
              <a:buSzPts val="1440"/>
              <a:buChar char="○"/>
            </a:pPr>
            <a:r>
              <a:rPr lang="en" sz="1600">
                <a:solidFill>
                  <a:schemeClr val="dk2"/>
                </a:solidFill>
              </a:rPr>
              <a:t>Are sensor outputs in the right range according to the datasheet?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Using the C compiler error messages</a:t>
            </a:r>
            <a:endParaRPr/>
          </a:p>
        </p:txBody>
      </p:sp>
      <p:sp>
        <p:nvSpPr>
          <p:cNvPr id="157" name="Google Shape;15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sz="1600"/>
              <a:t>One error can spawn many messages</a:t>
            </a:r>
            <a:endParaRPr/>
          </a:p>
          <a:p>
            <a:pPr indent="-342900" lvl="0" marL="457200" rtl="0" algn="l">
              <a:lnSpc>
                <a:spcPct val="115000"/>
              </a:lnSpc>
              <a:spcBef>
                <a:spcPts val="1200"/>
              </a:spcBef>
              <a:spcAft>
                <a:spcPts val="0"/>
              </a:spcAft>
              <a:buSzPts val="1800"/>
              <a:buChar char="●"/>
            </a:pPr>
            <a:r>
              <a:rPr lang="en" sz="1600"/>
              <a:t>The line where the error is thrown may not be where the actual error is, could just be where the compiler “gave up” trying to interpret the code.  May need to read up from the indicated line to find the root problem.</a:t>
            </a:r>
            <a:endParaRPr/>
          </a:p>
          <a:p>
            <a:pPr indent="-342900" lvl="0" marL="457200" rtl="0" algn="l">
              <a:lnSpc>
                <a:spcPct val="115000"/>
              </a:lnSpc>
              <a:spcBef>
                <a:spcPts val="1200"/>
              </a:spcBef>
              <a:spcAft>
                <a:spcPts val="0"/>
              </a:spcAft>
              <a:buSzPts val="1800"/>
              <a:buChar char="●"/>
            </a:pPr>
            <a:r>
              <a:rPr lang="en" sz="1600"/>
              <a:t>Start at the top of the list of errors and work down.  If you fix one, several later ones may also be fixed.</a:t>
            </a:r>
            <a:endParaRPr/>
          </a:p>
          <a:p>
            <a:pPr indent="-342900" lvl="0" marL="457200" rtl="0" algn="l">
              <a:lnSpc>
                <a:spcPct val="115000"/>
              </a:lnSpc>
              <a:spcBef>
                <a:spcPts val="1200"/>
              </a:spcBef>
              <a:spcAft>
                <a:spcPts val="1200"/>
              </a:spcAft>
              <a:buSzPts val="1800"/>
              <a:buChar char="●"/>
            </a:pPr>
            <a:r>
              <a:rPr lang="en" sz="1600"/>
              <a:t>For really pesky errors, commenting out a block of code may help isolate the error (also for runtime errors).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Finding bugs:  Using diagnostic printf statements</a:t>
            </a:r>
            <a:endParaRPr/>
          </a:p>
        </p:txBody>
      </p:sp>
      <p:sp>
        <p:nvSpPr>
          <p:cNvPr id="163" name="Google Shape;163;p36"/>
          <p:cNvSpPr txBox="1"/>
          <p:nvPr>
            <p:ph idx="1" type="body"/>
          </p:nvPr>
        </p:nvSpPr>
        <p:spPr>
          <a:xfrm>
            <a:off x="351650" y="136802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440"/>
              <a:buChar char="●"/>
            </a:pPr>
            <a:r>
              <a:rPr lang="en" sz="1600"/>
              <a:t>Was this part of the code reached?</a:t>
            </a:r>
            <a:endParaRPr/>
          </a:p>
          <a:p>
            <a:pPr indent="0" lvl="1" marL="5715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printf("(Function name): Entered!\r\n");</a:t>
            </a:r>
            <a:endParaRPr b="1">
              <a:solidFill>
                <a:srgbClr val="0000FF"/>
              </a:solidFill>
            </a:endParaRPr>
          </a:p>
          <a:p>
            <a:pPr indent="0" lvl="1" marL="5715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printf("Made it out of the loop.\r\n");</a:t>
            </a:r>
            <a:endParaRPr b="1">
              <a:solidFill>
                <a:srgbClr val="0000FF"/>
              </a:solidFill>
            </a:endParaRPr>
          </a:p>
          <a:p>
            <a:pPr indent="0" lvl="1" marL="5715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printf("The current temperature is %d (deg F)\r\n:, temp_F);</a:t>
            </a:r>
            <a:r>
              <a:rPr lang="en" sz="1200">
                <a:solidFill>
                  <a:srgbClr val="C00000"/>
                </a:solidFill>
                <a:latin typeface="Courier New"/>
                <a:ea typeface="Courier New"/>
                <a:cs typeface="Courier New"/>
                <a:sym typeface="Courier New"/>
              </a:rPr>
              <a:t> </a:t>
            </a:r>
            <a:endParaRPr/>
          </a:p>
          <a:p>
            <a:pPr indent="0" lvl="1" marL="571500" rtl="0" algn="l">
              <a:lnSpc>
                <a:spcPct val="115000"/>
              </a:lnSpc>
              <a:spcBef>
                <a:spcPts val="0"/>
              </a:spcBef>
              <a:spcAft>
                <a:spcPts val="0"/>
              </a:spcAft>
              <a:buSzPts val="1400"/>
              <a:buNone/>
            </a:pPr>
            <a:r>
              <a:t/>
            </a:r>
            <a:endParaRPr>
              <a:solidFill>
                <a:srgbClr val="C00000"/>
              </a:solidFill>
              <a:latin typeface="Courier New"/>
              <a:ea typeface="Courier New"/>
              <a:cs typeface="Courier New"/>
              <a:sym typeface="Courier New"/>
            </a:endParaRPr>
          </a:p>
          <a:p>
            <a:pPr indent="-342900" lvl="0" marL="457200" rtl="0" algn="l">
              <a:lnSpc>
                <a:spcPct val="115000"/>
              </a:lnSpc>
              <a:spcBef>
                <a:spcPts val="0"/>
              </a:spcBef>
              <a:spcAft>
                <a:spcPts val="0"/>
              </a:spcAft>
              <a:buSzPts val="1800"/>
              <a:buChar char="●"/>
            </a:pPr>
            <a:r>
              <a:rPr lang="en" sz="1600">
                <a:solidFill>
                  <a:schemeClr val="dk2"/>
                </a:solidFill>
                <a:latin typeface="Arial"/>
                <a:ea typeface="Arial"/>
                <a:cs typeface="Arial"/>
                <a:sym typeface="Arial"/>
              </a:rPr>
              <a:t>Am I getting reasonable data?</a:t>
            </a:r>
            <a:endParaRPr/>
          </a:p>
          <a:p>
            <a:pPr indent="0" lvl="1" marL="5969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printf("ADC value is: %x,\t%u\r\n", value, value);</a:t>
            </a:r>
            <a:endParaRPr b="1">
              <a:solidFill>
                <a:srgbClr val="0000FF"/>
              </a:solidFill>
            </a:endParaRPr>
          </a:p>
          <a:p>
            <a:pPr indent="-228600" lvl="0" marL="457200" rtl="0" algn="l">
              <a:lnSpc>
                <a:spcPct val="115000"/>
              </a:lnSpc>
              <a:spcBef>
                <a:spcPts val="0"/>
              </a:spcBef>
              <a:spcAft>
                <a:spcPts val="0"/>
              </a:spcAft>
              <a:buSzPts val="1800"/>
              <a:buNone/>
            </a:pPr>
            <a:r>
              <a:t/>
            </a:r>
            <a:endParaRPr sz="1600">
              <a:solidFill>
                <a:schemeClr val="dk2"/>
              </a:solidFill>
              <a:latin typeface="Arial"/>
              <a:ea typeface="Arial"/>
              <a:cs typeface="Arial"/>
              <a:sym typeface="Arial"/>
            </a:endParaRPr>
          </a:p>
          <a:p>
            <a:pPr indent="-342900" lvl="0" marL="457200" rtl="0" algn="l">
              <a:lnSpc>
                <a:spcPct val="115000"/>
              </a:lnSpc>
              <a:spcBef>
                <a:spcPts val="0"/>
              </a:spcBef>
              <a:spcAft>
                <a:spcPts val="0"/>
              </a:spcAft>
              <a:buSzPts val="1800"/>
              <a:buChar char="●"/>
            </a:pPr>
            <a:r>
              <a:rPr lang="en" sz="1600">
                <a:solidFill>
                  <a:schemeClr val="dk2"/>
                </a:solidFill>
                <a:latin typeface="Arial"/>
                <a:ea typeface="Arial"/>
                <a:cs typeface="Arial"/>
                <a:sym typeface="Arial"/>
              </a:rPr>
              <a:t>When did my loop crash?</a:t>
            </a:r>
            <a:endParaRPr/>
          </a:p>
          <a:p>
            <a:pPr indent="0" lvl="1" marL="5969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for(uint8_t i=0; i&lt;N; i++) {</a:t>
            </a:r>
            <a:endParaRPr b="1">
              <a:solidFill>
                <a:srgbClr val="0000FF"/>
              </a:solidFill>
            </a:endParaRPr>
          </a:p>
          <a:p>
            <a:pPr indent="0" lvl="2" marL="10541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a:t>
            </a:r>
            <a:endParaRPr b="1">
              <a:solidFill>
                <a:srgbClr val="0000FF"/>
              </a:solidFill>
            </a:endParaRPr>
          </a:p>
          <a:p>
            <a:pPr indent="0" lvl="2" marL="10541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printf("iteration %u: x=%d\r\n", i, x);</a:t>
            </a:r>
            <a:endParaRPr b="1">
              <a:solidFill>
                <a:srgbClr val="0000FF"/>
              </a:solidFill>
            </a:endParaRPr>
          </a:p>
          <a:p>
            <a:pPr indent="0" lvl="1" marL="596900" rtl="0" algn="l">
              <a:lnSpc>
                <a:spcPct val="115000"/>
              </a:lnSpc>
              <a:spcBef>
                <a:spcPts val="0"/>
              </a:spcBef>
              <a:spcAft>
                <a:spcPts val="0"/>
              </a:spcAft>
              <a:buSzPts val="1400"/>
              <a:buNone/>
            </a:pPr>
            <a:r>
              <a:rPr b="1" lang="en" sz="1200">
                <a:solidFill>
                  <a:srgbClr val="0000FF"/>
                </a:solidFill>
                <a:latin typeface="Courier New"/>
                <a:ea typeface="Courier New"/>
                <a:cs typeface="Courier New"/>
                <a:sym typeface="Courier New"/>
              </a:rPr>
              <a:t>}</a:t>
            </a:r>
            <a:endParaRPr b="1">
              <a:solidFill>
                <a:srgbClr val="0000FF"/>
              </a:solidFill>
            </a:endParaRPr>
          </a:p>
        </p:txBody>
      </p:sp>
      <p:sp>
        <p:nvSpPr>
          <p:cNvPr id="164" name="Google Shape;164;p36"/>
          <p:cNvSpPr txBox="1"/>
          <p:nvPr/>
        </p:nvSpPr>
        <p:spPr>
          <a:xfrm>
            <a:off x="6188854" y="1017737"/>
            <a:ext cx="2440500" cy="738900"/>
          </a:xfrm>
          <a:prstGeom prst="rect">
            <a:avLst/>
          </a:prstGeom>
          <a:noFill/>
          <a:ln cap="flat" cmpd="sng" w="9525">
            <a:solidFill>
              <a:srgbClr val="083C9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1400" u="none" cap="none" strike="noStrike">
                <a:solidFill>
                  <a:srgbClr val="083C92"/>
                </a:solidFill>
                <a:latin typeface="Courier New"/>
                <a:ea typeface="Courier New"/>
                <a:cs typeface="Courier New"/>
                <a:sym typeface="Courier New"/>
              </a:rPr>
              <a:t>\r </a:t>
            </a:r>
            <a:r>
              <a:rPr b="0" i="0" lang="en" sz="1400" u="none" cap="none" strike="noStrike">
                <a:solidFill>
                  <a:srgbClr val="083C92"/>
                </a:solidFill>
                <a:latin typeface="Arial"/>
                <a:ea typeface="Arial"/>
                <a:cs typeface="Arial"/>
                <a:sym typeface="Arial"/>
              </a:rPr>
              <a:t>= return to start of line</a:t>
            </a:r>
            <a:endParaRPr/>
          </a:p>
          <a:p>
            <a:pPr indent="0" lvl="0" marL="0" marR="0" rtl="0" algn="l">
              <a:lnSpc>
                <a:spcPct val="100000"/>
              </a:lnSpc>
              <a:spcBef>
                <a:spcPts val="0"/>
              </a:spcBef>
              <a:spcAft>
                <a:spcPts val="0"/>
              </a:spcAft>
              <a:buNone/>
            </a:pPr>
            <a:r>
              <a:rPr b="0" i="0" lang="en" sz="1400" u="none" cap="none" strike="noStrike">
                <a:solidFill>
                  <a:srgbClr val="083C92"/>
                </a:solidFill>
                <a:latin typeface="Courier New"/>
                <a:ea typeface="Courier New"/>
                <a:cs typeface="Courier New"/>
                <a:sym typeface="Courier New"/>
              </a:rPr>
              <a:t>\n </a:t>
            </a:r>
            <a:r>
              <a:rPr b="0" i="0" lang="en" sz="1400" u="none" cap="none" strike="noStrike">
                <a:solidFill>
                  <a:srgbClr val="083C92"/>
                </a:solidFill>
                <a:latin typeface="Arial"/>
                <a:ea typeface="Arial"/>
                <a:cs typeface="Arial"/>
                <a:sym typeface="Arial"/>
              </a:rPr>
              <a:t>= newline</a:t>
            </a:r>
            <a:endParaRPr/>
          </a:p>
          <a:p>
            <a:pPr indent="0" lvl="0" marL="0" marR="0" rtl="0" algn="l">
              <a:lnSpc>
                <a:spcPct val="100000"/>
              </a:lnSpc>
              <a:spcBef>
                <a:spcPts val="0"/>
              </a:spcBef>
              <a:spcAft>
                <a:spcPts val="0"/>
              </a:spcAft>
              <a:buNone/>
            </a:pPr>
            <a:r>
              <a:rPr b="0" i="0" lang="en" sz="1400" u="none" cap="none" strike="noStrike">
                <a:solidFill>
                  <a:srgbClr val="083C92"/>
                </a:solidFill>
                <a:latin typeface="Courier New"/>
                <a:ea typeface="Courier New"/>
                <a:cs typeface="Courier New"/>
                <a:sym typeface="Courier New"/>
              </a:rPr>
              <a:t>\t </a:t>
            </a:r>
            <a:r>
              <a:rPr b="0" i="0" lang="en" sz="1400" u="none" cap="none" strike="noStrike">
                <a:solidFill>
                  <a:srgbClr val="083C92"/>
                </a:solidFill>
                <a:latin typeface="Arial"/>
                <a:ea typeface="Arial"/>
                <a:cs typeface="Arial"/>
                <a:sym typeface="Arial"/>
              </a:rPr>
              <a:t>= tab</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Diagnostic print statements (2)</a:t>
            </a:r>
            <a:endParaRPr/>
          </a:p>
        </p:txBody>
      </p:sp>
      <p:sp>
        <p:nvSpPr>
          <p:cNvPr id="170" name="Google Shape;170;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278892" lvl="0" marL="393700" rtl="0" algn="l">
              <a:lnSpc>
                <a:spcPct val="95000"/>
              </a:lnSpc>
              <a:spcBef>
                <a:spcPts val="1200"/>
              </a:spcBef>
              <a:spcAft>
                <a:spcPts val="0"/>
              </a:spcAft>
              <a:buClr>
                <a:schemeClr val="dk1"/>
              </a:buClr>
              <a:buSzPct val="90000"/>
              <a:buChar char="●"/>
            </a:pPr>
            <a:r>
              <a:rPr lang="en" sz="1600">
                <a:solidFill>
                  <a:schemeClr val="dk1"/>
                </a:solidFill>
              </a:rPr>
              <a:t>Print what you expect the value to be.</a:t>
            </a:r>
            <a:endParaRPr/>
          </a:p>
          <a:p>
            <a:pPr indent="0" lvl="1" marL="571500" rtl="0" algn="l">
              <a:lnSpc>
                <a:spcPct val="115000"/>
              </a:lnSpc>
              <a:spcBef>
                <a:spcPts val="1200"/>
              </a:spcBef>
              <a:spcAft>
                <a:spcPts val="0"/>
              </a:spcAft>
              <a:buSzPct val="116667"/>
              <a:buNone/>
            </a:pPr>
            <a:r>
              <a:rPr b="1" lang="en" sz="1200">
                <a:solidFill>
                  <a:srgbClr val="0000FF"/>
                </a:solidFill>
                <a:latin typeface="Courier New"/>
                <a:ea typeface="Courier New"/>
                <a:cs typeface="Courier New"/>
                <a:sym typeface="Courier New"/>
              </a:rPr>
              <a:t>printf("Temperature %d (deg F) should be less than 100\r\n", temp_F); </a:t>
            </a:r>
            <a:endParaRPr b="1">
              <a:solidFill>
                <a:srgbClr val="0000FF"/>
              </a:solidFill>
            </a:endParaRPr>
          </a:p>
          <a:p>
            <a:pPr indent="-278892" lvl="0" marL="393700" rtl="0" algn="l">
              <a:lnSpc>
                <a:spcPct val="95000"/>
              </a:lnSpc>
              <a:spcBef>
                <a:spcPts val="1200"/>
              </a:spcBef>
              <a:spcAft>
                <a:spcPts val="0"/>
              </a:spcAft>
              <a:buClr>
                <a:schemeClr val="dk1"/>
              </a:buClr>
              <a:buSzPct val="90000"/>
              <a:buChar char="●"/>
            </a:pPr>
            <a:r>
              <a:rPr lang="en" sz="1600">
                <a:solidFill>
                  <a:schemeClr val="dk1"/>
                </a:solidFill>
              </a:rPr>
              <a:t>Is that I/O register holding what it should?</a:t>
            </a:r>
            <a:endParaRPr/>
          </a:p>
          <a:p>
            <a:pPr indent="0" lvl="1" marL="565150" rtl="0" algn="l">
              <a:lnSpc>
                <a:spcPct val="95000"/>
              </a:lnSpc>
              <a:spcBef>
                <a:spcPts val="1200"/>
              </a:spcBef>
              <a:spcAft>
                <a:spcPts val="0"/>
              </a:spcAft>
              <a:buClr>
                <a:schemeClr val="dk1"/>
              </a:buClr>
              <a:buSzPct val="90000"/>
              <a:buNone/>
            </a:pPr>
            <a:r>
              <a:rPr b="1" lang="en" sz="1200">
                <a:solidFill>
                  <a:srgbClr val="0000FF"/>
                </a:solidFill>
                <a:latin typeface="Courier New"/>
                <a:ea typeface="Courier New"/>
                <a:cs typeface="Courier New"/>
                <a:sym typeface="Courier New"/>
              </a:rPr>
              <a:t>printf("</a:t>
            </a:r>
            <a:r>
              <a:rPr b="1" lang="en" sz="1200">
                <a:solidFill>
                  <a:srgbClr val="0000FF"/>
                </a:solidFill>
                <a:latin typeface="Courier New"/>
                <a:ea typeface="Courier New"/>
                <a:cs typeface="Courier New"/>
                <a:sym typeface="Courier New"/>
              </a:rPr>
              <a:t>GPIOA-&gt;ODR</a:t>
            </a:r>
            <a:r>
              <a:rPr b="1" lang="en" sz="1200">
                <a:solidFill>
                  <a:srgbClr val="0000FF"/>
                </a:solidFill>
                <a:latin typeface="Courier New"/>
                <a:ea typeface="Courier New"/>
                <a:cs typeface="Courier New"/>
                <a:sym typeface="Courier New"/>
              </a:rPr>
              <a:t> register contains 0x%04lx\r\n", </a:t>
            </a:r>
            <a:r>
              <a:rPr b="1" lang="en" sz="1200">
                <a:solidFill>
                  <a:srgbClr val="0000FF"/>
                </a:solidFill>
                <a:latin typeface="Courier New"/>
                <a:ea typeface="Courier New"/>
                <a:cs typeface="Courier New"/>
                <a:sym typeface="Courier New"/>
              </a:rPr>
              <a:t>GPIOA-&gt;ODR</a:t>
            </a:r>
            <a:r>
              <a:rPr b="1" lang="en" sz="1200">
                <a:solidFill>
                  <a:srgbClr val="0000FF"/>
                </a:solidFill>
                <a:latin typeface="Courier New"/>
                <a:ea typeface="Courier New"/>
                <a:cs typeface="Courier New"/>
                <a:sym typeface="Courier New"/>
              </a:rPr>
              <a:t>); </a:t>
            </a:r>
            <a:endParaRPr b="1" sz="1600">
              <a:solidFill>
                <a:srgbClr val="0000FF"/>
              </a:solidFill>
              <a:latin typeface="Courier New"/>
              <a:ea typeface="Courier New"/>
              <a:cs typeface="Courier New"/>
              <a:sym typeface="Courier New"/>
            </a:endParaRPr>
          </a:p>
          <a:p>
            <a:pPr indent="-278892" lvl="0" marL="393700" rtl="0" algn="l">
              <a:lnSpc>
                <a:spcPct val="95000"/>
              </a:lnSpc>
              <a:spcBef>
                <a:spcPts val="1200"/>
              </a:spcBef>
              <a:spcAft>
                <a:spcPts val="0"/>
              </a:spcAft>
              <a:buClr>
                <a:schemeClr val="dk1"/>
              </a:buClr>
              <a:buSzPct val="90000"/>
              <a:buChar char="●"/>
            </a:pPr>
            <a:r>
              <a:rPr lang="en" sz="1600">
                <a:solidFill>
                  <a:schemeClr val="dk1"/>
                </a:solidFill>
              </a:rPr>
              <a:t>Print out what you are doing</a:t>
            </a:r>
            <a:endParaRPr/>
          </a:p>
          <a:p>
            <a:pPr indent="0" lvl="1" marL="565150" rtl="0" algn="l">
              <a:lnSpc>
                <a:spcPct val="95000"/>
              </a:lnSpc>
              <a:spcBef>
                <a:spcPts val="1200"/>
              </a:spcBef>
              <a:spcAft>
                <a:spcPts val="0"/>
              </a:spcAft>
              <a:buClr>
                <a:schemeClr val="dk1"/>
              </a:buClr>
              <a:buSzPct val="90000"/>
              <a:buNone/>
            </a:pPr>
            <a:r>
              <a:rPr b="1" lang="en" sz="1200">
                <a:solidFill>
                  <a:srgbClr val="0000FF"/>
                </a:solidFill>
                <a:latin typeface="Courier New"/>
                <a:ea typeface="Courier New"/>
                <a:cs typeface="Courier New"/>
                <a:sym typeface="Courier New"/>
              </a:rPr>
              <a:t>printf("\n\rSetting pulse length to %d.%03d ms\n\r", value/2000, (value&gt;&gt;1)%1000);</a:t>
            </a:r>
            <a:endParaRPr b="1">
              <a:solidFill>
                <a:srgbClr val="0000FF"/>
              </a:solidFill>
            </a:endParaRPr>
          </a:p>
          <a:p>
            <a:pPr indent="0" lvl="0" marL="114300" rtl="0" algn="l">
              <a:lnSpc>
                <a:spcPct val="115000"/>
              </a:lnSpc>
              <a:spcBef>
                <a:spcPts val="1200"/>
              </a:spcBef>
              <a:spcAft>
                <a:spcPts val="0"/>
              </a:spcAft>
              <a:buSzPct val="100000"/>
              <a:buNone/>
            </a:pPr>
            <a:r>
              <a:t/>
            </a:r>
            <a:endParaRPr/>
          </a:p>
          <a:p>
            <a:pPr indent="0" lvl="0" marL="114300" rtl="0" algn="l">
              <a:lnSpc>
                <a:spcPct val="115000"/>
              </a:lnSpc>
              <a:spcBef>
                <a:spcPts val="1200"/>
              </a:spcBef>
              <a:spcAft>
                <a:spcPts val="0"/>
              </a:spcAft>
              <a:buSzPct val="100000"/>
              <a:buNone/>
            </a:pPr>
            <a:r>
              <a:rPr lang="en"/>
              <a:t>Note: </a:t>
            </a:r>
            <a:endParaRPr/>
          </a:p>
          <a:p>
            <a:pPr indent="-334328" lvl="0" marL="457200" rtl="0" algn="l">
              <a:lnSpc>
                <a:spcPct val="115000"/>
              </a:lnSpc>
              <a:spcBef>
                <a:spcPts val="1200"/>
              </a:spcBef>
              <a:spcAft>
                <a:spcPts val="0"/>
              </a:spcAft>
              <a:buSzPct val="100000"/>
              <a:buChar char="●"/>
            </a:pPr>
            <a:r>
              <a:rPr lang="en"/>
              <a:t>To print a 32-bit register use the format specifier %lx.</a:t>
            </a:r>
            <a:endParaRPr/>
          </a:p>
          <a:p>
            <a:pPr indent="-334328" lvl="0" marL="457200" rtl="0" algn="l">
              <a:lnSpc>
                <a:spcPct val="115000"/>
              </a:lnSpc>
              <a:spcBef>
                <a:spcPts val="0"/>
              </a:spcBef>
              <a:spcAft>
                <a:spcPts val="0"/>
              </a:spcAft>
              <a:buSzPct val="100000"/>
              <a:buChar char="●"/>
            </a:pPr>
            <a:r>
              <a:rPr lang="en"/>
              <a:t>To print a 16-bit register, use the format specifier %x.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8"/>
          <p:cNvSpPr txBox="1"/>
          <p:nvPr>
            <p:ph type="title"/>
          </p:nvPr>
        </p:nvSpPr>
        <p:spPr>
          <a:xfrm>
            <a:off x="254825" y="6970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the Debugger</a:t>
            </a:r>
            <a:endParaRPr/>
          </a:p>
        </p:txBody>
      </p:sp>
      <p:sp>
        <p:nvSpPr>
          <p:cNvPr id="176" name="Google Shape;176;p38"/>
          <p:cNvSpPr txBox="1"/>
          <p:nvPr>
            <p:ph idx="1" type="body"/>
          </p:nvPr>
        </p:nvSpPr>
        <p:spPr>
          <a:xfrm>
            <a:off x="311700" y="606545"/>
            <a:ext cx="8520600" cy="247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400"/>
              <a:t>Our IDE (STM32 Cube IDE) comes with a built-in debugger.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The debugger is useful when trying to find runtime errors (the project has to compile and build without errors first).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Open your initial blinky project. Build and upload to your Nucleo to make sure everything is still working normally. The on-board LED should blink.</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Now use the bug icon            to launch the program along with the debugger. Accept the "Confirm perspective switch" popup. This opens a “debug perspective”, with windows useful for debugging, and halts execution at the first executable statement in the program, highlighted in green.</a:t>
            </a:r>
            <a:endParaRPr sz="1400"/>
          </a:p>
          <a:p>
            <a:pPr indent="0" lvl="0" marL="0" rtl="0" algn="l">
              <a:spcBef>
                <a:spcPts val="0"/>
              </a:spcBef>
              <a:spcAft>
                <a:spcPts val="0"/>
              </a:spcAft>
              <a:buClr>
                <a:schemeClr val="dk1"/>
              </a:buClr>
              <a:buSzPct val="78571"/>
              <a:buFont typeface="Arial"/>
              <a:buNone/>
            </a:pPr>
            <a:r>
              <a:t/>
            </a:r>
            <a:endParaRPr sz="1400"/>
          </a:p>
          <a:p>
            <a:pPr indent="0" lvl="0" marL="0" rtl="0" algn="l">
              <a:spcBef>
                <a:spcPts val="0"/>
              </a:spcBef>
              <a:spcAft>
                <a:spcPts val="0"/>
              </a:spcAft>
              <a:buNone/>
            </a:pPr>
            <a:r>
              <a:rPr lang="en" sz="1400"/>
              <a:t>This is what you should see:</a:t>
            </a:r>
            <a:endParaRPr sz="1400"/>
          </a:p>
        </p:txBody>
      </p:sp>
      <p:pic>
        <p:nvPicPr>
          <p:cNvPr id="177" name="Google Shape;177;p38"/>
          <p:cNvPicPr preferRelativeResize="0"/>
          <p:nvPr/>
        </p:nvPicPr>
        <p:blipFill rotWithShape="1">
          <a:blip r:embed="rId3">
            <a:alphaModFix/>
          </a:blip>
          <a:srcRect b="21194" l="14193" r="0" t="12241"/>
          <a:stretch/>
        </p:blipFill>
        <p:spPr>
          <a:xfrm>
            <a:off x="1994675" y="1972875"/>
            <a:ext cx="522550" cy="230325"/>
          </a:xfrm>
          <a:prstGeom prst="rect">
            <a:avLst/>
          </a:prstGeom>
          <a:noFill/>
          <a:ln>
            <a:noFill/>
          </a:ln>
        </p:spPr>
      </p:pic>
      <p:pic>
        <p:nvPicPr>
          <p:cNvPr id="178" name="Google Shape;178;p38"/>
          <p:cNvPicPr preferRelativeResize="0"/>
          <p:nvPr/>
        </p:nvPicPr>
        <p:blipFill rotWithShape="1">
          <a:blip r:embed="rId4">
            <a:alphaModFix/>
          </a:blip>
          <a:srcRect b="47677" l="0" r="0" t="0"/>
          <a:stretch/>
        </p:blipFill>
        <p:spPr>
          <a:xfrm>
            <a:off x="775750" y="2989450"/>
            <a:ext cx="7866650" cy="2092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 a look at registers</a:t>
            </a:r>
            <a:endParaRPr/>
          </a:p>
        </p:txBody>
      </p:sp>
      <p:sp>
        <p:nvSpPr>
          <p:cNvPr id="184" name="Google Shape;184;p39"/>
          <p:cNvSpPr txBox="1"/>
          <p:nvPr>
            <p:ph idx="1" type="body"/>
          </p:nvPr>
        </p:nvSpPr>
        <p:spPr>
          <a:xfrm>
            <a:off x="311700" y="1152469"/>
            <a:ext cx="40101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The debugger allows you to observe what the registers are doing.  To the right of the editor window is a debug window, with tabs Variables, Breakpoints, … SFRs.  </a:t>
            </a:r>
            <a:endParaRPr/>
          </a:p>
          <a:p>
            <a:pPr indent="-317183" lvl="0" marL="457200" rtl="0" algn="l">
              <a:spcBef>
                <a:spcPts val="0"/>
              </a:spcBef>
              <a:spcAft>
                <a:spcPts val="0"/>
              </a:spcAft>
              <a:buSzPct val="100000"/>
              <a:buChar char="●"/>
            </a:pPr>
            <a:r>
              <a:rPr lang="en"/>
              <a:t>Click the SFRs tab (Special Function Registers).</a:t>
            </a:r>
            <a:endParaRPr/>
          </a:p>
          <a:p>
            <a:pPr indent="-317183" lvl="0" marL="457200" rtl="0" algn="l">
              <a:spcBef>
                <a:spcPts val="0"/>
              </a:spcBef>
              <a:spcAft>
                <a:spcPts val="0"/>
              </a:spcAft>
              <a:buSzPct val="100000"/>
              <a:buChar char="●"/>
            </a:pPr>
            <a:r>
              <a:rPr lang="en"/>
              <a:t>Open RCC and look at the contents (value) of IOPENR (especially bit 0).</a:t>
            </a:r>
            <a:endParaRPr/>
          </a:p>
          <a:p>
            <a:pPr indent="-317183" lvl="0" marL="457200" rtl="0" algn="l">
              <a:spcBef>
                <a:spcPts val="0"/>
              </a:spcBef>
              <a:spcAft>
                <a:spcPts val="0"/>
              </a:spcAft>
              <a:buSzPct val="100000"/>
              <a:buChar char="●"/>
            </a:pPr>
            <a:r>
              <a:rPr lang="en"/>
              <a:t>What do you expect to </a:t>
            </a:r>
            <a:r>
              <a:rPr lang="en"/>
              <a:t>change</a:t>
            </a:r>
            <a:r>
              <a:rPr lang="en"/>
              <a:t> when you execute the first instruction of our blinky code:</a:t>
            </a:r>
            <a:br>
              <a:rPr lang="en"/>
            </a:br>
            <a:r>
              <a:rPr b="1" lang="en">
                <a:solidFill>
                  <a:srgbClr val="0000FF"/>
                </a:solidFill>
                <a:latin typeface="Courier New"/>
                <a:ea typeface="Courier New"/>
                <a:cs typeface="Courier New"/>
                <a:sym typeface="Courier New"/>
              </a:rPr>
              <a:t>RCC-&gt;IOPENR |= GPIOAEN;</a:t>
            </a:r>
            <a:br>
              <a:rPr lang="en"/>
            </a:br>
            <a:r>
              <a:rPr lang="en"/>
              <a:t>		?</a:t>
            </a:r>
            <a:endParaRPr/>
          </a:p>
          <a:p>
            <a:pPr indent="0" lvl="0" marL="457200" rtl="0" algn="l">
              <a:spcBef>
                <a:spcPts val="0"/>
              </a:spcBef>
              <a:spcAft>
                <a:spcPts val="0"/>
              </a:spcAft>
              <a:buNone/>
            </a:pPr>
            <a:r>
              <a:rPr lang="en"/>
              <a:t>Recall: </a:t>
            </a:r>
            <a:br>
              <a:rPr lang="en"/>
            </a:br>
            <a:r>
              <a:rPr b="1" lang="en">
                <a:solidFill>
                  <a:srgbClr val="0000FF"/>
                </a:solidFill>
                <a:latin typeface="Courier New"/>
                <a:ea typeface="Courier New"/>
                <a:cs typeface="Courier New"/>
                <a:sym typeface="Courier New"/>
              </a:rPr>
              <a:t>#define GPIOAEN (1U&lt;&lt;0)</a:t>
            </a:r>
            <a:endParaRPr b="1">
              <a:solidFill>
                <a:srgbClr val="0000FF"/>
              </a:solidFill>
              <a:latin typeface="Courier New"/>
              <a:ea typeface="Courier New"/>
              <a:cs typeface="Courier New"/>
              <a:sym typeface="Courier New"/>
            </a:endParaRPr>
          </a:p>
          <a:p>
            <a:pPr indent="0" lvl="0" marL="0" rtl="0" algn="l">
              <a:spcBef>
                <a:spcPts val="0"/>
              </a:spcBef>
              <a:spcAft>
                <a:spcPts val="0"/>
              </a:spcAft>
              <a:buNone/>
            </a:pPr>
            <a:r>
              <a:t/>
            </a:r>
            <a:endParaRPr/>
          </a:p>
        </p:txBody>
      </p:sp>
      <p:pic>
        <p:nvPicPr>
          <p:cNvPr id="185" name="Google Shape;185;p39"/>
          <p:cNvPicPr preferRelativeResize="0"/>
          <p:nvPr/>
        </p:nvPicPr>
        <p:blipFill rotWithShape="1">
          <a:blip r:embed="rId3">
            <a:alphaModFix/>
          </a:blip>
          <a:srcRect b="30309" l="0" r="0" t="0"/>
          <a:stretch/>
        </p:blipFill>
        <p:spPr>
          <a:xfrm>
            <a:off x="4371825" y="198786"/>
            <a:ext cx="4517399" cy="2058205"/>
          </a:xfrm>
          <a:prstGeom prst="rect">
            <a:avLst/>
          </a:prstGeom>
          <a:noFill/>
          <a:ln>
            <a:noFill/>
          </a:ln>
        </p:spPr>
      </p:pic>
      <p:sp>
        <p:nvSpPr>
          <p:cNvPr id="186" name="Google Shape;186;p39"/>
          <p:cNvSpPr/>
          <p:nvPr/>
        </p:nvSpPr>
        <p:spPr>
          <a:xfrm>
            <a:off x="7608625" y="90413"/>
            <a:ext cx="739200" cy="384000"/>
          </a:xfrm>
          <a:prstGeom prst="rect">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7" name="Google Shape;187;p39"/>
          <p:cNvPicPr preferRelativeResize="0"/>
          <p:nvPr/>
        </p:nvPicPr>
        <p:blipFill>
          <a:blip r:embed="rId4">
            <a:alphaModFix/>
          </a:blip>
          <a:stretch>
            <a:fillRect/>
          </a:stretch>
        </p:blipFill>
        <p:spPr>
          <a:xfrm>
            <a:off x="4371825" y="2340788"/>
            <a:ext cx="3388050" cy="28027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40"/>
          <p:cNvSpPr txBox="1"/>
          <p:nvPr>
            <p:ph type="title"/>
          </p:nvPr>
        </p:nvSpPr>
        <p:spPr>
          <a:xfrm>
            <a:off x="311700" y="172081"/>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Execute one line of code</a:t>
            </a:r>
            <a:endParaRPr/>
          </a:p>
        </p:txBody>
      </p:sp>
      <p:sp>
        <p:nvSpPr>
          <p:cNvPr id="193" name="Google Shape;193;p40"/>
          <p:cNvSpPr txBox="1"/>
          <p:nvPr>
            <p:ph idx="1" type="body"/>
          </p:nvPr>
        </p:nvSpPr>
        <p:spPr>
          <a:xfrm>
            <a:off x="311700" y="866719"/>
            <a:ext cx="8241000" cy="27285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Execute the first line of code by clicking either "step in" or "step over":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 at the RCC_IOPENR again and observe the change.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Repeat with the next two lines of code (GPIOA_MODER) and observe the changes.</a:t>
            </a:r>
            <a:endParaRPr/>
          </a:p>
        </p:txBody>
      </p:sp>
      <p:pic>
        <p:nvPicPr>
          <p:cNvPr id="194" name="Google Shape;194;p40"/>
          <p:cNvPicPr preferRelativeResize="0"/>
          <p:nvPr/>
        </p:nvPicPr>
        <p:blipFill rotWithShape="1">
          <a:blip r:embed="rId3">
            <a:alphaModFix/>
          </a:blip>
          <a:srcRect b="17621" l="0" r="0" t="10925"/>
          <a:stretch/>
        </p:blipFill>
        <p:spPr>
          <a:xfrm>
            <a:off x="3183275" y="1216425"/>
            <a:ext cx="838200" cy="357319"/>
          </a:xfrm>
          <a:prstGeom prst="rect">
            <a:avLst/>
          </a:prstGeom>
          <a:noFill/>
          <a:ln>
            <a:noFill/>
          </a:ln>
        </p:spPr>
      </p:pic>
      <p:pic>
        <p:nvPicPr>
          <p:cNvPr id="195" name="Google Shape;195;p40"/>
          <p:cNvPicPr preferRelativeResize="0"/>
          <p:nvPr/>
        </p:nvPicPr>
        <p:blipFill>
          <a:blip r:embed="rId4">
            <a:alphaModFix/>
          </a:blip>
          <a:stretch>
            <a:fillRect/>
          </a:stretch>
        </p:blipFill>
        <p:spPr>
          <a:xfrm>
            <a:off x="2008599" y="1982156"/>
            <a:ext cx="3321450" cy="884513"/>
          </a:xfrm>
          <a:prstGeom prst="rect">
            <a:avLst/>
          </a:prstGeom>
          <a:noFill/>
          <a:ln>
            <a:noFill/>
          </a:ln>
        </p:spPr>
      </p:pic>
      <p:pic>
        <p:nvPicPr>
          <p:cNvPr id="196" name="Google Shape;196;p40"/>
          <p:cNvPicPr preferRelativeResize="0"/>
          <p:nvPr/>
        </p:nvPicPr>
        <p:blipFill>
          <a:blip r:embed="rId5">
            <a:alphaModFix/>
          </a:blip>
          <a:stretch>
            <a:fillRect/>
          </a:stretch>
        </p:blipFill>
        <p:spPr>
          <a:xfrm>
            <a:off x="391250" y="3595294"/>
            <a:ext cx="2947691" cy="1319606"/>
          </a:xfrm>
          <a:prstGeom prst="rect">
            <a:avLst/>
          </a:prstGeom>
          <a:noFill/>
          <a:ln>
            <a:noFill/>
          </a:ln>
        </p:spPr>
      </p:pic>
      <p:pic>
        <p:nvPicPr>
          <p:cNvPr id="197" name="Google Shape;197;p40"/>
          <p:cNvPicPr preferRelativeResize="0"/>
          <p:nvPr/>
        </p:nvPicPr>
        <p:blipFill>
          <a:blip r:embed="rId6">
            <a:alphaModFix/>
          </a:blip>
          <a:stretch>
            <a:fillRect/>
          </a:stretch>
        </p:blipFill>
        <p:spPr>
          <a:xfrm>
            <a:off x="4485280" y="3595294"/>
            <a:ext cx="3208293" cy="1319606"/>
          </a:xfrm>
          <a:prstGeom prst="rect">
            <a:avLst/>
          </a:prstGeom>
          <a:noFill/>
          <a:ln>
            <a:noFill/>
          </a:ln>
        </p:spPr>
      </p:pic>
      <p:sp>
        <p:nvSpPr>
          <p:cNvPr id="198" name="Google Shape;198;p40"/>
          <p:cNvSpPr/>
          <p:nvPr/>
        </p:nvSpPr>
        <p:spPr>
          <a:xfrm>
            <a:off x="693750" y="4529344"/>
            <a:ext cx="3327600" cy="255900"/>
          </a:xfrm>
          <a:prstGeom prst="rect">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40"/>
          <p:cNvSpPr/>
          <p:nvPr/>
        </p:nvSpPr>
        <p:spPr>
          <a:xfrm>
            <a:off x="4849500" y="4529344"/>
            <a:ext cx="3327600" cy="255900"/>
          </a:xfrm>
          <a:prstGeom prst="rect">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0" name="Google Shape;200;p40"/>
          <p:cNvCxnSpPr>
            <a:stCxn id="198" idx="3"/>
            <a:endCxn id="199" idx="1"/>
          </p:cNvCxnSpPr>
          <p:nvPr/>
        </p:nvCxnSpPr>
        <p:spPr>
          <a:xfrm>
            <a:off x="4021350" y="4657294"/>
            <a:ext cx="828300" cy="0"/>
          </a:xfrm>
          <a:prstGeom prst="straightConnector1">
            <a:avLst/>
          </a:prstGeom>
          <a:noFill/>
          <a:ln cap="flat" cmpd="sng" w="28575">
            <a:solidFill>
              <a:srgbClr val="C00000"/>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Repeat with GPIOA_ODR</a:t>
            </a:r>
            <a:endParaRPr/>
          </a:p>
        </p:txBody>
      </p:sp>
      <p:sp>
        <p:nvSpPr>
          <p:cNvPr id="206" name="Google Shape;206;p41"/>
          <p:cNvSpPr txBox="1"/>
          <p:nvPr>
            <p:ph idx="1" type="body"/>
          </p:nvPr>
        </p:nvSpPr>
        <p:spPr>
          <a:xfrm>
            <a:off x="311700" y="1067156"/>
            <a:ext cx="8241000" cy="52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Next, take a look at the GPIOA_ODR, in particular bit 5.</a:t>
            </a:r>
            <a:endParaRPr/>
          </a:p>
        </p:txBody>
      </p:sp>
      <p:pic>
        <p:nvPicPr>
          <p:cNvPr id="207" name="Google Shape;207;p41"/>
          <p:cNvPicPr preferRelativeResize="0"/>
          <p:nvPr/>
        </p:nvPicPr>
        <p:blipFill>
          <a:blip r:embed="rId3">
            <a:alphaModFix/>
          </a:blip>
          <a:stretch>
            <a:fillRect/>
          </a:stretch>
        </p:blipFill>
        <p:spPr>
          <a:xfrm>
            <a:off x="424500" y="1521825"/>
            <a:ext cx="3011305" cy="1318613"/>
          </a:xfrm>
          <a:prstGeom prst="rect">
            <a:avLst/>
          </a:prstGeom>
          <a:noFill/>
          <a:ln>
            <a:noFill/>
          </a:ln>
        </p:spPr>
      </p:pic>
      <p:sp>
        <p:nvSpPr>
          <p:cNvPr id="208" name="Google Shape;208;p41"/>
          <p:cNvSpPr/>
          <p:nvPr/>
        </p:nvSpPr>
        <p:spPr>
          <a:xfrm>
            <a:off x="818850" y="2507775"/>
            <a:ext cx="3327600" cy="255900"/>
          </a:xfrm>
          <a:prstGeom prst="rect">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09" name="Google Shape;209;p41"/>
          <p:cNvPicPr preferRelativeResize="0"/>
          <p:nvPr/>
        </p:nvPicPr>
        <p:blipFill>
          <a:blip r:embed="rId4">
            <a:alphaModFix/>
          </a:blip>
          <a:stretch>
            <a:fillRect/>
          </a:stretch>
        </p:blipFill>
        <p:spPr>
          <a:xfrm>
            <a:off x="4748000" y="1546313"/>
            <a:ext cx="2819326" cy="1269638"/>
          </a:xfrm>
          <a:prstGeom prst="rect">
            <a:avLst/>
          </a:prstGeom>
          <a:noFill/>
          <a:ln>
            <a:noFill/>
          </a:ln>
        </p:spPr>
      </p:pic>
      <p:sp>
        <p:nvSpPr>
          <p:cNvPr id="210" name="Google Shape;210;p41"/>
          <p:cNvSpPr/>
          <p:nvPr/>
        </p:nvSpPr>
        <p:spPr>
          <a:xfrm>
            <a:off x="5020075" y="2507775"/>
            <a:ext cx="3327600" cy="255900"/>
          </a:xfrm>
          <a:prstGeom prst="rect">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41"/>
          <p:cNvSpPr txBox="1"/>
          <p:nvPr/>
        </p:nvSpPr>
        <p:spPr>
          <a:xfrm>
            <a:off x="1728725" y="2925750"/>
            <a:ext cx="1125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LED off</a:t>
            </a:r>
            <a:endParaRPr sz="1800">
              <a:solidFill>
                <a:schemeClr val="dk2"/>
              </a:solidFill>
            </a:endParaRPr>
          </a:p>
        </p:txBody>
      </p:sp>
      <p:sp>
        <p:nvSpPr>
          <p:cNvPr id="212" name="Google Shape;212;p41"/>
          <p:cNvSpPr txBox="1"/>
          <p:nvPr/>
        </p:nvSpPr>
        <p:spPr>
          <a:xfrm>
            <a:off x="6384875" y="2925750"/>
            <a:ext cx="1125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C00000"/>
                </a:solidFill>
              </a:rPr>
              <a:t>LED on</a:t>
            </a:r>
            <a:endParaRPr sz="1800">
              <a:solidFill>
                <a:srgbClr val="C00000"/>
              </a:solidFill>
            </a:endParaRPr>
          </a:p>
        </p:txBody>
      </p:sp>
      <p:sp>
        <p:nvSpPr>
          <p:cNvPr id="213" name="Google Shape;213;p41"/>
          <p:cNvSpPr txBox="1"/>
          <p:nvPr>
            <p:ph idx="1" type="body"/>
          </p:nvPr>
        </p:nvSpPr>
        <p:spPr>
          <a:xfrm>
            <a:off x="373125" y="3434175"/>
            <a:ext cx="8241000" cy="5280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a:t>Careful: You do not want to single-step through that for-loop! If you accidentally did, click "terminate and relaunch" or "reset the chip and restart execution". </a:t>
            </a:r>
            <a:endParaRPr/>
          </a:p>
        </p:txBody>
      </p:sp>
      <p:pic>
        <p:nvPicPr>
          <p:cNvPr id="214" name="Google Shape;214;p41"/>
          <p:cNvPicPr preferRelativeResize="0"/>
          <p:nvPr/>
        </p:nvPicPr>
        <p:blipFill>
          <a:blip r:embed="rId5">
            <a:alphaModFix/>
          </a:blip>
          <a:stretch>
            <a:fillRect/>
          </a:stretch>
        </p:blipFill>
        <p:spPr>
          <a:xfrm>
            <a:off x="1653650" y="3962025"/>
            <a:ext cx="328613" cy="314325"/>
          </a:xfrm>
          <a:prstGeom prst="rect">
            <a:avLst/>
          </a:prstGeom>
          <a:noFill/>
          <a:ln>
            <a:noFill/>
          </a:ln>
        </p:spPr>
      </p:pic>
      <p:pic>
        <p:nvPicPr>
          <p:cNvPr id="215" name="Google Shape;215;p41"/>
          <p:cNvPicPr preferRelativeResize="0"/>
          <p:nvPr/>
        </p:nvPicPr>
        <p:blipFill>
          <a:blip r:embed="rId6">
            <a:alphaModFix/>
          </a:blip>
          <a:stretch>
            <a:fillRect/>
          </a:stretch>
        </p:blipFill>
        <p:spPr>
          <a:xfrm>
            <a:off x="5155725" y="3933450"/>
            <a:ext cx="414338" cy="371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2"/>
          <p:cNvSpPr txBox="1"/>
          <p:nvPr>
            <p:ph type="title"/>
          </p:nvPr>
        </p:nvSpPr>
        <p:spPr>
          <a:xfrm>
            <a:off x="379925" y="189144"/>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Setting Breakpoints</a:t>
            </a:r>
            <a:endParaRPr/>
          </a:p>
        </p:txBody>
      </p:sp>
      <p:sp>
        <p:nvSpPr>
          <p:cNvPr id="221" name="Google Shape;221;p42"/>
          <p:cNvSpPr txBox="1"/>
          <p:nvPr>
            <p:ph idx="1" type="body"/>
          </p:nvPr>
        </p:nvSpPr>
        <p:spPr>
          <a:xfrm>
            <a:off x="311700" y="761774"/>
            <a:ext cx="8520600" cy="11745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F</a:t>
            </a:r>
            <a:r>
              <a:rPr lang="en"/>
              <a:t>ind the thin blue strip running down the left margin of the code window. </a:t>
            </a:r>
            <a:endParaRPr/>
          </a:p>
          <a:p>
            <a:pPr indent="-334328" lvl="0" marL="457200" rtl="0" algn="l">
              <a:spcBef>
                <a:spcPts val="0"/>
              </a:spcBef>
              <a:spcAft>
                <a:spcPts val="0"/>
              </a:spcAft>
              <a:buSzPct val="100000"/>
              <a:buChar char="●"/>
            </a:pPr>
            <a:r>
              <a:rPr lang="en"/>
              <a:t>Right click next to the statement where the LED is turned on, and select “Add Breakpoint”.  </a:t>
            </a:r>
            <a:endParaRPr/>
          </a:p>
          <a:p>
            <a:pPr indent="-334328" lvl="0" marL="457200" rtl="0" algn="l">
              <a:spcBef>
                <a:spcPts val="0"/>
              </a:spcBef>
              <a:spcAft>
                <a:spcPts val="0"/>
              </a:spcAft>
              <a:buSzPct val="100000"/>
              <a:buChar char="●"/>
            </a:pPr>
            <a:r>
              <a:rPr lang="en"/>
              <a:t>Do the same next to the statement where the LED is turned off.  </a:t>
            </a:r>
            <a:endParaRPr/>
          </a:p>
        </p:txBody>
      </p:sp>
      <p:pic>
        <p:nvPicPr>
          <p:cNvPr id="222" name="Google Shape;222;p42"/>
          <p:cNvPicPr preferRelativeResize="0"/>
          <p:nvPr/>
        </p:nvPicPr>
        <p:blipFill>
          <a:blip r:embed="rId3">
            <a:alphaModFix/>
          </a:blip>
          <a:stretch>
            <a:fillRect/>
          </a:stretch>
        </p:blipFill>
        <p:spPr>
          <a:xfrm>
            <a:off x="1307925" y="1876865"/>
            <a:ext cx="4418458" cy="1114631"/>
          </a:xfrm>
          <a:prstGeom prst="rect">
            <a:avLst/>
          </a:prstGeom>
          <a:noFill/>
          <a:ln>
            <a:noFill/>
          </a:ln>
        </p:spPr>
      </p:pic>
      <p:sp>
        <p:nvSpPr>
          <p:cNvPr id="223" name="Google Shape;223;p42"/>
          <p:cNvSpPr txBox="1"/>
          <p:nvPr>
            <p:ph idx="1" type="body"/>
          </p:nvPr>
        </p:nvSpPr>
        <p:spPr>
          <a:xfrm>
            <a:off x="379925" y="3127950"/>
            <a:ext cx="8520600" cy="1896000"/>
          </a:xfrm>
          <a:prstGeom prst="rect">
            <a:avLst/>
          </a:prstGeom>
        </p:spPr>
        <p:txBody>
          <a:bodyPr anchorCtr="0" anchor="t" bIns="91425" lIns="91425" spcFirstLastPara="1" rIns="91425" wrap="square" tIns="91425">
            <a:normAutofit fontScale="85000"/>
          </a:bodyPr>
          <a:lstStyle/>
          <a:p>
            <a:pPr indent="-325755" lvl="0" marL="457200" rtl="0" algn="l">
              <a:spcBef>
                <a:spcPts val="0"/>
              </a:spcBef>
              <a:spcAft>
                <a:spcPts val="0"/>
              </a:spcAft>
              <a:buSzPct val="100000"/>
              <a:buChar char="●"/>
            </a:pPr>
            <a:r>
              <a:rPr lang="en"/>
              <a:t>Use the "resume execution" button:</a:t>
            </a:r>
            <a:r>
              <a:rPr lang="en"/>
              <a:t>  </a:t>
            </a:r>
            <a:endParaRPr/>
          </a:p>
          <a:p>
            <a:pPr indent="-325755" lvl="0" marL="457200" rtl="0" algn="l">
              <a:spcBef>
                <a:spcPts val="0"/>
              </a:spcBef>
              <a:spcAft>
                <a:spcPts val="0"/>
              </a:spcAft>
              <a:buSzPct val="100000"/>
              <a:buChar char="●"/>
            </a:pPr>
            <a:r>
              <a:rPr lang="en"/>
              <a:t>You should find the execution suspends at the next breakpoint.  Resume again and it will suspend at the next breakpoint.  By resuming over and over you can hop from breakpoint to breakpoint.  Observe the LED and the GPIOA_ODR register as you do.</a:t>
            </a:r>
            <a:endParaRPr/>
          </a:p>
          <a:p>
            <a:pPr indent="-325755" lvl="0" marL="457200" rtl="0" algn="l">
              <a:spcBef>
                <a:spcPts val="0"/>
              </a:spcBef>
              <a:spcAft>
                <a:spcPts val="0"/>
              </a:spcAft>
              <a:buSzPct val="100000"/>
              <a:buChar char="●"/>
            </a:pPr>
            <a:r>
              <a:rPr lang="en"/>
              <a:t>The statements in between execute normally, but the program pauses when it gets to a breakpoint so that you can have a look at the registers (and, eventually, variables).  </a:t>
            </a:r>
            <a:endParaRPr/>
          </a:p>
        </p:txBody>
      </p:sp>
      <p:pic>
        <p:nvPicPr>
          <p:cNvPr id="224" name="Google Shape;224;p42"/>
          <p:cNvPicPr preferRelativeResize="0"/>
          <p:nvPr/>
        </p:nvPicPr>
        <p:blipFill rotWithShape="1">
          <a:blip r:embed="rId4">
            <a:alphaModFix/>
          </a:blip>
          <a:srcRect b="17539" l="0" r="0" t="0"/>
          <a:stretch/>
        </p:blipFill>
        <p:spPr>
          <a:xfrm>
            <a:off x="4587925" y="3085294"/>
            <a:ext cx="514350" cy="31811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Main Debugger Control Icons</a:t>
            </a:r>
            <a:endParaRPr/>
          </a:p>
        </p:txBody>
      </p:sp>
      <p:pic>
        <p:nvPicPr>
          <p:cNvPr id="230" name="Google Shape;230;p43"/>
          <p:cNvPicPr preferRelativeResize="0"/>
          <p:nvPr/>
        </p:nvPicPr>
        <p:blipFill>
          <a:blip r:embed="rId3">
            <a:alphaModFix/>
          </a:blip>
          <a:stretch>
            <a:fillRect/>
          </a:stretch>
        </p:blipFill>
        <p:spPr>
          <a:xfrm>
            <a:off x="448100" y="1183119"/>
            <a:ext cx="6115050" cy="292179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4"/>
          <p:cNvSpPr txBox="1"/>
          <p:nvPr>
            <p:ph type="title"/>
          </p:nvPr>
        </p:nvSpPr>
        <p:spPr>
          <a:xfrm>
            <a:off x="311700" y="163531"/>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Observing Variables</a:t>
            </a:r>
            <a:endParaRPr/>
          </a:p>
        </p:txBody>
      </p:sp>
      <p:sp>
        <p:nvSpPr>
          <p:cNvPr id="236" name="Google Shape;236;p44"/>
          <p:cNvSpPr txBox="1"/>
          <p:nvPr>
            <p:ph idx="1" type="body"/>
          </p:nvPr>
        </p:nvSpPr>
        <p:spPr>
          <a:xfrm>
            <a:off x="311700" y="739050"/>
            <a:ext cx="8520600" cy="21099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Terminate blinky. The editor view returns to 'normal'.</a:t>
            </a:r>
            <a:endParaRPr/>
          </a:p>
          <a:p>
            <a:pPr indent="-308610" lvl="0" marL="457200" rtl="0" algn="l">
              <a:spcBef>
                <a:spcPts val="0"/>
              </a:spcBef>
              <a:spcAft>
                <a:spcPts val="0"/>
              </a:spcAft>
              <a:buSzPct val="100000"/>
              <a:buChar char="●"/>
            </a:pPr>
            <a:r>
              <a:rPr lang="en"/>
              <a:t>Open your keyboard-controlled up-down counter.</a:t>
            </a:r>
            <a:endParaRPr/>
          </a:p>
          <a:p>
            <a:pPr indent="-308610" lvl="0" marL="457200" rtl="0" algn="l">
              <a:spcBef>
                <a:spcPts val="0"/>
              </a:spcBef>
              <a:spcAft>
                <a:spcPts val="0"/>
              </a:spcAft>
              <a:buSzPct val="100000"/>
              <a:buChar char="●"/>
            </a:pPr>
            <a:r>
              <a:rPr lang="en"/>
              <a:t>Run the program in debug mode.</a:t>
            </a:r>
            <a:endParaRPr/>
          </a:p>
          <a:p>
            <a:pPr indent="-308610" lvl="0" marL="457200" rtl="0" algn="l">
              <a:spcBef>
                <a:spcPts val="0"/>
              </a:spcBef>
              <a:spcAft>
                <a:spcPts val="0"/>
              </a:spcAft>
              <a:buSzPct val="100000"/>
              <a:buChar char="●"/>
            </a:pPr>
            <a:r>
              <a:rPr lang="en"/>
              <a:t>Open CoolTerm as per usual.</a:t>
            </a:r>
            <a:endParaRPr/>
          </a:p>
          <a:p>
            <a:pPr indent="-308610" lvl="0" marL="457200" rtl="0" algn="l">
              <a:spcBef>
                <a:spcPts val="0"/>
              </a:spcBef>
              <a:spcAft>
                <a:spcPts val="0"/>
              </a:spcAft>
              <a:buSzPct val="100000"/>
              <a:buChar char="●"/>
            </a:pPr>
            <a:r>
              <a:rPr lang="en"/>
              <a:t>Set a breakpoint on the line right after the statement </a:t>
            </a:r>
            <a:br>
              <a:rPr lang="en"/>
            </a:br>
            <a:r>
              <a:rPr lang="en">
                <a:latin typeface="Courier New"/>
                <a:ea typeface="Courier New"/>
                <a:cs typeface="Courier New"/>
                <a:sym typeface="Courier New"/>
              </a:rPr>
              <a:t>key = uart2_read();</a:t>
            </a:r>
            <a:endParaRPr>
              <a:latin typeface="Courier New"/>
              <a:ea typeface="Courier New"/>
              <a:cs typeface="Courier New"/>
              <a:sym typeface="Courier New"/>
            </a:endParaRPr>
          </a:p>
          <a:p>
            <a:pPr indent="-308610" lvl="0" marL="457200" rtl="0" algn="l">
              <a:spcBef>
                <a:spcPts val="0"/>
              </a:spcBef>
              <a:spcAft>
                <a:spcPts val="0"/>
              </a:spcAft>
              <a:buSzPct val="100000"/>
              <a:buChar char="●"/>
            </a:pPr>
            <a:r>
              <a:rPr lang="en"/>
              <a:t>Click "Resume". The program will halt on the </a:t>
            </a:r>
            <a:r>
              <a:rPr lang="en">
                <a:latin typeface="Courier New"/>
                <a:ea typeface="Courier New"/>
                <a:cs typeface="Courier New"/>
                <a:sym typeface="Courier New"/>
              </a:rPr>
              <a:t>key = uart2_read(); </a:t>
            </a:r>
            <a:r>
              <a:rPr lang="en"/>
              <a:t>statement, waiting for you to press a key. </a:t>
            </a:r>
            <a:endParaRPr/>
          </a:p>
          <a:p>
            <a:pPr indent="-308610" lvl="0" marL="457200" rtl="0" algn="l">
              <a:spcBef>
                <a:spcPts val="0"/>
              </a:spcBef>
              <a:spcAft>
                <a:spcPts val="0"/>
              </a:spcAft>
              <a:buSzPct val="100000"/>
              <a:buChar char="●"/>
            </a:pPr>
            <a:r>
              <a:rPr lang="en"/>
              <a:t>Press a key in your terminal application, then return to the editor.</a:t>
            </a:r>
            <a:endParaRPr/>
          </a:p>
          <a:p>
            <a:pPr indent="-308610" lvl="0" marL="457200" rtl="0" algn="l">
              <a:spcBef>
                <a:spcPts val="0"/>
              </a:spcBef>
              <a:spcAft>
                <a:spcPts val="0"/>
              </a:spcAft>
              <a:buSzPct val="100000"/>
              <a:buChar char="●"/>
            </a:pPr>
            <a:r>
              <a:rPr lang="en"/>
              <a:t>Observe both the variable 'key' as well as the register USART2_RDR. Does everything make sense?</a:t>
            </a:r>
            <a:endParaRPr/>
          </a:p>
        </p:txBody>
      </p:sp>
      <p:pic>
        <p:nvPicPr>
          <p:cNvPr id="237" name="Google Shape;237;p44"/>
          <p:cNvPicPr preferRelativeResize="0"/>
          <p:nvPr/>
        </p:nvPicPr>
        <p:blipFill>
          <a:blip r:embed="rId3">
            <a:alphaModFix/>
          </a:blip>
          <a:stretch>
            <a:fillRect/>
          </a:stretch>
        </p:blipFill>
        <p:spPr>
          <a:xfrm>
            <a:off x="155125" y="3194063"/>
            <a:ext cx="3409464" cy="1173225"/>
          </a:xfrm>
          <a:prstGeom prst="rect">
            <a:avLst/>
          </a:prstGeom>
          <a:noFill/>
          <a:ln>
            <a:noFill/>
          </a:ln>
        </p:spPr>
      </p:pic>
      <p:sp>
        <p:nvSpPr>
          <p:cNvPr id="238" name="Google Shape;238;p44"/>
          <p:cNvSpPr txBox="1"/>
          <p:nvPr/>
        </p:nvSpPr>
        <p:spPr>
          <a:xfrm>
            <a:off x="2563625" y="4623188"/>
            <a:ext cx="249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What key did I press?</a:t>
            </a:r>
            <a:endParaRPr sz="1800">
              <a:solidFill>
                <a:srgbClr val="0000FF"/>
              </a:solidFill>
            </a:endParaRPr>
          </a:p>
        </p:txBody>
      </p:sp>
      <p:pic>
        <p:nvPicPr>
          <p:cNvPr id="239" name="Google Shape;239;p44"/>
          <p:cNvPicPr preferRelativeResize="0"/>
          <p:nvPr/>
        </p:nvPicPr>
        <p:blipFill>
          <a:blip r:embed="rId4">
            <a:alphaModFix/>
          </a:blip>
          <a:stretch>
            <a:fillRect/>
          </a:stretch>
        </p:blipFill>
        <p:spPr>
          <a:xfrm>
            <a:off x="4864850" y="3047878"/>
            <a:ext cx="3103594" cy="1465586"/>
          </a:xfrm>
          <a:prstGeom prst="rect">
            <a:avLst/>
          </a:prstGeom>
          <a:noFill/>
          <a:ln>
            <a:noFill/>
          </a:ln>
        </p:spPr>
      </p:pic>
      <p:sp>
        <p:nvSpPr>
          <p:cNvPr id="240" name="Google Shape;240;p44"/>
          <p:cNvSpPr/>
          <p:nvPr/>
        </p:nvSpPr>
        <p:spPr>
          <a:xfrm>
            <a:off x="329825" y="3744600"/>
            <a:ext cx="3036600" cy="273000"/>
          </a:xfrm>
          <a:prstGeom prst="rect">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44"/>
          <p:cNvSpPr/>
          <p:nvPr/>
        </p:nvSpPr>
        <p:spPr>
          <a:xfrm>
            <a:off x="5054225" y="4240538"/>
            <a:ext cx="3036600" cy="273000"/>
          </a:xfrm>
          <a:prstGeom prst="rect">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44"/>
          <p:cNvSpPr/>
          <p:nvPr/>
        </p:nvSpPr>
        <p:spPr>
          <a:xfrm>
            <a:off x="11375" y="3079275"/>
            <a:ext cx="1000800" cy="435000"/>
          </a:xfrm>
          <a:prstGeom prst="ellipse">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44"/>
          <p:cNvSpPr/>
          <p:nvPr/>
        </p:nvSpPr>
        <p:spPr>
          <a:xfrm>
            <a:off x="7217400" y="2956981"/>
            <a:ext cx="1000800" cy="435000"/>
          </a:xfrm>
          <a:prstGeom prst="ellipse">
            <a:avLst/>
          </a:prstGeom>
          <a:noFill/>
          <a:ln cap="flat" cmpd="sng" w="28575">
            <a:solidFill>
              <a:srgbClr val="C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44" name="Google Shape;244;p44"/>
          <p:cNvGrpSpPr/>
          <p:nvPr/>
        </p:nvGrpSpPr>
        <p:grpSpPr>
          <a:xfrm>
            <a:off x="5510075" y="105769"/>
            <a:ext cx="3322225" cy="1318725"/>
            <a:chOff x="5510075" y="141025"/>
            <a:chExt cx="3322225" cy="1758300"/>
          </a:xfrm>
        </p:grpSpPr>
        <p:pic>
          <p:nvPicPr>
            <p:cNvPr id="245" name="Google Shape;245;p44"/>
            <p:cNvPicPr preferRelativeResize="0"/>
            <p:nvPr/>
          </p:nvPicPr>
          <p:blipFill>
            <a:blip r:embed="rId5">
              <a:alphaModFix/>
            </a:blip>
            <a:stretch>
              <a:fillRect/>
            </a:stretch>
          </p:blipFill>
          <p:spPr>
            <a:xfrm>
              <a:off x="5510075" y="141025"/>
              <a:ext cx="3322225" cy="1758300"/>
            </a:xfrm>
            <a:prstGeom prst="rect">
              <a:avLst/>
            </a:prstGeom>
            <a:noFill/>
            <a:ln>
              <a:noFill/>
            </a:ln>
          </p:spPr>
        </p:pic>
        <p:pic>
          <p:nvPicPr>
            <p:cNvPr id="246" name="Google Shape;246;p44"/>
            <p:cNvPicPr preferRelativeResize="0"/>
            <p:nvPr/>
          </p:nvPicPr>
          <p:blipFill rotWithShape="1">
            <a:blip r:embed="rId5">
              <a:alphaModFix/>
            </a:blip>
            <a:srcRect b="59497" l="39199" r="26055" t="28918"/>
            <a:stretch/>
          </p:blipFill>
          <p:spPr>
            <a:xfrm>
              <a:off x="6467625" y="649675"/>
              <a:ext cx="1154326" cy="20370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Let's Work on Lab 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