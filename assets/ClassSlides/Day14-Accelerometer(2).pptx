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analog.com/en/app-notes/an-1057.html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e32faedb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e32fae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1596ecd1e2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1596ecd1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b921267fdf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b921267f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b1032d479_0_3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b1032d47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45c05d622_1_8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145c05d622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07a12b620c_0_2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07a12b620c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596ecd1e2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596ecd1e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65536273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6553627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07a12b620c_0_2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07a12b620c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596ecd1e2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1596ecd1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596ecd1e2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1596ecd1e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1596ecd1e2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1596ecd1e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596ecd1e2_0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1596ecd1e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1596ecd1e2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1596ecd1e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07a12b620c_0_2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07a12b620c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1596ecd1e2_0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1596ecd1e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bc8ecf1c70_0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bc8ecf1c7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2"/>
              </a:rPr>
              <a:t>https://www.analog.com/en/app-notes/an-1057.html</a:t>
            </a:r>
            <a:r>
              <a:rPr lang="en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</a:t>
            </a:r>
            <a:r>
              <a:rPr lang="en" sz="1500"/>
              <a:t>n Figure 1 a single axis (the x-axis in this example) is rotated through gravity. Because this approach uses only a single axis and requires the gravity vector, the calculated angle of inclination is accurate only when the device is oriented such that the x-axis is always in the plane of gravity. Any rotation about the other axes reduces the magnitude of the acceleration on the x-axis and results in error in the calculated angle of inclination.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For applications that require higher resolution or the ability to distinguish angles of inclination in a complete 360° arc, a second axis, as shown in Figure 7, or a second sensor is necessary. If a second sensor is used, it should be oriented such that the sensing axis of the second sensor is orthogonal to the sensing axis of the first sensor.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07a12b620c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07a12b620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6ec223c10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36ec223c1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07a12b620c_0_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07a12b620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All floating point operations exist in a library math.h. Our processor does not have the hardware to do floating point operations, that's why a software library is necessary (and that's why it's slow). But it exists. Using this library makes your code a whole lot bigger.</a:t>
            </a:r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145c05d622_1_1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145c05d622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33400" y="457200"/>
            <a:ext cx="754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3400" y="990600"/>
            <a:ext cx="815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33400" y="6248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781800" y="6248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23.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2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2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2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33400" y="457200"/>
            <a:ext cx="754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533400" y="990600"/>
            <a:ext cx="815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0" type="dt"/>
          </p:nvPr>
        </p:nvSpPr>
        <p:spPr>
          <a:xfrm>
            <a:off x="533400" y="6248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6781800" y="6248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23.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/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Engs </a:t>
            </a:r>
            <a:r>
              <a:rPr lang="en" sz="3000">
                <a:latin typeface="Comic Sans MS"/>
                <a:ea typeface="Comic Sans MS"/>
                <a:cs typeface="Comic Sans MS"/>
                <a:sym typeface="Comic Sans MS"/>
              </a:rPr>
              <a:t>28</a:t>
            </a:r>
            <a:endParaRPr sz="3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Embedded Systems</a:t>
            </a:r>
            <a:endParaRPr sz="52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" name="Google Shape;110;p27"/>
          <p:cNvSpPr txBox="1"/>
          <p:nvPr/>
        </p:nvSpPr>
        <p:spPr>
          <a:xfrm>
            <a:off x="311700" y="41282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Day 14</a:t>
            </a:r>
            <a:endParaRPr sz="2800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1" name="Google Shape;1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37" y="395688"/>
            <a:ext cx="1103550" cy="133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0125" y="0"/>
            <a:ext cx="1543875" cy="21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the accelerometer device driver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Send x-y-z data to screen, observe tilt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Send x-y-z data to Coolterm's serial plotter, observe shock, vibration</a:t>
            </a:r>
            <a:endParaRPr/>
          </a:p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 Bottle Filling Station: In-class HiTA Activity</a:t>
            </a:r>
            <a:endParaRPr/>
          </a:p>
        </p:txBody>
      </p:sp>
      <p:sp>
        <p:nvSpPr>
          <p:cNvPr id="126" name="Google Shape;126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your table group, reverse-engineer the water bottle filling stations at Thayer.  What are the sensors, actuators, and displays?  From observing its behavior, draw a signal / actuator / processor block diagram and program flow.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Consider questions such as: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you sensing?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display telling you?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actuator doing?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logic behind it all?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sensor does this, what happens?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what?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Accelerometer: Measuring gravity</a:t>
            </a:r>
            <a:endParaRPr/>
          </a:p>
        </p:txBody>
      </p:sp>
      <p:sp>
        <p:nvSpPr>
          <p:cNvPr id="133" name="Google Shape;133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 for basic accelerometer operation</a:t>
            </a:r>
            <a:endParaRPr/>
          </a:p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311700" y="1509653"/>
            <a:ext cx="8520600" cy="30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Control registers: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600"/>
              <a:buAutoNum type="arabicPeriod"/>
            </a:pPr>
            <a:r>
              <a:rPr b="1" lang="en" sz="1600">
                <a:solidFill>
                  <a:srgbClr val="0000FF"/>
                </a:solidFill>
              </a:rPr>
              <a:t>Data rate, power mode, axis selection</a:t>
            </a:r>
            <a:endParaRPr b="1" sz="1600">
              <a:solidFill>
                <a:srgbClr val="0000FF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Analog filter selection (accept defaults)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Interrupt selection (none used, off by default)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600"/>
              <a:buAutoNum type="arabicPeriod"/>
            </a:pPr>
            <a:r>
              <a:rPr b="1" lang="en" sz="1600">
                <a:solidFill>
                  <a:srgbClr val="0000FF"/>
                </a:solidFill>
              </a:rPr>
              <a:t>Full-scale range selection (±2g, ±4g, ±8g, ±16g)</a:t>
            </a:r>
            <a:endParaRPr b="1" sz="1600">
              <a:solidFill>
                <a:srgbClr val="0000FF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More interrupts (none used, off by default)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Yet more interrupts (none used, off by default)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CC0000"/>
              </a:solidFill>
            </a:endParaRPr>
          </a:p>
        </p:txBody>
      </p:sp>
      <p:sp>
        <p:nvSpPr>
          <p:cNvPr id="140" name="Google Shape;140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31"/>
          <p:cNvSpPr txBox="1"/>
          <p:nvPr/>
        </p:nvSpPr>
        <p:spPr>
          <a:xfrm>
            <a:off x="1971550" y="4943175"/>
            <a:ext cx="4983300" cy="4428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Discuss your settings for Control Registers 1 and 4.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7" name="Google Shape;147;p32"/>
          <p:cNvPicPr preferRelativeResize="0"/>
          <p:nvPr/>
        </p:nvPicPr>
        <p:blipFill rotWithShape="1">
          <a:blip r:embed="rId3">
            <a:alphaModFix/>
          </a:blip>
          <a:srcRect b="10865" l="0" r="0" t="0"/>
          <a:stretch/>
        </p:blipFill>
        <p:spPr>
          <a:xfrm>
            <a:off x="226675" y="369275"/>
            <a:ext cx="4125099" cy="279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9775" y="540637"/>
            <a:ext cx="4255391" cy="22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31225"/>
            <a:ext cx="4069900" cy="31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9775" y="4085350"/>
            <a:ext cx="4376749" cy="16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2"/>
          <p:cNvSpPr/>
          <p:nvPr/>
        </p:nvSpPr>
        <p:spPr>
          <a:xfrm>
            <a:off x="290375" y="858850"/>
            <a:ext cx="2030100" cy="2229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2"/>
          <p:cNvSpPr/>
          <p:nvPr/>
        </p:nvSpPr>
        <p:spPr>
          <a:xfrm>
            <a:off x="4713550" y="2086725"/>
            <a:ext cx="4099800" cy="2229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2"/>
          <p:cNvSpPr/>
          <p:nvPr/>
        </p:nvSpPr>
        <p:spPr>
          <a:xfrm>
            <a:off x="2357675" y="858850"/>
            <a:ext cx="430800" cy="2229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2"/>
          <p:cNvSpPr/>
          <p:nvPr/>
        </p:nvSpPr>
        <p:spPr>
          <a:xfrm>
            <a:off x="321325" y="1861200"/>
            <a:ext cx="1349400" cy="2229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2"/>
          <p:cNvSpPr/>
          <p:nvPr/>
        </p:nvSpPr>
        <p:spPr>
          <a:xfrm>
            <a:off x="2788475" y="858850"/>
            <a:ext cx="1500300" cy="22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2"/>
          <p:cNvSpPr/>
          <p:nvPr/>
        </p:nvSpPr>
        <p:spPr>
          <a:xfrm>
            <a:off x="321325" y="2207350"/>
            <a:ext cx="352800" cy="83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2"/>
          <p:cNvSpPr/>
          <p:nvPr/>
        </p:nvSpPr>
        <p:spPr>
          <a:xfrm>
            <a:off x="1642725" y="2207350"/>
            <a:ext cx="838800" cy="83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2"/>
          <p:cNvSpPr txBox="1"/>
          <p:nvPr/>
        </p:nvSpPr>
        <p:spPr>
          <a:xfrm>
            <a:off x="1819175" y="263175"/>
            <a:ext cx="1900200" cy="4002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Setting: 0b01110111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59" name="Google Shape;159;p32"/>
          <p:cNvSpPr/>
          <p:nvPr/>
        </p:nvSpPr>
        <p:spPr>
          <a:xfrm>
            <a:off x="1132125" y="4006625"/>
            <a:ext cx="1083300" cy="261000"/>
          </a:xfrm>
          <a:prstGeom prst="rect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2"/>
          <p:cNvSpPr/>
          <p:nvPr/>
        </p:nvSpPr>
        <p:spPr>
          <a:xfrm>
            <a:off x="290375" y="5545475"/>
            <a:ext cx="2580900" cy="261000"/>
          </a:xfrm>
          <a:prstGeom prst="rect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2"/>
          <p:cNvSpPr/>
          <p:nvPr/>
        </p:nvSpPr>
        <p:spPr>
          <a:xfrm>
            <a:off x="2254075" y="4008575"/>
            <a:ext cx="481200" cy="2610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2"/>
          <p:cNvSpPr/>
          <p:nvPr/>
        </p:nvSpPr>
        <p:spPr>
          <a:xfrm>
            <a:off x="4713550" y="4934675"/>
            <a:ext cx="2744400" cy="2610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2"/>
          <p:cNvSpPr txBox="1"/>
          <p:nvPr/>
        </p:nvSpPr>
        <p:spPr>
          <a:xfrm>
            <a:off x="1819175" y="3322913"/>
            <a:ext cx="1900200" cy="4002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Setting: 0b00000000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257125" y="5838325"/>
            <a:ext cx="3722100" cy="2610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the device driver</a:t>
            </a:r>
            <a:endParaRPr/>
          </a:p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311700" y="1320324"/>
            <a:ext cx="8520600" cy="50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The accelerometer has several gain and update rate settings.  These are described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in Section 7.1 of the datasheet and are set up in the AccelInit function.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uint8_t lsm303_AccelInit();</a:t>
            </a: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 		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The AccelRegisterWrite function should take a register address and a command byte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to be written into the register.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void lsm303_AccelRegisterWrite(uint8_t RegisterAddress, uint8_t data);</a:t>
            </a:r>
            <a:r>
              <a:rPr b="1" lang="en" sz="12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 	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The AccelRegisterRead function should take a register address and return a data byte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read from the register.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uint8_t lsm303_AccelRegisterRead(uint8_t RegisterAddress);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Here is the higher-level function to read the acceleration vector.  Output struct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contains raw (unscaled) acceleration values.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void lsm303_AccelReadRaw(lsm303AccelData_s *result);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Download </a:t>
            </a:r>
            <a:r>
              <a:rPr b="1"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lsm303agr_partial.c</a:t>
            </a:r>
            <a:r>
              <a:rPr lang="en"/>
              <a:t> and </a:t>
            </a:r>
            <a:r>
              <a:rPr b="1"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accel_test.c</a:t>
            </a:r>
            <a:r>
              <a:rPr lang="en"/>
              <a:t> from Canvas and paste both into the Src folder in your Accelerometer project. </a:t>
            </a:r>
            <a:r>
              <a:rPr b="1" lang="en"/>
              <a:t>Exclude whoami_test.c</a:t>
            </a:r>
            <a:r>
              <a:rPr lang="en"/>
              <a:t> from the build configuration.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33"/>
          <p:cNvSpPr/>
          <p:nvPr/>
        </p:nvSpPr>
        <p:spPr>
          <a:xfrm>
            <a:off x="262225" y="1331250"/>
            <a:ext cx="8210100" cy="16440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the device driver</a:t>
            </a:r>
            <a:endParaRPr/>
          </a:p>
        </p:txBody>
      </p:sp>
      <p:sp>
        <p:nvSpPr>
          <p:cNvPr id="178" name="Google Shape;178;p34"/>
          <p:cNvSpPr txBox="1"/>
          <p:nvPr>
            <p:ph idx="1" type="body"/>
          </p:nvPr>
        </p:nvSpPr>
        <p:spPr>
          <a:xfrm>
            <a:off x="311700" y="1320327"/>
            <a:ext cx="8520600" cy="3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Complete the initialization and register write functions in the partial driver file.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The accelerometer has several gain and update rate settings.  These are described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in Section 7.1 of the datasheet and are set up in the AccelInit function.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uint8_t lsm303_AccelInit();</a:t>
            </a: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 		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The AccelRegisterWrite function should take a register address and a command byte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// to be written into the register.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void lsm303_AccelRegisterWrite(uint8_t RegisterAddress, uint8_t data);</a:t>
            </a:r>
            <a:r>
              <a:rPr b="1" lang="en" sz="12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 	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Once finished, test with the provided accel_test.c. </a:t>
            </a:r>
            <a:r>
              <a:rPr lang="en"/>
              <a:t>Watch</a:t>
            </a:r>
            <a:r>
              <a:rPr lang="en"/>
              <a:t> output with CoolTerm.</a:t>
            </a:r>
            <a:endParaRPr/>
          </a:p>
        </p:txBody>
      </p:sp>
      <p:sp>
        <p:nvSpPr>
          <p:cNvPr id="179" name="Google Shape;179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4"/>
          <p:cNvSpPr txBox="1"/>
          <p:nvPr/>
        </p:nvSpPr>
        <p:spPr>
          <a:xfrm>
            <a:off x="925400" y="5209600"/>
            <a:ext cx="6964800" cy="440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Run test program (accel_test.c)  to stream accelerometer data via UART.</a:t>
            </a:r>
            <a:endParaRPr sz="16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to a register</a:t>
            </a:r>
            <a:endParaRPr/>
          </a:p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311700" y="3053075"/>
            <a:ext cx="8520600" cy="24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/**************************************************************************</a:t>
            </a:r>
            <a:endParaRPr sz="1400">
              <a:solidFill>
                <a:srgbClr val="3F7F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Write one byte to an accelerometer register (</a:t>
            </a:r>
            <a:r>
              <a:rPr lang="en" sz="1400" u="sng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Datasheet</a:t>
            </a:r>
            <a:r>
              <a:rPr lang="en" sz="14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Table 20)</a:t>
            </a:r>
            <a:endParaRPr sz="1400">
              <a:solidFill>
                <a:srgbClr val="3F7F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sz="1400">
              <a:solidFill>
                <a:srgbClr val="3F7F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lsm303_AccelRegisterWrite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400">
                <a:solidFill>
                  <a:srgbClr val="00503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uint8_t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RegisterAddress, </a:t>
            </a:r>
            <a:r>
              <a:rPr lang="en" sz="1400">
                <a:solidFill>
                  <a:srgbClr val="00503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uint8_t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data)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i2c1_memWrite(LSM303_ADDRESS_ACCEL, RegisterAddress, 1, &amp;data);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Google Shape;187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" name="Google Shape;1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50" y="1671954"/>
            <a:ext cx="8839200" cy="1066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311700" y="23009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program accel_test.c</a:t>
            </a:r>
            <a:endParaRPr/>
          </a:p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55325" y="993600"/>
            <a:ext cx="8709600" cy="574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</a:t>
            </a: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#define ACC_FS 4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#define ACC_REGISTERWIDTH 16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#define MILLI 1000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   </a:t>
            </a:r>
            <a:r>
              <a:rPr b="1" lang="en"/>
              <a:t>⋮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	lsm303AccelData_s accel_raw;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i2c1_init();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uart2_init();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if( </a:t>
            </a: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lsm303_AccelInit()</a:t>
            </a: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) {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	printf("Accelerometer initialized! \n\r");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} else {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	printf("Could not connect to accelerometer \n\r");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	printf("Control Register 1 = %x \n\r", </a:t>
            </a: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lsm303_AccelRegisterRead(LSM303_CTRL_REG1_A)</a:t>
            </a: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	printf("Control Register 4 = %x \n\r", </a:t>
            </a: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lsm303_AccelRegisterRead(LSM303_CTRL_REG4_A)</a:t>
            </a: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while(1) {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b="1"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lsm303_AccelReadRaw(&amp;accel_raw)</a:t>
            </a: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  accel_x = (ACC_FS * accel_raw.x * MILLI) &gt;&gt; ACC_REGISTERWIDTH;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  accel_y = (ACC_FS * accel_raw.y * MILLI) &gt;&gt; ACC_REGISTERWIDTH;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  accel_z = (ACC_FS * accel_raw.z * MILLI) &gt;&gt; ACC_REGISTERWIDTH;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	  </a:t>
            </a: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printf("accel_x=%d mg, accel_y=%d mg, accel_z=%d mg \n\r", accel_x, accel_y, accel_z);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  delay_ms(2000);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Google Shape;195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Suggested tests</a:t>
            </a:r>
            <a:endParaRPr/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1000 mg = 9.8 m/s</a:t>
            </a:r>
            <a:r>
              <a:rPr baseline="30000" lang="en"/>
              <a:t>2</a:t>
            </a:r>
            <a:r>
              <a:rPr lang="en"/>
              <a:t>.  A “perfect” value is 1000.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Flip the accelerometer over, note sign change of acceleration.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Rotate the accelerometer to align x and y axes with </a:t>
            </a:r>
            <a:r>
              <a:rPr b="1" lang="en"/>
              <a:t>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Try all three resolutions (8-bit, 10-bit, 12-bit).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Anything else?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everything is working, </a:t>
            </a:r>
            <a:r>
              <a:rPr lang="en">
                <a:solidFill>
                  <a:srgbClr val="38761D"/>
                </a:solidFill>
              </a:rPr>
              <a:t>rename</a:t>
            </a:r>
            <a:r>
              <a:rPr lang="en"/>
              <a:t> </a:t>
            </a:r>
            <a:r>
              <a:rPr b="1"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lsm303agr_partial.c </a:t>
            </a:r>
            <a:r>
              <a:rPr lang="en"/>
              <a:t>to </a:t>
            </a:r>
            <a:r>
              <a:rPr b="1"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lsm303agr.c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Copy</a:t>
            </a:r>
            <a:r>
              <a:rPr lang="en"/>
              <a:t> </a:t>
            </a:r>
            <a:r>
              <a:rPr b="1"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lsm303agr.c</a:t>
            </a:r>
            <a:r>
              <a:rPr lang="en"/>
              <a:t> into your mylib </a:t>
            </a:r>
            <a:r>
              <a:rPr lang="en"/>
              <a:t>folder</a:t>
            </a:r>
            <a:r>
              <a:rPr lang="en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Afterwards, </a:t>
            </a:r>
            <a:r>
              <a:rPr lang="en">
                <a:solidFill>
                  <a:srgbClr val="CC0000"/>
                </a:solidFill>
              </a:rPr>
              <a:t>delete</a:t>
            </a:r>
            <a:r>
              <a:rPr lang="en"/>
              <a:t>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lsm303agr.c</a:t>
            </a:r>
            <a:r>
              <a:rPr lang="en"/>
              <a:t> from the </a:t>
            </a:r>
            <a:r>
              <a:rPr lang="en"/>
              <a:t>Accelerometer's</a:t>
            </a:r>
            <a:r>
              <a:rPr lang="en"/>
              <a:t> Src folder.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Rebuild</a:t>
            </a:r>
            <a:r>
              <a:rPr lang="en"/>
              <a:t> the Accelerometer project to make sure everything still works.</a:t>
            </a:r>
            <a:endParaRPr/>
          </a:p>
        </p:txBody>
      </p:sp>
      <p:sp>
        <p:nvSpPr>
          <p:cNvPr id="202" name="Google Shape;202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Accelerometer:  Displaying motion</a:t>
            </a:r>
            <a:endParaRPr/>
          </a:p>
        </p:txBody>
      </p:sp>
      <p:sp>
        <p:nvSpPr>
          <p:cNvPr id="208" name="Google Shape;208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 accelerations with CoolTerm</a:t>
            </a:r>
            <a:endParaRPr/>
          </a:p>
        </p:txBody>
      </p:sp>
      <p:sp>
        <p:nvSpPr>
          <p:cNvPr id="214" name="Google Shape;214;p39"/>
          <p:cNvSpPr txBox="1"/>
          <p:nvPr>
            <p:ph idx="1" type="body"/>
          </p:nvPr>
        </p:nvSpPr>
        <p:spPr>
          <a:xfrm>
            <a:off x="311700" y="1308023"/>
            <a:ext cx="8520600" cy="54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Modify accel_test.c: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Comment out all printf() statements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Inside the while(1) loop, in place of the existing printf(),</a:t>
            </a:r>
            <a:endParaRPr sz="16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printf("%d,%d,%d\n\r", accel_x, accel_y, accel_z);</a:t>
            </a:r>
            <a:endParaRPr b="1" sz="14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Change 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delay_ms</a:t>
            </a:r>
            <a:r>
              <a:rPr lang="en" sz="1600"/>
              <a:t> to 100 or less.</a:t>
            </a:r>
            <a:endParaRPr sz="16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CoolTerm: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Connect as per usual.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the "View" menu, </a:t>
            </a:r>
            <a:br>
              <a:rPr lang="en" sz="1600"/>
            </a:br>
            <a:r>
              <a:rPr lang="en" sz="1600"/>
              <a:t>select "View Chart".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 sz="1600"/>
              <a:t>	</a:t>
            </a:r>
            <a:endParaRPr sz="1600"/>
          </a:p>
        </p:txBody>
      </p:sp>
      <p:sp>
        <p:nvSpPr>
          <p:cNvPr id="215" name="Google Shape;215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399" y="4829924"/>
            <a:ext cx="6093199" cy="123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9"/>
          <p:cNvSpPr/>
          <p:nvPr/>
        </p:nvSpPr>
        <p:spPr>
          <a:xfrm>
            <a:off x="6398775" y="5580225"/>
            <a:ext cx="698700" cy="319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Suggested tests</a:t>
            </a:r>
            <a:endParaRPr/>
          </a:p>
        </p:txBody>
      </p:sp>
      <p:sp>
        <p:nvSpPr>
          <p:cNvPr id="223" name="Google Shape;223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Flip the accelerometer chip over, note sign change of acceleration.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Rotate the </a:t>
            </a:r>
            <a:r>
              <a:rPr lang="en"/>
              <a:t>accelerometer</a:t>
            </a:r>
            <a:r>
              <a:rPr lang="en"/>
              <a:t> to align x and y axes with </a:t>
            </a:r>
            <a:r>
              <a:rPr b="1" lang="en"/>
              <a:t>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Raise and lower the </a:t>
            </a:r>
            <a:r>
              <a:rPr lang="en"/>
              <a:t>accelerometer</a:t>
            </a:r>
            <a:r>
              <a:rPr lang="en"/>
              <a:t>, periodically, at different speeds.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Shake the </a:t>
            </a:r>
            <a:r>
              <a:rPr lang="en"/>
              <a:t>accelerometer.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Place the </a:t>
            </a:r>
            <a:r>
              <a:rPr lang="en"/>
              <a:t>accelerometer</a:t>
            </a:r>
            <a:r>
              <a:rPr lang="en"/>
              <a:t> on the table, and bang the table (shock)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Anything else?</a:t>
            </a:r>
            <a:endParaRPr/>
          </a:p>
        </p:txBody>
      </p:sp>
      <p:sp>
        <p:nvSpPr>
          <p:cNvPr id="224" name="Google Shape;224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/>
          <p:nvPr>
            <p:ph type="title"/>
          </p:nvPr>
        </p:nvSpPr>
        <p:spPr>
          <a:xfrm>
            <a:off x="311700" y="28389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Serial Plotter</a:t>
            </a:r>
            <a:endParaRPr/>
          </a:p>
        </p:txBody>
      </p:sp>
      <p:sp>
        <p:nvSpPr>
          <p:cNvPr id="230" name="Google Shape;230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700" y="1047400"/>
            <a:ext cx="7330476" cy="558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Accelerometer:  Measuring tilt</a:t>
            </a:r>
            <a:endParaRPr/>
          </a:p>
        </p:txBody>
      </p:sp>
      <p:sp>
        <p:nvSpPr>
          <p:cNvPr id="237" name="Google Shape;237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Geometry</a:t>
            </a:r>
            <a:endParaRPr/>
          </a:p>
        </p:txBody>
      </p:sp>
      <p:sp>
        <p:nvSpPr>
          <p:cNvPr id="243" name="Google Shape;243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4" name="Google Shape;24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3075" y="966475"/>
            <a:ext cx="3797701" cy="22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525" y="1569125"/>
            <a:ext cx="3578625" cy="164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3"/>
          <p:cNvSpPr txBox="1"/>
          <p:nvPr/>
        </p:nvSpPr>
        <p:spPr>
          <a:xfrm>
            <a:off x="4179750" y="146350"/>
            <a:ext cx="4841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Analog Devices, AN-1057, “Using an Accelerometer for Inclination Sensing” (2010)</a:t>
            </a:r>
            <a:endParaRPr sz="1000"/>
          </a:p>
        </p:txBody>
      </p:sp>
      <p:sp>
        <p:nvSpPr>
          <p:cNvPr id="247" name="Google Shape;247;p43"/>
          <p:cNvSpPr txBox="1"/>
          <p:nvPr/>
        </p:nvSpPr>
        <p:spPr>
          <a:xfrm>
            <a:off x="499150" y="3556275"/>
            <a:ext cx="3363900" cy="2313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baseline="-25000" lang="en"/>
              <a:t>X</a:t>
            </a:r>
            <a:r>
              <a:rPr lang="en"/>
              <a:t> = g sin 𝜃 </a:t>
            </a:r>
            <a:r>
              <a:rPr lang="en"/>
              <a:t>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⇒  </a:t>
            </a:r>
            <a:r>
              <a:rPr lang="en">
                <a:solidFill>
                  <a:srgbClr val="CC0000"/>
                </a:solidFill>
              </a:rPr>
              <a:t>𝜃 = sin</a:t>
            </a:r>
            <a:r>
              <a:rPr baseline="30000" lang="en">
                <a:solidFill>
                  <a:srgbClr val="CC0000"/>
                </a:solidFill>
              </a:rPr>
              <a:t>–1</a:t>
            </a:r>
            <a:r>
              <a:rPr lang="en">
                <a:solidFill>
                  <a:srgbClr val="CC0000"/>
                </a:solidFill>
              </a:rPr>
              <a:t>(A</a:t>
            </a:r>
            <a:r>
              <a:rPr baseline="-25000" lang="en">
                <a:solidFill>
                  <a:srgbClr val="CC0000"/>
                </a:solidFill>
              </a:rPr>
              <a:t>x</a:t>
            </a:r>
            <a:r>
              <a:rPr lang="en">
                <a:solidFill>
                  <a:srgbClr val="CC0000"/>
                </a:solidFill>
              </a:rPr>
              <a:t>/g)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For small tilt, sin 𝜃 ≈ 𝜃.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Most sensitive (large ∆</a:t>
            </a:r>
            <a:r>
              <a:rPr lang="en">
                <a:solidFill>
                  <a:schemeClr val="dk1"/>
                </a:solidFill>
              </a:rPr>
              <a:t>A</a:t>
            </a:r>
            <a:r>
              <a:rPr baseline="-25000" lang="en">
                <a:solidFill>
                  <a:schemeClr val="dk1"/>
                </a:solidFill>
              </a:rPr>
              <a:t>X</a:t>
            </a:r>
            <a:r>
              <a:rPr lang="en">
                <a:solidFill>
                  <a:schemeClr val="dk1"/>
                </a:solidFill>
              </a:rPr>
              <a:t> / ∆𝜃) </a:t>
            </a:r>
            <a:r>
              <a:rPr lang="en"/>
              <a:t>near 0°, poor sensitivity near 90°.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Can’t measure full 360° range.</a:t>
            </a:r>
            <a:endParaRPr/>
          </a:p>
        </p:txBody>
      </p:sp>
      <p:sp>
        <p:nvSpPr>
          <p:cNvPr id="248" name="Google Shape;248;p43"/>
          <p:cNvSpPr txBox="1"/>
          <p:nvPr/>
        </p:nvSpPr>
        <p:spPr>
          <a:xfrm>
            <a:off x="5299500" y="3556275"/>
            <a:ext cx="3363900" cy="2313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baseline="-25000" lang="en"/>
              <a:t>X</a:t>
            </a:r>
            <a:r>
              <a:rPr lang="en"/>
              <a:t> = g sin 𝜃,  </a:t>
            </a:r>
            <a:r>
              <a:rPr lang="en">
                <a:solidFill>
                  <a:schemeClr val="dk1"/>
                </a:solidFill>
              </a:rPr>
              <a:t>A</a:t>
            </a:r>
            <a:r>
              <a:rPr baseline="-25000" lang="en">
                <a:solidFill>
                  <a:schemeClr val="dk1"/>
                </a:solidFill>
              </a:rPr>
              <a:t>y</a:t>
            </a:r>
            <a:r>
              <a:rPr lang="en">
                <a:solidFill>
                  <a:schemeClr val="dk1"/>
                </a:solidFill>
              </a:rPr>
              <a:t> = g cos 𝜃,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⇒  </a:t>
            </a:r>
            <a:r>
              <a:rPr lang="en">
                <a:solidFill>
                  <a:srgbClr val="CC0000"/>
                </a:solidFill>
              </a:rPr>
              <a:t>𝜃 = tan</a:t>
            </a:r>
            <a:r>
              <a:rPr baseline="30000" lang="en">
                <a:solidFill>
                  <a:srgbClr val="CC0000"/>
                </a:solidFill>
              </a:rPr>
              <a:t>–1</a:t>
            </a:r>
            <a:r>
              <a:rPr lang="en">
                <a:solidFill>
                  <a:srgbClr val="CC0000"/>
                </a:solidFill>
              </a:rPr>
              <a:t>(A</a:t>
            </a:r>
            <a:r>
              <a:rPr baseline="-25000" lang="en">
                <a:solidFill>
                  <a:srgbClr val="CC0000"/>
                </a:solidFill>
              </a:rPr>
              <a:t>x</a:t>
            </a:r>
            <a:r>
              <a:rPr lang="en">
                <a:solidFill>
                  <a:srgbClr val="CC0000"/>
                </a:solidFill>
              </a:rPr>
              <a:t>/A</a:t>
            </a:r>
            <a:r>
              <a:rPr baseline="-25000" lang="en">
                <a:solidFill>
                  <a:srgbClr val="CC0000"/>
                </a:solidFill>
              </a:rPr>
              <a:t>y</a:t>
            </a:r>
            <a:r>
              <a:rPr lang="en">
                <a:solidFill>
                  <a:srgbClr val="CC0000"/>
                </a:solidFill>
              </a:rPr>
              <a:t>)</a:t>
            </a:r>
            <a:endParaRPr>
              <a:solidFill>
                <a:srgbClr val="CC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For small tilt, tan 𝜃 ≈ 𝜃.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Constant sensitivity.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Complete 360° tilt sensing, if you are careful about quadrants.</a:t>
            </a:r>
            <a:endParaRPr/>
          </a:p>
        </p:txBody>
      </p:sp>
      <p:sp>
        <p:nvSpPr>
          <p:cNvPr id="249" name="Google Shape;249;p43"/>
          <p:cNvSpPr txBox="1"/>
          <p:nvPr/>
        </p:nvSpPr>
        <p:spPr>
          <a:xfrm>
            <a:off x="599875" y="6141425"/>
            <a:ext cx="70407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all three axes, can fully orient in space.  See app note for details.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title"/>
          </p:nvPr>
        </p:nvSpPr>
        <p:spPr>
          <a:xfrm>
            <a:off x="311700" y="1988950"/>
            <a:ext cx="8520600" cy="28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Sine? Cosine? Tangent?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Looks like we need f</a:t>
            </a:r>
            <a:r>
              <a:rPr lang="en"/>
              <a:t>loating point arithmetic…</a:t>
            </a:r>
            <a:endParaRPr/>
          </a:p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type="title"/>
          </p:nvPr>
        </p:nvSpPr>
        <p:spPr>
          <a:xfrm>
            <a:off x="311700" y="22309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 Accelerometer data format (2)</a:t>
            </a:r>
            <a:endParaRPr/>
          </a:p>
        </p:txBody>
      </p:sp>
      <p:sp>
        <p:nvSpPr>
          <p:cNvPr id="261" name="Google Shape;261;p45"/>
          <p:cNvSpPr txBox="1"/>
          <p:nvPr>
            <p:ph idx="1" type="body"/>
          </p:nvPr>
        </p:nvSpPr>
        <p:spPr>
          <a:xfrm>
            <a:off x="311700" y="1179800"/>
            <a:ext cx="8520600" cy="52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</a:rPr>
              <a:t>For a full-scale range of +/- 2g</a:t>
            </a:r>
            <a:r>
              <a:rPr lang="en" sz="1600"/>
              <a:t>, one computes the acceleration a by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	a = 4*ACCEL_raw / 2</a:t>
            </a:r>
            <a:r>
              <a:rPr baseline="30000" lang="en" sz="1600"/>
              <a:t>16</a:t>
            </a:r>
            <a:r>
              <a:rPr lang="en" sz="1600"/>
              <a:t> (g)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The units of the accelerometer output are “g”, i.e., 1 g = 9.8 m/s</a:t>
            </a:r>
            <a:r>
              <a:rPr baseline="30000" lang="en" sz="1600"/>
              <a:t>2</a:t>
            </a:r>
            <a:r>
              <a:rPr lang="en" sz="1600"/>
              <a:t>. 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In “milli-g”,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	a = (4 * ACCEL_raw * 1000) / 2</a:t>
            </a:r>
            <a:r>
              <a:rPr baseline="30000" lang="en" sz="1600"/>
              <a:t>16</a:t>
            </a:r>
            <a:r>
              <a:rPr lang="en" sz="1600"/>
              <a:t>  (mg)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        a = </a:t>
            </a:r>
            <a:r>
              <a:rPr b="1" lang="en" sz="1600">
                <a:solidFill>
                  <a:srgbClr val="0000FF"/>
                </a:solidFill>
              </a:rPr>
              <a:t>(ACC_FS * ACCEL_raw * MILLI) / 2</a:t>
            </a:r>
            <a:r>
              <a:rPr b="1" baseline="30000" lang="en" sz="1600">
                <a:solidFill>
                  <a:srgbClr val="0000FF"/>
                </a:solidFill>
              </a:rPr>
              <a:t>ACC_REGISTERWIDTH</a:t>
            </a:r>
            <a:r>
              <a:rPr b="1" lang="en" sz="1600">
                <a:solidFill>
                  <a:srgbClr val="0000FF"/>
                </a:solidFill>
              </a:rPr>
              <a:t>  (mg)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#define ACC_FS 4</a:t>
            </a:r>
            <a:endParaRPr b="1" sz="16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#define ACC_REGISTERWIDTH 16</a:t>
            </a:r>
            <a:endParaRPr b="1" sz="16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#define MILLI 1000</a:t>
            </a:r>
            <a:endParaRPr b="1" sz="16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2" name="Google Shape;262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6"/>
          <p:cNvSpPr txBox="1"/>
          <p:nvPr>
            <p:ph type="title"/>
          </p:nvPr>
        </p:nvSpPr>
        <p:spPr>
          <a:xfrm>
            <a:off x="311700" y="28749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Floating point arithmetic</a:t>
            </a:r>
            <a:endParaRPr/>
          </a:p>
        </p:txBody>
      </p:sp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331950" y="966900"/>
            <a:ext cx="8480100" cy="56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 float (“single precision floating point”) is 4 bytes (same size as int32_t).  To express acceleration as a float,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	float a = (float) ACCEL_RAW * ACC_FS / </a:t>
            </a:r>
            <a:r>
              <a:rPr lang="en" sz="1600"/>
              <a:t>65536</a:t>
            </a:r>
            <a:r>
              <a:rPr lang="en" sz="1600"/>
              <a:t>;    (no need for milli-g, </a:t>
            </a:r>
            <a:r>
              <a:rPr lang="en" sz="1600"/>
              <a:t>65536</a:t>
            </a:r>
            <a:r>
              <a:rPr lang="en" sz="1600"/>
              <a:t> =  2^16)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Make sure the </a:t>
            </a:r>
            <a:r>
              <a:rPr lang="en" sz="1600">
                <a:solidFill>
                  <a:srgbClr val="0000FF"/>
                </a:solidFill>
              </a:rPr>
              <a:t>division</a:t>
            </a:r>
            <a:r>
              <a:rPr lang="en" sz="1600">
                <a:solidFill>
                  <a:srgbClr val="0000FF"/>
                </a:solidFill>
              </a:rPr>
              <a:t> happens as a floating point operation! (How?)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Compute with floating point (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#include &lt;math.h&gt;</a:t>
            </a:r>
            <a:r>
              <a:rPr lang="en" sz="1600"/>
              <a:t> for functions), convert back to integers    (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round()</a:t>
            </a:r>
            <a:r>
              <a:rPr lang="en" sz="1600"/>
              <a:t>) for printing and display.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Floating point format has a sign bit, an 8-bit exponent, and a 23-bit fraction, or mantissa: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	N = ± fraction × 2</a:t>
            </a:r>
            <a:r>
              <a:rPr baseline="30000" lang="en" sz="1600"/>
              <a:t>exponent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int32_t has more </a:t>
            </a:r>
            <a:r>
              <a:rPr b="1" lang="en" sz="1600"/>
              <a:t>precision</a:t>
            </a:r>
            <a:r>
              <a:rPr lang="en" sz="1600"/>
              <a:t> than a float, but float has more </a:t>
            </a:r>
            <a:r>
              <a:rPr b="1" lang="en" sz="1600"/>
              <a:t>dynamic range</a:t>
            </a:r>
            <a:r>
              <a:rPr lang="en" sz="1600"/>
              <a:t>.  Note that the accelerometer, in highest precision mode, is only 12 bits.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/>
              <a:t>Floating point arithmetic is more complex, but more convenient for using mathematical functions, e.g., sine and cosine.  Our processor lacks floating point hardware, does arithmetic in software: slower and takes up more flash memory.  </a:t>
            </a:r>
            <a:endParaRPr sz="1600"/>
          </a:p>
        </p:txBody>
      </p:sp>
      <p:sp>
        <p:nvSpPr>
          <p:cNvPr id="269" name="Google Shape;269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7</a:t>
            </a:r>
            <a:endParaRPr/>
          </a:p>
        </p:txBody>
      </p:sp>
      <p:sp>
        <p:nvSpPr>
          <p:cNvPr id="275" name="Google Shape;275;p47"/>
          <p:cNvSpPr txBox="1"/>
          <p:nvPr>
            <p:ph idx="1" type="body"/>
          </p:nvPr>
        </p:nvSpPr>
        <p:spPr>
          <a:xfrm>
            <a:off x="311700" y="1536628"/>
            <a:ext cx="8520600" cy="30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Manage two I2C devices on the same I2C bus.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Calculate and display tilt.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Simulate phone rotation / image orientation.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