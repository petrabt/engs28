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9144000"/>
  <p:notesSz cx="6858000" cy="9144000"/>
  <p:embeddedFontLst>
    <p:embeddedFont>
      <p:font typeface="Robot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DE5C88-03BE-4C31-A5E0-17DF2B13A38E}">
  <a:tblStyle styleId="{EDDE5C88-03BE-4C31-A5E0-17DF2B13A38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italic.fntdata"/><Relationship Id="rId23" Type="http://schemas.openxmlformats.org/officeDocument/2006/relationships/slide" Target="slides/slide18.xml"/><Relationship Id="rId67" Type="http://schemas.openxmlformats.org/officeDocument/2006/relationships/font" Target="fonts/Roboto-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b19dca7965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b19dca796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33c253a72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33c253a7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33c253a72_0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33c253a7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33c253a72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33c253a7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76b0fa98a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76b0fa98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6647ae79b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6647ae79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6647ae79b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6647ae79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6647ae79b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6647ae79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6647ae79b_0_10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6647ae79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Careful in general - don't change any data in the ISR (will discuss this later). Toggling an LED is okay though.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6647ae79b_0_1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6647ae79b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6647ae79b_0_1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6647ae79b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Issues: If the button is pressed and released during the 1-second delay period it won't register as a reset.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4e32faedb7_0_1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4e32faedb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50">
                <a:solidFill>
                  <a:srgbClr val="4D5156"/>
                </a:solidFill>
                <a:highlight>
                  <a:srgbClr val="FFFFFF"/>
                </a:highlight>
                <a:latin typeface="Roboto"/>
                <a:ea typeface="Roboto"/>
                <a:cs typeface="Roboto"/>
                <a:sym typeface="Roboto"/>
              </a:rPr>
              <a:t>A </a:t>
            </a:r>
            <a:r>
              <a:rPr b="1" lang="en" sz="1450">
                <a:solidFill>
                  <a:srgbClr val="5F6368"/>
                </a:solidFill>
                <a:highlight>
                  <a:srgbClr val="FFFFFF"/>
                </a:highlight>
                <a:latin typeface="Roboto"/>
                <a:ea typeface="Roboto"/>
                <a:cs typeface="Roboto"/>
                <a:sym typeface="Roboto"/>
              </a:rPr>
              <a:t>watchdog timer</a:t>
            </a:r>
            <a:r>
              <a:rPr lang="en" sz="1450">
                <a:solidFill>
                  <a:srgbClr val="4D5156"/>
                </a:solidFill>
                <a:highlight>
                  <a:srgbClr val="FFFFFF"/>
                </a:highlight>
                <a:latin typeface="Roboto"/>
                <a:ea typeface="Roboto"/>
                <a:cs typeface="Roboto"/>
                <a:sym typeface="Roboto"/>
              </a:rPr>
              <a:t> is an electronic or software timer that is used to detect and recover from computer malfunctions.</a:t>
            </a:r>
            <a:endParaRPr sz="15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6647ae79b_0_1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6647ae79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6647ae79b_0_2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6647ae79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6647ae79b_0_2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6647ae79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6647ae79b_0_2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6647ae79b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f09d44be7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f09d44be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b6dce7c6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2b6dce7c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IMR1 exists to provide a layer of control over whether detected events should actually trigger an interrupt. It ensures flexibility, efficiency, and better power management in embedded systems.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1.	Separation of Event Detection and Interrupt Enabling</a:t>
            </a:r>
            <a:endParaRPr/>
          </a:p>
          <a:p>
            <a:pPr indent="0" lvl="0" marL="0" rtl="0" algn="l">
              <a:spcBef>
                <a:spcPts val="0"/>
              </a:spcBef>
              <a:spcAft>
                <a:spcPts val="0"/>
              </a:spcAft>
              <a:buClr>
                <a:schemeClr val="dk1"/>
              </a:buClr>
              <a:buSzPts val="1100"/>
              <a:buFont typeface="Arial"/>
              <a:buNone/>
            </a:pPr>
            <a:r>
              <a:rPr lang="en"/>
              <a:t>	•	The EXTI system is designed to handle both events and interrupts.</a:t>
            </a:r>
            <a:endParaRPr/>
          </a:p>
          <a:p>
            <a:pPr indent="0" lvl="0" marL="0" rtl="0" algn="l">
              <a:spcBef>
                <a:spcPts val="0"/>
              </a:spcBef>
              <a:spcAft>
                <a:spcPts val="0"/>
              </a:spcAft>
              <a:buClr>
                <a:schemeClr val="dk1"/>
              </a:buClr>
              <a:buSzPts val="1100"/>
              <a:buFont typeface="Arial"/>
              <a:buNone/>
            </a:pPr>
            <a:r>
              <a:rPr lang="en"/>
              <a:t>	•	The trigger selection registers (FTSR1/RTSR1) only define when an event should be recognized.</a:t>
            </a:r>
            <a:endParaRPr/>
          </a:p>
          <a:p>
            <a:pPr indent="0" lvl="0" marL="0" rtl="0" algn="l">
              <a:spcBef>
                <a:spcPts val="0"/>
              </a:spcBef>
              <a:spcAft>
                <a:spcPts val="0"/>
              </a:spcAft>
              <a:buClr>
                <a:schemeClr val="dk1"/>
              </a:buClr>
              <a:buSzPts val="1100"/>
              <a:buFont typeface="Arial"/>
              <a:buNone/>
            </a:pPr>
            <a:r>
              <a:rPr lang="en"/>
              <a:t>	•	The mask register (IMR1) determines whether that event should actually cause an interrupt request (IRQ) to the processor.</a:t>
            </a:r>
            <a:endParaRPr/>
          </a:p>
          <a:p>
            <a:pPr indent="0" lvl="0" marL="0" rtl="0" algn="l">
              <a:spcBef>
                <a:spcPts val="0"/>
              </a:spcBef>
              <a:spcAft>
                <a:spcPts val="0"/>
              </a:spcAft>
              <a:buClr>
                <a:schemeClr val="dk1"/>
              </a:buClr>
              <a:buSzPts val="1100"/>
              <a:buFont typeface="Arial"/>
              <a:buNone/>
            </a:pPr>
            <a:r>
              <a:rPr lang="en"/>
              <a:t>2.	Flexible Event/Interrupt Handling</a:t>
            </a:r>
            <a:endParaRPr/>
          </a:p>
          <a:p>
            <a:pPr indent="0" lvl="0" marL="0" rtl="0" algn="l">
              <a:spcBef>
                <a:spcPts val="0"/>
              </a:spcBef>
              <a:spcAft>
                <a:spcPts val="0"/>
              </a:spcAft>
              <a:buClr>
                <a:schemeClr val="dk1"/>
              </a:buClr>
              <a:buSzPts val="1100"/>
              <a:buFont typeface="Arial"/>
              <a:buNone/>
            </a:pPr>
            <a:r>
              <a:rPr lang="en"/>
              <a:t>	•	Some applications may want to detect an external event but not trigger an interrupt.</a:t>
            </a:r>
            <a:endParaRPr/>
          </a:p>
          <a:p>
            <a:pPr indent="0" lvl="0" marL="0" rtl="0" algn="l">
              <a:spcBef>
                <a:spcPts val="0"/>
              </a:spcBef>
              <a:spcAft>
                <a:spcPts val="0"/>
              </a:spcAft>
              <a:buClr>
                <a:schemeClr val="dk1"/>
              </a:buClr>
              <a:buSzPts val="1100"/>
              <a:buFont typeface="Arial"/>
              <a:buNone/>
            </a:pPr>
            <a:r>
              <a:rPr lang="en"/>
              <a:t>	•	Instead, the event might be polled manually (e.g., using the EXTI pending register EXTI_PR1).</a:t>
            </a:r>
            <a:endParaRPr/>
          </a:p>
          <a:p>
            <a:pPr indent="0" lvl="0" marL="0" rtl="0" algn="l">
              <a:spcBef>
                <a:spcPts val="0"/>
              </a:spcBef>
              <a:spcAft>
                <a:spcPts val="0"/>
              </a:spcAft>
              <a:buClr>
                <a:schemeClr val="dk1"/>
              </a:buClr>
              <a:buSzPts val="1100"/>
              <a:buFont typeface="Arial"/>
              <a:buNone/>
            </a:pPr>
            <a:r>
              <a:rPr lang="en"/>
              <a:t>	•	By separating FTSR1 from IMR1, the system allows users to enable event detection without forcing an IRQ.</a:t>
            </a:r>
            <a:endParaRPr/>
          </a:p>
          <a:p>
            <a:pPr indent="0" lvl="0" marL="0" rtl="0" algn="l">
              <a:spcBef>
                <a:spcPts val="0"/>
              </a:spcBef>
              <a:spcAft>
                <a:spcPts val="0"/>
              </a:spcAft>
              <a:buClr>
                <a:schemeClr val="dk1"/>
              </a:buClr>
              <a:buSzPts val="1100"/>
              <a:buFont typeface="Arial"/>
              <a:buNone/>
            </a:pPr>
            <a:r>
              <a:rPr lang="en"/>
              <a:t>3.	Power and Performance Considerations</a:t>
            </a:r>
            <a:endParaRPr/>
          </a:p>
          <a:p>
            <a:pPr indent="0" lvl="0" marL="0" rtl="0" algn="l">
              <a:spcBef>
                <a:spcPts val="0"/>
              </a:spcBef>
              <a:spcAft>
                <a:spcPts val="0"/>
              </a:spcAft>
              <a:buClr>
                <a:schemeClr val="dk1"/>
              </a:buClr>
              <a:buSzPts val="1100"/>
              <a:buFont typeface="Arial"/>
              <a:buNone/>
            </a:pPr>
            <a:r>
              <a:rPr lang="en"/>
              <a:t>	•	In low-power applications, waking the processor for every external event may be inefficient.</a:t>
            </a:r>
            <a:endParaRPr/>
          </a:p>
          <a:p>
            <a:pPr indent="0" lvl="0" marL="0" rtl="0" algn="l">
              <a:spcBef>
                <a:spcPts val="0"/>
              </a:spcBef>
              <a:spcAft>
                <a:spcPts val="0"/>
              </a:spcAft>
              <a:buClr>
                <a:schemeClr val="dk1"/>
              </a:buClr>
              <a:buSzPts val="1100"/>
              <a:buFont typeface="Arial"/>
              <a:buNone/>
            </a:pPr>
            <a:r>
              <a:rPr lang="en"/>
              <a:t>	•	The IMR1 allows fine-grained control: you can configure event detection but only enable the interrupt when necessary.</a:t>
            </a:r>
            <a:endParaRPr/>
          </a:p>
          <a:p>
            <a:pPr indent="0" lvl="0" marL="0" rtl="0" algn="l">
              <a:spcBef>
                <a:spcPts val="0"/>
              </a:spcBef>
              <a:spcAft>
                <a:spcPts val="0"/>
              </a:spcAft>
              <a:buClr>
                <a:schemeClr val="dk1"/>
              </a:buClr>
              <a:buSzPts val="1100"/>
              <a:buFont typeface="Arial"/>
              <a:buNone/>
            </a:pPr>
            <a:r>
              <a:rPr lang="en"/>
              <a:t>4.	Compatibility with NVIC and Software Masking</a:t>
            </a:r>
            <a:endParaRPr/>
          </a:p>
          <a:p>
            <a:pPr indent="0" lvl="0" marL="0" rtl="0" algn="l">
              <a:spcBef>
                <a:spcPts val="0"/>
              </a:spcBef>
              <a:spcAft>
                <a:spcPts val="0"/>
              </a:spcAft>
              <a:buClr>
                <a:schemeClr val="dk1"/>
              </a:buClr>
              <a:buSzPts val="1100"/>
              <a:buFont typeface="Arial"/>
              <a:buNone/>
            </a:pPr>
            <a:r>
              <a:rPr lang="en"/>
              <a:t>	•	The NVIC (Nested Vectored Interrupt Controller) already allows enabling/disabling interrupts at the CPU level, but the EXTI IMR1 provides a hardware-level gating mechanism before even reaching the NVIC.</a:t>
            </a:r>
            <a:endParaRPr/>
          </a:p>
          <a:p>
            <a:pPr indent="0" lvl="0" marL="0" rtl="0" algn="l">
              <a:spcBef>
                <a:spcPts val="0"/>
              </a:spcBef>
              <a:spcAft>
                <a:spcPts val="0"/>
              </a:spcAft>
              <a:buClr>
                <a:schemeClr val="dk1"/>
              </a:buClr>
              <a:buSzPts val="1100"/>
              <a:buFont typeface="Arial"/>
              <a:buNone/>
            </a:pPr>
            <a:r>
              <a:rPr lang="en"/>
              <a:t>	•	This is useful in scenarios where you want to temporarily mask an interrupt without modifying trigger configurations.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EXTI_FPR1 records pending EXTI events (whether or not they generate an interrupt).</a:t>
            </a:r>
            <a:endParaRPr/>
          </a:p>
          <a:p>
            <a:pPr indent="0" lvl="0" marL="0" rtl="0" algn="l">
              <a:spcBef>
                <a:spcPts val="0"/>
              </a:spcBef>
              <a:spcAft>
                <a:spcPts val="0"/>
              </a:spcAft>
              <a:buClr>
                <a:schemeClr val="dk1"/>
              </a:buClr>
              <a:buSzPts val="1100"/>
              <a:buFont typeface="Arial"/>
              <a:buNone/>
            </a:pPr>
            <a:r>
              <a:rPr lang="en"/>
              <a:t>	•	You must clear FPR1 manually inside the ISR or when polling.</a:t>
            </a:r>
            <a:endParaRPr/>
          </a:p>
          <a:p>
            <a:pPr indent="0" lvl="0" marL="0" rtl="0" algn="l">
              <a:spcBef>
                <a:spcPts val="0"/>
              </a:spcBef>
              <a:spcAft>
                <a:spcPts val="0"/>
              </a:spcAft>
              <a:buClr>
                <a:schemeClr val="dk1"/>
              </a:buClr>
              <a:buSzPts val="1100"/>
              <a:buFont typeface="Arial"/>
              <a:buNone/>
            </a:pPr>
            <a:r>
              <a:rPr lang="en"/>
              <a:t>	•	It allows checking events even if EXTI_IMR1 is not enabled (useful for software-driven event handling).</a:t>
            </a:r>
            <a:endParaRPr/>
          </a:p>
          <a:p>
            <a:pPr indent="0" lvl="0" marL="0" rtl="0" algn="l">
              <a:spcBef>
                <a:spcPts val="0"/>
              </a:spcBef>
              <a:spcAft>
                <a:spcPts val="0"/>
              </a:spcAft>
              <a:buClr>
                <a:schemeClr val="dk1"/>
              </a:buClr>
              <a:buSzPts val="1100"/>
              <a:buFont typeface="Arial"/>
              <a:buNone/>
            </a:pPr>
            <a:r>
              <a:rPr lang="en"/>
              <a:t>	•	Clearing it is done by writing a 1 to the corresponding bit.</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6647ae79b_0_3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6647ae79b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6647ae79b_0_3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c6647ae79b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the I/O port is programmed as input:</a:t>
            </a:r>
            <a:endParaRPr/>
          </a:p>
          <a:p>
            <a:pPr indent="0" lvl="0" marL="0" rtl="0" algn="l">
              <a:spcBef>
                <a:spcPts val="0"/>
              </a:spcBef>
              <a:spcAft>
                <a:spcPts val="0"/>
              </a:spcAft>
              <a:buNone/>
            </a:pPr>
            <a:r>
              <a:rPr lang="en"/>
              <a:t>• The output buffer is disabled</a:t>
            </a:r>
            <a:endParaRPr/>
          </a:p>
          <a:p>
            <a:pPr indent="0" lvl="0" marL="0" rtl="0" algn="l">
              <a:spcBef>
                <a:spcPts val="0"/>
              </a:spcBef>
              <a:spcAft>
                <a:spcPts val="0"/>
              </a:spcAft>
              <a:buNone/>
            </a:pPr>
            <a:r>
              <a:rPr lang="en"/>
              <a:t>• The Schmitt trigger input is activated</a:t>
            </a:r>
            <a:endParaRPr/>
          </a:p>
          <a:p>
            <a:pPr indent="0" lvl="0" marL="0" rtl="0" algn="l">
              <a:spcBef>
                <a:spcPts val="0"/>
              </a:spcBef>
              <a:spcAft>
                <a:spcPts val="0"/>
              </a:spcAft>
              <a:buNone/>
            </a:pPr>
            <a:r>
              <a:rPr lang="en"/>
              <a:t>• The pull-up and pull-down resistors are activated depending on the value in the GPIOx_PUPDR register</a:t>
            </a:r>
            <a:endParaRPr/>
          </a:p>
          <a:p>
            <a:pPr indent="0" lvl="0" marL="0" rtl="0" algn="l">
              <a:spcBef>
                <a:spcPts val="0"/>
              </a:spcBef>
              <a:spcAft>
                <a:spcPts val="0"/>
              </a:spcAft>
              <a:buNone/>
            </a:pPr>
            <a:r>
              <a:rPr lang="en"/>
              <a:t>• The data present on the I/O pin are sampled into the input data register every AHB clock cycle</a:t>
            </a:r>
            <a:endParaRPr/>
          </a:p>
          <a:p>
            <a:pPr indent="0" lvl="0" marL="0" rtl="0" algn="l">
              <a:spcBef>
                <a:spcPts val="0"/>
              </a:spcBef>
              <a:spcAft>
                <a:spcPts val="0"/>
              </a:spcAft>
              <a:buNone/>
            </a:pPr>
            <a:r>
              <a:rPr lang="en"/>
              <a:t>• A read access to the input data register provides the I/O state</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6647ae79b_0_3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6647ae79b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6647ae79b_0_3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6647ae79b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a given EXTI line we need to specify which one (if any) port should be enabled.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6647ae79b_0_4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c6647ae79b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6647ae79b_0_4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6647ae79b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 4*(2-1) + 0, so x = 2, r = 0.</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c6647ae79b_0_4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c6647ae79b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EXTI line (EXTI0, EXTI1, etc.) is mapped to a specific bit in the EXTI registers, and only one GPIO port can be connected to a given EXTI line at a time. For example, EXTI0 can be connected to </a:t>
            </a:r>
            <a:r>
              <a:rPr b="1" lang="en">
                <a:solidFill>
                  <a:schemeClr val="dk1"/>
                </a:solidFill>
              </a:rPr>
              <a:t>PA0, PB0, PC0</a:t>
            </a:r>
            <a:r>
              <a:rPr lang="en">
                <a:solidFill>
                  <a:schemeClr val="dk1"/>
                </a:solidFill>
              </a:rPr>
              <a:t>, etc., but only </a:t>
            </a:r>
            <a:r>
              <a:rPr b="1" lang="en">
                <a:solidFill>
                  <a:schemeClr val="dk1"/>
                </a:solidFill>
              </a:rPr>
              <a:t>one of them</a:t>
            </a:r>
            <a:r>
              <a:rPr lang="en">
                <a:solidFill>
                  <a:schemeClr val="dk1"/>
                </a:solidFill>
              </a:rPr>
              <a:t> can be selected at a time.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6647ae79b_0_4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c6647ae79b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 4*(2-1) + 0, so x = 2, r = 0.</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c6647ae79b_0_4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c6647ae79b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c6647ae79b_0_4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c6647ae79b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6647ae79b_0_4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c6647ae79b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6647ae79b_0_4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c6647ae79b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EXTI-&gt;IMR1 |= EXTI_IMR1_IM4;</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c6647ae79b_0_4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c6647ae79b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c6647ae79b_0_4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c6647ae79b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6647ae79b_0_50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6647ae79b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c6647ae79b_0_5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c6647ae79b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c6647ae79b_0_5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c6647ae79b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IRQ Handler names can be found in startup_stm32c031ctx.s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c6647ae79b_0_5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c6647ae79b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c6647ae79b_0_5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c6647ae79b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that EXTI4 interrupted should really be "check that a falling edge triggered event happened on EXTI4.</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6647ae79b_0_5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c6647ae79b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c6647ae79b_0_5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c6647ae79b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c6647ae79b_0_58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c6647ae79b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c6647ae79b_0_5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c6647ae79b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c6647ae79b_0_59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c6647ae79b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c6647ae79b_0_6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c6647ae79b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f09d44be74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f09d44be7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2b6dce7c67_0_1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2b6dce7c67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Each EXTI line (EXTI0, EXTI1, etc.) is mapped to a specific bit in the EXTI registers, and only one GPIO port can be connected to a given EXTI line at a time. For example, EXTI0 can be connected to </a:t>
            </a:r>
            <a:r>
              <a:rPr b="1" lang="en">
                <a:solidFill>
                  <a:schemeClr val="dk1"/>
                </a:solidFill>
              </a:rPr>
              <a:t>PA0, PB0, PC0</a:t>
            </a:r>
            <a:r>
              <a:rPr lang="en">
                <a:solidFill>
                  <a:schemeClr val="dk1"/>
                </a:solidFill>
              </a:rPr>
              <a:t>, etc., but only </a:t>
            </a:r>
            <a:r>
              <a:rPr b="1" lang="en">
                <a:solidFill>
                  <a:schemeClr val="dk1"/>
                </a:solidFill>
              </a:rPr>
              <a:t>one of them</a:t>
            </a:r>
            <a:r>
              <a:rPr lang="en">
                <a:solidFill>
                  <a:schemeClr val="dk1"/>
                </a:solidFill>
              </a:rPr>
              <a:t> can be selected at a time.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2b6dce7c67_0_2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2b6dce7c6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2b6dce7c67_0_3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2b6dce7c67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f09d44be74_0_3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f09d44be74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76a82f4d5a_0_2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76a82f4d5a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76a82f4d5a_0_2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76a82f4d5a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f12a207d7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2f12a207d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f12a207d72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f12a207d7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1103125d64_0_1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1103125d64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1103125d64_0_1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1103125d6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On the right: traditional way. Use flag. Counter resetting on a button press.</a:t>
            </a:r>
            <a:endParaRPr sz="1800"/>
          </a:p>
          <a:p>
            <a:pPr indent="0" lvl="0" marL="0" rtl="0" algn="l">
              <a:spcBef>
                <a:spcPts val="0"/>
              </a:spcBef>
              <a:spcAft>
                <a:spcPts val="0"/>
              </a:spcAft>
              <a:buNone/>
            </a:pPr>
            <a:r>
              <a:rPr lang="en" sz="1800"/>
              <a:t>But why not just zero the counter in the ISR on the pin change interrupt? What's wrong with that?</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Crucial distinction is that in the original solution you are setting a control signal (flag) in the ISR. The second method messes with the data itself.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Those two things can give you very different results.</a:t>
            </a:r>
            <a:endParaRPr sz="1800"/>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f4195ec5ff_0_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f4195ec5f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counter++ instruction compiles into five successive statements in machine language.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ldr r3, [pc, #12] loads the contents of the memory address located 12 bytes (3 words) after the current value of the program counter (PC) into register r3. This loads the memory location of counter into r3.</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ldr r3, [r3, #0] loads the contents of the memory address now located in r3 - so it loads the actual value of counter into r3.</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adds r2, r3, #1 adds r3 and 1 and stores the result in r2.</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solidFill>
                  <a:schemeClr val="dk1"/>
                </a:solidFill>
              </a:rPr>
              <a:t>ldr r3, [pc, #4] loads the address of counter into r3 (note that pc has increased so we use #4 instead of the earlier #12)</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str r2, [r3, #0] stores the value of r2 into the memory location stored 0 bytes from the one in r3, so it stores the value in r2 into counter.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ADD        R6,  R2,    R6 ; increment index reg.</a:t>
            </a:r>
            <a:endParaRPr sz="1400"/>
          </a:p>
          <a:p>
            <a:pPr indent="0" lvl="0" marL="0" rtl="0" algn="l">
              <a:spcBef>
                <a:spcPts val="0"/>
              </a:spcBef>
              <a:spcAft>
                <a:spcPts val="0"/>
              </a:spcAft>
              <a:buNone/>
            </a:pPr>
            <a:r>
              <a:rPr lang="en" sz="1400"/>
              <a:t>Opcode Dest Src1 Src2  Comment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Suppose you get interrupted while you are adding 1 to the counter. Suppose you have already loaded counter into register r3 and that's when you get interrupted. So counter register value sits in register r3. The  machine state is stored on the stack (that includes the value of register r3). The ISR goes and zeroes counter. Then you return where you left off, restore machine state and the next step increases r3 by 1 and then writes the result into r2, then stores r2 (which holds the just incremented counter value) into the counter memory location. So?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Counter didn't reset because you got interrupted in the middle of the counter++ instruction. So that kind of stuff can happen. Let's compare this with the flag method.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103125d64_0_1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103125d64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Blue is where you test the flag. </a:t>
            </a:r>
            <a:endParaRPr sz="1500"/>
          </a:p>
          <a:p>
            <a:pPr indent="0" lvl="0" marL="0" rtl="0" algn="l">
              <a:spcBef>
                <a:spcPts val="0"/>
              </a:spcBef>
              <a:spcAft>
                <a:spcPts val="0"/>
              </a:spcAft>
              <a:buNone/>
            </a:pPr>
            <a:r>
              <a:rPr lang="en" sz="1500"/>
              <a:t>The following instruction (branch if equal) branches if that zero-flag is set. So if buttonPushed is zero, then the zero-flag will be set by the and instruction and thus it jumps to the else case, where counter is incremented. Otherwise, move the value zero into r3 and reset all flags, store the value of r3 (which is 0) into the memory location that is 4 bytes from the location stored in r7 (this means counter = 0). Similar for buttonPushed.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If you get interrupted while incrementing counter no harm done since the button flag won't take effect until the next time you run through the loop.</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reason why this works is that you are just setting a flag in the ISR. This will ALWAYS work. Trust me.</a:t>
            </a:r>
            <a:endParaRPr sz="15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1103125d64_0_1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1103125d64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6e4f3f4c6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6e4f3f4c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you'll still be polling the A/D converter to find out whether it's done. Simply get rid of the _delay_ms() so that the timer sets off the A/D converter to start.</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0231f86a3b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0231f86a3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0.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55" name="Google Shape;55;p13"/>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9</a:t>
            </a:r>
            <a:endParaRPr sz="2800">
              <a:solidFill>
                <a:srgbClr val="595959"/>
              </a:solidFill>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346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Midterm Survey Results</a:t>
            </a:r>
            <a:endParaRPr/>
          </a:p>
        </p:txBody>
      </p:sp>
      <p:sp>
        <p:nvSpPr>
          <p:cNvPr id="67" name="Google Shape;67;p15"/>
          <p:cNvSpPr txBox="1"/>
          <p:nvPr>
            <p:ph idx="1" type="body"/>
          </p:nvPr>
        </p:nvSpPr>
        <p:spPr>
          <a:xfrm>
            <a:off x="311700" y="1344149"/>
            <a:ext cx="8520600" cy="1138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Thank you for completing the </a:t>
            </a:r>
            <a:r>
              <a:rPr lang="en"/>
              <a:t>survey</a:t>
            </a:r>
            <a:r>
              <a:rPr lang="en"/>
              <a:t> (on time…)</a:t>
            </a:r>
            <a:endParaRPr/>
          </a:p>
          <a:p>
            <a:pPr indent="-342900" lvl="0" marL="457200" rtl="0" algn="l">
              <a:spcBef>
                <a:spcPts val="0"/>
              </a:spcBef>
              <a:spcAft>
                <a:spcPts val="0"/>
              </a:spcAft>
              <a:buSzPts val="1800"/>
              <a:buChar char="●"/>
            </a:pPr>
            <a:r>
              <a:rPr lang="en"/>
              <a:t>You should have heard from your Learning Fellow about feedback for your team.</a:t>
            </a:r>
            <a:endParaRPr/>
          </a:p>
          <a:p>
            <a:pPr indent="0" lvl="0" marL="45720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09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Midterm Survey Results</a:t>
            </a:r>
            <a:endParaRPr/>
          </a:p>
        </p:txBody>
      </p:sp>
      <p:pic>
        <p:nvPicPr>
          <p:cNvPr id="73" name="Google Shape;73;p16" title="Screenshot 2026-02-03 at 9.40.41 AM.png"/>
          <p:cNvPicPr preferRelativeResize="0"/>
          <p:nvPr/>
        </p:nvPicPr>
        <p:blipFill>
          <a:blip r:embed="rId3">
            <a:alphaModFix/>
          </a:blip>
          <a:stretch>
            <a:fillRect/>
          </a:stretch>
        </p:blipFill>
        <p:spPr>
          <a:xfrm>
            <a:off x="311700" y="832425"/>
            <a:ext cx="8447524" cy="5941751"/>
          </a:xfrm>
          <a:prstGeom prst="rect">
            <a:avLst/>
          </a:prstGeom>
          <a:noFill/>
          <a:ln>
            <a:noFill/>
          </a:ln>
        </p:spPr>
      </p:pic>
      <p:sp>
        <p:nvSpPr>
          <p:cNvPr id="74" name="Google Shape;74;p16"/>
          <p:cNvSpPr/>
          <p:nvPr/>
        </p:nvSpPr>
        <p:spPr>
          <a:xfrm>
            <a:off x="7982700" y="3689600"/>
            <a:ext cx="644700" cy="763500"/>
          </a:xfrm>
          <a:prstGeom prst="ellipse">
            <a:avLst/>
          </a:prstGeom>
          <a:noFill/>
          <a:ln cap="flat" cmpd="sng" w="762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Midterm Survey Results</a:t>
            </a:r>
            <a:endParaRPr/>
          </a:p>
        </p:txBody>
      </p:sp>
      <p:pic>
        <p:nvPicPr>
          <p:cNvPr id="80" name="Google Shape;80;p17" title="Screenshot 2026-02-03 at 9.36.42 AM.png"/>
          <p:cNvPicPr preferRelativeResize="0"/>
          <p:nvPr/>
        </p:nvPicPr>
        <p:blipFill>
          <a:blip r:embed="rId3">
            <a:alphaModFix/>
          </a:blip>
          <a:stretch>
            <a:fillRect/>
          </a:stretch>
        </p:blipFill>
        <p:spPr>
          <a:xfrm>
            <a:off x="179113" y="1880506"/>
            <a:ext cx="8785772" cy="35906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6" name="Google Shape;86;p18"/>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sz="2400"/>
              <a:t>Review timer interrupts</a:t>
            </a:r>
            <a:endParaRPr sz="2400"/>
          </a:p>
          <a:p>
            <a:pPr indent="-381000" lvl="0" marL="457200" rtl="0" algn="l">
              <a:spcBef>
                <a:spcPts val="0"/>
              </a:spcBef>
              <a:spcAft>
                <a:spcPts val="0"/>
              </a:spcAft>
              <a:buSzPts val="2400"/>
              <a:buChar char="●"/>
            </a:pPr>
            <a:r>
              <a:rPr lang="en" sz="2400"/>
              <a:t>GPIO interrupts</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2022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For any interrupt</a:t>
            </a:r>
            <a:endParaRPr/>
          </a:p>
        </p:txBody>
      </p:sp>
      <p:sp>
        <p:nvSpPr>
          <p:cNvPr id="92" name="Google Shape;92;p19"/>
          <p:cNvSpPr txBox="1"/>
          <p:nvPr>
            <p:ph idx="1" type="body"/>
          </p:nvPr>
        </p:nvSpPr>
        <p:spPr>
          <a:xfrm>
            <a:off x="311700" y="1056075"/>
            <a:ext cx="8520600" cy="5355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Define the appropriate ISR: be sure to use the correct name, check whether your desired event occurred, clear that event's pending flag, set a flag (via a global volatile variable) that you then check in your main code.</a:t>
            </a:r>
            <a:endParaRPr sz="1600"/>
          </a:p>
          <a:p>
            <a:pPr indent="0" lvl="0" marL="914400" rtl="0" algn="l">
              <a:spcBef>
                <a:spcPts val="1600"/>
              </a:spcBef>
              <a:spcAft>
                <a:spcPts val="0"/>
              </a:spcAft>
              <a:buNone/>
            </a:pPr>
            <a:r>
              <a:rPr b="1" lang="en" sz="1200">
                <a:solidFill>
                  <a:srgbClr val="0000FF"/>
                </a:solidFill>
                <a:latin typeface="Courier New"/>
                <a:ea typeface="Courier New"/>
                <a:cs typeface="Courier New"/>
                <a:sym typeface="Courier New"/>
              </a:rPr>
              <a:t>void TIM14_IRQHandler(void)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_disable_irq(); // disable global interrupts</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TIM14-&gt;SR = ~TIM_SR_UIF; // Clear UIF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timerElapsed = 1;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__enable_irq();  // Enable global interrupts</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330200" lvl="0" marL="457200" rtl="0" algn="l">
              <a:spcBef>
                <a:spcPts val="0"/>
              </a:spcBef>
              <a:spcAft>
                <a:spcPts val="0"/>
              </a:spcAft>
              <a:buSzPts val="1600"/>
              <a:buAutoNum type="arabicPeriod"/>
            </a:pPr>
            <a:r>
              <a:rPr lang="en" sz="1600"/>
              <a:t>During initialization, enable the interrupt source.</a:t>
            </a:r>
            <a:endParaRPr sz="1600"/>
          </a:p>
          <a:p>
            <a:pPr indent="0" lvl="0" marL="914400" rtl="0" algn="l">
              <a:spcBef>
                <a:spcPts val="1600"/>
              </a:spcBef>
              <a:spcAft>
                <a:spcPts val="0"/>
              </a:spcAft>
              <a:buNone/>
            </a:pPr>
            <a:r>
              <a:rPr b="1" lang="en" sz="1200">
                <a:solidFill>
                  <a:srgbClr val="0000FF"/>
                </a:solidFill>
                <a:latin typeface="Courier New"/>
                <a:ea typeface="Courier New"/>
                <a:cs typeface="Courier New"/>
                <a:sym typeface="Courier New"/>
              </a:rPr>
              <a:t>// Enable update interrupt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TIM14-&gt;DIER |= TIM_DIER_UIE;</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Enable timer interrupt in NVIC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NVIC_EnableIRQ(TIM14_IRQn);</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330200" lvl="0" marL="457200" rtl="0" algn="l">
              <a:spcBef>
                <a:spcPts val="0"/>
              </a:spcBef>
              <a:spcAft>
                <a:spcPts val="0"/>
              </a:spcAft>
              <a:buSzPts val="1600"/>
              <a:buAutoNum type="arabicPeriod"/>
            </a:pPr>
            <a:r>
              <a:rPr lang="en" sz="1600"/>
              <a:t>Wait for the interrupt to occur or invoke behavior that will eventually lead to an interrupt, e.g., </a:t>
            </a:r>
            <a:r>
              <a:rPr lang="en" sz="1600">
                <a:solidFill>
                  <a:srgbClr val="0000E6"/>
                </a:solidFill>
              </a:rPr>
              <a:t>timer resets to 0 upon reaching autoreload value.</a:t>
            </a:r>
            <a:endParaRPr sz="1600">
              <a:solidFill>
                <a:srgbClr val="0000E6"/>
              </a:solidFill>
            </a:endParaRPr>
          </a:p>
          <a:p>
            <a:pPr indent="0" lvl="0" marL="914400" rtl="0" algn="l">
              <a:spcBef>
                <a:spcPts val="1600"/>
              </a:spcBef>
              <a:spcAft>
                <a:spcPts val="1600"/>
              </a:spcAft>
              <a:buNone/>
            </a:pPr>
            <a:r>
              <a:t/>
            </a:r>
            <a:endParaRPr>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49700" y="69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Blinky with a timer</a:t>
            </a:r>
            <a:endParaRPr/>
          </a:p>
        </p:txBody>
      </p:sp>
      <p:sp>
        <p:nvSpPr>
          <p:cNvPr id="98" name="Google Shape;98;p20"/>
          <p:cNvSpPr txBox="1"/>
          <p:nvPr/>
        </p:nvSpPr>
        <p:spPr>
          <a:xfrm>
            <a:off x="109025" y="737725"/>
            <a:ext cx="4666500" cy="6104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&lt;stdio.h&gt;</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LED (1U&lt;&lt;5) </a:t>
            </a:r>
            <a:r>
              <a:rPr b="1" lang="en" sz="1200">
                <a:solidFill>
                  <a:srgbClr val="3F7F5F"/>
                </a:solidFill>
                <a:highlight>
                  <a:srgbClr val="FFFFFF"/>
                </a:highlight>
                <a:latin typeface="Courier New"/>
                <a:ea typeface="Courier New"/>
                <a:cs typeface="Courier New"/>
                <a:sym typeface="Courier New"/>
              </a:rPr>
              <a:t>// blinking the on-board LED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PSC_FACTOR 12000 </a:t>
            </a:r>
            <a:r>
              <a:rPr b="1" lang="en" sz="1200">
                <a:solidFill>
                  <a:srgbClr val="3F7F5F"/>
                </a:solidFill>
                <a:highlight>
                  <a:srgbClr val="FFFFFF"/>
                </a:highlight>
                <a:latin typeface="Courier New"/>
                <a:ea typeface="Courier New"/>
                <a:cs typeface="Courier New"/>
                <a:sym typeface="Courier New"/>
              </a:rPr>
              <a:t>// 12 MHz/12000 = 1 kHz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ARR_FACTOR 500   </a:t>
            </a:r>
            <a:r>
              <a:rPr b="1" lang="en" sz="1200">
                <a:solidFill>
                  <a:srgbClr val="3F7F5F"/>
                </a:solidFill>
                <a:highlight>
                  <a:srgbClr val="FFFFFF"/>
                </a:highlight>
                <a:latin typeface="Courier New"/>
                <a:ea typeface="Courier New"/>
                <a:cs typeface="Courier New"/>
                <a:sym typeface="Courier New"/>
              </a:rPr>
              <a:t>// 1 kHz/500 = 2 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CD7FF"/>
                </a:highlight>
                <a:latin typeface="Courier New"/>
                <a:ea typeface="Courier New"/>
                <a:cs typeface="Courier New"/>
                <a:sym typeface="Courier New"/>
              </a:rPr>
              <a:t>volatile int</a:t>
            </a:r>
            <a:r>
              <a:rPr b="1" lang="en" sz="1200">
                <a:solidFill>
                  <a:schemeClr val="dk1"/>
                </a:solidFill>
                <a:highlight>
                  <a:srgbClr val="FCD7FF"/>
                </a:highlight>
                <a:latin typeface="Courier New"/>
                <a:ea typeface="Courier New"/>
                <a:cs typeface="Courier New"/>
                <a:sym typeface="Courier New"/>
              </a:rPr>
              <a:t> timerElapsed; </a:t>
            </a:r>
            <a:r>
              <a:rPr b="1" lang="en" sz="1200">
                <a:solidFill>
                  <a:srgbClr val="3F7F5F"/>
                </a:solidFill>
                <a:highlight>
                  <a:srgbClr val="FCD7FF"/>
                </a:highlight>
                <a:latin typeface="Courier New"/>
                <a:ea typeface="Courier New"/>
                <a:cs typeface="Courier New"/>
                <a:sym typeface="Courier New"/>
              </a:rPr>
              <a:t>// global flag</a:t>
            </a:r>
            <a:endParaRPr b="1" sz="1200">
              <a:solidFill>
                <a:srgbClr val="3F7F5F"/>
              </a:solidFill>
              <a:highlight>
                <a:srgbClr val="FCD7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GPIOA</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RCC_IOPENR_GPIOAEN;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PA5 as output pin</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~GPIO_MODER_MODE5_Msk;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(GPIO_OUTPUT &lt;&lt; </a:t>
            </a:r>
            <a:endParaRPr b="1" sz="1200">
              <a:solidFill>
                <a:schemeClr val="dk1"/>
              </a:solidFill>
              <a:highlight>
                <a:srgbClr val="FFFFFF"/>
              </a:highlight>
              <a:latin typeface="Courier New"/>
              <a:ea typeface="Courier New"/>
              <a:cs typeface="Courier New"/>
              <a:sym typeface="Courier New"/>
            </a:endParaRPr>
          </a:p>
          <a:p>
            <a:pPr indent="431800" lvl="0" marL="13970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GPIO_MODER_MODE5_Pos); </a:t>
            </a:r>
            <a:endParaRPr b="1"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ODR</a:t>
            </a:r>
            <a:r>
              <a:rPr b="1" lang="en" sz="1200">
                <a:solidFill>
                  <a:schemeClr val="dk1"/>
                </a:solidFill>
                <a:highlight>
                  <a:srgbClr val="FFFFFF"/>
                </a:highlight>
                <a:latin typeface="Courier New"/>
                <a:ea typeface="Courier New"/>
                <a:cs typeface="Courier New"/>
                <a:sym typeface="Courier New"/>
              </a:rPr>
              <a:t> &amp;= ~(LED); </a:t>
            </a:r>
            <a:r>
              <a:rPr b="1" lang="en" sz="1200">
                <a:solidFill>
                  <a:srgbClr val="3F7F5F"/>
                </a:solidFill>
                <a:highlight>
                  <a:schemeClr val="lt1"/>
                </a:highlight>
                <a:latin typeface="Courier New"/>
                <a:ea typeface="Courier New"/>
                <a:cs typeface="Courier New"/>
                <a:sym typeface="Courier New"/>
              </a:rPr>
              <a:t>// Start LED as off</a:t>
            </a:r>
            <a:endParaRPr b="1" sz="12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timerElapsed = 0; </a:t>
            </a:r>
            <a:r>
              <a:rPr b="1" lang="en" sz="1200">
                <a:solidFill>
                  <a:srgbClr val="3F7F5F"/>
                </a:solidFill>
                <a:highlight>
                  <a:srgbClr val="FCD7FF"/>
                </a:highlight>
                <a:latin typeface="Courier New"/>
                <a:ea typeface="Courier New"/>
                <a:cs typeface="Courier New"/>
                <a:sym typeface="Courier New"/>
              </a:rPr>
              <a:t>// initialize flag</a:t>
            </a:r>
            <a:endParaRPr b="1" sz="1200">
              <a:solidFill>
                <a:srgbClr val="3F7F5F"/>
              </a:solidFill>
              <a:highlight>
                <a:srgbClr val="FCD7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 Initialize the 500 ms timer</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tim14_500ms_interrupt_init();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(1)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CD7FF"/>
                </a:highlight>
                <a:latin typeface="Courier New"/>
                <a:ea typeface="Courier New"/>
                <a:cs typeface="Courier New"/>
                <a:sym typeface="Courier New"/>
              </a:rPr>
              <a:t>if</a:t>
            </a:r>
            <a:r>
              <a:rPr b="1" lang="en" sz="1200">
                <a:solidFill>
                  <a:schemeClr val="dk1"/>
                </a:solidFill>
                <a:highlight>
                  <a:srgbClr val="FCD7FF"/>
                </a:highlight>
                <a:latin typeface="Courier New"/>
                <a:ea typeface="Courier New"/>
                <a:cs typeface="Courier New"/>
                <a:sym typeface="Courier New"/>
              </a:rPr>
              <a:t> (timerElapsed) {</a:t>
            </a:r>
            <a:endParaRPr b="1" sz="1200">
              <a:solidFill>
                <a:schemeClr val="dk1"/>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			timerElapsed = 0; </a:t>
            </a:r>
            <a:r>
              <a:rPr b="1" lang="en" sz="1200">
                <a:solidFill>
                  <a:srgbClr val="3F7F5F"/>
                </a:solidFill>
                <a:highlight>
                  <a:srgbClr val="FCD7FF"/>
                </a:highlight>
                <a:latin typeface="Courier New"/>
                <a:ea typeface="Courier New"/>
                <a:cs typeface="Courier New"/>
                <a:sym typeface="Courier New"/>
              </a:rPr>
              <a:t>// clear flag</a:t>
            </a:r>
            <a:endParaRPr b="1" sz="1200">
              <a:solidFill>
                <a:schemeClr val="dk1"/>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			GPIOA-&gt;</a:t>
            </a:r>
            <a:r>
              <a:rPr b="1" lang="en" sz="1200">
                <a:solidFill>
                  <a:srgbClr val="0000C0"/>
                </a:solidFill>
                <a:highlight>
                  <a:srgbClr val="FCD7FF"/>
                </a:highlight>
                <a:latin typeface="Courier New"/>
                <a:ea typeface="Courier New"/>
                <a:cs typeface="Courier New"/>
                <a:sym typeface="Courier New"/>
              </a:rPr>
              <a:t>ODR</a:t>
            </a:r>
            <a:r>
              <a:rPr b="1" lang="en" sz="1200">
                <a:solidFill>
                  <a:schemeClr val="dk1"/>
                </a:solidFill>
                <a:highlight>
                  <a:srgbClr val="FCD7FF"/>
                </a:highlight>
                <a:latin typeface="Courier New"/>
                <a:ea typeface="Courier New"/>
                <a:cs typeface="Courier New"/>
                <a:sym typeface="Courier New"/>
              </a:rPr>
              <a:t> ^= LED; </a:t>
            </a:r>
            <a:r>
              <a:rPr b="1" lang="en" sz="1200">
                <a:solidFill>
                  <a:srgbClr val="3F7F5F"/>
                </a:solidFill>
                <a:highlight>
                  <a:srgbClr val="FCD7FF"/>
                </a:highlight>
                <a:latin typeface="Courier New"/>
                <a:ea typeface="Courier New"/>
                <a:cs typeface="Courier New"/>
                <a:sym typeface="Courier New"/>
              </a:rPr>
              <a:t>// toggle LED</a:t>
            </a:r>
            <a:endParaRPr b="1" sz="1200">
              <a:solidFill>
                <a:srgbClr val="3F7F5F"/>
              </a:solidFill>
              <a:highlight>
                <a:srgbClr val="FCD7FF"/>
              </a:highlight>
              <a:latin typeface="Courier New"/>
              <a:ea typeface="Courier New"/>
              <a:cs typeface="Courier New"/>
              <a:sym typeface="Courier New"/>
            </a:endParaRPr>
          </a:p>
          <a:p>
            <a:pPr indent="431800" lvl="0" marL="4826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a:t>
            </a:r>
            <a:endParaRPr b="1" sz="1200">
              <a:solidFill>
                <a:srgbClr val="3F7F5F"/>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sz="1200">
              <a:solidFill>
                <a:schemeClr val="dk2"/>
              </a:solidFill>
            </a:endParaRPr>
          </a:p>
        </p:txBody>
      </p:sp>
      <p:sp>
        <p:nvSpPr>
          <p:cNvPr id="99" name="Google Shape;99;p20"/>
          <p:cNvSpPr txBox="1"/>
          <p:nvPr/>
        </p:nvSpPr>
        <p:spPr>
          <a:xfrm>
            <a:off x="4857475" y="58050"/>
            <a:ext cx="4203600" cy="674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disable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__disable_irq();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timer 14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APBENR2</a:t>
            </a:r>
            <a:r>
              <a:rPr b="1" lang="en" sz="1200">
                <a:solidFill>
                  <a:schemeClr val="dk1"/>
                </a:solidFill>
                <a:highlight>
                  <a:srgbClr val="FFFFFF"/>
                </a:highlight>
                <a:latin typeface="Courier New"/>
                <a:ea typeface="Courier New"/>
                <a:cs typeface="Courier New"/>
                <a:sym typeface="Courier New"/>
              </a:rPr>
              <a:t> |= RCC_APBENR2_TIM14EN;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t>
            </a:r>
            <a:r>
              <a:rPr b="1" lang="en" sz="1200" u="sng">
                <a:solidFill>
                  <a:srgbClr val="3F7F5F"/>
                </a:solidFill>
                <a:highlight>
                  <a:srgbClr val="FFFFFF"/>
                </a:highlight>
                <a:latin typeface="Courier New"/>
                <a:ea typeface="Courier New"/>
                <a:cs typeface="Courier New"/>
                <a:sym typeface="Courier New"/>
              </a:rPr>
              <a:t>prescaler</a:t>
            </a:r>
            <a:r>
              <a:rPr b="1" lang="en" sz="1200">
                <a:solidFill>
                  <a:srgbClr val="3F7F5F"/>
                </a:solidFill>
                <a:highlight>
                  <a:srgbClr val="FFFFFF"/>
                </a:highlight>
                <a:latin typeface="Courier New"/>
                <a:ea typeface="Courier New"/>
                <a:cs typeface="Courier New"/>
                <a:sym typeface="Courier New"/>
              </a:rPr>
              <a:t>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PSC</a:t>
            </a:r>
            <a:r>
              <a:rPr b="1" lang="en" sz="1200">
                <a:solidFill>
                  <a:schemeClr val="dk1"/>
                </a:solidFill>
                <a:highlight>
                  <a:srgbClr val="FFFFFF"/>
                </a:highlight>
                <a:latin typeface="Courier New"/>
                <a:ea typeface="Courier New"/>
                <a:cs typeface="Courier New"/>
                <a:sym typeface="Courier New"/>
              </a:rPr>
              <a:t> = PSC_FACTOR - 1;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auto-reload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ARR</a:t>
            </a:r>
            <a:r>
              <a:rPr b="1" lang="en" sz="1200">
                <a:solidFill>
                  <a:schemeClr val="dk1"/>
                </a:solidFill>
                <a:highlight>
                  <a:srgbClr val="FFFFFF"/>
                </a:highlight>
                <a:latin typeface="Courier New"/>
                <a:ea typeface="Courier New"/>
                <a:cs typeface="Courier New"/>
                <a:sym typeface="Courier New"/>
              </a:rPr>
              <a:t> = ARR_FACTOR - 1;</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counter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CNT</a:t>
            </a:r>
            <a:r>
              <a:rPr b="1" lang="en" sz="1200">
                <a:solidFill>
                  <a:schemeClr val="dk1"/>
                </a:solidFill>
                <a:highlight>
                  <a:srgbClr val="FFFFFF"/>
                </a:highlight>
                <a:latin typeface="Courier New"/>
                <a:ea typeface="Courier New"/>
                <a:cs typeface="Courier New"/>
                <a:sym typeface="Courier New"/>
              </a:rPr>
              <a:t> = 0;</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update interrupt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DIER</a:t>
            </a:r>
            <a:r>
              <a:rPr b="1" lang="en" sz="1200">
                <a:solidFill>
                  <a:schemeClr val="dk1"/>
                </a:solidFill>
                <a:highlight>
                  <a:srgbClr val="FFFFFF"/>
                </a:highlight>
                <a:latin typeface="Courier New"/>
                <a:ea typeface="Courier New"/>
                <a:cs typeface="Courier New"/>
                <a:sym typeface="Courier New"/>
              </a:rPr>
              <a:t> |= TIM_DIER_UIE;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interrupt in NVIC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NVIC_EnableIRQ(</a:t>
            </a:r>
            <a:r>
              <a:rPr b="1" i="1" lang="en" sz="1200">
                <a:solidFill>
                  <a:srgbClr val="0000C0"/>
                </a:solidFill>
                <a:highlight>
                  <a:srgbClr val="FFFFFF"/>
                </a:highlight>
                <a:latin typeface="Courier New"/>
                <a:ea typeface="Courier New"/>
                <a:cs typeface="Courier New"/>
                <a:sym typeface="Courier New"/>
              </a:rPr>
              <a:t>TIM14_IRQn</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TIM_CR1_CEN;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__enable_irq();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TIM14_IRQHandler(</a:t>
            </a: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disable global interrupt</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__disable_irq();</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TIM14-&gt;</a:t>
            </a:r>
            <a:r>
              <a:rPr b="1" lang="en" sz="1200">
                <a:solidFill>
                  <a:srgbClr val="0000C0"/>
                </a:solidFill>
                <a:highlight>
                  <a:schemeClr val="lt1"/>
                </a:highlight>
                <a:latin typeface="Courier New"/>
                <a:ea typeface="Courier New"/>
                <a:cs typeface="Courier New"/>
                <a:sym typeface="Courier New"/>
              </a:rPr>
              <a:t>SR</a:t>
            </a:r>
            <a:r>
              <a:rPr b="1" lang="en" sz="1200">
                <a:solidFill>
                  <a:schemeClr val="dk1"/>
                </a:solidFill>
                <a:highlight>
                  <a:schemeClr val="lt1"/>
                </a:highlight>
                <a:latin typeface="Courier New"/>
                <a:ea typeface="Courier New"/>
                <a:cs typeface="Courier New"/>
                <a:sym typeface="Courier New"/>
              </a:rPr>
              <a:t> = ~TIM_SR_UIF; </a:t>
            </a:r>
            <a:r>
              <a:rPr b="1" lang="en" sz="1200">
                <a:solidFill>
                  <a:srgbClr val="3F7F5F"/>
                </a:solidFill>
                <a:highlight>
                  <a:schemeClr val="lt1"/>
                </a:highlight>
                <a:latin typeface="Courier New"/>
                <a:ea typeface="Courier New"/>
                <a:cs typeface="Courier New"/>
                <a:sym typeface="Courier New"/>
              </a:rPr>
              <a:t>// Clear UIF </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r>
              <a:rPr b="1" lang="en" sz="1200">
                <a:solidFill>
                  <a:schemeClr val="dk1"/>
                </a:solidFill>
                <a:highlight>
                  <a:srgbClr val="FCD7FF"/>
                </a:highlight>
                <a:latin typeface="Courier New"/>
                <a:ea typeface="Courier New"/>
                <a:cs typeface="Courier New"/>
                <a:sym typeface="Courier New"/>
              </a:rPr>
              <a:t>timerElapsed = 1;  </a:t>
            </a:r>
            <a:r>
              <a:rPr b="1" lang="en" sz="1200">
                <a:solidFill>
                  <a:srgbClr val="3F7F5F"/>
                </a:solidFill>
                <a:highlight>
                  <a:srgbClr val="FCD7FF"/>
                </a:highlight>
                <a:latin typeface="Courier New"/>
                <a:ea typeface="Courier New"/>
                <a:cs typeface="Courier New"/>
                <a:sym typeface="Courier New"/>
              </a:rPr>
              <a:t>// set global flag</a:t>
            </a:r>
            <a:endParaRPr b="1" sz="1200">
              <a:solidFill>
                <a:srgbClr val="3F7F5F"/>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Enable global interrupts</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__enable_irq();</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p:txBody>
      </p:sp>
      <p:sp>
        <p:nvSpPr>
          <p:cNvPr id="100" name="Google Shape;100;p20"/>
          <p:cNvSpPr txBox="1"/>
          <p:nvPr/>
        </p:nvSpPr>
        <p:spPr>
          <a:xfrm>
            <a:off x="5070925" y="1174575"/>
            <a:ext cx="2798100" cy="8745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rPr>
              <a:t>Note: Since you will never call an ISR from within your code, it does not need a prototype.</a:t>
            </a:r>
            <a:endParaRPr b="1">
              <a:solidFill>
                <a:srgbClr val="0000FF"/>
              </a:solidFill>
            </a:endParaRPr>
          </a:p>
        </p:txBody>
      </p:sp>
      <p:cxnSp>
        <p:nvCxnSpPr>
          <p:cNvPr id="101" name="Google Shape;101;p20"/>
          <p:cNvCxnSpPr>
            <a:stCxn id="100" idx="1"/>
          </p:cNvCxnSpPr>
          <p:nvPr/>
        </p:nvCxnSpPr>
        <p:spPr>
          <a:xfrm flipH="1">
            <a:off x="1091725" y="1611825"/>
            <a:ext cx="3979200" cy="1050600"/>
          </a:xfrm>
          <a:prstGeom prst="straightConnector1">
            <a:avLst/>
          </a:prstGeom>
          <a:noFill/>
          <a:ln cap="flat" cmpd="sng" w="28575">
            <a:solidFill>
              <a:srgbClr val="0000FF"/>
            </a:solidFill>
            <a:prstDash val="dot"/>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homework for today:</a:t>
            </a:r>
            <a:endParaRPr/>
          </a:p>
        </p:txBody>
      </p:sp>
      <p:sp>
        <p:nvSpPr>
          <p:cNvPr id="107" name="Google Shape;107;p2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04A43"/>
                </a:solidFill>
              </a:rPr>
              <a:t>Modify</a:t>
            </a:r>
            <a:r>
              <a:rPr lang="en" sz="2500"/>
              <a:t> </a:t>
            </a:r>
            <a:endParaRPr sz="2500"/>
          </a:p>
          <a:p>
            <a:pPr indent="0" lvl="0" marL="0" rtl="0" algn="ctr">
              <a:spcBef>
                <a:spcPts val="1600"/>
              </a:spcBef>
              <a:spcAft>
                <a:spcPts val="0"/>
              </a:spcAft>
              <a:buClr>
                <a:schemeClr val="dk1"/>
              </a:buClr>
              <a:buSzPts val="1100"/>
              <a:buFont typeface="Arial"/>
              <a:buNone/>
            </a:pPr>
            <a:r>
              <a:rPr lang="en" sz="2500">
                <a:latin typeface="Consolas"/>
                <a:ea typeface="Consolas"/>
                <a:cs typeface="Consolas"/>
                <a:sym typeface="Consolas"/>
              </a:rPr>
              <a:t>ADCPot</a:t>
            </a:r>
            <a:r>
              <a:rPr lang="en" sz="2500">
                <a:latin typeface="Consolas"/>
                <a:ea typeface="Consolas"/>
                <a:cs typeface="Consolas"/>
                <a:sym typeface="Consolas"/>
              </a:rPr>
              <a:t>.c</a:t>
            </a:r>
            <a:endParaRPr sz="2500"/>
          </a:p>
          <a:p>
            <a:pPr indent="0" lvl="0" marL="0" rtl="0" algn="l">
              <a:spcBef>
                <a:spcPts val="1600"/>
              </a:spcBef>
              <a:spcAft>
                <a:spcPts val="0"/>
              </a:spcAft>
              <a:buNone/>
            </a:pPr>
            <a:r>
              <a:rPr lang="en" sz="2500"/>
              <a:t>so that in addition to performing the ADC readings, </a:t>
            </a:r>
            <a:r>
              <a:rPr lang="en" sz="2500">
                <a:solidFill>
                  <a:srgbClr val="0000E6"/>
                </a:solidFill>
              </a:rPr>
              <a:t>the on-board LED is blinking at a steady rate of ⅓ second on, ⅓ second off, using a timer interrupt.</a:t>
            </a:r>
            <a:r>
              <a:rPr lang="en" sz="2500"/>
              <a:t>  </a:t>
            </a:r>
            <a:endParaRPr sz="2500"/>
          </a:p>
          <a:p>
            <a:pPr indent="0" lvl="0" marL="0" rtl="0" algn="l">
              <a:spcBef>
                <a:spcPts val="1600"/>
              </a:spcBef>
              <a:spcAft>
                <a:spcPts val="0"/>
              </a:spcAft>
              <a:buNone/>
            </a:pPr>
            <a:r>
              <a:rPr lang="en" sz="2500"/>
              <a:t>Hint: You may wish to toggle the LED directly in the ISR.</a:t>
            </a:r>
            <a:endParaRPr sz="2500"/>
          </a:p>
          <a:p>
            <a:pPr indent="0" lvl="0" marL="0" rtl="0" algn="l">
              <a:spcBef>
                <a:spcPts val="1600"/>
              </a:spcBef>
              <a:spcAft>
                <a:spcPts val="1600"/>
              </a:spcAft>
              <a:buNone/>
            </a:pPr>
            <a:r>
              <a:rPr lang="en" sz="2500"/>
              <a:t>Discuss and compare your code with your group.</a:t>
            </a:r>
            <a:endParaRPr sz="2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49700" y="69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Blinky with a timer</a:t>
            </a:r>
            <a:endParaRPr/>
          </a:p>
        </p:txBody>
      </p:sp>
      <p:sp>
        <p:nvSpPr>
          <p:cNvPr id="113" name="Google Shape;113;p22"/>
          <p:cNvSpPr txBox="1"/>
          <p:nvPr/>
        </p:nvSpPr>
        <p:spPr>
          <a:xfrm>
            <a:off x="109025" y="969950"/>
            <a:ext cx="4666500" cy="567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&lt;stdio.h&gt;</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LED (1U&lt;&lt;5) </a:t>
            </a:r>
            <a:r>
              <a:rPr b="1" lang="en" sz="1200">
                <a:solidFill>
                  <a:srgbClr val="3F7F5F"/>
                </a:solidFill>
                <a:highlight>
                  <a:srgbClr val="FFFFFF"/>
                </a:highlight>
                <a:latin typeface="Courier New"/>
                <a:ea typeface="Courier New"/>
                <a:cs typeface="Courier New"/>
                <a:sym typeface="Courier New"/>
              </a:rPr>
              <a:t>// blinking the on-board LED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PSC_FACTOR 12000 </a:t>
            </a:r>
            <a:r>
              <a:rPr b="1" lang="en" sz="1200">
                <a:solidFill>
                  <a:srgbClr val="3F7F5F"/>
                </a:solidFill>
                <a:highlight>
                  <a:srgbClr val="FFFFFF"/>
                </a:highlight>
                <a:latin typeface="Courier New"/>
                <a:ea typeface="Courier New"/>
                <a:cs typeface="Courier New"/>
                <a:sym typeface="Courier New"/>
              </a:rPr>
              <a:t>// 12 MHz/12000 = 1 kHz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ARR_FACTOR 500   </a:t>
            </a:r>
            <a:r>
              <a:rPr b="1" lang="en" sz="1200">
                <a:solidFill>
                  <a:srgbClr val="3F7F5F"/>
                </a:solidFill>
                <a:highlight>
                  <a:srgbClr val="FFFFFF"/>
                </a:highlight>
                <a:latin typeface="Courier New"/>
                <a:ea typeface="Courier New"/>
                <a:cs typeface="Courier New"/>
                <a:sym typeface="Courier New"/>
              </a:rPr>
              <a:t>// 1 kHz/500 = 2 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latin typeface="Courier New"/>
                <a:ea typeface="Courier New"/>
                <a:cs typeface="Courier New"/>
                <a:sym typeface="Courier New"/>
              </a:rPr>
              <a:t>void</a:t>
            </a:r>
            <a:r>
              <a:rPr b="1" lang="en" sz="1200">
                <a:solidFill>
                  <a:schemeClr val="dk1"/>
                </a:solidFill>
                <a:latin typeface="Courier New"/>
                <a:ea typeface="Courier New"/>
                <a:cs typeface="Courier New"/>
                <a:sym typeface="Courier New"/>
              </a:rPr>
              <a:t> tim14_500ms_interrupt_init();</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F0055"/>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F0055"/>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latin typeface="Courier New"/>
                <a:ea typeface="Courier New"/>
                <a:cs typeface="Courier New"/>
                <a:sym typeface="Courier New"/>
              </a:rPr>
              <a:t>int</a:t>
            </a:r>
            <a:r>
              <a:rPr b="1" lang="en" sz="1200">
                <a:solidFill>
                  <a:schemeClr val="dk1"/>
                </a:solidFill>
                <a:latin typeface="Courier New"/>
                <a:ea typeface="Courier New"/>
                <a:cs typeface="Courier New"/>
                <a:sym typeface="Courier New"/>
              </a:rPr>
              <a:t> main(</a:t>
            </a:r>
            <a:r>
              <a:rPr b="1" lang="en" sz="1200">
                <a:solidFill>
                  <a:srgbClr val="7F0055"/>
                </a:solidFill>
                <a:latin typeface="Courier New"/>
                <a:ea typeface="Courier New"/>
                <a:cs typeface="Courier New"/>
                <a:sym typeface="Courier New"/>
              </a:rPr>
              <a:t>void</a:t>
            </a:r>
            <a:r>
              <a:rPr b="1" lang="en" sz="1200">
                <a:solidFill>
                  <a:schemeClr val="dk1"/>
                </a:solidFill>
                <a:latin typeface="Courier New"/>
                <a:ea typeface="Courier New"/>
                <a:cs typeface="Courier New"/>
                <a:sym typeface="Courier New"/>
              </a:rPr>
              <a:t>) {		</a:t>
            </a:r>
            <a:endParaRPr b="1" sz="1200">
              <a:solidFill>
                <a:srgbClr val="3F7F5F"/>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rgbClr val="3F7F5F"/>
                </a:solidFill>
                <a:latin typeface="Courier New"/>
                <a:ea typeface="Courier New"/>
                <a:cs typeface="Courier New"/>
                <a:sym typeface="Courier New"/>
              </a:rPr>
              <a:t>// Enable clock access to GPIOA</a:t>
            </a:r>
            <a:endParaRPr b="1" sz="1200">
              <a:solidFill>
                <a:srgbClr val="3F7F5F"/>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RCC-&gt;</a:t>
            </a:r>
            <a:r>
              <a:rPr b="1" lang="en" sz="1200">
                <a:solidFill>
                  <a:srgbClr val="0000C0"/>
                </a:solidFill>
                <a:latin typeface="Courier New"/>
                <a:ea typeface="Courier New"/>
                <a:cs typeface="Courier New"/>
                <a:sym typeface="Courier New"/>
              </a:rPr>
              <a:t>IOPENR</a:t>
            </a:r>
            <a:r>
              <a:rPr b="1" lang="en" sz="1200">
                <a:solidFill>
                  <a:schemeClr val="dk1"/>
                </a:solidFill>
                <a:latin typeface="Courier New"/>
                <a:ea typeface="Courier New"/>
                <a:cs typeface="Courier New"/>
                <a:sym typeface="Courier New"/>
              </a:rPr>
              <a:t> |=  RCC_IOPENR_GPIOAEN;</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rgbClr val="3F7F5F"/>
                </a:solidFill>
                <a:latin typeface="Courier New"/>
                <a:ea typeface="Courier New"/>
                <a:cs typeface="Courier New"/>
                <a:sym typeface="Courier New"/>
              </a:rPr>
              <a:t>// Set PA5 as output pin</a:t>
            </a: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GPIOA-&gt;</a:t>
            </a:r>
            <a:r>
              <a:rPr b="1" lang="en" sz="1200">
                <a:solidFill>
                  <a:srgbClr val="0000C0"/>
                </a:solidFill>
                <a:latin typeface="Courier New"/>
                <a:ea typeface="Courier New"/>
                <a:cs typeface="Courier New"/>
                <a:sym typeface="Courier New"/>
              </a:rPr>
              <a:t>MODER</a:t>
            </a:r>
            <a:r>
              <a:rPr b="1" lang="en" sz="1200">
                <a:solidFill>
                  <a:schemeClr val="dk1"/>
                </a:solidFill>
                <a:latin typeface="Courier New"/>
                <a:ea typeface="Courier New"/>
                <a:cs typeface="Courier New"/>
                <a:sym typeface="Courier New"/>
              </a:rPr>
              <a:t> &amp;= ~GPIO_MODER_MODE5_Msk;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GPIOA-&gt;</a:t>
            </a:r>
            <a:r>
              <a:rPr b="1" lang="en" sz="1200">
                <a:solidFill>
                  <a:srgbClr val="0000C0"/>
                </a:solidFill>
                <a:latin typeface="Courier New"/>
                <a:ea typeface="Courier New"/>
                <a:cs typeface="Courier New"/>
                <a:sym typeface="Courier New"/>
              </a:rPr>
              <a:t>MODER</a:t>
            </a:r>
            <a:r>
              <a:rPr b="1" lang="en" sz="1200">
                <a:solidFill>
                  <a:schemeClr val="dk1"/>
                </a:solidFill>
                <a:latin typeface="Courier New"/>
                <a:ea typeface="Courier New"/>
                <a:cs typeface="Courier New"/>
                <a:sym typeface="Courier New"/>
              </a:rPr>
              <a:t> |= (GPIO_OUTPUT &lt;&lt; </a:t>
            </a:r>
            <a:endParaRPr b="1" sz="1200">
              <a:solidFill>
                <a:schemeClr val="dk1"/>
              </a:solidFill>
              <a:latin typeface="Courier New"/>
              <a:ea typeface="Courier New"/>
              <a:cs typeface="Courier New"/>
              <a:sym typeface="Courier New"/>
            </a:endParaRPr>
          </a:p>
          <a:p>
            <a:pPr indent="431800" lvl="0" marL="13970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GPIO_MODER_MODE5_Pos); </a:t>
            </a:r>
            <a:endParaRPr b="1" sz="1200">
              <a:solidFill>
                <a:schemeClr val="dk1"/>
              </a:solidFill>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rgbClr val="3F7F5F"/>
                </a:solidFill>
                <a:latin typeface="Courier New"/>
                <a:ea typeface="Courier New"/>
                <a:cs typeface="Courier New"/>
                <a:sym typeface="Courier New"/>
              </a:rPr>
              <a:t>// Start LED as off</a:t>
            </a:r>
            <a:endParaRPr b="1" sz="1200">
              <a:solidFill>
                <a:schemeClr val="dk1"/>
              </a:solidFill>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GPIOA-&gt;</a:t>
            </a:r>
            <a:r>
              <a:rPr b="1" lang="en" sz="1200">
                <a:solidFill>
                  <a:srgbClr val="0000C0"/>
                </a:solidFill>
                <a:latin typeface="Courier New"/>
                <a:ea typeface="Courier New"/>
                <a:cs typeface="Courier New"/>
                <a:sym typeface="Courier New"/>
              </a:rPr>
              <a:t>ODR</a:t>
            </a:r>
            <a:r>
              <a:rPr b="1" lang="en" sz="1200">
                <a:solidFill>
                  <a:schemeClr val="dk1"/>
                </a:solidFill>
                <a:latin typeface="Courier New"/>
                <a:ea typeface="Courier New"/>
                <a:cs typeface="Courier New"/>
                <a:sym typeface="Courier New"/>
              </a:rPr>
              <a:t> &amp;= ~(LED);</a:t>
            </a:r>
            <a:endParaRPr b="1" sz="1200">
              <a:solidFill>
                <a:srgbClr val="3F7F5F"/>
              </a:solidFill>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t/>
            </a:r>
            <a:endParaRPr b="1" sz="1200">
              <a:solidFill>
                <a:schemeClr val="dk1"/>
              </a:solidFill>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rgbClr val="3F7F5F"/>
                </a:solidFill>
                <a:latin typeface="Courier New"/>
                <a:ea typeface="Courier New"/>
                <a:cs typeface="Courier New"/>
                <a:sym typeface="Courier New"/>
              </a:rPr>
              <a:t>// Initialize the 500 ms timer</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tim14_500ms_interrupt_init();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rgbClr val="7F0055"/>
                </a:solidFill>
                <a:latin typeface="Courier New"/>
                <a:ea typeface="Courier New"/>
                <a:cs typeface="Courier New"/>
                <a:sym typeface="Courier New"/>
              </a:rPr>
              <a:t>while</a:t>
            </a:r>
            <a:r>
              <a:rPr b="1" lang="en" sz="1200">
                <a:solidFill>
                  <a:schemeClr val="dk1"/>
                </a:solidFill>
                <a:latin typeface="Courier New"/>
                <a:ea typeface="Courier New"/>
                <a:cs typeface="Courier New"/>
                <a:sym typeface="Courier New"/>
              </a:rPr>
              <a:t>(1)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rgbClr val="3F7F5F"/>
                </a:solidFill>
                <a:highlight>
                  <a:srgbClr val="EAD1DC"/>
                </a:highlight>
                <a:latin typeface="Courier New"/>
                <a:ea typeface="Courier New"/>
                <a:cs typeface="Courier New"/>
                <a:sym typeface="Courier New"/>
              </a:rPr>
              <a:t>// empty while loop</a:t>
            </a:r>
            <a:endParaRPr b="1" sz="1200">
              <a:solidFill>
                <a:srgbClr val="3F7F5F"/>
              </a:solidFill>
              <a:highlight>
                <a:srgbClr val="EAD1DC"/>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a:t>
            </a:r>
            <a:endParaRPr sz="1200">
              <a:solidFill>
                <a:schemeClr val="dk2"/>
              </a:solidFill>
            </a:endParaRPr>
          </a:p>
        </p:txBody>
      </p:sp>
      <p:sp>
        <p:nvSpPr>
          <p:cNvPr id="114" name="Google Shape;114;p22"/>
          <p:cNvSpPr txBox="1"/>
          <p:nvPr/>
        </p:nvSpPr>
        <p:spPr>
          <a:xfrm>
            <a:off x="4857475" y="58050"/>
            <a:ext cx="4203600" cy="674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disable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__disable_irq();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timer 14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APBENR2</a:t>
            </a:r>
            <a:r>
              <a:rPr b="1" lang="en" sz="1200">
                <a:solidFill>
                  <a:schemeClr val="dk1"/>
                </a:solidFill>
                <a:highlight>
                  <a:srgbClr val="FFFFFF"/>
                </a:highlight>
                <a:latin typeface="Courier New"/>
                <a:ea typeface="Courier New"/>
                <a:cs typeface="Courier New"/>
                <a:sym typeface="Courier New"/>
              </a:rPr>
              <a:t> |= RCC_APBENR2_TIM14EN;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t>
            </a:r>
            <a:r>
              <a:rPr b="1" lang="en" sz="1200" u="sng">
                <a:solidFill>
                  <a:srgbClr val="3F7F5F"/>
                </a:solidFill>
                <a:highlight>
                  <a:srgbClr val="FFFFFF"/>
                </a:highlight>
                <a:latin typeface="Courier New"/>
                <a:ea typeface="Courier New"/>
                <a:cs typeface="Courier New"/>
                <a:sym typeface="Courier New"/>
              </a:rPr>
              <a:t>prescaler</a:t>
            </a:r>
            <a:r>
              <a:rPr b="1" lang="en" sz="1200">
                <a:solidFill>
                  <a:srgbClr val="3F7F5F"/>
                </a:solidFill>
                <a:highlight>
                  <a:srgbClr val="FFFFFF"/>
                </a:highlight>
                <a:latin typeface="Courier New"/>
                <a:ea typeface="Courier New"/>
                <a:cs typeface="Courier New"/>
                <a:sym typeface="Courier New"/>
              </a:rPr>
              <a:t>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PSC</a:t>
            </a:r>
            <a:r>
              <a:rPr b="1" lang="en" sz="1200">
                <a:solidFill>
                  <a:schemeClr val="dk1"/>
                </a:solidFill>
                <a:highlight>
                  <a:srgbClr val="FFFFFF"/>
                </a:highlight>
                <a:latin typeface="Courier New"/>
                <a:ea typeface="Courier New"/>
                <a:cs typeface="Courier New"/>
                <a:sym typeface="Courier New"/>
              </a:rPr>
              <a:t> = PSC_FACTOR - 1;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auto-reload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ARR</a:t>
            </a:r>
            <a:r>
              <a:rPr b="1" lang="en" sz="1200">
                <a:solidFill>
                  <a:schemeClr val="dk1"/>
                </a:solidFill>
                <a:highlight>
                  <a:srgbClr val="FFFFFF"/>
                </a:highlight>
                <a:latin typeface="Courier New"/>
                <a:ea typeface="Courier New"/>
                <a:cs typeface="Courier New"/>
                <a:sym typeface="Courier New"/>
              </a:rPr>
              <a:t> = ARR_FACTOR - 1;</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counter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CNT</a:t>
            </a:r>
            <a:r>
              <a:rPr b="1" lang="en" sz="1200">
                <a:solidFill>
                  <a:schemeClr val="dk1"/>
                </a:solidFill>
                <a:highlight>
                  <a:srgbClr val="FFFFFF"/>
                </a:highlight>
                <a:latin typeface="Courier New"/>
                <a:ea typeface="Courier New"/>
                <a:cs typeface="Courier New"/>
                <a:sym typeface="Courier New"/>
              </a:rPr>
              <a:t> = 0;</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update interrupt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DIER</a:t>
            </a:r>
            <a:r>
              <a:rPr b="1" lang="en" sz="1200">
                <a:solidFill>
                  <a:schemeClr val="dk1"/>
                </a:solidFill>
                <a:highlight>
                  <a:srgbClr val="FFFFFF"/>
                </a:highlight>
                <a:latin typeface="Courier New"/>
                <a:ea typeface="Courier New"/>
                <a:cs typeface="Courier New"/>
                <a:sym typeface="Courier New"/>
              </a:rPr>
              <a:t> |= TIM_DIER_UIE;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interrupt in NVIC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NVIC_EnableIRQ(</a:t>
            </a:r>
            <a:r>
              <a:rPr b="1" i="1" lang="en" sz="1200">
                <a:solidFill>
                  <a:srgbClr val="0000C0"/>
                </a:solidFill>
                <a:highlight>
                  <a:srgbClr val="FFFFFF"/>
                </a:highlight>
                <a:latin typeface="Courier New"/>
                <a:ea typeface="Courier New"/>
                <a:cs typeface="Courier New"/>
                <a:sym typeface="Courier New"/>
              </a:rPr>
              <a:t>TIM14_IRQn</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TIM_CR1_CEN;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__enable_irq();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rgbClr val="7F0055"/>
                </a:solidFill>
                <a:latin typeface="Courier New"/>
                <a:ea typeface="Courier New"/>
                <a:cs typeface="Courier New"/>
                <a:sym typeface="Courier New"/>
              </a:rPr>
              <a:t>void</a:t>
            </a:r>
            <a:r>
              <a:rPr b="1" lang="en" sz="1200">
                <a:solidFill>
                  <a:schemeClr val="dk1"/>
                </a:solidFill>
                <a:latin typeface="Courier New"/>
                <a:ea typeface="Courier New"/>
                <a:cs typeface="Courier New"/>
                <a:sym typeface="Courier New"/>
              </a:rPr>
              <a:t> TIM14_IRQHandler(</a:t>
            </a:r>
            <a:r>
              <a:rPr b="1" lang="en" sz="1200">
                <a:solidFill>
                  <a:srgbClr val="7F0055"/>
                </a:solidFill>
                <a:latin typeface="Courier New"/>
                <a:ea typeface="Courier New"/>
                <a:cs typeface="Courier New"/>
                <a:sym typeface="Courier New"/>
              </a:rPr>
              <a:t>void</a:t>
            </a: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rgbClr val="3F7F5F"/>
                </a:solidFill>
                <a:latin typeface="Courier New"/>
                <a:ea typeface="Courier New"/>
                <a:cs typeface="Courier New"/>
                <a:sym typeface="Courier New"/>
              </a:rPr>
              <a:t>// disable global interrupt</a:t>
            </a:r>
            <a:endParaRPr b="1" sz="1200">
              <a:solidFill>
                <a:srgbClr val="3F7F5F"/>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__disable_irq();</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TIM14-&gt;</a:t>
            </a:r>
            <a:r>
              <a:rPr b="1" lang="en" sz="1200">
                <a:solidFill>
                  <a:srgbClr val="0000C0"/>
                </a:solidFill>
                <a:latin typeface="Courier New"/>
                <a:ea typeface="Courier New"/>
                <a:cs typeface="Courier New"/>
                <a:sym typeface="Courier New"/>
              </a:rPr>
              <a:t>SR</a:t>
            </a:r>
            <a:r>
              <a:rPr b="1" lang="en" sz="1200">
                <a:solidFill>
                  <a:schemeClr val="dk1"/>
                </a:solidFill>
                <a:latin typeface="Courier New"/>
                <a:ea typeface="Courier New"/>
                <a:cs typeface="Courier New"/>
                <a:sym typeface="Courier New"/>
              </a:rPr>
              <a:t> = ~TIM_SR_UIF; </a:t>
            </a:r>
            <a:r>
              <a:rPr b="1" lang="en" sz="1200">
                <a:solidFill>
                  <a:srgbClr val="3F7F5F"/>
                </a:solidFill>
                <a:latin typeface="Courier New"/>
                <a:ea typeface="Courier New"/>
                <a:cs typeface="Courier New"/>
                <a:sym typeface="Courier New"/>
              </a:rPr>
              <a:t>// Clear UIF </a:t>
            </a:r>
            <a:endParaRPr b="1" sz="1200">
              <a:solidFill>
                <a:srgbClr val="3F7F5F"/>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chemeClr val="dk1"/>
                </a:solidFill>
                <a:highlight>
                  <a:srgbClr val="EAD1DC"/>
                </a:highlight>
                <a:latin typeface="Courier New"/>
                <a:ea typeface="Courier New"/>
                <a:cs typeface="Courier New"/>
                <a:sym typeface="Courier New"/>
              </a:rPr>
              <a:t>GPIOA-&gt;</a:t>
            </a:r>
            <a:r>
              <a:rPr b="1" lang="en" sz="1200">
                <a:solidFill>
                  <a:srgbClr val="0000C0"/>
                </a:solidFill>
                <a:highlight>
                  <a:srgbClr val="EAD1DC"/>
                </a:highlight>
                <a:latin typeface="Courier New"/>
                <a:ea typeface="Courier New"/>
                <a:cs typeface="Courier New"/>
                <a:sym typeface="Courier New"/>
              </a:rPr>
              <a:t>ODR</a:t>
            </a:r>
            <a:r>
              <a:rPr b="1" lang="en" sz="1200">
                <a:solidFill>
                  <a:schemeClr val="dk1"/>
                </a:solidFill>
                <a:highlight>
                  <a:srgbClr val="EAD1DC"/>
                </a:highlight>
                <a:latin typeface="Courier New"/>
                <a:ea typeface="Courier New"/>
                <a:cs typeface="Courier New"/>
                <a:sym typeface="Courier New"/>
              </a:rPr>
              <a:t> ^= LED; </a:t>
            </a:r>
            <a:r>
              <a:rPr b="1" lang="en" sz="1200">
                <a:solidFill>
                  <a:srgbClr val="3F7F5F"/>
                </a:solidFill>
                <a:highlight>
                  <a:srgbClr val="EAD1DC"/>
                </a:highlight>
                <a:latin typeface="Courier New"/>
                <a:ea typeface="Courier New"/>
                <a:cs typeface="Courier New"/>
                <a:sym typeface="Courier New"/>
              </a:rPr>
              <a:t>// toggle LED</a:t>
            </a:r>
            <a:endParaRPr b="1" sz="1200">
              <a:solidFill>
                <a:schemeClr val="dk1"/>
              </a:solidFill>
              <a:highlight>
                <a:srgbClr val="EAD1D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rgbClr val="3F7F5F"/>
                </a:solidFill>
                <a:latin typeface="Courier New"/>
                <a:ea typeface="Courier New"/>
                <a:cs typeface="Courier New"/>
                <a:sym typeface="Courier New"/>
              </a:rPr>
              <a:t>// Enable global interrupts</a:t>
            </a:r>
            <a:endParaRPr b="1" sz="1200">
              <a:solidFill>
                <a:srgbClr val="3F7F5F"/>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__enable_irq();</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a:t>
            </a:r>
            <a:endParaRPr b="1" sz="1100">
              <a:solidFill>
                <a:schemeClr val="dk1"/>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GPIO Interrupts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915325" y="4746450"/>
            <a:ext cx="7438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Can we get an interrupt from a button push?</a:t>
            </a:r>
            <a:endParaRPr>
              <a:solidFill>
                <a:srgbClr val="0000FF"/>
              </a:solidFill>
            </a:endParaRPr>
          </a:p>
        </p:txBody>
      </p:sp>
      <p:sp>
        <p:nvSpPr>
          <p:cNvPr id="125" name="Google Shape;125;p24"/>
          <p:cNvSpPr txBox="1"/>
          <p:nvPr>
            <p:ph idx="1" type="body"/>
          </p:nvPr>
        </p:nvSpPr>
        <p:spPr>
          <a:xfrm>
            <a:off x="311700" y="1536627"/>
            <a:ext cx="8520600" cy="3272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Two players, each has a button and an LED</a:t>
            </a:r>
            <a:endParaRPr/>
          </a:p>
          <a:p>
            <a:pPr indent="-342900" lvl="0" marL="457200" rtl="0" algn="l">
              <a:spcBef>
                <a:spcPts val="0"/>
              </a:spcBef>
              <a:spcAft>
                <a:spcPts val="0"/>
              </a:spcAft>
              <a:buSzPts val="1800"/>
              <a:buChar char="●"/>
            </a:pPr>
            <a:r>
              <a:rPr lang="en"/>
              <a:t>Game LED flashes three times (a countdown)</a:t>
            </a:r>
            <a:endParaRPr/>
          </a:p>
          <a:p>
            <a:pPr indent="-342900" lvl="0" marL="457200" rtl="0" algn="l">
              <a:spcBef>
                <a:spcPts val="0"/>
              </a:spcBef>
              <a:spcAft>
                <a:spcPts val="0"/>
              </a:spcAft>
              <a:buSzPts val="1800"/>
              <a:buChar char="●"/>
            </a:pPr>
            <a:r>
              <a:rPr lang="en"/>
              <a:t>When game LED comes on steady the players race to push their button as quickly as possible.</a:t>
            </a:r>
            <a:endParaRPr/>
          </a:p>
          <a:p>
            <a:pPr indent="-342900" lvl="0" marL="457200" rtl="0" algn="l">
              <a:spcBef>
                <a:spcPts val="0"/>
              </a:spcBef>
              <a:spcAft>
                <a:spcPts val="0"/>
              </a:spcAft>
              <a:buSzPts val="1800"/>
              <a:buChar char="●"/>
            </a:pPr>
            <a:r>
              <a:rPr lang="en"/>
              <a:t>The player whose button is pushed first wins.</a:t>
            </a:r>
            <a:endParaRPr/>
          </a:p>
          <a:p>
            <a:pPr indent="0" lvl="0" marL="0" rtl="0" algn="l">
              <a:spcBef>
                <a:spcPts val="1600"/>
              </a:spcBef>
              <a:spcAft>
                <a:spcPts val="1600"/>
              </a:spcAft>
              <a:buNone/>
            </a:pPr>
            <a:r>
              <a:rPr lang="en"/>
              <a:t>Trying to prevent "false starts" during the countdown period was challenging, especially while the code was "stuck" in a delaying for-loop.</a:t>
            </a:r>
            <a:endParaRPr/>
          </a:p>
        </p:txBody>
      </p:sp>
      <p:sp>
        <p:nvSpPr>
          <p:cNvPr id="126" name="Google Shape;126;p24"/>
          <p:cNvSpPr txBox="1"/>
          <p:nvPr>
            <p:ph type="title"/>
          </p:nvPr>
        </p:nvSpPr>
        <p:spPr>
          <a:xfrm>
            <a:off x="311700" y="349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the button race game from Lab 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5222200" y="58450"/>
            <a:ext cx="40632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Interrupt Sources</a:t>
            </a:r>
            <a:endParaRPr/>
          </a:p>
        </p:txBody>
      </p:sp>
      <p:sp>
        <p:nvSpPr>
          <p:cNvPr id="132" name="Google Shape;132;p25"/>
          <p:cNvSpPr txBox="1"/>
          <p:nvPr>
            <p:ph idx="1" type="body"/>
          </p:nvPr>
        </p:nvSpPr>
        <p:spPr>
          <a:xfrm>
            <a:off x="3888175" y="658975"/>
            <a:ext cx="4927500" cy="4227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Reset</a:t>
            </a:r>
            <a:endParaRPr/>
          </a:p>
          <a:p>
            <a:pPr indent="-342900" lvl="0" marL="457200" rtl="0" algn="l">
              <a:spcBef>
                <a:spcPts val="0"/>
              </a:spcBef>
              <a:spcAft>
                <a:spcPts val="0"/>
              </a:spcAft>
              <a:buSzPts val="1800"/>
              <a:buChar char="●"/>
            </a:pPr>
            <a:r>
              <a:rPr lang="en"/>
              <a:t>Watchdog Timer</a:t>
            </a:r>
            <a:endParaRPr/>
          </a:p>
          <a:p>
            <a:pPr indent="-342900" lvl="0" marL="457200" rtl="0" algn="l">
              <a:spcBef>
                <a:spcPts val="0"/>
              </a:spcBef>
              <a:spcAft>
                <a:spcPts val="0"/>
              </a:spcAft>
              <a:buSzPts val="1800"/>
              <a:buChar char="●"/>
            </a:pPr>
            <a:r>
              <a:rPr lang="en"/>
              <a:t>Counter, Timer</a:t>
            </a:r>
            <a:endParaRPr/>
          </a:p>
          <a:p>
            <a:pPr indent="-342900" lvl="0" marL="457200" rtl="0" algn="l">
              <a:spcBef>
                <a:spcPts val="0"/>
              </a:spcBef>
              <a:spcAft>
                <a:spcPts val="0"/>
              </a:spcAft>
              <a:buSzPts val="1800"/>
              <a:buChar char="●"/>
            </a:pPr>
            <a:r>
              <a:rPr lang="en"/>
              <a:t>Serial communication modules such as USART, SPI, I2C</a:t>
            </a:r>
            <a:endParaRPr/>
          </a:p>
          <a:p>
            <a:pPr indent="-317500" lvl="1" marL="914400" rtl="0" algn="l">
              <a:spcBef>
                <a:spcPts val="0"/>
              </a:spcBef>
              <a:spcAft>
                <a:spcPts val="0"/>
              </a:spcAft>
              <a:buSzPts val="1400"/>
              <a:buChar char="○"/>
            </a:pPr>
            <a:r>
              <a:rPr lang="en"/>
              <a:t>Interrupts can be configured to occur when data is received, sent, etc</a:t>
            </a:r>
            <a:endParaRPr/>
          </a:p>
          <a:p>
            <a:pPr indent="-342900" lvl="0" marL="457200" rtl="0" algn="l">
              <a:spcBef>
                <a:spcPts val="0"/>
              </a:spcBef>
              <a:spcAft>
                <a:spcPts val="0"/>
              </a:spcAft>
              <a:buSzPts val="1800"/>
              <a:buChar char="●"/>
            </a:pPr>
            <a:r>
              <a:rPr lang="en"/>
              <a:t>ADC module</a:t>
            </a:r>
            <a:endParaRPr/>
          </a:p>
          <a:p>
            <a:pPr indent="-317500" lvl="1" marL="914400" rtl="0" algn="l">
              <a:spcBef>
                <a:spcPts val="0"/>
              </a:spcBef>
              <a:spcAft>
                <a:spcPts val="0"/>
              </a:spcAft>
              <a:buSzPts val="1400"/>
              <a:buChar char="○"/>
            </a:pPr>
            <a:r>
              <a:rPr lang="en"/>
              <a:t>Can generate an interrupt once it's done converting</a:t>
            </a:r>
            <a:endParaRPr/>
          </a:p>
          <a:p>
            <a:pPr indent="-342900" lvl="0" marL="457200" rtl="0" algn="l">
              <a:spcBef>
                <a:spcPts val="0"/>
              </a:spcBef>
              <a:spcAft>
                <a:spcPts val="0"/>
              </a:spcAft>
              <a:buSzPts val="1800"/>
              <a:buChar char="●"/>
            </a:pPr>
            <a:r>
              <a:rPr lang="en"/>
              <a:t>DMA (direct memory access - no processor involvement)</a:t>
            </a:r>
            <a:endParaRPr/>
          </a:p>
          <a:p>
            <a:pPr indent="-317500" lvl="1" marL="914400" rtl="0" algn="l">
              <a:spcBef>
                <a:spcPts val="0"/>
              </a:spcBef>
              <a:spcAft>
                <a:spcPts val="0"/>
              </a:spcAft>
              <a:buSzPts val="1400"/>
              <a:buChar char="○"/>
            </a:pPr>
            <a:r>
              <a:rPr lang="en"/>
              <a:t>Can ping when transfer complete</a:t>
            </a:r>
            <a:endParaRPr/>
          </a:p>
          <a:p>
            <a:pPr indent="-342900" lvl="0" marL="457200" rtl="0" algn="l">
              <a:spcBef>
                <a:spcPts val="0"/>
              </a:spcBef>
              <a:spcAft>
                <a:spcPts val="0"/>
              </a:spcAft>
              <a:buSzPts val="1800"/>
              <a:buChar char="●"/>
            </a:pPr>
            <a:r>
              <a:rPr lang="en"/>
              <a:t>FLASH (32 Kb on-chip memory)</a:t>
            </a:r>
            <a:endParaRPr/>
          </a:p>
        </p:txBody>
      </p:sp>
      <p:pic>
        <p:nvPicPr>
          <p:cNvPr id="133" name="Google Shape;133;p25"/>
          <p:cNvPicPr preferRelativeResize="0"/>
          <p:nvPr/>
        </p:nvPicPr>
        <p:blipFill rotWithShape="1">
          <a:blip r:embed="rId3">
            <a:alphaModFix/>
          </a:blip>
          <a:srcRect b="17471" l="0" r="17533" t="0"/>
          <a:stretch/>
        </p:blipFill>
        <p:spPr>
          <a:xfrm>
            <a:off x="218050" y="1992150"/>
            <a:ext cx="3468126" cy="4637649"/>
          </a:xfrm>
          <a:prstGeom prst="rect">
            <a:avLst/>
          </a:prstGeom>
          <a:noFill/>
          <a:ln>
            <a:noFill/>
          </a:ln>
        </p:spPr>
      </p:pic>
      <p:pic>
        <p:nvPicPr>
          <p:cNvPr id="134" name="Google Shape;134;p25"/>
          <p:cNvPicPr preferRelativeResize="0"/>
          <p:nvPr/>
        </p:nvPicPr>
        <p:blipFill rotWithShape="1">
          <a:blip r:embed="rId4">
            <a:alphaModFix/>
          </a:blip>
          <a:srcRect b="0" l="0" r="18066" t="31039"/>
          <a:stretch/>
        </p:blipFill>
        <p:spPr>
          <a:xfrm>
            <a:off x="3888175" y="5990700"/>
            <a:ext cx="3398775" cy="639100"/>
          </a:xfrm>
          <a:prstGeom prst="rect">
            <a:avLst/>
          </a:prstGeom>
          <a:noFill/>
          <a:ln>
            <a:noFill/>
          </a:ln>
        </p:spPr>
      </p:pic>
      <p:pic>
        <p:nvPicPr>
          <p:cNvPr id="135" name="Google Shape;135;p25"/>
          <p:cNvPicPr preferRelativeResize="0"/>
          <p:nvPr/>
        </p:nvPicPr>
        <p:blipFill rotWithShape="1">
          <a:blip r:embed="rId5">
            <a:alphaModFix/>
          </a:blip>
          <a:srcRect b="0" l="0" r="17280" t="0"/>
          <a:stretch/>
        </p:blipFill>
        <p:spPr>
          <a:xfrm>
            <a:off x="218050" y="118525"/>
            <a:ext cx="3468126" cy="2354717"/>
          </a:xfrm>
          <a:prstGeom prst="rect">
            <a:avLst/>
          </a:prstGeom>
          <a:noFill/>
          <a:ln>
            <a:noFill/>
          </a:ln>
        </p:spPr>
      </p:pic>
      <p:pic>
        <p:nvPicPr>
          <p:cNvPr id="136" name="Google Shape;136;p25"/>
          <p:cNvPicPr preferRelativeResize="0"/>
          <p:nvPr/>
        </p:nvPicPr>
        <p:blipFill rotWithShape="1">
          <a:blip r:embed="rId3">
            <a:alphaModFix/>
          </a:blip>
          <a:srcRect b="1655" l="0" r="17533" t="81740"/>
          <a:stretch/>
        </p:blipFill>
        <p:spPr>
          <a:xfrm>
            <a:off x="3853500" y="5057650"/>
            <a:ext cx="3468126" cy="933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6"/>
          <p:cNvPicPr preferRelativeResize="0"/>
          <p:nvPr/>
        </p:nvPicPr>
        <p:blipFill rotWithShape="1">
          <a:blip r:embed="rId3">
            <a:alphaModFix/>
          </a:blip>
          <a:srcRect b="17473" l="0" r="17533" t="31735"/>
          <a:stretch/>
        </p:blipFill>
        <p:spPr>
          <a:xfrm>
            <a:off x="2124825" y="1195650"/>
            <a:ext cx="6707476" cy="5520200"/>
          </a:xfrm>
          <a:prstGeom prst="rect">
            <a:avLst/>
          </a:prstGeom>
          <a:noFill/>
          <a:ln>
            <a:noFill/>
          </a:ln>
        </p:spPr>
      </p:pic>
      <p:sp>
        <p:nvSpPr>
          <p:cNvPr id="142" name="Google Shape;142;p26"/>
          <p:cNvSpPr txBox="1"/>
          <p:nvPr>
            <p:ph type="title"/>
          </p:nvPr>
        </p:nvSpPr>
        <p:spPr>
          <a:xfrm>
            <a:off x="311700" y="374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External Interrupts</a:t>
            </a:r>
            <a:endParaRPr/>
          </a:p>
        </p:txBody>
      </p:sp>
      <p:sp>
        <p:nvSpPr>
          <p:cNvPr id="143" name="Google Shape;143;p26"/>
          <p:cNvSpPr/>
          <p:nvPr/>
        </p:nvSpPr>
        <p:spPr>
          <a:xfrm>
            <a:off x="2216725" y="4057625"/>
            <a:ext cx="6562500" cy="2596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6"/>
          <p:cNvSpPr txBox="1"/>
          <p:nvPr/>
        </p:nvSpPr>
        <p:spPr>
          <a:xfrm>
            <a:off x="835525" y="5205875"/>
            <a:ext cx="10485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0000"/>
                </a:solidFill>
              </a:rPr>
              <a:t>So far…</a:t>
            </a:r>
            <a:endParaRPr sz="1800">
              <a:solidFill>
                <a:srgbClr val="CC0000"/>
              </a:solidFill>
            </a:endParaRPr>
          </a:p>
        </p:txBody>
      </p:sp>
      <p:sp>
        <p:nvSpPr>
          <p:cNvPr id="145" name="Google Shape;145;p26"/>
          <p:cNvSpPr/>
          <p:nvPr/>
        </p:nvSpPr>
        <p:spPr>
          <a:xfrm>
            <a:off x="2216725" y="1195650"/>
            <a:ext cx="6615600" cy="891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6"/>
          <p:cNvSpPr txBox="1"/>
          <p:nvPr/>
        </p:nvSpPr>
        <p:spPr>
          <a:xfrm>
            <a:off x="738475" y="1492050"/>
            <a:ext cx="12426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Today</a:t>
            </a:r>
            <a:endParaRPr sz="1800">
              <a:solidFill>
                <a:srgbClr val="0000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5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52" name="Google Shape;152;p27"/>
          <p:cNvSpPr txBox="1"/>
          <p:nvPr>
            <p:ph idx="1" type="body"/>
          </p:nvPr>
        </p:nvSpPr>
        <p:spPr>
          <a:xfrm>
            <a:off x="311700" y="1362000"/>
            <a:ext cx="4438200" cy="52197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rgbClr val="000000"/>
              </a:buClr>
              <a:buSzPts val="1600"/>
              <a:buAutoNum type="arabicPeriod"/>
            </a:pPr>
            <a:r>
              <a:rPr lang="en" sz="1600">
                <a:solidFill>
                  <a:srgbClr val="000000"/>
                </a:solidFill>
              </a:rPr>
              <a:t>Wire the pushbutton and capacitor to PB4.</a:t>
            </a:r>
            <a:endParaRPr sz="1600">
              <a:solidFill>
                <a:srgbClr val="000000"/>
              </a:solidFill>
            </a:endParaRPr>
          </a:p>
          <a:p>
            <a:pPr indent="-330200" lvl="0" marL="457200" rtl="0" algn="l">
              <a:lnSpc>
                <a:spcPct val="100000"/>
              </a:lnSpc>
              <a:spcBef>
                <a:spcPts val="1000"/>
              </a:spcBef>
              <a:spcAft>
                <a:spcPts val="0"/>
              </a:spcAft>
              <a:buClr>
                <a:srgbClr val="000000"/>
              </a:buClr>
              <a:buSzPts val="1600"/>
              <a:buAutoNum type="arabicPeriod"/>
            </a:pPr>
            <a:r>
              <a:rPr lang="en" sz="1600">
                <a:solidFill>
                  <a:srgbClr val="000000"/>
                </a:solidFill>
              </a:rPr>
              <a:t>Copy your TemplateProject and name the copy </a:t>
            </a:r>
            <a:r>
              <a:rPr lang="en" sz="1600">
                <a:solidFill>
                  <a:srgbClr val="000000"/>
                </a:solidFill>
                <a:latin typeface="Courier New"/>
                <a:ea typeface="Courier New"/>
                <a:cs typeface="Courier New"/>
                <a:sym typeface="Courier New"/>
              </a:rPr>
              <a:t>CounterResetButton</a:t>
            </a:r>
            <a:r>
              <a:rPr lang="en" sz="1600">
                <a:solidFill>
                  <a:srgbClr val="000000"/>
                </a:solidFill>
              </a:rPr>
              <a:t>. Download </a:t>
            </a:r>
            <a:r>
              <a:rPr lang="en" sz="1600">
                <a:solidFill>
                  <a:schemeClr val="dk1"/>
                </a:solidFill>
                <a:latin typeface="Courier New"/>
                <a:ea typeface="Courier New"/>
                <a:cs typeface="Courier New"/>
                <a:sym typeface="Courier New"/>
              </a:rPr>
              <a:t>counterResetButtonPolled.c</a:t>
            </a:r>
            <a:r>
              <a:rPr lang="en" sz="1600">
                <a:solidFill>
                  <a:srgbClr val="000000"/>
                </a:solidFill>
              </a:rPr>
              <a:t> from Canvas and copy/paste it into your new project's </a:t>
            </a:r>
            <a:r>
              <a:rPr lang="en" sz="1600">
                <a:solidFill>
                  <a:srgbClr val="000000"/>
                </a:solidFill>
                <a:latin typeface="Courier New"/>
                <a:ea typeface="Courier New"/>
                <a:cs typeface="Courier New"/>
                <a:sym typeface="Courier New"/>
              </a:rPr>
              <a:t>Src</a:t>
            </a:r>
            <a:r>
              <a:rPr lang="en" sz="1600">
                <a:solidFill>
                  <a:srgbClr val="000000"/>
                </a:solidFill>
              </a:rPr>
              <a:t> folder.  </a:t>
            </a:r>
            <a:endParaRPr sz="1600">
              <a:solidFill>
                <a:srgbClr val="000000"/>
              </a:solidFill>
            </a:endParaRPr>
          </a:p>
          <a:p>
            <a:pPr indent="-330200" lvl="0" marL="457200" rtl="0" algn="l">
              <a:lnSpc>
                <a:spcPct val="100000"/>
              </a:lnSpc>
              <a:spcBef>
                <a:spcPts val="1000"/>
              </a:spcBef>
              <a:spcAft>
                <a:spcPts val="0"/>
              </a:spcAft>
              <a:buClr>
                <a:srgbClr val="000000"/>
              </a:buClr>
              <a:buSzPts val="1600"/>
              <a:buAutoNum type="arabicPeriod"/>
            </a:pPr>
            <a:r>
              <a:rPr lang="en" sz="1600">
                <a:solidFill>
                  <a:srgbClr val="000000"/>
                </a:solidFill>
              </a:rPr>
              <a:t>Compile and upload to your Nucleo.</a:t>
            </a:r>
            <a:endParaRPr sz="1600">
              <a:solidFill>
                <a:srgbClr val="000000"/>
              </a:solidFill>
            </a:endParaRPr>
          </a:p>
          <a:p>
            <a:pPr indent="-330200" lvl="0" marL="457200" rtl="0" algn="l">
              <a:lnSpc>
                <a:spcPct val="100000"/>
              </a:lnSpc>
              <a:spcBef>
                <a:spcPts val="1000"/>
              </a:spcBef>
              <a:spcAft>
                <a:spcPts val="0"/>
              </a:spcAft>
              <a:buClr>
                <a:srgbClr val="000000"/>
              </a:buClr>
              <a:buSzPts val="1600"/>
              <a:buAutoNum type="arabicPeriod"/>
            </a:pPr>
            <a:r>
              <a:rPr lang="en" sz="1600">
                <a:solidFill>
                  <a:srgbClr val="000000"/>
                </a:solidFill>
              </a:rPr>
              <a:t>Observe:  How does the program respond to a short tap on the button, vs a long tap-and-hold? (You'll need Coolterm.)</a:t>
            </a:r>
            <a:endParaRPr sz="1600">
              <a:solidFill>
                <a:srgbClr val="000000"/>
              </a:solidFill>
            </a:endParaRPr>
          </a:p>
          <a:p>
            <a:pPr indent="-330200" lvl="0" marL="457200" rtl="0" algn="l">
              <a:lnSpc>
                <a:spcPct val="100000"/>
              </a:lnSpc>
              <a:spcBef>
                <a:spcPts val="1000"/>
              </a:spcBef>
              <a:spcAft>
                <a:spcPts val="0"/>
              </a:spcAft>
              <a:buClr>
                <a:schemeClr val="dk1"/>
              </a:buClr>
              <a:buSzPts val="1600"/>
              <a:buAutoNum type="arabicPeriod"/>
            </a:pPr>
            <a:r>
              <a:rPr lang="en" sz="1600">
                <a:solidFill>
                  <a:schemeClr val="dk1"/>
                </a:solidFill>
              </a:rPr>
              <a:t>Download </a:t>
            </a:r>
            <a:r>
              <a:rPr lang="en" sz="1600">
                <a:solidFill>
                  <a:schemeClr val="dk1"/>
                </a:solidFill>
                <a:latin typeface="Courier New"/>
                <a:ea typeface="Courier New"/>
                <a:cs typeface="Courier New"/>
                <a:sym typeface="Courier New"/>
              </a:rPr>
              <a:t>counterResetButtonInt.c</a:t>
            </a:r>
            <a:r>
              <a:rPr lang="en" sz="1600">
                <a:solidFill>
                  <a:schemeClr val="dk1"/>
                </a:solidFill>
              </a:rPr>
              <a:t> from Canvas and also copy/paste it in your </a:t>
            </a:r>
            <a:r>
              <a:rPr lang="en" sz="1600">
                <a:solidFill>
                  <a:schemeClr val="dk1"/>
                </a:solidFill>
                <a:latin typeface="Courier New"/>
                <a:ea typeface="Courier New"/>
                <a:cs typeface="Courier New"/>
                <a:sym typeface="Courier New"/>
              </a:rPr>
              <a:t>Src</a:t>
            </a:r>
            <a:r>
              <a:rPr lang="en" sz="1600">
                <a:solidFill>
                  <a:schemeClr val="dk1"/>
                </a:solidFill>
              </a:rPr>
              <a:t> folder, save for later (i.e. exclude from build configuration for now).</a:t>
            </a:r>
            <a:endParaRPr sz="1600">
              <a:solidFill>
                <a:schemeClr val="dk1"/>
              </a:solidFill>
            </a:endParaRPr>
          </a:p>
          <a:p>
            <a:pPr indent="0" lvl="0" marL="457200" rtl="0" algn="l">
              <a:lnSpc>
                <a:spcPct val="100000"/>
              </a:lnSpc>
              <a:spcBef>
                <a:spcPts val="1000"/>
              </a:spcBef>
              <a:spcAft>
                <a:spcPts val="1000"/>
              </a:spcAft>
              <a:buNone/>
            </a:pPr>
            <a:r>
              <a:t/>
            </a:r>
            <a:endParaRPr sz="1600">
              <a:solidFill>
                <a:srgbClr val="000000"/>
              </a:solidFill>
            </a:endParaRPr>
          </a:p>
        </p:txBody>
      </p:sp>
      <p:pic>
        <p:nvPicPr>
          <p:cNvPr id="153" name="Google Shape;153;p27"/>
          <p:cNvPicPr preferRelativeResize="0"/>
          <p:nvPr/>
        </p:nvPicPr>
        <p:blipFill rotWithShape="1">
          <a:blip r:embed="rId3">
            <a:alphaModFix/>
          </a:blip>
          <a:srcRect b="0" l="58196" r="0" t="0"/>
          <a:stretch/>
        </p:blipFill>
        <p:spPr>
          <a:xfrm>
            <a:off x="5155950" y="450975"/>
            <a:ext cx="3676350" cy="5781475"/>
          </a:xfrm>
          <a:prstGeom prst="rect">
            <a:avLst/>
          </a:prstGeom>
          <a:noFill/>
          <a:ln>
            <a:noFill/>
          </a:ln>
        </p:spPr>
      </p:pic>
      <p:sp>
        <p:nvSpPr>
          <p:cNvPr id="154" name="Google Shape;154;p27"/>
          <p:cNvSpPr/>
          <p:nvPr/>
        </p:nvSpPr>
        <p:spPr>
          <a:xfrm>
            <a:off x="7118075" y="4982650"/>
            <a:ext cx="684600" cy="355800"/>
          </a:xfrm>
          <a:prstGeom prst="rect">
            <a:avLst/>
          </a:prstGeom>
          <a:noFill/>
          <a:ln cap="flat" cmpd="sng" w="762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87201"/>
            <a:ext cx="8520600" cy="59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Counter with polled reset button</a:t>
            </a:r>
            <a:endParaRPr/>
          </a:p>
        </p:txBody>
      </p:sp>
      <p:sp>
        <p:nvSpPr>
          <p:cNvPr id="160" name="Google Shape;160;p28"/>
          <p:cNvSpPr txBox="1"/>
          <p:nvPr>
            <p:ph idx="1" type="body"/>
          </p:nvPr>
        </p:nvSpPr>
        <p:spPr>
          <a:xfrm>
            <a:off x="311700" y="685100"/>
            <a:ext cx="8520600" cy="600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#include &lt;stdio.h&gt;</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#include "ES28.h"</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#include "uart.h"</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#define WAIT 		1000000</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#define MAXCOUNT 	100</a:t>
            </a:r>
            <a:endParaRPr b="1" sz="1100">
              <a:latin typeface="Courier New"/>
              <a:ea typeface="Courier New"/>
              <a:cs typeface="Courier New"/>
              <a:sym typeface="Courier New"/>
            </a:endParaRPr>
          </a:p>
          <a:p>
            <a:pPr indent="0" lvl="0" marL="0" rtl="0" algn="l">
              <a:spcBef>
                <a:spcPts val="0"/>
              </a:spcBef>
              <a:spcAft>
                <a:spcPts val="0"/>
              </a:spcAft>
              <a:buNone/>
            </a:pPr>
            <a:r>
              <a:rPr b="1" lang="en" sz="1100">
                <a:solidFill>
                  <a:srgbClr val="0000E6"/>
                </a:solidFill>
                <a:latin typeface="Courier New"/>
                <a:ea typeface="Courier New"/>
                <a:cs typeface="Courier New"/>
                <a:sym typeface="Courier New"/>
              </a:rPr>
              <a:t>#define BUTTON_PIN	(1U&lt;&lt;4)   </a:t>
            </a:r>
            <a:r>
              <a:rPr b="1" lang="en" sz="1100">
                <a:latin typeface="Courier New"/>
                <a:ea typeface="Courier New"/>
                <a:cs typeface="Courier New"/>
                <a:sym typeface="Courier New"/>
              </a:rPr>
              <a:t>// Button on PB4</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int main(void) {</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int counter = 0;</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r>
              <a:rPr b="1" lang="en" sz="1100">
                <a:solidFill>
                  <a:srgbClr val="0000E6"/>
                </a:solidFill>
                <a:latin typeface="Courier New"/>
                <a:ea typeface="Courier New"/>
                <a:cs typeface="Courier New"/>
                <a:sym typeface="Courier New"/>
              </a:rPr>
              <a:t>int buttonPushed;</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uart2_init();	    						      // initialize UART</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RCC-&gt;IOPENR |= RCC_IOPENR_GPIOBEN;   			      // enable clock</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endParaRPr b="1" sz="11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GPIOB-&gt;MODER &amp;= ~GPIO_MODER_MODE4_Msk;</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GPIOB-&gt;MODER |= (GPIO_INPUT &lt;&lt; GPIO_MODER_MODE4_Pos);  // input mode</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endParaRPr b="1" sz="11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GPIOB-&gt;PUPDR &amp;= ~GPIO_PUPDR_PUPD4_Msk;</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GPIOB-&gt;PUPDR |= (GPIO_PULLUP &lt;&lt; GPIO_PUPDR_PUPD4_Pos); // pullup</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while(1) {</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printf("%x\t%d\r\n", counter, counter);</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delay_ms(1000); 							// kill time</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r>
              <a:rPr b="1" lang="en" sz="1100">
                <a:solidFill>
                  <a:srgbClr val="0000E6"/>
                </a:solidFill>
                <a:latin typeface="Courier New"/>
                <a:ea typeface="Courier New"/>
                <a:cs typeface="Courier New"/>
                <a:sym typeface="Courier New"/>
              </a:rPr>
              <a:t>buttonPushed = ((GPIOB-&gt;IDR &amp; BUTTON_PIN) == 0);</a:t>
            </a:r>
            <a:r>
              <a:rPr b="1" lang="en" sz="1100">
                <a:solidFill>
                  <a:schemeClr val="dk1"/>
                </a:solidFill>
                <a:latin typeface="Courier New"/>
                <a:ea typeface="Courier New"/>
                <a:cs typeface="Courier New"/>
                <a:sym typeface="Courier New"/>
              </a:rPr>
              <a:t> </a:t>
            </a:r>
            <a:r>
              <a:rPr b="1" lang="en" sz="1100">
                <a:latin typeface="Courier New"/>
                <a:ea typeface="Courier New"/>
                <a:cs typeface="Courier New"/>
                <a:sym typeface="Courier New"/>
              </a:rPr>
              <a:t>// Poll the button (1 =&gt; pressed)</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if ( (buttonPushed) || (counter == MAXCOUNT) ) {</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counter = 0;   					 	</a:t>
            </a:r>
            <a:r>
              <a:rPr b="1" lang="en" sz="1100">
                <a:latin typeface="Courier New"/>
                <a:ea typeface="Courier New"/>
                <a:cs typeface="Courier New"/>
                <a:sym typeface="Courier New"/>
              </a:rPr>
              <a:t>// Reset the counter</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 else {</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counter++;</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	return 0;</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latin typeface="Courier New"/>
                <a:ea typeface="Courier New"/>
                <a:cs typeface="Courier New"/>
                <a:sym typeface="Courier New"/>
              </a:rPr>
              <a:t>}</a:t>
            </a:r>
            <a:endParaRPr b="1" sz="11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latin typeface="Courier New"/>
              <a:ea typeface="Courier New"/>
              <a:cs typeface="Courier New"/>
              <a:sym typeface="Courier New"/>
            </a:endParaRPr>
          </a:p>
          <a:p>
            <a:pPr indent="0" lvl="0" marL="0" rtl="0" algn="l">
              <a:spcBef>
                <a:spcPts val="0"/>
              </a:spcBef>
              <a:spcAft>
                <a:spcPts val="0"/>
              </a:spcAft>
              <a:buNone/>
            </a:pPr>
            <a:r>
              <a:t/>
            </a:r>
            <a:endParaRPr sz="11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170001"/>
            <a:ext cx="8520600" cy="59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a button press no matter when…</a:t>
            </a:r>
            <a:endParaRPr/>
          </a:p>
        </p:txBody>
      </p:sp>
      <p:sp>
        <p:nvSpPr>
          <p:cNvPr id="166" name="Google Shape;166;p29"/>
          <p:cNvSpPr txBox="1"/>
          <p:nvPr>
            <p:ph idx="1" type="body"/>
          </p:nvPr>
        </p:nvSpPr>
        <p:spPr>
          <a:xfrm>
            <a:off x="311700" y="974575"/>
            <a:ext cx="8520600" cy="565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Courier New"/>
                <a:ea typeface="Courier New"/>
                <a:cs typeface="Courier New"/>
                <a:sym typeface="Courier New"/>
              </a:rPr>
              <a:t>…</a:t>
            </a:r>
            <a:endParaRPr b="1" sz="1100">
              <a:solidFill>
                <a:schemeClr val="dk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while(1) {</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printf("%x\t%d\r\n", counter, counter);</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		delay_ms(1000);			  				</a:t>
            </a:r>
            <a:r>
              <a:rPr lang="en" sz="1100">
                <a:solidFill>
                  <a:schemeClr val="dk1"/>
                </a:solidFill>
                <a:latin typeface="Courier New"/>
                <a:ea typeface="Courier New"/>
                <a:cs typeface="Courier New"/>
                <a:sym typeface="Courier New"/>
              </a:rPr>
              <a:t>// kill time</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latin typeface="Courier New"/>
                <a:ea typeface="Courier New"/>
                <a:cs typeface="Courier New"/>
                <a:sym typeface="Courier New"/>
              </a:rPr>
              <a:t>		</a:t>
            </a:r>
            <a:r>
              <a:rPr b="1" lang="en" sz="1100">
                <a:solidFill>
                  <a:srgbClr val="0000E6"/>
                </a:solidFill>
                <a:latin typeface="Courier New"/>
                <a:ea typeface="Courier New"/>
                <a:cs typeface="Courier New"/>
                <a:sym typeface="Courier New"/>
              </a:rPr>
              <a:t>buttonPushed = ((GPIOB-&gt;IDR &amp; BUTTON_PIN) == 0);</a:t>
            </a:r>
            <a:r>
              <a:rPr lang="en" sz="1100">
                <a:solidFill>
                  <a:schemeClr val="dk1"/>
                </a:solidFill>
                <a:latin typeface="Courier New"/>
                <a:ea typeface="Courier New"/>
                <a:cs typeface="Courier New"/>
                <a:sym typeface="Courier New"/>
              </a:rPr>
              <a:t> // Poll the button (1 =&gt; pressed)</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if ( (buttonPushed) || (counter == MAXCOUNT) ) {</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counter = 0;   					 	</a:t>
            </a:r>
            <a:r>
              <a:rPr lang="en" sz="1100">
                <a:solidFill>
                  <a:schemeClr val="dk1"/>
                </a:solidFill>
                <a:latin typeface="Courier New"/>
                <a:ea typeface="Courier New"/>
                <a:cs typeface="Courier New"/>
                <a:sym typeface="Courier New"/>
              </a:rPr>
              <a:t>// Reset the counter</a:t>
            </a:r>
            <a:endParaRPr sz="11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 else {</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counter++;</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0000E6"/>
                </a:solidFill>
                <a:latin typeface="Courier New"/>
                <a:ea typeface="Courier New"/>
                <a:cs typeface="Courier New"/>
                <a:sym typeface="Courier New"/>
              </a:rPr>
              <a:t>		}</a:t>
            </a:r>
            <a:endParaRPr b="1" sz="1100">
              <a:solidFill>
                <a:srgbClr val="0000E6"/>
              </a:solidFill>
              <a:latin typeface="Courier New"/>
              <a:ea typeface="Courier New"/>
              <a:cs typeface="Courier New"/>
              <a:sym typeface="Courier New"/>
            </a:endParaRPr>
          </a:p>
          <a:p>
            <a:pPr indent="0" lvl="0" marL="0" rtl="0" algn="l">
              <a:spcBef>
                <a:spcPts val="0"/>
              </a:spcBef>
              <a:spcAft>
                <a:spcPts val="0"/>
              </a:spcAft>
              <a:buNone/>
            </a:pPr>
            <a:r>
              <a:rPr lang="en" sz="1100">
                <a:latin typeface="Courier New"/>
                <a:ea typeface="Courier New"/>
                <a:cs typeface="Courier New"/>
                <a:sym typeface="Courier New"/>
              </a:rPr>
              <a:t>	}</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100">
                <a:solidFill>
                  <a:schemeClr val="dk1"/>
                </a:solidFill>
                <a:latin typeface="Courier New"/>
                <a:ea typeface="Courier New"/>
                <a:cs typeface="Courier New"/>
                <a:sym typeface="Courier New"/>
              </a:rPr>
              <a:t>…</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0"/>
              <a:t>We want to detect a button press no matter when it occurs: even while your code is in the delaying for-loop. </a:t>
            </a:r>
            <a:endParaRPr b="1" sz="1600"/>
          </a:p>
          <a:p>
            <a:pPr indent="0" lvl="0" marL="0" rtl="0" algn="l">
              <a:spcBef>
                <a:spcPts val="1000"/>
              </a:spcBef>
              <a:spcAft>
                <a:spcPts val="0"/>
              </a:spcAft>
              <a:buNone/>
            </a:pPr>
            <a:r>
              <a:rPr lang="en" sz="1600"/>
              <a:t>All GPIO pins are connected to the </a:t>
            </a:r>
            <a:r>
              <a:rPr b="1" lang="en" sz="1600">
                <a:solidFill>
                  <a:srgbClr val="38761D"/>
                </a:solidFill>
              </a:rPr>
              <a:t>Extended Interrupt / Event Controller (EXTI)</a:t>
            </a:r>
            <a:r>
              <a:rPr lang="en" sz="1600"/>
              <a:t> which processes processor-external events such as rising or falling edges on GPIO pins to generate </a:t>
            </a:r>
            <a:r>
              <a:rPr b="1" lang="en" sz="1600">
                <a:solidFill>
                  <a:srgbClr val="38761D"/>
                </a:solidFill>
              </a:rPr>
              <a:t>interrupt requests (IRQs)</a:t>
            </a:r>
            <a:r>
              <a:rPr lang="en" sz="1600"/>
              <a:t>.</a:t>
            </a:r>
            <a:endParaRPr sz="1600"/>
          </a:p>
          <a:p>
            <a:pPr indent="0" lvl="0" marL="0" rtl="0" algn="l">
              <a:spcBef>
                <a:spcPts val="1000"/>
              </a:spcBef>
              <a:spcAft>
                <a:spcPts val="0"/>
              </a:spcAft>
              <a:buNone/>
            </a:pPr>
            <a:r>
              <a:rPr lang="en" sz="1600"/>
              <a:t>IRQs are handled by the </a:t>
            </a:r>
            <a:r>
              <a:rPr b="1" lang="en" sz="1600">
                <a:solidFill>
                  <a:srgbClr val="38761D"/>
                </a:solidFill>
              </a:rPr>
              <a:t>Nested Vector Interrupt Controller (NVIC) </a:t>
            </a:r>
            <a:r>
              <a:rPr lang="en" sz="1600"/>
              <a:t>which interacts with the CPU to process the IRQs. </a:t>
            </a:r>
            <a:endParaRPr sz="1600"/>
          </a:p>
          <a:p>
            <a:pPr indent="0" lvl="0" marL="0" rtl="0" algn="l">
              <a:spcBef>
                <a:spcPts val="1000"/>
              </a:spcBef>
              <a:spcAft>
                <a:spcPts val="1000"/>
              </a:spcAft>
              <a:buNone/>
            </a:pPr>
            <a:r>
              <a:rPr lang="en" sz="1600"/>
              <a:t>When an IRQ is processed, an </a:t>
            </a:r>
            <a:r>
              <a:rPr b="1" lang="en" sz="1600">
                <a:solidFill>
                  <a:srgbClr val="38761D"/>
                </a:solidFill>
              </a:rPr>
              <a:t>Interrupt Service Routine (ISR)</a:t>
            </a:r>
            <a:r>
              <a:rPr lang="en" sz="1600"/>
              <a:t>, which you program, is executed. When the ISR terminates the processor resumes normal program execution.</a:t>
            </a:r>
            <a:endParaRPr sz="12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External Interrupts (such as GPIO)</a:t>
            </a:r>
            <a:endParaRPr/>
          </a:p>
        </p:txBody>
      </p:sp>
      <p:sp>
        <p:nvSpPr>
          <p:cNvPr id="172" name="Google Shape;172;p30"/>
          <p:cNvSpPr txBox="1"/>
          <p:nvPr>
            <p:ph idx="1" type="body"/>
          </p:nvPr>
        </p:nvSpPr>
        <p:spPr>
          <a:xfrm>
            <a:off x="311700" y="1536624"/>
            <a:ext cx="8520600" cy="48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NVIC doesn't want to deal with too many interrupts - it's busy enough with the internal ones (timers, ADC, I2C, etc). </a:t>
            </a:r>
            <a:endParaRPr/>
          </a:p>
          <a:p>
            <a:pPr indent="-342900" lvl="0" marL="457200" rtl="0" algn="l">
              <a:spcBef>
                <a:spcPts val="1600"/>
              </a:spcBef>
              <a:spcAft>
                <a:spcPts val="0"/>
              </a:spcAft>
              <a:buSzPts val="1800"/>
              <a:buChar char="●"/>
            </a:pPr>
            <a:r>
              <a:rPr lang="en"/>
              <a:t>The EXTI (Extended Interrupt/Event Controller) is a flexible front-end for the NVIC (Nested Vector Interrupt Controller).  </a:t>
            </a:r>
            <a:endParaRPr/>
          </a:p>
          <a:p>
            <a:pPr indent="-342900" lvl="0" marL="457200" rtl="0" algn="l">
              <a:spcBef>
                <a:spcPts val="0"/>
              </a:spcBef>
              <a:spcAft>
                <a:spcPts val="0"/>
              </a:spcAft>
              <a:buSzPts val="1800"/>
              <a:buChar char="●"/>
            </a:pPr>
            <a:r>
              <a:rPr lang="en"/>
              <a:t>External events, like rising or falling edges on a GPIO pin, are processed by the EXTI to generate interrupt requests (IRQs) to the NVIC.  </a:t>
            </a:r>
            <a:endParaRPr/>
          </a:p>
          <a:p>
            <a:pPr indent="-342900" lvl="0" marL="457200" rtl="0" algn="l">
              <a:spcBef>
                <a:spcPts val="0"/>
              </a:spcBef>
              <a:spcAft>
                <a:spcPts val="0"/>
              </a:spcAft>
              <a:buSzPts val="1800"/>
              <a:buChar char="●"/>
            </a:pPr>
            <a:r>
              <a:rPr lang="en"/>
              <a:t>The NVIC then interacts with the CPU to process the IRQs.  </a:t>
            </a:r>
            <a:endParaRPr/>
          </a:p>
          <a:p>
            <a:pPr indent="-342900" lvl="0" marL="457200" rtl="0" algn="l">
              <a:spcBef>
                <a:spcPts val="0"/>
              </a:spcBef>
              <a:spcAft>
                <a:spcPts val="0"/>
              </a:spcAft>
              <a:buSzPts val="1800"/>
              <a:buChar char="●"/>
            </a:pPr>
            <a:r>
              <a:rPr lang="en"/>
              <a:t>The EXTI can be set to trigger on rising edges, falling edges, or both, and can mask and unmask individual interrupts.  </a:t>
            </a:r>
            <a:endParaRPr/>
          </a:p>
          <a:p>
            <a:pPr indent="0" lvl="0" marL="0" rtl="0" algn="l">
              <a:spcBef>
                <a:spcPts val="1600"/>
              </a:spcBef>
              <a:spcAft>
                <a:spcPts val="0"/>
              </a:spcAft>
              <a:buNone/>
            </a:pPr>
            <a:r>
              <a:rPr lang="en"/>
              <a:t>Problem: There isn't enough room to have a separate IRQ line from the EXTI into the NVIC for each GPIO pin. </a:t>
            </a:r>
            <a:endParaRPr/>
          </a:p>
          <a:p>
            <a:pPr indent="0" lvl="0" marL="0" rtl="0" algn="l">
              <a:spcBef>
                <a:spcPts val="1600"/>
              </a:spcBef>
              <a:spcAft>
                <a:spcPts val="1600"/>
              </a:spcAft>
              <a:buNone/>
            </a:pPr>
            <a:r>
              <a:rPr lang="en"/>
              <a:t>So: Multiple GPIO lines are multiplexed in the EXTI to a small number of IRQ lines into the NVIC.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9050" y="176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Button Press to Interrupt</a:t>
            </a:r>
            <a:endParaRPr/>
          </a:p>
        </p:txBody>
      </p:sp>
      <p:grpSp>
        <p:nvGrpSpPr>
          <p:cNvPr id="178" name="Google Shape;178;p31"/>
          <p:cNvGrpSpPr/>
          <p:nvPr/>
        </p:nvGrpSpPr>
        <p:grpSpPr>
          <a:xfrm>
            <a:off x="132025" y="1122892"/>
            <a:ext cx="8789825" cy="5583433"/>
            <a:chOff x="132025" y="1122892"/>
            <a:chExt cx="8789825" cy="5583433"/>
          </a:xfrm>
        </p:grpSpPr>
        <p:pic>
          <p:nvPicPr>
            <p:cNvPr id="179" name="Google Shape;179;p31"/>
            <p:cNvPicPr preferRelativeResize="0"/>
            <p:nvPr/>
          </p:nvPicPr>
          <p:blipFill>
            <a:blip r:embed="rId3">
              <a:alphaModFix/>
            </a:blip>
            <a:stretch>
              <a:fillRect/>
            </a:stretch>
          </p:blipFill>
          <p:spPr>
            <a:xfrm>
              <a:off x="381000" y="1122892"/>
              <a:ext cx="8248650" cy="4048125"/>
            </a:xfrm>
            <a:prstGeom prst="rect">
              <a:avLst/>
            </a:prstGeom>
            <a:noFill/>
            <a:ln>
              <a:noFill/>
            </a:ln>
          </p:spPr>
        </p:pic>
        <p:sp>
          <p:nvSpPr>
            <p:cNvPr id="180" name="Google Shape;180;p31"/>
            <p:cNvSpPr/>
            <p:nvPr/>
          </p:nvSpPr>
          <p:spPr>
            <a:xfrm>
              <a:off x="1567075" y="1608450"/>
              <a:ext cx="593400" cy="6072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31"/>
            <p:cNvSpPr/>
            <p:nvPr/>
          </p:nvSpPr>
          <p:spPr>
            <a:xfrm>
              <a:off x="5086375" y="1608450"/>
              <a:ext cx="593400" cy="6072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2" name="Google Shape;182;p31"/>
            <p:cNvCxnSpPr/>
            <p:nvPr/>
          </p:nvCxnSpPr>
          <p:spPr>
            <a:xfrm>
              <a:off x="3316625" y="2878050"/>
              <a:ext cx="2935800" cy="3600"/>
            </a:xfrm>
            <a:prstGeom prst="straightConnector1">
              <a:avLst/>
            </a:prstGeom>
            <a:noFill/>
            <a:ln cap="flat" cmpd="sng" w="28575">
              <a:solidFill>
                <a:srgbClr val="0000FF"/>
              </a:solidFill>
              <a:prstDash val="solid"/>
              <a:round/>
              <a:headEnd len="med" w="med" type="none"/>
              <a:tailEnd len="med" w="med" type="triangle"/>
            </a:ln>
          </p:spPr>
        </p:cxnSp>
        <p:cxnSp>
          <p:nvCxnSpPr>
            <p:cNvPr id="183" name="Google Shape;183;p31"/>
            <p:cNvCxnSpPr>
              <a:stCxn id="180" idx="2"/>
            </p:cNvCxnSpPr>
            <p:nvPr/>
          </p:nvCxnSpPr>
          <p:spPr>
            <a:xfrm flipH="1">
              <a:off x="1857475" y="2215650"/>
              <a:ext cx="6300" cy="372600"/>
            </a:xfrm>
            <a:prstGeom prst="straightConnector1">
              <a:avLst/>
            </a:prstGeom>
            <a:noFill/>
            <a:ln cap="flat" cmpd="sng" w="28575">
              <a:solidFill>
                <a:srgbClr val="CC0000"/>
              </a:solidFill>
              <a:prstDash val="solid"/>
              <a:round/>
              <a:headEnd len="med" w="med" type="none"/>
              <a:tailEnd len="med" w="med" type="triangle"/>
            </a:ln>
          </p:spPr>
        </p:cxnSp>
        <p:cxnSp>
          <p:nvCxnSpPr>
            <p:cNvPr id="184" name="Google Shape;184;p31"/>
            <p:cNvCxnSpPr/>
            <p:nvPr/>
          </p:nvCxnSpPr>
          <p:spPr>
            <a:xfrm flipH="1">
              <a:off x="5382925" y="2236350"/>
              <a:ext cx="3300" cy="459000"/>
            </a:xfrm>
            <a:prstGeom prst="straightConnector1">
              <a:avLst/>
            </a:prstGeom>
            <a:noFill/>
            <a:ln cap="flat" cmpd="sng" w="28575">
              <a:solidFill>
                <a:srgbClr val="CC0000"/>
              </a:solidFill>
              <a:prstDash val="solid"/>
              <a:round/>
              <a:headEnd len="med" w="med" type="none"/>
              <a:tailEnd len="med" w="med" type="none"/>
            </a:ln>
          </p:spPr>
        </p:cxnSp>
        <p:cxnSp>
          <p:nvCxnSpPr>
            <p:cNvPr id="185" name="Google Shape;185;p31"/>
            <p:cNvCxnSpPr/>
            <p:nvPr/>
          </p:nvCxnSpPr>
          <p:spPr>
            <a:xfrm>
              <a:off x="5375900" y="2695300"/>
              <a:ext cx="855000" cy="0"/>
            </a:xfrm>
            <a:prstGeom prst="straightConnector1">
              <a:avLst/>
            </a:prstGeom>
            <a:noFill/>
            <a:ln cap="flat" cmpd="sng" w="28575">
              <a:solidFill>
                <a:srgbClr val="CC0000"/>
              </a:solidFill>
              <a:prstDash val="solid"/>
              <a:round/>
              <a:headEnd len="med" w="med" type="none"/>
              <a:tailEnd len="med" w="med" type="triangle"/>
            </a:ln>
          </p:spPr>
        </p:cxnSp>
        <p:cxnSp>
          <p:nvCxnSpPr>
            <p:cNvPr id="186" name="Google Shape;186;p31"/>
            <p:cNvCxnSpPr/>
            <p:nvPr/>
          </p:nvCxnSpPr>
          <p:spPr>
            <a:xfrm>
              <a:off x="6549825" y="2785575"/>
              <a:ext cx="90900" cy="3000"/>
            </a:xfrm>
            <a:prstGeom prst="straightConnector1">
              <a:avLst/>
            </a:prstGeom>
            <a:noFill/>
            <a:ln cap="flat" cmpd="sng" w="28575">
              <a:solidFill>
                <a:srgbClr val="0000FF"/>
              </a:solidFill>
              <a:prstDash val="solid"/>
              <a:round/>
              <a:headEnd len="med" w="med" type="none"/>
              <a:tailEnd len="med" w="med" type="none"/>
            </a:ln>
          </p:spPr>
        </p:cxnSp>
        <p:cxnSp>
          <p:nvCxnSpPr>
            <p:cNvPr id="187" name="Google Shape;187;p31"/>
            <p:cNvCxnSpPr/>
            <p:nvPr/>
          </p:nvCxnSpPr>
          <p:spPr>
            <a:xfrm flipH="1">
              <a:off x="6640875" y="2212150"/>
              <a:ext cx="3300" cy="576300"/>
            </a:xfrm>
            <a:prstGeom prst="straightConnector1">
              <a:avLst/>
            </a:prstGeom>
            <a:noFill/>
            <a:ln cap="flat" cmpd="sng" w="28575">
              <a:solidFill>
                <a:srgbClr val="0000FF"/>
              </a:solidFill>
              <a:prstDash val="solid"/>
              <a:round/>
              <a:headEnd len="med" w="med" type="triangle"/>
              <a:tailEnd len="med" w="med" type="none"/>
            </a:ln>
          </p:spPr>
        </p:cxnSp>
        <p:sp>
          <p:nvSpPr>
            <p:cNvPr id="188" name="Google Shape;188;p31"/>
            <p:cNvSpPr/>
            <p:nvPr/>
          </p:nvSpPr>
          <p:spPr>
            <a:xfrm>
              <a:off x="6436625" y="1608450"/>
              <a:ext cx="593400" cy="6072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9" name="Google Shape;189;p31"/>
            <p:cNvCxnSpPr/>
            <p:nvPr/>
          </p:nvCxnSpPr>
          <p:spPr>
            <a:xfrm flipH="1" rot="10800000">
              <a:off x="6849500" y="2387325"/>
              <a:ext cx="2032800" cy="12900"/>
            </a:xfrm>
            <a:prstGeom prst="straightConnector1">
              <a:avLst/>
            </a:prstGeom>
            <a:noFill/>
            <a:ln cap="flat" cmpd="sng" w="28575">
              <a:solidFill>
                <a:srgbClr val="0000FF"/>
              </a:solidFill>
              <a:prstDash val="solid"/>
              <a:round/>
              <a:headEnd len="med" w="med" type="none"/>
              <a:tailEnd len="med" w="med" type="triangle"/>
            </a:ln>
          </p:spPr>
        </p:cxnSp>
        <p:cxnSp>
          <p:nvCxnSpPr>
            <p:cNvPr id="190" name="Google Shape;190;p31"/>
            <p:cNvCxnSpPr/>
            <p:nvPr/>
          </p:nvCxnSpPr>
          <p:spPr>
            <a:xfrm>
              <a:off x="6844875" y="2236350"/>
              <a:ext cx="3000" cy="174300"/>
            </a:xfrm>
            <a:prstGeom prst="straightConnector1">
              <a:avLst/>
            </a:prstGeom>
            <a:noFill/>
            <a:ln cap="flat" cmpd="sng" w="28575">
              <a:solidFill>
                <a:srgbClr val="0000FF"/>
              </a:solidFill>
              <a:prstDash val="solid"/>
              <a:round/>
              <a:headEnd len="med" w="med" type="none"/>
              <a:tailEnd len="med" w="med" type="none"/>
            </a:ln>
          </p:spPr>
        </p:cxnSp>
        <p:sp>
          <p:nvSpPr>
            <p:cNvPr id="191" name="Google Shape;191;p31"/>
            <p:cNvSpPr/>
            <p:nvPr/>
          </p:nvSpPr>
          <p:spPr>
            <a:xfrm>
              <a:off x="1222200" y="5450525"/>
              <a:ext cx="7407600" cy="12558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Cortex M0+</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192" name="Google Shape;192;p31"/>
            <p:cNvSpPr/>
            <p:nvPr/>
          </p:nvSpPr>
          <p:spPr>
            <a:xfrm>
              <a:off x="3822150" y="5850700"/>
              <a:ext cx="2207700" cy="607200"/>
            </a:xfrm>
            <a:prstGeom prst="rect">
              <a:avLst/>
            </a:prstGeom>
            <a:solidFill>
              <a:srgbClr val="FCD7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NVIC</a:t>
              </a:r>
              <a:endParaRPr/>
            </a:p>
          </p:txBody>
        </p:sp>
        <p:cxnSp>
          <p:nvCxnSpPr>
            <p:cNvPr id="193" name="Google Shape;193;p31"/>
            <p:cNvCxnSpPr/>
            <p:nvPr/>
          </p:nvCxnSpPr>
          <p:spPr>
            <a:xfrm>
              <a:off x="8908675" y="2407150"/>
              <a:ext cx="3000" cy="3770400"/>
            </a:xfrm>
            <a:prstGeom prst="straightConnector1">
              <a:avLst/>
            </a:prstGeom>
            <a:noFill/>
            <a:ln cap="flat" cmpd="sng" w="28575">
              <a:solidFill>
                <a:srgbClr val="0000FF"/>
              </a:solidFill>
              <a:prstDash val="solid"/>
              <a:round/>
              <a:headEnd len="med" w="med" type="none"/>
              <a:tailEnd len="med" w="med" type="none"/>
            </a:ln>
          </p:spPr>
        </p:cxnSp>
        <p:cxnSp>
          <p:nvCxnSpPr>
            <p:cNvPr id="194" name="Google Shape;194;p31"/>
            <p:cNvCxnSpPr/>
            <p:nvPr/>
          </p:nvCxnSpPr>
          <p:spPr>
            <a:xfrm>
              <a:off x="6029850" y="6154300"/>
              <a:ext cx="2892000" cy="9300"/>
            </a:xfrm>
            <a:prstGeom prst="straightConnector1">
              <a:avLst/>
            </a:prstGeom>
            <a:noFill/>
            <a:ln cap="flat" cmpd="sng" w="28575">
              <a:solidFill>
                <a:srgbClr val="0000FF"/>
              </a:solidFill>
              <a:prstDash val="solid"/>
              <a:round/>
              <a:headEnd len="med" w="med" type="triangle"/>
              <a:tailEnd len="med" w="med" type="none"/>
            </a:ln>
          </p:spPr>
        </p:cxnSp>
        <p:sp>
          <p:nvSpPr>
            <p:cNvPr id="195" name="Google Shape;195;p31"/>
            <p:cNvSpPr txBox="1"/>
            <p:nvPr/>
          </p:nvSpPr>
          <p:spPr>
            <a:xfrm>
              <a:off x="1153125" y="1145300"/>
              <a:ext cx="1545600" cy="372600"/>
            </a:xfrm>
            <a:prstGeom prst="rect">
              <a:avLst/>
            </a:prstGeom>
            <a:solidFill>
              <a:schemeClr val="lt1"/>
            </a:solidFill>
            <a:ln cap="flat" cmpd="sng" w="9525">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0000"/>
                  </a:solidFill>
                </a:rPr>
                <a:t>EXTI_FTSR1</a:t>
              </a:r>
              <a:endParaRPr sz="1800">
                <a:solidFill>
                  <a:srgbClr val="CC0000"/>
                </a:solidFill>
              </a:endParaRPr>
            </a:p>
          </p:txBody>
        </p:sp>
        <p:sp>
          <p:nvSpPr>
            <p:cNvPr id="196" name="Google Shape;196;p31"/>
            <p:cNvSpPr txBox="1"/>
            <p:nvPr/>
          </p:nvSpPr>
          <p:spPr>
            <a:xfrm>
              <a:off x="4611775" y="1145300"/>
              <a:ext cx="1545600" cy="372600"/>
            </a:xfrm>
            <a:prstGeom prst="rect">
              <a:avLst/>
            </a:prstGeom>
            <a:solidFill>
              <a:schemeClr val="lt1"/>
            </a:solidFill>
            <a:ln cap="flat" cmpd="sng" w="9525">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0000"/>
                  </a:solidFill>
                </a:rPr>
                <a:t>EXTI_IMR1</a:t>
              </a:r>
              <a:endParaRPr sz="1800">
                <a:solidFill>
                  <a:srgbClr val="CC0000"/>
                </a:solidFill>
              </a:endParaRPr>
            </a:p>
          </p:txBody>
        </p:sp>
        <p:sp>
          <p:nvSpPr>
            <p:cNvPr id="197" name="Google Shape;197;p31"/>
            <p:cNvSpPr txBox="1"/>
            <p:nvPr/>
          </p:nvSpPr>
          <p:spPr>
            <a:xfrm>
              <a:off x="7093100" y="1725750"/>
              <a:ext cx="1545600" cy="372600"/>
            </a:xfrm>
            <a:prstGeom prst="rect">
              <a:avLst/>
            </a:prstGeom>
            <a:solidFill>
              <a:schemeClr val="lt1"/>
            </a:solidFill>
            <a:ln cap="flat" cmpd="sng" w="9525">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0000"/>
                  </a:solidFill>
                </a:rPr>
                <a:t>EXTI_FPR1</a:t>
              </a:r>
              <a:endParaRPr sz="1800">
                <a:solidFill>
                  <a:srgbClr val="CC0000"/>
                </a:solidFill>
              </a:endParaRPr>
            </a:p>
          </p:txBody>
        </p:sp>
        <p:sp>
          <p:nvSpPr>
            <p:cNvPr id="198" name="Google Shape;198;p31"/>
            <p:cNvSpPr/>
            <p:nvPr/>
          </p:nvSpPr>
          <p:spPr>
            <a:xfrm>
              <a:off x="1387700" y="3429000"/>
              <a:ext cx="3224100" cy="13455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31"/>
            <p:cNvSpPr/>
            <p:nvPr/>
          </p:nvSpPr>
          <p:spPr>
            <a:xfrm>
              <a:off x="4611775" y="3032750"/>
              <a:ext cx="3948000" cy="20352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31"/>
            <p:cNvSpPr/>
            <p:nvPr/>
          </p:nvSpPr>
          <p:spPr>
            <a:xfrm>
              <a:off x="6769850" y="2478200"/>
              <a:ext cx="1789800" cy="6072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31"/>
            <p:cNvSpPr txBox="1"/>
            <p:nvPr/>
          </p:nvSpPr>
          <p:spPr>
            <a:xfrm>
              <a:off x="8219900" y="3847425"/>
              <a:ext cx="593400" cy="372600"/>
            </a:xfrm>
            <a:prstGeom prst="rect">
              <a:avLst/>
            </a:prstGeom>
            <a:solidFill>
              <a:srgbClr val="0000E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IRQ</a:t>
              </a:r>
              <a:endParaRPr sz="1800">
                <a:solidFill>
                  <a:schemeClr val="lt1"/>
                </a:solidFill>
              </a:endParaRPr>
            </a:p>
          </p:txBody>
        </p:sp>
        <p:sp>
          <p:nvSpPr>
            <p:cNvPr id="202" name="Google Shape;202;p31"/>
            <p:cNvSpPr/>
            <p:nvPr/>
          </p:nvSpPr>
          <p:spPr>
            <a:xfrm rot="5400000">
              <a:off x="968600" y="2734200"/>
              <a:ext cx="1042200" cy="315600"/>
            </a:xfrm>
            <a:prstGeom prst="trapezoid">
              <a:avLst>
                <a:gd fmla="val 2500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203" name="Google Shape;203;p31"/>
            <p:cNvSpPr/>
            <p:nvPr/>
          </p:nvSpPr>
          <p:spPr>
            <a:xfrm>
              <a:off x="734525" y="2580375"/>
              <a:ext cx="510900" cy="576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31"/>
            <p:cNvSpPr/>
            <p:nvPr/>
          </p:nvSpPr>
          <p:spPr>
            <a:xfrm>
              <a:off x="132025" y="2588400"/>
              <a:ext cx="792000" cy="607200"/>
            </a:xfrm>
            <a:prstGeom prst="rect">
              <a:avLst/>
            </a:prstGeom>
            <a:solidFill>
              <a:srgbClr val="CFE2F3"/>
            </a:solidFill>
            <a:ln cap="flat" cmpd="sng" w="28575">
              <a:solidFill>
                <a:srgbClr val="0000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Button Press</a:t>
              </a:r>
              <a:endParaRPr/>
            </a:p>
          </p:txBody>
        </p:sp>
        <p:cxnSp>
          <p:nvCxnSpPr>
            <p:cNvPr id="205" name="Google Shape;205;p31"/>
            <p:cNvCxnSpPr>
              <a:stCxn id="204" idx="3"/>
              <a:endCxn id="202" idx="2"/>
            </p:cNvCxnSpPr>
            <p:nvPr/>
          </p:nvCxnSpPr>
          <p:spPr>
            <a:xfrm>
              <a:off x="924025" y="2892000"/>
              <a:ext cx="408000" cy="0"/>
            </a:xfrm>
            <a:prstGeom prst="straightConnector1">
              <a:avLst/>
            </a:prstGeom>
            <a:noFill/>
            <a:ln cap="flat" cmpd="sng" w="28575">
              <a:solidFill>
                <a:srgbClr val="0000FF"/>
              </a:solidFill>
              <a:prstDash val="solid"/>
              <a:round/>
              <a:headEnd len="med" w="med" type="none"/>
              <a:tailEnd len="med" w="med" type="triangle"/>
            </a:ln>
          </p:spPr>
        </p:cxnSp>
        <p:sp>
          <p:nvSpPr>
            <p:cNvPr id="206" name="Google Shape;206;p31"/>
            <p:cNvSpPr txBox="1"/>
            <p:nvPr/>
          </p:nvSpPr>
          <p:spPr>
            <a:xfrm rot="-5400000">
              <a:off x="937700" y="2670050"/>
              <a:ext cx="101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multiplexer</a:t>
              </a:r>
              <a:endParaRPr sz="1200">
                <a:solidFill>
                  <a:schemeClr val="dk1"/>
                </a:solidFill>
              </a:endParaRPr>
            </a:p>
          </p:txBody>
        </p:sp>
        <p:sp>
          <p:nvSpPr>
            <p:cNvPr id="207" name="Google Shape;207;p31"/>
            <p:cNvSpPr txBox="1"/>
            <p:nvPr/>
          </p:nvSpPr>
          <p:spPr>
            <a:xfrm>
              <a:off x="734525" y="3568350"/>
              <a:ext cx="1845900" cy="372600"/>
            </a:xfrm>
            <a:prstGeom prst="rect">
              <a:avLst/>
            </a:prstGeom>
            <a:solidFill>
              <a:schemeClr val="lt1"/>
            </a:solidFill>
            <a:ln cap="flat" cmpd="sng" w="9525">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C0000"/>
                  </a:solidFill>
                </a:rPr>
                <a:t>EXTI_EXTICRx</a:t>
              </a:r>
              <a:endParaRPr sz="1800">
                <a:solidFill>
                  <a:srgbClr val="CC0000"/>
                </a:solidFill>
              </a:endParaRPr>
            </a:p>
          </p:txBody>
        </p:sp>
        <p:sp>
          <p:nvSpPr>
            <p:cNvPr id="208" name="Google Shape;208;p31"/>
            <p:cNvSpPr/>
            <p:nvPr/>
          </p:nvSpPr>
          <p:spPr>
            <a:xfrm>
              <a:off x="1766250" y="2594175"/>
              <a:ext cx="1545600" cy="576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9" name="Google Shape;209;p31"/>
            <p:cNvCxnSpPr>
              <a:endCxn id="206" idx="2"/>
            </p:cNvCxnSpPr>
            <p:nvPr/>
          </p:nvCxnSpPr>
          <p:spPr>
            <a:xfrm rot="10800000">
              <a:off x="1632200" y="2854700"/>
              <a:ext cx="101700" cy="27000"/>
            </a:xfrm>
            <a:prstGeom prst="straightConnector1">
              <a:avLst/>
            </a:prstGeom>
            <a:noFill/>
            <a:ln cap="flat" cmpd="sng" w="28575">
              <a:solidFill>
                <a:srgbClr val="0000FF"/>
              </a:solidFill>
              <a:prstDash val="solid"/>
              <a:round/>
              <a:headEnd len="med" w="med" type="none"/>
              <a:tailEnd len="med" w="med" type="triangle"/>
            </a:ln>
          </p:spPr>
        </p:cxnSp>
      </p:grpSp>
      <p:sp>
        <p:nvSpPr>
          <p:cNvPr id="210" name="Google Shape;210;p31"/>
          <p:cNvSpPr/>
          <p:nvPr/>
        </p:nvSpPr>
        <p:spPr>
          <a:xfrm>
            <a:off x="3337725" y="2331725"/>
            <a:ext cx="1942800" cy="19971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1" name="Google Shape;211;p31"/>
          <p:cNvCxnSpPr/>
          <p:nvPr/>
        </p:nvCxnSpPr>
        <p:spPr>
          <a:xfrm>
            <a:off x="3309775" y="2871200"/>
            <a:ext cx="2021400" cy="6900"/>
          </a:xfrm>
          <a:prstGeom prst="straightConnector1">
            <a:avLst/>
          </a:prstGeom>
          <a:noFill/>
          <a:ln cap="flat" cmpd="sng" w="28575">
            <a:solidFill>
              <a:srgbClr val="0000FF"/>
            </a:solidFill>
            <a:prstDash val="solid"/>
            <a:round/>
            <a:headEnd len="med" w="med" type="none"/>
            <a:tailEnd len="med" w="med" type="none"/>
          </a:ln>
        </p:spPr>
      </p:cxnSp>
      <p:sp>
        <p:nvSpPr>
          <p:cNvPr id="212" name="Google Shape;212;p31"/>
          <p:cNvSpPr/>
          <p:nvPr/>
        </p:nvSpPr>
        <p:spPr>
          <a:xfrm>
            <a:off x="2736350" y="3196775"/>
            <a:ext cx="655800" cy="10380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31"/>
          <p:cNvSpPr/>
          <p:nvPr/>
        </p:nvSpPr>
        <p:spPr>
          <a:xfrm>
            <a:off x="5026725" y="2910000"/>
            <a:ext cx="655800" cy="10380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31"/>
          <p:cNvSpPr/>
          <p:nvPr/>
        </p:nvSpPr>
        <p:spPr>
          <a:xfrm>
            <a:off x="2205125" y="1549450"/>
            <a:ext cx="1392600" cy="10188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31"/>
          <p:cNvSpPr/>
          <p:nvPr/>
        </p:nvSpPr>
        <p:spPr>
          <a:xfrm>
            <a:off x="3624175" y="1578500"/>
            <a:ext cx="1392600" cy="1018800"/>
          </a:xfrm>
          <a:prstGeom prst="rect">
            <a:avLst/>
          </a:prstGeom>
          <a:solidFill>
            <a:srgbClr val="FFFFFF">
              <a:alpha val="8037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173725" y="248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EXTI GPIO Multiplexer</a:t>
            </a:r>
            <a:endParaRPr/>
          </a:p>
        </p:txBody>
      </p:sp>
      <p:pic>
        <p:nvPicPr>
          <p:cNvPr id="221" name="Google Shape;221;p32"/>
          <p:cNvPicPr preferRelativeResize="0"/>
          <p:nvPr/>
        </p:nvPicPr>
        <p:blipFill>
          <a:blip r:embed="rId3">
            <a:alphaModFix/>
          </a:blip>
          <a:stretch>
            <a:fillRect/>
          </a:stretch>
        </p:blipFill>
        <p:spPr>
          <a:xfrm>
            <a:off x="6486675" y="124176"/>
            <a:ext cx="2540050" cy="2722350"/>
          </a:xfrm>
          <a:prstGeom prst="rect">
            <a:avLst/>
          </a:prstGeom>
          <a:noFill/>
          <a:ln>
            <a:noFill/>
          </a:ln>
        </p:spPr>
      </p:pic>
      <p:pic>
        <p:nvPicPr>
          <p:cNvPr id="222" name="Google Shape;222;p32"/>
          <p:cNvPicPr preferRelativeResize="0"/>
          <p:nvPr/>
        </p:nvPicPr>
        <p:blipFill>
          <a:blip r:embed="rId4">
            <a:alphaModFix/>
          </a:blip>
          <a:stretch>
            <a:fillRect/>
          </a:stretch>
        </p:blipFill>
        <p:spPr>
          <a:xfrm>
            <a:off x="311726" y="1155113"/>
            <a:ext cx="6125602" cy="2423375"/>
          </a:xfrm>
          <a:prstGeom prst="rect">
            <a:avLst/>
          </a:prstGeom>
          <a:noFill/>
          <a:ln>
            <a:noFill/>
          </a:ln>
        </p:spPr>
      </p:pic>
      <p:sp>
        <p:nvSpPr>
          <p:cNvPr id="223" name="Google Shape;223;p32"/>
          <p:cNvSpPr/>
          <p:nvPr/>
        </p:nvSpPr>
        <p:spPr>
          <a:xfrm>
            <a:off x="7480175" y="910725"/>
            <a:ext cx="593400" cy="1628400"/>
          </a:xfrm>
          <a:prstGeom prst="ellipse">
            <a:avLst/>
          </a:prstGeom>
          <a:noFill/>
          <a:ln cap="flat" cmpd="sng" w="762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32"/>
          <p:cNvSpPr txBox="1"/>
          <p:nvPr/>
        </p:nvSpPr>
        <p:spPr>
          <a:xfrm>
            <a:off x="311725" y="3970100"/>
            <a:ext cx="83826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The nth pins of every GPIO port are multiplexed to a single external interrupt line, EXTIn, which is passed into the NVIC.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BUT: these 16 EXTI lines share only three interrupt vectors: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EXTI0 and EXTI1 are IRQ5, priority 12</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EXTI2 and EXTI3 are IRQ6, priority 13</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EXTI4 … EXTI15 are IRQ7, priority 14</a:t>
            </a:r>
            <a:endParaRPr sz="18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rPr lang="en" sz="1800">
                <a:solidFill>
                  <a:schemeClr val="dk2"/>
                </a:solidFill>
              </a:rPr>
              <a:t>Note: The lower the priority number, the higher the priority of the interrupt.</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33"/>
          <p:cNvPicPr preferRelativeResize="0"/>
          <p:nvPr/>
        </p:nvPicPr>
        <p:blipFill rotWithShape="1">
          <a:blip r:embed="rId3">
            <a:alphaModFix/>
          </a:blip>
          <a:srcRect b="5310" l="6030" r="4235" t="25188"/>
          <a:stretch/>
        </p:blipFill>
        <p:spPr>
          <a:xfrm>
            <a:off x="94150" y="1349975"/>
            <a:ext cx="8204651" cy="3372375"/>
          </a:xfrm>
          <a:prstGeom prst="rect">
            <a:avLst/>
          </a:prstGeom>
          <a:noFill/>
          <a:ln>
            <a:noFill/>
          </a:ln>
        </p:spPr>
      </p:pic>
      <p:sp>
        <p:nvSpPr>
          <p:cNvPr id="230" name="Google Shape;230;p33"/>
          <p:cNvSpPr/>
          <p:nvPr/>
        </p:nvSpPr>
        <p:spPr>
          <a:xfrm>
            <a:off x="7611275" y="4519875"/>
            <a:ext cx="847500" cy="345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33"/>
          <p:cNvSpPr/>
          <p:nvPr/>
        </p:nvSpPr>
        <p:spPr>
          <a:xfrm>
            <a:off x="7611275" y="2985475"/>
            <a:ext cx="847500" cy="345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33"/>
          <p:cNvSpPr txBox="1"/>
          <p:nvPr>
            <p:ph type="title"/>
          </p:nvPr>
        </p:nvSpPr>
        <p:spPr>
          <a:xfrm>
            <a:off x="311700" y="187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a button with pull-up enabled</a:t>
            </a:r>
            <a:endParaRPr/>
          </a:p>
        </p:txBody>
      </p:sp>
      <p:sp>
        <p:nvSpPr>
          <p:cNvPr id="233" name="Google Shape;233;p33"/>
          <p:cNvSpPr/>
          <p:nvPr/>
        </p:nvSpPr>
        <p:spPr>
          <a:xfrm>
            <a:off x="1965200" y="1276825"/>
            <a:ext cx="260700" cy="1341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3"/>
          <p:cNvSpPr/>
          <p:nvPr/>
        </p:nvSpPr>
        <p:spPr>
          <a:xfrm>
            <a:off x="7366525" y="3042725"/>
            <a:ext cx="180900" cy="2046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5" name="Google Shape;235;p33"/>
          <p:cNvCxnSpPr/>
          <p:nvPr/>
        </p:nvCxnSpPr>
        <p:spPr>
          <a:xfrm flipH="1">
            <a:off x="6164550" y="2009650"/>
            <a:ext cx="6600" cy="1141500"/>
          </a:xfrm>
          <a:prstGeom prst="straightConnector1">
            <a:avLst/>
          </a:prstGeom>
          <a:noFill/>
          <a:ln cap="flat" cmpd="sng" w="38100">
            <a:solidFill>
              <a:srgbClr val="0000FF"/>
            </a:solidFill>
            <a:prstDash val="solid"/>
            <a:round/>
            <a:headEnd len="med" w="med" type="none"/>
            <a:tailEnd len="med" w="med" type="none"/>
          </a:ln>
        </p:spPr>
      </p:cxnSp>
      <p:cxnSp>
        <p:nvCxnSpPr>
          <p:cNvPr id="236" name="Google Shape;236;p33"/>
          <p:cNvCxnSpPr/>
          <p:nvPr/>
        </p:nvCxnSpPr>
        <p:spPr>
          <a:xfrm flipH="1">
            <a:off x="2232225" y="2006375"/>
            <a:ext cx="3932400" cy="6600"/>
          </a:xfrm>
          <a:prstGeom prst="straightConnector1">
            <a:avLst/>
          </a:prstGeom>
          <a:noFill/>
          <a:ln cap="flat" cmpd="sng" w="38100">
            <a:solidFill>
              <a:srgbClr val="0000FF"/>
            </a:solidFill>
            <a:prstDash val="solid"/>
            <a:round/>
            <a:headEnd len="med" w="med" type="none"/>
            <a:tailEnd len="med" w="med" type="none"/>
          </a:ln>
        </p:spPr>
      </p:cxnSp>
      <p:cxnSp>
        <p:nvCxnSpPr>
          <p:cNvPr id="237" name="Google Shape;237;p33"/>
          <p:cNvCxnSpPr/>
          <p:nvPr/>
        </p:nvCxnSpPr>
        <p:spPr>
          <a:xfrm rot="10800000">
            <a:off x="383975" y="1827150"/>
            <a:ext cx="1593900" cy="9600"/>
          </a:xfrm>
          <a:prstGeom prst="straightConnector1">
            <a:avLst/>
          </a:prstGeom>
          <a:noFill/>
          <a:ln cap="flat" cmpd="sng" w="38100">
            <a:solidFill>
              <a:srgbClr val="0000FF"/>
            </a:solidFill>
            <a:prstDash val="solid"/>
            <a:round/>
            <a:headEnd len="med" w="med" type="none"/>
            <a:tailEnd len="med" w="med" type="stealth"/>
          </a:ln>
        </p:spPr>
      </p:cxnSp>
      <p:sp>
        <p:nvSpPr>
          <p:cNvPr id="238" name="Google Shape;238;p33"/>
          <p:cNvSpPr/>
          <p:nvPr/>
        </p:nvSpPr>
        <p:spPr>
          <a:xfrm>
            <a:off x="6241750" y="2031338"/>
            <a:ext cx="982200" cy="1044900"/>
          </a:xfrm>
          <a:prstGeom prst="roundRect">
            <a:avLst>
              <a:gd fmla="val 16667" name="adj"/>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3"/>
          <p:cNvSpPr txBox="1"/>
          <p:nvPr/>
        </p:nvSpPr>
        <p:spPr>
          <a:xfrm>
            <a:off x="6088075" y="749126"/>
            <a:ext cx="2041500" cy="1141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38761D"/>
                </a:solidFill>
              </a:rPr>
              <a:t>Internal pullup pulls pin high when switch is open</a:t>
            </a:r>
            <a:endParaRPr i="1" sz="1800">
              <a:solidFill>
                <a:srgbClr val="38761D"/>
              </a:solidFill>
            </a:endParaRPr>
          </a:p>
        </p:txBody>
      </p:sp>
      <p:cxnSp>
        <p:nvCxnSpPr>
          <p:cNvPr id="240" name="Google Shape;240;p33"/>
          <p:cNvCxnSpPr/>
          <p:nvPr/>
        </p:nvCxnSpPr>
        <p:spPr>
          <a:xfrm rot="10800000">
            <a:off x="7672650" y="4041550"/>
            <a:ext cx="219900" cy="468900"/>
          </a:xfrm>
          <a:prstGeom prst="straightConnector1">
            <a:avLst/>
          </a:prstGeom>
          <a:noFill/>
          <a:ln cap="flat" cmpd="sng" w="28575">
            <a:solidFill>
              <a:srgbClr val="0000FF"/>
            </a:solidFill>
            <a:prstDash val="solid"/>
            <a:round/>
            <a:headEnd len="med" w="med" type="none"/>
            <a:tailEnd len="med" w="med" type="triangle"/>
          </a:ln>
        </p:spPr>
      </p:cxnSp>
      <p:cxnSp>
        <p:nvCxnSpPr>
          <p:cNvPr id="241" name="Google Shape;241;p33"/>
          <p:cNvCxnSpPr/>
          <p:nvPr/>
        </p:nvCxnSpPr>
        <p:spPr>
          <a:xfrm rot="10800000">
            <a:off x="7547500" y="3145025"/>
            <a:ext cx="822000" cy="1200"/>
          </a:xfrm>
          <a:prstGeom prst="straightConnector1">
            <a:avLst/>
          </a:prstGeom>
          <a:noFill/>
          <a:ln cap="flat" cmpd="sng" w="28575">
            <a:solidFill>
              <a:srgbClr val="0000FF"/>
            </a:solidFill>
            <a:prstDash val="solid"/>
            <a:round/>
            <a:headEnd len="med" w="med" type="none"/>
            <a:tailEnd len="med" w="med" type="none"/>
          </a:ln>
        </p:spPr>
      </p:cxnSp>
      <p:cxnSp>
        <p:nvCxnSpPr>
          <p:cNvPr id="242" name="Google Shape;242;p33"/>
          <p:cNvCxnSpPr/>
          <p:nvPr/>
        </p:nvCxnSpPr>
        <p:spPr>
          <a:xfrm>
            <a:off x="7883700" y="3160725"/>
            <a:ext cx="9000" cy="860400"/>
          </a:xfrm>
          <a:prstGeom prst="straightConnector1">
            <a:avLst/>
          </a:prstGeom>
          <a:noFill/>
          <a:ln cap="flat" cmpd="sng" w="28575">
            <a:solidFill>
              <a:srgbClr val="0000FF"/>
            </a:solidFill>
            <a:prstDash val="solid"/>
            <a:round/>
            <a:headEnd len="med" w="med" type="none"/>
            <a:tailEnd len="med" w="med" type="none"/>
          </a:ln>
        </p:spPr>
      </p:cxnSp>
      <p:cxnSp>
        <p:nvCxnSpPr>
          <p:cNvPr id="243" name="Google Shape;243;p33"/>
          <p:cNvCxnSpPr/>
          <p:nvPr/>
        </p:nvCxnSpPr>
        <p:spPr>
          <a:xfrm>
            <a:off x="7892550" y="4460650"/>
            <a:ext cx="0" cy="908700"/>
          </a:xfrm>
          <a:prstGeom prst="straightConnector1">
            <a:avLst/>
          </a:prstGeom>
          <a:noFill/>
          <a:ln cap="flat" cmpd="sng" w="28575">
            <a:solidFill>
              <a:srgbClr val="0000FF"/>
            </a:solidFill>
            <a:prstDash val="solid"/>
            <a:round/>
            <a:headEnd len="med" w="med" type="none"/>
            <a:tailEnd len="med" w="med" type="none"/>
          </a:ln>
        </p:spPr>
      </p:cxnSp>
      <p:sp>
        <p:nvSpPr>
          <p:cNvPr id="244" name="Google Shape;244;p33"/>
          <p:cNvSpPr/>
          <p:nvPr/>
        </p:nvSpPr>
        <p:spPr>
          <a:xfrm>
            <a:off x="7784125" y="5354525"/>
            <a:ext cx="219900" cy="190184"/>
          </a:xfrm>
          <a:prstGeom prst="flowChartMerge">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33"/>
          <p:cNvCxnSpPr>
            <a:endCxn id="246" idx="0"/>
          </p:cNvCxnSpPr>
          <p:nvPr/>
        </p:nvCxnSpPr>
        <p:spPr>
          <a:xfrm>
            <a:off x="8364025" y="4078775"/>
            <a:ext cx="0" cy="1292400"/>
          </a:xfrm>
          <a:prstGeom prst="straightConnector1">
            <a:avLst/>
          </a:prstGeom>
          <a:noFill/>
          <a:ln cap="flat" cmpd="sng" w="28575">
            <a:solidFill>
              <a:srgbClr val="9900FF"/>
            </a:solidFill>
            <a:prstDash val="solid"/>
            <a:round/>
            <a:headEnd len="med" w="med" type="none"/>
            <a:tailEnd len="med" w="med" type="none"/>
          </a:ln>
        </p:spPr>
      </p:cxnSp>
      <p:sp>
        <p:nvSpPr>
          <p:cNvPr id="246" name="Google Shape;246;p33"/>
          <p:cNvSpPr/>
          <p:nvPr/>
        </p:nvSpPr>
        <p:spPr>
          <a:xfrm>
            <a:off x="8254075" y="5371175"/>
            <a:ext cx="219900" cy="190184"/>
          </a:xfrm>
          <a:prstGeom prst="flowChartMerge">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 name="Google Shape;247;p33"/>
          <p:cNvCxnSpPr/>
          <p:nvPr/>
        </p:nvCxnSpPr>
        <p:spPr>
          <a:xfrm>
            <a:off x="8129575" y="4084475"/>
            <a:ext cx="468900" cy="0"/>
          </a:xfrm>
          <a:prstGeom prst="straightConnector1">
            <a:avLst/>
          </a:prstGeom>
          <a:noFill/>
          <a:ln cap="flat" cmpd="sng" w="28575">
            <a:solidFill>
              <a:srgbClr val="9900FF"/>
            </a:solidFill>
            <a:prstDash val="solid"/>
            <a:round/>
            <a:headEnd len="med" w="med" type="none"/>
            <a:tailEnd len="med" w="med" type="none"/>
          </a:ln>
        </p:spPr>
      </p:cxnSp>
      <p:cxnSp>
        <p:nvCxnSpPr>
          <p:cNvPr id="248" name="Google Shape;248;p33"/>
          <p:cNvCxnSpPr/>
          <p:nvPr/>
        </p:nvCxnSpPr>
        <p:spPr>
          <a:xfrm>
            <a:off x="8129575" y="3925325"/>
            <a:ext cx="468900" cy="0"/>
          </a:xfrm>
          <a:prstGeom prst="straightConnector1">
            <a:avLst/>
          </a:prstGeom>
          <a:noFill/>
          <a:ln cap="flat" cmpd="sng" w="28575">
            <a:solidFill>
              <a:srgbClr val="9900FF"/>
            </a:solidFill>
            <a:prstDash val="solid"/>
            <a:round/>
            <a:headEnd len="med" w="med" type="none"/>
            <a:tailEnd len="med" w="med" type="none"/>
          </a:ln>
        </p:spPr>
      </p:cxnSp>
      <p:cxnSp>
        <p:nvCxnSpPr>
          <p:cNvPr id="249" name="Google Shape;249;p33"/>
          <p:cNvCxnSpPr/>
          <p:nvPr/>
        </p:nvCxnSpPr>
        <p:spPr>
          <a:xfrm rot="10800000">
            <a:off x="8355625" y="3156475"/>
            <a:ext cx="8400" cy="773400"/>
          </a:xfrm>
          <a:prstGeom prst="straightConnector1">
            <a:avLst/>
          </a:prstGeom>
          <a:noFill/>
          <a:ln cap="flat" cmpd="sng" w="28575">
            <a:solidFill>
              <a:srgbClr val="9900FF"/>
            </a:solidFill>
            <a:prstDash val="solid"/>
            <a:round/>
            <a:headEnd len="med" w="med" type="none"/>
            <a:tailEnd len="med" w="med" type="none"/>
          </a:ln>
        </p:spPr>
      </p:cxnSp>
      <p:sp>
        <p:nvSpPr>
          <p:cNvPr id="250" name="Google Shape;250;p33"/>
          <p:cNvSpPr txBox="1"/>
          <p:nvPr/>
        </p:nvSpPr>
        <p:spPr>
          <a:xfrm>
            <a:off x="7672650" y="2405775"/>
            <a:ext cx="1182000" cy="601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9900FF"/>
                </a:solidFill>
              </a:rPr>
              <a:t>Debouncing capacitor</a:t>
            </a:r>
            <a:endParaRPr i="1">
              <a:solidFill>
                <a:srgbClr val="9900FF"/>
              </a:solidFill>
            </a:endParaRPr>
          </a:p>
        </p:txBody>
      </p:sp>
      <p:sp>
        <p:nvSpPr>
          <p:cNvPr id="251" name="Google Shape;251;p33"/>
          <p:cNvSpPr/>
          <p:nvPr/>
        </p:nvSpPr>
        <p:spPr>
          <a:xfrm>
            <a:off x="6252975" y="3160725"/>
            <a:ext cx="1049700" cy="90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2" name="Google Shape;252;p33"/>
          <p:cNvCxnSpPr/>
          <p:nvPr/>
        </p:nvCxnSpPr>
        <p:spPr>
          <a:xfrm flipH="1">
            <a:off x="6184525" y="3140525"/>
            <a:ext cx="1182000" cy="9000"/>
          </a:xfrm>
          <a:prstGeom prst="straightConnector1">
            <a:avLst/>
          </a:prstGeom>
          <a:noFill/>
          <a:ln cap="flat" cmpd="sng" w="38100">
            <a:solidFill>
              <a:srgbClr val="0000FF"/>
            </a:solidFill>
            <a:prstDash val="solid"/>
            <a:round/>
            <a:headEnd len="med" w="med" type="none"/>
            <a:tailEnd len="med" w="med" type="stealth"/>
          </a:ln>
        </p:spPr>
      </p:cxnSp>
      <p:sp>
        <p:nvSpPr>
          <p:cNvPr id="253" name="Google Shape;253;p33"/>
          <p:cNvSpPr txBox="1"/>
          <p:nvPr/>
        </p:nvSpPr>
        <p:spPr>
          <a:xfrm>
            <a:off x="344975" y="5146950"/>
            <a:ext cx="50394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Pin is high when button is open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Pin is low when button is pressed</a:t>
            </a:r>
            <a:endParaRPr sz="1800">
              <a:solidFill>
                <a:schemeClr val="dk2"/>
              </a:solidFill>
            </a:endParaRPr>
          </a:p>
          <a:p>
            <a:pPr indent="0" lvl="0" marL="0" rtl="0" algn="l">
              <a:spcBef>
                <a:spcPts val="0"/>
              </a:spcBef>
              <a:spcAft>
                <a:spcPts val="0"/>
              </a:spcAft>
              <a:buNone/>
            </a:pPr>
            <a:r>
              <a:rPr lang="en" sz="1800">
                <a:solidFill>
                  <a:srgbClr val="9900FF"/>
                </a:solidFill>
              </a:rPr>
              <a:t>To detect a button press, look for a falling edge.</a:t>
            </a:r>
            <a:endParaRPr sz="1800">
              <a:solidFill>
                <a:srgbClr val="9900FF"/>
              </a:solidFill>
            </a:endParaRPr>
          </a:p>
        </p:txBody>
      </p:sp>
      <p:pic>
        <p:nvPicPr>
          <p:cNvPr id="254" name="Google Shape;254;p33"/>
          <p:cNvPicPr preferRelativeResize="0"/>
          <p:nvPr/>
        </p:nvPicPr>
        <p:blipFill rotWithShape="1">
          <a:blip r:embed="rId4">
            <a:alphaModFix/>
          </a:blip>
          <a:srcRect b="44006" l="4049" r="59306" t="16612"/>
          <a:stretch/>
        </p:blipFill>
        <p:spPr>
          <a:xfrm>
            <a:off x="5565550" y="5021250"/>
            <a:ext cx="1593900" cy="1141500"/>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ph type="title"/>
          </p:nvPr>
        </p:nvSpPr>
        <p:spPr>
          <a:xfrm>
            <a:off x="195000" y="303600"/>
            <a:ext cx="8754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need to do to program a pushbutton interrupt</a:t>
            </a:r>
            <a:endParaRPr/>
          </a:p>
        </p:txBody>
      </p:sp>
      <p:sp>
        <p:nvSpPr>
          <p:cNvPr id="260" name="Google Shape;260;p3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assume the button is on PB4.</a:t>
            </a:r>
            <a:endParaRPr/>
          </a:p>
          <a:p>
            <a:pPr indent="-342900" lvl="0" marL="457200" rtl="0" algn="l">
              <a:spcBef>
                <a:spcPts val="1600"/>
              </a:spcBef>
              <a:spcAft>
                <a:spcPts val="0"/>
              </a:spcAft>
              <a:buSzPts val="1800"/>
              <a:buChar char="●"/>
            </a:pPr>
            <a:r>
              <a:rPr lang="en"/>
              <a:t>Configure PB4 as an input pin with pullup as per usual.✅</a:t>
            </a:r>
            <a:endParaRPr/>
          </a:p>
          <a:p>
            <a:pPr indent="-342900" lvl="0" marL="457200" rtl="0" algn="l">
              <a:spcBef>
                <a:spcPts val="0"/>
              </a:spcBef>
              <a:spcAft>
                <a:spcPts val="0"/>
              </a:spcAft>
              <a:buSzPts val="1800"/>
              <a:buChar char="●"/>
            </a:pPr>
            <a:r>
              <a:rPr lang="en"/>
              <a:t>Tell the EXTI multiplexer (via EXTI_EXTICRx) which of the 16 EXTI lines to enable: Line EXTI4, in particular port B. </a:t>
            </a:r>
            <a:endParaRPr/>
          </a:p>
          <a:p>
            <a:pPr indent="-342900" lvl="0" marL="457200" rtl="0" algn="l">
              <a:spcBef>
                <a:spcPts val="0"/>
              </a:spcBef>
              <a:spcAft>
                <a:spcPts val="0"/>
              </a:spcAft>
              <a:buSzPts val="1800"/>
              <a:buChar char="●"/>
            </a:pPr>
            <a:r>
              <a:rPr lang="en"/>
              <a:t>Tell the EXTI that we are looking for a falling edge on line EXTI4 (via EXTI_FTSR1).</a:t>
            </a:r>
            <a:endParaRPr/>
          </a:p>
          <a:p>
            <a:pPr indent="-342900" lvl="0" marL="457200" rtl="0" algn="l">
              <a:spcBef>
                <a:spcPts val="0"/>
              </a:spcBef>
              <a:spcAft>
                <a:spcPts val="0"/>
              </a:spcAft>
              <a:buSzPts val="1800"/>
              <a:buChar char="●"/>
            </a:pPr>
            <a:r>
              <a:rPr lang="en"/>
              <a:t>Tell the EXTI to unmask line EXTI4 so that events are actually noticed (via EXTI_IMR1).</a:t>
            </a:r>
            <a:endParaRPr/>
          </a:p>
          <a:p>
            <a:pPr indent="-342900" lvl="0" marL="457200" rtl="0" algn="l">
              <a:spcBef>
                <a:spcPts val="0"/>
              </a:spcBef>
              <a:spcAft>
                <a:spcPts val="0"/>
              </a:spcAft>
              <a:buSzPts val="1800"/>
              <a:buChar char="●"/>
            </a:pPr>
            <a:r>
              <a:rPr lang="en"/>
              <a:t>Tell the NVIC to enable interrupts on line EXTI4 (via NVIC_EnableIRQ() - a function provided to us).</a:t>
            </a:r>
            <a:endParaRPr/>
          </a:p>
        </p:txBody>
      </p:sp>
      <p:sp>
        <p:nvSpPr>
          <p:cNvPr id="261" name="Google Shape;261;p34"/>
          <p:cNvSpPr/>
          <p:nvPr/>
        </p:nvSpPr>
        <p:spPr>
          <a:xfrm>
            <a:off x="419225" y="2418575"/>
            <a:ext cx="8212500" cy="645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311700" y="165580"/>
            <a:ext cx="8520600" cy="11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multiplexer to enable Port B on line EXTI</a:t>
            </a:r>
            <a:r>
              <a:rPr lang="en">
                <a:solidFill>
                  <a:srgbClr val="0000E6"/>
                </a:solidFill>
              </a:rPr>
              <a:t>4: </a:t>
            </a:r>
            <a:r>
              <a:rPr lang="en"/>
              <a:t>Register </a:t>
            </a:r>
            <a:r>
              <a:rPr b="1" lang="en"/>
              <a:t>EXTI_EXTICRx</a:t>
            </a:r>
            <a:r>
              <a:rPr lang="en"/>
              <a:t> </a:t>
            </a:r>
            <a:endParaRPr>
              <a:solidFill>
                <a:srgbClr val="0000E6"/>
              </a:solidFill>
            </a:endParaRPr>
          </a:p>
        </p:txBody>
      </p:sp>
      <p:grpSp>
        <p:nvGrpSpPr>
          <p:cNvPr id="267" name="Google Shape;267;p35"/>
          <p:cNvGrpSpPr/>
          <p:nvPr/>
        </p:nvGrpSpPr>
        <p:grpSpPr>
          <a:xfrm>
            <a:off x="304800" y="1269425"/>
            <a:ext cx="8418124" cy="2601950"/>
            <a:chOff x="304800" y="1498025"/>
            <a:chExt cx="8418124" cy="2601950"/>
          </a:xfrm>
        </p:grpSpPr>
        <p:pic>
          <p:nvPicPr>
            <p:cNvPr id="268" name="Google Shape;268;p35"/>
            <p:cNvPicPr preferRelativeResize="0"/>
            <p:nvPr/>
          </p:nvPicPr>
          <p:blipFill rotWithShape="1">
            <a:blip r:embed="rId3">
              <a:alphaModFix/>
            </a:blip>
            <a:srcRect b="0" l="0" r="36082" t="0"/>
            <a:stretch/>
          </p:blipFill>
          <p:spPr>
            <a:xfrm>
              <a:off x="304800" y="1498025"/>
              <a:ext cx="4203699" cy="2601950"/>
            </a:xfrm>
            <a:prstGeom prst="rect">
              <a:avLst/>
            </a:prstGeom>
            <a:noFill/>
            <a:ln>
              <a:noFill/>
            </a:ln>
          </p:spPr>
        </p:pic>
        <p:pic>
          <p:nvPicPr>
            <p:cNvPr id="269" name="Google Shape;269;p35"/>
            <p:cNvPicPr preferRelativeResize="0"/>
            <p:nvPr/>
          </p:nvPicPr>
          <p:blipFill rotWithShape="1">
            <a:blip r:embed="rId3">
              <a:alphaModFix/>
            </a:blip>
            <a:srcRect b="0" l="1935" r="71418" t="0"/>
            <a:stretch/>
          </p:blipFill>
          <p:spPr>
            <a:xfrm>
              <a:off x="4508500" y="1498025"/>
              <a:ext cx="1752599" cy="2601950"/>
            </a:xfrm>
            <a:prstGeom prst="rect">
              <a:avLst/>
            </a:prstGeom>
            <a:noFill/>
            <a:ln>
              <a:noFill/>
            </a:ln>
          </p:spPr>
        </p:pic>
        <p:pic>
          <p:nvPicPr>
            <p:cNvPr id="270" name="Google Shape;270;p35"/>
            <p:cNvPicPr preferRelativeResize="0"/>
            <p:nvPr/>
          </p:nvPicPr>
          <p:blipFill rotWithShape="1">
            <a:blip r:embed="rId3">
              <a:alphaModFix/>
            </a:blip>
            <a:srcRect b="0" l="62568" r="0" t="0"/>
            <a:stretch/>
          </p:blipFill>
          <p:spPr>
            <a:xfrm>
              <a:off x="6261100" y="1498025"/>
              <a:ext cx="2461824" cy="2601950"/>
            </a:xfrm>
            <a:prstGeom prst="rect">
              <a:avLst/>
            </a:prstGeom>
            <a:noFill/>
            <a:ln>
              <a:noFill/>
            </a:ln>
          </p:spPr>
        </p:pic>
        <p:sp>
          <p:nvSpPr>
            <p:cNvPr id="271" name="Google Shape;271;p35"/>
            <p:cNvSpPr txBox="1"/>
            <p:nvPr/>
          </p:nvSpPr>
          <p:spPr>
            <a:xfrm>
              <a:off x="6067425" y="2587625"/>
              <a:ext cx="152400" cy="1746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272" name="Google Shape;272;p35"/>
            <p:cNvSpPr txBox="1"/>
            <p:nvPr/>
          </p:nvSpPr>
          <p:spPr>
            <a:xfrm>
              <a:off x="4740275" y="2181225"/>
              <a:ext cx="88800" cy="1746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273" name="Google Shape;273;p35"/>
            <p:cNvSpPr txBox="1"/>
            <p:nvPr/>
          </p:nvSpPr>
          <p:spPr>
            <a:xfrm>
              <a:off x="4740275" y="2511425"/>
              <a:ext cx="88800" cy="1746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274" name="Google Shape;274;p35"/>
            <p:cNvSpPr txBox="1"/>
            <p:nvPr/>
          </p:nvSpPr>
          <p:spPr>
            <a:xfrm>
              <a:off x="4740275" y="3502025"/>
              <a:ext cx="88800" cy="1746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275" name="Google Shape;275;p35"/>
            <p:cNvSpPr txBox="1"/>
            <p:nvPr/>
          </p:nvSpPr>
          <p:spPr>
            <a:xfrm>
              <a:off x="4740275" y="1846850"/>
              <a:ext cx="88800" cy="1746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grpSp>
      <p:sp>
        <p:nvSpPr>
          <p:cNvPr id="276" name="Google Shape;276;p35"/>
          <p:cNvSpPr/>
          <p:nvPr/>
        </p:nvSpPr>
        <p:spPr>
          <a:xfrm>
            <a:off x="4457700" y="1854200"/>
            <a:ext cx="647700" cy="330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35"/>
          <p:cNvSpPr txBox="1"/>
          <p:nvPr/>
        </p:nvSpPr>
        <p:spPr>
          <a:xfrm>
            <a:off x="4054424" y="4012525"/>
            <a:ext cx="8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How?</a:t>
            </a:r>
            <a:endParaRPr sz="1800">
              <a:solidFill>
                <a:srgbClr val="0000FF"/>
              </a:solidFill>
            </a:endParaRPr>
          </a:p>
        </p:txBody>
      </p:sp>
      <p:graphicFrame>
        <p:nvGraphicFramePr>
          <p:cNvPr id="278" name="Google Shape;278;p35"/>
          <p:cNvGraphicFramePr/>
          <p:nvPr/>
        </p:nvGraphicFramePr>
        <p:xfrm>
          <a:off x="365450" y="4531850"/>
          <a:ext cx="3000000" cy="3000000"/>
        </p:xfrm>
        <a:graphic>
          <a:graphicData uri="http://schemas.openxmlformats.org/drawingml/2006/table">
            <a:tbl>
              <a:tblPr>
                <a:noFill/>
                <a:tableStyleId>{EDDE5C88-03BE-4C31-A5E0-17DF2B13A38E}</a:tableStyleId>
              </a:tblPr>
              <a:tblGrid>
                <a:gridCol w="1770100"/>
                <a:gridCol w="1770100"/>
              </a:tblGrid>
              <a:tr h="381000">
                <a:tc>
                  <a:txBody>
                    <a:bodyPr/>
                    <a:lstStyle/>
                    <a:p>
                      <a:pPr indent="0" lvl="0" marL="0" rtl="0" algn="l">
                        <a:spcBef>
                          <a:spcPts val="0"/>
                        </a:spcBef>
                        <a:spcAft>
                          <a:spcPts val="0"/>
                        </a:spcAft>
                        <a:buNone/>
                      </a:pPr>
                      <a:r>
                        <a:rPr lang="en">
                          <a:solidFill>
                            <a:srgbClr val="0000FF"/>
                          </a:solidFill>
                        </a:rPr>
                        <a:t>Control register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Responsible for</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EXTI_EXTICR1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EXTI0-3</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EXTI_EXTICR2</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EXTI4-7</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EXTI8-11</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EXTI_EXTICR4</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EXTI12-15</a:t>
                      </a:r>
                      <a:endParaRPr>
                        <a:solidFill>
                          <a:srgbClr val="0000FF"/>
                        </a:solidFill>
                      </a:endParaRPr>
                    </a:p>
                  </a:txBody>
                  <a:tcPr marT="91425" marB="91425" marR="91425" marL="91425"/>
                </a:tc>
              </a:tr>
            </a:tbl>
          </a:graphicData>
        </a:graphic>
      </p:graphicFrame>
      <p:sp>
        <p:nvSpPr>
          <p:cNvPr id="279" name="Google Shape;279;p35"/>
          <p:cNvSpPr txBox="1"/>
          <p:nvPr/>
        </p:nvSpPr>
        <p:spPr>
          <a:xfrm>
            <a:off x="4219025" y="4615375"/>
            <a:ext cx="45039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rgbClr val="9900FF"/>
                </a:solidFill>
              </a:rPr>
              <a:t>Note: Only one GPIO port can be connected to a given EXTI line at a time. For example, EXTI0 can be connected to PA0, PB0, PC0, etc., but only one of them can be selected at a time.</a:t>
            </a:r>
            <a:endParaRPr i="1" sz="1600">
              <a:solidFill>
                <a:srgbClr val="9900FF"/>
              </a:solidFill>
            </a:endParaRPr>
          </a:p>
          <a:p>
            <a:pPr indent="0" lvl="0" marL="0" rtl="0" algn="l">
              <a:spcBef>
                <a:spcPts val="0"/>
              </a:spcBef>
              <a:spcAft>
                <a:spcPts val="0"/>
              </a:spcAft>
              <a:buNone/>
            </a:pPr>
            <a:r>
              <a:t/>
            </a:r>
            <a:endParaRPr i="1" sz="1600">
              <a:solidFill>
                <a:srgbClr val="9900FF"/>
              </a:solidFill>
            </a:endParaRPr>
          </a:p>
          <a:p>
            <a:pPr indent="0" lvl="0" marL="0" rtl="0" algn="l">
              <a:spcBef>
                <a:spcPts val="0"/>
              </a:spcBef>
              <a:spcAft>
                <a:spcPts val="0"/>
              </a:spcAft>
              <a:buNone/>
            </a:pPr>
            <a:r>
              <a:rPr b="1" i="1" lang="en" sz="1600">
                <a:solidFill>
                  <a:srgbClr val="9900FF"/>
                </a:solidFill>
              </a:rPr>
              <a:t>For a given EXTI line we need to specify which one (if any) port should be enabled.</a:t>
            </a:r>
            <a:endParaRPr b="1" i="1" sz="1600">
              <a:solidFill>
                <a:srgbClr val="99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6"/>
          <p:cNvSpPr txBox="1"/>
          <p:nvPr>
            <p:ph type="title"/>
          </p:nvPr>
        </p:nvSpPr>
        <p:spPr>
          <a:xfrm>
            <a:off x="311700" y="165580"/>
            <a:ext cx="8520600" cy="11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multiplexer to enable Port B on line EXTI</a:t>
            </a:r>
            <a:r>
              <a:rPr lang="en">
                <a:solidFill>
                  <a:srgbClr val="0000E6"/>
                </a:solidFill>
              </a:rPr>
              <a:t>4: </a:t>
            </a:r>
            <a:r>
              <a:rPr lang="en"/>
              <a:t>Register </a:t>
            </a:r>
            <a:r>
              <a:rPr b="1" lang="en"/>
              <a:t>EXTI_EXTICRx</a:t>
            </a:r>
            <a:r>
              <a:rPr lang="en"/>
              <a:t> </a:t>
            </a:r>
            <a:endParaRPr>
              <a:solidFill>
                <a:srgbClr val="0000E6"/>
              </a:solidFill>
            </a:endParaRPr>
          </a:p>
        </p:txBody>
      </p:sp>
      <p:graphicFrame>
        <p:nvGraphicFramePr>
          <p:cNvPr id="285" name="Google Shape;285;p36"/>
          <p:cNvGraphicFramePr/>
          <p:nvPr/>
        </p:nvGraphicFramePr>
        <p:xfrm>
          <a:off x="311700" y="1537000"/>
          <a:ext cx="3000000" cy="3000000"/>
        </p:xfrm>
        <a:graphic>
          <a:graphicData uri="http://schemas.openxmlformats.org/drawingml/2006/table">
            <a:tbl>
              <a:tblPr>
                <a:noFill/>
                <a:tableStyleId>{EDDE5C88-03BE-4C31-A5E0-17DF2B13A38E}</a:tableStyleId>
              </a:tblPr>
              <a:tblGrid>
                <a:gridCol w="1770100"/>
                <a:gridCol w="1770100"/>
              </a:tblGrid>
              <a:tr h="381000">
                <a:tc>
                  <a:txBody>
                    <a:bodyPr/>
                    <a:lstStyle/>
                    <a:p>
                      <a:pPr indent="0" lvl="0" marL="0" rtl="0" algn="l">
                        <a:spcBef>
                          <a:spcPts val="0"/>
                        </a:spcBef>
                        <a:spcAft>
                          <a:spcPts val="0"/>
                        </a:spcAft>
                        <a:buNone/>
                      </a:pPr>
                      <a:r>
                        <a:rPr lang="en">
                          <a:solidFill>
                            <a:srgbClr val="0000FF"/>
                          </a:solidFill>
                        </a:rPr>
                        <a:t>Control register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Responsible for</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EXTI_EXTICR1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EXTI0-3</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EXTI_EXTICR2</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EXTI4-7</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EXTI8-11</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EXTI_EXTICR4</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EXTI12-15</a:t>
                      </a:r>
                      <a:endParaRPr>
                        <a:solidFill>
                          <a:srgbClr val="0000FF"/>
                        </a:solidFill>
                      </a:endParaRPr>
                    </a:p>
                  </a:txBody>
                  <a:tcPr marT="91425" marB="91425" marR="91425" marL="91425"/>
                </a:tc>
              </a:tr>
            </a:tbl>
          </a:graphicData>
        </a:graphic>
      </p:graphicFrame>
      <p:sp>
        <p:nvSpPr>
          <p:cNvPr id="286" name="Google Shape;286;p36"/>
          <p:cNvSpPr txBox="1"/>
          <p:nvPr/>
        </p:nvSpPr>
        <p:spPr>
          <a:xfrm>
            <a:off x="311700" y="3825775"/>
            <a:ext cx="85206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rgbClr val="0000FF"/>
              </a:buClr>
              <a:buSzPts val="1800"/>
              <a:buChar char="●"/>
            </a:pPr>
            <a:r>
              <a:rPr lang="en" sz="1800">
                <a:solidFill>
                  <a:srgbClr val="0000FF"/>
                </a:solidFill>
              </a:rPr>
              <a:t>Which port to enable in EXTI4 is configured in EXTI_EXTICR2:</a:t>
            </a:r>
            <a:endParaRPr sz="1800">
              <a:solidFill>
                <a:srgbClr val="0000FF"/>
              </a:solidFill>
            </a:endParaRPr>
          </a:p>
        </p:txBody>
      </p:sp>
      <p:pic>
        <p:nvPicPr>
          <p:cNvPr id="287" name="Google Shape;287;p36"/>
          <p:cNvPicPr preferRelativeResize="0"/>
          <p:nvPr/>
        </p:nvPicPr>
        <p:blipFill>
          <a:blip r:embed="rId3">
            <a:alphaModFix/>
          </a:blip>
          <a:stretch>
            <a:fillRect/>
          </a:stretch>
        </p:blipFill>
        <p:spPr>
          <a:xfrm>
            <a:off x="5949900" y="1208305"/>
            <a:ext cx="2114588" cy="2521695"/>
          </a:xfrm>
          <a:prstGeom prst="rect">
            <a:avLst/>
          </a:prstGeom>
          <a:noFill/>
          <a:ln>
            <a:noFill/>
          </a:ln>
        </p:spPr>
      </p:pic>
      <p:pic>
        <p:nvPicPr>
          <p:cNvPr id="288" name="Google Shape;288;p36"/>
          <p:cNvPicPr preferRelativeResize="0"/>
          <p:nvPr/>
        </p:nvPicPr>
        <p:blipFill>
          <a:blip r:embed="rId4">
            <a:alphaModFix/>
          </a:blip>
          <a:stretch>
            <a:fillRect/>
          </a:stretch>
        </p:blipFill>
        <p:spPr>
          <a:xfrm>
            <a:off x="152400" y="4352001"/>
            <a:ext cx="8991599" cy="1926299"/>
          </a:xfrm>
          <a:prstGeom prst="rect">
            <a:avLst/>
          </a:prstGeom>
          <a:noFill/>
          <a:ln>
            <a:noFill/>
          </a:ln>
        </p:spPr>
      </p:pic>
      <p:sp>
        <p:nvSpPr>
          <p:cNvPr id="289" name="Google Shape;289;p36"/>
          <p:cNvSpPr/>
          <p:nvPr/>
        </p:nvSpPr>
        <p:spPr>
          <a:xfrm>
            <a:off x="6320550" y="5575975"/>
            <a:ext cx="1010400" cy="29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EXTI4</a:t>
            </a:r>
            <a:endParaRPr b="1">
              <a:solidFill>
                <a:srgbClr val="0000FF"/>
              </a:solidFill>
            </a:endParaRPr>
          </a:p>
        </p:txBody>
      </p:sp>
      <p:sp>
        <p:nvSpPr>
          <p:cNvPr id="290" name="Google Shape;290;p36"/>
          <p:cNvSpPr/>
          <p:nvPr/>
        </p:nvSpPr>
        <p:spPr>
          <a:xfrm>
            <a:off x="2022775" y="5575975"/>
            <a:ext cx="1010400" cy="29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EXTI5</a:t>
            </a:r>
            <a:endParaRPr b="1">
              <a:solidFill>
                <a:srgbClr val="0000FF"/>
              </a:solidFill>
            </a:endParaRPr>
          </a:p>
        </p:txBody>
      </p:sp>
      <p:sp>
        <p:nvSpPr>
          <p:cNvPr id="291" name="Google Shape;291;p36"/>
          <p:cNvSpPr/>
          <p:nvPr/>
        </p:nvSpPr>
        <p:spPr>
          <a:xfrm>
            <a:off x="6320550" y="4719850"/>
            <a:ext cx="1010400" cy="29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EXTI6</a:t>
            </a:r>
            <a:endParaRPr b="1">
              <a:solidFill>
                <a:srgbClr val="0000FF"/>
              </a:solidFill>
            </a:endParaRPr>
          </a:p>
        </p:txBody>
      </p:sp>
      <p:sp>
        <p:nvSpPr>
          <p:cNvPr id="292" name="Google Shape;292;p36"/>
          <p:cNvSpPr/>
          <p:nvPr/>
        </p:nvSpPr>
        <p:spPr>
          <a:xfrm>
            <a:off x="2022775" y="4719850"/>
            <a:ext cx="1010400" cy="29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EXTI7</a:t>
            </a:r>
            <a:endParaRPr b="1">
              <a:solidFill>
                <a:srgbClr val="0000FF"/>
              </a:solidFill>
            </a:endParaRPr>
          </a:p>
        </p:txBody>
      </p:sp>
      <p:sp>
        <p:nvSpPr>
          <p:cNvPr id="293" name="Google Shape;293;p36"/>
          <p:cNvSpPr/>
          <p:nvPr/>
        </p:nvSpPr>
        <p:spPr>
          <a:xfrm>
            <a:off x="855637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1</a:t>
            </a:r>
            <a:endParaRPr b="1">
              <a:solidFill>
                <a:srgbClr val="0000FF"/>
              </a:solidFill>
            </a:endParaRPr>
          </a:p>
        </p:txBody>
      </p:sp>
      <p:sp>
        <p:nvSpPr>
          <p:cNvPr id="294" name="Google Shape;294;p36"/>
          <p:cNvSpPr/>
          <p:nvPr/>
        </p:nvSpPr>
        <p:spPr>
          <a:xfrm>
            <a:off x="796707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295" name="Google Shape;295;p36"/>
          <p:cNvSpPr/>
          <p:nvPr/>
        </p:nvSpPr>
        <p:spPr>
          <a:xfrm>
            <a:off x="743152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296" name="Google Shape;296;p36"/>
          <p:cNvSpPr/>
          <p:nvPr/>
        </p:nvSpPr>
        <p:spPr>
          <a:xfrm>
            <a:off x="689597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297" name="Google Shape;297;p36"/>
          <p:cNvSpPr/>
          <p:nvPr/>
        </p:nvSpPr>
        <p:spPr>
          <a:xfrm>
            <a:off x="636042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298" name="Google Shape;298;p36"/>
          <p:cNvSpPr/>
          <p:nvPr/>
        </p:nvSpPr>
        <p:spPr>
          <a:xfrm>
            <a:off x="586787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299" name="Google Shape;299;p36"/>
          <p:cNvSpPr/>
          <p:nvPr/>
        </p:nvSpPr>
        <p:spPr>
          <a:xfrm>
            <a:off x="528932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300" name="Google Shape;300;p36"/>
          <p:cNvSpPr/>
          <p:nvPr/>
        </p:nvSpPr>
        <p:spPr>
          <a:xfrm>
            <a:off x="4753775" y="5952200"/>
            <a:ext cx="333300" cy="17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rPr>
              <a:t>0</a:t>
            </a:r>
            <a:endParaRPr b="1">
              <a:solidFill>
                <a:srgbClr val="0000FF"/>
              </a:solidFill>
            </a:endParaRPr>
          </a:p>
        </p:txBody>
      </p:sp>
      <p:sp>
        <p:nvSpPr>
          <p:cNvPr id="301" name="Google Shape;301;p36"/>
          <p:cNvSpPr txBox="1"/>
          <p:nvPr/>
        </p:nvSpPr>
        <p:spPr>
          <a:xfrm>
            <a:off x="4106200" y="6263925"/>
            <a:ext cx="48801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PA: 0x0, PB: 0x1, PC: 0x2, PD: 0x3, PF: 0x5</a:t>
            </a:r>
            <a:endParaRPr sz="1800">
              <a:solidFill>
                <a:schemeClr val="dk2"/>
              </a:solidFill>
            </a:endParaRPr>
          </a:p>
        </p:txBody>
      </p:sp>
      <p:sp>
        <p:nvSpPr>
          <p:cNvPr id="302" name="Google Shape;302;p36"/>
          <p:cNvSpPr/>
          <p:nvPr/>
        </p:nvSpPr>
        <p:spPr>
          <a:xfrm>
            <a:off x="226975" y="2269775"/>
            <a:ext cx="3680400" cy="5187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7"/>
          <p:cNvSpPr txBox="1"/>
          <p:nvPr>
            <p:ph type="title"/>
          </p:nvPr>
        </p:nvSpPr>
        <p:spPr>
          <a:xfrm>
            <a:off x="311700" y="165580"/>
            <a:ext cx="8520600" cy="11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multiplexer to enable Port B on line EXTI</a:t>
            </a:r>
            <a:r>
              <a:rPr lang="en">
                <a:solidFill>
                  <a:srgbClr val="0000E6"/>
                </a:solidFill>
              </a:rPr>
              <a:t>4: </a:t>
            </a:r>
            <a:r>
              <a:rPr lang="en"/>
              <a:t>Register </a:t>
            </a:r>
            <a:r>
              <a:rPr b="1" lang="en"/>
              <a:t>EXTI_EXTICRx</a:t>
            </a:r>
            <a:r>
              <a:rPr lang="en"/>
              <a:t> </a:t>
            </a:r>
            <a:endParaRPr>
              <a:solidFill>
                <a:srgbClr val="0000E6"/>
              </a:solidFill>
            </a:endParaRPr>
          </a:p>
        </p:txBody>
      </p:sp>
      <p:graphicFrame>
        <p:nvGraphicFramePr>
          <p:cNvPr id="308" name="Google Shape;308;p37"/>
          <p:cNvGraphicFramePr/>
          <p:nvPr/>
        </p:nvGraphicFramePr>
        <p:xfrm>
          <a:off x="311700" y="1537000"/>
          <a:ext cx="3000000" cy="3000000"/>
        </p:xfrm>
        <a:graphic>
          <a:graphicData uri="http://schemas.openxmlformats.org/drawingml/2006/table">
            <a:tbl>
              <a:tblPr>
                <a:noFill/>
                <a:tableStyleId>{EDDE5C88-03BE-4C31-A5E0-17DF2B13A38E}</a:tableStyleId>
              </a:tblPr>
              <a:tblGrid>
                <a:gridCol w="1770100"/>
                <a:gridCol w="1770100"/>
              </a:tblGrid>
              <a:tr h="381000">
                <a:tc>
                  <a:txBody>
                    <a:bodyPr/>
                    <a:lstStyle/>
                    <a:p>
                      <a:pPr indent="0" lvl="0" marL="0" rtl="0" algn="l">
                        <a:spcBef>
                          <a:spcPts val="0"/>
                        </a:spcBef>
                        <a:spcAft>
                          <a:spcPts val="0"/>
                        </a:spcAft>
                        <a:buNone/>
                      </a:pPr>
                      <a:r>
                        <a:rPr lang="en">
                          <a:solidFill>
                            <a:srgbClr val="0000FF"/>
                          </a:solidFill>
                        </a:rPr>
                        <a:t>Control register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Responsible for</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EXTI_EXTICR1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EXTI0-3</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EXTI_EXTICR2</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EXTI4-7</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EXTI8-11</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EXTI_EXTICR4</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EXTI12-15</a:t>
                      </a:r>
                      <a:endParaRPr>
                        <a:solidFill>
                          <a:srgbClr val="0000FF"/>
                        </a:solidFill>
                      </a:endParaRPr>
                    </a:p>
                  </a:txBody>
                  <a:tcPr marT="91425" marB="91425" marR="91425" marL="91425"/>
                </a:tc>
              </a:tr>
            </a:tbl>
          </a:graphicData>
        </a:graphic>
      </p:graphicFrame>
      <p:sp>
        <p:nvSpPr>
          <p:cNvPr id="309" name="Google Shape;309;p37"/>
          <p:cNvSpPr txBox="1"/>
          <p:nvPr/>
        </p:nvSpPr>
        <p:spPr>
          <a:xfrm>
            <a:off x="311700" y="4183375"/>
            <a:ext cx="85206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rgbClr val="0000FF"/>
              </a:buClr>
              <a:buSzPts val="1800"/>
              <a:buChar char="●"/>
            </a:pPr>
            <a:r>
              <a:rPr lang="en" sz="1800">
                <a:solidFill>
                  <a:srgbClr val="0000FF"/>
                </a:solidFill>
              </a:rPr>
              <a:t>Which port to enable in EXTI4 is configured in EXTI_EXTICR2.</a:t>
            </a:r>
            <a:endParaRPr sz="1800">
              <a:solidFill>
                <a:srgbClr val="0000FF"/>
              </a:solidFill>
            </a:endParaRPr>
          </a:p>
        </p:txBody>
      </p:sp>
      <p:pic>
        <p:nvPicPr>
          <p:cNvPr id="310" name="Google Shape;310;p37"/>
          <p:cNvPicPr preferRelativeResize="0"/>
          <p:nvPr/>
        </p:nvPicPr>
        <p:blipFill>
          <a:blip r:embed="rId3">
            <a:alphaModFix/>
          </a:blip>
          <a:stretch>
            <a:fillRect/>
          </a:stretch>
        </p:blipFill>
        <p:spPr>
          <a:xfrm>
            <a:off x="5949900" y="1208305"/>
            <a:ext cx="2114588" cy="2521695"/>
          </a:xfrm>
          <a:prstGeom prst="rect">
            <a:avLst/>
          </a:prstGeom>
          <a:noFill/>
          <a:ln>
            <a:noFill/>
          </a:ln>
        </p:spPr>
      </p:pic>
      <p:sp>
        <p:nvSpPr>
          <p:cNvPr id="311" name="Google Shape;311;p37"/>
          <p:cNvSpPr txBox="1"/>
          <p:nvPr/>
        </p:nvSpPr>
        <p:spPr>
          <a:xfrm>
            <a:off x="311700" y="4583025"/>
            <a:ext cx="8520600" cy="1293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rgbClr val="0000FF"/>
              </a:buClr>
              <a:buSzPts val="1800"/>
              <a:buChar char="●"/>
            </a:pPr>
            <a:r>
              <a:rPr lang="en" sz="1800">
                <a:solidFill>
                  <a:srgbClr val="0000FF"/>
                </a:solidFill>
              </a:rPr>
              <a:t>EXTI_EXTICR1-4 are stored in one array, EXTI-&gt;EXTICR, with 4 elements.</a:t>
            </a:r>
            <a:endParaRPr sz="1800">
              <a:solidFill>
                <a:srgbClr val="0000FF"/>
              </a:solidFill>
            </a:endParaRPr>
          </a:p>
          <a:p>
            <a:pPr indent="-342900" lvl="0" marL="457200" rtl="0" algn="l">
              <a:lnSpc>
                <a:spcPct val="150000"/>
              </a:lnSpc>
              <a:spcBef>
                <a:spcPts val="0"/>
              </a:spcBef>
              <a:spcAft>
                <a:spcPts val="0"/>
              </a:spcAft>
              <a:buClr>
                <a:srgbClr val="0000FF"/>
              </a:buClr>
              <a:buSzPts val="1800"/>
              <a:buChar char="●"/>
            </a:pPr>
            <a:r>
              <a:rPr lang="en" sz="1800">
                <a:solidFill>
                  <a:srgbClr val="0000FF"/>
                </a:solidFill>
              </a:rPr>
              <a:t>Array indexing in C starts at 0…</a:t>
            </a:r>
            <a:endParaRPr sz="1800">
              <a:solidFill>
                <a:srgbClr val="0000FF"/>
              </a:solidFill>
            </a:endParaRPr>
          </a:p>
          <a:p>
            <a:pPr indent="-342900" lvl="0" marL="457200" rtl="0" algn="l">
              <a:lnSpc>
                <a:spcPct val="150000"/>
              </a:lnSpc>
              <a:spcBef>
                <a:spcPts val="0"/>
              </a:spcBef>
              <a:spcAft>
                <a:spcPts val="0"/>
              </a:spcAft>
              <a:buClr>
                <a:srgbClr val="0000FF"/>
              </a:buClr>
              <a:buSzPts val="1800"/>
              <a:buChar char="●"/>
            </a:pPr>
            <a:r>
              <a:rPr lang="en" sz="1800">
                <a:solidFill>
                  <a:srgbClr val="0000FF"/>
                </a:solidFill>
              </a:rPr>
              <a:t>So…: EXTI_EXTICR2 is addressed in code as EXTI_EXTICR[1].</a:t>
            </a:r>
            <a:endParaRPr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txBox="1"/>
          <p:nvPr>
            <p:ph type="title"/>
          </p:nvPr>
        </p:nvSpPr>
        <p:spPr>
          <a:xfrm>
            <a:off x="311700" y="165580"/>
            <a:ext cx="8520600" cy="11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multiplexer to enable Port B on line EXTI</a:t>
            </a:r>
            <a:r>
              <a:rPr lang="en">
                <a:solidFill>
                  <a:srgbClr val="0000E6"/>
                </a:solidFill>
              </a:rPr>
              <a:t>4: </a:t>
            </a:r>
            <a:r>
              <a:rPr lang="en"/>
              <a:t>Register </a:t>
            </a:r>
            <a:r>
              <a:rPr b="1" lang="en"/>
              <a:t>EXTI_EXTICRx</a:t>
            </a:r>
            <a:r>
              <a:rPr lang="en"/>
              <a:t> </a:t>
            </a:r>
            <a:endParaRPr>
              <a:solidFill>
                <a:srgbClr val="0000E6"/>
              </a:solidFill>
            </a:endParaRPr>
          </a:p>
        </p:txBody>
      </p:sp>
      <p:graphicFrame>
        <p:nvGraphicFramePr>
          <p:cNvPr id="317" name="Google Shape;317;p38"/>
          <p:cNvGraphicFramePr/>
          <p:nvPr/>
        </p:nvGraphicFramePr>
        <p:xfrm>
          <a:off x="311700" y="1537000"/>
          <a:ext cx="3000000" cy="3000000"/>
        </p:xfrm>
        <a:graphic>
          <a:graphicData uri="http://schemas.openxmlformats.org/drawingml/2006/table">
            <a:tbl>
              <a:tblPr>
                <a:noFill/>
                <a:tableStyleId>{EDDE5C88-03BE-4C31-A5E0-17DF2B13A38E}</a:tableStyleId>
              </a:tblPr>
              <a:tblGrid>
                <a:gridCol w="1603525"/>
                <a:gridCol w="1464475"/>
                <a:gridCol w="2104425"/>
              </a:tblGrid>
              <a:tr h="381000">
                <a:tc>
                  <a:txBody>
                    <a:bodyPr/>
                    <a:lstStyle/>
                    <a:p>
                      <a:pPr indent="0" lvl="0" marL="0" rtl="0" algn="l">
                        <a:spcBef>
                          <a:spcPts val="0"/>
                        </a:spcBef>
                        <a:spcAft>
                          <a:spcPts val="0"/>
                        </a:spcAft>
                        <a:buNone/>
                      </a:pPr>
                      <a:r>
                        <a:rPr lang="en">
                          <a:solidFill>
                            <a:srgbClr val="0000FF"/>
                          </a:solidFill>
                        </a:rPr>
                        <a:t>Control register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Responsible for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In code</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EXTI_EXTICR1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EXTI0-3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EXTI-&gt;EXTICR[0]</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EXTI_EXTICR2</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EXTI4-7</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EXTI-&gt;EXTICR[1]</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EXTI8-11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EXTI-&gt;EXTICR[2]</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EXTI_EXTICR4</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EXTI12-15</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EXTI-&gt;EXTICR[3]</a:t>
                      </a:r>
                      <a:endParaRPr>
                        <a:solidFill>
                          <a:srgbClr val="0000FF"/>
                        </a:solidFill>
                      </a:endParaRPr>
                    </a:p>
                  </a:txBody>
                  <a:tcPr marT="91425" marB="91425" marR="91425" marL="91425"/>
                </a:tc>
              </a:tr>
            </a:tbl>
          </a:graphicData>
        </a:graphic>
      </p:graphicFrame>
      <p:sp>
        <p:nvSpPr>
          <p:cNvPr id="318" name="Google Shape;318;p38"/>
          <p:cNvSpPr txBox="1"/>
          <p:nvPr/>
        </p:nvSpPr>
        <p:spPr>
          <a:xfrm>
            <a:off x="311700" y="4353425"/>
            <a:ext cx="8288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900">
                <a:solidFill>
                  <a:srgbClr val="008C00"/>
                </a:solidFill>
                <a:latin typeface="Courier New"/>
                <a:ea typeface="Courier New"/>
                <a:cs typeface="Courier New"/>
                <a:sym typeface="Courier New"/>
              </a:rPr>
              <a:t>EXTI-&gt;EXTICR[1] &amp;= ~EXTI_EXTICR2_EXTI4_Msk;</a:t>
            </a:r>
            <a:endParaRPr b="1" sz="1900">
              <a:solidFill>
                <a:srgbClr val="008C00"/>
              </a:solidFill>
              <a:latin typeface="Courier New"/>
              <a:ea typeface="Courier New"/>
              <a:cs typeface="Courier New"/>
              <a:sym typeface="Courier New"/>
            </a:endParaRPr>
          </a:p>
          <a:p>
            <a:pPr indent="0" lvl="0" marL="0" rtl="0" algn="l">
              <a:spcBef>
                <a:spcPts val="0"/>
              </a:spcBef>
              <a:spcAft>
                <a:spcPts val="0"/>
              </a:spcAft>
              <a:buNone/>
            </a:pPr>
            <a:r>
              <a:rPr b="1" lang="en" sz="1900">
                <a:solidFill>
                  <a:srgbClr val="008C00"/>
                </a:solidFill>
                <a:latin typeface="Courier New"/>
                <a:ea typeface="Courier New"/>
                <a:cs typeface="Courier New"/>
                <a:sym typeface="Courier New"/>
              </a:rPr>
              <a:t>EXTI-&gt;EXTICR[1] |= (EXTI_PB &lt;&lt; EXTI_EXTICR2_EXTI4_Pos)</a:t>
            </a:r>
            <a:r>
              <a:rPr b="1" lang="en" sz="2300">
                <a:solidFill>
                  <a:srgbClr val="008C00"/>
                </a:solidFill>
                <a:latin typeface="Courier New"/>
                <a:ea typeface="Courier New"/>
                <a:cs typeface="Courier New"/>
                <a:sym typeface="Courier New"/>
              </a:rPr>
              <a:t>;</a:t>
            </a:r>
            <a:endParaRPr b="1" sz="2300">
              <a:solidFill>
                <a:srgbClr val="008C00"/>
              </a:solidFill>
              <a:latin typeface="Courier New"/>
              <a:ea typeface="Courier New"/>
              <a:cs typeface="Courier New"/>
              <a:sym typeface="Courier New"/>
            </a:endParaRPr>
          </a:p>
        </p:txBody>
      </p:sp>
      <p:pic>
        <p:nvPicPr>
          <p:cNvPr id="319" name="Google Shape;319;p38"/>
          <p:cNvPicPr preferRelativeResize="0"/>
          <p:nvPr/>
        </p:nvPicPr>
        <p:blipFill>
          <a:blip r:embed="rId3">
            <a:alphaModFix/>
          </a:blip>
          <a:stretch>
            <a:fillRect/>
          </a:stretch>
        </p:blipFill>
        <p:spPr>
          <a:xfrm>
            <a:off x="6433600" y="1197555"/>
            <a:ext cx="2114588" cy="2521695"/>
          </a:xfrm>
          <a:prstGeom prst="rect">
            <a:avLst/>
          </a:prstGeom>
          <a:noFill/>
          <a:ln>
            <a:noFill/>
          </a:ln>
        </p:spPr>
      </p:pic>
      <p:sp>
        <p:nvSpPr>
          <p:cNvPr id="320" name="Google Shape;320;p38"/>
          <p:cNvSpPr/>
          <p:nvPr/>
        </p:nvSpPr>
        <p:spPr>
          <a:xfrm>
            <a:off x="311700" y="2329400"/>
            <a:ext cx="51723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38"/>
          <p:cNvSpPr/>
          <p:nvPr/>
        </p:nvSpPr>
        <p:spPr>
          <a:xfrm>
            <a:off x="2171350" y="4392125"/>
            <a:ext cx="4083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38"/>
          <p:cNvSpPr/>
          <p:nvPr/>
        </p:nvSpPr>
        <p:spPr>
          <a:xfrm>
            <a:off x="4710075" y="4392125"/>
            <a:ext cx="4083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3" name="Google Shape;323;p38"/>
          <p:cNvCxnSpPr>
            <a:endCxn id="324" idx="0"/>
          </p:cNvCxnSpPr>
          <p:nvPr/>
        </p:nvCxnSpPr>
        <p:spPr>
          <a:xfrm>
            <a:off x="3692700" y="5172575"/>
            <a:ext cx="0" cy="492300"/>
          </a:xfrm>
          <a:prstGeom prst="straightConnector1">
            <a:avLst/>
          </a:prstGeom>
          <a:noFill/>
          <a:ln cap="flat" cmpd="sng" w="28575">
            <a:solidFill>
              <a:srgbClr val="0000FF"/>
            </a:solidFill>
            <a:prstDash val="solid"/>
            <a:round/>
            <a:headEnd len="med" w="med" type="triangle"/>
            <a:tailEnd len="med" w="med" type="none"/>
          </a:ln>
        </p:spPr>
      </p:cxnSp>
      <p:sp>
        <p:nvSpPr>
          <p:cNvPr id="324" name="Google Shape;324;p38"/>
          <p:cNvSpPr txBox="1"/>
          <p:nvPr/>
        </p:nvSpPr>
        <p:spPr>
          <a:xfrm>
            <a:off x="2554200" y="5664875"/>
            <a:ext cx="227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defined in ES28.h</a:t>
            </a:r>
            <a:endParaRPr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311700" y="-63020"/>
            <a:ext cx="8520600" cy="11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multiplexer (via EXTI_EXTICR2) to enable Port B on line EXTI</a:t>
            </a:r>
            <a:r>
              <a:rPr lang="en">
                <a:solidFill>
                  <a:srgbClr val="0000E6"/>
                </a:solidFill>
              </a:rPr>
              <a:t>4</a:t>
            </a:r>
            <a:endParaRPr>
              <a:solidFill>
                <a:srgbClr val="0000E6"/>
              </a:solidFill>
            </a:endParaRPr>
          </a:p>
        </p:txBody>
      </p:sp>
      <p:pic>
        <p:nvPicPr>
          <p:cNvPr id="330" name="Google Shape;330;p39"/>
          <p:cNvPicPr preferRelativeResize="0"/>
          <p:nvPr/>
        </p:nvPicPr>
        <p:blipFill>
          <a:blip r:embed="rId3">
            <a:alphaModFix/>
          </a:blip>
          <a:stretch>
            <a:fillRect/>
          </a:stretch>
        </p:blipFill>
        <p:spPr>
          <a:xfrm>
            <a:off x="152400" y="1013451"/>
            <a:ext cx="8991599" cy="1926299"/>
          </a:xfrm>
          <a:prstGeom prst="rect">
            <a:avLst/>
          </a:prstGeom>
          <a:noFill/>
          <a:ln>
            <a:noFill/>
          </a:ln>
        </p:spPr>
      </p:pic>
      <p:sp>
        <p:nvSpPr>
          <p:cNvPr id="331" name="Google Shape;331;p39"/>
          <p:cNvSpPr txBox="1"/>
          <p:nvPr/>
        </p:nvSpPr>
        <p:spPr>
          <a:xfrm>
            <a:off x="311700" y="3050775"/>
            <a:ext cx="85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E6"/>
                </a:solidFill>
              </a:rPr>
              <a:t>4</a:t>
            </a:r>
            <a:r>
              <a:rPr lang="en" sz="1800">
                <a:solidFill>
                  <a:schemeClr val="dk2"/>
                </a:solidFill>
              </a:rPr>
              <a:t> = 4 ( 2 - 1 ) + 0 , so EXTI4 occupies bits 7:0 in EXTI_EXTICR2.</a:t>
            </a:r>
            <a:endParaRPr sz="1800">
              <a:solidFill>
                <a:srgbClr val="FF0000"/>
              </a:solidFill>
            </a:endParaRPr>
          </a:p>
        </p:txBody>
      </p:sp>
      <p:sp>
        <p:nvSpPr>
          <p:cNvPr id="332" name="Google Shape;332;p39"/>
          <p:cNvSpPr txBox="1"/>
          <p:nvPr/>
        </p:nvSpPr>
        <p:spPr>
          <a:xfrm>
            <a:off x="7271975" y="74975"/>
            <a:ext cx="234600" cy="4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33" name="Google Shape;333;p39"/>
          <p:cNvSpPr/>
          <p:nvPr/>
        </p:nvSpPr>
        <p:spPr>
          <a:xfrm>
            <a:off x="2364000" y="1472775"/>
            <a:ext cx="114000" cy="131100"/>
          </a:xfrm>
          <a:prstGeom prst="rect">
            <a:avLst/>
          </a:prstGeom>
          <a:solidFill>
            <a:srgbClr val="FF0000">
              <a:alpha val="278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39"/>
          <p:cNvSpPr/>
          <p:nvPr/>
        </p:nvSpPr>
        <p:spPr>
          <a:xfrm>
            <a:off x="6702800" y="1472775"/>
            <a:ext cx="114000" cy="131100"/>
          </a:xfrm>
          <a:prstGeom prst="rect">
            <a:avLst/>
          </a:prstGeom>
          <a:solidFill>
            <a:srgbClr val="FF0000">
              <a:alpha val="278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39"/>
          <p:cNvSpPr/>
          <p:nvPr/>
        </p:nvSpPr>
        <p:spPr>
          <a:xfrm>
            <a:off x="2364000" y="2330650"/>
            <a:ext cx="114000" cy="131100"/>
          </a:xfrm>
          <a:prstGeom prst="rect">
            <a:avLst/>
          </a:prstGeom>
          <a:solidFill>
            <a:srgbClr val="FF0000">
              <a:alpha val="278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39"/>
          <p:cNvSpPr/>
          <p:nvPr/>
        </p:nvSpPr>
        <p:spPr>
          <a:xfrm>
            <a:off x="6761775" y="2330650"/>
            <a:ext cx="114000" cy="131100"/>
          </a:xfrm>
          <a:prstGeom prst="rect">
            <a:avLst/>
          </a:prstGeom>
          <a:solidFill>
            <a:srgbClr val="FF0000">
              <a:alpha val="278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39"/>
          <p:cNvSpPr txBox="1"/>
          <p:nvPr/>
        </p:nvSpPr>
        <p:spPr>
          <a:xfrm>
            <a:off x="1097650" y="3074625"/>
            <a:ext cx="177600" cy="4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338" name="Google Shape;338;p39"/>
          <p:cNvPicPr preferRelativeResize="0"/>
          <p:nvPr/>
        </p:nvPicPr>
        <p:blipFill>
          <a:blip r:embed="rId4">
            <a:alphaModFix/>
          </a:blip>
          <a:stretch>
            <a:fillRect/>
          </a:stretch>
        </p:blipFill>
        <p:spPr>
          <a:xfrm>
            <a:off x="99325" y="3512471"/>
            <a:ext cx="8839200" cy="2685816"/>
          </a:xfrm>
          <a:prstGeom prst="rect">
            <a:avLst/>
          </a:prstGeom>
          <a:noFill/>
          <a:ln>
            <a:noFill/>
          </a:ln>
        </p:spPr>
      </p:pic>
      <p:sp>
        <p:nvSpPr>
          <p:cNvPr id="339" name="Google Shape;339;p39"/>
          <p:cNvSpPr txBox="1"/>
          <p:nvPr/>
        </p:nvSpPr>
        <p:spPr>
          <a:xfrm>
            <a:off x="1958975" y="3094938"/>
            <a:ext cx="177600" cy="4140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40" name="Google Shape;340;p39"/>
          <p:cNvSpPr txBox="1"/>
          <p:nvPr/>
        </p:nvSpPr>
        <p:spPr>
          <a:xfrm>
            <a:off x="4642500" y="1990038"/>
            <a:ext cx="4388400" cy="8058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41" name="Google Shape;341;p39"/>
          <p:cNvSpPr txBox="1"/>
          <p:nvPr/>
        </p:nvSpPr>
        <p:spPr>
          <a:xfrm>
            <a:off x="1183750" y="4433875"/>
            <a:ext cx="1494900" cy="414000"/>
          </a:xfrm>
          <a:prstGeom prst="rect">
            <a:avLst/>
          </a:prstGeom>
          <a:noFill/>
          <a:ln cap="flat" cmpd="sng" w="28575">
            <a:solidFill>
              <a:srgbClr val="008C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42" name="Google Shape;342;p39"/>
          <p:cNvSpPr txBox="1"/>
          <p:nvPr/>
        </p:nvSpPr>
        <p:spPr>
          <a:xfrm>
            <a:off x="3955700" y="5062875"/>
            <a:ext cx="4388400" cy="7389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Reference Manual, in case you really wanted to know…</a:t>
            </a:r>
            <a:endParaRPr sz="1800">
              <a:solidFill>
                <a:srgbClr val="0000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195000" y="303600"/>
            <a:ext cx="8754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need to do to program a pushbutton interrupt</a:t>
            </a:r>
            <a:endParaRPr/>
          </a:p>
        </p:txBody>
      </p:sp>
      <p:sp>
        <p:nvSpPr>
          <p:cNvPr id="348" name="Google Shape;348;p4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assume the button is on PB4.</a:t>
            </a:r>
            <a:endParaRPr/>
          </a:p>
          <a:p>
            <a:pPr indent="-342900" lvl="0" marL="457200" rtl="0" algn="l">
              <a:spcBef>
                <a:spcPts val="1600"/>
              </a:spcBef>
              <a:spcAft>
                <a:spcPts val="0"/>
              </a:spcAft>
              <a:buSzPts val="1800"/>
              <a:buChar char="●"/>
            </a:pPr>
            <a:r>
              <a:rPr lang="en"/>
              <a:t>Configure PB4 as an input pin with pullup as per usual.✅</a:t>
            </a:r>
            <a:endParaRPr/>
          </a:p>
          <a:p>
            <a:pPr indent="-342900" lvl="0" marL="457200" rtl="0" algn="l">
              <a:spcBef>
                <a:spcPts val="0"/>
              </a:spcBef>
              <a:spcAft>
                <a:spcPts val="0"/>
              </a:spcAft>
              <a:buSzPts val="1800"/>
              <a:buChar char="●"/>
            </a:pPr>
            <a:r>
              <a:rPr lang="en"/>
              <a:t>Tell the EXTI multiplexer (via EXTI_EXTICRx) which of the 16 EXTI lines to enable: Line EXTI4, in particular port B. ✅</a:t>
            </a:r>
            <a:endParaRPr/>
          </a:p>
          <a:p>
            <a:pPr indent="-342900" lvl="0" marL="457200" rtl="0" algn="l">
              <a:spcBef>
                <a:spcPts val="0"/>
              </a:spcBef>
              <a:spcAft>
                <a:spcPts val="0"/>
              </a:spcAft>
              <a:buSzPts val="1800"/>
              <a:buChar char="●"/>
            </a:pPr>
            <a:r>
              <a:rPr lang="en"/>
              <a:t>Tell the EXTI that we are looking for a falling edge on line EXTI4 (via EXTI_FTSR1).</a:t>
            </a:r>
            <a:endParaRPr/>
          </a:p>
          <a:p>
            <a:pPr indent="-342900" lvl="0" marL="457200" rtl="0" algn="l">
              <a:spcBef>
                <a:spcPts val="0"/>
              </a:spcBef>
              <a:spcAft>
                <a:spcPts val="0"/>
              </a:spcAft>
              <a:buSzPts val="1800"/>
              <a:buChar char="●"/>
            </a:pPr>
            <a:r>
              <a:rPr lang="en"/>
              <a:t>Tell the EXTI to unmask line EXTI4 so that events are actually noticed (via EXTI_IMR1).</a:t>
            </a:r>
            <a:endParaRPr/>
          </a:p>
          <a:p>
            <a:pPr indent="-342900" lvl="0" marL="457200" rtl="0" algn="l">
              <a:spcBef>
                <a:spcPts val="0"/>
              </a:spcBef>
              <a:spcAft>
                <a:spcPts val="0"/>
              </a:spcAft>
              <a:buSzPts val="1800"/>
              <a:buChar char="●"/>
            </a:pPr>
            <a:r>
              <a:rPr lang="en"/>
              <a:t>Tell the NVIC to enable interrupts on line EXTI4 (via NVIC_EnableIRQ() - a function provided to us).</a:t>
            </a:r>
            <a:endParaRPr/>
          </a:p>
        </p:txBody>
      </p:sp>
      <p:sp>
        <p:nvSpPr>
          <p:cNvPr id="349" name="Google Shape;349;p40"/>
          <p:cNvSpPr/>
          <p:nvPr/>
        </p:nvSpPr>
        <p:spPr>
          <a:xfrm>
            <a:off x="365475" y="3106500"/>
            <a:ext cx="8212500" cy="645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1"/>
          <p:cNvSpPr txBox="1"/>
          <p:nvPr>
            <p:ph type="title"/>
          </p:nvPr>
        </p:nvSpPr>
        <p:spPr>
          <a:xfrm>
            <a:off x="250050" y="300552"/>
            <a:ext cx="8520600" cy="9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that we are looking for a falling edge on line EXTI4: Register </a:t>
            </a:r>
            <a:r>
              <a:rPr b="1" lang="en"/>
              <a:t>EXTI_FTSR1</a:t>
            </a:r>
            <a:endParaRPr/>
          </a:p>
        </p:txBody>
      </p:sp>
      <p:pic>
        <p:nvPicPr>
          <p:cNvPr id="355" name="Google Shape;355;p41"/>
          <p:cNvPicPr preferRelativeResize="0"/>
          <p:nvPr/>
        </p:nvPicPr>
        <p:blipFill>
          <a:blip r:embed="rId3">
            <a:alphaModFix/>
          </a:blip>
          <a:stretch>
            <a:fillRect/>
          </a:stretch>
        </p:blipFill>
        <p:spPr>
          <a:xfrm>
            <a:off x="250050" y="1801751"/>
            <a:ext cx="8839200" cy="3357981"/>
          </a:xfrm>
          <a:prstGeom prst="rect">
            <a:avLst/>
          </a:prstGeom>
          <a:noFill/>
          <a:ln>
            <a:noFill/>
          </a:ln>
        </p:spPr>
      </p:pic>
      <p:sp>
        <p:nvSpPr>
          <p:cNvPr id="356" name="Google Shape;356;p41"/>
          <p:cNvSpPr txBox="1"/>
          <p:nvPr/>
        </p:nvSpPr>
        <p:spPr>
          <a:xfrm>
            <a:off x="552475" y="5317460"/>
            <a:ext cx="6918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8C00"/>
                </a:solidFill>
              </a:rPr>
              <a:t>Easy! All we need to do is set bit 4 in this register.</a:t>
            </a:r>
            <a:endParaRPr sz="1800">
              <a:solidFill>
                <a:srgbClr val="008C00"/>
              </a:solidFill>
            </a:endParaRPr>
          </a:p>
          <a:p>
            <a:pPr indent="457200" lvl="0" marL="0" rtl="0" algn="l">
              <a:spcBef>
                <a:spcPts val="0"/>
              </a:spcBef>
              <a:spcAft>
                <a:spcPts val="0"/>
              </a:spcAft>
              <a:buClr>
                <a:schemeClr val="dk1"/>
              </a:buClr>
              <a:buSzPts val="1100"/>
              <a:buFont typeface="Arial"/>
              <a:buNone/>
            </a:pPr>
            <a:r>
              <a:t/>
            </a:r>
            <a:endParaRPr b="1" sz="1800">
              <a:solidFill>
                <a:srgbClr val="008C00"/>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800">
                <a:solidFill>
                  <a:srgbClr val="008C00"/>
                </a:solidFill>
                <a:latin typeface="Courier New"/>
                <a:ea typeface="Courier New"/>
                <a:cs typeface="Courier New"/>
                <a:sym typeface="Courier New"/>
              </a:rPr>
              <a:t>EXTI-&gt;FTSR1 |=  EXTI_FTSR1_FT4;</a:t>
            </a:r>
            <a:endParaRPr b="1" sz="1800">
              <a:solidFill>
                <a:srgbClr val="008C00"/>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357" name="Google Shape;357;p41"/>
          <p:cNvSpPr txBox="1"/>
          <p:nvPr/>
        </p:nvSpPr>
        <p:spPr>
          <a:xfrm>
            <a:off x="6277925" y="1020525"/>
            <a:ext cx="261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Falling Trigger Selection Register</a:t>
            </a:r>
            <a:endParaRPr sz="1800">
              <a:solidFill>
                <a:srgbClr val="0000FF"/>
              </a:solidFill>
            </a:endParaRPr>
          </a:p>
        </p:txBody>
      </p:sp>
      <p:cxnSp>
        <p:nvCxnSpPr>
          <p:cNvPr id="358" name="Google Shape;358;p41"/>
          <p:cNvCxnSpPr>
            <a:stCxn id="357" idx="1"/>
          </p:cNvCxnSpPr>
          <p:nvPr/>
        </p:nvCxnSpPr>
        <p:spPr>
          <a:xfrm rot="10800000">
            <a:off x="5749325" y="1056975"/>
            <a:ext cx="528600" cy="333000"/>
          </a:xfrm>
          <a:prstGeom prst="straightConnector1">
            <a:avLst/>
          </a:prstGeom>
          <a:noFill/>
          <a:ln cap="flat" cmpd="sng" w="19050">
            <a:solidFill>
              <a:srgbClr val="0000FF"/>
            </a:solidFill>
            <a:prstDash val="solid"/>
            <a:round/>
            <a:headEnd len="med" w="med" type="none"/>
            <a:tailEnd len="med" w="med" type="stealth"/>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2"/>
          <p:cNvSpPr txBox="1"/>
          <p:nvPr>
            <p:ph type="title"/>
          </p:nvPr>
        </p:nvSpPr>
        <p:spPr>
          <a:xfrm>
            <a:off x="195000" y="303600"/>
            <a:ext cx="8754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need to do to program a pushbutton interrupt</a:t>
            </a:r>
            <a:endParaRPr/>
          </a:p>
        </p:txBody>
      </p:sp>
      <p:sp>
        <p:nvSpPr>
          <p:cNvPr id="364" name="Google Shape;364;p4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assume the button is on PB4.</a:t>
            </a:r>
            <a:endParaRPr/>
          </a:p>
          <a:p>
            <a:pPr indent="-342900" lvl="0" marL="457200" rtl="0" algn="l">
              <a:spcBef>
                <a:spcPts val="1600"/>
              </a:spcBef>
              <a:spcAft>
                <a:spcPts val="0"/>
              </a:spcAft>
              <a:buSzPts val="1800"/>
              <a:buChar char="●"/>
            </a:pPr>
            <a:r>
              <a:rPr lang="en"/>
              <a:t>Configure PB4 as an input pin with pullup as per usual.✅</a:t>
            </a:r>
            <a:endParaRPr/>
          </a:p>
          <a:p>
            <a:pPr indent="-342900" lvl="0" marL="457200" rtl="0" algn="l">
              <a:spcBef>
                <a:spcPts val="0"/>
              </a:spcBef>
              <a:spcAft>
                <a:spcPts val="0"/>
              </a:spcAft>
              <a:buSzPts val="1800"/>
              <a:buChar char="●"/>
            </a:pPr>
            <a:r>
              <a:rPr lang="en"/>
              <a:t>Tell the EXTI multiplexer (via EXTI_EXTICRx) which of the 16 EXTI lines to enable: Line EXTI4, in particular port B. ✅</a:t>
            </a:r>
            <a:endParaRPr/>
          </a:p>
          <a:p>
            <a:pPr indent="-342900" lvl="0" marL="457200" rtl="0" algn="l">
              <a:spcBef>
                <a:spcPts val="0"/>
              </a:spcBef>
              <a:spcAft>
                <a:spcPts val="0"/>
              </a:spcAft>
              <a:buSzPts val="1800"/>
              <a:buChar char="●"/>
            </a:pPr>
            <a:r>
              <a:rPr lang="en"/>
              <a:t>Tell the EXTI that we are looking for a falling edge on line EXTI4 (via EXTI_FTSR1).  ✅</a:t>
            </a:r>
            <a:endParaRPr/>
          </a:p>
          <a:p>
            <a:pPr indent="-342900" lvl="0" marL="457200" rtl="0" algn="l">
              <a:spcBef>
                <a:spcPts val="0"/>
              </a:spcBef>
              <a:spcAft>
                <a:spcPts val="0"/>
              </a:spcAft>
              <a:buSzPts val="1800"/>
              <a:buChar char="●"/>
            </a:pPr>
            <a:r>
              <a:rPr lang="en"/>
              <a:t>Tell the EXTI to unmask line EXTI4 so that events are actually noticed (via EXTI_IMR1).</a:t>
            </a:r>
            <a:endParaRPr/>
          </a:p>
          <a:p>
            <a:pPr indent="-342900" lvl="0" marL="457200" rtl="0" algn="l">
              <a:spcBef>
                <a:spcPts val="0"/>
              </a:spcBef>
              <a:spcAft>
                <a:spcPts val="0"/>
              </a:spcAft>
              <a:buSzPts val="1800"/>
              <a:buChar char="●"/>
            </a:pPr>
            <a:r>
              <a:rPr lang="en"/>
              <a:t>Tell the NVIC to enable interrupts on line EXTI4 (via NVIC_EnableIRQ() - a function provided to us).</a:t>
            </a:r>
            <a:endParaRPr/>
          </a:p>
        </p:txBody>
      </p:sp>
      <p:sp>
        <p:nvSpPr>
          <p:cNvPr id="365" name="Google Shape;365;p42"/>
          <p:cNvSpPr/>
          <p:nvPr/>
        </p:nvSpPr>
        <p:spPr>
          <a:xfrm>
            <a:off x="397700" y="3676200"/>
            <a:ext cx="8212500" cy="645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type="title"/>
          </p:nvPr>
        </p:nvSpPr>
        <p:spPr>
          <a:xfrm>
            <a:off x="250050" y="300552"/>
            <a:ext cx="8520600" cy="9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Your turn:</a:t>
            </a:r>
            <a:r>
              <a:rPr lang="en"/>
              <a:t> Tell the EXTI to unmask line EXTI4: Register </a:t>
            </a:r>
            <a:r>
              <a:rPr b="1" lang="en"/>
              <a:t>EXTI_IMR1</a:t>
            </a:r>
            <a:endParaRPr/>
          </a:p>
        </p:txBody>
      </p:sp>
      <p:pic>
        <p:nvPicPr>
          <p:cNvPr id="371" name="Google Shape;371;p43"/>
          <p:cNvPicPr preferRelativeResize="0"/>
          <p:nvPr/>
        </p:nvPicPr>
        <p:blipFill>
          <a:blip r:embed="rId3">
            <a:alphaModFix/>
          </a:blip>
          <a:stretch>
            <a:fillRect/>
          </a:stretch>
        </p:blipFill>
        <p:spPr>
          <a:xfrm>
            <a:off x="152400" y="2087446"/>
            <a:ext cx="8839200" cy="1898396"/>
          </a:xfrm>
          <a:prstGeom prst="rect">
            <a:avLst/>
          </a:prstGeom>
          <a:noFill/>
          <a:ln>
            <a:noFill/>
          </a:ln>
        </p:spPr>
      </p:pic>
      <p:pic>
        <p:nvPicPr>
          <p:cNvPr id="372" name="Google Shape;372;p43"/>
          <p:cNvPicPr preferRelativeResize="0"/>
          <p:nvPr/>
        </p:nvPicPr>
        <p:blipFill>
          <a:blip r:embed="rId4">
            <a:alphaModFix/>
          </a:blip>
          <a:stretch>
            <a:fillRect/>
          </a:stretch>
        </p:blipFill>
        <p:spPr>
          <a:xfrm>
            <a:off x="152400" y="4138243"/>
            <a:ext cx="8839202" cy="1404708"/>
          </a:xfrm>
          <a:prstGeom prst="rect">
            <a:avLst/>
          </a:prstGeom>
          <a:noFill/>
          <a:ln>
            <a:noFill/>
          </a:ln>
        </p:spPr>
      </p:pic>
      <p:sp>
        <p:nvSpPr>
          <p:cNvPr id="373" name="Google Shape;373;p43"/>
          <p:cNvSpPr txBox="1"/>
          <p:nvPr/>
        </p:nvSpPr>
        <p:spPr>
          <a:xfrm>
            <a:off x="4125150" y="1123650"/>
            <a:ext cx="261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Interrupt Mask Register</a:t>
            </a:r>
            <a:endParaRPr sz="1800">
              <a:solidFill>
                <a:srgbClr val="0000FF"/>
              </a:solidFill>
            </a:endParaRPr>
          </a:p>
        </p:txBody>
      </p:sp>
      <p:cxnSp>
        <p:nvCxnSpPr>
          <p:cNvPr id="374" name="Google Shape;374;p43"/>
          <p:cNvCxnSpPr>
            <a:stCxn id="373" idx="1"/>
          </p:cNvCxnSpPr>
          <p:nvPr/>
        </p:nvCxnSpPr>
        <p:spPr>
          <a:xfrm rot="10800000">
            <a:off x="3596550" y="1021500"/>
            <a:ext cx="528600" cy="333000"/>
          </a:xfrm>
          <a:prstGeom prst="straightConnector1">
            <a:avLst/>
          </a:prstGeom>
          <a:noFill/>
          <a:ln cap="flat" cmpd="sng" w="19050">
            <a:solidFill>
              <a:srgbClr val="0000FF"/>
            </a:solidFill>
            <a:prstDash val="solid"/>
            <a:round/>
            <a:headEnd len="med" w="med" type="none"/>
            <a:tailEnd len="med" w="med" type="stealth"/>
          </a:ln>
        </p:spPr>
      </p:cxnSp>
      <p:sp>
        <p:nvSpPr>
          <p:cNvPr id="375" name="Google Shape;375;p43"/>
          <p:cNvSpPr txBox="1"/>
          <p:nvPr/>
        </p:nvSpPr>
        <p:spPr>
          <a:xfrm>
            <a:off x="694475" y="5431060"/>
            <a:ext cx="6918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8C00"/>
                </a:solidFill>
              </a:rPr>
              <a:t>Easy! All we need to do is set bit 4 in this register.</a:t>
            </a:r>
            <a:endParaRPr sz="1800">
              <a:solidFill>
                <a:srgbClr val="008C00"/>
              </a:solidFill>
            </a:endParaRPr>
          </a:p>
          <a:p>
            <a:pPr indent="457200" lvl="0" marL="0" rtl="0" algn="l">
              <a:spcBef>
                <a:spcPts val="0"/>
              </a:spcBef>
              <a:spcAft>
                <a:spcPts val="0"/>
              </a:spcAft>
              <a:buClr>
                <a:schemeClr val="dk1"/>
              </a:buClr>
              <a:buSzPts val="1100"/>
              <a:buFont typeface="Arial"/>
              <a:buNone/>
            </a:pPr>
            <a:r>
              <a:t/>
            </a:r>
            <a:endParaRPr b="1" sz="1800">
              <a:solidFill>
                <a:srgbClr val="008C00"/>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800">
                <a:solidFill>
                  <a:srgbClr val="008C00"/>
                </a:solidFill>
                <a:latin typeface="Courier New"/>
                <a:ea typeface="Courier New"/>
                <a:cs typeface="Courier New"/>
                <a:sym typeface="Courier New"/>
              </a:rPr>
              <a:t>EXTI-&gt;IMR1 |=  EXTI_IMR1_IM4;</a:t>
            </a:r>
            <a:endParaRPr b="1" sz="1800">
              <a:solidFill>
                <a:srgbClr val="008C00"/>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4"/>
          <p:cNvSpPr txBox="1"/>
          <p:nvPr>
            <p:ph type="title"/>
          </p:nvPr>
        </p:nvSpPr>
        <p:spPr>
          <a:xfrm>
            <a:off x="195000" y="303600"/>
            <a:ext cx="8754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need to do to program a pushbutton interrupt</a:t>
            </a:r>
            <a:endParaRPr/>
          </a:p>
        </p:txBody>
      </p:sp>
      <p:sp>
        <p:nvSpPr>
          <p:cNvPr id="381" name="Google Shape;381;p4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assume the button is on PB4.</a:t>
            </a:r>
            <a:endParaRPr/>
          </a:p>
          <a:p>
            <a:pPr indent="-342900" lvl="0" marL="457200" rtl="0" algn="l">
              <a:spcBef>
                <a:spcPts val="1600"/>
              </a:spcBef>
              <a:spcAft>
                <a:spcPts val="0"/>
              </a:spcAft>
              <a:buSzPts val="1800"/>
              <a:buChar char="●"/>
            </a:pPr>
            <a:r>
              <a:rPr lang="en"/>
              <a:t>Configure PB4 as an input pin with pullup as per usual.✅</a:t>
            </a:r>
            <a:endParaRPr/>
          </a:p>
          <a:p>
            <a:pPr indent="-342900" lvl="0" marL="457200" rtl="0" algn="l">
              <a:spcBef>
                <a:spcPts val="0"/>
              </a:spcBef>
              <a:spcAft>
                <a:spcPts val="0"/>
              </a:spcAft>
              <a:buSzPts val="1800"/>
              <a:buChar char="●"/>
            </a:pPr>
            <a:r>
              <a:rPr lang="en"/>
              <a:t>Tell the EXTI multiplexer (via EXTI_EXTICRx) which of the 16 EXTI lines to enable: Line EXTI4, in particular port B. ✅</a:t>
            </a:r>
            <a:endParaRPr/>
          </a:p>
          <a:p>
            <a:pPr indent="-342900" lvl="0" marL="457200" rtl="0" algn="l">
              <a:spcBef>
                <a:spcPts val="0"/>
              </a:spcBef>
              <a:spcAft>
                <a:spcPts val="0"/>
              </a:spcAft>
              <a:buSzPts val="1800"/>
              <a:buChar char="●"/>
            </a:pPr>
            <a:r>
              <a:rPr lang="en"/>
              <a:t>Tell the EXTI that we are looking for a falling edge on line EXTI4 (via EXTI_FTSR1).  ✅</a:t>
            </a:r>
            <a:endParaRPr/>
          </a:p>
          <a:p>
            <a:pPr indent="-342900" lvl="0" marL="457200" rtl="0" algn="l">
              <a:spcBef>
                <a:spcPts val="0"/>
              </a:spcBef>
              <a:spcAft>
                <a:spcPts val="0"/>
              </a:spcAft>
              <a:buSzPts val="1800"/>
              <a:buChar char="●"/>
            </a:pPr>
            <a:r>
              <a:rPr lang="en"/>
              <a:t>Tell the EXTI to unmask line EXTI4 so that events are actually noticed (via EXTI_IMR1).  ✅</a:t>
            </a:r>
            <a:endParaRPr/>
          </a:p>
          <a:p>
            <a:pPr indent="-342900" lvl="0" marL="457200" rtl="0" algn="l">
              <a:spcBef>
                <a:spcPts val="0"/>
              </a:spcBef>
              <a:spcAft>
                <a:spcPts val="0"/>
              </a:spcAft>
              <a:buSzPts val="1800"/>
              <a:buChar char="●"/>
            </a:pPr>
            <a:r>
              <a:rPr lang="en"/>
              <a:t>Tell the NVIC to enable interrupts on line EXTI4 (via NVIC_EnableIRQ() - a function provided to us).</a:t>
            </a:r>
            <a:endParaRPr/>
          </a:p>
        </p:txBody>
      </p:sp>
      <p:sp>
        <p:nvSpPr>
          <p:cNvPr id="382" name="Google Shape;382;p44"/>
          <p:cNvSpPr/>
          <p:nvPr/>
        </p:nvSpPr>
        <p:spPr>
          <a:xfrm>
            <a:off x="465750" y="4342650"/>
            <a:ext cx="8212500" cy="645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5"/>
          <p:cNvSpPr txBox="1"/>
          <p:nvPr>
            <p:ph type="title"/>
          </p:nvPr>
        </p:nvSpPr>
        <p:spPr>
          <a:xfrm>
            <a:off x="311700" y="84426"/>
            <a:ext cx="8520600" cy="7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NVIC to enable interrupts on line EXTI4</a:t>
            </a:r>
            <a:endParaRPr b="1"/>
          </a:p>
        </p:txBody>
      </p:sp>
      <p:pic>
        <p:nvPicPr>
          <p:cNvPr id="388" name="Google Shape;388;p45"/>
          <p:cNvPicPr preferRelativeResize="0"/>
          <p:nvPr/>
        </p:nvPicPr>
        <p:blipFill>
          <a:blip r:embed="rId3">
            <a:alphaModFix/>
          </a:blip>
          <a:stretch>
            <a:fillRect/>
          </a:stretch>
        </p:blipFill>
        <p:spPr>
          <a:xfrm>
            <a:off x="1189050" y="1388266"/>
            <a:ext cx="6665568" cy="3850674"/>
          </a:xfrm>
          <a:prstGeom prst="rect">
            <a:avLst/>
          </a:prstGeom>
          <a:noFill/>
          <a:ln>
            <a:noFill/>
          </a:ln>
        </p:spPr>
      </p:pic>
      <p:sp>
        <p:nvSpPr>
          <p:cNvPr id="389" name="Google Shape;389;p45"/>
          <p:cNvSpPr/>
          <p:nvPr/>
        </p:nvSpPr>
        <p:spPr>
          <a:xfrm>
            <a:off x="1257350" y="4551324"/>
            <a:ext cx="6401700" cy="3843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45"/>
          <p:cNvSpPr txBox="1"/>
          <p:nvPr/>
        </p:nvSpPr>
        <p:spPr>
          <a:xfrm>
            <a:off x="1257350" y="805925"/>
            <a:ext cx="765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8C00"/>
                </a:solidFill>
                <a:latin typeface="Courier New"/>
                <a:ea typeface="Courier New"/>
                <a:cs typeface="Courier New"/>
                <a:sym typeface="Courier New"/>
              </a:rPr>
              <a:t>NVIC_EnableIRQ(EXTI4_15_IRQn);</a:t>
            </a:r>
            <a:endParaRPr b="1" sz="1800">
              <a:solidFill>
                <a:srgbClr val="008C00"/>
              </a:solidFill>
              <a:latin typeface="Courier New"/>
              <a:ea typeface="Courier New"/>
              <a:cs typeface="Courier New"/>
              <a:sym typeface="Courier New"/>
            </a:endParaRPr>
          </a:p>
        </p:txBody>
      </p:sp>
      <p:pic>
        <p:nvPicPr>
          <p:cNvPr id="391" name="Google Shape;391;p45" title="Screenshot 2026-02-07 at 2.43.14 PM.png"/>
          <p:cNvPicPr preferRelativeResize="0"/>
          <p:nvPr/>
        </p:nvPicPr>
        <p:blipFill rotWithShape="1">
          <a:blip r:embed="rId4">
            <a:alphaModFix/>
          </a:blip>
          <a:srcRect b="40708" l="0" r="0" t="4569"/>
          <a:stretch/>
        </p:blipFill>
        <p:spPr>
          <a:xfrm>
            <a:off x="1295788" y="5676416"/>
            <a:ext cx="6452101" cy="836369"/>
          </a:xfrm>
          <a:prstGeom prst="rect">
            <a:avLst/>
          </a:prstGeom>
          <a:noFill/>
          <a:ln>
            <a:noFill/>
          </a:ln>
        </p:spPr>
      </p:pic>
      <p:sp>
        <p:nvSpPr>
          <p:cNvPr id="392" name="Google Shape;392;p45"/>
          <p:cNvSpPr txBox="1"/>
          <p:nvPr/>
        </p:nvSpPr>
        <p:spPr>
          <a:xfrm>
            <a:off x="4197238" y="4952007"/>
            <a:ext cx="649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rgbClr val="595959"/>
                </a:solidFill>
              </a:rPr>
              <a:t>…</a:t>
            </a:r>
            <a:endParaRPr b="1" sz="3400">
              <a:solidFill>
                <a:srgbClr val="59595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txBox="1"/>
          <p:nvPr>
            <p:ph type="title"/>
          </p:nvPr>
        </p:nvSpPr>
        <p:spPr>
          <a:xfrm>
            <a:off x="311700" y="2930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Initialization</a:t>
            </a:r>
            <a:endParaRPr/>
          </a:p>
        </p:txBody>
      </p:sp>
      <p:sp>
        <p:nvSpPr>
          <p:cNvPr id="398" name="Google Shape;398;p46"/>
          <p:cNvSpPr txBox="1"/>
          <p:nvPr>
            <p:ph idx="1" type="body"/>
          </p:nvPr>
        </p:nvSpPr>
        <p:spPr>
          <a:xfrm>
            <a:off x="311700" y="1056599"/>
            <a:ext cx="8520600" cy="5309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b="1" sz="13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rgbClr val="7F0055"/>
                </a:solidFill>
                <a:highlight>
                  <a:srgbClr val="FFFFFF"/>
                </a:highlight>
                <a:latin typeface="Courier New"/>
                <a:ea typeface="Courier New"/>
                <a:cs typeface="Courier New"/>
                <a:sym typeface="Courier New"/>
              </a:rPr>
              <a:t>void</a:t>
            </a:r>
            <a:r>
              <a:rPr b="1" lang="en" sz="1300">
                <a:solidFill>
                  <a:schemeClr val="dk1"/>
                </a:solidFill>
                <a:highlight>
                  <a:srgbClr val="FFFFFF"/>
                </a:highlight>
                <a:latin typeface="Courier New"/>
                <a:ea typeface="Courier New"/>
                <a:cs typeface="Courier New"/>
                <a:sym typeface="Courier New"/>
              </a:rPr>
              <a:t> pb4_exti_init(</a:t>
            </a:r>
            <a:r>
              <a:rPr b="1" lang="en" sz="1300">
                <a:solidFill>
                  <a:srgbClr val="7F0055"/>
                </a:solidFill>
                <a:highlight>
                  <a:srgbClr val="FFFFFF"/>
                </a:highlight>
                <a:latin typeface="Courier New"/>
                <a:ea typeface="Courier New"/>
                <a:cs typeface="Courier New"/>
                <a:sym typeface="Courier New"/>
              </a:rPr>
              <a:t>void</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__disable_irq(); 			</a:t>
            </a:r>
            <a:r>
              <a:rPr b="1" lang="en" sz="1300">
                <a:solidFill>
                  <a:srgbClr val="3F7F59"/>
                </a:solidFill>
                <a:highlight>
                  <a:srgbClr val="FFFFFF"/>
                </a:highlight>
                <a:latin typeface="Courier New"/>
                <a:ea typeface="Courier New"/>
                <a:cs typeface="Courier New"/>
                <a:sym typeface="Courier New"/>
              </a:rPr>
              <a:t>// disable global interrupts</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RCC-&gt;IOPENR |= RCC_IOPENR_GPIOBEN; </a:t>
            </a:r>
            <a:r>
              <a:rPr b="1" lang="en" sz="1300">
                <a:solidFill>
                  <a:srgbClr val="3F7F59"/>
                </a:solidFill>
                <a:highlight>
                  <a:srgbClr val="FFFFFF"/>
                </a:highlight>
                <a:latin typeface="Courier New"/>
                <a:ea typeface="Courier New"/>
                <a:cs typeface="Courier New"/>
                <a:sym typeface="Courier New"/>
              </a:rPr>
              <a:t>// Enable clock access to GPIOB</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GPIOB-&gt;MODER &amp;= ~GPIO_MODER_MODE4_Msk; </a:t>
            </a:r>
            <a:r>
              <a:rPr b="1" lang="en" sz="1300">
                <a:solidFill>
                  <a:srgbClr val="3F7F59"/>
                </a:solidFill>
                <a:highlight>
                  <a:srgbClr val="FFFFFF"/>
                </a:highlight>
                <a:latin typeface="Courier New"/>
                <a:ea typeface="Courier New"/>
                <a:cs typeface="Courier New"/>
                <a:sym typeface="Courier New"/>
              </a:rPr>
              <a:t>// Configure PB4 as input pin </a:t>
            </a:r>
            <a:endParaRPr b="1" sz="1300">
              <a:solidFill>
                <a:srgbClr val="3F7F59"/>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GPIOB-&gt;MODER |= (GPIO_INPUT &lt;&lt; GPIO_MODER_MODE4_Pos);</a:t>
            </a:r>
            <a:endParaRPr b="1" sz="1300">
              <a:solidFill>
                <a:srgbClr val="3F7F59"/>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rgbClr val="3F7F59"/>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GPIOB-&gt;PUPDR &amp;= ~GPIO_PUPDR_PUPD4_Msk; </a:t>
            </a:r>
            <a:r>
              <a:rPr b="1" lang="en" sz="1300">
                <a:solidFill>
                  <a:srgbClr val="3F7F59"/>
                </a:solidFill>
                <a:highlight>
                  <a:srgbClr val="FFFFFF"/>
                </a:highlight>
                <a:latin typeface="Courier New"/>
                <a:ea typeface="Courier New"/>
                <a:cs typeface="Courier New"/>
                <a:sym typeface="Courier New"/>
              </a:rPr>
              <a:t>// enable pull-up for PB4</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GPIOB-&gt;PUPDR |= (GPIO_PULLUP &lt;&lt; GPIO_PUPDR_PUPD4_Pos);</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EXTI-&gt;EXTICR[1] &amp;= ~EXTI_EXTICR2_EXTI4_Msk;		     </a:t>
            </a:r>
            <a:r>
              <a:rPr b="1" lang="en" sz="1300">
                <a:solidFill>
                  <a:srgbClr val="3F7F59"/>
                </a:solidFill>
                <a:highlight>
                  <a:srgbClr val="FFFFFF"/>
                </a:highlight>
                <a:latin typeface="Courier New"/>
                <a:ea typeface="Courier New"/>
                <a:cs typeface="Courier New"/>
                <a:sym typeface="Courier New"/>
              </a:rPr>
              <a:t>// Configure EXTICR2. </a:t>
            </a:r>
            <a:endParaRPr b="1" sz="1300">
              <a:solidFill>
                <a:srgbClr val="3F7F59"/>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EXTI-&gt;EXTICR[1] |= (EXTI_PB &lt;&lt; EXTI_EXTICR2_EXTI4_Pos); </a:t>
            </a:r>
            <a:r>
              <a:rPr b="1" lang="en" sz="1300">
                <a:solidFill>
                  <a:srgbClr val="3F7F59"/>
                </a:solidFill>
                <a:highlight>
                  <a:srgbClr val="FFFFFF"/>
                </a:highlight>
                <a:latin typeface="Courier New"/>
                <a:ea typeface="Courier New"/>
                <a:cs typeface="Courier New"/>
                <a:sym typeface="Courier New"/>
              </a:rPr>
              <a:t>// accessed as EXTICR[1]</a:t>
            </a:r>
            <a:endParaRPr b="1" sz="1300">
              <a:solidFill>
                <a:srgbClr val="3F7F59"/>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EXTI-&gt;FTSR1 |= EXTI_FTSR1_FT4;	</a:t>
            </a:r>
            <a:r>
              <a:rPr b="1" lang="en" sz="1300">
                <a:solidFill>
                  <a:srgbClr val="3F7F59"/>
                </a:solidFill>
                <a:highlight>
                  <a:srgbClr val="FFFFFF"/>
                </a:highlight>
                <a:latin typeface="Courier New"/>
                <a:ea typeface="Courier New"/>
                <a:cs typeface="Courier New"/>
                <a:sym typeface="Courier New"/>
              </a:rPr>
              <a:t>// Select falling edge trigger for line EXTI4</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EXTI-&gt;IMR1 |= EXTI_IMR1_IM4;		</a:t>
            </a:r>
            <a:r>
              <a:rPr b="1" lang="en" sz="1300">
                <a:solidFill>
                  <a:srgbClr val="3F7F59"/>
                </a:solidFill>
                <a:highlight>
                  <a:srgbClr val="FFFFFF"/>
                </a:highlight>
                <a:latin typeface="Courier New"/>
                <a:ea typeface="Courier New"/>
                <a:cs typeface="Courier New"/>
                <a:sym typeface="Courier New"/>
              </a:rPr>
              <a:t>// Unmask line EXTI4</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NVIC_EnableIRQ(EXTI4_15_IRQn); 	</a:t>
            </a:r>
            <a:r>
              <a:rPr b="1" lang="en" sz="1300">
                <a:solidFill>
                  <a:srgbClr val="3F7F59"/>
                </a:solidFill>
                <a:highlight>
                  <a:srgbClr val="FFFFFF"/>
                </a:highlight>
                <a:latin typeface="Courier New"/>
                <a:ea typeface="Courier New"/>
                <a:cs typeface="Courier New"/>
                <a:sym typeface="Courier New"/>
              </a:rPr>
              <a:t>// Enable EXTI4 line in NVIC</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__enable_irq();			</a:t>
            </a:r>
            <a:r>
              <a:rPr b="1" lang="en" sz="1300">
                <a:solidFill>
                  <a:srgbClr val="3F7F59"/>
                </a:solidFill>
                <a:highlight>
                  <a:srgbClr val="FFFFFF"/>
                </a:highlight>
                <a:latin typeface="Courier New"/>
                <a:ea typeface="Courier New"/>
                <a:cs typeface="Courier New"/>
                <a:sym typeface="Courier New"/>
              </a:rPr>
              <a:t>// Enable global interrupts</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2000">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47"/>
          <p:cNvPicPr preferRelativeResize="0"/>
          <p:nvPr/>
        </p:nvPicPr>
        <p:blipFill>
          <a:blip r:embed="rId3">
            <a:alphaModFix amt="37000"/>
          </a:blip>
          <a:stretch>
            <a:fillRect/>
          </a:stretch>
        </p:blipFill>
        <p:spPr>
          <a:xfrm>
            <a:off x="1353925" y="1216025"/>
            <a:ext cx="7790076" cy="5641975"/>
          </a:xfrm>
          <a:prstGeom prst="rect">
            <a:avLst/>
          </a:prstGeom>
          <a:noFill/>
          <a:ln>
            <a:noFill/>
          </a:ln>
        </p:spPr>
      </p:pic>
      <p:sp>
        <p:nvSpPr>
          <p:cNvPr id="404" name="Google Shape;404;p4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Again:  What happens when an interrupt occurs</a:t>
            </a:r>
            <a:endParaRPr/>
          </a:p>
        </p:txBody>
      </p:sp>
      <p:sp>
        <p:nvSpPr>
          <p:cNvPr id="405" name="Google Shape;405;p47"/>
          <p:cNvSpPr txBox="1"/>
          <p:nvPr/>
        </p:nvSpPr>
        <p:spPr>
          <a:xfrm>
            <a:off x="152400" y="2698800"/>
            <a:ext cx="1470900" cy="936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rgbClr val="0000FF"/>
                </a:solidFill>
              </a:rPr>
              <a:t>Interrupt Service Routine</a:t>
            </a:r>
            <a:endParaRPr sz="2300">
              <a:solidFill>
                <a:srgbClr val="0000FF"/>
              </a:solidFill>
            </a:endParaRPr>
          </a:p>
        </p:txBody>
      </p:sp>
      <p:sp>
        <p:nvSpPr>
          <p:cNvPr id="406" name="Google Shape;406;p47"/>
          <p:cNvSpPr txBox="1"/>
          <p:nvPr/>
        </p:nvSpPr>
        <p:spPr>
          <a:xfrm>
            <a:off x="6884150" y="1778125"/>
            <a:ext cx="1576200" cy="3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DATAPATH</a:t>
            </a:r>
            <a:endParaRPr sz="1800">
              <a:solidFill>
                <a:srgbClr val="999999"/>
              </a:solidFill>
            </a:endParaRPr>
          </a:p>
        </p:txBody>
      </p:sp>
      <p:sp>
        <p:nvSpPr>
          <p:cNvPr id="407" name="Google Shape;407;p47"/>
          <p:cNvSpPr/>
          <p:nvPr/>
        </p:nvSpPr>
        <p:spPr>
          <a:xfrm>
            <a:off x="1837975" y="3044475"/>
            <a:ext cx="1315800" cy="3846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rPr>
              <a:t>ISR</a:t>
            </a:r>
            <a:endParaRPr>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8"/>
          <p:cNvSpPr txBox="1"/>
          <p:nvPr>
            <p:ph type="title"/>
          </p:nvPr>
        </p:nvSpPr>
        <p:spPr>
          <a:xfrm>
            <a:off x="146725" y="177025"/>
            <a:ext cx="8356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Interrupt Service Routines (ISR's)</a:t>
            </a:r>
            <a:endParaRPr/>
          </a:p>
        </p:txBody>
      </p:sp>
      <p:sp>
        <p:nvSpPr>
          <p:cNvPr id="413" name="Google Shape;413;p48"/>
          <p:cNvSpPr txBox="1"/>
          <p:nvPr/>
        </p:nvSpPr>
        <p:spPr>
          <a:xfrm>
            <a:off x="371175" y="832450"/>
            <a:ext cx="8229300" cy="1221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ISRs have special names (must get this right!)  </a:t>
            </a:r>
            <a:endParaRPr sz="1600"/>
          </a:p>
          <a:p>
            <a:pPr indent="-330200" lvl="0" marL="457200" rtl="0" algn="l">
              <a:spcBef>
                <a:spcPts val="0"/>
              </a:spcBef>
              <a:spcAft>
                <a:spcPts val="0"/>
              </a:spcAft>
              <a:buSzPts val="1600"/>
              <a:buChar char="●"/>
            </a:pPr>
            <a:r>
              <a:rPr lang="en" sz="1600">
                <a:solidFill>
                  <a:schemeClr val="dk1"/>
                </a:solidFill>
              </a:rPr>
              <a:t>No values may be returned.</a:t>
            </a:r>
            <a:endParaRPr sz="1600">
              <a:solidFill>
                <a:schemeClr val="dk1"/>
              </a:solidFill>
            </a:endParaRPr>
          </a:p>
          <a:p>
            <a:pPr indent="-330200" lvl="0" marL="457200" rtl="0" algn="l">
              <a:spcBef>
                <a:spcPts val="0"/>
              </a:spcBef>
              <a:spcAft>
                <a:spcPts val="0"/>
              </a:spcAft>
              <a:buSzPts val="1600"/>
              <a:buChar char="●"/>
            </a:pPr>
            <a:r>
              <a:rPr lang="en" sz="1600"/>
              <a:t>No arguments may be passed in.</a:t>
            </a:r>
            <a:endParaRPr sz="1600"/>
          </a:p>
          <a:p>
            <a:pPr indent="-330200" lvl="0" marL="457200" rtl="0" algn="l">
              <a:spcBef>
                <a:spcPts val="0"/>
              </a:spcBef>
              <a:spcAft>
                <a:spcPts val="0"/>
              </a:spcAft>
              <a:buSzPts val="1600"/>
              <a:buChar char="●"/>
            </a:pPr>
            <a:r>
              <a:rPr lang="en" sz="1600"/>
              <a:t>The actual code inside the ISR is simple.  Don’t hang out in an ISR!</a:t>
            </a:r>
            <a:endParaRPr sz="1600">
              <a:latin typeface="Courier New"/>
              <a:ea typeface="Courier New"/>
              <a:cs typeface="Courier New"/>
              <a:sym typeface="Courier New"/>
            </a:endParaRPr>
          </a:p>
          <a:p>
            <a:pPr indent="0" lvl="0" marL="0" rtl="0" algn="l">
              <a:spcBef>
                <a:spcPts val="0"/>
              </a:spcBef>
              <a:spcAft>
                <a:spcPts val="0"/>
              </a:spcAft>
              <a:buNone/>
            </a:pPr>
            <a:r>
              <a:t/>
            </a:r>
            <a:endParaRPr sz="1600">
              <a:latin typeface="Courier New"/>
              <a:ea typeface="Courier New"/>
              <a:cs typeface="Courier New"/>
              <a:sym typeface="Courier New"/>
            </a:endParaRPr>
          </a:p>
        </p:txBody>
      </p:sp>
      <p:graphicFrame>
        <p:nvGraphicFramePr>
          <p:cNvPr id="414" name="Google Shape;414;p48"/>
          <p:cNvGraphicFramePr/>
          <p:nvPr/>
        </p:nvGraphicFramePr>
        <p:xfrm>
          <a:off x="479300" y="2053750"/>
          <a:ext cx="3000000" cy="3000000"/>
        </p:xfrm>
        <a:graphic>
          <a:graphicData uri="http://schemas.openxmlformats.org/drawingml/2006/table">
            <a:tbl>
              <a:tblPr>
                <a:noFill/>
                <a:tableStyleId>{EDDE5C88-03BE-4C31-A5E0-17DF2B13A38E}</a:tableStyleId>
              </a:tblPr>
              <a:tblGrid>
                <a:gridCol w="802075"/>
                <a:gridCol w="1522700"/>
                <a:gridCol w="2567600"/>
                <a:gridCol w="2591625"/>
              </a:tblGrid>
              <a:tr h="381000">
                <a:tc>
                  <a:txBody>
                    <a:bodyPr/>
                    <a:lstStyle/>
                    <a:p>
                      <a:pPr indent="0" lvl="0" marL="0" rtl="0" algn="l">
                        <a:spcBef>
                          <a:spcPts val="0"/>
                        </a:spcBef>
                        <a:spcAft>
                          <a:spcPts val="0"/>
                        </a:spcAft>
                        <a:buNone/>
                      </a:pPr>
                      <a:r>
                        <a:rPr lang="en"/>
                        <a:t>Priority</a:t>
                      </a:r>
                      <a:endParaRPr/>
                    </a:p>
                  </a:txBody>
                  <a:tcPr marT="91425" marB="91425" marR="91425" marL="91425"/>
                </a:tc>
                <a:tc>
                  <a:txBody>
                    <a:bodyPr/>
                    <a:lstStyle/>
                    <a:p>
                      <a:pPr indent="0" lvl="0" marL="0" rtl="0" algn="l">
                        <a:spcBef>
                          <a:spcPts val="0"/>
                        </a:spcBef>
                        <a:spcAft>
                          <a:spcPts val="0"/>
                        </a:spcAft>
                        <a:buNone/>
                      </a:pPr>
                      <a:r>
                        <a:rPr lang="en"/>
                        <a:t>Interrupt Name</a:t>
                      </a:r>
                      <a:endParaRPr/>
                    </a:p>
                  </a:txBody>
                  <a:tcPr marT="91425" marB="91425" marR="91425" marL="91425"/>
                </a:tc>
                <a:tc>
                  <a:txBody>
                    <a:bodyPr/>
                    <a:lstStyle/>
                    <a:p>
                      <a:pPr indent="0" lvl="0" marL="0" rtl="0" algn="l">
                        <a:spcBef>
                          <a:spcPts val="0"/>
                        </a:spcBef>
                        <a:spcAft>
                          <a:spcPts val="0"/>
                        </a:spcAft>
                        <a:buNone/>
                      </a:pPr>
                      <a:r>
                        <a:rPr lang="en"/>
                        <a:t>Description</a:t>
                      </a:r>
                      <a:endParaRPr/>
                    </a:p>
                  </a:txBody>
                  <a:tcPr marT="91425" marB="91425" marR="91425" marL="91425"/>
                </a:tc>
                <a:tc>
                  <a:txBody>
                    <a:bodyPr/>
                    <a:lstStyle/>
                    <a:p>
                      <a:pPr indent="0" lvl="0" marL="0" rtl="0" algn="l">
                        <a:spcBef>
                          <a:spcPts val="0"/>
                        </a:spcBef>
                        <a:spcAft>
                          <a:spcPts val="0"/>
                        </a:spcAft>
                        <a:buNone/>
                      </a:pPr>
                      <a:r>
                        <a:rPr lang="en"/>
                        <a:t>IRQ 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SysTick_IRQn</a:t>
                      </a:r>
                      <a:endParaRPr/>
                    </a:p>
                  </a:txBody>
                  <a:tcPr marT="91425" marB="91425" marR="91425" marL="91425"/>
                </a:tc>
                <a:tc>
                  <a:txBody>
                    <a:bodyPr/>
                    <a:lstStyle/>
                    <a:p>
                      <a:pPr indent="0" lvl="0" marL="0" rtl="0" algn="l">
                        <a:spcBef>
                          <a:spcPts val="0"/>
                        </a:spcBef>
                        <a:spcAft>
                          <a:spcPts val="0"/>
                        </a:spcAft>
                        <a:buNone/>
                      </a:pPr>
                      <a:r>
                        <a:rPr lang="en"/>
                        <a:t>System tick timer</a:t>
                      </a:r>
                      <a:endParaRPr/>
                    </a:p>
                  </a:txBody>
                  <a:tcPr marT="91425" marB="91425" marR="91425" marL="91425"/>
                </a:tc>
                <a:tc>
                  <a:txBody>
                    <a:bodyPr/>
                    <a:lstStyle/>
                    <a:p>
                      <a:pPr indent="0" lvl="0" marL="0" rtl="0" algn="l">
                        <a:spcBef>
                          <a:spcPts val="0"/>
                        </a:spcBef>
                        <a:spcAft>
                          <a:spcPts val="0"/>
                        </a:spcAft>
                        <a:buNone/>
                      </a:pPr>
                      <a:r>
                        <a:rPr lang="en"/>
                        <a:t>SysTick_Handler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12</a:t>
                      </a:r>
                      <a:endParaRPr/>
                    </a:p>
                  </a:txBody>
                  <a:tcPr marT="91425" marB="91425" marR="91425" marL="91425"/>
                </a:tc>
                <a:tc>
                  <a:txBody>
                    <a:bodyPr/>
                    <a:lstStyle/>
                    <a:p>
                      <a:pPr indent="0" lvl="0" marL="0" rtl="0" algn="l">
                        <a:spcBef>
                          <a:spcPts val="0"/>
                        </a:spcBef>
                        <a:spcAft>
                          <a:spcPts val="0"/>
                        </a:spcAft>
                        <a:buNone/>
                      </a:pPr>
                      <a:r>
                        <a:rPr lang="en"/>
                        <a:t>EXTI0_1_IRQn</a:t>
                      </a:r>
                      <a:endParaRPr/>
                    </a:p>
                  </a:txBody>
                  <a:tcPr marT="91425" marB="91425" marR="91425" marL="91425"/>
                </a:tc>
                <a:tc>
                  <a:txBody>
                    <a:bodyPr/>
                    <a:lstStyle/>
                    <a:p>
                      <a:pPr indent="0" lvl="0" marL="0" rtl="0" algn="l">
                        <a:spcBef>
                          <a:spcPts val="0"/>
                        </a:spcBef>
                        <a:spcAft>
                          <a:spcPts val="0"/>
                        </a:spcAft>
                        <a:buNone/>
                      </a:pPr>
                      <a:r>
                        <a:rPr lang="en"/>
                        <a:t>EXTI line 0 &amp; 1 interrupt</a:t>
                      </a:r>
                      <a:endParaRPr/>
                    </a:p>
                  </a:txBody>
                  <a:tcPr marT="91425" marB="91425" marR="91425" marL="91425"/>
                </a:tc>
                <a:tc>
                  <a:txBody>
                    <a:bodyPr/>
                    <a:lstStyle/>
                    <a:p>
                      <a:pPr indent="0" lvl="0" marL="0" rtl="0" algn="l">
                        <a:spcBef>
                          <a:spcPts val="0"/>
                        </a:spcBef>
                        <a:spcAft>
                          <a:spcPts val="0"/>
                        </a:spcAft>
                        <a:buNone/>
                      </a:pPr>
                      <a:r>
                        <a:rPr lang="en"/>
                        <a:t>EXTI0_1_IRQHandler</a:t>
                      </a:r>
                      <a:endParaRPr/>
                    </a:p>
                  </a:txBody>
                  <a:tcPr marT="91425" marB="91425" marR="91425" marL="91425"/>
                </a:tc>
              </a:tr>
              <a:tr h="381000">
                <a:tc>
                  <a:txBody>
                    <a:bodyPr/>
                    <a:lstStyle/>
                    <a:p>
                      <a:pPr indent="0" lvl="0" marL="0" rtl="0" algn="l">
                        <a:spcBef>
                          <a:spcPts val="0"/>
                        </a:spcBef>
                        <a:spcAft>
                          <a:spcPts val="0"/>
                        </a:spcAft>
                        <a:buNone/>
                      </a:pPr>
                      <a:r>
                        <a:rPr lang="en"/>
                        <a:t>13</a:t>
                      </a:r>
                      <a:endParaRPr/>
                    </a:p>
                  </a:txBody>
                  <a:tcPr marT="91425" marB="91425" marR="91425" marL="91425"/>
                </a:tc>
                <a:tc>
                  <a:txBody>
                    <a:bodyPr/>
                    <a:lstStyle/>
                    <a:p>
                      <a:pPr indent="0" lvl="0" marL="0" rtl="0" algn="l">
                        <a:spcBef>
                          <a:spcPts val="0"/>
                        </a:spcBef>
                        <a:spcAft>
                          <a:spcPts val="0"/>
                        </a:spcAft>
                        <a:buNone/>
                      </a:pPr>
                      <a:r>
                        <a:rPr lang="en"/>
                        <a:t>EXTI2_3_IRQn</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EXTI line 2 &amp; 3 interrupt</a:t>
                      </a:r>
                      <a:endParaRPr/>
                    </a:p>
                  </a:txBody>
                  <a:tcPr marT="91425" marB="91425" marR="91425" marL="91425"/>
                </a:tc>
                <a:tc>
                  <a:txBody>
                    <a:bodyPr/>
                    <a:lstStyle/>
                    <a:p>
                      <a:pPr indent="0" lvl="0" marL="0" rtl="0" algn="l">
                        <a:spcBef>
                          <a:spcPts val="0"/>
                        </a:spcBef>
                        <a:spcAft>
                          <a:spcPts val="0"/>
                        </a:spcAft>
                        <a:buNone/>
                      </a:pPr>
                      <a:r>
                        <a:rPr lang="en"/>
                        <a:t>EXTI2_3_IRQHandler</a:t>
                      </a:r>
                      <a:endParaRPr/>
                    </a:p>
                  </a:txBody>
                  <a:tcPr marT="91425" marB="91425" marR="91425" marL="91425"/>
                </a:tc>
              </a:tr>
              <a:tr h="381000">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EXTI4_</a:t>
                      </a:r>
                      <a:r>
                        <a:rPr lang="en">
                          <a:solidFill>
                            <a:schemeClr val="dk1"/>
                          </a:solidFill>
                        </a:rPr>
                        <a:t>15</a:t>
                      </a:r>
                      <a:r>
                        <a:rPr lang="en"/>
                        <a:t>_IRQn</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EXTI line 4 to 15 interrupt</a:t>
                      </a:r>
                      <a:endParaRPr/>
                    </a:p>
                  </a:txBody>
                  <a:tcPr marT="91425" marB="91425" marR="91425" marL="91425"/>
                </a:tc>
                <a:tc>
                  <a:txBody>
                    <a:bodyPr/>
                    <a:lstStyle/>
                    <a:p>
                      <a:pPr indent="0" lvl="0" marL="0" rtl="0" algn="l">
                        <a:spcBef>
                          <a:spcPts val="0"/>
                        </a:spcBef>
                        <a:spcAft>
                          <a:spcPts val="0"/>
                        </a:spcAft>
                        <a:buNone/>
                      </a:pPr>
                      <a:r>
                        <a:rPr lang="en"/>
                        <a:t>EXTI4_1</a:t>
                      </a:r>
                      <a:r>
                        <a:rPr lang="en">
                          <a:solidFill>
                            <a:schemeClr val="dk1"/>
                          </a:solidFill>
                        </a:rPr>
                        <a:t>5</a:t>
                      </a:r>
                      <a:r>
                        <a:rPr lang="en"/>
                        <a:t>_IRQHandler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19</a:t>
                      </a:r>
                      <a:endParaRPr/>
                    </a:p>
                  </a:txBody>
                  <a:tcPr marT="91425" marB="91425" marR="91425" marL="91425"/>
                </a:tc>
                <a:tc>
                  <a:txBody>
                    <a:bodyPr/>
                    <a:lstStyle/>
                    <a:p>
                      <a:pPr indent="0" lvl="0" marL="0" rtl="0" algn="l">
                        <a:spcBef>
                          <a:spcPts val="0"/>
                        </a:spcBef>
                        <a:spcAft>
                          <a:spcPts val="0"/>
                        </a:spcAft>
                        <a:buNone/>
                      </a:pPr>
                      <a:r>
                        <a:rPr lang="en"/>
                        <a:t>ADC1_IRQn</a:t>
                      </a:r>
                      <a:endParaRPr/>
                    </a:p>
                  </a:txBody>
                  <a:tcPr marT="91425" marB="91425" marR="91425" marL="91425"/>
                </a:tc>
                <a:tc>
                  <a:txBody>
                    <a:bodyPr/>
                    <a:lstStyle/>
                    <a:p>
                      <a:pPr indent="0" lvl="0" marL="0" rtl="0" algn="l">
                        <a:spcBef>
                          <a:spcPts val="0"/>
                        </a:spcBef>
                        <a:spcAft>
                          <a:spcPts val="0"/>
                        </a:spcAft>
                        <a:buNone/>
                      </a:pPr>
                      <a:r>
                        <a:rPr lang="en"/>
                        <a:t>ADC interrupt</a:t>
                      </a:r>
                      <a:endParaRPr/>
                    </a:p>
                  </a:txBody>
                  <a:tcPr marT="91425" marB="91425" marR="91425" marL="91425"/>
                </a:tc>
                <a:tc>
                  <a:txBody>
                    <a:bodyPr/>
                    <a:lstStyle/>
                    <a:p>
                      <a:pPr indent="0" lvl="0" marL="0" rtl="0" algn="l">
                        <a:spcBef>
                          <a:spcPts val="0"/>
                        </a:spcBef>
                        <a:spcAft>
                          <a:spcPts val="0"/>
                        </a:spcAft>
                        <a:buNone/>
                      </a:pPr>
                      <a:r>
                        <a:rPr lang="en"/>
                        <a:t>ADC_IRQHandler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35</a:t>
                      </a:r>
                      <a:endParaRPr/>
                    </a:p>
                  </a:txBody>
                  <a:tcPr marT="91425" marB="91425" marR="91425" marL="91425"/>
                </a:tc>
                <a:tc>
                  <a:txBody>
                    <a:bodyPr/>
                    <a:lstStyle/>
                    <a:p>
                      <a:pPr indent="0" lvl="0" marL="0" rtl="0" algn="l">
                        <a:spcBef>
                          <a:spcPts val="0"/>
                        </a:spcBef>
                        <a:spcAft>
                          <a:spcPts val="0"/>
                        </a:spcAft>
                        <a:buNone/>
                      </a:pPr>
                      <a:r>
                        <a:rPr lang="en"/>
                        <a:t>USART2_IRQn</a:t>
                      </a:r>
                      <a:endParaRPr/>
                    </a:p>
                  </a:txBody>
                  <a:tcPr marT="91425" marB="91425" marR="91425" marL="91425"/>
                </a:tc>
                <a:tc>
                  <a:txBody>
                    <a:bodyPr/>
                    <a:lstStyle/>
                    <a:p>
                      <a:pPr indent="0" lvl="0" marL="0" rtl="0" algn="l">
                        <a:spcBef>
                          <a:spcPts val="0"/>
                        </a:spcBef>
                        <a:spcAft>
                          <a:spcPts val="0"/>
                        </a:spcAft>
                        <a:buNone/>
                      </a:pPr>
                      <a:r>
                        <a:rPr lang="en"/>
                        <a:t>USART2 global interrupt</a:t>
                      </a:r>
                      <a:endParaRPr/>
                    </a:p>
                  </a:txBody>
                  <a:tcPr marT="91425" marB="91425" marR="91425" marL="91425"/>
                </a:tc>
                <a:tc>
                  <a:txBody>
                    <a:bodyPr/>
                    <a:lstStyle/>
                    <a:p>
                      <a:pPr indent="0" lvl="0" marL="0" rtl="0" algn="l">
                        <a:spcBef>
                          <a:spcPts val="0"/>
                        </a:spcBef>
                        <a:spcAft>
                          <a:spcPts val="0"/>
                        </a:spcAft>
                        <a:buNone/>
                      </a:pPr>
                      <a:r>
                        <a:rPr lang="en"/>
                        <a:t>USART2_IRQHandler</a:t>
                      </a:r>
                      <a:endParaRPr/>
                    </a:p>
                  </a:txBody>
                  <a:tcPr marT="91425" marB="91425" marR="91425" marL="91425"/>
                </a:tc>
              </a:tr>
            </a:tbl>
          </a:graphicData>
        </a:graphic>
      </p:graphicFrame>
      <p:sp>
        <p:nvSpPr>
          <p:cNvPr id="415" name="Google Shape;415;p48"/>
          <p:cNvSpPr/>
          <p:nvPr/>
        </p:nvSpPr>
        <p:spPr>
          <a:xfrm>
            <a:off x="1281375" y="4430950"/>
            <a:ext cx="1522800" cy="396300"/>
          </a:xfrm>
          <a:prstGeom prst="ellipse">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48"/>
          <p:cNvSpPr/>
          <p:nvPr/>
        </p:nvSpPr>
        <p:spPr>
          <a:xfrm>
            <a:off x="5371675" y="4430950"/>
            <a:ext cx="2034000" cy="396300"/>
          </a:xfrm>
          <a:prstGeom prst="ellipse">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9"/>
          <p:cNvSpPr txBox="1"/>
          <p:nvPr/>
        </p:nvSpPr>
        <p:spPr>
          <a:xfrm>
            <a:off x="248975" y="917950"/>
            <a:ext cx="5652600" cy="488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b="1" lang="en">
                <a:solidFill>
                  <a:srgbClr val="800000"/>
                </a:solidFill>
                <a:highlight>
                  <a:srgbClr val="F9FFCD"/>
                </a:highlight>
                <a:latin typeface="Courier New"/>
                <a:ea typeface="Courier New"/>
                <a:cs typeface="Courier New"/>
                <a:sym typeface="Courier New"/>
              </a:rPr>
              <a:t>volatile</a:t>
            </a:r>
            <a:r>
              <a:rPr b="1" lang="en">
                <a:solidFill>
                  <a:schemeClr val="dk1"/>
                </a:solidFill>
                <a:highlight>
                  <a:srgbClr val="F9FFCD"/>
                </a:highlight>
                <a:latin typeface="Courier New"/>
                <a:ea typeface="Courier New"/>
                <a:cs typeface="Courier New"/>
                <a:sym typeface="Courier New"/>
              </a:rPr>
              <a:t> uint8_t buttonPushed</a:t>
            </a:r>
            <a:r>
              <a:rPr b="1" lang="en">
                <a:solidFill>
                  <a:srgbClr val="800080"/>
                </a:solidFill>
                <a:highlight>
                  <a:srgbClr val="F9FFCD"/>
                </a:highlight>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r>
              <a:rPr b="1" lang="en">
                <a:solidFill>
                  <a:srgbClr val="3F7F59"/>
                </a:solidFill>
                <a:latin typeface="Courier New"/>
                <a:ea typeface="Courier New"/>
                <a:cs typeface="Courier New"/>
                <a:sym typeface="Courier New"/>
              </a:rPr>
              <a:t>// shared variable</a:t>
            </a:r>
            <a:endParaRPr b="1">
              <a:solidFill>
                <a:srgbClr val="3F7F59"/>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br>
              <a:rPr b="1" lang="en">
                <a:solidFill>
                  <a:schemeClr val="dk1"/>
                </a:solidFill>
                <a:highlight>
                  <a:schemeClr val="lt1"/>
                </a:highlight>
                <a:latin typeface="Courier New"/>
                <a:ea typeface="Courier New"/>
                <a:cs typeface="Courier New"/>
                <a:sym typeface="Courier New"/>
              </a:rPr>
            </a:br>
            <a:r>
              <a:rPr b="1" lang="en">
                <a:solidFill>
                  <a:srgbClr val="800000"/>
                </a:solidFill>
                <a:latin typeface="Courier New"/>
                <a:ea typeface="Courier New"/>
                <a:cs typeface="Courier New"/>
                <a:sym typeface="Courier New"/>
              </a:rPr>
              <a:t>int</a:t>
            </a:r>
            <a:r>
              <a:rPr b="1" lang="en">
                <a:solidFill>
                  <a:schemeClr val="dk1"/>
                </a:solidFill>
                <a:latin typeface="Courier New"/>
                <a:ea typeface="Courier New"/>
                <a:cs typeface="Courier New"/>
                <a:sym typeface="Courier New"/>
              </a:rPr>
              <a:t> </a:t>
            </a:r>
            <a:r>
              <a:rPr b="1" lang="en">
                <a:solidFill>
                  <a:srgbClr val="400000"/>
                </a:solidFill>
                <a:latin typeface="Courier New"/>
                <a:ea typeface="Courier New"/>
                <a:cs typeface="Courier New"/>
                <a:sym typeface="Courier New"/>
              </a:rPr>
              <a:t>main</a:t>
            </a:r>
            <a:r>
              <a:rPr b="1" lang="en">
                <a:solidFill>
                  <a:srgbClr val="808030"/>
                </a:solidFill>
                <a:latin typeface="Courier New"/>
                <a:ea typeface="Courier New"/>
                <a:cs typeface="Courier New"/>
                <a:sym typeface="Courier New"/>
              </a:rPr>
              <a:t>(</a:t>
            </a:r>
            <a:r>
              <a:rPr b="1" lang="en">
                <a:solidFill>
                  <a:srgbClr val="800000"/>
                </a:solidFill>
                <a:latin typeface="Courier New"/>
                <a:ea typeface="Courier New"/>
                <a:cs typeface="Courier New"/>
                <a:sym typeface="Courier New"/>
              </a:rPr>
              <a:t>void</a:t>
            </a:r>
            <a:r>
              <a:rPr b="1" lang="en">
                <a:solidFill>
                  <a:srgbClr val="80803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chemeClr val="dk1"/>
                </a:solidFill>
                <a:highlight>
                  <a:srgbClr val="F9FFCD"/>
                </a:highlight>
                <a:latin typeface="Courier New"/>
                <a:ea typeface="Courier New"/>
                <a:cs typeface="Courier New"/>
                <a:sym typeface="Courier New"/>
              </a:rPr>
              <a:t>buttonPushed </a:t>
            </a:r>
            <a:r>
              <a:rPr b="1" lang="en">
                <a:solidFill>
                  <a:srgbClr val="808030"/>
                </a:solidFill>
                <a:highlight>
                  <a:srgbClr val="F9FFCD"/>
                </a:highlight>
                <a:latin typeface="Courier New"/>
                <a:ea typeface="Courier New"/>
                <a:cs typeface="Courier New"/>
                <a:sym typeface="Courier New"/>
              </a:rPr>
              <a:t>=</a:t>
            </a:r>
            <a:r>
              <a:rPr b="1" lang="en">
                <a:solidFill>
                  <a:schemeClr val="dk1"/>
                </a:solidFill>
                <a:highlight>
                  <a:srgbClr val="F9FFCD"/>
                </a:highlight>
                <a:latin typeface="Courier New"/>
                <a:ea typeface="Courier New"/>
                <a:cs typeface="Courier New"/>
                <a:sym typeface="Courier New"/>
              </a:rPr>
              <a:t> </a:t>
            </a:r>
            <a:r>
              <a:rPr b="1" lang="en">
                <a:solidFill>
                  <a:srgbClr val="008C00"/>
                </a:solidFill>
                <a:highlight>
                  <a:srgbClr val="F9FFCD"/>
                </a:highlight>
                <a:latin typeface="Courier New"/>
                <a:ea typeface="Courier New"/>
                <a:cs typeface="Courier New"/>
                <a:sym typeface="Courier New"/>
              </a:rPr>
              <a:t>0</a:t>
            </a:r>
            <a:r>
              <a:rPr b="1" lang="en">
                <a:solidFill>
                  <a:srgbClr val="800080"/>
                </a:solidFill>
                <a:highlight>
                  <a:srgbClr val="F9FFCD"/>
                </a:highlight>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br>
              <a:rPr b="1" lang="en">
                <a:solidFill>
                  <a:srgbClr val="603000"/>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rgbClr val="800000"/>
                </a:solidFill>
                <a:latin typeface="Courier New"/>
                <a:ea typeface="Courier New"/>
                <a:cs typeface="Courier New"/>
                <a:sym typeface="Courier New"/>
              </a:rPr>
              <a:t>while</a:t>
            </a:r>
            <a:r>
              <a:rPr b="1" lang="en">
                <a:solidFill>
                  <a:schemeClr val="dk1"/>
                </a:solidFill>
                <a:latin typeface="Courier New"/>
                <a:ea typeface="Courier New"/>
                <a:cs typeface="Courier New"/>
                <a:sym typeface="Courier New"/>
              </a:rPr>
              <a:t> </a:t>
            </a:r>
            <a:r>
              <a:rPr b="1" lang="en">
                <a:solidFill>
                  <a:srgbClr val="808030"/>
                </a:solidFill>
                <a:latin typeface="Courier New"/>
                <a:ea typeface="Courier New"/>
                <a:cs typeface="Courier New"/>
                <a:sym typeface="Courier New"/>
              </a:rPr>
              <a:t>(</a:t>
            </a:r>
            <a:r>
              <a:rPr b="1" lang="en">
                <a:solidFill>
                  <a:srgbClr val="008C00"/>
                </a:solidFill>
                <a:latin typeface="Courier New"/>
                <a:ea typeface="Courier New"/>
                <a:cs typeface="Courier New"/>
                <a:sym typeface="Courier New"/>
              </a:rPr>
              <a:t>1</a:t>
            </a:r>
            <a:r>
              <a:rPr b="1" lang="en">
                <a:solidFill>
                  <a:srgbClr val="80803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rgbClr val="800000"/>
                </a:solidFill>
                <a:latin typeface="Courier New"/>
                <a:ea typeface="Courier New"/>
                <a:cs typeface="Courier New"/>
                <a:sym typeface="Courier New"/>
              </a:rPr>
              <a:t>if</a:t>
            </a:r>
            <a:r>
              <a:rPr b="1" lang="en">
                <a:solidFill>
                  <a:schemeClr val="dk1"/>
                </a:solidFill>
                <a:latin typeface="Courier New"/>
                <a:ea typeface="Courier New"/>
                <a:cs typeface="Courier New"/>
                <a:sym typeface="Courier New"/>
              </a:rPr>
              <a:t> </a:t>
            </a:r>
            <a:r>
              <a:rPr b="1" lang="en">
                <a:solidFill>
                  <a:srgbClr val="80803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buttonPushed</a:t>
            </a:r>
            <a:r>
              <a:rPr b="1" lang="en">
                <a:solidFill>
                  <a:srgbClr val="80803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 do something      </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buttonPushed </a:t>
            </a:r>
            <a:r>
              <a:rPr b="1" lang="en">
                <a:solidFill>
                  <a:srgbClr val="80803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r>
              <a:rPr b="1" lang="en">
                <a:solidFill>
                  <a:srgbClr val="008C00"/>
                </a:solidFill>
                <a:latin typeface="Courier New"/>
                <a:ea typeface="Courier New"/>
                <a:cs typeface="Courier New"/>
                <a:sym typeface="Courier New"/>
              </a:rPr>
              <a:t>0</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r>
              <a:rPr b="1" lang="en">
                <a:solidFill>
                  <a:schemeClr val="dk1"/>
                </a:solidFill>
                <a:latin typeface="Courier New"/>
                <a:ea typeface="Courier New"/>
                <a:cs typeface="Courier New"/>
                <a:sym typeface="Courier New"/>
              </a:rPr>
              <a:t> </a:t>
            </a:r>
            <a:r>
              <a:rPr b="1" lang="en">
                <a:solidFill>
                  <a:srgbClr val="800000"/>
                </a:solidFill>
                <a:latin typeface="Courier New"/>
                <a:ea typeface="Courier New"/>
                <a:cs typeface="Courier New"/>
                <a:sym typeface="Courier New"/>
              </a:rPr>
              <a:t>else</a:t>
            </a: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 do something else</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chemeClr val="dk1"/>
                </a:solidFill>
                <a:latin typeface="Courier New"/>
                <a:ea typeface="Courier New"/>
                <a:cs typeface="Courier New"/>
                <a:sym typeface="Courier New"/>
              </a:rPr>
              <a:t>  </a:t>
            </a:r>
            <a:r>
              <a:rPr b="1" lang="en">
                <a:solidFill>
                  <a:srgbClr val="800000"/>
                </a:solidFill>
                <a:latin typeface="Courier New"/>
                <a:ea typeface="Courier New"/>
                <a:cs typeface="Courier New"/>
                <a:sym typeface="Courier New"/>
              </a:rPr>
              <a:t>return</a:t>
            </a:r>
            <a:r>
              <a:rPr b="1" lang="en">
                <a:solidFill>
                  <a:schemeClr val="dk1"/>
                </a:solidFill>
                <a:latin typeface="Courier New"/>
                <a:ea typeface="Courier New"/>
                <a:cs typeface="Courier New"/>
                <a:sym typeface="Courier New"/>
              </a:rPr>
              <a:t> </a:t>
            </a:r>
            <a:r>
              <a:rPr b="1" lang="en">
                <a:solidFill>
                  <a:srgbClr val="008C00"/>
                </a:solidFill>
                <a:latin typeface="Courier New"/>
                <a:ea typeface="Courier New"/>
                <a:cs typeface="Courier New"/>
                <a:sym typeface="Courier New"/>
              </a:rPr>
              <a:t>0</a:t>
            </a:r>
            <a:r>
              <a:rPr b="1" lang="en">
                <a:solidFill>
                  <a:srgbClr val="800080"/>
                </a:solidFill>
                <a:latin typeface="Courier New"/>
                <a:ea typeface="Courier New"/>
                <a:cs typeface="Courier New"/>
                <a:sym typeface="Courier New"/>
              </a:rPr>
              <a:t>;</a:t>
            </a:r>
            <a:br>
              <a:rPr b="1" lang="en">
                <a:solidFill>
                  <a:schemeClr val="dk1"/>
                </a:solidFill>
                <a:latin typeface="Courier New"/>
                <a:ea typeface="Courier New"/>
                <a:cs typeface="Courier New"/>
                <a:sym typeface="Courier New"/>
              </a:rPr>
            </a:br>
            <a:r>
              <a:rPr b="1" lang="en">
                <a:solidFill>
                  <a:srgbClr val="800080"/>
                </a:solidFill>
                <a:latin typeface="Courier New"/>
                <a:ea typeface="Courier New"/>
                <a:cs typeface="Courier New"/>
                <a:sym typeface="Courier New"/>
              </a:rPr>
              <a:t>}</a:t>
            </a:r>
            <a:endParaRPr sz="1700">
              <a:highlight>
                <a:srgbClr val="FFFF00"/>
              </a:highlight>
            </a:endParaRPr>
          </a:p>
        </p:txBody>
      </p:sp>
      <p:sp>
        <p:nvSpPr>
          <p:cNvPr id="422" name="Google Shape;422;p49"/>
          <p:cNvSpPr txBox="1"/>
          <p:nvPr>
            <p:ph type="title"/>
          </p:nvPr>
        </p:nvSpPr>
        <p:spPr>
          <a:xfrm>
            <a:off x="248975" y="1544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inside the ISR? </a:t>
            </a:r>
            <a:endParaRPr/>
          </a:p>
        </p:txBody>
      </p:sp>
      <p:sp>
        <p:nvSpPr>
          <p:cNvPr id="423" name="Google Shape;423;p49"/>
          <p:cNvSpPr txBox="1"/>
          <p:nvPr/>
        </p:nvSpPr>
        <p:spPr>
          <a:xfrm>
            <a:off x="2882550" y="4333850"/>
            <a:ext cx="5974200" cy="2046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800000"/>
                </a:solidFill>
                <a:highlight>
                  <a:schemeClr val="lt1"/>
                </a:highlight>
                <a:latin typeface="Courier New"/>
                <a:ea typeface="Courier New"/>
                <a:cs typeface="Courier New"/>
                <a:sym typeface="Courier New"/>
              </a:rPr>
              <a:t>void</a:t>
            </a:r>
            <a:r>
              <a:rPr b="1" lang="en">
                <a:solidFill>
                  <a:schemeClr val="dk1"/>
                </a:solidFill>
                <a:highlight>
                  <a:schemeClr val="lt1"/>
                </a:highlight>
                <a:latin typeface="Courier New"/>
                <a:ea typeface="Courier New"/>
                <a:cs typeface="Courier New"/>
                <a:sym typeface="Courier New"/>
              </a:rPr>
              <a:t> EXTI4_15_IRQHandler(</a:t>
            </a:r>
            <a:r>
              <a:rPr b="1" lang="en">
                <a:solidFill>
                  <a:srgbClr val="800000"/>
                </a:solidFill>
                <a:highlight>
                  <a:schemeClr val="lt1"/>
                </a:highlight>
                <a:latin typeface="Courier New"/>
                <a:ea typeface="Courier New"/>
                <a:cs typeface="Courier New"/>
                <a:sym typeface="Courier New"/>
              </a:rPr>
              <a:t>void</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__disable_irq(); </a:t>
            </a:r>
            <a:r>
              <a:rPr b="1" lang="en">
                <a:solidFill>
                  <a:srgbClr val="3F7F59"/>
                </a:solidFill>
                <a:highlight>
                  <a:schemeClr val="lt1"/>
                </a:highlight>
                <a:latin typeface="Courier New"/>
                <a:ea typeface="Courier New"/>
                <a:cs typeface="Courier New"/>
                <a:sym typeface="Courier New"/>
              </a:rPr>
              <a:t>// disable global interrupts</a:t>
            </a:r>
            <a:endParaRPr b="1">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a:t>
            </a:r>
            <a:r>
              <a:rPr b="1" lang="en">
                <a:solidFill>
                  <a:srgbClr val="800000"/>
                </a:solidFill>
                <a:highlight>
                  <a:schemeClr val="lt1"/>
                </a:highlight>
                <a:latin typeface="Courier New"/>
                <a:ea typeface="Courier New"/>
                <a:cs typeface="Courier New"/>
                <a:sym typeface="Courier New"/>
              </a:rPr>
              <a:t>if</a:t>
            </a:r>
            <a:r>
              <a:rPr b="1" lang="en">
                <a:solidFill>
                  <a:schemeClr val="dk1"/>
                </a:solidFill>
                <a:highlight>
                  <a:schemeClr val="lt1"/>
                </a:highlight>
                <a:latin typeface="Courier New"/>
                <a:ea typeface="Courier New"/>
                <a:cs typeface="Courier New"/>
                <a:sym typeface="Courier New"/>
              </a:rPr>
              <a:t> (EXTI-&gt;FPR1 &amp; EXTI_FPR1_FPIF4) {</a:t>
            </a:r>
            <a:endParaRPr b="1">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EXTI-&gt;FPR1 = EXTI_FPR1_FPIF4; </a:t>
            </a:r>
            <a:r>
              <a:rPr b="1" lang="en">
                <a:solidFill>
                  <a:srgbClr val="3F7F59"/>
                </a:solidFill>
                <a:highlight>
                  <a:schemeClr val="lt1"/>
                </a:highlight>
                <a:latin typeface="Courier New"/>
                <a:ea typeface="Courier New"/>
                <a:cs typeface="Courier New"/>
                <a:sym typeface="Courier New"/>
              </a:rPr>
              <a:t>// Clear PR flag</a:t>
            </a:r>
            <a:endParaRPr b="1">
              <a:solidFill>
                <a:srgbClr val="3F7F59"/>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a:t>
            </a:r>
            <a:r>
              <a:rPr b="1" lang="en">
                <a:solidFill>
                  <a:schemeClr val="dk1"/>
                </a:solidFill>
                <a:highlight>
                  <a:srgbClr val="F9FFCD"/>
                </a:highlight>
                <a:latin typeface="Courier New"/>
                <a:ea typeface="Courier New"/>
                <a:cs typeface="Courier New"/>
                <a:sym typeface="Courier New"/>
              </a:rPr>
              <a:t>buttonPushed = 1;</a:t>
            </a:r>
            <a:endParaRPr b="1">
              <a:solidFill>
                <a:schemeClr val="dk1"/>
              </a:solidFill>
              <a:highlight>
                <a:srgbClr val="F9FFCD"/>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a:t>
            </a:r>
            <a:endParaRPr b="1">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__enable_irq(); </a:t>
            </a:r>
            <a:r>
              <a:rPr b="1" lang="en">
                <a:solidFill>
                  <a:srgbClr val="3F7F59"/>
                </a:solidFill>
                <a:highlight>
                  <a:schemeClr val="lt1"/>
                </a:highlight>
                <a:latin typeface="Courier New"/>
                <a:ea typeface="Courier New"/>
                <a:cs typeface="Courier New"/>
                <a:sym typeface="Courier New"/>
              </a:rPr>
              <a:t>// Enable global interrupts</a:t>
            </a:r>
            <a:endParaRPr b="1">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a:t>
            </a:r>
            <a:endParaRPr sz="1600">
              <a:highlight>
                <a:srgbClr val="FFFF00"/>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0"/>
          <p:cNvSpPr txBox="1"/>
          <p:nvPr>
            <p:ph type="title"/>
          </p:nvPr>
        </p:nvSpPr>
        <p:spPr>
          <a:xfrm>
            <a:off x="221650" y="588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inside the ISR? </a:t>
            </a:r>
            <a:endParaRPr/>
          </a:p>
        </p:txBody>
      </p:sp>
      <p:sp>
        <p:nvSpPr>
          <p:cNvPr id="429" name="Google Shape;429;p50"/>
          <p:cNvSpPr txBox="1"/>
          <p:nvPr>
            <p:ph idx="1" type="body"/>
          </p:nvPr>
        </p:nvSpPr>
        <p:spPr>
          <a:xfrm>
            <a:off x="311700" y="676825"/>
            <a:ext cx="8520600" cy="2495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400">
                <a:solidFill>
                  <a:srgbClr val="3F7F59"/>
                </a:solidFill>
                <a:highlight>
                  <a:srgbClr val="FFFFFF"/>
                </a:highlight>
                <a:latin typeface="Courier New"/>
                <a:ea typeface="Courier New"/>
                <a:cs typeface="Courier New"/>
                <a:sym typeface="Courier New"/>
              </a:rPr>
              <a:t>// Interrupt service routine for the User button</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400">
                <a:solidFill>
                  <a:srgbClr val="7F0055"/>
                </a:solidFill>
                <a:highlight>
                  <a:srgbClr val="FFFFFF"/>
                </a:highlight>
                <a:latin typeface="Courier New"/>
                <a:ea typeface="Courier New"/>
                <a:cs typeface="Courier New"/>
                <a:sym typeface="Courier New"/>
              </a:rPr>
              <a:t>void</a:t>
            </a:r>
            <a:r>
              <a:rPr b="1" lang="en" sz="1400">
                <a:solidFill>
                  <a:schemeClr val="dk1"/>
                </a:solidFill>
                <a:highlight>
                  <a:srgbClr val="FFFFFF"/>
                </a:highlight>
                <a:latin typeface="Courier New"/>
                <a:ea typeface="Courier New"/>
                <a:cs typeface="Courier New"/>
                <a:sym typeface="Courier New"/>
              </a:rPr>
              <a:t> EXTI4_15_IRQHandler(</a:t>
            </a:r>
            <a:r>
              <a:rPr b="1" lang="en" sz="1400">
                <a:solidFill>
                  <a:srgbClr val="7F0055"/>
                </a:solidFill>
                <a:highlight>
                  <a:srgbClr val="FFFFFF"/>
                </a:highlight>
                <a:latin typeface="Courier New"/>
                <a:ea typeface="Courier New"/>
                <a:cs typeface="Courier New"/>
                <a:sym typeface="Courier New"/>
              </a:rPr>
              <a:t>void</a:t>
            </a:r>
            <a:r>
              <a:rPr b="1" lang="en" sz="1400">
                <a:solidFill>
                  <a:schemeClr val="dk1"/>
                </a:solidFill>
                <a:highlight>
                  <a:srgbClr val="FFFFFF"/>
                </a:highlight>
                <a:latin typeface="Courier New"/>
                <a:ea typeface="Courier New"/>
                <a:cs typeface="Courier New"/>
                <a:sym typeface="Courier New"/>
              </a:rPr>
              <a:t>){</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    __disable_irq();            </a:t>
            </a:r>
            <a:r>
              <a:rPr b="1" lang="en" sz="1400">
                <a:solidFill>
                  <a:srgbClr val="3F7F59"/>
                </a:solidFill>
                <a:highlight>
                  <a:schemeClr val="lt1"/>
                </a:highlight>
                <a:latin typeface="Courier New"/>
                <a:ea typeface="Courier New"/>
                <a:cs typeface="Courier New"/>
                <a:sym typeface="Courier New"/>
              </a:rPr>
              <a:t>// disable global interrupts</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400">
                <a:solidFill>
                  <a:schemeClr val="dk1"/>
                </a:solidFill>
                <a:highlight>
                  <a:srgbClr val="FFFFFF"/>
                </a:highlight>
                <a:latin typeface="Courier New"/>
                <a:ea typeface="Courier New"/>
                <a:cs typeface="Courier New"/>
                <a:sym typeface="Courier New"/>
              </a:rPr>
              <a:t>    </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7F0055"/>
                </a:solidFill>
                <a:highlight>
                  <a:srgbClr val="FFFFFF"/>
                </a:highlight>
                <a:latin typeface="Courier New"/>
                <a:ea typeface="Courier New"/>
                <a:cs typeface="Courier New"/>
                <a:sym typeface="Courier New"/>
              </a:rPr>
              <a:t>if</a:t>
            </a:r>
            <a:r>
              <a:rPr b="1" lang="en" sz="1400">
                <a:solidFill>
                  <a:schemeClr val="dk1"/>
                </a:solidFill>
                <a:highlight>
                  <a:srgbClr val="FFFFFF"/>
                </a:highlight>
                <a:latin typeface="Courier New"/>
                <a:ea typeface="Courier New"/>
                <a:cs typeface="Courier New"/>
                <a:sym typeface="Courier New"/>
              </a:rPr>
              <a:t> (EXTI-&gt;FPR1 &amp; EXTI_FPR1_FPIF4) {   </a:t>
            </a:r>
            <a:r>
              <a:rPr b="1" lang="en" sz="1400">
                <a:solidFill>
                  <a:srgbClr val="3F7F59"/>
                </a:solidFill>
                <a:highlight>
                  <a:schemeClr val="lt1"/>
                </a:highlight>
                <a:latin typeface="Courier New"/>
                <a:ea typeface="Courier New"/>
                <a:cs typeface="Courier New"/>
                <a:sym typeface="Courier New"/>
              </a:rPr>
              <a:t>// Check that EXTI4 interrupted</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400">
                <a:solidFill>
                  <a:schemeClr val="dk1"/>
                </a:solidFill>
                <a:highlight>
                  <a:srgbClr val="FFFFFF"/>
                </a:highlight>
                <a:latin typeface="Courier New"/>
                <a:ea typeface="Courier New"/>
                <a:cs typeface="Courier New"/>
                <a:sym typeface="Courier New"/>
              </a:rPr>
              <a:t>        </a:t>
            </a:r>
            <a:r>
              <a:rPr b="1" lang="en" sz="1400">
                <a:solidFill>
                  <a:schemeClr val="dk1"/>
                </a:solidFill>
                <a:highlight>
                  <a:srgbClr val="FCD7FF"/>
                </a:highlight>
                <a:latin typeface="Courier New"/>
                <a:ea typeface="Courier New"/>
                <a:cs typeface="Courier New"/>
                <a:sym typeface="Courier New"/>
              </a:rPr>
              <a:t>EXTI-&gt;FPR1 = EXTI_FPR1_FPIF4;    </a:t>
            </a:r>
            <a:r>
              <a:rPr b="1" lang="en" sz="1400">
                <a:solidFill>
                  <a:srgbClr val="3F7F59"/>
                </a:solidFill>
                <a:highlight>
                  <a:srgbClr val="FCD7FF"/>
                </a:highlight>
                <a:latin typeface="Courier New"/>
                <a:ea typeface="Courier New"/>
                <a:cs typeface="Courier New"/>
                <a:sym typeface="Courier New"/>
              </a:rPr>
              <a:t>// Clear PR flag by writing 1</a:t>
            </a:r>
            <a:endParaRPr b="1" sz="1400">
              <a:solidFill>
                <a:schemeClr val="dk1"/>
              </a:solidFill>
              <a:highlight>
                <a:srgbClr val="FCD7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400">
                <a:solidFill>
                  <a:schemeClr val="dk1"/>
                </a:solidFill>
                <a:highlight>
                  <a:srgbClr val="FFFFFF"/>
                </a:highlight>
                <a:latin typeface="Courier New"/>
                <a:ea typeface="Courier New"/>
                <a:cs typeface="Courier New"/>
                <a:sym typeface="Courier New"/>
              </a:rPr>
              <a:t>        buttonPushed = 1;</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400">
                <a:solidFill>
                  <a:schemeClr val="dk1"/>
                </a:solidFill>
                <a:highlight>
                  <a:srgbClr val="FFFFFF"/>
                </a:highlight>
                <a:latin typeface="Courier New"/>
                <a:ea typeface="Courier New"/>
                <a:cs typeface="Courier New"/>
                <a:sym typeface="Courier New"/>
              </a:rPr>
              <a:t>    }</a:t>
            </a:r>
            <a:endParaRPr b="1" sz="14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    __enable_irq();             </a:t>
            </a:r>
            <a:r>
              <a:rPr b="1" lang="en" sz="1400">
                <a:solidFill>
                  <a:srgbClr val="3F7F59"/>
                </a:solidFill>
                <a:highlight>
                  <a:schemeClr val="lt1"/>
                </a:highlight>
                <a:latin typeface="Courier New"/>
                <a:ea typeface="Courier New"/>
                <a:cs typeface="Courier New"/>
                <a:sym typeface="Courier New"/>
              </a:rPr>
              <a:t>// Enable global interrupts</a:t>
            </a:r>
            <a:endParaRPr b="1" sz="16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a:t>
            </a:r>
            <a:endParaRPr>
              <a:latin typeface="Courier New"/>
              <a:ea typeface="Courier New"/>
              <a:cs typeface="Courier New"/>
              <a:sym typeface="Courier New"/>
            </a:endParaRPr>
          </a:p>
        </p:txBody>
      </p:sp>
      <p:pic>
        <p:nvPicPr>
          <p:cNvPr id="430" name="Google Shape;430;p50"/>
          <p:cNvPicPr preferRelativeResize="0"/>
          <p:nvPr/>
        </p:nvPicPr>
        <p:blipFill>
          <a:blip r:embed="rId3">
            <a:alphaModFix/>
          </a:blip>
          <a:stretch>
            <a:fillRect/>
          </a:stretch>
        </p:blipFill>
        <p:spPr>
          <a:xfrm>
            <a:off x="152400" y="3579229"/>
            <a:ext cx="8839201" cy="1871514"/>
          </a:xfrm>
          <a:prstGeom prst="rect">
            <a:avLst/>
          </a:prstGeom>
          <a:noFill/>
          <a:ln>
            <a:noFill/>
          </a:ln>
        </p:spPr>
      </p:pic>
      <p:pic>
        <p:nvPicPr>
          <p:cNvPr id="431" name="Google Shape;431;p50"/>
          <p:cNvPicPr preferRelativeResize="0"/>
          <p:nvPr/>
        </p:nvPicPr>
        <p:blipFill>
          <a:blip r:embed="rId4">
            <a:alphaModFix/>
          </a:blip>
          <a:stretch>
            <a:fillRect/>
          </a:stretch>
        </p:blipFill>
        <p:spPr>
          <a:xfrm>
            <a:off x="152400" y="5450743"/>
            <a:ext cx="8396987" cy="1331057"/>
          </a:xfrm>
          <a:prstGeom prst="rect">
            <a:avLst/>
          </a:prstGeom>
          <a:noFill/>
          <a:ln>
            <a:noFill/>
          </a:ln>
        </p:spPr>
      </p:pic>
      <p:sp>
        <p:nvSpPr>
          <p:cNvPr id="432" name="Google Shape;432;p50"/>
          <p:cNvSpPr txBox="1"/>
          <p:nvPr/>
        </p:nvSpPr>
        <p:spPr>
          <a:xfrm>
            <a:off x="221650" y="3198138"/>
            <a:ext cx="7509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EXTI falling edge pending register 1</a:t>
            </a:r>
            <a:endParaRPr b="1" sz="1800">
              <a:solidFill>
                <a:schemeClr val="dk2"/>
              </a:solidFill>
            </a:endParaRPr>
          </a:p>
        </p:txBody>
      </p:sp>
      <p:sp>
        <p:nvSpPr>
          <p:cNvPr id="433" name="Google Shape;433;p50"/>
          <p:cNvSpPr/>
          <p:nvPr/>
        </p:nvSpPr>
        <p:spPr>
          <a:xfrm>
            <a:off x="5150775" y="5975275"/>
            <a:ext cx="3055500" cy="3105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1"/>
          <p:cNvSpPr txBox="1"/>
          <p:nvPr>
            <p:ph type="title"/>
          </p:nvPr>
        </p:nvSpPr>
        <p:spPr>
          <a:xfrm>
            <a:off x="311700" y="2022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For any interrupt</a:t>
            </a:r>
            <a:endParaRPr/>
          </a:p>
        </p:txBody>
      </p:sp>
      <p:sp>
        <p:nvSpPr>
          <p:cNvPr id="439" name="Google Shape;439;p51"/>
          <p:cNvSpPr txBox="1"/>
          <p:nvPr>
            <p:ph idx="1" type="body"/>
          </p:nvPr>
        </p:nvSpPr>
        <p:spPr>
          <a:xfrm>
            <a:off x="311700" y="1056075"/>
            <a:ext cx="8520600" cy="5355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Define the appropriate ISR: be sure to use the correct name, check whether your desired event occurred, clear that event's pending flag, set a flag (via a global volatile variable) that you then check in your main code.</a:t>
            </a:r>
            <a:endParaRPr sz="1600"/>
          </a:p>
          <a:p>
            <a:pPr indent="0" lvl="0" marL="914400" rtl="0" algn="l">
              <a:spcBef>
                <a:spcPts val="1600"/>
              </a:spcBef>
              <a:spcAft>
                <a:spcPts val="0"/>
              </a:spcAft>
              <a:buNone/>
            </a:pPr>
            <a:r>
              <a:rPr b="1" lang="en" sz="1200">
                <a:solidFill>
                  <a:srgbClr val="0000FF"/>
                </a:solidFill>
                <a:latin typeface="Courier New"/>
                <a:ea typeface="Courier New"/>
                <a:cs typeface="Courier New"/>
                <a:sym typeface="Courier New"/>
              </a:rPr>
              <a:t>void EXTI4_15_IRQHandler(void){</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__disable_irq();</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if (EXTI-&gt;FPR1 &amp; EXTI_FPR1_FPIF) {   // Check that EXTI4 interrupted</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EXTI-&gt;FPR1 = EXTI_FPR1_FPIF;	// Clear PR flag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buttonPushed = 1;</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__enable_irq();</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330200" lvl="0" marL="457200" rtl="0" algn="l">
              <a:spcBef>
                <a:spcPts val="0"/>
              </a:spcBef>
              <a:spcAft>
                <a:spcPts val="0"/>
              </a:spcAft>
              <a:buSzPts val="1600"/>
              <a:buAutoNum type="arabicPeriod"/>
            </a:pPr>
            <a:r>
              <a:rPr lang="en" sz="1600"/>
              <a:t>During initialization, enable the interrupt source.</a:t>
            </a:r>
            <a:endParaRPr sz="1600"/>
          </a:p>
          <a:p>
            <a:pPr indent="0" lvl="0" marL="914400" rtl="0" algn="l">
              <a:spcBef>
                <a:spcPts val="1600"/>
              </a:spcBef>
              <a:spcAft>
                <a:spcPts val="0"/>
              </a:spcAft>
              <a:buNone/>
            </a:pPr>
            <a:r>
              <a:rPr b="1" lang="en" sz="1200">
                <a:solidFill>
                  <a:srgbClr val="0000FF"/>
                </a:solidFill>
                <a:latin typeface="Courier New"/>
                <a:ea typeface="Courier New"/>
                <a:cs typeface="Courier New"/>
                <a:sym typeface="Courier New"/>
              </a:rPr>
              <a:t>EXTI-&gt;EXTICR[1] &amp;= ~EXTI_EXTICR2_EXTI4_Msk	           // Configure EXTICR2,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EXTI-&gt;EXTICR[1] |= (EXTI_PB &lt;&lt; EXTI_EXTICR2_EXTI4_Pos); // accessed as EXTICR[1]</a:t>
            </a:r>
            <a:endParaRPr b="1" sz="1200">
              <a:solidFill>
                <a:srgbClr val="0000FF"/>
              </a:solidFill>
              <a:latin typeface="Courier New"/>
              <a:ea typeface="Courier New"/>
              <a:cs typeface="Courier New"/>
              <a:sym typeface="Courier New"/>
            </a:endParaRPr>
          </a:p>
          <a:p>
            <a:pPr indent="457200" lvl="0" marL="457200" rtl="0" algn="l">
              <a:spcBef>
                <a:spcPts val="0"/>
              </a:spcBef>
              <a:spcAft>
                <a:spcPts val="0"/>
              </a:spcAft>
              <a:buNone/>
            </a:pPr>
            <a:r>
              <a:rPr b="1" lang="en" sz="1200">
                <a:solidFill>
                  <a:srgbClr val="0000FF"/>
                </a:solidFill>
                <a:latin typeface="Courier New"/>
                <a:ea typeface="Courier New"/>
                <a:cs typeface="Courier New"/>
                <a:sym typeface="Courier New"/>
              </a:rPr>
              <a:t>EXTI-&gt;FTSR1 |= EXTI_FTSR1_FT4;	// Select falling edge trigger for line EXTI4</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EXTI-&gt;IMR1 |= EXTI_IMR1_IM4;		// Unmask line EXTI4</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NVIC_EnableIRQ(EXTI4_15_IRQn); 	// Enable EXTI4 line in NVIC</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330200" lvl="0" marL="457200" rtl="0" algn="l">
              <a:spcBef>
                <a:spcPts val="0"/>
              </a:spcBef>
              <a:spcAft>
                <a:spcPts val="0"/>
              </a:spcAft>
              <a:buSzPts val="1600"/>
              <a:buAutoNum type="arabicPeriod"/>
            </a:pPr>
            <a:r>
              <a:rPr lang="en" sz="1600"/>
              <a:t>Wait for the interrupt to occur or invoke behavior that will eventually lead to an interrupt, e.g., </a:t>
            </a:r>
            <a:r>
              <a:rPr lang="en" sz="1600">
                <a:solidFill>
                  <a:srgbClr val="0000E6"/>
                </a:solidFill>
              </a:rPr>
              <a:t>pressing the button.</a:t>
            </a:r>
            <a:endParaRPr sz="1600">
              <a:solidFill>
                <a:srgbClr val="0000E6"/>
              </a:solidFill>
            </a:endParaRPr>
          </a:p>
          <a:p>
            <a:pPr indent="0" lvl="0" marL="914400" rtl="0" algn="l">
              <a:spcBef>
                <a:spcPts val="1600"/>
              </a:spcBef>
              <a:spcAft>
                <a:spcPts val="1600"/>
              </a:spcAft>
              <a:buNone/>
            </a:pPr>
            <a:r>
              <a:t/>
            </a:r>
            <a:endParaRPr>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2"/>
          <p:cNvSpPr txBox="1"/>
          <p:nvPr>
            <p:ph type="title"/>
          </p:nvPr>
        </p:nvSpPr>
        <p:spPr>
          <a:xfrm>
            <a:off x="138000" y="0"/>
            <a:ext cx="77265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Counter with interrupting reset button</a:t>
            </a:r>
            <a:endParaRPr/>
          </a:p>
        </p:txBody>
      </p:sp>
      <p:sp>
        <p:nvSpPr>
          <p:cNvPr id="445" name="Google Shape;445;p52"/>
          <p:cNvSpPr txBox="1"/>
          <p:nvPr>
            <p:ph idx="1" type="body"/>
          </p:nvPr>
        </p:nvSpPr>
        <p:spPr>
          <a:xfrm>
            <a:off x="0" y="625825"/>
            <a:ext cx="4572000" cy="6166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&lt;</a:t>
            </a:r>
            <a:r>
              <a:rPr b="1" lang="en" sz="1100">
                <a:solidFill>
                  <a:srgbClr val="3F3FBF"/>
                </a:solidFill>
                <a:highlight>
                  <a:srgbClr val="FFFFFF"/>
                </a:highlight>
                <a:latin typeface="Courier New"/>
                <a:ea typeface="Courier New"/>
                <a:cs typeface="Courier New"/>
                <a:sym typeface="Courier New"/>
              </a:rPr>
              <a:t>stdio.h</a:t>
            </a:r>
            <a:r>
              <a:rPr b="1" lang="en" sz="1100">
                <a:solidFill>
                  <a:srgbClr val="2A00FF"/>
                </a:solidFill>
                <a:highlight>
                  <a:srgbClr val="FFFFFF"/>
                </a:highlight>
                <a:latin typeface="Courier New"/>
                <a:ea typeface="Courier New"/>
                <a:cs typeface="Courier New"/>
                <a:sym typeface="Courier New"/>
              </a:rPr>
              <a:t>&gt;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ES28.h</a:t>
            </a:r>
            <a:r>
              <a:rPr b="1" lang="en" sz="1100">
                <a:solidFill>
                  <a:srgbClr val="2A00FF"/>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uart.h</a:t>
            </a:r>
            <a:r>
              <a:rPr b="1" lang="en" sz="1100">
                <a:solidFill>
                  <a:srgbClr val="2A00FF"/>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WAIT         1000000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MAXCOUNT     100</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buttonPushed;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buttonPushed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for</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i=0; i&lt;WAIT; i++){}</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E599"/>
                </a:highlight>
                <a:latin typeface="Courier New"/>
                <a:ea typeface="Courier New"/>
                <a:cs typeface="Courier New"/>
                <a:sym typeface="Courier New"/>
              </a:rPr>
              <a:t>if</a:t>
            </a:r>
            <a:r>
              <a:rPr b="1" lang="en" sz="1100">
                <a:solidFill>
                  <a:schemeClr val="dk1"/>
                </a:solidFill>
                <a:highlight>
                  <a:srgbClr val="FFE599"/>
                </a:highlight>
                <a:latin typeface="Courier New"/>
                <a:ea typeface="Courier New"/>
                <a:cs typeface="Courier New"/>
                <a:sym typeface="Courier New"/>
              </a:rPr>
              <a:t> (buttonPushed) {</a:t>
            </a:r>
            <a:endParaRPr b="1" sz="1100">
              <a:solidFill>
                <a:schemeClr val="dk1"/>
              </a:solidFill>
              <a:highlight>
                <a:srgbClr val="FFE599"/>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E599"/>
                </a:highlight>
                <a:latin typeface="Courier New"/>
                <a:ea typeface="Courier New"/>
                <a:cs typeface="Courier New"/>
                <a:sym typeface="Courier New"/>
              </a:rPr>
              <a:t>              counter = 0;</a:t>
            </a:r>
            <a:endParaRPr b="1" sz="1100">
              <a:solidFill>
                <a:schemeClr val="dk1"/>
              </a:solidFill>
              <a:highlight>
                <a:srgbClr val="FFE599"/>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E599"/>
                </a:highlight>
                <a:latin typeface="Courier New"/>
                <a:ea typeface="Courier New"/>
                <a:cs typeface="Courier New"/>
                <a:sym typeface="Courier New"/>
              </a:rPr>
              <a:t>              buttonPushed = 0;</a:t>
            </a:r>
            <a:endParaRPr b="1" sz="1100">
              <a:solidFill>
                <a:schemeClr val="dk1"/>
              </a:solidFill>
              <a:highlight>
                <a:srgbClr val="FFE599"/>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(counter == MAXCOUNT)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rgbClr val="004A43"/>
              </a:solidFill>
              <a:highlight>
                <a:srgbClr val="FFFFFF"/>
              </a:highlight>
              <a:latin typeface="Courier New"/>
              <a:ea typeface="Courier New"/>
              <a:cs typeface="Courier New"/>
              <a:sym typeface="Courier New"/>
            </a:endParaRPr>
          </a:p>
        </p:txBody>
      </p:sp>
      <p:sp>
        <p:nvSpPr>
          <p:cNvPr id="446" name="Google Shape;446;p52"/>
          <p:cNvSpPr txBox="1"/>
          <p:nvPr/>
        </p:nvSpPr>
        <p:spPr>
          <a:xfrm>
            <a:off x="4174425" y="943900"/>
            <a:ext cx="5082600" cy="566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__disable_irq(); </a:t>
            </a:r>
            <a:endParaRPr b="1" sz="1100">
              <a:solidFill>
                <a:srgbClr val="3F7F59"/>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RCC-&gt;IOPENR |= RCC_IOPENR_GPIOBEN;	 </a:t>
            </a:r>
            <a:endParaRPr b="1" sz="1100">
              <a:solidFill>
                <a:srgbClr val="3F7F59"/>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~GPIO_MODER_MODE4_Msk;</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 (GPIO_INPUT &lt;&lt; GPIO_MODER_MODE4_Pos);</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&amp;= ~GPIO_PUPDR_PUPD4_Msk;</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 (GPIO_PULLUP &lt;&lt; GPIO_PUPDR_PUPD4_Pos);</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EXTI-&gt;EXTICR[1] &amp;= ~EXTI_EXTICR2_EXTI4_Msk;</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EXTI-&gt;EXTICR[1] |= (EXTI_PB &lt;&lt; EXTI_EXTICR2_EXTI4_Pos;</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EXTI-&gt;FTSR1 |= EXTI_FTSR1_FT4;</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EXTI-&gt;IMR1 |= EXTI_IMR1_IM4;</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NVIC_EnableIRQ(EXTI4_15_IRQn);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__enable_irq();			</a:t>
            </a:r>
            <a:endParaRPr b="1" sz="1100">
              <a:solidFill>
                <a:srgbClr val="3F7F59"/>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EXTI4_15_IRQHandler(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 </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E599"/>
                </a:highlight>
                <a:latin typeface="Courier New"/>
                <a:ea typeface="Courier New"/>
                <a:cs typeface="Courier New"/>
                <a:sym typeface="Courier New"/>
              </a:rPr>
              <a:t>if</a:t>
            </a:r>
            <a:r>
              <a:rPr b="1" lang="en" sz="1100">
                <a:solidFill>
                  <a:schemeClr val="dk1"/>
                </a:solidFill>
                <a:highlight>
                  <a:srgbClr val="FFE599"/>
                </a:highlight>
                <a:latin typeface="Courier New"/>
                <a:ea typeface="Courier New"/>
                <a:cs typeface="Courier New"/>
                <a:sym typeface="Courier New"/>
              </a:rPr>
              <a:t> (EXTI-&gt;FPR1 &amp; EXTI_FPR1_FPIF4) {</a:t>
            </a:r>
            <a:endParaRPr b="1" sz="1100">
              <a:solidFill>
                <a:schemeClr val="dk1"/>
              </a:solidFill>
              <a:highlight>
                <a:srgbClr val="FFE599"/>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E599"/>
                </a:highlight>
                <a:latin typeface="Courier New"/>
                <a:ea typeface="Courier New"/>
                <a:cs typeface="Courier New"/>
                <a:sym typeface="Courier New"/>
              </a:rPr>
              <a:t>        EXTI-&gt;FPR1 = EXTI_FPR1_FPIF4; </a:t>
            </a:r>
            <a:endParaRPr b="1" sz="1100">
              <a:solidFill>
                <a:schemeClr val="dk1"/>
              </a:solidFill>
              <a:highlight>
                <a:srgbClr val="FFE599"/>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E599"/>
                </a:highlight>
                <a:latin typeface="Courier New"/>
                <a:ea typeface="Courier New"/>
                <a:cs typeface="Courier New"/>
                <a:sym typeface="Courier New"/>
              </a:rPr>
              <a:t>        buttonPushed = 1;</a:t>
            </a:r>
            <a:endParaRPr b="1" sz="1100">
              <a:solidFill>
                <a:schemeClr val="dk1"/>
              </a:solidFill>
              <a:highlight>
                <a:srgbClr val="FFE599"/>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E599"/>
                </a:highlight>
                <a:latin typeface="Courier New"/>
                <a:ea typeface="Courier New"/>
                <a:cs typeface="Courier New"/>
                <a:sym typeface="Courier New"/>
              </a:rPr>
              <a:t>    }</a:t>
            </a:r>
            <a:endParaRPr b="1" sz="1100">
              <a:solidFill>
                <a:schemeClr val="dk1"/>
              </a:solidFill>
              <a:highlight>
                <a:srgbClr val="FFE599"/>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	</a:t>
            </a:r>
            <a:endParaRPr b="1" sz="1100">
              <a:solidFill>
                <a:schemeClr val="dk1"/>
              </a:solidFill>
              <a:highlight>
                <a:srgbClr val="FFE599"/>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8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highlight>
                <a:srgbClr val="FFE599"/>
              </a:highlight>
              <a:latin typeface="Courier New"/>
              <a:ea typeface="Courier New"/>
              <a:cs typeface="Courier New"/>
              <a:sym typeface="Courier New"/>
            </a:endParaRPr>
          </a:p>
        </p:txBody>
      </p:sp>
      <p:sp>
        <p:nvSpPr>
          <p:cNvPr id="447" name="Google Shape;447;p52"/>
          <p:cNvSpPr txBox="1"/>
          <p:nvPr/>
        </p:nvSpPr>
        <p:spPr>
          <a:xfrm>
            <a:off x="6710300" y="136300"/>
            <a:ext cx="2340900" cy="7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FF"/>
                </a:solidFill>
              </a:rPr>
              <a:t>Note: Since you will never call an ISR from within your code, it does not need a prototype.</a:t>
            </a:r>
            <a:endParaRPr sz="1200">
              <a:solidFill>
                <a:srgbClr val="0000FF"/>
              </a:solidFill>
            </a:endParaRPr>
          </a:p>
        </p:txBody>
      </p:sp>
      <p:cxnSp>
        <p:nvCxnSpPr>
          <p:cNvPr id="448" name="Google Shape;448;p52"/>
          <p:cNvCxnSpPr>
            <a:stCxn id="447" idx="1"/>
          </p:cNvCxnSpPr>
          <p:nvPr/>
        </p:nvCxnSpPr>
        <p:spPr>
          <a:xfrm flipH="1">
            <a:off x="2184800" y="500350"/>
            <a:ext cx="4525500" cy="1474200"/>
          </a:xfrm>
          <a:prstGeom prst="straightConnector1">
            <a:avLst/>
          </a:prstGeom>
          <a:noFill/>
          <a:ln cap="flat" cmpd="sng" w="28575">
            <a:solidFill>
              <a:srgbClr val="0000FF"/>
            </a:solidFill>
            <a:prstDash val="dot"/>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 counterResetButtonInt!</a:t>
            </a:r>
            <a:endParaRPr/>
          </a:p>
        </p:txBody>
      </p:sp>
      <p:sp>
        <p:nvSpPr>
          <p:cNvPr id="454" name="Google Shape;454;p5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 the resource configurations: </a:t>
            </a:r>
            <a:endParaRPr/>
          </a:p>
          <a:p>
            <a:pPr indent="-342900" lvl="0" marL="457200" rtl="0" algn="l">
              <a:spcBef>
                <a:spcPts val="1600"/>
              </a:spcBef>
              <a:spcAft>
                <a:spcPts val="0"/>
              </a:spcAft>
              <a:buSzPts val="1800"/>
              <a:buChar char="●"/>
            </a:pPr>
            <a:r>
              <a:rPr lang="en"/>
              <a:t>Exclude counterResetButtonPolled.c from the build configuration and </a:t>
            </a:r>
            <a:endParaRPr/>
          </a:p>
          <a:p>
            <a:pPr indent="-342900" lvl="0" marL="457200" rtl="0" algn="l">
              <a:spcBef>
                <a:spcPts val="0"/>
              </a:spcBef>
              <a:spcAft>
                <a:spcPts val="0"/>
              </a:spcAft>
              <a:buSzPts val="1800"/>
              <a:buChar char="●"/>
            </a:pPr>
            <a:r>
              <a:rPr lang="en"/>
              <a:t>Include counterResetButtonInt.c instead.</a:t>
            </a:r>
            <a:endParaRPr/>
          </a:p>
          <a:p>
            <a:pPr indent="0" lvl="0" marL="0" rtl="0" algn="l">
              <a:spcBef>
                <a:spcPts val="1600"/>
              </a:spcBef>
              <a:spcAft>
                <a:spcPts val="1600"/>
              </a:spcAft>
              <a:buNone/>
            </a:pPr>
            <a:r>
              <a:rPr lang="en"/>
              <a:t>Compile and upload to your Nucleo, observe how the program now reacts to a short button push.</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Exercise</a:t>
            </a:r>
            <a:endParaRPr/>
          </a:p>
        </p:txBody>
      </p:sp>
      <p:sp>
        <p:nvSpPr>
          <p:cNvPr id="460" name="Google Shape;460;p5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04A43"/>
                </a:solidFill>
              </a:rPr>
              <a:t>Modify</a:t>
            </a:r>
            <a:r>
              <a:rPr lang="en" sz="2500"/>
              <a:t> </a:t>
            </a:r>
            <a:endParaRPr sz="2500"/>
          </a:p>
          <a:p>
            <a:pPr indent="0" lvl="0" marL="0" rtl="0" algn="ctr">
              <a:spcBef>
                <a:spcPts val="1600"/>
              </a:spcBef>
              <a:spcAft>
                <a:spcPts val="0"/>
              </a:spcAft>
              <a:buNone/>
            </a:pPr>
            <a:r>
              <a:rPr lang="en" sz="2500">
                <a:latin typeface="Consolas"/>
                <a:ea typeface="Consolas"/>
                <a:cs typeface="Consolas"/>
                <a:sym typeface="Consolas"/>
              </a:rPr>
              <a:t>counterResetButtonInt.c</a:t>
            </a:r>
            <a:r>
              <a:rPr lang="en" sz="2500"/>
              <a:t> </a:t>
            </a:r>
            <a:endParaRPr sz="2500"/>
          </a:p>
          <a:p>
            <a:pPr indent="0" lvl="0" marL="0" rtl="0" algn="l">
              <a:spcBef>
                <a:spcPts val="1600"/>
              </a:spcBef>
              <a:spcAft>
                <a:spcPts val="0"/>
              </a:spcAft>
              <a:buNone/>
            </a:pPr>
            <a:r>
              <a:rPr lang="en" sz="2500"/>
              <a:t>so that in addition to the button on PB4 resetting the counter, the </a:t>
            </a:r>
            <a:r>
              <a:rPr lang="en" sz="2500">
                <a:solidFill>
                  <a:srgbClr val="0000E6"/>
                </a:solidFill>
              </a:rPr>
              <a:t>counting direction changes when the blue user button on the Nucleo board is pressed</a:t>
            </a:r>
            <a:r>
              <a:rPr lang="en" sz="2500"/>
              <a:t>.  </a:t>
            </a:r>
            <a:endParaRPr sz="2500"/>
          </a:p>
          <a:p>
            <a:pPr indent="0" lvl="0" marL="0" rtl="0" algn="l">
              <a:spcBef>
                <a:spcPts val="1600"/>
              </a:spcBef>
              <a:spcAft>
                <a:spcPts val="0"/>
              </a:spcAft>
              <a:buNone/>
            </a:pPr>
            <a:r>
              <a:t/>
            </a:r>
            <a:endParaRPr sz="2500"/>
          </a:p>
          <a:p>
            <a:pPr indent="0" lvl="0" marL="0" rtl="0" algn="l">
              <a:spcBef>
                <a:spcPts val="1600"/>
              </a:spcBef>
              <a:spcAft>
                <a:spcPts val="1600"/>
              </a:spcAft>
              <a:buNone/>
            </a:pPr>
            <a:r>
              <a:rPr lang="en" sz="2500"/>
              <a:t>Hint: The blue user button is on PC13.</a:t>
            </a:r>
            <a:endParaRPr sz="25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4" name="Shape 464"/>
        <p:cNvGrpSpPr/>
        <p:nvPr/>
      </p:nvGrpSpPr>
      <p:grpSpPr>
        <a:xfrm>
          <a:off x="0" y="0"/>
          <a:ext cx="0" cy="0"/>
          <a:chOff x="0" y="0"/>
          <a:chExt cx="0" cy="0"/>
        </a:xfrm>
      </p:grpSpPr>
      <p:sp>
        <p:nvSpPr>
          <p:cNvPr id="465" name="Google Shape;465;p55"/>
          <p:cNvSpPr txBox="1"/>
          <p:nvPr/>
        </p:nvSpPr>
        <p:spPr>
          <a:xfrm>
            <a:off x="0" y="247725"/>
            <a:ext cx="4065900" cy="62190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pc13_exti_init(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buttonB4Pushed;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buttonC13Pushed;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EXTI4_15_IRQHandler(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&amp; EXTI_FPR1_FPIF4)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 EXTI_FPR1_FPIF4;</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buttonB4Pushed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else</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if</a:t>
            </a:r>
            <a:r>
              <a:rPr b="1" lang="en" sz="1100">
                <a:solidFill>
                  <a:schemeClr val="dk1"/>
                </a:solidFill>
                <a:highlight>
                  <a:srgbClr val="F9FFCD"/>
                </a:highlight>
                <a:latin typeface="Courier New"/>
                <a:ea typeface="Courier New"/>
                <a:cs typeface="Courier New"/>
                <a:sym typeface="Courier New"/>
              </a:rPr>
              <a:t> (EXTI-&gt;</a:t>
            </a:r>
            <a:r>
              <a:rPr b="1" lang="en" sz="1100">
                <a:solidFill>
                  <a:srgbClr val="0000C0"/>
                </a:solidFill>
                <a:highlight>
                  <a:srgbClr val="F9FFCD"/>
                </a:highlight>
                <a:latin typeface="Courier New"/>
                <a:ea typeface="Courier New"/>
                <a:cs typeface="Courier New"/>
                <a:sym typeface="Courier New"/>
              </a:rPr>
              <a:t>FPR1</a:t>
            </a:r>
            <a:r>
              <a:rPr b="1" lang="en" sz="1100">
                <a:solidFill>
                  <a:schemeClr val="dk1"/>
                </a:solidFill>
                <a:highlight>
                  <a:srgbClr val="F9FFCD"/>
                </a:highlight>
                <a:latin typeface="Courier New"/>
                <a:ea typeface="Courier New"/>
                <a:cs typeface="Courier New"/>
                <a:sym typeface="Courier New"/>
              </a:rPr>
              <a:t> &amp; EXTI_FPR1_FPIF13) {</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EXTI-&gt;</a:t>
            </a:r>
            <a:r>
              <a:rPr b="1" lang="en" sz="1100">
                <a:solidFill>
                  <a:srgbClr val="0000C0"/>
                </a:solidFill>
                <a:highlight>
                  <a:srgbClr val="F9FFCD"/>
                </a:highlight>
                <a:latin typeface="Courier New"/>
                <a:ea typeface="Courier New"/>
                <a:cs typeface="Courier New"/>
                <a:sym typeface="Courier New"/>
              </a:rPr>
              <a:t>FPR1</a:t>
            </a:r>
            <a:r>
              <a:rPr b="1" lang="en" sz="1100">
                <a:solidFill>
                  <a:schemeClr val="dk1"/>
                </a:solidFill>
                <a:highlight>
                  <a:srgbClr val="F9FFCD"/>
                </a:highlight>
                <a:latin typeface="Courier New"/>
                <a:ea typeface="Courier New"/>
                <a:cs typeface="Courier New"/>
                <a:sym typeface="Courier New"/>
              </a:rPr>
              <a:t> = EXTI_FPR1_FPIF13;</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9FFCD"/>
                </a:highlight>
                <a:latin typeface="Courier New"/>
                <a:ea typeface="Courier New"/>
                <a:cs typeface="Courier New"/>
                <a:sym typeface="Courier New"/>
              </a:rPr>
              <a:t>    buttonC13Pushed = 1;</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9FFCD"/>
                </a:highlight>
                <a:latin typeface="Courier New"/>
                <a:ea typeface="Courier New"/>
                <a:cs typeface="Courier New"/>
                <a:sym typeface="Courier New"/>
              </a:rPr>
              <a:t>  }</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
        <p:nvSpPr>
          <p:cNvPr id="466" name="Google Shape;466;p55"/>
          <p:cNvSpPr txBox="1"/>
          <p:nvPr/>
        </p:nvSpPr>
        <p:spPr>
          <a:xfrm>
            <a:off x="3359400" y="104325"/>
            <a:ext cx="5928000" cy="59844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direction = 1;</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pc13_exti_init();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buttonB4Pushed = buttonC13Pushed = 0;</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"Counter with two button reset demo\r\n"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delay_ms(1000);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(buttonB4Pushed)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buttonB4Pushed = 0;	   </a:t>
            </a:r>
            <a:r>
              <a:rPr b="1" lang="en" sz="1100">
                <a:solidFill>
                  <a:srgbClr val="3F7F5F"/>
                </a:solidFill>
                <a:highlight>
                  <a:srgbClr val="FFFFFF"/>
                </a:highlight>
                <a:latin typeface="Courier New"/>
                <a:ea typeface="Courier New"/>
                <a:cs typeface="Courier New"/>
                <a:sym typeface="Courier New"/>
              </a:rPr>
              <a:t>// clear the flag</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else</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if</a:t>
            </a:r>
            <a:r>
              <a:rPr b="1" lang="en" sz="1100">
                <a:solidFill>
                  <a:schemeClr val="dk1"/>
                </a:solidFill>
                <a:highlight>
                  <a:srgbClr val="F9FFCD"/>
                </a:highlight>
                <a:latin typeface="Courier New"/>
                <a:ea typeface="Courier New"/>
                <a:cs typeface="Courier New"/>
                <a:sym typeface="Courier New"/>
              </a:rPr>
              <a:t> (buttonC13Pushed) {</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direction *= -1;</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counter += direction; </a:t>
            </a:r>
            <a:r>
              <a:rPr b="1" lang="en" sz="1100">
                <a:solidFill>
                  <a:srgbClr val="3F7F5F"/>
                </a:solidFill>
                <a:highlight>
                  <a:srgbClr val="F9FFCD"/>
                </a:highlight>
                <a:latin typeface="Courier New"/>
                <a:ea typeface="Courier New"/>
                <a:cs typeface="Courier New"/>
                <a:sym typeface="Courier New"/>
              </a:rPr>
              <a:t>// force one update </a:t>
            </a:r>
            <a:endParaRPr b="1" sz="1100">
              <a:solidFill>
                <a:srgbClr val="3F7F5F"/>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buttonC13Pushed = 0;  </a:t>
            </a:r>
            <a:r>
              <a:rPr b="1" lang="en" sz="1100">
                <a:solidFill>
                  <a:srgbClr val="3F7F5F"/>
                </a:solidFill>
                <a:highlight>
                  <a:srgbClr val="F9FFCD"/>
                </a:highlight>
                <a:latin typeface="Courier New"/>
                <a:ea typeface="Courier New"/>
                <a:cs typeface="Courier New"/>
                <a:sym typeface="Courier New"/>
              </a:rPr>
              <a:t>//clear the flag</a:t>
            </a:r>
            <a:endParaRPr b="1" sz="1100">
              <a:solidFill>
                <a:srgbClr val="3F7F5F"/>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(counter == MAXCOUNT) &amp;&amp; (direction == 1)</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counter == 0) &amp;&amp; (direction == -1)</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MAXCOUNT;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counter += direction;</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0" name="Shape 470"/>
        <p:cNvGrpSpPr/>
        <p:nvPr/>
      </p:nvGrpSpPr>
      <p:grpSpPr>
        <a:xfrm>
          <a:off x="0" y="0"/>
          <a:ext cx="0" cy="0"/>
          <a:chOff x="0" y="0"/>
          <a:chExt cx="0" cy="0"/>
        </a:xfrm>
      </p:grpSpPr>
      <p:sp>
        <p:nvSpPr>
          <p:cNvPr id="471" name="Google Shape;471;p56"/>
          <p:cNvSpPr txBox="1"/>
          <p:nvPr/>
        </p:nvSpPr>
        <p:spPr>
          <a:xfrm>
            <a:off x="143425" y="326100"/>
            <a:ext cx="4302000" cy="65319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clock access to GPIOB</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RCC_IOPENR_GPIOBEN;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Configure PB4 as input pin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(not necessary since this is default)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~GPIO_MODER_MODE4_Msk;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(GPIO_INPUT &lt;&lt; </a:t>
            </a:r>
            <a:endParaRPr b="1" sz="1100">
              <a:solidFill>
                <a:schemeClr val="dk1"/>
              </a:solidFill>
              <a:highlight>
                <a:srgbClr val="FFFFFF"/>
              </a:highlight>
              <a:latin typeface="Courier New"/>
              <a:ea typeface="Courier New"/>
              <a:cs typeface="Courier New"/>
              <a:sym typeface="Courier New"/>
            </a:endParaRPr>
          </a:p>
          <a:p>
            <a:pPr indent="431800" lvl="0" marL="9398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GPIO_MODER_MODE4_Pos);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pull-up for PB4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PUPDR</a:t>
            </a:r>
            <a:r>
              <a:rPr b="1" lang="en" sz="1100">
                <a:solidFill>
                  <a:schemeClr val="dk1"/>
                </a:solidFill>
                <a:highlight>
                  <a:srgbClr val="FFFFFF"/>
                </a:highlight>
                <a:latin typeface="Courier New"/>
                <a:ea typeface="Courier New"/>
                <a:cs typeface="Courier New"/>
                <a:sym typeface="Courier New"/>
              </a:rPr>
              <a:t> &amp;= ~GPIO_PUPDR_PUPD4_Msk;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PUPDR</a:t>
            </a:r>
            <a:r>
              <a:rPr b="1" lang="en" sz="1100">
                <a:solidFill>
                  <a:schemeClr val="dk1"/>
                </a:solidFill>
                <a:highlight>
                  <a:srgbClr val="FFFFFF"/>
                </a:highlight>
                <a:latin typeface="Courier New"/>
                <a:ea typeface="Courier New"/>
                <a:cs typeface="Courier New"/>
                <a:sym typeface="Courier New"/>
              </a:rPr>
              <a:t> |= (GPIO_PULLUP &lt;&lt; </a:t>
            </a:r>
            <a:endParaRPr b="1" sz="1100">
              <a:solidFill>
                <a:schemeClr val="dk1"/>
              </a:solidFill>
              <a:highlight>
                <a:srgbClr val="FFFFFF"/>
              </a:highlight>
              <a:latin typeface="Courier New"/>
              <a:ea typeface="Courier New"/>
              <a:cs typeface="Courier New"/>
              <a:sym typeface="Courier New"/>
            </a:endParaRPr>
          </a:p>
          <a:p>
            <a:pPr indent="431800" lvl="0" marL="13970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GPIO_PUPDR_PUPD4_Pos);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Configure EXTICR2</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EXTICR1..4 are accessed as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EXTICR[0..3]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[1] &amp;= ~EXTI_EXTICR2_EXTI4_Msk;</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[1] |= (EXTI_PB &lt;&lt; </a:t>
            </a:r>
            <a:endParaRPr b="1" sz="1100">
              <a:solidFill>
                <a:schemeClr val="dk1"/>
              </a:solidFill>
              <a:highlight>
                <a:srgbClr val="FFFFFF"/>
              </a:highlight>
              <a:latin typeface="Courier New"/>
              <a:ea typeface="Courier New"/>
              <a:cs typeface="Courier New"/>
              <a:sym typeface="Courier New"/>
            </a:endParaRPr>
          </a:p>
          <a:p>
            <a:pPr indent="457200" lvl="0" marL="13716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EXTI_EXTICR2_EXTI4_Pos);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Falling edge trigger for line EXTI4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FTSR1</a:t>
            </a:r>
            <a:r>
              <a:rPr b="1" lang="en" sz="1100">
                <a:solidFill>
                  <a:schemeClr val="dk1"/>
                </a:solidFill>
                <a:highlight>
                  <a:srgbClr val="FFFFFF"/>
                </a:highlight>
                <a:latin typeface="Courier New"/>
                <a:ea typeface="Courier New"/>
                <a:cs typeface="Courier New"/>
                <a:sym typeface="Courier New"/>
              </a:rPr>
              <a:t> |= EXTI_FTSR1_FT4;</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a:t>
            </a:r>
            <a:r>
              <a:rPr b="1" lang="en" sz="1100" u="sng">
                <a:solidFill>
                  <a:srgbClr val="3F7F5F"/>
                </a:solidFill>
                <a:highlight>
                  <a:srgbClr val="FFFFFF"/>
                </a:highlight>
                <a:latin typeface="Courier New"/>
                <a:ea typeface="Courier New"/>
                <a:cs typeface="Courier New"/>
                <a:sym typeface="Courier New"/>
              </a:rPr>
              <a:t>Unmask</a:t>
            </a:r>
            <a:r>
              <a:rPr b="1" lang="en" sz="1100">
                <a:solidFill>
                  <a:srgbClr val="3F7F5F"/>
                </a:solidFill>
                <a:highlight>
                  <a:srgbClr val="FFFFFF"/>
                </a:highlight>
                <a:latin typeface="Courier New"/>
                <a:ea typeface="Courier New"/>
                <a:cs typeface="Courier New"/>
                <a:sym typeface="Courier New"/>
              </a:rPr>
              <a:t> line EXTI4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IMR1</a:t>
            </a:r>
            <a:r>
              <a:rPr b="1" lang="en" sz="1100">
                <a:solidFill>
                  <a:schemeClr val="dk1"/>
                </a:solidFill>
                <a:highlight>
                  <a:srgbClr val="FFFFFF"/>
                </a:highlight>
                <a:latin typeface="Courier New"/>
                <a:ea typeface="Courier New"/>
                <a:cs typeface="Courier New"/>
                <a:sym typeface="Courier New"/>
              </a:rPr>
              <a:t> |= EXTI_IMR1_IM4;</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EXTI4 line in NVIC</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EXTI4_15_IRQn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
        <p:nvSpPr>
          <p:cNvPr id="472" name="Google Shape;472;p56"/>
          <p:cNvSpPr txBox="1"/>
          <p:nvPr/>
        </p:nvSpPr>
        <p:spPr>
          <a:xfrm>
            <a:off x="4224325" y="326100"/>
            <a:ext cx="4715700" cy="65319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pc13_exti_init(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clock access to GPIOB</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highlight>
                  <a:schemeClr val="lt1"/>
                </a:highlight>
                <a:latin typeface="Courier New"/>
                <a:ea typeface="Courier New"/>
                <a:cs typeface="Courier New"/>
                <a:sym typeface="Courier New"/>
              </a:rPr>
              <a:t>RCC_IOPENR_</a:t>
            </a:r>
            <a:r>
              <a:rPr b="1" lang="en" sz="1100">
                <a:solidFill>
                  <a:schemeClr val="dk1"/>
                </a:solidFill>
                <a:highlight>
                  <a:srgbClr val="FFFFFF"/>
                </a:highlight>
                <a:latin typeface="Courier New"/>
                <a:ea typeface="Courier New"/>
                <a:cs typeface="Courier New"/>
                <a:sym typeface="Courier New"/>
              </a:rPr>
              <a:t>GPIOCEN;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Configure PC13 as input pin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(not necessary since this is default)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GPIOC-&gt;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~GPIO_MODER_MODE13_Msk;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GPIOC-&gt;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(GPIO_INPUT &lt;&lt; </a:t>
            </a:r>
            <a:endParaRPr b="1" sz="1100">
              <a:solidFill>
                <a:schemeClr val="dk1"/>
              </a:solidFill>
              <a:highlight>
                <a:srgbClr val="FFFFFF"/>
              </a:highlight>
              <a:latin typeface="Courier New"/>
              <a:ea typeface="Courier New"/>
              <a:cs typeface="Courier New"/>
              <a:sym typeface="Courier New"/>
            </a:endParaRPr>
          </a:p>
          <a:p>
            <a:pPr indent="431800" lvl="0" marL="9398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GPIO_MODER_MODE13_Pos);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pull-up for PC13 (not necessary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since it is automatic for the blue button)</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 Configure EXTICR4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EXTICR1..4 are accessed as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EXTICR[0..3]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[3] &amp;= ~EXTI_EXTICR4_EXTI13_Msk;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[3] </a:t>
            </a:r>
            <a:r>
              <a:rPr b="1" lang="en" sz="1100">
                <a:solidFill>
                  <a:schemeClr val="dk1"/>
                </a:solidFill>
                <a:highlight>
                  <a:schemeClr val="lt1"/>
                </a:highlight>
                <a:latin typeface="Courier New"/>
                <a:ea typeface="Courier New"/>
                <a:cs typeface="Courier New"/>
                <a:sym typeface="Courier New"/>
              </a:rPr>
              <a:t>|= (EXTI_PC &lt;&lt; </a:t>
            </a:r>
            <a:endParaRPr b="1" sz="1100">
              <a:solidFill>
                <a:schemeClr val="dk1"/>
              </a:solidFill>
              <a:highlight>
                <a:schemeClr val="lt1"/>
              </a:highlight>
              <a:latin typeface="Courier New"/>
              <a:ea typeface="Courier New"/>
              <a:cs typeface="Courier New"/>
              <a:sym typeface="Courier New"/>
            </a:endParaRPr>
          </a:p>
          <a:p>
            <a:pPr indent="457200" lvl="0" marL="13716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EXTI_EXTICR4_EXTI13_Pos);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Falling edge trigger for line EXTI13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FTSR1</a:t>
            </a:r>
            <a:r>
              <a:rPr b="1" lang="en" sz="1100">
                <a:solidFill>
                  <a:schemeClr val="dk1"/>
                </a:solidFill>
                <a:highlight>
                  <a:srgbClr val="FFFFFF"/>
                </a:highlight>
                <a:latin typeface="Courier New"/>
                <a:ea typeface="Courier New"/>
                <a:cs typeface="Courier New"/>
                <a:sym typeface="Courier New"/>
              </a:rPr>
              <a:t> |= EXTI_FTSR1_FT13;</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a:t>
            </a:r>
            <a:r>
              <a:rPr b="1" lang="en" sz="1100" u="sng">
                <a:solidFill>
                  <a:srgbClr val="3F7F5F"/>
                </a:solidFill>
                <a:highlight>
                  <a:srgbClr val="FFFFFF"/>
                </a:highlight>
                <a:latin typeface="Courier New"/>
                <a:ea typeface="Courier New"/>
                <a:cs typeface="Courier New"/>
                <a:sym typeface="Courier New"/>
              </a:rPr>
              <a:t>Unmask</a:t>
            </a:r>
            <a:r>
              <a:rPr b="1" lang="en" sz="1100">
                <a:solidFill>
                  <a:srgbClr val="3F7F5F"/>
                </a:solidFill>
                <a:highlight>
                  <a:srgbClr val="FFFFFF"/>
                </a:highlight>
                <a:latin typeface="Courier New"/>
                <a:ea typeface="Courier New"/>
                <a:cs typeface="Courier New"/>
                <a:sym typeface="Courier New"/>
              </a:rPr>
              <a:t> line EXTI13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IMR1</a:t>
            </a:r>
            <a:r>
              <a:rPr b="1" lang="en" sz="1100">
                <a:solidFill>
                  <a:schemeClr val="dk1"/>
                </a:solidFill>
                <a:highlight>
                  <a:srgbClr val="FFFFFF"/>
                </a:highlight>
                <a:latin typeface="Courier New"/>
                <a:ea typeface="Courier New"/>
                <a:cs typeface="Courier New"/>
                <a:sym typeface="Courier New"/>
              </a:rPr>
              <a:t> |= EXTI_IMR1_IM13;</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EXTI13 line in NVIC</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EXTI4_15_IRQn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txBox="1"/>
          <p:nvPr>
            <p:ph type="title"/>
          </p:nvPr>
        </p:nvSpPr>
        <p:spPr>
          <a:xfrm>
            <a:off x="195000" y="303600"/>
            <a:ext cx="8754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Pushbutton interrupt</a:t>
            </a:r>
            <a:endParaRPr/>
          </a:p>
        </p:txBody>
      </p:sp>
      <p:sp>
        <p:nvSpPr>
          <p:cNvPr id="478" name="Google Shape;478;p57"/>
          <p:cNvSpPr txBox="1"/>
          <p:nvPr>
            <p:ph idx="1" type="body"/>
          </p:nvPr>
        </p:nvSpPr>
        <p:spPr>
          <a:xfrm>
            <a:off x="251625" y="1067108"/>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Button is on PB4 </a:t>
            </a:r>
            <a:r>
              <a:rPr lang="en">
                <a:solidFill>
                  <a:srgbClr val="CC0000"/>
                </a:solidFill>
              </a:rPr>
              <a:t>(PC13)</a:t>
            </a:r>
            <a:r>
              <a:rPr lang="en"/>
              <a:t>.</a:t>
            </a:r>
            <a:endParaRPr/>
          </a:p>
          <a:p>
            <a:pPr indent="-342900" lvl="0" marL="457200" rtl="0" algn="l">
              <a:spcBef>
                <a:spcPts val="1600"/>
              </a:spcBef>
              <a:spcAft>
                <a:spcPts val="0"/>
              </a:spcAft>
              <a:buSzPts val="1800"/>
              <a:buChar char="●"/>
            </a:pPr>
            <a:r>
              <a:rPr lang="en"/>
              <a:t>Configure PB4 </a:t>
            </a:r>
            <a:r>
              <a:rPr lang="en">
                <a:solidFill>
                  <a:srgbClr val="CC0000"/>
                </a:solidFill>
              </a:rPr>
              <a:t>(PC13)</a:t>
            </a:r>
            <a:r>
              <a:rPr lang="en"/>
              <a:t> as an input pin with pullup as per usual.</a:t>
            </a:r>
            <a:endParaRPr/>
          </a:p>
          <a:p>
            <a:pPr indent="-342900" lvl="0" marL="457200" rtl="0" algn="l">
              <a:spcBef>
                <a:spcPts val="0"/>
              </a:spcBef>
              <a:spcAft>
                <a:spcPts val="0"/>
              </a:spcAft>
              <a:buSzPts val="1800"/>
              <a:buChar char="●"/>
            </a:pPr>
            <a:r>
              <a:rPr lang="en"/>
              <a:t>Tell the EXTI multiplexer (via EXTI_EXTICRx) which of the 16 EXTI lines to enable: Line EXTI4 </a:t>
            </a:r>
            <a:r>
              <a:rPr lang="en">
                <a:solidFill>
                  <a:srgbClr val="CC0000"/>
                </a:solidFill>
              </a:rPr>
              <a:t>(EXTI13)</a:t>
            </a:r>
            <a:r>
              <a:rPr lang="en"/>
              <a:t>, in particular port B </a:t>
            </a:r>
            <a:r>
              <a:rPr lang="en">
                <a:solidFill>
                  <a:srgbClr val="CC0000"/>
                </a:solidFill>
              </a:rPr>
              <a:t>(port C)</a:t>
            </a:r>
            <a:r>
              <a:rPr lang="en"/>
              <a:t>. </a:t>
            </a:r>
            <a:endParaRPr/>
          </a:p>
          <a:p>
            <a:pPr indent="-342900" lvl="0" marL="457200" rtl="0" algn="l">
              <a:spcBef>
                <a:spcPts val="0"/>
              </a:spcBef>
              <a:spcAft>
                <a:spcPts val="0"/>
              </a:spcAft>
              <a:buSzPts val="1800"/>
              <a:buChar char="●"/>
            </a:pPr>
            <a:r>
              <a:rPr lang="en"/>
              <a:t>Tell the EXTI that we are looking for a falling edge on line EXTI4 </a:t>
            </a:r>
            <a:r>
              <a:rPr lang="en">
                <a:solidFill>
                  <a:srgbClr val="CC0000"/>
                </a:solidFill>
              </a:rPr>
              <a:t>(EXTI13) </a:t>
            </a:r>
            <a:r>
              <a:rPr lang="en"/>
              <a:t>(via EXTI_FTSR1).</a:t>
            </a:r>
            <a:endParaRPr/>
          </a:p>
          <a:p>
            <a:pPr indent="-342900" lvl="0" marL="457200" rtl="0" algn="l">
              <a:spcBef>
                <a:spcPts val="0"/>
              </a:spcBef>
              <a:spcAft>
                <a:spcPts val="0"/>
              </a:spcAft>
              <a:buSzPts val="1800"/>
              <a:buChar char="●"/>
            </a:pPr>
            <a:r>
              <a:rPr lang="en"/>
              <a:t>Tell the EXTI to unmask line EXTI4 </a:t>
            </a:r>
            <a:r>
              <a:rPr lang="en">
                <a:solidFill>
                  <a:srgbClr val="CC0000"/>
                </a:solidFill>
              </a:rPr>
              <a:t>(EXTI13) </a:t>
            </a:r>
            <a:r>
              <a:rPr lang="en"/>
              <a:t>so that events are actually noticed (via EXTI_IMR1).</a:t>
            </a:r>
            <a:endParaRPr/>
          </a:p>
          <a:p>
            <a:pPr indent="-342900" lvl="0" marL="457200" rtl="0" algn="l">
              <a:spcBef>
                <a:spcPts val="0"/>
              </a:spcBef>
              <a:spcAft>
                <a:spcPts val="0"/>
              </a:spcAft>
              <a:buSzPts val="1800"/>
              <a:buChar char="●"/>
            </a:pPr>
            <a:r>
              <a:rPr lang="en"/>
              <a:t>Tell the NVIC to enable interrupts on line EXTI4 </a:t>
            </a:r>
            <a:r>
              <a:rPr lang="en">
                <a:solidFill>
                  <a:srgbClr val="CC0000"/>
                </a:solidFill>
              </a:rPr>
              <a:t>(EXTI13) </a:t>
            </a:r>
            <a:r>
              <a:rPr lang="en"/>
              <a:t>(via NVIC_EnableIRQ() - a function provided to us).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8"/>
          <p:cNvSpPr txBox="1"/>
          <p:nvPr>
            <p:ph type="title"/>
          </p:nvPr>
        </p:nvSpPr>
        <p:spPr>
          <a:xfrm>
            <a:off x="311700" y="165580"/>
            <a:ext cx="8520600" cy="11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EXTI multiplexer to enable </a:t>
            </a:r>
            <a:r>
              <a:rPr lang="en">
                <a:solidFill>
                  <a:srgbClr val="38761D"/>
                </a:solidFill>
              </a:rPr>
              <a:t>Port C</a:t>
            </a:r>
            <a:r>
              <a:rPr lang="en"/>
              <a:t> on line </a:t>
            </a:r>
            <a:r>
              <a:rPr lang="en">
                <a:solidFill>
                  <a:srgbClr val="0000FF"/>
                </a:solidFill>
              </a:rPr>
              <a:t>EXTI</a:t>
            </a:r>
            <a:r>
              <a:rPr lang="en">
                <a:solidFill>
                  <a:srgbClr val="0000E6"/>
                </a:solidFill>
              </a:rPr>
              <a:t>13</a:t>
            </a:r>
            <a:r>
              <a:rPr lang="en">
                <a:solidFill>
                  <a:srgbClr val="0000E6"/>
                </a:solidFill>
              </a:rPr>
              <a:t>: </a:t>
            </a:r>
            <a:r>
              <a:rPr lang="en"/>
              <a:t>Register </a:t>
            </a:r>
            <a:r>
              <a:rPr b="1" lang="en"/>
              <a:t>EXTI_EXTICRx</a:t>
            </a:r>
            <a:r>
              <a:rPr lang="en"/>
              <a:t> </a:t>
            </a:r>
            <a:endParaRPr>
              <a:solidFill>
                <a:srgbClr val="0000E6"/>
              </a:solidFill>
            </a:endParaRPr>
          </a:p>
        </p:txBody>
      </p:sp>
      <p:graphicFrame>
        <p:nvGraphicFramePr>
          <p:cNvPr id="484" name="Google Shape;484;p58"/>
          <p:cNvGraphicFramePr/>
          <p:nvPr/>
        </p:nvGraphicFramePr>
        <p:xfrm>
          <a:off x="311700" y="1537000"/>
          <a:ext cx="3000000" cy="3000000"/>
        </p:xfrm>
        <a:graphic>
          <a:graphicData uri="http://schemas.openxmlformats.org/drawingml/2006/table">
            <a:tbl>
              <a:tblPr>
                <a:noFill/>
                <a:tableStyleId>{EDDE5C88-03BE-4C31-A5E0-17DF2B13A38E}</a:tableStyleId>
              </a:tblPr>
              <a:tblGrid>
                <a:gridCol w="1603525"/>
                <a:gridCol w="1464475"/>
                <a:gridCol w="2104425"/>
              </a:tblGrid>
              <a:tr h="381000">
                <a:tc>
                  <a:txBody>
                    <a:bodyPr/>
                    <a:lstStyle/>
                    <a:p>
                      <a:pPr indent="0" lvl="0" marL="0" rtl="0" algn="l">
                        <a:spcBef>
                          <a:spcPts val="0"/>
                        </a:spcBef>
                        <a:spcAft>
                          <a:spcPts val="0"/>
                        </a:spcAft>
                        <a:buNone/>
                      </a:pPr>
                      <a:r>
                        <a:rPr lang="en">
                          <a:solidFill>
                            <a:srgbClr val="0000FF"/>
                          </a:solidFill>
                        </a:rPr>
                        <a:t>Control register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Responsible for</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In code</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EXTI_EXTICR1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EXTI0-3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EXTI-&gt;EXTICR[0]</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EXTI_EXTICR2</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EXTI4-7</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EXTI-&gt;EXTICR[1]</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EXTI_EXTICR3</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EXTI8-11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EXTI-&gt;EXTICR[2]</a:t>
                      </a:r>
                      <a:endParaRPr>
                        <a:solidFill>
                          <a:srgbClr val="0000FF"/>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0000FF"/>
                          </a:solidFill>
                        </a:rPr>
                        <a:t>EXTI_EXTICR4</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EXTI12-15</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EXTI-&gt;EXTICR[3]</a:t>
                      </a:r>
                      <a:endParaRPr>
                        <a:solidFill>
                          <a:srgbClr val="0000FF"/>
                        </a:solidFill>
                      </a:endParaRPr>
                    </a:p>
                  </a:txBody>
                  <a:tcPr marT="91425" marB="91425" marR="91425" marL="91425"/>
                </a:tc>
              </a:tr>
            </a:tbl>
          </a:graphicData>
        </a:graphic>
      </p:graphicFrame>
      <p:sp>
        <p:nvSpPr>
          <p:cNvPr id="485" name="Google Shape;485;p58"/>
          <p:cNvSpPr txBox="1"/>
          <p:nvPr/>
        </p:nvSpPr>
        <p:spPr>
          <a:xfrm>
            <a:off x="311700" y="4353425"/>
            <a:ext cx="8520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900">
                <a:solidFill>
                  <a:srgbClr val="008C00"/>
                </a:solidFill>
                <a:latin typeface="Courier New"/>
                <a:ea typeface="Courier New"/>
                <a:cs typeface="Courier New"/>
                <a:sym typeface="Courier New"/>
              </a:rPr>
              <a:t>EXTI-&gt;EXTICR[3] &amp;= ~EXTI_EXTICR4_EXTI13_Msk;</a:t>
            </a:r>
            <a:endParaRPr b="1" sz="1900">
              <a:solidFill>
                <a:srgbClr val="008C00"/>
              </a:solidFill>
              <a:latin typeface="Courier New"/>
              <a:ea typeface="Courier New"/>
              <a:cs typeface="Courier New"/>
              <a:sym typeface="Courier New"/>
            </a:endParaRPr>
          </a:p>
          <a:p>
            <a:pPr indent="0" lvl="0" marL="0" rtl="0" algn="l">
              <a:spcBef>
                <a:spcPts val="0"/>
              </a:spcBef>
              <a:spcAft>
                <a:spcPts val="0"/>
              </a:spcAft>
              <a:buNone/>
            </a:pPr>
            <a:r>
              <a:rPr b="1" lang="en" sz="1900">
                <a:solidFill>
                  <a:srgbClr val="008C00"/>
                </a:solidFill>
                <a:latin typeface="Courier New"/>
                <a:ea typeface="Courier New"/>
                <a:cs typeface="Courier New"/>
                <a:sym typeface="Courier New"/>
              </a:rPr>
              <a:t>EXTI-&gt;EXTICR[3] |= (EXTI_PC &lt;&lt; EXTI_EXTICR4_EXTI13_Pos)</a:t>
            </a:r>
            <a:r>
              <a:rPr b="1" lang="en" sz="2300">
                <a:solidFill>
                  <a:srgbClr val="008C00"/>
                </a:solidFill>
                <a:latin typeface="Courier New"/>
                <a:ea typeface="Courier New"/>
                <a:cs typeface="Courier New"/>
                <a:sym typeface="Courier New"/>
              </a:rPr>
              <a:t>;</a:t>
            </a:r>
            <a:endParaRPr b="1" sz="2300">
              <a:solidFill>
                <a:srgbClr val="008C00"/>
              </a:solidFill>
              <a:latin typeface="Courier New"/>
              <a:ea typeface="Courier New"/>
              <a:cs typeface="Courier New"/>
              <a:sym typeface="Courier New"/>
            </a:endParaRPr>
          </a:p>
        </p:txBody>
      </p:sp>
      <p:sp>
        <p:nvSpPr>
          <p:cNvPr id="486" name="Google Shape;486;p58"/>
          <p:cNvSpPr/>
          <p:nvPr/>
        </p:nvSpPr>
        <p:spPr>
          <a:xfrm>
            <a:off x="311750" y="3121725"/>
            <a:ext cx="51723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58"/>
          <p:cNvSpPr/>
          <p:nvPr/>
        </p:nvSpPr>
        <p:spPr>
          <a:xfrm>
            <a:off x="2145900" y="4393288"/>
            <a:ext cx="4083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58"/>
          <p:cNvSpPr/>
          <p:nvPr/>
        </p:nvSpPr>
        <p:spPr>
          <a:xfrm>
            <a:off x="4831200" y="4393300"/>
            <a:ext cx="2511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9" name="Google Shape;489;p58"/>
          <p:cNvCxnSpPr>
            <a:endCxn id="490" idx="0"/>
          </p:cNvCxnSpPr>
          <p:nvPr/>
        </p:nvCxnSpPr>
        <p:spPr>
          <a:xfrm>
            <a:off x="3692700" y="5172575"/>
            <a:ext cx="0" cy="492300"/>
          </a:xfrm>
          <a:prstGeom prst="straightConnector1">
            <a:avLst/>
          </a:prstGeom>
          <a:noFill/>
          <a:ln cap="flat" cmpd="sng" w="28575">
            <a:solidFill>
              <a:srgbClr val="0000FF"/>
            </a:solidFill>
            <a:prstDash val="solid"/>
            <a:round/>
            <a:headEnd len="med" w="med" type="triangle"/>
            <a:tailEnd len="med" w="med" type="none"/>
          </a:ln>
        </p:spPr>
      </p:cxnSp>
      <p:sp>
        <p:nvSpPr>
          <p:cNvPr id="490" name="Google Shape;490;p58"/>
          <p:cNvSpPr txBox="1"/>
          <p:nvPr/>
        </p:nvSpPr>
        <p:spPr>
          <a:xfrm>
            <a:off x="2554200" y="5664875"/>
            <a:ext cx="227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defined in ES28.h</a:t>
            </a:r>
            <a:endParaRPr sz="1800">
              <a:solidFill>
                <a:srgbClr val="0000FF"/>
              </a:solidFill>
            </a:endParaRPr>
          </a:p>
        </p:txBody>
      </p:sp>
      <p:pic>
        <p:nvPicPr>
          <p:cNvPr id="491" name="Google Shape;491;p58"/>
          <p:cNvPicPr preferRelativeResize="0"/>
          <p:nvPr/>
        </p:nvPicPr>
        <p:blipFill rotWithShape="1">
          <a:blip r:embed="rId3">
            <a:alphaModFix/>
          </a:blip>
          <a:srcRect b="9424" l="70621" r="1561" t="4982"/>
          <a:stretch/>
        </p:blipFill>
        <p:spPr>
          <a:xfrm>
            <a:off x="6824325" y="1290775"/>
            <a:ext cx="1829549" cy="2227225"/>
          </a:xfrm>
          <a:prstGeom prst="rect">
            <a:avLst/>
          </a:prstGeom>
          <a:noFill/>
          <a:ln>
            <a:noFill/>
          </a:ln>
        </p:spPr>
      </p:pic>
      <p:sp>
        <p:nvSpPr>
          <p:cNvPr id="492" name="Google Shape;492;p58"/>
          <p:cNvSpPr txBox="1"/>
          <p:nvPr/>
        </p:nvSpPr>
        <p:spPr>
          <a:xfrm>
            <a:off x="7085125" y="1514550"/>
            <a:ext cx="103500" cy="1746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595959"/>
                </a:solidFill>
              </a:rPr>
              <a:t>3</a:t>
            </a:r>
            <a:endParaRPr sz="1200">
              <a:solidFill>
                <a:srgbClr val="595959"/>
              </a:solidFill>
            </a:endParaRPr>
          </a:p>
        </p:txBody>
      </p:sp>
      <p:sp>
        <p:nvSpPr>
          <p:cNvPr id="493" name="Google Shape;493;p58"/>
          <p:cNvSpPr txBox="1"/>
          <p:nvPr/>
        </p:nvSpPr>
        <p:spPr>
          <a:xfrm>
            <a:off x="7085125" y="1846825"/>
            <a:ext cx="103500" cy="1746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595959"/>
                </a:solidFill>
              </a:rPr>
              <a:t>3</a:t>
            </a:r>
            <a:endParaRPr sz="1200">
              <a:solidFill>
                <a:srgbClr val="595959"/>
              </a:solidFill>
            </a:endParaRPr>
          </a:p>
        </p:txBody>
      </p:sp>
      <p:sp>
        <p:nvSpPr>
          <p:cNvPr id="494" name="Google Shape;494;p58"/>
          <p:cNvSpPr txBox="1"/>
          <p:nvPr/>
        </p:nvSpPr>
        <p:spPr>
          <a:xfrm>
            <a:off x="7085125" y="2179100"/>
            <a:ext cx="103500" cy="1746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595959"/>
                </a:solidFill>
              </a:rPr>
              <a:t>3</a:t>
            </a:r>
            <a:endParaRPr sz="1200">
              <a:solidFill>
                <a:srgbClr val="595959"/>
              </a:solidFill>
            </a:endParaRPr>
          </a:p>
        </p:txBody>
      </p:sp>
      <p:sp>
        <p:nvSpPr>
          <p:cNvPr id="495" name="Google Shape;495;p58"/>
          <p:cNvSpPr txBox="1"/>
          <p:nvPr/>
        </p:nvSpPr>
        <p:spPr>
          <a:xfrm>
            <a:off x="7085125" y="3163550"/>
            <a:ext cx="103500" cy="1746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595959"/>
                </a:solidFill>
              </a:rPr>
              <a:t>3</a:t>
            </a:r>
            <a:endParaRPr sz="1200">
              <a:solidFill>
                <a:srgbClr val="595959"/>
              </a:solidFill>
            </a:endParaRPr>
          </a:p>
        </p:txBody>
      </p:sp>
      <p:sp>
        <p:nvSpPr>
          <p:cNvPr id="496" name="Google Shape;496;p58"/>
          <p:cNvSpPr txBox="1"/>
          <p:nvPr/>
        </p:nvSpPr>
        <p:spPr>
          <a:xfrm>
            <a:off x="8462900" y="2259775"/>
            <a:ext cx="103500" cy="1746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595959"/>
                </a:solidFill>
              </a:rPr>
              <a:t>3</a:t>
            </a:r>
            <a:endParaRPr sz="1200">
              <a:solidFill>
                <a:srgbClr val="595959"/>
              </a:solidFill>
            </a:endParaRPr>
          </a:p>
        </p:txBody>
      </p:sp>
      <p:sp>
        <p:nvSpPr>
          <p:cNvPr id="497" name="Google Shape;497;p58"/>
          <p:cNvSpPr/>
          <p:nvPr/>
        </p:nvSpPr>
        <p:spPr>
          <a:xfrm>
            <a:off x="6813025" y="2095063"/>
            <a:ext cx="647700" cy="3303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8761D"/>
              </a:solidFill>
            </a:endParaRPr>
          </a:p>
        </p:txBody>
      </p:sp>
      <p:sp>
        <p:nvSpPr>
          <p:cNvPr id="498" name="Google Shape;498;p58"/>
          <p:cNvSpPr/>
          <p:nvPr/>
        </p:nvSpPr>
        <p:spPr>
          <a:xfrm>
            <a:off x="5764450" y="4393300"/>
            <a:ext cx="352800" cy="396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58"/>
          <p:cNvSpPr/>
          <p:nvPr/>
        </p:nvSpPr>
        <p:spPr>
          <a:xfrm>
            <a:off x="6416025" y="4789575"/>
            <a:ext cx="2511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58"/>
          <p:cNvSpPr/>
          <p:nvPr/>
        </p:nvSpPr>
        <p:spPr>
          <a:xfrm>
            <a:off x="7331100" y="4789575"/>
            <a:ext cx="352800" cy="396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58"/>
          <p:cNvSpPr/>
          <p:nvPr/>
        </p:nvSpPr>
        <p:spPr>
          <a:xfrm>
            <a:off x="2145900" y="4789563"/>
            <a:ext cx="408300" cy="3963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58"/>
          <p:cNvSpPr/>
          <p:nvPr/>
        </p:nvSpPr>
        <p:spPr>
          <a:xfrm>
            <a:off x="5887900" y="238332"/>
            <a:ext cx="1014900" cy="4923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8761D"/>
              </a:solidFill>
            </a:endParaRPr>
          </a:p>
        </p:txBody>
      </p:sp>
      <p:sp>
        <p:nvSpPr>
          <p:cNvPr id="503" name="Google Shape;503;p58"/>
          <p:cNvSpPr/>
          <p:nvPr/>
        </p:nvSpPr>
        <p:spPr>
          <a:xfrm>
            <a:off x="3997250" y="4776275"/>
            <a:ext cx="408300" cy="3963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8761D"/>
              </a:solidFill>
            </a:endParaRPr>
          </a:p>
        </p:txBody>
      </p:sp>
      <p:sp>
        <p:nvSpPr>
          <p:cNvPr id="504" name="Google Shape;504;p58"/>
          <p:cNvSpPr/>
          <p:nvPr/>
        </p:nvSpPr>
        <p:spPr>
          <a:xfrm>
            <a:off x="392850" y="730625"/>
            <a:ext cx="1290900" cy="396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58"/>
          <p:cNvSpPr/>
          <p:nvPr/>
        </p:nvSpPr>
        <p:spPr>
          <a:xfrm>
            <a:off x="8065500" y="2206250"/>
            <a:ext cx="647700" cy="330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9" name="Shape 509"/>
        <p:cNvGrpSpPr/>
        <p:nvPr/>
      </p:nvGrpSpPr>
      <p:grpSpPr>
        <a:xfrm>
          <a:off x="0" y="0"/>
          <a:ext cx="0" cy="0"/>
          <a:chOff x="0" y="0"/>
          <a:chExt cx="0" cy="0"/>
        </a:xfrm>
      </p:grpSpPr>
      <p:sp>
        <p:nvSpPr>
          <p:cNvPr id="510" name="Google Shape;510;p59"/>
          <p:cNvSpPr txBox="1"/>
          <p:nvPr/>
        </p:nvSpPr>
        <p:spPr>
          <a:xfrm>
            <a:off x="0" y="247725"/>
            <a:ext cx="4065900" cy="62190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pc13_exti_init(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buttonB4Pushed;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buttonC13Pushed;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EXTI4_15_IRQHandler(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&amp; EXTI_FPR1_FPIF4)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 EXTI_FPR1_FPIF4;</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buttonB4Pushed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else</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if</a:t>
            </a:r>
            <a:r>
              <a:rPr b="1" lang="en" sz="1100">
                <a:solidFill>
                  <a:schemeClr val="dk1"/>
                </a:solidFill>
                <a:highlight>
                  <a:srgbClr val="F9FFCD"/>
                </a:highlight>
                <a:latin typeface="Courier New"/>
                <a:ea typeface="Courier New"/>
                <a:cs typeface="Courier New"/>
                <a:sym typeface="Courier New"/>
              </a:rPr>
              <a:t> (EXTI-&gt;</a:t>
            </a:r>
            <a:r>
              <a:rPr b="1" lang="en" sz="1100">
                <a:solidFill>
                  <a:srgbClr val="0000C0"/>
                </a:solidFill>
                <a:highlight>
                  <a:srgbClr val="F9FFCD"/>
                </a:highlight>
                <a:latin typeface="Courier New"/>
                <a:ea typeface="Courier New"/>
                <a:cs typeface="Courier New"/>
                <a:sym typeface="Courier New"/>
              </a:rPr>
              <a:t>FPR1</a:t>
            </a:r>
            <a:r>
              <a:rPr b="1" lang="en" sz="1100">
                <a:solidFill>
                  <a:schemeClr val="dk1"/>
                </a:solidFill>
                <a:highlight>
                  <a:srgbClr val="F9FFCD"/>
                </a:highlight>
                <a:latin typeface="Courier New"/>
                <a:ea typeface="Courier New"/>
                <a:cs typeface="Courier New"/>
                <a:sym typeface="Courier New"/>
              </a:rPr>
              <a:t> &amp; EXTI_FPR1_FPIF13) {</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EXTI-&gt;</a:t>
            </a:r>
            <a:r>
              <a:rPr b="1" lang="en" sz="1100">
                <a:solidFill>
                  <a:srgbClr val="0000C0"/>
                </a:solidFill>
                <a:highlight>
                  <a:srgbClr val="F9FFCD"/>
                </a:highlight>
                <a:latin typeface="Courier New"/>
                <a:ea typeface="Courier New"/>
                <a:cs typeface="Courier New"/>
                <a:sym typeface="Courier New"/>
              </a:rPr>
              <a:t>FPR1</a:t>
            </a:r>
            <a:r>
              <a:rPr b="1" lang="en" sz="1100">
                <a:solidFill>
                  <a:schemeClr val="dk1"/>
                </a:solidFill>
                <a:highlight>
                  <a:srgbClr val="F9FFCD"/>
                </a:highlight>
                <a:latin typeface="Courier New"/>
                <a:ea typeface="Courier New"/>
                <a:cs typeface="Courier New"/>
                <a:sym typeface="Courier New"/>
              </a:rPr>
              <a:t> = EXTI_FPR1_FPIF13;</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9FFCD"/>
                </a:highlight>
                <a:latin typeface="Courier New"/>
                <a:ea typeface="Courier New"/>
                <a:cs typeface="Courier New"/>
                <a:sym typeface="Courier New"/>
              </a:rPr>
              <a:t>    buttonC13Pushed = 1;</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9FFCD"/>
                </a:highlight>
                <a:latin typeface="Courier New"/>
                <a:ea typeface="Courier New"/>
                <a:cs typeface="Courier New"/>
                <a:sym typeface="Courier New"/>
              </a:rPr>
              <a:t>  }</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
        <p:nvSpPr>
          <p:cNvPr id="511" name="Google Shape;511;p59"/>
          <p:cNvSpPr txBox="1"/>
          <p:nvPr/>
        </p:nvSpPr>
        <p:spPr>
          <a:xfrm>
            <a:off x="3359400" y="104325"/>
            <a:ext cx="5928000" cy="59844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direction = 1;</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pc13_exti_init();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buttonB4Pushed = buttonC13Pushed = 0;</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"Counter with two button reset demo\r\n"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delay_ms(1000);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(buttonB4Pushed)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buttonB4Pushed = 0;	   </a:t>
            </a:r>
            <a:r>
              <a:rPr b="1" lang="en" sz="1100">
                <a:solidFill>
                  <a:srgbClr val="3F7F5F"/>
                </a:solidFill>
                <a:highlight>
                  <a:srgbClr val="FFFFFF"/>
                </a:highlight>
                <a:latin typeface="Courier New"/>
                <a:ea typeface="Courier New"/>
                <a:cs typeface="Courier New"/>
                <a:sym typeface="Courier New"/>
              </a:rPr>
              <a:t>// clear the flag</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else</a:t>
            </a:r>
            <a:r>
              <a:rPr b="1" lang="en" sz="1100">
                <a:solidFill>
                  <a:schemeClr val="dk1"/>
                </a:solidFill>
                <a:highlight>
                  <a:srgbClr val="F9FFCD"/>
                </a:highlight>
                <a:latin typeface="Courier New"/>
                <a:ea typeface="Courier New"/>
                <a:cs typeface="Courier New"/>
                <a:sym typeface="Courier New"/>
              </a:rPr>
              <a:t> </a:t>
            </a:r>
            <a:r>
              <a:rPr b="1" lang="en" sz="1100">
                <a:solidFill>
                  <a:srgbClr val="7F0055"/>
                </a:solidFill>
                <a:highlight>
                  <a:srgbClr val="F9FFCD"/>
                </a:highlight>
                <a:latin typeface="Courier New"/>
                <a:ea typeface="Courier New"/>
                <a:cs typeface="Courier New"/>
                <a:sym typeface="Courier New"/>
              </a:rPr>
              <a:t>if</a:t>
            </a:r>
            <a:r>
              <a:rPr b="1" lang="en" sz="1100">
                <a:solidFill>
                  <a:schemeClr val="dk1"/>
                </a:solidFill>
                <a:highlight>
                  <a:srgbClr val="F9FFCD"/>
                </a:highlight>
                <a:latin typeface="Courier New"/>
                <a:ea typeface="Courier New"/>
                <a:cs typeface="Courier New"/>
                <a:sym typeface="Courier New"/>
              </a:rPr>
              <a:t> (buttonC13Pushed) {</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direction *= -1;</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counter += direction; </a:t>
            </a:r>
            <a:r>
              <a:rPr b="1" lang="en" sz="1100">
                <a:solidFill>
                  <a:srgbClr val="3F7F5F"/>
                </a:solidFill>
                <a:highlight>
                  <a:srgbClr val="F9FFCD"/>
                </a:highlight>
                <a:latin typeface="Courier New"/>
                <a:ea typeface="Courier New"/>
                <a:cs typeface="Courier New"/>
                <a:sym typeface="Courier New"/>
              </a:rPr>
              <a:t>// force one update </a:t>
            </a:r>
            <a:endParaRPr b="1" sz="1100">
              <a:solidFill>
                <a:srgbClr val="3F7F5F"/>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buttonC13Pushed = 0;  </a:t>
            </a:r>
            <a:r>
              <a:rPr b="1" lang="en" sz="1100">
                <a:solidFill>
                  <a:srgbClr val="3F7F5F"/>
                </a:solidFill>
                <a:highlight>
                  <a:srgbClr val="F9FFCD"/>
                </a:highlight>
                <a:latin typeface="Courier New"/>
                <a:ea typeface="Courier New"/>
                <a:cs typeface="Courier New"/>
                <a:sym typeface="Courier New"/>
              </a:rPr>
              <a:t>//clear the flag</a:t>
            </a:r>
            <a:endParaRPr b="1" sz="1100">
              <a:solidFill>
                <a:srgbClr val="3F7F5F"/>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9FFCD"/>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(counter == MAXCOUNT) &amp;&amp; (direction == 1)</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counter == 0) &amp;&amp; (direction == -1)</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MAXCOUNT;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9FFCD"/>
                </a:highlight>
                <a:latin typeface="Courier New"/>
                <a:ea typeface="Courier New"/>
                <a:cs typeface="Courier New"/>
                <a:sym typeface="Courier New"/>
              </a:rPr>
              <a:t>counter += direction;</a:t>
            </a:r>
            <a:endParaRPr b="1" sz="1100">
              <a:solidFill>
                <a:schemeClr val="dk1"/>
              </a:solidFill>
              <a:highlight>
                <a:srgbClr val="F9FFCD"/>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5" name="Shape 515"/>
        <p:cNvGrpSpPr/>
        <p:nvPr/>
      </p:nvGrpSpPr>
      <p:grpSpPr>
        <a:xfrm>
          <a:off x="0" y="0"/>
          <a:ext cx="0" cy="0"/>
          <a:chOff x="0" y="0"/>
          <a:chExt cx="0" cy="0"/>
        </a:xfrm>
      </p:grpSpPr>
      <p:sp>
        <p:nvSpPr>
          <p:cNvPr id="516" name="Google Shape;516;p60"/>
          <p:cNvSpPr txBox="1"/>
          <p:nvPr/>
        </p:nvSpPr>
        <p:spPr>
          <a:xfrm>
            <a:off x="143425" y="326100"/>
            <a:ext cx="4302000" cy="65319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clock access to GPIOB</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RCC_IOPENR_GPIOBEN;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Configure PB4 as input pin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(not necessary since this is default)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~GPIO_MODER_MODE4_Msk;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(GPIO_INPUT &lt;&lt; </a:t>
            </a:r>
            <a:endParaRPr b="1" sz="1100">
              <a:solidFill>
                <a:schemeClr val="dk1"/>
              </a:solidFill>
              <a:highlight>
                <a:srgbClr val="FFFFFF"/>
              </a:highlight>
              <a:latin typeface="Courier New"/>
              <a:ea typeface="Courier New"/>
              <a:cs typeface="Courier New"/>
              <a:sym typeface="Courier New"/>
            </a:endParaRPr>
          </a:p>
          <a:p>
            <a:pPr indent="431800" lvl="0" marL="9398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GPIO_MODER_MODE4_Pos);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pull-up for PB4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PUPDR</a:t>
            </a:r>
            <a:r>
              <a:rPr b="1" lang="en" sz="1100">
                <a:solidFill>
                  <a:schemeClr val="dk1"/>
                </a:solidFill>
                <a:highlight>
                  <a:srgbClr val="FFFFFF"/>
                </a:highlight>
                <a:latin typeface="Courier New"/>
                <a:ea typeface="Courier New"/>
                <a:cs typeface="Courier New"/>
                <a:sym typeface="Courier New"/>
              </a:rPr>
              <a:t> &amp;= ~GPIO_PUPDR_PUPD4_Msk;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GPIOB-&gt;</a:t>
            </a:r>
            <a:r>
              <a:rPr b="1" lang="en" sz="1100">
                <a:solidFill>
                  <a:srgbClr val="0000C0"/>
                </a:solidFill>
                <a:highlight>
                  <a:srgbClr val="FFFFFF"/>
                </a:highlight>
                <a:latin typeface="Courier New"/>
                <a:ea typeface="Courier New"/>
                <a:cs typeface="Courier New"/>
                <a:sym typeface="Courier New"/>
              </a:rPr>
              <a:t>PUPDR</a:t>
            </a:r>
            <a:r>
              <a:rPr b="1" lang="en" sz="1100">
                <a:solidFill>
                  <a:schemeClr val="dk1"/>
                </a:solidFill>
                <a:highlight>
                  <a:srgbClr val="FFFFFF"/>
                </a:highlight>
                <a:latin typeface="Courier New"/>
                <a:ea typeface="Courier New"/>
                <a:cs typeface="Courier New"/>
                <a:sym typeface="Courier New"/>
              </a:rPr>
              <a:t> |= (GPIO_PULLUP &lt;&lt; </a:t>
            </a:r>
            <a:endParaRPr b="1" sz="1100">
              <a:solidFill>
                <a:schemeClr val="dk1"/>
              </a:solidFill>
              <a:highlight>
                <a:srgbClr val="FFFFFF"/>
              </a:highlight>
              <a:latin typeface="Courier New"/>
              <a:ea typeface="Courier New"/>
              <a:cs typeface="Courier New"/>
              <a:sym typeface="Courier New"/>
            </a:endParaRPr>
          </a:p>
          <a:p>
            <a:pPr indent="431800" lvl="0" marL="13970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GPIO_PUPDR_PUPD4_Pos);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Configure EXTICR2</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EXTICR1..4 are accessed as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EXTICR[0..3]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[1] &amp;= ~EXTI_EXTICR2_EXTI4_Msk;</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[1] |= (EXTI_PB &lt;&lt; </a:t>
            </a:r>
            <a:endParaRPr b="1" sz="1100">
              <a:solidFill>
                <a:schemeClr val="dk1"/>
              </a:solidFill>
              <a:highlight>
                <a:srgbClr val="FFFFFF"/>
              </a:highlight>
              <a:latin typeface="Courier New"/>
              <a:ea typeface="Courier New"/>
              <a:cs typeface="Courier New"/>
              <a:sym typeface="Courier New"/>
            </a:endParaRPr>
          </a:p>
          <a:p>
            <a:pPr indent="457200" lvl="0" marL="13716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EXTI_EXTICR2_EXTI4_Pos);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Falling edge trigger for line EXTI4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FTSR1</a:t>
            </a:r>
            <a:r>
              <a:rPr b="1" lang="en" sz="1100">
                <a:solidFill>
                  <a:schemeClr val="dk1"/>
                </a:solidFill>
                <a:highlight>
                  <a:srgbClr val="FFFFFF"/>
                </a:highlight>
                <a:latin typeface="Courier New"/>
                <a:ea typeface="Courier New"/>
                <a:cs typeface="Courier New"/>
                <a:sym typeface="Courier New"/>
              </a:rPr>
              <a:t> |= EXTI_FTSR1_FT4;</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a:t>
            </a:r>
            <a:r>
              <a:rPr b="1" lang="en" sz="1100" u="sng">
                <a:solidFill>
                  <a:srgbClr val="3F7F5F"/>
                </a:solidFill>
                <a:highlight>
                  <a:srgbClr val="FFFFFF"/>
                </a:highlight>
                <a:latin typeface="Courier New"/>
                <a:ea typeface="Courier New"/>
                <a:cs typeface="Courier New"/>
                <a:sym typeface="Courier New"/>
              </a:rPr>
              <a:t>Unmask</a:t>
            </a:r>
            <a:r>
              <a:rPr b="1" lang="en" sz="1100">
                <a:solidFill>
                  <a:srgbClr val="3F7F5F"/>
                </a:solidFill>
                <a:highlight>
                  <a:srgbClr val="FFFFFF"/>
                </a:highlight>
                <a:latin typeface="Courier New"/>
                <a:ea typeface="Courier New"/>
                <a:cs typeface="Courier New"/>
                <a:sym typeface="Courier New"/>
              </a:rPr>
              <a:t> line EXTI4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IMR1</a:t>
            </a:r>
            <a:r>
              <a:rPr b="1" lang="en" sz="1100">
                <a:solidFill>
                  <a:schemeClr val="dk1"/>
                </a:solidFill>
                <a:highlight>
                  <a:srgbClr val="FFFFFF"/>
                </a:highlight>
                <a:latin typeface="Courier New"/>
                <a:ea typeface="Courier New"/>
                <a:cs typeface="Courier New"/>
                <a:sym typeface="Courier New"/>
              </a:rPr>
              <a:t> |= EXTI_IMR1_IM4;</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EXTI4 line in NVIC</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EXTI4_15_IRQn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
        <p:nvSpPr>
          <p:cNvPr id="517" name="Google Shape;517;p60"/>
          <p:cNvSpPr txBox="1"/>
          <p:nvPr/>
        </p:nvSpPr>
        <p:spPr>
          <a:xfrm>
            <a:off x="4224325" y="326100"/>
            <a:ext cx="4715700" cy="6531900"/>
          </a:xfrm>
          <a:prstGeom prst="rect">
            <a:avLst/>
          </a:prstGeom>
          <a:noFill/>
          <a:ln>
            <a:noFill/>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pc13_exti_init(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clock access to GPIOB</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highlight>
                  <a:schemeClr val="lt1"/>
                </a:highlight>
                <a:latin typeface="Courier New"/>
                <a:ea typeface="Courier New"/>
                <a:cs typeface="Courier New"/>
                <a:sym typeface="Courier New"/>
              </a:rPr>
              <a:t>RCC_IOPENR_</a:t>
            </a:r>
            <a:r>
              <a:rPr b="1" lang="en" sz="1100">
                <a:solidFill>
                  <a:schemeClr val="dk1"/>
                </a:solidFill>
                <a:highlight>
                  <a:srgbClr val="FFFFFF"/>
                </a:highlight>
                <a:latin typeface="Courier New"/>
                <a:ea typeface="Courier New"/>
                <a:cs typeface="Courier New"/>
                <a:sym typeface="Courier New"/>
              </a:rPr>
              <a:t>GPIOCEN;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Configure PC13 as input pin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(not necessary since this is default)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GPIOC-&gt;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~GPIO_MODER_MODE13_Msk;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GPIOC-&gt;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(GPIO_INPUT &lt;&lt; </a:t>
            </a:r>
            <a:endParaRPr b="1" sz="1100">
              <a:solidFill>
                <a:schemeClr val="dk1"/>
              </a:solidFill>
              <a:highlight>
                <a:srgbClr val="FFFFFF"/>
              </a:highlight>
              <a:latin typeface="Courier New"/>
              <a:ea typeface="Courier New"/>
              <a:cs typeface="Courier New"/>
              <a:sym typeface="Courier New"/>
            </a:endParaRPr>
          </a:p>
          <a:p>
            <a:pPr indent="431800" lvl="0" marL="9398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GPIO_MODER_MODE13_Pos);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pull-up for PC13 (not necessary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since it is automatic for the blue button)</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 Configure EXTICR4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EXTICR1..4 are accessed as </a:t>
            </a:r>
            <a:endParaRPr b="1" sz="11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100">
                <a:solidFill>
                  <a:srgbClr val="3F7F5F"/>
                </a:solidFill>
                <a:highlight>
                  <a:srgbClr val="FFFFFF"/>
                </a:highlight>
                <a:latin typeface="Courier New"/>
                <a:ea typeface="Courier New"/>
                <a:cs typeface="Courier New"/>
                <a:sym typeface="Courier New"/>
              </a:rPr>
              <a:t>// EXTICR[0..3]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[3] &amp;= ~EXTI_EXTICR4_EXTI13_Msk;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EXTICR</a:t>
            </a:r>
            <a:r>
              <a:rPr b="1" lang="en" sz="1100">
                <a:solidFill>
                  <a:schemeClr val="dk1"/>
                </a:solidFill>
                <a:highlight>
                  <a:srgbClr val="FFFFFF"/>
                </a:highlight>
                <a:latin typeface="Courier New"/>
                <a:ea typeface="Courier New"/>
                <a:cs typeface="Courier New"/>
                <a:sym typeface="Courier New"/>
              </a:rPr>
              <a:t>[3] </a:t>
            </a:r>
            <a:r>
              <a:rPr b="1" lang="en" sz="1100">
                <a:solidFill>
                  <a:schemeClr val="dk1"/>
                </a:solidFill>
                <a:highlight>
                  <a:schemeClr val="lt1"/>
                </a:highlight>
                <a:latin typeface="Courier New"/>
                <a:ea typeface="Courier New"/>
                <a:cs typeface="Courier New"/>
                <a:sym typeface="Courier New"/>
              </a:rPr>
              <a:t>|= (EXTI_PC &lt;&lt; </a:t>
            </a:r>
            <a:endParaRPr b="1" sz="1100">
              <a:solidFill>
                <a:schemeClr val="dk1"/>
              </a:solidFill>
              <a:highlight>
                <a:schemeClr val="lt1"/>
              </a:highlight>
              <a:latin typeface="Courier New"/>
              <a:ea typeface="Courier New"/>
              <a:cs typeface="Courier New"/>
              <a:sym typeface="Courier New"/>
            </a:endParaRPr>
          </a:p>
          <a:p>
            <a:pPr indent="457200" lvl="0" marL="13716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EXTI_EXTICR4_EXTI13_Pos);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Falling edge trigger for line EXTI13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FTSR1</a:t>
            </a:r>
            <a:r>
              <a:rPr b="1" lang="en" sz="1100">
                <a:solidFill>
                  <a:schemeClr val="dk1"/>
                </a:solidFill>
                <a:highlight>
                  <a:srgbClr val="FFFFFF"/>
                </a:highlight>
                <a:latin typeface="Courier New"/>
                <a:ea typeface="Courier New"/>
                <a:cs typeface="Courier New"/>
                <a:sym typeface="Courier New"/>
              </a:rPr>
              <a:t> |= EXTI_FTSR1_FT13;</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a:t>
            </a:r>
            <a:r>
              <a:rPr b="1" lang="en" sz="1100" u="sng">
                <a:solidFill>
                  <a:srgbClr val="3F7F5F"/>
                </a:solidFill>
                <a:highlight>
                  <a:srgbClr val="FFFFFF"/>
                </a:highlight>
                <a:latin typeface="Courier New"/>
                <a:ea typeface="Courier New"/>
                <a:cs typeface="Courier New"/>
                <a:sym typeface="Courier New"/>
              </a:rPr>
              <a:t>Unmask</a:t>
            </a:r>
            <a:r>
              <a:rPr b="1" lang="en" sz="1100">
                <a:solidFill>
                  <a:srgbClr val="3F7F5F"/>
                </a:solidFill>
                <a:highlight>
                  <a:srgbClr val="FFFFFF"/>
                </a:highlight>
                <a:latin typeface="Courier New"/>
                <a:ea typeface="Courier New"/>
                <a:cs typeface="Courier New"/>
                <a:sym typeface="Courier New"/>
              </a:rPr>
              <a:t> line EXTI13</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IMR1</a:t>
            </a:r>
            <a:r>
              <a:rPr b="1" lang="en" sz="1100">
                <a:solidFill>
                  <a:schemeClr val="dk1"/>
                </a:solidFill>
                <a:highlight>
                  <a:srgbClr val="FFFFFF"/>
                </a:highlight>
                <a:latin typeface="Courier New"/>
                <a:ea typeface="Courier New"/>
                <a:cs typeface="Courier New"/>
                <a:sym typeface="Courier New"/>
              </a:rPr>
              <a:t> |= EXTI_IMR1_IM13;</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EXTI13 line in NVIC</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EXTI4_15_IRQn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chemeClr val="dk2"/>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1"/>
          <p:cNvSpPr txBox="1"/>
          <p:nvPr>
            <p:ph type="title"/>
          </p:nvPr>
        </p:nvSpPr>
        <p:spPr>
          <a:xfrm>
            <a:off x="263650" y="1729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Practice: Modularize!</a:t>
            </a:r>
            <a:endParaRPr/>
          </a:p>
        </p:txBody>
      </p:sp>
      <p:sp>
        <p:nvSpPr>
          <p:cNvPr id="523" name="Google Shape;523;p61"/>
          <p:cNvSpPr txBox="1"/>
          <p:nvPr>
            <p:ph idx="1" type="body"/>
          </p:nvPr>
        </p:nvSpPr>
        <p:spPr>
          <a:xfrm>
            <a:off x="192200" y="864800"/>
            <a:ext cx="4873200" cy="175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It is good practice to put the initialization functions </a:t>
            </a:r>
            <a:r>
              <a:rPr b="1" lang="en">
                <a:latin typeface="Courier New"/>
                <a:ea typeface="Courier New"/>
                <a:cs typeface="Courier New"/>
                <a:sym typeface="Courier New"/>
              </a:rPr>
              <a:t>pb4_exti_init()</a:t>
            </a:r>
            <a:r>
              <a:rPr lang="en"/>
              <a:t> and </a:t>
            </a:r>
            <a:r>
              <a:rPr b="1" lang="en">
                <a:latin typeface="Courier New"/>
                <a:ea typeface="Courier New"/>
                <a:cs typeface="Courier New"/>
                <a:sym typeface="Courier New"/>
              </a:rPr>
              <a:t>pc13_exti_init() </a:t>
            </a:r>
            <a:r>
              <a:rPr lang="en"/>
              <a:t>along with their prototypes and some of the preprocessor directives into </a:t>
            </a:r>
            <a:r>
              <a:rPr lang="en"/>
              <a:t>separate</a:t>
            </a:r>
            <a:r>
              <a:rPr lang="en"/>
              <a:t> files </a:t>
            </a:r>
            <a:r>
              <a:rPr b="1" lang="en">
                <a:solidFill>
                  <a:srgbClr val="FF00FF"/>
                </a:solidFill>
              </a:rPr>
              <a:t>exti.c</a:t>
            </a:r>
            <a:r>
              <a:rPr lang="en"/>
              <a:t> and </a:t>
            </a:r>
            <a:r>
              <a:rPr b="1" lang="en">
                <a:solidFill>
                  <a:srgbClr val="9900FF"/>
                </a:solidFill>
              </a:rPr>
              <a:t>exti.h</a:t>
            </a:r>
            <a:r>
              <a:rPr lang="en"/>
              <a:t>:</a:t>
            </a:r>
            <a:endParaRPr/>
          </a:p>
        </p:txBody>
      </p:sp>
      <p:sp>
        <p:nvSpPr>
          <p:cNvPr id="524" name="Google Shape;524;p61"/>
          <p:cNvSpPr txBox="1"/>
          <p:nvPr/>
        </p:nvSpPr>
        <p:spPr>
          <a:xfrm>
            <a:off x="192200" y="2846500"/>
            <a:ext cx="3531000" cy="35517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FF"/>
                </a:solidFill>
              </a:rPr>
              <a:t>exti.c:</a:t>
            </a:r>
            <a:endParaRPr sz="1800">
              <a:solidFill>
                <a:srgbClr val="FF00FF"/>
              </a:solidFill>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"exti.h"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disable global interrupt</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clock access to GPIOB</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RCC-&gt;</a:t>
            </a:r>
            <a:r>
              <a:rPr b="1" lang="en" sz="1100">
                <a:solidFill>
                  <a:srgbClr val="0000C0"/>
                </a:solidFill>
                <a:highlight>
                  <a:schemeClr val="lt1"/>
                </a:highlight>
                <a:latin typeface="Courier New"/>
                <a:ea typeface="Courier New"/>
                <a:cs typeface="Courier New"/>
                <a:sym typeface="Courier New"/>
              </a:rPr>
              <a:t>IOPENR</a:t>
            </a:r>
            <a:r>
              <a:rPr b="1" lang="en" sz="1100">
                <a:solidFill>
                  <a:schemeClr val="dk1"/>
                </a:solidFill>
                <a:highlight>
                  <a:schemeClr val="lt1"/>
                </a:highlight>
                <a:latin typeface="Courier New"/>
                <a:ea typeface="Courier New"/>
                <a:cs typeface="Courier New"/>
                <a:sym typeface="Courier New"/>
              </a:rPr>
              <a:t> |= RCC_IOPENR_GPIOBEN;</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pc13_exti_init(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disable global interrupt</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clock access to GPIOB</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RCC-&gt;</a:t>
            </a:r>
            <a:r>
              <a:rPr b="1" lang="en" sz="1100">
                <a:solidFill>
                  <a:srgbClr val="0000C0"/>
                </a:solidFill>
                <a:highlight>
                  <a:schemeClr val="lt1"/>
                </a:highlight>
                <a:latin typeface="Courier New"/>
                <a:ea typeface="Courier New"/>
                <a:cs typeface="Courier New"/>
                <a:sym typeface="Courier New"/>
              </a:rPr>
              <a:t>IOPENR</a:t>
            </a:r>
            <a:r>
              <a:rPr b="1" lang="en" sz="1100">
                <a:solidFill>
                  <a:schemeClr val="dk1"/>
                </a:solidFill>
                <a:highlight>
                  <a:schemeClr val="lt1"/>
                </a:highlight>
                <a:latin typeface="Courier New"/>
                <a:ea typeface="Courier New"/>
                <a:cs typeface="Courier New"/>
                <a:sym typeface="Courier New"/>
              </a:rPr>
              <a:t> |= RCC_IOPENR_GPIOCEN;</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800">
              <a:solidFill>
                <a:schemeClr val="dk2"/>
              </a:solidFill>
            </a:endParaRPr>
          </a:p>
        </p:txBody>
      </p:sp>
      <p:sp>
        <p:nvSpPr>
          <p:cNvPr id="525" name="Google Shape;525;p61"/>
          <p:cNvSpPr txBox="1"/>
          <p:nvPr/>
        </p:nvSpPr>
        <p:spPr>
          <a:xfrm>
            <a:off x="5208850" y="173000"/>
            <a:ext cx="2473500" cy="21381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00FF"/>
                </a:solidFill>
              </a:rPr>
              <a:t>exti.h:</a:t>
            </a:r>
            <a:endParaRPr b="1" sz="1200">
              <a:solidFill>
                <a:srgbClr val="9900FF"/>
              </a:solidFill>
              <a:highlight>
                <a:srgbClr val="FFFFFF"/>
              </a:highlight>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#ifndef</a:t>
            </a:r>
            <a:r>
              <a:rPr b="1" lang="en" sz="1100">
                <a:solidFill>
                  <a:schemeClr val="dk1"/>
                </a:solidFill>
                <a:highlight>
                  <a:srgbClr val="FFFFFF"/>
                </a:highlight>
                <a:latin typeface="Courier New"/>
                <a:ea typeface="Courier New"/>
                <a:cs typeface="Courier New"/>
                <a:sym typeface="Courier New"/>
              </a:rPr>
              <a:t> EXTI_H_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EXTI_H_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pc13_exti_init(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#endif </a:t>
            </a:r>
            <a:r>
              <a:rPr b="1" lang="en" sz="1100">
                <a:solidFill>
                  <a:srgbClr val="3F7F5F"/>
                </a:solidFill>
                <a:highlight>
                  <a:srgbClr val="FFFFFF"/>
                </a:highlight>
                <a:latin typeface="Courier New"/>
                <a:ea typeface="Courier New"/>
                <a:cs typeface="Courier New"/>
                <a:sym typeface="Courier New"/>
              </a:rPr>
              <a:t>/* EXTI_H_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526" name="Google Shape;526;p61"/>
          <p:cNvSpPr txBox="1"/>
          <p:nvPr/>
        </p:nvSpPr>
        <p:spPr>
          <a:xfrm>
            <a:off x="5459750" y="2700175"/>
            <a:ext cx="3202500" cy="40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start of your main program then simplifies to:</a:t>
            </a:r>
            <a:endParaRPr sz="1800">
              <a:solidFill>
                <a:schemeClr val="dk2"/>
              </a:solidFill>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a:t>
            </a:r>
            <a:r>
              <a:rPr b="1" lang="en" sz="1100">
                <a:solidFill>
                  <a:schemeClr val="dk1"/>
                </a:solidFill>
                <a:highlight>
                  <a:schemeClr val="lt1"/>
                </a:highlight>
                <a:latin typeface="Courier New"/>
                <a:ea typeface="Courier New"/>
                <a:cs typeface="Courier New"/>
                <a:sym typeface="Courier New"/>
              </a:rPr>
              <a:t> </a:t>
            </a:r>
            <a:r>
              <a:rPr b="1" lang="en" sz="1100">
                <a:solidFill>
                  <a:srgbClr val="2A00FF"/>
                </a:solidFill>
                <a:highlight>
                  <a:schemeClr val="lt1"/>
                </a:highlight>
                <a:latin typeface="Courier New"/>
                <a:ea typeface="Courier New"/>
                <a:cs typeface="Courier New"/>
                <a:sym typeface="Courier New"/>
              </a:rPr>
              <a:t>&lt;stdio.h&gt;</a:t>
            </a:r>
            <a:endParaRPr b="1" sz="1100">
              <a:solidFill>
                <a:srgbClr val="2A00F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a:t>
            </a:r>
            <a:r>
              <a:rPr b="1" lang="en" sz="1100">
                <a:solidFill>
                  <a:schemeClr val="dk1"/>
                </a:solidFill>
                <a:highlight>
                  <a:schemeClr val="lt1"/>
                </a:highlight>
                <a:latin typeface="Courier New"/>
                <a:ea typeface="Courier New"/>
                <a:cs typeface="Courier New"/>
                <a:sym typeface="Courier New"/>
              </a:rPr>
              <a:t> </a:t>
            </a:r>
            <a:r>
              <a:rPr b="1" lang="en" sz="1100">
                <a:solidFill>
                  <a:srgbClr val="2A00FF"/>
                </a:solidFill>
                <a:highlight>
                  <a:schemeClr val="lt1"/>
                </a:highlight>
                <a:latin typeface="Courier New"/>
                <a:ea typeface="Courier New"/>
                <a:cs typeface="Courier New"/>
                <a:sym typeface="Courier New"/>
              </a:rPr>
              <a:t>"ES28.h"</a:t>
            </a:r>
            <a:endParaRPr b="1" sz="1100">
              <a:solidFill>
                <a:srgbClr val="2A00F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#include</a:t>
            </a:r>
            <a:r>
              <a:rPr b="1" lang="en" sz="1100">
                <a:solidFill>
                  <a:schemeClr val="dk1"/>
                </a:solidFill>
                <a:highlight>
                  <a:schemeClr val="lt1"/>
                </a:highlight>
                <a:latin typeface="Courier New"/>
                <a:ea typeface="Courier New"/>
                <a:cs typeface="Courier New"/>
                <a:sym typeface="Courier New"/>
              </a:rPr>
              <a:t> </a:t>
            </a:r>
            <a:r>
              <a:rPr b="1" lang="en" sz="1100">
                <a:solidFill>
                  <a:srgbClr val="2A00FF"/>
                </a:solidFill>
                <a:highlight>
                  <a:schemeClr val="lt1"/>
                </a:highlight>
                <a:latin typeface="Courier New"/>
                <a:ea typeface="Courier New"/>
                <a:cs typeface="Courier New"/>
                <a:sym typeface="Courier New"/>
              </a:rPr>
              <a:t>"uart.h"</a:t>
            </a:r>
            <a:endParaRPr b="1" sz="1100">
              <a:solidFill>
                <a:srgbClr val="2A00F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a:t>
            </a:r>
            <a:r>
              <a:rPr b="1" lang="en" sz="1100">
                <a:solidFill>
                  <a:schemeClr val="dk1"/>
                </a:solidFill>
                <a:highlight>
                  <a:schemeClr val="lt1"/>
                </a:highlight>
                <a:latin typeface="Courier New"/>
                <a:ea typeface="Courier New"/>
                <a:cs typeface="Courier New"/>
                <a:sym typeface="Courier New"/>
              </a:rPr>
              <a:t> </a:t>
            </a:r>
            <a:r>
              <a:rPr b="1" lang="en" sz="1100">
                <a:solidFill>
                  <a:srgbClr val="2A00FF"/>
                </a:solidFill>
                <a:highlight>
                  <a:schemeClr val="lt1"/>
                </a:highlight>
                <a:latin typeface="Courier New"/>
                <a:ea typeface="Courier New"/>
                <a:cs typeface="Courier New"/>
                <a:sym typeface="Courier New"/>
              </a:rPr>
              <a:t>"exti.h"</a:t>
            </a:r>
            <a:endParaRPr b="1" sz="1100">
              <a:solidFill>
                <a:srgbClr val="2A00F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a:t>
            </a:r>
            <a:r>
              <a:rPr b="1" lang="en" sz="1100">
                <a:solidFill>
                  <a:schemeClr val="dk1"/>
                </a:solidFill>
                <a:highlight>
                  <a:schemeClr val="lt1"/>
                </a:highlight>
                <a:latin typeface="Courier New"/>
                <a:ea typeface="Courier New"/>
                <a:cs typeface="Courier New"/>
                <a:sym typeface="Courier New"/>
              </a:rPr>
              <a:t> MAXCOUNT 	100</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buttonB4_callback(</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buttonC13_callback(</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volatile</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buttonB4Pushed;</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volatile</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buttonC13Pushed;</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main(</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counter = 0;</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direction = 1;</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uart2_init();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pb4_exti_init();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pc13_exti_init();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endParaRPr b="1" sz="1800">
              <a:solidFill>
                <a:schemeClr val="dk2"/>
              </a:solidFill>
            </a:endParaRPr>
          </a:p>
        </p:txBody>
      </p:sp>
      <p:sp>
        <p:nvSpPr>
          <p:cNvPr id="527" name="Google Shape;527;p61"/>
          <p:cNvSpPr txBox="1"/>
          <p:nvPr/>
        </p:nvSpPr>
        <p:spPr>
          <a:xfrm>
            <a:off x="7825775" y="107525"/>
            <a:ext cx="1051200" cy="12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9900FF"/>
                </a:solidFill>
              </a:rPr>
              <a:t>put into your project's "Inc" folder</a:t>
            </a:r>
            <a:endParaRPr b="1">
              <a:solidFill>
                <a:srgbClr val="9900FF"/>
              </a:solidFill>
            </a:endParaRPr>
          </a:p>
        </p:txBody>
      </p:sp>
      <p:sp>
        <p:nvSpPr>
          <p:cNvPr id="528" name="Google Shape;528;p61"/>
          <p:cNvSpPr txBox="1"/>
          <p:nvPr/>
        </p:nvSpPr>
        <p:spPr>
          <a:xfrm>
            <a:off x="3820350" y="2846500"/>
            <a:ext cx="1051200" cy="12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FF"/>
                </a:solidFill>
              </a:rPr>
              <a:t>put into your project's "Src" folder</a:t>
            </a:r>
            <a:endParaRPr b="1">
              <a:solidFill>
                <a:srgbClr val="FF00F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2"/>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Design Challenges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1: Counter with reset</a:t>
            </a:r>
            <a:endParaRPr/>
          </a:p>
        </p:txBody>
      </p:sp>
      <p:sp>
        <p:nvSpPr>
          <p:cNvPr id="539" name="Google Shape;539;p6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Modify counterResetButtonInt to use a timer interrupt instead of a delay_ms().  Set the update period to 1 sec.</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en"/>
              <a:t>You'll upload your code on Thursday before class.</a:t>
            </a:r>
            <a:endParaRPr/>
          </a:p>
          <a:p>
            <a:pPr indent="0" lvl="0" marL="0" rtl="0" algn="l">
              <a:spcBef>
                <a:spcPts val="1600"/>
              </a:spcBef>
              <a:spcAft>
                <a:spcPts val="1600"/>
              </a:spcAft>
              <a:buClr>
                <a:schemeClr val="dk1"/>
              </a:buClr>
              <a:buSzPts val="1100"/>
              <a:buFont typeface="Arial"/>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3" name="Shape 543"/>
        <p:cNvGrpSpPr/>
        <p:nvPr/>
      </p:nvGrpSpPr>
      <p:grpSpPr>
        <a:xfrm>
          <a:off x="0" y="0"/>
          <a:ext cx="0" cy="0"/>
          <a:chOff x="0" y="0"/>
          <a:chExt cx="0" cy="0"/>
        </a:xfrm>
      </p:grpSpPr>
      <p:sp>
        <p:nvSpPr>
          <p:cNvPr id="544" name="Google Shape;544;p64"/>
          <p:cNvSpPr txBox="1"/>
          <p:nvPr/>
        </p:nvSpPr>
        <p:spPr>
          <a:xfrm>
            <a:off x="0" y="33450"/>
            <a:ext cx="4263300" cy="6791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counterResetButtonIntTimer</a:t>
            </a:r>
            <a:r>
              <a:rPr b="1" lang="en" sz="1200">
                <a:solidFill>
                  <a:schemeClr val="dk1"/>
                </a:solidFill>
                <a:highlight>
                  <a:srgbClr val="FFFFFF"/>
                </a:highlight>
              </a:rPr>
              <a:t>.c</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"exti.h"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LINE4	(1U&lt;&lt;4)	</a:t>
            </a:r>
            <a:r>
              <a:rPr b="1" lang="en" sz="1100">
                <a:solidFill>
                  <a:srgbClr val="3F7F5F"/>
                </a:solidFill>
                <a:highlight>
                  <a:srgbClr val="FFFFFF"/>
                </a:highlight>
                <a:latin typeface="Courier New"/>
                <a:ea typeface="Courier New"/>
                <a:cs typeface="Courier New"/>
                <a:sym typeface="Courier New"/>
              </a:rPr>
              <a:t>// EXTI Line 4</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MAXCOUNT 	100</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buttonB4Pushed;</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timerFlag;</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"Hex \tDecimal\r\n"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pb4_exti_init();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tim14_ms_interrupt_init(1000);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buttonB4Pushed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(timerFlag)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"%x\t%d\r\n"</a:t>
            </a:r>
            <a:r>
              <a:rPr b="1" lang="en" sz="1100">
                <a:solidFill>
                  <a:schemeClr val="dk1"/>
                </a:solidFill>
                <a:highlight>
                  <a:srgbClr val="FFFFFF"/>
                </a:highlight>
                <a:latin typeface="Courier New"/>
                <a:ea typeface="Courier New"/>
                <a:cs typeface="Courier New"/>
                <a:sym typeface="Courier New"/>
              </a:rPr>
              <a:t>, counter, counter);</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(counter == MAXCOUNT)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   </a:t>
            </a:r>
            <a:r>
              <a:rPr b="1" lang="en" sz="1100">
                <a:solidFill>
                  <a:srgbClr val="3F7F5F"/>
                </a:solidFill>
                <a:highlight>
                  <a:srgbClr val="FFFFFF"/>
                </a:highlight>
                <a:latin typeface="Courier New"/>
                <a:ea typeface="Courier New"/>
                <a:cs typeface="Courier New"/>
                <a:sym typeface="Courier New"/>
              </a:rPr>
              <a:t>// Roll over</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3F7F5F"/>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counter++;     </a:t>
            </a:r>
            <a:r>
              <a:rPr b="1" lang="en" sz="1100">
                <a:solidFill>
                  <a:srgbClr val="3F7F5F"/>
                </a:solidFill>
                <a:highlight>
                  <a:srgbClr val="FFFFFF"/>
                </a:highlight>
                <a:latin typeface="Courier New"/>
                <a:ea typeface="Courier New"/>
                <a:cs typeface="Courier New"/>
                <a:sym typeface="Courier New"/>
              </a:rPr>
              <a:t>// Increment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timerFlag = 0;    </a:t>
            </a:r>
            <a:r>
              <a:rPr b="1" lang="en" sz="1100">
                <a:solidFill>
                  <a:srgbClr val="3F7F5F"/>
                </a:solidFill>
                <a:highlight>
                  <a:srgbClr val="FFFFFF"/>
                </a:highlight>
                <a:latin typeface="Courier New"/>
                <a:ea typeface="Courier New"/>
                <a:cs typeface="Courier New"/>
                <a:sym typeface="Courier New"/>
              </a:rPr>
              <a:t>// Clear timer flag</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3F7F5F"/>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(buttonB4Pushed)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counter =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buttonB4Pushed = 0; </a:t>
            </a:r>
            <a:r>
              <a:rPr b="1" lang="en" sz="1100">
                <a:solidFill>
                  <a:srgbClr val="3F7F5F"/>
                </a:solidFill>
                <a:highlight>
                  <a:srgbClr val="FFFFFF"/>
                </a:highlight>
                <a:latin typeface="Courier New"/>
                <a:ea typeface="Courier New"/>
                <a:cs typeface="Courier New"/>
                <a:sym typeface="Courier New"/>
              </a:rPr>
              <a:t>// clear button flag</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545" name="Google Shape;545;p64"/>
          <p:cNvSpPr txBox="1"/>
          <p:nvPr/>
        </p:nvSpPr>
        <p:spPr>
          <a:xfrm>
            <a:off x="4385450" y="1244400"/>
            <a:ext cx="4755900" cy="45903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chemeClr val="lt1"/>
                </a:highlight>
              </a:rPr>
              <a:t>c</a:t>
            </a:r>
            <a:r>
              <a:rPr b="1" lang="en" sz="1200">
                <a:solidFill>
                  <a:schemeClr val="dk1"/>
                </a:solidFill>
                <a:highlight>
                  <a:schemeClr val="lt1"/>
                </a:highlight>
              </a:rPr>
              <a:t>ounterResetButtonIntTimer</a:t>
            </a:r>
            <a:r>
              <a:rPr b="1" lang="en" sz="1200">
                <a:solidFill>
                  <a:schemeClr val="dk1"/>
                </a:solidFill>
                <a:highlight>
                  <a:srgbClr val="FFFFFF"/>
                </a:highlight>
              </a:rPr>
              <a:t>.c</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a:t>
            </a:r>
            <a:r>
              <a:rPr b="1" lang="en" sz="1100">
                <a:solidFill>
                  <a:srgbClr val="7F0055"/>
                </a:solidFill>
                <a:highlight>
                  <a:srgbClr val="FFFFFF"/>
                </a:highlight>
                <a:latin typeface="Courier New"/>
                <a:ea typeface="Courier New"/>
                <a:cs typeface="Courier New"/>
                <a:sym typeface="Courier New"/>
              </a:rPr>
              <a:t>oid</a:t>
            </a:r>
            <a:r>
              <a:rPr b="1" lang="en" sz="1100">
                <a:solidFill>
                  <a:schemeClr val="dk1"/>
                </a:solidFill>
                <a:highlight>
                  <a:srgbClr val="FFFFFF"/>
                </a:highlight>
                <a:latin typeface="Courier New"/>
                <a:ea typeface="Courier New"/>
                <a:cs typeface="Courier New"/>
                <a:sym typeface="Courier New"/>
              </a:rPr>
              <a:t> EXTI4_15_IRQHandler(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&amp; </a:t>
            </a:r>
            <a:r>
              <a:rPr b="1" lang="en" sz="1100">
                <a:solidFill>
                  <a:schemeClr val="dk1"/>
                </a:solidFill>
                <a:highlight>
                  <a:srgbClr val="FFFFFF"/>
                </a:highlight>
                <a:latin typeface="Courier New"/>
                <a:ea typeface="Courier New"/>
                <a:cs typeface="Courier New"/>
                <a:sym typeface="Courier New"/>
              </a:rPr>
              <a:t>EXTI_FPR1_FPIF4</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EXTI-&gt;</a:t>
            </a:r>
            <a:r>
              <a:rPr b="1" lang="en" sz="1100">
                <a:solidFill>
                  <a:srgbClr val="0000C0"/>
                </a:solidFill>
                <a:highlight>
                  <a:srgbClr val="FFFFFF"/>
                </a:highlight>
                <a:latin typeface="Courier New"/>
                <a:ea typeface="Courier New"/>
                <a:cs typeface="Courier New"/>
                <a:sym typeface="Courier New"/>
              </a:rPr>
              <a:t>FPR1</a:t>
            </a:r>
            <a:r>
              <a:rPr b="1" lang="en" sz="1100">
                <a:solidFill>
                  <a:schemeClr val="dk1"/>
                </a:solidFill>
                <a:highlight>
                  <a:srgbClr val="FFFFFF"/>
                </a:highlight>
                <a:latin typeface="Courier New"/>
                <a:ea typeface="Courier New"/>
                <a:cs typeface="Courier New"/>
                <a:sym typeface="Courier New"/>
              </a:rPr>
              <a:t> = </a:t>
            </a:r>
            <a:r>
              <a:rPr b="1" lang="en" sz="1100">
                <a:solidFill>
                  <a:schemeClr val="dk1"/>
                </a:solidFill>
                <a:highlight>
                  <a:srgbClr val="FFFFFF"/>
                </a:highlight>
                <a:latin typeface="Courier New"/>
                <a:ea typeface="Courier New"/>
                <a:cs typeface="Courier New"/>
                <a:sym typeface="Courier New"/>
              </a:rPr>
              <a:t>EXTI_FPR1_FPIF4</a:t>
            </a: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PR flag</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buttonB4Pushed = 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disable global interrupt</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UIF in status register</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 ~TIM_SR_UIF; </a:t>
            </a:r>
            <a:r>
              <a:rPr b="1" lang="en" sz="1100">
                <a:solidFill>
                  <a:srgbClr val="3F7F5F"/>
                </a:solidFill>
                <a:highlight>
                  <a:srgbClr val="FFFFFF"/>
                </a:highlight>
                <a:latin typeface="Courier New"/>
                <a:ea typeface="Courier New"/>
                <a:cs typeface="Courier New"/>
                <a:sym typeface="Courier New"/>
              </a:rPr>
              <a:t>// Clear UIF</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timerFlag = 1;</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Enable global interrupts</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__enable_irq();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p:txBody>
      </p:sp>
      <p:sp>
        <p:nvSpPr>
          <p:cNvPr id="546" name="Google Shape;546;p64"/>
          <p:cNvSpPr txBox="1"/>
          <p:nvPr>
            <p:ph idx="4294967295" type="title"/>
          </p:nvPr>
        </p:nvSpPr>
        <p:spPr>
          <a:xfrm>
            <a:off x="5393525" y="164425"/>
            <a:ext cx="3571800" cy="6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 with reset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0" name="Shape 550"/>
        <p:cNvGrpSpPr/>
        <p:nvPr/>
      </p:nvGrpSpPr>
      <p:grpSpPr>
        <a:xfrm>
          <a:off x="0" y="0"/>
          <a:ext cx="0" cy="0"/>
          <a:chOff x="0" y="0"/>
          <a:chExt cx="0" cy="0"/>
        </a:xfrm>
      </p:grpSpPr>
      <p:sp>
        <p:nvSpPr>
          <p:cNvPr id="551" name="Google Shape;551;p65"/>
          <p:cNvSpPr txBox="1"/>
          <p:nvPr/>
        </p:nvSpPr>
        <p:spPr>
          <a:xfrm>
            <a:off x="122150" y="33450"/>
            <a:ext cx="4263300" cy="68247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exti</a:t>
            </a:r>
            <a:r>
              <a:rPr b="1" lang="en" sz="1200">
                <a:solidFill>
                  <a:schemeClr val="dk1"/>
                </a:solidFill>
                <a:highlight>
                  <a:srgbClr val="FFFFFF"/>
                </a:highlight>
              </a:rPr>
              <a:t>.c</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"exti.h"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pb4_exti_init(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disable global interrupt</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clock access to GPIOB</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RCC-&gt;</a:t>
            </a:r>
            <a:r>
              <a:rPr b="1" lang="en" sz="1100">
                <a:solidFill>
                  <a:srgbClr val="0000C0"/>
                </a:solidFill>
                <a:highlight>
                  <a:schemeClr val="lt1"/>
                </a:highlight>
                <a:latin typeface="Courier New"/>
                <a:ea typeface="Courier New"/>
                <a:cs typeface="Courier New"/>
                <a:sym typeface="Courier New"/>
              </a:rPr>
              <a:t>IOPENR</a:t>
            </a:r>
            <a:r>
              <a:rPr b="1" lang="en" sz="1100">
                <a:solidFill>
                  <a:schemeClr val="dk1"/>
                </a:solidFill>
                <a:highlight>
                  <a:schemeClr val="lt1"/>
                </a:highlight>
                <a:latin typeface="Courier New"/>
                <a:ea typeface="Courier New"/>
                <a:cs typeface="Courier New"/>
                <a:sym typeface="Courier New"/>
              </a:rPr>
              <a:t> |= RCC_IOPENR_GPIOBEN;</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Configure PB4 as input pin </a:t>
            </a:r>
            <a:endParaRPr b="1" sz="1100">
              <a:solidFill>
                <a:srgbClr val="3F7F5F"/>
              </a:solidFill>
              <a:highlight>
                <a:schemeClr val="lt1"/>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100">
                <a:solidFill>
                  <a:srgbClr val="3F7F5F"/>
                </a:solidFill>
                <a:highlight>
                  <a:schemeClr val="lt1"/>
                </a:highlight>
                <a:latin typeface="Courier New"/>
                <a:ea typeface="Courier New"/>
                <a:cs typeface="Courier New"/>
                <a:sym typeface="Courier New"/>
              </a:rPr>
              <a:t>// (not necessary since this is default)</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MODER</a:t>
            </a:r>
            <a:r>
              <a:rPr b="1" lang="en" sz="1100">
                <a:solidFill>
                  <a:schemeClr val="dk1"/>
                </a:solidFill>
                <a:highlight>
                  <a:schemeClr val="lt1"/>
                </a:highlight>
                <a:latin typeface="Courier New"/>
                <a:ea typeface="Courier New"/>
                <a:cs typeface="Courier New"/>
                <a:sym typeface="Courier New"/>
              </a:rPr>
              <a:t> &amp;= ~GPIO_MODER_MODE4_Msk;</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MODER</a:t>
            </a:r>
            <a:r>
              <a:rPr b="1" lang="en" sz="1100">
                <a:solidFill>
                  <a:schemeClr val="dk1"/>
                </a:solidFill>
                <a:highlight>
                  <a:schemeClr val="lt1"/>
                </a:highlight>
                <a:latin typeface="Courier New"/>
                <a:ea typeface="Courier New"/>
                <a:cs typeface="Courier New"/>
                <a:sym typeface="Courier New"/>
              </a:rPr>
              <a:t> |= (GPIO_INPUT &lt;&lt; </a:t>
            </a:r>
            <a:endParaRPr b="1" sz="1100">
              <a:solidFill>
                <a:schemeClr val="dk1"/>
              </a:solidFill>
              <a:highlight>
                <a:schemeClr val="lt1"/>
              </a:highlight>
              <a:latin typeface="Courier New"/>
              <a:ea typeface="Courier New"/>
              <a:cs typeface="Courier New"/>
              <a:sym typeface="Courier New"/>
            </a:endParaRPr>
          </a:p>
          <a:p>
            <a:pPr indent="431800" lvl="0" marL="9398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GPIO_MODER_MODE4_Pos);</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pull-up for PB4</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PUPDR</a:t>
            </a:r>
            <a:r>
              <a:rPr b="1" lang="en" sz="1100">
                <a:solidFill>
                  <a:schemeClr val="dk1"/>
                </a:solidFill>
                <a:highlight>
                  <a:schemeClr val="lt1"/>
                </a:highlight>
                <a:latin typeface="Courier New"/>
                <a:ea typeface="Courier New"/>
                <a:cs typeface="Courier New"/>
                <a:sym typeface="Courier New"/>
              </a:rPr>
              <a:t> &amp;= ~GPIO_PUPDR_PUPD4_Msk;</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a:t>
            </a:r>
            <a:r>
              <a:rPr b="1" lang="en" sz="1100">
                <a:solidFill>
                  <a:srgbClr val="0000C0"/>
                </a:solidFill>
                <a:highlight>
                  <a:schemeClr val="lt1"/>
                </a:highlight>
                <a:latin typeface="Courier New"/>
                <a:ea typeface="Courier New"/>
                <a:cs typeface="Courier New"/>
                <a:sym typeface="Courier New"/>
              </a:rPr>
              <a:t>PUPDR</a:t>
            </a:r>
            <a:r>
              <a:rPr b="1" lang="en" sz="1100">
                <a:solidFill>
                  <a:schemeClr val="dk1"/>
                </a:solidFill>
                <a:highlight>
                  <a:schemeClr val="lt1"/>
                </a:highlight>
                <a:latin typeface="Courier New"/>
                <a:ea typeface="Courier New"/>
                <a:cs typeface="Courier New"/>
                <a:sym typeface="Courier New"/>
              </a:rPr>
              <a:t> |= (GPIO_PULLUP &lt;&lt; </a:t>
            </a:r>
            <a:endParaRPr b="1" sz="1100">
              <a:solidFill>
                <a:schemeClr val="dk1"/>
              </a:solidFill>
              <a:highlight>
                <a:schemeClr val="lt1"/>
              </a:highlight>
              <a:latin typeface="Courier New"/>
              <a:ea typeface="Courier New"/>
              <a:cs typeface="Courier New"/>
              <a:sym typeface="Courier New"/>
            </a:endParaRPr>
          </a:p>
          <a:p>
            <a:pPr indent="431800" lvl="0" marL="13970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GPIO_PUPDR_PUPD4_Pos);</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Configure EXTICR2</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EXTICR</a:t>
            </a:r>
            <a:r>
              <a:rPr b="1" lang="en" sz="1100">
                <a:solidFill>
                  <a:schemeClr val="dk1"/>
                </a:solidFill>
                <a:highlight>
                  <a:schemeClr val="lt1"/>
                </a:highlight>
                <a:latin typeface="Courier New"/>
                <a:ea typeface="Courier New"/>
                <a:cs typeface="Courier New"/>
                <a:sym typeface="Courier New"/>
              </a:rPr>
              <a:t>[1] &amp;= ~EXTI_EXTICR2_EXTI4_Msk;</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EXTICR</a:t>
            </a:r>
            <a:r>
              <a:rPr b="1" lang="en" sz="1100">
                <a:solidFill>
                  <a:schemeClr val="dk1"/>
                </a:solidFill>
                <a:highlight>
                  <a:schemeClr val="lt1"/>
                </a:highlight>
                <a:latin typeface="Courier New"/>
                <a:ea typeface="Courier New"/>
                <a:cs typeface="Courier New"/>
                <a:sym typeface="Courier New"/>
              </a:rPr>
              <a:t>[1] |= (EXTI_PB &lt;&lt; </a:t>
            </a:r>
            <a:endParaRPr b="1" sz="1100">
              <a:solidFill>
                <a:schemeClr val="dk1"/>
              </a:solidFill>
              <a:highlight>
                <a:schemeClr val="lt1"/>
              </a:highlight>
              <a:latin typeface="Courier New"/>
              <a:ea typeface="Courier New"/>
              <a:cs typeface="Courier New"/>
              <a:sym typeface="Courier New"/>
            </a:endParaRPr>
          </a:p>
          <a:p>
            <a:pPr indent="457200" lvl="0" marL="13716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EXTI_EXTICR2_EXTI4_Pos);</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Falling edge trigger for line EXTI4</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FTSR1</a:t>
            </a:r>
            <a:r>
              <a:rPr b="1" lang="en" sz="1100">
                <a:solidFill>
                  <a:schemeClr val="dk1"/>
                </a:solidFill>
                <a:highlight>
                  <a:schemeClr val="lt1"/>
                </a:highlight>
                <a:latin typeface="Courier New"/>
                <a:ea typeface="Courier New"/>
                <a:cs typeface="Courier New"/>
                <a:sym typeface="Courier New"/>
              </a:rPr>
              <a:t> |= EXTI_FTSR1_FT4;</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a:t>
            </a:r>
            <a:r>
              <a:rPr b="1" lang="en" sz="1100" u="sng">
                <a:solidFill>
                  <a:srgbClr val="3F7F5F"/>
                </a:solidFill>
                <a:highlight>
                  <a:schemeClr val="lt1"/>
                </a:highlight>
                <a:latin typeface="Courier New"/>
                <a:ea typeface="Courier New"/>
                <a:cs typeface="Courier New"/>
                <a:sym typeface="Courier New"/>
              </a:rPr>
              <a:t>Unmask</a:t>
            </a:r>
            <a:r>
              <a:rPr b="1" lang="en" sz="1100">
                <a:solidFill>
                  <a:srgbClr val="3F7F5F"/>
                </a:solidFill>
                <a:highlight>
                  <a:schemeClr val="lt1"/>
                </a:highlight>
                <a:latin typeface="Courier New"/>
                <a:ea typeface="Courier New"/>
                <a:cs typeface="Courier New"/>
                <a:sym typeface="Courier New"/>
              </a:rPr>
              <a:t> line EXTI4</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EXTI-&gt;</a:t>
            </a:r>
            <a:r>
              <a:rPr b="1" lang="en" sz="1100">
                <a:solidFill>
                  <a:srgbClr val="0000C0"/>
                </a:solidFill>
                <a:highlight>
                  <a:schemeClr val="lt1"/>
                </a:highlight>
                <a:latin typeface="Courier New"/>
                <a:ea typeface="Courier New"/>
                <a:cs typeface="Courier New"/>
                <a:sym typeface="Courier New"/>
              </a:rPr>
              <a:t>IMR1</a:t>
            </a:r>
            <a:r>
              <a:rPr b="1" lang="en" sz="1100">
                <a:solidFill>
                  <a:schemeClr val="dk1"/>
                </a:solidFill>
                <a:highlight>
                  <a:schemeClr val="lt1"/>
                </a:highlight>
                <a:latin typeface="Courier New"/>
                <a:ea typeface="Courier New"/>
                <a:cs typeface="Courier New"/>
                <a:sym typeface="Courier New"/>
              </a:rPr>
              <a:t> |= EXTI_IMR1_IM4;</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EXTI4 line in NVIC</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NVIC_EnableIRQ(</a:t>
            </a:r>
            <a:r>
              <a:rPr b="1" i="1" lang="en" sz="1100">
                <a:solidFill>
                  <a:srgbClr val="0000C0"/>
                </a:solidFill>
                <a:highlight>
                  <a:schemeClr val="lt1"/>
                </a:highlight>
                <a:latin typeface="Courier New"/>
                <a:ea typeface="Courier New"/>
                <a:cs typeface="Courier New"/>
                <a:sym typeface="Courier New"/>
              </a:rPr>
              <a:t>EXTI4_15_IRQn</a:t>
            </a: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F"/>
                </a:solidFill>
                <a:highlight>
                  <a:schemeClr val="lt1"/>
                </a:highlight>
                <a:latin typeface="Courier New"/>
                <a:ea typeface="Courier New"/>
                <a:cs typeface="Courier New"/>
                <a:sym typeface="Courier New"/>
              </a:rPr>
              <a:t>// Enable global interrupts</a:t>
            </a:r>
            <a:endParaRPr b="1" sz="11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
        <p:nvSpPr>
          <p:cNvPr id="552" name="Google Shape;552;p65"/>
          <p:cNvSpPr txBox="1"/>
          <p:nvPr/>
        </p:nvSpPr>
        <p:spPr>
          <a:xfrm>
            <a:off x="4473500" y="33450"/>
            <a:ext cx="4586400" cy="13920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exti</a:t>
            </a:r>
            <a:r>
              <a:rPr b="1" lang="en" sz="1200">
                <a:solidFill>
                  <a:schemeClr val="dk1"/>
                </a:solidFill>
                <a:highlight>
                  <a:srgbClr val="FFFFFF"/>
                </a:highlight>
              </a:rPr>
              <a:t>.h</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#ifndef</a:t>
            </a:r>
            <a:r>
              <a:rPr b="1" lang="en" sz="1100">
                <a:solidFill>
                  <a:schemeClr val="dk1"/>
                </a:solidFill>
                <a:highlight>
                  <a:srgbClr val="FFFFFF"/>
                </a:highlight>
                <a:latin typeface="Courier New"/>
                <a:ea typeface="Courier New"/>
                <a:cs typeface="Courier New"/>
                <a:sym typeface="Courier New"/>
              </a:rPr>
              <a:t> EXTI_H_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EXTI_H_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pb4_exti_init(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#endif</a:t>
            </a: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EXTI_H_ */</a:t>
            </a:r>
            <a:endParaRPr b="1" sz="1000">
              <a:solidFill>
                <a:srgbClr val="7F0055"/>
              </a:solidFill>
              <a:highlight>
                <a:srgbClr val="FFFFFF"/>
              </a:highlight>
              <a:latin typeface="Courier New"/>
              <a:ea typeface="Courier New"/>
              <a:cs typeface="Courier New"/>
              <a:sym typeface="Courier New"/>
            </a:endParaRPr>
          </a:p>
        </p:txBody>
      </p:sp>
      <p:sp>
        <p:nvSpPr>
          <p:cNvPr id="553" name="Google Shape;553;p65"/>
          <p:cNvSpPr txBox="1"/>
          <p:nvPr/>
        </p:nvSpPr>
        <p:spPr>
          <a:xfrm>
            <a:off x="4463000" y="1689100"/>
            <a:ext cx="4607400" cy="29916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tim.c</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"stm32C0xx.h"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PSC_FACTOR	12000	 </a:t>
            </a:r>
            <a:r>
              <a:rPr b="1" lang="en" sz="1100">
                <a:solidFill>
                  <a:srgbClr val="3F7F5F"/>
                </a:solidFill>
                <a:highlight>
                  <a:srgbClr val="FFFFFF"/>
                </a:highlight>
                <a:latin typeface="Courier New"/>
                <a:ea typeface="Courier New"/>
                <a:cs typeface="Courier New"/>
                <a:sym typeface="Courier New"/>
              </a:rPr>
              <a:t>// 12 MHz/12000 = 1 kHz</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tim14_ms_interrupt_init</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milliseconds)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RCC_APBENR2_TIM14EN;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PSC</a:t>
            </a:r>
            <a:r>
              <a:rPr b="1" lang="en" sz="1100">
                <a:solidFill>
                  <a:schemeClr val="dk1"/>
                </a:solidFill>
                <a:highlight>
                  <a:srgbClr val="FFFFFF"/>
                </a:highlight>
                <a:latin typeface="Courier New"/>
                <a:ea typeface="Courier New"/>
                <a:cs typeface="Courier New"/>
                <a:sym typeface="Courier New"/>
              </a:rPr>
              <a:t> = PSC_FACTOR - 1;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milliseconds - 1;</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CNT</a:t>
            </a:r>
            <a:r>
              <a:rPr b="1" lang="en" sz="1100">
                <a:solidFill>
                  <a:schemeClr val="dk1"/>
                </a:solidFill>
                <a:highlight>
                  <a:srgbClr val="FFFFFF"/>
                </a:highlight>
                <a:latin typeface="Courier New"/>
                <a:ea typeface="Courier New"/>
                <a:cs typeface="Courier New"/>
                <a:sym typeface="Courier New"/>
              </a:rPr>
              <a:t> = 0;</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DIER</a:t>
            </a:r>
            <a:r>
              <a:rPr b="1" lang="en" sz="1100">
                <a:solidFill>
                  <a:schemeClr val="dk1"/>
                </a:solidFill>
                <a:highlight>
                  <a:srgbClr val="FFFFFF"/>
                </a:highlight>
                <a:latin typeface="Courier New"/>
                <a:ea typeface="Courier New"/>
                <a:cs typeface="Courier New"/>
                <a:sym typeface="Courier New"/>
              </a:rPr>
              <a:t> |= TIM_DIER_UIE;</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NVIC_EnableIRQ(</a:t>
            </a:r>
            <a:r>
              <a:rPr b="1" i="1" lang="en" sz="1100">
                <a:solidFill>
                  <a:srgbClr val="0000C0"/>
                </a:solidFill>
                <a:highlight>
                  <a:srgbClr val="FFFFFF"/>
                </a:highlight>
                <a:latin typeface="Courier New"/>
                <a:ea typeface="Courier New"/>
                <a:cs typeface="Courier New"/>
                <a:sym typeface="Courier New"/>
              </a:rPr>
              <a:t>TIM14_IRQn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CR1</a:t>
            </a:r>
            <a:r>
              <a:rPr b="1" lang="en" sz="1100">
                <a:solidFill>
                  <a:schemeClr val="dk1"/>
                </a:solidFill>
                <a:highlight>
                  <a:srgbClr val="FFFFFF"/>
                </a:highlight>
                <a:latin typeface="Courier New"/>
                <a:ea typeface="Courier New"/>
                <a:cs typeface="Courier New"/>
                <a:sym typeface="Courier New"/>
              </a:rPr>
              <a:t> |= TIM_CR1_CEN;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2"/>
              </a:solidFill>
              <a:latin typeface="Courier New"/>
              <a:ea typeface="Courier New"/>
              <a:cs typeface="Courier New"/>
              <a:sym typeface="Courier New"/>
            </a:endParaRPr>
          </a:p>
        </p:txBody>
      </p:sp>
      <p:sp>
        <p:nvSpPr>
          <p:cNvPr id="554" name="Google Shape;554;p65"/>
          <p:cNvSpPr txBox="1"/>
          <p:nvPr/>
        </p:nvSpPr>
        <p:spPr>
          <a:xfrm>
            <a:off x="4463000" y="4944350"/>
            <a:ext cx="4607400" cy="14463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t</a:t>
            </a:r>
            <a:r>
              <a:rPr b="1" lang="en" sz="1200">
                <a:solidFill>
                  <a:schemeClr val="dk1"/>
                </a:solidFill>
                <a:highlight>
                  <a:srgbClr val="FFFFFF"/>
                </a:highlight>
              </a:rPr>
              <a:t>im.h</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#ifndef</a:t>
            </a:r>
            <a:r>
              <a:rPr b="1" lang="en" sz="1100">
                <a:solidFill>
                  <a:schemeClr val="dk1"/>
                </a:solidFill>
                <a:highlight>
                  <a:srgbClr val="FFFFFF"/>
                </a:highlight>
                <a:latin typeface="Courier New"/>
                <a:ea typeface="Courier New"/>
                <a:cs typeface="Courier New"/>
                <a:sym typeface="Courier New"/>
              </a:rPr>
              <a:t> TIM_H_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TIM_H_</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tim14_ms_interrupt_init(</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milliseconds);</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#endif</a:t>
            </a: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TIM_H_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a:p>
            <a:pPr indent="0" lvl="0" marL="25400" rtl="0" algn="l">
              <a:lnSpc>
                <a:spcPct val="115000"/>
              </a:lnSpc>
              <a:spcBef>
                <a:spcPts val="0"/>
              </a:spcBef>
              <a:spcAft>
                <a:spcPts val="0"/>
              </a:spcAft>
              <a:buNone/>
            </a:pPr>
            <a:r>
              <a:t/>
            </a:r>
            <a:endParaRPr b="1" sz="1200">
              <a:solidFill>
                <a:schemeClr val="dk1"/>
              </a:solidFill>
              <a:highlight>
                <a:srgbClr val="FFFFFF"/>
              </a:high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cautionary tale about interrupts</a:t>
            </a:r>
            <a:endParaRPr/>
          </a:p>
        </p:txBody>
      </p:sp>
      <p:sp>
        <p:nvSpPr>
          <p:cNvPr id="560" name="Google Shape;560;p66"/>
          <p:cNvSpPr txBox="1"/>
          <p:nvPr>
            <p:ph idx="1" type="body"/>
          </p:nvPr>
        </p:nvSpPr>
        <p:spPr>
          <a:xfrm>
            <a:off x="311700" y="1308025"/>
            <a:ext cx="8520600" cy="125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1600"/>
              </a:spcBef>
              <a:spcAft>
                <a:spcPts val="0"/>
              </a:spcAft>
              <a:buNone/>
            </a:pPr>
            <a:r>
              <a:rPr lang="en"/>
              <a:t>Back to the earlier problem: Capture a button press with a pin change interrupt and use it to reset a counter (we already solved this one…).</a:t>
            </a:r>
            <a:endParaRPr/>
          </a:p>
          <a:p>
            <a:pPr indent="0" lvl="0" marL="0" rtl="0" algn="l">
              <a:spcBef>
                <a:spcPts val="1600"/>
              </a:spcBef>
              <a:spcAft>
                <a:spcPts val="16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7"/>
          <p:cNvSpPr txBox="1"/>
          <p:nvPr>
            <p:ph type="title"/>
          </p:nvPr>
        </p:nvSpPr>
        <p:spPr>
          <a:xfrm>
            <a:off x="190150" y="202025"/>
            <a:ext cx="35475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solutions</a:t>
            </a:r>
            <a:endParaRPr/>
          </a:p>
        </p:txBody>
      </p:sp>
      <p:sp>
        <p:nvSpPr>
          <p:cNvPr id="566" name="Google Shape;566;p67"/>
          <p:cNvSpPr txBox="1"/>
          <p:nvPr>
            <p:ph idx="1" type="body"/>
          </p:nvPr>
        </p:nvSpPr>
        <p:spPr>
          <a:xfrm>
            <a:off x="70100" y="886725"/>
            <a:ext cx="4135800" cy="47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CC0000"/>
                </a:solidFill>
                <a:latin typeface="Courier New"/>
                <a:ea typeface="Courier New"/>
                <a:cs typeface="Courier New"/>
                <a:sym typeface="Courier New"/>
              </a:rPr>
              <a:t>volatile int counter;</a:t>
            </a: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int main(void)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uart2_init();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pb4_exti_init();</a:t>
            </a: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r>
              <a:rPr lang="en">
                <a:latin typeface="Courier New"/>
                <a:ea typeface="Courier New"/>
                <a:cs typeface="Courier New"/>
                <a:sym typeface="Courier New"/>
              </a:rPr>
              <a:t>counter =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while(1)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r>
              <a:rPr b="1" lang="en">
                <a:solidFill>
                  <a:srgbClr val="CC0000"/>
                </a:solidFill>
                <a:latin typeface="Courier New"/>
                <a:ea typeface="Courier New"/>
                <a:cs typeface="Courier New"/>
                <a:sym typeface="Courier New"/>
              </a:rPr>
              <a:t>counter++;</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return 0;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void EXTI4_15_IRQHandler(void){</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if (EXTI-&gt;FPR1 &amp; EXTI_FPR1_FPIF4)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EXTI-&gt;FPR1 = EXTI_FPR1_FPIF4;</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counter =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
        <p:nvSpPr>
          <p:cNvPr id="567" name="Google Shape;567;p67"/>
          <p:cNvSpPr txBox="1"/>
          <p:nvPr>
            <p:ph idx="2" type="body"/>
          </p:nvPr>
        </p:nvSpPr>
        <p:spPr>
          <a:xfrm>
            <a:off x="4287650" y="440975"/>
            <a:ext cx="4656900" cy="633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volatile int buttonPushed;</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int main(void)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int counter =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uart2_rxtx_init();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pb4_exti_init();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buttonPushed =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while(1)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if (buttonPushed) {</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counter = 0;</a:t>
            </a:r>
            <a:endParaRPr b="1">
              <a:solidFill>
                <a:srgbClr val="CC0000"/>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buttonPushed =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 else {</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counter++;</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return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void EXTI4_15_IRQHandler(void){</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if (EXTI-&gt;FPR1 &amp; EXTI_FPR1_FPIF4)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EXTI-&gt;FPR1 = EXTI_FPR1_FPIF4;</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buttonPushed = 1;</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
        <p:nvSpPr>
          <p:cNvPr id="568" name="Google Shape;568;p67"/>
          <p:cNvSpPr txBox="1"/>
          <p:nvPr/>
        </p:nvSpPr>
        <p:spPr>
          <a:xfrm>
            <a:off x="260600" y="5812550"/>
            <a:ext cx="2826000" cy="8097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000FF"/>
                </a:solidFill>
              </a:rPr>
              <a:t>Shorter is better, right?</a:t>
            </a:r>
            <a:endParaRPr i="1" sz="1800">
              <a:solidFill>
                <a:srgbClr val="0000FF"/>
              </a:solidFill>
            </a:endParaRPr>
          </a:p>
          <a:p>
            <a:pPr indent="0" lvl="0" marL="0" rtl="0" algn="l">
              <a:spcBef>
                <a:spcPts val="0"/>
              </a:spcBef>
              <a:spcAft>
                <a:spcPts val="0"/>
              </a:spcAft>
              <a:buNone/>
            </a:pPr>
            <a:r>
              <a:rPr i="1" lang="en" sz="1800">
                <a:solidFill>
                  <a:srgbClr val="0000FF"/>
                </a:solidFill>
              </a:rPr>
              <a:t>(Not so fast!)</a:t>
            </a:r>
            <a:endParaRPr i="1" sz="1800">
              <a:solidFill>
                <a:srgbClr val="0000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8"/>
          <p:cNvSpPr txBox="1"/>
          <p:nvPr>
            <p:ph idx="2" type="body"/>
          </p:nvPr>
        </p:nvSpPr>
        <p:spPr>
          <a:xfrm>
            <a:off x="4590700" y="763500"/>
            <a:ext cx="4231500" cy="601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08000134:   ldr     r3, [pc, #20]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08000136:   movs    r2, #0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08000138:   str     r2, [r3, #0]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0800013a:   bl      0x8000150 </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0800013e:   ldr     r3, [pc, #12] </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08000140:   ldr     r3, [r3, #0]</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08000142:   adds    r2, r3, #1</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08000144:   ldr     r3, [pc, #4]  </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08000146:   str     r2, [r3, #0]</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08000148:   b.n     0x800013e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0800020a:   ldr     r3, [pc, #16]</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0800020c:   movs    r2, #0</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0800020e:   str     r2, [r3, #0]</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sp>
        <p:nvSpPr>
          <p:cNvPr id="574" name="Google Shape;574;p68"/>
          <p:cNvSpPr txBox="1"/>
          <p:nvPr>
            <p:ph type="title"/>
          </p:nvPr>
        </p:nvSpPr>
        <p:spPr>
          <a:xfrm>
            <a:off x="1770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Same code, in machine language</a:t>
            </a:r>
            <a:endParaRPr/>
          </a:p>
          <a:p>
            <a:pPr indent="0" lvl="0" marL="0" rtl="0" algn="l">
              <a:spcBef>
                <a:spcPts val="0"/>
              </a:spcBef>
              <a:spcAft>
                <a:spcPts val="0"/>
              </a:spcAft>
              <a:buNone/>
            </a:pPr>
            <a:r>
              <a:rPr lang="en" sz="1800"/>
              <a:t>Counter Reset in the ISR</a:t>
            </a:r>
            <a:endParaRPr sz="1800"/>
          </a:p>
        </p:txBody>
      </p:sp>
      <p:sp>
        <p:nvSpPr>
          <p:cNvPr id="575" name="Google Shape;575;p68"/>
          <p:cNvSpPr txBox="1"/>
          <p:nvPr>
            <p:ph idx="2" type="body"/>
          </p:nvPr>
        </p:nvSpPr>
        <p:spPr>
          <a:xfrm>
            <a:off x="58425" y="1515725"/>
            <a:ext cx="43830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int main(void) {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counter =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pb4_exti_init();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while(1)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r>
              <a:rPr b="1" lang="en">
                <a:solidFill>
                  <a:srgbClr val="CC0000"/>
                </a:solidFill>
                <a:latin typeface="Courier New"/>
                <a:ea typeface="Courier New"/>
                <a:cs typeface="Courier New"/>
                <a:sym typeface="Courier New"/>
              </a:rPr>
              <a:t>counter++;</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return 0;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void EXTI4_15_IRQHandler(void){</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if (EXTI-&gt;FPR1 &amp; EXTI_FPR1_FPIF4)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EXTI-&gt;FPR1 = EXTI_FPR1_FPIF4;</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counter =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cxnSp>
        <p:nvCxnSpPr>
          <p:cNvPr id="576" name="Google Shape;576;p68"/>
          <p:cNvCxnSpPr/>
          <p:nvPr/>
        </p:nvCxnSpPr>
        <p:spPr>
          <a:xfrm flipH="1" rot="10800000">
            <a:off x="2348300" y="2956650"/>
            <a:ext cx="2042700" cy="256200"/>
          </a:xfrm>
          <a:prstGeom prst="straightConnector1">
            <a:avLst/>
          </a:prstGeom>
          <a:noFill/>
          <a:ln cap="flat" cmpd="sng" w="19050">
            <a:solidFill>
              <a:srgbClr val="CC0000"/>
            </a:solidFill>
            <a:prstDash val="solid"/>
            <a:round/>
            <a:headEnd len="med" w="med" type="none"/>
            <a:tailEnd len="med" w="med" type="none"/>
          </a:ln>
        </p:spPr>
      </p:cxnSp>
      <p:cxnSp>
        <p:nvCxnSpPr>
          <p:cNvPr id="577" name="Google Shape;577;p68"/>
          <p:cNvCxnSpPr/>
          <p:nvPr/>
        </p:nvCxnSpPr>
        <p:spPr>
          <a:xfrm flipH="1" rot="10800000">
            <a:off x="2044550" y="4817450"/>
            <a:ext cx="2430000" cy="136200"/>
          </a:xfrm>
          <a:prstGeom prst="straightConnector1">
            <a:avLst/>
          </a:prstGeom>
          <a:noFill/>
          <a:ln cap="flat" cmpd="sng" w="19050">
            <a:solidFill>
              <a:srgbClr val="CC0000"/>
            </a:solidFill>
            <a:prstDash val="solid"/>
            <a:round/>
            <a:headEnd len="med" w="med" type="none"/>
            <a:tailEnd len="med" w="med" type="none"/>
          </a:ln>
        </p:spPr>
      </p:cxnSp>
      <p:cxnSp>
        <p:nvCxnSpPr>
          <p:cNvPr id="578" name="Google Shape;578;p68"/>
          <p:cNvCxnSpPr>
            <a:endCxn id="579" idx="3"/>
          </p:cNvCxnSpPr>
          <p:nvPr/>
        </p:nvCxnSpPr>
        <p:spPr>
          <a:xfrm>
            <a:off x="8145700" y="2253225"/>
            <a:ext cx="779400" cy="1686600"/>
          </a:xfrm>
          <a:prstGeom prst="straightConnector1">
            <a:avLst/>
          </a:prstGeom>
          <a:noFill/>
          <a:ln cap="flat" cmpd="sng" w="19050">
            <a:solidFill>
              <a:srgbClr val="0000FF"/>
            </a:solidFill>
            <a:prstDash val="solid"/>
            <a:round/>
            <a:headEnd len="med" w="med" type="triangle"/>
            <a:tailEnd len="med" w="med" type="none"/>
          </a:ln>
        </p:spPr>
      </p:cxnSp>
      <p:sp>
        <p:nvSpPr>
          <p:cNvPr id="579" name="Google Shape;579;p68"/>
          <p:cNvSpPr txBox="1"/>
          <p:nvPr/>
        </p:nvSpPr>
        <p:spPr>
          <a:xfrm>
            <a:off x="6897100" y="3639225"/>
            <a:ext cx="2028000" cy="6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000FF"/>
                </a:solidFill>
              </a:rPr>
              <a:t>What if you get interrupted here?</a:t>
            </a:r>
            <a:endParaRPr i="1" sz="1800">
              <a:solidFill>
                <a:srgbClr val="0000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9"/>
          <p:cNvSpPr txBox="1"/>
          <p:nvPr>
            <p:ph type="title"/>
          </p:nvPr>
        </p:nvSpPr>
        <p:spPr>
          <a:xfrm>
            <a:off x="245650" y="88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Same code, in machine language</a:t>
            </a:r>
            <a:endParaRPr/>
          </a:p>
          <a:p>
            <a:pPr indent="0" lvl="0" marL="0" rtl="0" algn="l">
              <a:spcBef>
                <a:spcPts val="0"/>
              </a:spcBef>
              <a:spcAft>
                <a:spcPts val="0"/>
              </a:spcAft>
              <a:buNone/>
            </a:pPr>
            <a:r>
              <a:rPr lang="en" sz="1800"/>
              <a:t>Set a button press flag in the ISR, counter reset in main()</a:t>
            </a:r>
            <a:endParaRPr sz="1800"/>
          </a:p>
        </p:txBody>
      </p:sp>
      <p:sp>
        <p:nvSpPr>
          <p:cNvPr id="585" name="Google Shape;585;p69"/>
          <p:cNvSpPr txBox="1"/>
          <p:nvPr>
            <p:ph idx="1" type="body"/>
          </p:nvPr>
        </p:nvSpPr>
        <p:spPr>
          <a:xfrm>
            <a:off x="4535350" y="965275"/>
            <a:ext cx="4230900" cy="577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08000136:   movs    r3,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08000138:   str     r3, [r7, #4]</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0000FF"/>
                </a:solidFill>
                <a:latin typeface="Courier New"/>
                <a:ea typeface="Courier New"/>
                <a:cs typeface="Courier New"/>
                <a:sym typeface="Courier New"/>
              </a:rPr>
              <a:t>08000144:   ldr     r3, [pc, #2]</a:t>
            </a:r>
            <a:endParaRPr b="1">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0000FF"/>
                </a:solidFill>
                <a:latin typeface="Courier New"/>
                <a:ea typeface="Courier New"/>
                <a:cs typeface="Courier New"/>
                <a:sym typeface="Courier New"/>
              </a:rPr>
              <a:t>08000146:   ldr     r3, [r3, #0]</a:t>
            </a:r>
            <a:endParaRPr b="1">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0000FF"/>
                </a:solidFill>
                <a:latin typeface="Courier New"/>
                <a:ea typeface="Courier New"/>
                <a:cs typeface="Courier New"/>
                <a:sym typeface="Courier New"/>
              </a:rPr>
              <a:t>08000148:   cmp     r3, #0</a:t>
            </a:r>
            <a:endParaRPr b="1">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0800014a:   beq.n   0x8000158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0800014c:   movs    r3,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0800014e:   str     r3, [r7, #4]</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08000150:   ldr     r3, [pc, #12]</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08000152:   movs    r2,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08000154:   str     r2, [r3,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08000156:   b.n     0x8000144 </a:t>
            </a:r>
            <a:r>
              <a:rPr b="1" lang="en">
                <a:solidFill>
                  <a:srgbClr val="CC0000"/>
                </a:solidFill>
                <a:latin typeface="Courier New"/>
                <a:ea typeface="Courier New"/>
                <a:cs typeface="Courier New"/>
                <a:sym typeface="Courier New"/>
              </a:rPr>
              <a:t>08000158:   ldr     r3, [r7, #4]</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0800015a:   adds    r3, #1</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0800015c:   str     r3, [r7, #4]</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0800015e:   b.n     0x8000144</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0800021e:   ldr     r3, [pc, #16]</a:t>
            </a: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08000220:   movs    r2, #1</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08000222:   str     r2, [r3, #0]</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p:txBody>
      </p:sp>
      <p:sp>
        <p:nvSpPr>
          <p:cNvPr id="586" name="Google Shape;586;p69"/>
          <p:cNvSpPr txBox="1"/>
          <p:nvPr>
            <p:ph idx="2" type="body"/>
          </p:nvPr>
        </p:nvSpPr>
        <p:spPr>
          <a:xfrm>
            <a:off x="0" y="1099975"/>
            <a:ext cx="4441500" cy="55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int main(void)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int counter =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pb4_exti_init();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buttonPushed = 0;</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while(1)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r>
              <a:rPr b="1" lang="en">
                <a:solidFill>
                  <a:srgbClr val="0000FF"/>
                </a:solidFill>
                <a:latin typeface="Courier New"/>
                <a:ea typeface="Courier New"/>
                <a:cs typeface="Courier New"/>
                <a:sym typeface="Courier New"/>
              </a:rPr>
              <a:t>if (buttonPushed)</a:t>
            </a: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r>
              <a:rPr b="1" lang="en">
                <a:solidFill>
                  <a:srgbClr val="CC0000"/>
                </a:solidFill>
                <a:latin typeface="Courier New"/>
                <a:ea typeface="Courier New"/>
                <a:cs typeface="Courier New"/>
                <a:sym typeface="Courier New"/>
              </a:rPr>
              <a:t>counter =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buttonPushed = 0;</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 else {</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counter++;</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return 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void EXTI4_15_IRQHandler(void){</a:t>
            </a:r>
            <a:endParaRPr b="1">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if (EXTI-&gt;FPR1 &amp; EXTI_FPR1_FPIF4)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	EXTI-&gt;FPR1 = EXTI_FPR1_FPIF4;</a:t>
            </a:r>
            <a:endParaRPr>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	buttonPushed = 1;</a:t>
            </a:r>
            <a:endParaRPr b="1">
              <a:solidFill>
                <a:srgbClr val="CC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CC0000"/>
                </a:solidFill>
                <a:latin typeface="Courier New"/>
                <a:ea typeface="Courier New"/>
                <a:cs typeface="Courier New"/>
                <a:sym typeface="Courier New"/>
              </a:rPr>
              <a:t>  </a:t>
            </a: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cxnSp>
        <p:nvCxnSpPr>
          <p:cNvPr id="587" name="Google Shape;587;p69"/>
          <p:cNvCxnSpPr/>
          <p:nvPr/>
        </p:nvCxnSpPr>
        <p:spPr>
          <a:xfrm>
            <a:off x="3210125" y="3154000"/>
            <a:ext cx="1335600" cy="22500"/>
          </a:xfrm>
          <a:prstGeom prst="straightConnector1">
            <a:avLst/>
          </a:prstGeom>
          <a:noFill/>
          <a:ln cap="flat" cmpd="sng" w="19050">
            <a:solidFill>
              <a:srgbClr val="CC0000"/>
            </a:solidFill>
            <a:prstDash val="solid"/>
            <a:round/>
            <a:headEnd len="med" w="med" type="none"/>
            <a:tailEnd len="med" w="med" type="none"/>
          </a:ln>
        </p:spPr>
      </p:cxnSp>
      <p:cxnSp>
        <p:nvCxnSpPr>
          <p:cNvPr id="588" name="Google Shape;588;p69"/>
          <p:cNvCxnSpPr/>
          <p:nvPr/>
        </p:nvCxnSpPr>
        <p:spPr>
          <a:xfrm>
            <a:off x="2817275" y="3827450"/>
            <a:ext cx="1718100" cy="611400"/>
          </a:xfrm>
          <a:prstGeom prst="straightConnector1">
            <a:avLst/>
          </a:prstGeom>
          <a:noFill/>
          <a:ln cap="flat" cmpd="sng" w="19050">
            <a:solidFill>
              <a:srgbClr val="CC0000"/>
            </a:solidFill>
            <a:prstDash val="solid"/>
            <a:round/>
            <a:headEnd len="med" w="med" type="none"/>
            <a:tailEnd len="med" w="med" type="none"/>
          </a:ln>
        </p:spPr>
      </p:cxnSp>
      <p:cxnSp>
        <p:nvCxnSpPr>
          <p:cNvPr id="589" name="Google Shape;589;p69"/>
          <p:cNvCxnSpPr/>
          <p:nvPr/>
        </p:nvCxnSpPr>
        <p:spPr>
          <a:xfrm>
            <a:off x="2465150" y="5771475"/>
            <a:ext cx="2070300" cy="231300"/>
          </a:xfrm>
          <a:prstGeom prst="straightConnector1">
            <a:avLst/>
          </a:prstGeom>
          <a:noFill/>
          <a:ln cap="flat" cmpd="sng" w="19050">
            <a:solidFill>
              <a:srgbClr val="CC0000"/>
            </a:solidFill>
            <a:prstDash val="solid"/>
            <a:round/>
            <a:headEnd len="med" w="med" type="none"/>
            <a:tailEnd len="med" w="med" type="none"/>
          </a:ln>
        </p:spPr>
      </p:cxnSp>
      <p:cxnSp>
        <p:nvCxnSpPr>
          <p:cNvPr id="590" name="Google Shape;590;p69"/>
          <p:cNvCxnSpPr/>
          <p:nvPr/>
        </p:nvCxnSpPr>
        <p:spPr>
          <a:xfrm flipH="1" rot="10800000">
            <a:off x="3299925" y="2390700"/>
            <a:ext cx="1245900" cy="348000"/>
          </a:xfrm>
          <a:prstGeom prst="straightConnector1">
            <a:avLst/>
          </a:prstGeom>
          <a:noFill/>
          <a:ln cap="flat" cmpd="sng" w="19050">
            <a:solidFill>
              <a:srgbClr val="0000FF"/>
            </a:solidFill>
            <a:prstDash val="solid"/>
            <a:round/>
            <a:headEnd len="med" w="med" type="none"/>
            <a:tailEnd len="med" w="med" type="none"/>
          </a:ln>
        </p:spPr>
      </p:cxnSp>
      <p:cxnSp>
        <p:nvCxnSpPr>
          <p:cNvPr id="591" name="Google Shape;591;p69"/>
          <p:cNvCxnSpPr/>
          <p:nvPr/>
        </p:nvCxnSpPr>
        <p:spPr>
          <a:xfrm flipH="1" rot="10800000">
            <a:off x="2817275" y="1302000"/>
            <a:ext cx="1807200" cy="2412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Moral:</a:t>
            </a:r>
            <a:endParaRPr/>
          </a:p>
        </p:txBody>
      </p:sp>
      <p:sp>
        <p:nvSpPr>
          <p:cNvPr id="597" name="Google Shape;597;p70"/>
          <p:cNvSpPr txBox="1"/>
          <p:nvPr>
            <p:ph idx="1" type="body"/>
          </p:nvPr>
        </p:nvSpPr>
        <p:spPr>
          <a:xfrm>
            <a:off x="311700" y="1536632"/>
            <a:ext cx="8520600" cy="52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2400"/>
              <a:t>Distinguish between </a:t>
            </a:r>
            <a:r>
              <a:rPr b="1" i="1" lang="en" sz="2400"/>
              <a:t>data</a:t>
            </a:r>
            <a:r>
              <a:rPr i="1" lang="en" sz="2400"/>
              <a:t> signals and </a:t>
            </a:r>
            <a:r>
              <a:rPr b="1" i="1" lang="en" sz="2400"/>
              <a:t>control</a:t>
            </a:r>
            <a:r>
              <a:rPr i="1" lang="en" sz="2400"/>
              <a:t> signals (flags).</a:t>
            </a:r>
            <a:endParaRPr i="1" sz="2400"/>
          </a:p>
          <a:p>
            <a:pPr indent="0" lvl="0" marL="0" rtl="0" algn="ctr">
              <a:spcBef>
                <a:spcPts val="1600"/>
              </a:spcBef>
              <a:spcAft>
                <a:spcPts val="0"/>
              </a:spcAft>
              <a:buNone/>
            </a:pPr>
            <a:r>
              <a:t/>
            </a:r>
            <a:endParaRPr i="1" sz="2400"/>
          </a:p>
          <a:p>
            <a:pPr indent="0" lvl="0" marL="0" rtl="0" algn="ctr">
              <a:spcBef>
                <a:spcPts val="1600"/>
              </a:spcBef>
              <a:spcAft>
                <a:spcPts val="0"/>
              </a:spcAft>
              <a:buNone/>
            </a:pPr>
            <a:r>
              <a:rPr i="1" lang="en" sz="2400"/>
              <a:t>Be very careful about changing global </a:t>
            </a:r>
            <a:r>
              <a:rPr b="1" i="1" lang="en" sz="2400"/>
              <a:t>data</a:t>
            </a:r>
            <a:r>
              <a:rPr i="1" lang="en" sz="2400"/>
              <a:t> in an ISR (maybe don’t do it at all!)</a:t>
            </a:r>
            <a:endParaRPr i="1" sz="2400"/>
          </a:p>
          <a:p>
            <a:pPr indent="0" lvl="0" marL="0" rtl="0" algn="ctr">
              <a:spcBef>
                <a:spcPts val="1600"/>
              </a:spcBef>
              <a:spcAft>
                <a:spcPts val="0"/>
              </a:spcAft>
              <a:buNone/>
            </a:pPr>
            <a:r>
              <a:t/>
            </a:r>
            <a:endParaRPr i="1" sz="2400"/>
          </a:p>
          <a:p>
            <a:pPr indent="0" lvl="0" marL="0" rtl="0" algn="ctr">
              <a:spcBef>
                <a:spcPts val="1600"/>
              </a:spcBef>
              <a:spcAft>
                <a:spcPts val="1600"/>
              </a:spcAft>
              <a:buNone/>
            </a:pPr>
            <a:r>
              <a:t/>
            </a:r>
            <a:endParaRPr i="1" sz="2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1"/>
          <p:cNvSpPr txBox="1"/>
          <p:nvPr>
            <p:ph type="title"/>
          </p:nvPr>
        </p:nvSpPr>
        <p:spPr>
          <a:xfrm>
            <a:off x="311700" y="593375"/>
            <a:ext cx="86721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2: Timer-controlled A/D conversion</a:t>
            </a:r>
            <a:endParaRPr/>
          </a:p>
        </p:txBody>
      </p:sp>
      <p:sp>
        <p:nvSpPr>
          <p:cNvPr id="603" name="Google Shape;603;p71"/>
          <p:cNvSpPr txBox="1"/>
          <p:nvPr>
            <p:ph idx="1" type="body"/>
          </p:nvPr>
        </p:nvSpPr>
        <p:spPr>
          <a:xfrm>
            <a:off x="311700" y="1536623"/>
            <a:ext cx="8520600" cy="22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Rewrite ADCPot.c, taking a measurement every second, using a timer instead of delay_ms().</a:t>
            </a:r>
            <a:endParaRPr/>
          </a:p>
          <a:p>
            <a:pPr indent="0" lvl="0" marL="0" rtl="0" algn="l">
              <a:spcBef>
                <a:spcPts val="1600"/>
              </a:spcBef>
              <a:spcAft>
                <a:spcPts val="0"/>
              </a:spcAft>
              <a:buNone/>
            </a:pPr>
            <a:r>
              <a:rPr lang="en"/>
              <a:t>This is a head start on Lab 5. No need to upload anything to  Canvas right now since it'll simply get you started on Lab 5.</a:t>
            </a:r>
            <a:endParaRPr/>
          </a:p>
          <a:p>
            <a:pPr indent="0" lvl="0" marL="0" rtl="0" algn="l">
              <a:spcBef>
                <a:spcPts val="1600"/>
              </a:spcBef>
              <a:spcAft>
                <a:spcPts val="1600"/>
              </a:spcAft>
              <a:buClr>
                <a:schemeClr val="dk1"/>
              </a:buClr>
              <a:buSzPts val="1100"/>
              <a:buFont typeface="Arial"/>
              <a:buNone/>
            </a:pPr>
            <a:r>
              <a:t/>
            </a:r>
            <a:endParaRPr i="1"/>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7" name="Shape 607"/>
        <p:cNvGrpSpPr/>
        <p:nvPr/>
      </p:nvGrpSpPr>
      <p:grpSpPr>
        <a:xfrm>
          <a:off x="0" y="0"/>
          <a:ext cx="0" cy="0"/>
          <a:chOff x="0" y="0"/>
          <a:chExt cx="0" cy="0"/>
        </a:xfrm>
      </p:grpSpPr>
      <p:sp>
        <p:nvSpPr>
          <p:cNvPr id="608" name="Google Shape;608;p72"/>
          <p:cNvSpPr txBox="1"/>
          <p:nvPr>
            <p:ph idx="1" type="body"/>
          </p:nvPr>
        </p:nvSpPr>
        <p:spPr>
          <a:xfrm>
            <a:off x="103250" y="49675"/>
            <a:ext cx="4413600" cy="6737400"/>
          </a:xfrm>
          <a:prstGeom prst="rect">
            <a:avLst/>
          </a:prstGeom>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spcBef>
                <a:spcPts val="0"/>
              </a:spcBef>
              <a:spcAft>
                <a:spcPts val="0"/>
              </a:spcAft>
              <a:buNone/>
            </a:pPr>
            <a:r>
              <a:rPr b="1" lang="en" sz="1100">
                <a:solidFill>
                  <a:schemeClr val="dk1"/>
                </a:solidFill>
                <a:highlight>
                  <a:srgbClr val="FFFFFF"/>
                </a:highlight>
              </a:rPr>
              <a:t>ADCPotWithTimerInt.c</a:t>
            </a:r>
            <a:endParaRPr b="1" sz="1100">
              <a:solidFill>
                <a:schemeClr val="dk1"/>
              </a:solidFill>
              <a:highlight>
                <a:srgbClr val="FFFFFF"/>
              </a:highlight>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"adc.h"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timerFlag;</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uint16_t</a:t>
            </a:r>
            <a:r>
              <a:rPr b="1" lang="en" sz="1100">
                <a:solidFill>
                  <a:schemeClr val="dk1"/>
                </a:solidFill>
                <a:highlight>
                  <a:srgbClr val="FFFFFF"/>
                </a:highlight>
                <a:latin typeface="Courier New"/>
                <a:ea typeface="Courier New"/>
                <a:cs typeface="Courier New"/>
                <a:sym typeface="Courier New"/>
              </a:rPr>
              <a:t> sensor_value;</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b="1" lang="en" sz="1100">
                <a:solidFill>
                  <a:schemeClr val="dk1"/>
                </a:solidFill>
                <a:highlight>
                  <a:srgbClr val="FFFFFF"/>
                </a:highlight>
                <a:latin typeface="Courier New"/>
                <a:ea typeface="Courier New"/>
                <a:cs typeface="Courier New"/>
                <a:sym typeface="Courier New"/>
              </a:rPr>
              <a:t> voltage10;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pa0_adc_init();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tim14_ms_interrupt_init(1000);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(timerFlag)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start_conversion();</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sensor_value = adc_read();</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voltage10 = (sensor_value*33)/4096;</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a:t>
            </a:r>
            <a:r>
              <a:rPr b="1" lang="en" sz="1100">
                <a:solidFill>
                  <a:srgbClr val="2A00FF"/>
                </a:solidFill>
                <a:highlight>
                  <a:srgbClr val="FFFFFF"/>
                </a:highlight>
                <a:latin typeface="Courier New"/>
                <a:ea typeface="Courier New"/>
                <a:cs typeface="Courier New"/>
                <a:sym typeface="Courier New"/>
              </a:rPr>
              <a:t>"ADC: %u, voltage: %u.%u Volt\r\n"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sensor_value, voltage10/10, voltage10%10);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UIF in status register</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 ~TIM_SR_UIF;</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timerFlag = 1;</a:t>
            </a:r>
            <a:endParaRPr b="1" sz="11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b="1" sz="1100">
              <a:solidFill>
                <a:srgbClr val="004A43"/>
              </a:solidFill>
              <a:highlight>
                <a:srgbClr val="FFFFFF"/>
              </a:highlight>
              <a:latin typeface="Courier New"/>
              <a:ea typeface="Courier New"/>
              <a:cs typeface="Courier New"/>
              <a:sym typeface="Courier New"/>
            </a:endParaRPr>
          </a:p>
        </p:txBody>
      </p:sp>
      <p:sp>
        <p:nvSpPr>
          <p:cNvPr id="609" name="Google Shape;609;p72"/>
          <p:cNvSpPr txBox="1"/>
          <p:nvPr/>
        </p:nvSpPr>
        <p:spPr>
          <a:xfrm>
            <a:off x="4575950" y="49675"/>
            <a:ext cx="4481400" cy="53091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100">
                <a:solidFill>
                  <a:schemeClr val="dk1"/>
                </a:solidFill>
                <a:highlight>
                  <a:srgbClr val="FFFFFF"/>
                </a:highlight>
              </a:rPr>
              <a:t>adc</a:t>
            </a:r>
            <a:r>
              <a:rPr b="1" lang="en" sz="1100">
                <a:solidFill>
                  <a:schemeClr val="dk1"/>
                </a:solidFill>
                <a:highlight>
                  <a:srgbClr val="FFFFFF"/>
                </a:highlight>
              </a:rPr>
              <a:t>.c</a:t>
            </a:r>
            <a:endParaRPr b="1" sz="11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&lt;stdint.h&gt;</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"adc.h"</a:t>
            </a:r>
            <a:endParaRPr b="1" sz="11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"stm32C0xx.h"</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pa0_adc_init(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RCC_IOPENR_GPIOAEN;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~GPIO_MODER_MODE0_Msk;</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(GPIO_ANALOG &lt;&lt;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GPIO_MODER_MODE0_Pos);</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APBENR2</a:t>
            </a:r>
            <a:r>
              <a:rPr b="1" lang="en" sz="1100">
                <a:solidFill>
                  <a:schemeClr val="dk1"/>
                </a:solidFill>
                <a:highlight>
                  <a:srgbClr val="FFFFFF"/>
                </a:highlight>
                <a:latin typeface="Courier New"/>
                <a:ea typeface="Courier New"/>
                <a:cs typeface="Courier New"/>
                <a:sym typeface="Courier New"/>
              </a:rPr>
              <a:t> |= RCC_APBENR2_ADCEN;			ADC1-&gt;</a:t>
            </a:r>
            <a:r>
              <a:rPr b="1" lang="en" sz="1100">
                <a:solidFill>
                  <a:srgbClr val="0000C0"/>
                </a:solidFill>
                <a:highlight>
                  <a:srgbClr val="FFFFFF"/>
                </a:highlight>
                <a:latin typeface="Courier New"/>
                <a:ea typeface="Courier New"/>
                <a:cs typeface="Courier New"/>
                <a:sym typeface="Courier New"/>
              </a:rPr>
              <a:t>CHSELR</a:t>
            </a:r>
            <a:r>
              <a:rPr b="1" lang="en" sz="1100">
                <a:solidFill>
                  <a:schemeClr val="dk1"/>
                </a:solidFill>
                <a:highlight>
                  <a:srgbClr val="FFFFFF"/>
                </a:highlight>
                <a:latin typeface="Courier New"/>
                <a:ea typeface="Courier New"/>
                <a:cs typeface="Courier New"/>
                <a:sym typeface="Courier New"/>
              </a:rPr>
              <a:t> |= (1U &lt;&lt; 0);</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ADC_CR_ADVREGEN;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for</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i = 0; i&lt;500; i++){}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ADC_CR_ADCAL;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&amp; </a:t>
            </a:r>
            <a:r>
              <a:rPr b="1" lang="en" sz="1100">
                <a:solidFill>
                  <a:schemeClr val="dk1"/>
                </a:solidFill>
                <a:latin typeface="Courier New"/>
                <a:ea typeface="Courier New"/>
                <a:cs typeface="Courier New"/>
                <a:sym typeface="Courier New"/>
              </a:rPr>
              <a:t>ADC_ISR_EOCAL</a:t>
            </a:r>
            <a:r>
              <a:rPr b="1" lang="en" sz="1100">
                <a:solidFill>
                  <a:schemeClr val="dk1"/>
                </a:solidFill>
                <a:highlight>
                  <a:srgbClr val="FFFFFF"/>
                </a:highlight>
                <a:latin typeface="Courier New"/>
                <a:ea typeface="Courier New"/>
                <a:cs typeface="Courier New"/>
                <a:sym typeface="Courier New"/>
              </a:rPr>
              <a:t>)==0){} 		</a:t>
            </a:r>
            <a:r>
              <a:rPr b="1" lang="en" sz="1100">
                <a:solidFill>
                  <a:srgbClr val="005032"/>
                </a:solidFill>
                <a:highlight>
                  <a:srgbClr val="FFFFFF"/>
                </a:highlight>
                <a:latin typeface="Courier New"/>
                <a:ea typeface="Courier New"/>
                <a:cs typeface="Courier New"/>
                <a:sym typeface="Courier New"/>
              </a:rPr>
              <a:t>uint8_t</a:t>
            </a:r>
            <a:r>
              <a:rPr b="1" lang="en" sz="1100">
                <a:solidFill>
                  <a:schemeClr val="dk1"/>
                </a:solidFill>
                <a:highlight>
                  <a:srgbClr val="FFFFFF"/>
                </a:highlight>
                <a:latin typeface="Courier New"/>
                <a:ea typeface="Courier New"/>
                <a:cs typeface="Courier New"/>
                <a:sym typeface="Courier New"/>
              </a:rPr>
              <a:t> calibration = ADC1-&gt;</a:t>
            </a:r>
            <a:r>
              <a:rPr b="1" lang="en" sz="1100">
                <a:solidFill>
                  <a:srgbClr val="0000C0"/>
                </a:solidFill>
                <a:highlight>
                  <a:srgbClr val="FFFFFF"/>
                </a:highlight>
                <a:latin typeface="Courier New"/>
                <a:ea typeface="Courier New"/>
                <a:cs typeface="Courier New"/>
                <a:sym typeface="Courier New"/>
              </a:rPr>
              <a:t>DR</a:t>
            </a:r>
            <a:r>
              <a:rPr b="1" lang="en" sz="1100">
                <a:solidFill>
                  <a:schemeClr val="dk1"/>
                </a:solidFill>
                <a:highlight>
                  <a:srgbClr val="FFFFFF"/>
                </a:highlight>
                <a:latin typeface="Courier New"/>
                <a:ea typeface="Courier New"/>
                <a:cs typeface="Courier New"/>
                <a:sym typeface="Courier New"/>
              </a:rPr>
              <a:t> &amp; 0x7F;  </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 ADC_ISR_ADRDY;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ADC_CR_ADEN;</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CALFACT</a:t>
            </a:r>
            <a:r>
              <a:rPr b="1" lang="en" sz="1100">
                <a:solidFill>
                  <a:schemeClr val="dk1"/>
                </a:solidFill>
                <a:highlight>
                  <a:srgbClr val="FFFFFF"/>
                </a:highlight>
                <a:latin typeface="Courier New"/>
                <a:ea typeface="Courier New"/>
                <a:cs typeface="Courier New"/>
                <a:sym typeface="Courier New"/>
              </a:rPr>
              <a:t> = calibration;</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start_conversion(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&amp; ADC_ISR_ADRDY) == 0){}		ADC1-&gt;</a:t>
            </a:r>
            <a:r>
              <a:rPr b="1" lang="en" sz="1100">
                <a:solidFill>
                  <a:srgbClr val="0000C0"/>
                </a:solidFill>
                <a:highlight>
                  <a:srgbClr val="FFFFFF"/>
                </a:highlight>
                <a:latin typeface="Courier New"/>
                <a:ea typeface="Courier New"/>
                <a:cs typeface="Courier New"/>
                <a:sym typeface="Courier New"/>
              </a:rPr>
              <a:t>CR</a:t>
            </a:r>
            <a:r>
              <a:rPr b="1" lang="en" sz="1100">
                <a:solidFill>
                  <a:schemeClr val="dk1"/>
                </a:solidFill>
                <a:highlight>
                  <a:srgbClr val="FFFFFF"/>
                </a:highlight>
                <a:latin typeface="Courier New"/>
                <a:ea typeface="Courier New"/>
                <a:cs typeface="Courier New"/>
                <a:sym typeface="Courier New"/>
              </a:rPr>
              <a:t> |= ADC_CR_ADSTART;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rgbClr val="005032"/>
                </a:solidFill>
                <a:highlight>
                  <a:srgbClr val="FFFFFF"/>
                </a:highlight>
                <a:latin typeface="Courier New"/>
                <a:ea typeface="Courier New"/>
                <a:cs typeface="Courier New"/>
                <a:sym typeface="Courier New"/>
              </a:rPr>
              <a:t>uint16_t</a:t>
            </a:r>
            <a:r>
              <a:rPr b="1" lang="en" sz="1100">
                <a:solidFill>
                  <a:schemeClr val="dk1"/>
                </a:solidFill>
                <a:highlight>
                  <a:srgbClr val="FFFFFF"/>
                </a:highlight>
                <a:latin typeface="Courier New"/>
                <a:ea typeface="Courier New"/>
                <a:cs typeface="Courier New"/>
                <a:sym typeface="Courier New"/>
              </a:rPr>
              <a:t> adc_read(</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ISR</a:t>
            </a:r>
            <a:r>
              <a:rPr b="1" lang="en" sz="1100">
                <a:solidFill>
                  <a:schemeClr val="dk1"/>
                </a:solidFill>
                <a:highlight>
                  <a:srgbClr val="FFFFFF"/>
                </a:highlight>
                <a:latin typeface="Courier New"/>
                <a:ea typeface="Courier New"/>
                <a:cs typeface="Courier New"/>
                <a:sym typeface="Courier New"/>
              </a:rPr>
              <a:t> &amp; ADC_ISR_EOC) == 0 ){}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uint16_t</a:t>
            </a:r>
            <a:r>
              <a:rPr b="1" lang="en" sz="1100">
                <a:solidFill>
                  <a:schemeClr val="dk1"/>
                </a:solidFill>
                <a:highlight>
                  <a:srgbClr val="FFFFFF"/>
                </a:highlight>
                <a:latin typeface="Courier New"/>
                <a:ea typeface="Courier New"/>
                <a:cs typeface="Courier New"/>
                <a:sym typeface="Courier New"/>
              </a:rPr>
              <a:t>) ADC1-&gt;</a:t>
            </a:r>
            <a:r>
              <a:rPr b="1" lang="en" sz="1100">
                <a:solidFill>
                  <a:srgbClr val="0000C0"/>
                </a:solidFill>
                <a:highlight>
                  <a:srgbClr val="FFFFFF"/>
                </a:highlight>
                <a:latin typeface="Courier New"/>
                <a:ea typeface="Courier New"/>
                <a:cs typeface="Courier New"/>
                <a:sym typeface="Courier New"/>
              </a:rPr>
              <a:t>DR</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000">
              <a:solidFill>
                <a:srgbClr val="800000"/>
              </a:solidFill>
              <a:highlight>
                <a:srgbClr val="FFFFFF"/>
              </a:highlight>
              <a:latin typeface="Courier New"/>
              <a:ea typeface="Courier New"/>
              <a:cs typeface="Courier New"/>
              <a:sym typeface="Courier New"/>
            </a:endParaRPr>
          </a:p>
        </p:txBody>
      </p:sp>
      <p:sp>
        <p:nvSpPr>
          <p:cNvPr id="610" name="Google Shape;610;p72"/>
          <p:cNvSpPr txBox="1"/>
          <p:nvPr/>
        </p:nvSpPr>
        <p:spPr>
          <a:xfrm>
            <a:off x="4576000" y="5406075"/>
            <a:ext cx="4481400" cy="13809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None/>
            </a:pPr>
            <a:r>
              <a:rPr b="1" lang="en" sz="1200">
                <a:solidFill>
                  <a:schemeClr val="dk1"/>
                </a:solidFill>
                <a:highlight>
                  <a:srgbClr val="FFFFFF"/>
                </a:highlight>
              </a:rPr>
              <a:t>tim.c</a:t>
            </a:r>
            <a:endParaRPr b="1" sz="1200">
              <a:solidFill>
                <a:schemeClr val="dk1"/>
              </a:solidFill>
              <a:highlight>
                <a:srgbClr val="FFFFFF"/>
              </a:highlight>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PSC_FACTOR 12000 </a:t>
            </a:r>
            <a:r>
              <a:rPr b="1" lang="en" sz="1100">
                <a:solidFill>
                  <a:srgbClr val="3F7F5F"/>
                </a:solidFill>
                <a:highlight>
                  <a:srgbClr val="FFFFFF"/>
                </a:highlight>
                <a:latin typeface="Courier New"/>
                <a:ea typeface="Courier New"/>
                <a:cs typeface="Courier New"/>
                <a:sym typeface="Courier New"/>
              </a:rPr>
              <a:t>// 12 MHz/12000 = 1 kHz</a:t>
            </a:r>
            <a:endParaRPr b="1" sz="11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tim14_ms_interrupt_init(</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milliseconds) {</a:t>
            </a:r>
            <a:endParaRPr b="1" sz="11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2"/>
              </a:solidFill>
              <a:latin typeface="Courier New"/>
              <a:ea typeface="Courier New"/>
              <a:cs typeface="Courier New"/>
              <a:sym typeface="Courier New"/>
            </a:endParaRPr>
          </a:p>
        </p:txBody>
      </p:sp>
      <p:sp>
        <p:nvSpPr>
          <p:cNvPr id="611" name="Google Shape;611;p72"/>
          <p:cNvSpPr txBox="1"/>
          <p:nvPr>
            <p:ph type="title"/>
          </p:nvPr>
        </p:nvSpPr>
        <p:spPr>
          <a:xfrm rot="-5400000">
            <a:off x="2264325" y="1295850"/>
            <a:ext cx="2784000" cy="9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Timer-controlled A/D conversion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