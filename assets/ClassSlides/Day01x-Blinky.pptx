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E1D97C0-E297-4D0D-9088-72CFB979F3EC}">
  <a:tblStyle styleId="{3E1D97C0-E297-4D0D-9088-72CFB979F3EC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5" Type="http://schemas.openxmlformats.org/officeDocument/2006/relationships/slide" Target="slides/slide19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10bcd0bd4c2_2_45:notes"/>
          <p:cNvSpPr/>
          <p:nvPr>
            <p:ph idx="2" type="sldImg"/>
          </p:nvPr>
        </p:nvSpPr>
        <p:spPr>
          <a:xfrm>
            <a:off x="11433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g10bcd0bd4c2_2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b52e0881df_0_0:notes"/>
          <p:cNvSpPr/>
          <p:nvPr>
            <p:ph idx="2" type="sldImg"/>
          </p:nvPr>
        </p:nvSpPr>
        <p:spPr>
          <a:xfrm>
            <a:off x="11433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b52e0881d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18a94a59b1d_0_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18a94a59b1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238a3f5dea_0_179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238a3f5dea_0_1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238a3f5dea_0_0:notes"/>
          <p:cNvSpPr/>
          <p:nvPr>
            <p:ph idx="2" type="sldImg"/>
          </p:nvPr>
        </p:nvSpPr>
        <p:spPr>
          <a:xfrm>
            <a:off x="11433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g3238a3f5de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238a3f5dea_0_57:notes"/>
          <p:cNvSpPr/>
          <p:nvPr>
            <p:ph idx="2" type="sldImg"/>
          </p:nvPr>
        </p:nvSpPr>
        <p:spPr>
          <a:xfrm>
            <a:off x="11433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g3238a3f5dea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238a3f5dea_0_115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" name="Google Shape;163;g3238a3f5dea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238a3f5dea_0_121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238a3f5dea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49d90d2ca0_0_42:notes"/>
          <p:cNvSpPr/>
          <p:nvPr>
            <p:ph idx="2" type="sldImg"/>
          </p:nvPr>
        </p:nvSpPr>
        <p:spPr>
          <a:xfrm>
            <a:off x="11433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49d90d2ca0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10bcd0bd4c2_0_58:notes"/>
          <p:cNvSpPr/>
          <p:nvPr>
            <p:ph idx="2" type="sldImg"/>
          </p:nvPr>
        </p:nvSpPr>
        <p:spPr>
          <a:xfrm>
            <a:off x="11433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10bcd0bd4c2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2d44beee912_0_1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2d44beee912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10bcd0bd4c2_0_64:notes"/>
          <p:cNvSpPr/>
          <p:nvPr>
            <p:ph idx="2" type="sldImg"/>
          </p:nvPr>
        </p:nvSpPr>
        <p:spPr>
          <a:xfrm>
            <a:off x="11433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10bcd0bd4c2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One of the top 5 things to do improve embedded systems design flow b/c code reviews catch bugs.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2d44beee912_0_9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2d44beee912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2d44beee912_0_16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2d44beee912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10bcd0bd4c2_0_70:notes"/>
          <p:cNvSpPr/>
          <p:nvPr>
            <p:ph idx="2" type="sldImg"/>
          </p:nvPr>
        </p:nvSpPr>
        <p:spPr>
          <a:xfrm>
            <a:off x="11433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10bcd0bd4c2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91a68c24c6_0_8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391a68c24c6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91a68c24c6_0_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391a68c24c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91a68c24c6_0_21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391a68c24c6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238a3f5dea_0_173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3238a3f5dea_0_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" type="body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17"/>
          <p:cNvSpPr txBox="1"/>
          <p:nvPr>
            <p:ph idx="2" type="body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5" name="Google Shape;75;p19"/>
          <p:cNvSpPr txBox="1"/>
          <p:nvPr>
            <p:ph idx="1" type="body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21"/>
          <p:cNvSpPr txBox="1"/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3" name="Google Shape;83;p21"/>
          <p:cNvSpPr txBox="1"/>
          <p:nvPr>
            <p:ph idx="1" type="subTitle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4" name="Google Shape;84;p21"/>
          <p:cNvSpPr txBox="1"/>
          <p:nvPr>
            <p:ph idx="2" type="body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hasCustomPrompt="1" type="title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/>
          <p:nvPr>
            <p:ph idx="1" type="body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canvas.dartmouth.edu/courses/56764/pages/coding-style?wrap=1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5"/>
          <p:cNvSpPr txBox="1"/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>
                <a:latin typeface="Comic Sans MS"/>
                <a:ea typeface="Comic Sans MS"/>
                <a:cs typeface="Comic Sans MS"/>
                <a:sym typeface="Comic Sans MS"/>
              </a:rPr>
              <a:t>Embedded Systems</a:t>
            </a:r>
            <a:endParaRPr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00" name="Google Shape;100;p25"/>
          <p:cNvSpPr txBox="1"/>
          <p:nvPr>
            <p:ph idx="1" type="subTitle"/>
          </p:nvPr>
        </p:nvSpPr>
        <p:spPr>
          <a:xfrm>
            <a:off x="311700" y="4128267"/>
            <a:ext cx="8520600" cy="10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>
                <a:latin typeface="Comic Sans MS"/>
                <a:ea typeface="Comic Sans MS"/>
                <a:cs typeface="Comic Sans MS"/>
                <a:sym typeface="Comic Sans MS"/>
              </a:rPr>
              <a:t>ENGS 28</a:t>
            </a:r>
            <a:endParaRPr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>
                <a:latin typeface="Comic Sans MS"/>
                <a:ea typeface="Comic Sans MS"/>
                <a:cs typeface="Comic Sans MS"/>
                <a:sym typeface="Comic Sans MS"/>
              </a:rPr>
              <a:t>Day 1x:  Modifying Blinky</a:t>
            </a:r>
            <a:endParaRPr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101" name="Google Shape;101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5637" y="395688"/>
            <a:ext cx="1103550" cy="1334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00125" y="0"/>
            <a:ext cx="1543875" cy="2126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42328" y="5679803"/>
            <a:ext cx="808975" cy="9784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26"/>
          <p:cNvPicPr preferRelativeResize="0"/>
          <p:nvPr/>
        </p:nvPicPr>
        <p:blipFill rotWithShape="1">
          <a:blip r:embed="rId4">
            <a:alphaModFix/>
          </a:blip>
          <a:srcRect b="9076" l="0" r="0" t="10103"/>
          <a:stretch/>
        </p:blipFill>
        <p:spPr>
          <a:xfrm>
            <a:off x="5325650" y="5527433"/>
            <a:ext cx="1152900" cy="1283168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6"/>
          <p:cNvSpPr/>
          <p:nvPr/>
        </p:nvSpPr>
        <p:spPr>
          <a:xfrm>
            <a:off x="3419050" y="298733"/>
            <a:ext cx="1152900" cy="14103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26"/>
          <p:cNvSpPr/>
          <p:nvPr/>
        </p:nvSpPr>
        <p:spPr>
          <a:xfrm>
            <a:off x="334675" y="635750"/>
            <a:ext cx="2208300" cy="1853400"/>
          </a:xfrm>
          <a:prstGeom prst="roundRect">
            <a:avLst>
              <a:gd fmla="val 16667" name="adj"/>
            </a:avLst>
          </a:prstGeom>
          <a:solidFill>
            <a:srgbClr val="FF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0000FF"/>
                </a:solidFill>
              </a:rPr>
              <a:t>Nina </a:t>
            </a:r>
            <a:endParaRPr b="1" sz="2200">
              <a:solidFill>
                <a:srgbClr val="0000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0000FF"/>
                </a:solidFill>
              </a:rPr>
              <a:t>Tiffany</a:t>
            </a:r>
            <a:endParaRPr b="1" sz="2200">
              <a:solidFill>
                <a:srgbClr val="0000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0000FF"/>
                </a:solidFill>
              </a:rPr>
              <a:t>Teaen</a:t>
            </a:r>
            <a:endParaRPr b="1" sz="2200">
              <a:solidFill>
                <a:srgbClr val="0000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0000FF"/>
                </a:solidFill>
              </a:rPr>
              <a:t>Jeff</a:t>
            </a:r>
            <a:endParaRPr b="1" sz="2200">
              <a:solidFill>
                <a:srgbClr val="0000FF"/>
              </a:solidFill>
            </a:endParaRPr>
          </a:p>
        </p:txBody>
      </p:sp>
      <p:sp>
        <p:nvSpPr>
          <p:cNvPr id="111" name="Google Shape;111;p26"/>
          <p:cNvSpPr/>
          <p:nvPr/>
        </p:nvSpPr>
        <p:spPr>
          <a:xfrm>
            <a:off x="334675" y="2699775"/>
            <a:ext cx="2208300" cy="1853400"/>
          </a:xfrm>
          <a:prstGeom prst="roundRect">
            <a:avLst>
              <a:gd fmla="val 16667" name="adj"/>
            </a:avLst>
          </a:prstGeom>
          <a:solidFill>
            <a:srgbClr val="FF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0000FF"/>
                </a:solidFill>
              </a:rPr>
              <a:t>Papa </a:t>
            </a:r>
            <a:endParaRPr b="1" sz="2200">
              <a:solidFill>
                <a:srgbClr val="0000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0000FF"/>
                </a:solidFill>
              </a:rPr>
              <a:t>Chase</a:t>
            </a:r>
            <a:endParaRPr b="1" sz="2200">
              <a:solidFill>
                <a:srgbClr val="0000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0000FF"/>
                </a:solidFill>
              </a:rPr>
              <a:t>Ryan </a:t>
            </a:r>
            <a:endParaRPr b="1" sz="2200">
              <a:solidFill>
                <a:srgbClr val="0000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0000FF"/>
                </a:solidFill>
              </a:rPr>
              <a:t>Owen</a:t>
            </a:r>
            <a:endParaRPr b="1" sz="2200">
              <a:solidFill>
                <a:srgbClr val="0000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0000FF"/>
                </a:solidFill>
              </a:rPr>
              <a:t>Holden </a:t>
            </a:r>
            <a:endParaRPr b="1" sz="2200">
              <a:solidFill>
                <a:srgbClr val="0000FF"/>
              </a:solidFill>
            </a:endParaRPr>
          </a:p>
        </p:txBody>
      </p:sp>
      <p:sp>
        <p:nvSpPr>
          <p:cNvPr id="112" name="Google Shape;112;p26"/>
          <p:cNvSpPr/>
          <p:nvPr/>
        </p:nvSpPr>
        <p:spPr>
          <a:xfrm>
            <a:off x="334675" y="4763800"/>
            <a:ext cx="2208300" cy="1664100"/>
          </a:xfrm>
          <a:prstGeom prst="roundRect">
            <a:avLst>
              <a:gd fmla="val 16667" name="adj"/>
            </a:avLst>
          </a:prstGeom>
          <a:solidFill>
            <a:srgbClr val="FF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0000FF"/>
                </a:solidFill>
              </a:rPr>
              <a:t>Simrah</a:t>
            </a:r>
            <a:endParaRPr b="1" sz="2200">
              <a:solidFill>
                <a:srgbClr val="0000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0000FF"/>
                </a:solidFill>
              </a:rPr>
              <a:t>Leah </a:t>
            </a:r>
            <a:endParaRPr b="1" sz="2200">
              <a:solidFill>
                <a:srgbClr val="0000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0000FF"/>
                </a:solidFill>
              </a:rPr>
              <a:t>Claire</a:t>
            </a:r>
            <a:endParaRPr b="1" sz="2200">
              <a:solidFill>
                <a:srgbClr val="0000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0000FF"/>
                </a:solidFill>
              </a:rPr>
              <a:t>Renata </a:t>
            </a:r>
            <a:endParaRPr b="1" sz="2200">
              <a:solidFill>
                <a:srgbClr val="0000FF"/>
              </a:solidFill>
            </a:endParaRPr>
          </a:p>
        </p:txBody>
      </p:sp>
      <p:sp>
        <p:nvSpPr>
          <p:cNvPr id="113" name="Google Shape;113;p26"/>
          <p:cNvSpPr/>
          <p:nvPr/>
        </p:nvSpPr>
        <p:spPr>
          <a:xfrm>
            <a:off x="2753350" y="289400"/>
            <a:ext cx="1757100" cy="1853400"/>
          </a:xfrm>
          <a:prstGeom prst="roundRect">
            <a:avLst>
              <a:gd fmla="val 16667" name="adj"/>
            </a:avLst>
          </a:prstGeom>
          <a:solidFill>
            <a:srgbClr val="FF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0000FF"/>
                </a:solidFill>
              </a:rPr>
              <a:t>Peyton </a:t>
            </a:r>
            <a:endParaRPr b="1" sz="2200">
              <a:solidFill>
                <a:srgbClr val="0000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0000FF"/>
                </a:solidFill>
              </a:rPr>
              <a:t>Gent </a:t>
            </a:r>
            <a:endParaRPr b="1" sz="2200">
              <a:solidFill>
                <a:srgbClr val="0000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0000FF"/>
                </a:solidFill>
              </a:rPr>
              <a:t>Thor </a:t>
            </a:r>
            <a:endParaRPr b="1" sz="2200">
              <a:solidFill>
                <a:srgbClr val="0000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0000FF"/>
                </a:solidFill>
              </a:rPr>
              <a:t>Oliver </a:t>
            </a:r>
            <a:endParaRPr b="1" sz="2200">
              <a:solidFill>
                <a:srgbClr val="0000FF"/>
              </a:solidFill>
            </a:endParaRPr>
          </a:p>
        </p:txBody>
      </p:sp>
      <p:sp>
        <p:nvSpPr>
          <p:cNvPr id="114" name="Google Shape;114;p26"/>
          <p:cNvSpPr/>
          <p:nvPr/>
        </p:nvSpPr>
        <p:spPr>
          <a:xfrm>
            <a:off x="4721450" y="268550"/>
            <a:ext cx="1757100" cy="1853400"/>
          </a:xfrm>
          <a:prstGeom prst="roundRect">
            <a:avLst>
              <a:gd fmla="val 16667" name="adj"/>
            </a:avLst>
          </a:prstGeom>
          <a:solidFill>
            <a:srgbClr val="FF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0000FF"/>
                </a:solidFill>
              </a:rPr>
              <a:t>Napu </a:t>
            </a:r>
            <a:endParaRPr b="1" sz="2200">
              <a:solidFill>
                <a:srgbClr val="0000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0000FF"/>
                </a:solidFill>
              </a:rPr>
              <a:t>Alex </a:t>
            </a:r>
            <a:endParaRPr b="1" sz="2200">
              <a:solidFill>
                <a:srgbClr val="0000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0000FF"/>
                </a:solidFill>
              </a:rPr>
              <a:t>JP</a:t>
            </a:r>
            <a:endParaRPr b="1" sz="2200">
              <a:solidFill>
                <a:srgbClr val="0000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0000FF"/>
                </a:solidFill>
              </a:rPr>
              <a:t>Andrew</a:t>
            </a:r>
            <a:endParaRPr b="1" sz="2200">
              <a:solidFill>
                <a:srgbClr val="0000FF"/>
              </a:solidFill>
            </a:endParaRPr>
          </a:p>
        </p:txBody>
      </p:sp>
      <p:sp>
        <p:nvSpPr>
          <p:cNvPr id="115" name="Google Shape;115;p26"/>
          <p:cNvSpPr/>
          <p:nvPr/>
        </p:nvSpPr>
        <p:spPr>
          <a:xfrm>
            <a:off x="6628050" y="4763850"/>
            <a:ext cx="2171400" cy="1664100"/>
          </a:xfrm>
          <a:prstGeom prst="roundRect">
            <a:avLst>
              <a:gd fmla="val 16667" name="adj"/>
            </a:avLst>
          </a:prstGeom>
          <a:solidFill>
            <a:srgbClr val="FF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0000FF"/>
                </a:solidFill>
              </a:rPr>
              <a:t>Hope</a:t>
            </a:r>
            <a:endParaRPr b="1" sz="2200">
              <a:solidFill>
                <a:srgbClr val="0000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0000FF"/>
                </a:solidFill>
              </a:rPr>
              <a:t>Brianna</a:t>
            </a:r>
            <a:endParaRPr b="1" sz="2200">
              <a:solidFill>
                <a:srgbClr val="0000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0000FF"/>
                </a:solidFill>
              </a:rPr>
              <a:t>Rachel</a:t>
            </a:r>
            <a:endParaRPr b="1" sz="2200">
              <a:solidFill>
                <a:srgbClr val="0000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0000FF"/>
                </a:solidFill>
              </a:rPr>
              <a:t>Maya</a:t>
            </a:r>
            <a:endParaRPr b="1" sz="2200">
              <a:solidFill>
                <a:srgbClr val="0000FF"/>
              </a:solidFill>
            </a:endParaRPr>
          </a:p>
        </p:txBody>
      </p:sp>
      <p:sp>
        <p:nvSpPr>
          <p:cNvPr id="116" name="Google Shape;116;p26"/>
          <p:cNvSpPr/>
          <p:nvPr/>
        </p:nvSpPr>
        <p:spPr>
          <a:xfrm>
            <a:off x="6628050" y="2699776"/>
            <a:ext cx="2171400" cy="1853400"/>
          </a:xfrm>
          <a:prstGeom prst="roundRect">
            <a:avLst>
              <a:gd fmla="val 16667" name="adj"/>
            </a:avLst>
          </a:prstGeom>
          <a:solidFill>
            <a:srgbClr val="FF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0000FF"/>
                </a:solidFill>
              </a:rPr>
              <a:t>Stefan</a:t>
            </a:r>
            <a:endParaRPr b="1" sz="2200">
              <a:solidFill>
                <a:srgbClr val="0000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0000FF"/>
                </a:solidFill>
              </a:rPr>
              <a:t>Konstantinos </a:t>
            </a:r>
            <a:endParaRPr b="1" sz="2200">
              <a:solidFill>
                <a:srgbClr val="0000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0000FF"/>
                </a:solidFill>
              </a:rPr>
              <a:t>Aikins </a:t>
            </a:r>
            <a:endParaRPr b="1" sz="2200">
              <a:solidFill>
                <a:srgbClr val="0000FF"/>
              </a:solidFill>
            </a:endParaRPr>
          </a:p>
        </p:txBody>
      </p:sp>
      <p:sp>
        <p:nvSpPr>
          <p:cNvPr id="117" name="Google Shape;117;p26"/>
          <p:cNvSpPr/>
          <p:nvPr/>
        </p:nvSpPr>
        <p:spPr>
          <a:xfrm>
            <a:off x="6628050" y="635750"/>
            <a:ext cx="2171400" cy="1853400"/>
          </a:xfrm>
          <a:prstGeom prst="roundRect">
            <a:avLst>
              <a:gd fmla="val 16667" name="adj"/>
            </a:avLst>
          </a:prstGeom>
          <a:solidFill>
            <a:srgbClr val="FFFF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0000FF"/>
                </a:solidFill>
              </a:rPr>
              <a:t>Molly </a:t>
            </a:r>
            <a:endParaRPr b="1" sz="2200">
              <a:solidFill>
                <a:srgbClr val="0000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0000FF"/>
                </a:solidFill>
              </a:rPr>
              <a:t>Soleil </a:t>
            </a:r>
            <a:endParaRPr b="1" sz="2200">
              <a:solidFill>
                <a:srgbClr val="0000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0000FF"/>
                </a:solidFill>
              </a:rPr>
              <a:t>Meiirzhan </a:t>
            </a:r>
            <a:endParaRPr b="1" sz="2200">
              <a:solidFill>
                <a:srgbClr val="0000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0000FF"/>
                </a:solidFill>
              </a:rPr>
              <a:t>Ollie</a:t>
            </a:r>
            <a:endParaRPr b="1" sz="2200">
              <a:solidFill>
                <a:srgbClr val="0000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0000FF"/>
                </a:solidFill>
              </a:rPr>
              <a:t>Starlone</a:t>
            </a:r>
            <a:endParaRPr b="1" sz="2200">
              <a:solidFill>
                <a:srgbClr val="0000FF"/>
              </a:solidFill>
            </a:endParaRPr>
          </a:p>
        </p:txBody>
      </p:sp>
      <p:sp>
        <p:nvSpPr>
          <p:cNvPr id="118" name="Google Shape;118;p26"/>
          <p:cNvSpPr txBox="1"/>
          <p:nvPr>
            <p:ph type="ctrTitle"/>
          </p:nvPr>
        </p:nvSpPr>
        <p:spPr>
          <a:xfrm>
            <a:off x="2665663" y="2244313"/>
            <a:ext cx="3839700" cy="1853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>
                <a:latin typeface="Comic Sans MS"/>
                <a:ea typeface="Comic Sans MS"/>
                <a:cs typeface="Comic Sans MS"/>
                <a:sym typeface="Comic Sans MS"/>
              </a:rPr>
              <a:t>Embedded </a:t>
            </a:r>
            <a:endParaRPr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>
                <a:latin typeface="Comic Sans MS"/>
                <a:ea typeface="Comic Sans MS"/>
                <a:cs typeface="Comic Sans MS"/>
                <a:sym typeface="Comic Sans MS"/>
              </a:rPr>
              <a:t>Systems</a:t>
            </a:r>
            <a:endParaRPr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19" name="Google Shape;119;p26"/>
          <p:cNvSpPr txBox="1"/>
          <p:nvPr>
            <p:ph idx="1" type="subTitle"/>
          </p:nvPr>
        </p:nvSpPr>
        <p:spPr>
          <a:xfrm>
            <a:off x="2665650" y="4097725"/>
            <a:ext cx="3839700" cy="10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>
                <a:latin typeface="Comic Sans MS"/>
                <a:ea typeface="Comic Sans MS"/>
                <a:cs typeface="Comic Sans MS"/>
                <a:sym typeface="Comic Sans MS"/>
              </a:rPr>
              <a:t>ENGS 28</a:t>
            </a:r>
            <a:endParaRPr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>
                <a:latin typeface="Comic Sans MS"/>
                <a:ea typeface="Comic Sans MS"/>
                <a:cs typeface="Comic Sans MS"/>
                <a:sym typeface="Comic Sans MS"/>
              </a:rPr>
              <a:t>Day 1x:  Modifying Blinky</a:t>
            </a:r>
            <a:endParaRPr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7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Agenda for Today</a:t>
            </a:r>
            <a:endParaRPr/>
          </a:p>
        </p:txBody>
      </p:sp>
      <p:sp>
        <p:nvSpPr>
          <p:cNvPr id="125" name="Google Shape;125;p27"/>
          <p:cNvSpPr txBox="1"/>
          <p:nvPr>
            <p:ph idx="1" type="body"/>
          </p:nvPr>
        </p:nvSpPr>
        <p:spPr>
          <a:xfrm>
            <a:off x="311700" y="1536624"/>
            <a:ext cx="8520600" cy="505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Quick Review of Canvas and Course</a:t>
            </a:r>
            <a:br>
              <a:rPr lang="en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Practice </a:t>
            </a:r>
            <a:r>
              <a:rPr lang="en"/>
              <a:t>Bitwise</a:t>
            </a:r>
            <a:r>
              <a:rPr lang="en"/>
              <a:t> Operations</a:t>
            </a:r>
            <a:br>
              <a:rPr lang="en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Homework Code Review</a:t>
            </a:r>
            <a:br>
              <a:rPr lang="en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Working with multiple source files in a project</a:t>
            </a:r>
            <a:br>
              <a:rPr lang="en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Equipment distribution and check-out survey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100" y="1497940"/>
            <a:ext cx="8955800" cy="3544261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28"/>
          <p:cNvSpPr txBox="1"/>
          <p:nvPr>
            <p:ph type="title"/>
          </p:nvPr>
        </p:nvSpPr>
        <p:spPr>
          <a:xfrm>
            <a:off x="311700" y="376492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Week on Canvas</a:t>
            </a:r>
            <a:endParaRPr/>
          </a:p>
        </p:txBody>
      </p:sp>
      <p:sp>
        <p:nvSpPr>
          <p:cNvPr id="132" name="Google Shape;132;p2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3" name="Google Shape;133;p28"/>
          <p:cNvSpPr/>
          <p:nvPr/>
        </p:nvSpPr>
        <p:spPr>
          <a:xfrm>
            <a:off x="1634950" y="3543750"/>
            <a:ext cx="1924500" cy="4065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28"/>
          <p:cNvSpPr txBox="1"/>
          <p:nvPr/>
        </p:nvSpPr>
        <p:spPr>
          <a:xfrm>
            <a:off x="5692400" y="596350"/>
            <a:ext cx="826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today</a:t>
            </a:r>
            <a:endParaRPr sz="1800">
              <a:solidFill>
                <a:srgbClr val="FF0000"/>
              </a:solidFill>
            </a:endParaRPr>
          </a:p>
        </p:txBody>
      </p:sp>
      <p:cxnSp>
        <p:nvCxnSpPr>
          <p:cNvPr id="135" name="Google Shape;135;p28"/>
          <p:cNvCxnSpPr>
            <a:stCxn id="134" idx="2"/>
            <a:endCxn id="133" idx="0"/>
          </p:cNvCxnSpPr>
          <p:nvPr/>
        </p:nvCxnSpPr>
        <p:spPr>
          <a:xfrm flipH="1">
            <a:off x="2597300" y="1058050"/>
            <a:ext cx="3508500" cy="24858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9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Practice bitwise operations (8-bit here for practice)</a:t>
            </a:r>
            <a:endParaRPr/>
          </a:p>
        </p:txBody>
      </p:sp>
      <p:sp>
        <p:nvSpPr>
          <p:cNvPr id="141" name="Google Shape;141;p29"/>
          <p:cNvSpPr txBox="1"/>
          <p:nvPr>
            <p:ph idx="1" type="body"/>
          </p:nvPr>
        </p:nvSpPr>
        <p:spPr>
          <a:xfrm>
            <a:off x="311700" y="1536624"/>
            <a:ext cx="8520600" cy="50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is (1 &lt;&lt; 4)?</a:t>
            </a:r>
            <a:br>
              <a:rPr lang="en"/>
            </a:b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Now (0b00111001 &lt;&lt; 3)?</a:t>
            </a:r>
            <a:br>
              <a:rPr lang="en"/>
            </a:b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(0b00111001 &gt;&gt; 2)?</a:t>
            </a:r>
            <a:br>
              <a:rPr lang="en"/>
            </a:b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(0b00111001 &lt;&lt; 3) | (0b00111001 &gt;&gt; 2)?</a:t>
            </a:r>
            <a:br>
              <a:rPr lang="en"/>
            </a:b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(0b00111001 &lt;&lt; 3) &amp; (0b00111001 &gt;&gt; 2)?</a:t>
            </a:r>
            <a:br>
              <a:rPr lang="en"/>
            </a:b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(0b00111001 &lt;&lt; 3) ^ (0b00111001 &gt;&gt; 2)?</a:t>
            </a:r>
            <a:br>
              <a:rPr lang="en"/>
            </a:b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2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143" name="Google Shape;143;p29"/>
          <p:cNvGraphicFramePr/>
          <p:nvPr/>
        </p:nvGraphicFramePr>
        <p:xfrm>
          <a:off x="5181200" y="149916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{3E1D97C0-E297-4D0D-9088-72CFB979F3EC}</a:tableStyleId>
              </a:tblPr>
              <a:tblGrid>
                <a:gridCol w="442150"/>
                <a:gridCol w="442150"/>
                <a:gridCol w="442150"/>
                <a:gridCol w="442150"/>
                <a:gridCol w="442150"/>
                <a:gridCol w="442150"/>
                <a:gridCol w="442150"/>
                <a:gridCol w="382850"/>
              </a:tblGrid>
              <a:tr h="437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/>
                    </a:p>
                  </a:txBody>
                  <a:tcPr marT="121900" marB="121900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/>
                    </a:p>
                  </a:txBody>
                  <a:tcPr marT="121900" marB="121900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/>
                    </a:p>
                  </a:txBody>
                  <a:tcPr marT="121900" marB="121900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/>
                    </a:p>
                  </a:txBody>
                  <a:tcPr marT="121900" marB="121900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/>
                    </a:p>
                  </a:txBody>
                  <a:tcPr marT="121900" marB="121900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/>
                    </a:p>
                  </a:txBody>
                  <a:tcPr marT="121900" marB="121900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/>
                    </a:p>
                  </a:txBody>
                  <a:tcPr marT="121900" marB="121900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121900" marB="121900" marR="91425" marL="91425"/>
                </a:tc>
              </a:tr>
            </a:tbl>
          </a:graphicData>
        </a:graphic>
      </p:graphicFrame>
      <p:graphicFrame>
        <p:nvGraphicFramePr>
          <p:cNvPr id="144" name="Google Shape;144;p29"/>
          <p:cNvGraphicFramePr/>
          <p:nvPr/>
        </p:nvGraphicFramePr>
        <p:xfrm>
          <a:off x="5181200" y="234816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{3E1D97C0-E297-4D0D-9088-72CFB979F3EC}</a:tableStyleId>
              </a:tblPr>
              <a:tblGrid>
                <a:gridCol w="442150"/>
                <a:gridCol w="442150"/>
                <a:gridCol w="442150"/>
                <a:gridCol w="442150"/>
                <a:gridCol w="442150"/>
                <a:gridCol w="442150"/>
                <a:gridCol w="442150"/>
                <a:gridCol w="382850"/>
              </a:tblGrid>
              <a:tr h="437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/>
                    </a:p>
                  </a:txBody>
                  <a:tcPr marT="121900" marB="121900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/>
                    </a:p>
                  </a:txBody>
                  <a:tcPr marT="121900" marB="121900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/>
                    </a:p>
                  </a:txBody>
                  <a:tcPr marT="121900" marB="121900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/>
                    </a:p>
                  </a:txBody>
                  <a:tcPr marT="121900" marB="121900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/>
                    </a:p>
                  </a:txBody>
                  <a:tcPr marT="121900" marB="121900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/>
                    </a:p>
                  </a:txBody>
                  <a:tcPr marT="121900" marB="121900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/>
                    </a:p>
                  </a:txBody>
                  <a:tcPr marT="121900" marB="121900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121900" marB="121900" marR="91425" marL="91425"/>
                </a:tc>
              </a:tr>
            </a:tbl>
          </a:graphicData>
        </a:graphic>
      </p:graphicFrame>
      <p:graphicFrame>
        <p:nvGraphicFramePr>
          <p:cNvPr id="145" name="Google Shape;145;p29"/>
          <p:cNvGraphicFramePr/>
          <p:nvPr/>
        </p:nvGraphicFramePr>
        <p:xfrm>
          <a:off x="5206350" y="319716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{3E1D97C0-E297-4D0D-9088-72CFB979F3EC}</a:tableStyleId>
              </a:tblPr>
              <a:tblGrid>
                <a:gridCol w="442150"/>
                <a:gridCol w="442150"/>
                <a:gridCol w="442150"/>
                <a:gridCol w="442150"/>
                <a:gridCol w="442150"/>
                <a:gridCol w="442150"/>
                <a:gridCol w="442150"/>
                <a:gridCol w="382850"/>
              </a:tblGrid>
              <a:tr h="437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/>
                    </a:p>
                  </a:txBody>
                  <a:tcPr marT="121900" marB="121900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/>
                    </a:p>
                  </a:txBody>
                  <a:tcPr marT="121900" marB="121900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/>
                    </a:p>
                  </a:txBody>
                  <a:tcPr marT="121900" marB="121900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/>
                    </a:p>
                  </a:txBody>
                  <a:tcPr marT="121900" marB="121900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/>
                    </a:p>
                  </a:txBody>
                  <a:tcPr marT="121900" marB="121900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/>
                    </a:p>
                  </a:txBody>
                  <a:tcPr marT="121900" marB="121900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/>
                    </a:p>
                  </a:txBody>
                  <a:tcPr marT="121900" marB="121900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121900" marB="121900" marR="91425" marL="91425"/>
                </a:tc>
              </a:tr>
            </a:tbl>
          </a:graphicData>
        </a:graphic>
      </p:graphicFrame>
      <p:graphicFrame>
        <p:nvGraphicFramePr>
          <p:cNvPr id="146" name="Google Shape;146;p29"/>
          <p:cNvGraphicFramePr/>
          <p:nvPr/>
        </p:nvGraphicFramePr>
        <p:xfrm>
          <a:off x="5206350" y="404616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{3E1D97C0-E297-4D0D-9088-72CFB979F3EC}</a:tableStyleId>
              </a:tblPr>
              <a:tblGrid>
                <a:gridCol w="442150"/>
                <a:gridCol w="442150"/>
                <a:gridCol w="442150"/>
                <a:gridCol w="442150"/>
                <a:gridCol w="442150"/>
                <a:gridCol w="442150"/>
                <a:gridCol w="442150"/>
                <a:gridCol w="382850"/>
              </a:tblGrid>
              <a:tr h="437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/>
                    </a:p>
                  </a:txBody>
                  <a:tcPr marT="121900" marB="121900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/>
                    </a:p>
                  </a:txBody>
                  <a:tcPr marT="121900" marB="121900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/>
                    </a:p>
                  </a:txBody>
                  <a:tcPr marT="121900" marB="121900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/>
                    </a:p>
                  </a:txBody>
                  <a:tcPr marT="121900" marB="121900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/>
                    </a:p>
                  </a:txBody>
                  <a:tcPr marT="121900" marB="121900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/>
                    </a:p>
                  </a:txBody>
                  <a:tcPr marT="121900" marB="121900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/>
                    </a:p>
                  </a:txBody>
                  <a:tcPr marT="121900" marB="121900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121900" marB="121900" marR="91425" marL="91425"/>
                </a:tc>
              </a:tr>
            </a:tbl>
          </a:graphicData>
        </a:graphic>
      </p:graphicFrame>
      <p:graphicFrame>
        <p:nvGraphicFramePr>
          <p:cNvPr id="147" name="Google Shape;147;p29"/>
          <p:cNvGraphicFramePr/>
          <p:nvPr/>
        </p:nvGraphicFramePr>
        <p:xfrm>
          <a:off x="5181200" y="489516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{3E1D97C0-E297-4D0D-9088-72CFB979F3EC}</a:tableStyleId>
              </a:tblPr>
              <a:tblGrid>
                <a:gridCol w="442150"/>
                <a:gridCol w="442150"/>
                <a:gridCol w="442150"/>
                <a:gridCol w="442150"/>
                <a:gridCol w="442150"/>
                <a:gridCol w="442150"/>
                <a:gridCol w="442150"/>
                <a:gridCol w="382850"/>
              </a:tblGrid>
              <a:tr h="437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/>
                    </a:p>
                  </a:txBody>
                  <a:tcPr marT="121900" marB="121900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/>
                    </a:p>
                  </a:txBody>
                  <a:tcPr marT="121900" marB="121900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/>
                    </a:p>
                  </a:txBody>
                  <a:tcPr marT="121900" marB="121900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/>
                    </a:p>
                  </a:txBody>
                  <a:tcPr marT="121900" marB="121900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/>
                    </a:p>
                  </a:txBody>
                  <a:tcPr marT="121900" marB="121900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/>
                    </a:p>
                  </a:txBody>
                  <a:tcPr marT="121900" marB="121900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/>
                    </a:p>
                  </a:txBody>
                  <a:tcPr marT="121900" marB="121900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121900" marB="121900" marR="91425" marL="91425"/>
                </a:tc>
              </a:tr>
            </a:tbl>
          </a:graphicData>
        </a:graphic>
      </p:graphicFrame>
      <p:graphicFrame>
        <p:nvGraphicFramePr>
          <p:cNvPr id="148" name="Google Shape;148;p29"/>
          <p:cNvGraphicFramePr/>
          <p:nvPr/>
        </p:nvGraphicFramePr>
        <p:xfrm>
          <a:off x="5181200" y="574416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{3E1D97C0-E297-4D0D-9088-72CFB979F3EC}</a:tableStyleId>
              </a:tblPr>
              <a:tblGrid>
                <a:gridCol w="442150"/>
                <a:gridCol w="442150"/>
                <a:gridCol w="442150"/>
                <a:gridCol w="442150"/>
                <a:gridCol w="442150"/>
                <a:gridCol w="442150"/>
                <a:gridCol w="442150"/>
                <a:gridCol w="382850"/>
              </a:tblGrid>
              <a:tr h="437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/>
                    </a:p>
                  </a:txBody>
                  <a:tcPr marT="121900" marB="121900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/>
                    </a:p>
                  </a:txBody>
                  <a:tcPr marT="121900" marB="121900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/>
                    </a:p>
                  </a:txBody>
                  <a:tcPr marT="121900" marB="121900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/>
                    </a:p>
                  </a:txBody>
                  <a:tcPr marT="121900" marB="121900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/>
                    </a:p>
                  </a:txBody>
                  <a:tcPr marT="121900" marB="121900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/>
                    </a:p>
                  </a:txBody>
                  <a:tcPr marT="121900" marB="121900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/>
                    </a:p>
                  </a:txBody>
                  <a:tcPr marT="121900" marB="121900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121900" marB="121900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30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More practice:</a:t>
            </a:r>
            <a:endParaRPr>
              <a:solidFill>
                <a:srgbClr val="0000FF"/>
              </a:solidFill>
            </a:endParaRPr>
          </a:p>
        </p:txBody>
      </p:sp>
      <p:sp>
        <p:nvSpPr>
          <p:cNvPr id="154" name="Google Shape;154;p30"/>
          <p:cNvSpPr txBox="1"/>
          <p:nvPr>
            <p:ph idx="1" type="body"/>
          </p:nvPr>
        </p:nvSpPr>
        <p:spPr>
          <a:xfrm>
            <a:off x="311700" y="1234875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How do you clear bit 5 in 0b00101101?</a:t>
            </a:r>
            <a:br>
              <a:rPr lang="en"/>
            </a:br>
            <a:br>
              <a:rPr lang="en"/>
            </a:br>
            <a:br>
              <a:rPr lang="en"/>
            </a:br>
            <a:br>
              <a:rPr lang="en"/>
            </a:br>
            <a:br>
              <a:rPr lang="en"/>
            </a:br>
            <a:br>
              <a:rPr lang="en"/>
            </a:b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How do you create the number 0b11111011?</a:t>
            </a:r>
            <a:br>
              <a:rPr lang="en"/>
            </a:br>
            <a:r>
              <a:rPr lang="en"/>
              <a:t> 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155" name="Google Shape;155;p3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156" name="Google Shape;156;p30"/>
          <p:cNvGraphicFramePr/>
          <p:nvPr/>
        </p:nvGraphicFramePr>
        <p:xfrm>
          <a:off x="869525" y="2134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{3E1D97C0-E297-4D0D-9088-72CFB979F3EC}</a:tableStyleId>
              </a:tblPr>
              <a:tblGrid>
                <a:gridCol w="442150"/>
                <a:gridCol w="442150"/>
                <a:gridCol w="442150"/>
                <a:gridCol w="442150"/>
                <a:gridCol w="442150"/>
                <a:gridCol w="442150"/>
                <a:gridCol w="442150"/>
                <a:gridCol w="382850"/>
              </a:tblGrid>
              <a:tr h="437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" sz="1900" u="none" cap="none" strike="noStrike"/>
                        <a:t>0</a:t>
                      </a:r>
                      <a:endParaRPr sz="1900" u="none" cap="none" strike="noStrike"/>
                    </a:p>
                  </a:txBody>
                  <a:tcPr marT="121900" marB="121900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" sz="1900" u="none" cap="none" strike="noStrike"/>
                        <a:t>0</a:t>
                      </a:r>
                      <a:endParaRPr sz="1900" u="none" cap="none" strike="noStrike"/>
                    </a:p>
                  </a:txBody>
                  <a:tcPr marT="121900" marB="121900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" sz="1900" u="none" cap="none" strike="noStrike">
                          <a:solidFill>
                            <a:srgbClr val="FF0000"/>
                          </a:solidFill>
                        </a:rPr>
                        <a:t>1</a:t>
                      </a:r>
                      <a:endParaRPr sz="19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121900" marB="121900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" sz="1900" u="none" cap="none" strike="noStrike"/>
                        <a:t>0</a:t>
                      </a:r>
                      <a:endParaRPr sz="1900" u="none" cap="none" strike="noStrike"/>
                    </a:p>
                  </a:txBody>
                  <a:tcPr marT="121900" marB="121900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" sz="1900" u="none" cap="none" strike="noStrike"/>
                        <a:t>1</a:t>
                      </a:r>
                      <a:endParaRPr sz="1900" u="none" cap="none" strike="noStrike"/>
                    </a:p>
                  </a:txBody>
                  <a:tcPr marT="121900" marB="121900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" sz="1900" u="none" cap="none" strike="noStrike"/>
                        <a:t>1</a:t>
                      </a:r>
                      <a:endParaRPr sz="1900" u="none" cap="none" strike="noStrike"/>
                    </a:p>
                  </a:txBody>
                  <a:tcPr marT="121900" marB="121900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" sz="1900" u="none" cap="none" strike="noStrike"/>
                        <a:t>0</a:t>
                      </a:r>
                      <a:endParaRPr sz="1900" u="none" cap="none" strike="noStrike"/>
                    </a:p>
                  </a:txBody>
                  <a:tcPr marT="121900" marB="121900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" sz="1900" u="none" cap="none" strike="noStrike"/>
                        <a:t>1</a:t>
                      </a:r>
                      <a:endParaRPr sz="1900" u="none" cap="none" strike="noStrike"/>
                    </a:p>
                  </a:txBody>
                  <a:tcPr marT="121900" marB="121900" marR="91425" marL="91425"/>
                </a:tc>
              </a:tr>
            </a:tbl>
          </a:graphicData>
        </a:graphic>
      </p:graphicFrame>
      <p:graphicFrame>
        <p:nvGraphicFramePr>
          <p:cNvPr id="157" name="Google Shape;157;p30"/>
          <p:cNvGraphicFramePr/>
          <p:nvPr/>
        </p:nvGraphicFramePr>
        <p:xfrm>
          <a:off x="5148650" y="2904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{3E1D97C0-E297-4D0D-9088-72CFB979F3EC}</a:tableStyleId>
              </a:tblPr>
              <a:tblGrid>
                <a:gridCol w="442150"/>
                <a:gridCol w="442150"/>
                <a:gridCol w="442150"/>
                <a:gridCol w="442150"/>
                <a:gridCol w="442150"/>
                <a:gridCol w="442150"/>
                <a:gridCol w="442150"/>
                <a:gridCol w="382850"/>
              </a:tblGrid>
              <a:tr h="437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" sz="1900" u="none" cap="none" strike="noStrike"/>
                        <a:t>0</a:t>
                      </a:r>
                      <a:endParaRPr sz="1900" u="none" cap="none" strike="noStrike"/>
                    </a:p>
                  </a:txBody>
                  <a:tcPr marT="121900" marB="121900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" sz="1900" u="none" cap="none" strike="noStrike"/>
                        <a:t>0</a:t>
                      </a:r>
                      <a:endParaRPr sz="1900" u="none" cap="none" strike="noStrike"/>
                    </a:p>
                  </a:txBody>
                  <a:tcPr marT="121900" marB="121900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" sz="1900" u="none" cap="none" strike="noStrike">
                          <a:solidFill>
                            <a:srgbClr val="FF0000"/>
                          </a:solidFill>
                        </a:rPr>
                        <a:t>0</a:t>
                      </a:r>
                      <a:endParaRPr sz="19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121900" marB="121900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" sz="1900" u="none" cap="none" strike="noStrike"/>
                        <a:t>0</a:t>
                      </a:r>
                      <a:endParaRPr sz="1900" u="none" cap="none" strike="noStrike"/>
                    </a:p>
                  </a:txBody>
                  <a:tcPr marT="121900" marB="121900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" sz="1900" u="none" cap="none" strike="noStrike"/>
                        <a:t>1</a:t>
                      </a:r>
                      <a:endParaRPr sz="1900" u="none" cap="none" strike="noStrike"/>
                    </a:p>
                  </a:txBody>
                  <a:tcPr marT="121900" marB="121900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" sz="1900" u="none" cap="none" strike="noStrike"/>
                        <a:t>1</a:t>
                      </a:r>
                      <a:endParaRPr sz="1900" u="none" cap="none" strike="noStrike"/>
                    </a:p>
                  </a:txBody>
                  <a:tcPr marT="121900" marB="121900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" sz="1900" u="none" cap="none" strike="noStrike"/>
                        <a:t>0</a:t>
                      </a:r>
                      <a:endParaRPr sz="1900" u="none" cap="none" strike="noStrike"/>
                    </a:p>
                  </a:txBody>
                  <a:tcPr marT="121900" marB="121900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rPr lang="en" sz="1900" u="none" cap="none" strike="noStrike"/>
                        <a:t>1</a:t>
                      </a:r>
                      <a:endParaRPr sz="1900" u="none" cap="none" strike="noStrike"/>
                    </a:p>
                  </a:txBody>
                  <a:tcPr marT="121900" marB="121900" marR="91425" marL="91425"/>
                </a:tc>
              </a:tr>
            </a:tbl>
          </a:graphicData>
        </a:graphic>
      </p:graphicFrame>
      <p:graphicFrame>
        <p:nvGraphicFramePr>
          <p:cNvPr id="158" name="Google Shape;158;p30"/>
          <p:cNvGraphicFramePr/>
          <p:nvPr/>
        </p:nvGraphicFramePr>
        <p:xfrm>
          <a:off x="4637150" y="213206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{3E1D97C0-E297-4D0D-9088-72CFB979F3EC}</a:tableStyleId>
              </a:tblPr>
              <a:tblGrid>
                <a:gridCol w="442150"/>
                <a:gridCol w="442150"/>
                <a:gridCol w="442150"/>
                <a:gridCol w="442150"/>
                <a:gridCol w="442150"/>
                <a:gridCol w="442150"/>
                <a:gridCol w="442150"/>
                <a:gridCol w="382850"/>
              </a:tblGrid>
              <a:tr h="437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/>
                    </a:p>
                  </a:txBody>
                  <a:tcPr marT="121900" marB="121900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/>
                    </a:p>
                  </a:txBody>
                  <a:tcPr marT="121900" marB="121900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/>
                    </a:p>
                  </a:txBody>
                  <a:tcPr marT="121900" marB="121900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/>
                    </a:p>
                  </a:txBody>
                  <a:tcPr marT="121900" marB="121900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/>
                    </a:p>
                  </a:txBody>
                  <a:tcPr marT="121900" marB="121900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/>
                    </a:p>
                  </a:txBody>
                  <a:tcPr marT="121900" marB="121900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/>
                    </a:p>
                  </a:txBody>
                  <a:tcPr marT="121900" marB="121900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900"/>
                        <a:buFont typeface="Arial"/>
                        <a:buNone/>
                      </a:pPr>
                      <a:r>
                        <a:t/>
                      </a:r>
                      <a:endParaRPr sz="19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121900" marB="121900" marR="91425" marL="91425"/>
                </a:tc>
              </a:tr>
            </a:tbl>
          </a:graphicData>
        </a:graphic>
      </p:graphicFrame>
      <p:sp>
        <p:nvSpPr>
          <p:cNvPr id="159" name="Google Shape;159;p30"/>
          <p:cNvSpPr txBox="1"/>
          <p:nvPr/>
        </p:nvSpPr>
        <p:spPr>
          <a:xfrm>
            <a:off x="4345850" y="2157600"/>
            <a:ext cx="350400" cy="4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&amp;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30"/>
          <p:cNvSpPr txBox="1"/>
          <p:nvPr/>
        </p:nvSpPr>
        <p:spPr>
          <a:xfrm>
            <a:off x="4637150" y="2927200"/>
            <a:ext cx="350400" cy="4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1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Summary: "Bit Twiddling" </a:t>
            </a:r>
            <a:endParaRPr/>
          </a:p>
        </p:txBody>
      </p:sp>
      <p:sp>
        <p:nvSpPr>
          <p:cNvPr id="166" name="Google Shape;166;p31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To </a:t>
            </a:r>
            <a:r>
              <a:rPr b="1" lang="en"/>
              <a:t>set</a:t>
            </a:r>
            <a:r>
              <a:rPr lang="en"/>
              <a:t> bit </a:t>
            </a:r>
            <a:r>
              <a:rPr i="1" lang="en"/>
              <a:t>n</a:t>
            </a:r>
            <a:r>
              <a:rPr lang="en"/>
              <a:t> in the binary number NUM: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NUM |= (1 &lt;&lt; n);</a:t>
            </a:r>
            <a:endParaRPr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rPr lang="en"/>
              <a:t>To </a:t>
            </a:r>
            <a:r>
              <a:rPr b="1" lang="en"/>
              <a:t>clear</a:t>
            </a:r>
            <a:r>
              <a:rPr lang="en"/>
              <a:t> bit </a:t>
            </a:r>
            <a:r>
              <a:rPr i="1" lang="en"/>
              <a:t>n</a:t>
            </a:r>
            <a:r>
              <a:rPr lang="en"/>
              <a:t> in the binary number NUM: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NUM &amp;= ~(1 &lt;&lt; n);</a:t>
            </a:r>
            <a:endParaRPr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rPr lang="en"/>
              <a:t>To </a:t>
            </a:r>
            <a:r>
              <a:rPr b="1" lang="en"/>
              <a:t>toggle</a:t>
            </a:r>
            <a:r>
              <a:rPr lang="en"/>
              <a:t> bit </a:t>
            </a:r>
            <a:r>
              <a:rPr i="1" lang="en"/>
              <a:t>n</a:t>
            </a:r>
            <a:r>
              <a:rPr lang="en"/>
              <a:t> in the binary number NUM: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NUM ^= (1 &lt;&lt; n);</a:t>
            </a:r>
            <a:endParaRPr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chemeClr val="dk1"/>
                </a:solidFill>
              </a:rPr>
              <a:t>(1 &lt;&lt; n) and ~(1 &lt;&lt; n) are called </a:t>
            </a:r>
            <a:r>
              <a:rPr b="1" lang="en">
                <a:solidFill>
                  <a:schemeClr val="dk1"/>
                </a:solidFill>
              </a:rPr>
              <a:t>bit masks</a:t>
            </a:r>
            <a:r>
              <a:rPr lang="en">
                <a:solidFill>
                  <a:schemeClr val="dk1"/>
                </a:solidFill>
              </a:rPr>
              <a:t>.  Bit twiddling consists of using AND, OR, or XOR with an appropriate bit mask.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800"/>
              <a:buNone/>
            </a:pPr>
            <a:r>
              <a:t/>
            </a:r>
            <a:endParaRPr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67" name="Google Shape;167;p3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2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Bonus operations</a:t>
            </a:r>
            <a:endParaRPr/>
          </a:p>
        </p:txBody>
      </p:sp>
      <p:sp>
        <p:nvSpPr>
          <p:cNvPr id="173" name="Google Shape;173;p32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/>
              <a:t>These expressions check if bit </a:t>
            </a:r>
            <a:r>
              <a:rPr i="1" lang="en"/>
              <a:t>n</a:t>
            </a:r>
            <a:r>
              <a:rPr lang="en"/>
              <a:t> in the binary number NUM is ‘0’ or ‘1’:</a:t>
            </a:r>
            <a:endParaRPr/>
          </a:p>
          <a:p>
            <a:pPr indent="0" lvl="0" marL="0" rtl="0" algn="ctr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(NUM &amp; (1 &lt;&lt; n)) == 0 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FF"/>
                </a:solidFill>
                <a:latin typeface="Courier New"/>
                <a:ea typeface="Courier New"/>
                <a:cs typeface="Courier New"/>
                <a:sym typeface="Courier New"/>
              </a:rPr>
              <a:t>(NUM &amp; (1 &lt;&lt; n)) != 0</a:t>
            </a:r>
            <a:endParaRPr>
              <a:solidFill>
                <a:srgbClr val="0000F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How do they work?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Hint: What are the possible (decimal) values, </a:t>
            </a:r>
            <a:r>
              <a:rPr lang="en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(NUM &amp; (1 &lt;&lt; n))</a:t>
            </a:r>
            <a:r>
              <a:rPr lang="en">
                <a:solidFill>
                  <a:schemeClr val="dk1"/>
                </a:solidFill>
              </a:rPr>
              <a:t> can take?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3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3"/>
          <p:cNvSpPr txBox="1"/>
          <p:nvPr/>
        </p:nvSpPr>
        <p:spPr>
          <a:xfrm>
            <a:off x="113000" y="1756025"/>
            <a:ext cx="8520600" cy="49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595959"/>
                </a:solidFill>
                <a:latin typeface="Courier New"/>
                <a:ea typeface="Courier New"/>
                <a:cs typeface="Courier New"/>
                <a:sym typeface="Courier New"/>
              </a:rPr>
              <a:t>#include "stm32C0xx.h"</a:t>
            </a:r>
            <a:r>
              <a:rPr lang="en">
                <a:solidFill>
                  <a:srgbClr val="595959"/>
                </a:solidFill>
                <a:latin typeface="Courier New"/>
                <a:ea typeface="Courier New"/>
                <a:cs typeface="Courier New"/>
                <a:sym typeface="Courier New"/>
              </a:rPr>
              <a:t>			// All the port definitions are here</a:t>
            </a:r>
            <a:endParaRPr>
              <a:solidFill>
                <a:srgbClr val="59595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9595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595959"/>
                </a:solidFill>
                <a:latin typeface="Courier New"/>
                <a:ea typeface="Courier New"/>
                <a:cs typeface="Courier New"/>
                <a:sym typeface="Courier New"/>
              </a:rPr>
              <a:t>// Bit 0 of RCC-&gt;IOPENR enables clock for GPIOA</a:t>
            </a:r>
            <a:endParaRPr>
              <a:solidFill>
                <a:srgbClr val="59595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595959"/>
                </a:solidFill>
                <a:latin typeface="Courier New"/>
                <a:ea typeface="Courier New"/>
                <a:cs typeface="Courier New"/>
                <a:sym typeface="Courier New"/>
              </a:rPr>
              <a:t>#define GPIOAEN		(1U&lt;&lt;0)</a:t>
            </a:r>
            <a:r>
              <a:rPr lang="en">
                <a:solidFill>
                  <a:srgbClr val="595959"/>
                </a:solidFill>
                <a:latin typeface="Courier New"/>
                <a:ea typeface="Courier New"/>
                <a:cs typeface="Courier New"/>
                <a:sym typeface="Courier New"/>
              </a:rPr>
              <a:t>		// 0b 0000 … 0000 0001 (32-bit)</a:t>
            </a:r>
            <a:endParaRPr>
              <a:solidFill>
                <a:srgbClr val="59595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9595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595959"/>
                </a:solidFill>
                <a:latin typeface="Courier New"/>
                <a:ea typeface="Courier New"/>
                <a:cs typeface="Courier New"/>
                <a:sym typeface="Courier New"/>
              </a:rPr>
              <a:t>// Bit 5 of Port A is wired to the LED</a:t>
            </a:r>
            <a:endParaRPr>
              <a:solidFill>
                <a:srgbClr val="59595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595959"/>
                </a:solidFill>
                <a:latin typeface="Courier New"/>
                <a:ea typeface="Courier New"/>
                <a:cs typeface="Courier New"/>
                <a:sym typeface="Courier New"/>
              </a:rPr>
              <a:t>#define LED_PIN		(1U&lt;&lt;5)</a:t>
            </a:r>
            <a:r>
              <a:rPr lang="en">
                <a:solidFill>
                  <a:srgbClr val="595959"/>
                </a:solidFill>
                <a:latin typeface="Courier New"/>
                <a:ea typeface="Courier New"/>
                <a:cs typeface="Courier New"/>
                <a:sym typeface="Courier New"/>
              </a:rPr>
              <a:t>		// 0b 0000 … 0010 0000</a:t>
            </a:r>
            <a:endParaRPr>
              <a:solidFill>
                <a:srgbClr val="59595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9595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595959"/>
                </a:solidFill>
                <a:latin typeface="Courier New"/>
                <a:ea typeface="Courier New"/>
                <a:cs typeface="Courier New"/>
                <a:sym typeface="Courier New"/>
              </a:rPr>
              <a:t>int main(void) {</a:t>
            </a:r>
            <a:endParaRPr>
              <a:solidFill>
                <a:srgbClr val="59595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595959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b="1" lang="en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RCC-&gt;IOPENR |= GPIOAEN;		</a:t>
            </a:r>
            <a:r>
              <a:rPr lang="en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// 1. Enable clock access to GPIOA</a:t>
            </a:r>
            <a:endParaRPr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595959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b="1" lang="en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GPIOA-&gt;MODER |= (1U&lt;&lt;10);		</a:t>
            </a:r>
            <a:r>
              <a:rPr lang="en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// 2. Configure PA5 (Port A, bit 5)</a:t>
            </a:r>
            <a:r>
              <a:rPr b="1" lang="en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1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	GPIOA-&gt;MODER &amp;= ~(1U&lt;&lt;11);	</a:t>
            </a:r>
            <a:r>
              <a:rPr lang="en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//    as output pin</a:t>
            </a:r>
            <a:endParaRPr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9595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595959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b="1" lang="en">
                <a:solidFill>
                  <a:srgbClr val="595959"/>
                </a:solidFill>
                <a:latin typeface="Courier New"/>
                <a:ea typeface="Courier New"/>
                <a:cs typeface="Courier New"/>
                <a:sym typeface="Courier New"/>
              </a:rPr>
              <a:t>while(1) {</a:t>
            </a:r>
            <a:endParaRPr>
              <a:solidFill>
                <a:srgbClr val="59595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595959"/>
                </a:solidFill>
                <a:latin typeface="Courier New"/>
                <a:ea typeface="Courier New"/>
                <a:cs typeface="Courier New"/>
                <a:sym typeface="Courier New"/>
              </a:rPr>
              <a:t>		</a:t>
            </a:r>
            <a:r>
              <a:rPr b="1" lang="en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GPIOA-&gt;ODR |= LED_PIN;	</a:t>
            </a:r>
            <a:r>
              <a:rPr lang="en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// 3. Set set bit 5 to turn LED on</a:t>
            </a:r>
            <a:endParaRPr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595959"/>
                </a:solidFill>
                <a:latin typeface="Courier New"/>
                <a:ea typeface="Courier New"/>
                <a:cs typeface="Courier New"/>
                <a:sym typeface="Courier New"/>
              </a:rPr>
              <a:t>		</a:t>
            </a:r>
            <a:r>
              <a:rPr b="1" lang="en">
                <a:solidFill>
                  <a:srgbClr val="595959"/>
                </a:solidFill>
                <a:latin typeface="Courier New"/>
                <a:ea typeface="Courier New"/>
                <a:cs typeface="Courier New"/>
                <a:sym typeface="Courier New"/>
              </a:rPr>
              <a:t>for (int i=0; i&lt;100000; i++);		</a:t>
            </a:r>
            <a:r>
              <a:rPr lang="en">
                <a:solidFill>
                  <a:srgbClr val="595959"/>
                </a:solidFill>
                <a:latin typeface="Courier New"/>
                <a:ea typeface="Courier New"/>
                <a:cs typeface="Courier New"/>
                <a:sym typeface="Courier New"/>
              </a:rPr>
              <a:t>// kill some time</a:t>
            </a:r>
            <a:endParaRPr b="1">
              <a:solidFill>
                <a:srgbClr val="59595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595959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endParaRPr>
              <a:solidFill>
                <a:srgbClr val="59595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595959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b="1" lang="en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GPIOA-&gt;ODR &amp;= ~LED_PIN;	</a:t>
            </a:r>
            <a:r>
              <a:rPr lang="en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// 4. Clear bit 5 to turn LED off</a:t>
            </a:r>
            <a:endParaRPr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595959"/>
                </a:solidFill>
                <a:latin typeface="Courier New"/>
                <a:ea typeface="Courier New"/>
                <a:cs typeface="Courier New"/>
                <a:sym typeface="Courier New"/>
              </a:rPr>
              <a:t>		</a:t>
            </a:r>
            <a:r>
              <a:rPr b="1" lang="en">
                <a:solidFill>
                  <a:srgbClr val="595959"/>
                </a:solidFill>
                <a:latin typeface="Courier New"/>
                <a:ea typeface="Courier New"/>
                <a:cs typeface="Courier New"/>
                <a:sym typeface="Courier New"/>
              </a:rPr>
              <a:t>for(int i = 0; i&lt;</a:t>
            </a:r>
            <a:r>
              <a:rPr b="1" lang="en">
                <a:solidFill>
                  <a:srgbClr val="595959"/>
                </a:solidFill>
                <a:latin typeface="Courier New"/>
                <a:ea typeface="Courier New"/>
                <a:cs typeface="Courier New"/>
                <a:sym typeface="Courier New"/>
              </a:rPr>
              <a:t>100000</a:t>
            </a:r>
            <a:r>
              <a:rPr b="1" lang="en">
                <a:solidFill>
                  <a:srgbClr val="595959"/>
                </a:solidFill>
                <a:latin typeface="Courier New"/>
                <a:ea typeface="Courier New"/>
                <a:cs typeface="Courier New"/>
                <a:sym typeface="Courier New"/>
              </a:rPr>
              <a:t>; i++);	</a:t>
            </a:r>
            <a:r>
              <a:rPr lang="en">
                <a:solidFill>
                  <a:srgbClr val="595959"/>
                </a:solidFill>
                <a:latin typeface="Courier New"/>
                <a:ea typeface="Courier New"/>
                <a:cs typeface="Courier New"/>
                <a:sym typeface="Courier New"/>
              </a:rPr>
              <a:t>// kill some time</a:t>
            </a:r>
            <a:endParaRPr b="1">
              <a:solidFill>
                <a:srgbClr val="59595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595959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b="1" lang="en">
                <a:solidFill>
                  <a:srgbClr val="595959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>
              <a:solidFill>
                <a:srgbClr val="59595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595959"/>
                </a:solidFill>
                <a:latin typeface="Courier New"/>
                <a:ea typeface="Courier New"/>
                <a:cs typeface="Courier New"/>
                <a:sym typeface="Courier New"/>
              </a:rPr>
              <a:t>	return 0;					</a:t>
            </a:r>
            <a:r>
              <a:rPr lang="en">
                <a:solidFill>
                  <a:srgbClr val="595959"/>
                </a:solidFill>
                <a:latin typeface="Courier New"/>
                <a:ea typeface="Courier New"/>
                <a:cs typeface="Courier New"/>
                <a:sym typeface="Courier New"/>
              </a:rPr>
              <a:t>// never reached</a:t>
            </a:r>
            <a:endParaRPr b="1">
              <a:solidFill>
                <a:srgbClr val="59595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595959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>
              <a:solidFill>
                <a:srgbClr val="59595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9595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>
              <a:solidFill>
                <a:srgbClr val="595959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80" name="Google Shape;180;p33"/>
          <p:cNvSpPr txBox="1"/>
          <p:nvPr>
            <p:ph type="title"/>
          </p:nvPr>
        </p:nvSpPr>
        <p:spPr>
          <a:xfrm>
            <a:off x="57050" y="129000"/>
            <a:ext cx="25314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Yesterday: blinky.c</a:t>
            </a:r>
            <a:endParaRPr/>
          </a:p>
        </p:txBody>
      </p:sp>
      <p:sp>
        <p:nvSpPr>
          <p:cNvPr id="181" name="Google Shape;181;p3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2" name="Google Shape;182;p33"/>
          <p:cNvSpPr/>
          <p:nvPr/>
        </p:nvSpPr>
        <p:spPr>
          <a:xfrm>
            <a:off x="964225" y="4735100"/>
            <a:ext cx="1052700" cy="282000"/>
          </a:xfrm>
          <a:prstGeom prst="rect">
            <a:avLst/>
          </a:prstGeom>
          <a:noFill/>
          <a:ln cap="flat" cmpd="sng" w="2857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33"/>
          <p:cNvSpPr txBox="1"/>
          <p:nvPr/>
        </p:nvSpPr>
        <p:spPr>
          <a:xfrm rot="-5400883">
            <a:off x="-712028" y="4232052"/>
            <a:ext cx="2336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8761D"/>
                </a:solidFill>
              </a:rPr>
              <a:t>An infinite loop??</a:t>
            </a:r>
            <a:endParaRPr sz="1800">
              <a:solidFill>
                <a:srgbClr val="38761D"/>
              </a:solidFill>
            </a:endParaRPr>
          </a:p>
        </p:txBody>
      </p:sp>
      <p:cxnSp>
        <p:nvCxnSpPr>
          <p:cNvPr id="184" name="Google Shape;184;p33"/>
          <p:cNvCxnSpPr>
            <a:stCxn id="183" idx="2"/>
            <a:endCxn id="182" idx="1"/>
          </p:cNvCxnSpPr>
          <p:nvPr/>
        </p:nvCxnSpPr>
        <p:spPr>
          <a:xfrm>
            <a:off x="686872" y="4462902"/>
            <a:ext cx="277500" cy="413100"/>
          </a:xfrm>
          <a:prstGeom prst="straightConnector1">
            <a:avLst/>
          </a:prstGeom>
          <a:noFill/>
          <a:ln cap="flat" cmpd="sng" w="28575">
            <a:solidFill>
              <a:srgbClr val="38761D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85" name="Google Shape;185;p33"/>
          <p:cNvPicPr preferRelativeResize="0"/>
          <p:nvPr/>
        </p:nvPicPr>
        <p:blipFill rotWithShape="1">
          <a:blip r:embed="rId3">
            <a:alphaModFix/>
          </a:blip>
          <a:srcRect b="1691" l="69632" r="0" t="0"/>
          <a:stretch/>
        </p:blipFill>
        <p:spPr>
          <a:xfrm rot="-5400000">
            <a:off x="5431237" y="-2008512"/>
            <a:ext cx="1526775" cy="5801799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33"/>
          <p:cNvSpPr/>
          <p:nvPr/>
        </p:nvSpPr>
        <p:spPr>
          <a:xfrm rot="-5400000">
            <a:off x="5259975" y="987400"/>
            <a:ext cx="177300" cy="4260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33"/>
          <p:cNvSpPr/>
          <p:nvPr/>
        </p:nvSpPr>
        <p:spPr>
          <a:xfrm>
            <a:off x="6317950" y="851175"/>
            <a:ext cx="177600" cy="1455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33"/>
          <p:cNvSpPr txBox="1"/>
          <p:nvPr/>
        </p:nvSpPr>
        <p:spPr>
          <a:xfrm>
            <a:off x="1555075" y="671250"/>
            <a:ext cx="1615800" cy="9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1" lang="en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LED at header pin D13</a:t>
            </a:r>
            <a:r>
              <a:rPr i="1" lang="en">
                <a:solidFill>
                  <a:srgbClr val="FF0000"/>
                </a:solidFill>
              </a:rPr>
              <a:t> </a:t>
            </a:r>
            <a:r>
              <a:rPr i="1" lang="en">
                <a:solidFill>
                  <a:srgbClr val="FF0000"/>
                </a:solidFill>
              </a:rPr>
              <a:t>wired to </a:t>
            </a:r>
            <a:endParaRPr i="1">
              <a:solidFill>
                <a:srgbClr val="FF0000"/>
              </a:solidFill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i="1" lang="en">
                <a:solidFill>
                  <a:srgbClr val="FF0000"/>
                </a:solidFill>
              </a:rPr>
              <a:t>STM32C0</a:t>
            </a:r>
            <a:r>
              <a:rPr b="0" i="1" lang="en" sz="14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pin </a:t>
            </a:r>
            <a:r>
              <a:rPr i="1" lang="en">
                <a:solidFill>
                  <a:srgbClr val="FF0000"/>
                </a:solidFill>
              </a:rPr>
              <a:t>16 (Port A, bit 5)</a:t>
            </a:r>
            <a:endParaRPr b="0" i="1" sz="1400" u="none" cap="none" strike="noStrik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9" name="Google Shape;189;p33"/>
          <p:cNvCxnSpPr>
            <a:endCxn id="186" idx="0"/>
          </p:cNvCxnSpPr>
          <p:nvPr/>
        </p:nvCxnSpPr>
        <p:spPr>
          <a:xfrm flipH="1" rot="10800000">
            <a:off x="3170925" y="1200400"/>
            <a:ext cx="1964700" cy="47700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4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Homework</a:t>
            </a:r>
            <a:endParaRPr/>
          </a:p>
        </p:txBody>
      </p:sp>
      <p:sp>
        <p:nvSpPr>
          <p:cNvPr id="195" name="Google Shape;195;p34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Modify blinky.c:</a:t>
            </a:r>
            <a:endParaRPr sz="2400"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Modify the blinky.c code to make the LED blink faster / slower / on longer / etc.</a:t>
            </a:r>
            <a:br>
              <a:rPr lang="en"/>
            </a:br>
            <a:r>
              <a:rPr lang="en"/>
              <a:t>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Make the blink rate steadily increase from slow to fast, then repeat.  </a:t>
            </a:r>
            <a:br>
              <a:rPr lang="en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Use your best C programming style to make the code clean and readable. See Canvas page "</a:t>
            </a:r>
            <a:r>
              <a:rPr lang="en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Coding Style</a:t>
            </a:r>
            <a:r>
              <a:rPr lang="en"/>
              <a:t>" (Online Resources -&gt; Coding standards -&gt; style guide for ENGS 28)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3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5"/>
          <p:cNvSpPr txBox="1"/>
          <p:nvPr>
            <p:ph type="title"/>
          </p:nvPr>
        </p:nvSpPr>
        <p:spPr>
          <a:xfrm>
            <a:off x="311700" y="203704"/>
            <a:ext cx="8520600" cy="115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Modify the blinky.c code to make the LED blink faster / slower / on longer / etc. </a:t>
            </a:r>
            <a:endParaRPr/>
          </a:p>
        </p:txBody>
      </p:sp>
      <p:sp>
        <p:nvSpPr>
          <p:cNvPr id="202" name="Google Shape;202;p35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At your table, discuss the modifications you thought about making to change the blink behavior of the LED.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Change the code in blinky.c to make the LED blink faster / slower / on longer then off, etc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Make sure everyone at your table has these modifications working.</a:t>
            </a:r>
            <a:endParaRPr/>
          </a:p>
        </p:txBody>
      </p:sp>
      <p:sp>
        <p:nvSpPr>
          <p:cNvPr id="203" name="Google Shape;203;p3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6"/>
          <p:cNvSpPr txBox="1"/>
          <p:nvPr>
            <p:ph type="title"/>
          </p:nvPr>
        </p:nvSpPr>
        <p:spPr>
          <a:xfrm>
            <a:off x="311700" y="298778"/>
            <a:ext cx="8520600" cy="105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Code Review: Make the blink rate steadily increase from slow to fast, then repeat. </a:t>
            </a:r>
            <a:endParaRPr/>
          </a:p>
        </p:txBody>
      </p:sp>
      <p:sp>
        <p:nvSpPr>
          <p:cNvPr id="209" name="Google Shape;209;p36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Share your hand written code within your group.</a:t>
            </a:r>
            <a:br>
              <a:rPr lang="en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Can you read, understand, and explain your partners’ codes?  (This is called "code review" — good for catching bugs!)</a:t>
            </a:r>
            <a:br>
              <a:rPr lang="en"/>
            </a:b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Decide which strategy you'd like to implement.</a:t>
            </a:r>
            <a:endParaRPr/>
          </a:p>
        </p:txBody>
      </p:sp>
      <p:sp>
        <p:nvSpPr>
          <p:cNvPr id="210" name="Google Shape;210;p3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7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Give it a try: blinkySlowToFast.c</a:t>
            </a:r>
            <a:endParaRPr/>
          </a:p>
        </p:txBody>
      </p:sp>
      <p:sp>
        <p:nvSpPr>
          <p:cNvPr id="216" name="Google Shape;216;p37"/>
          <p:cNvSpPr txBox="1"/>
          <p:nvPr>
            <p:ph idx="1" type="body"/>
          </p:nvPr>
        </p:nvSpPr>
        <p:spPr>
          <a:xfrm>
            <a:off x="311700" y="1536629"/>
            <a:ext cx="8520600" cy="242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Make a copy of blinky.c by right-clicking on blinky.c inside the IDE and selecting "copy"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Right-click on the src folder icon in the Blinky project and select "paste".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</a:t>
            </a:r>
            <a:r>
              <a:rPr lang="en"/>
              <a:t>the</a:t>
            </a:r>
            <a:r>
              <a:rPr lang="en"/>
              <a:t> popup enter the new filename blinkySlowToFast.c, click OK.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Open this new file by double-clicking on it. Make your edits in this new file.</a:t>
            </a:r>
            <a:endParaRPr/>
          </a:p>
        </p:txBody>
      </p:sp>
      <p:sp>
        <p:nvSpPr>
          <p:cNvPr id="217" name="Google Shape;217;p3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18" name="Google Shape;218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00550" y="3462950"/>
            <a:ext cx="6495026" cy="3025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8"/>
          <p:cNvSpPr txBox="1"/>
          <p:nvPr>
            <p:ph type="title"/>
          </p:nvPr>
        </p:nvSpPr>
        <p:spPr>
          <a:xfrm>
            <a:off x="284550" y="188900"/>
            <a:ext cx="4821600" cy="113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Tell the compiler which blinky to use</a:t>
            </a:r>
            <a:endParaRPr/>
          </a:p>
        </p:txBody>
      </p:sp>
      <p:sp>
        <p:nvSpPr>
          <p:cNvPr id="224" name="Google Shape;224;p38"/>
          <p:cNvSpPr txBox="1"/>
          <p:nvPr>
            <p:ph idx="1" type="body"/>
          </p:nvPr>
        </p:nvSpPr>
        <p:spPr>
          <a:xfrm>
            <a:off x="393175" y="1320200"/>
            <a:ext cx="5106900" cy="24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Right-click on blinky.c, go to Resource Configurations and select Exclude from Build.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the Exclude from build popup, click Select All and then OK.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 your Src folder you can now see that blinky.c will not be used to build the project.</a:t>
            </a:r>
            <a:endParaRPr/>
          </a:p>
        </p:txBody>
      </p:sp>
      <p:sp>
        <p:nvSpPr>
          <p:cNvPr id="225" name="Google Shape;225;p3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26" name="Google Shape;226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00076" y="36501"/>
            <a:ext cx="3440225" cy="508887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38"/>
          <p:cNvSpPr/>
          <p:nvPr/>
        </p:nvSpPr>
        <p:spPr>
          <a:xfrm>
            <a:off x="7537000" y="3201900"/>
            <a:ext cx="1290000" cy="366600"/>
          </a:xfrm>
          <a:prstGeom prst="rect">
            <a:avLst/>
          </a:prstGeom>
          <a:noFill/>
          <a:ln cap="flat" cmpd="sng" w="28575">
            <a:solidFill>
              <a:srgbClr val="99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28" name="Google Shape;228;p38"/>
          <p:cNvPicPr preferRelativeResize="0"/>
          <p:nvPr/>
        </p:nvPicPr>
        <p:blipFill rotWithShape="1">
          <a:blip r:embed="rId4">
            <a:alphaModFix/>
          </a:blip>
          <a:srcRect b="4445" l="2096" r="3502" t="2176"/>
          <a:stretch/>
        </p:blipFill>
        <p:spPr>
          <a:xfrm>
            <a:off x="4970375" y="3951850"/>
            <a:ext cx="3598750" cy="2702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3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6250" y="3775400"/>
            <a:ext cx="3162300" cy="169545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38"/>
          <p:cNvSpPr txBox="1"/>
          <p:nvPr/>
        </p:nvSpPr>
        <p:spPr>
          <a:xfrm>
            <a:off x="203700" y="5649375"/>
            <a:ext cx="4481400" cy="1005000"/>
          </a:xfrm>
          <a:prstGeom prst="rect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FF"/>
                </a:solidFill>
              </a:rPr>
              <a:t>Note: In order to successfully build your project you need to ensure that you have exactly one file with a main() function.</a:t>
            </a:r>
            <a:endParaRPr sz="1800">
              <a:solidFill>
                <a:srgbClr val="0000FF"/>
              </a:solidFill>
            </a:endParaRPr>
          </a:p>
        </p:txBody>
      </p:sp>
      <p:sp>
        <p:nvSpPr>
          <p:cNvPr id="231" name="Google Shape;231;p38"/>
          <p:cNvSpPr/>
          <p:nvPr/>
        </p:nvSpPr>
        <p:spPr>
          <a:xfrm>
            <a:off x="6219725" y="5595025"/>
            <a:ext cx="1089300" cy="366600"/>
          </a:xfrm>
          <a:prstGeom prst="rect">
            <a:avLst/>
          </a:prstGeom>
          <a:noFill/>
          <a:ln cap="flat" cmpd="sng" w="28575">
            <a:solidFill>
              <a:srgbClr val="99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38"/>
          <p:cNvSpPr/>
          <p:nvPr/>
        </p:nvSpPr>
        <p:spPr>
          <a:xfrm>
            <a:off x="7383150" y="6217625"/>
            <a:ext cx="1089300" cy="260100"/>
          </a:xfrm>
          <a:prstGeom prst="rect">
            <a:avLst/>
          </a:prstGeom>
          <a:noFill/>
          <a:ln cap="flat" cmpd="sng" w="28575">
            <a:solidFill>
              <a:srgbClr val="99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9"/>
          <p:cNvSpPr txBox="1"/>
          <p:nvPr>
            <p:ph type="title"/>
          </p:nvPr>
        </p:nvSpPr>
        <p:spPr>
          <a:xfrm>
            <a:off x="253225" y="398933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blinkySlowToFast.c - Sample Solution</a:t>
            </a:r>
            <a:endParaRPr sz="1800"/>
          </a:p>
        </p:txBody>
      </p:sp>
      <p:sp>
        <p:nvSpPr>
          <p:cNvPr id="238" name="Google Shape;238;p3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9" name="Google Shape;239;p39"/>
          <p:cNvSpPr txBox="1"/>
          <p:nvPr/>
        </p:nvSpPr>
        <p:spPr>
          <a:xfrm>
            <a:off x="191325" y="1196875"/>
            <a:ext cx="8520600" cy="548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595959"/>
                </a:solidFill>
                <a:latin typeface="Courier New"/>
                <a:ea typeface="Courier New"/>
                <a:cs typeface="Courier New"/>
                <a:sym typeface="Courier New"/>
              </a:rPr>
              <a:t>#include "stm32C0xx.h"</a:t>
            </a:r>
            <a:r>
              <a:rPr lang="en">
                <a:solidFill>
                  <a:srgbClr val="595959"/>
                </a:solidFill>
                <a:latin typeface="Courier New"/>
                <a:ea typeface="Courier New"/>
                <a:cs typeface="Courier New"/>
                <a:sym typeface="Courier New"/>
              </a:rPr>
              <a:t>			// All the port definitions are here</a:t>
            </a:r>
            <a:endParaRPr>
              <a:solidFill>
                <a:srgbClr val="59595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595959"/>
                </a:solidFill>
                <a:latin typeface="Courier New"/>
                <a:ea typeface="Courier New"/>
                <a:cs typeface="Courier New"/>
                <a:sym typeface="Courier New"/>
              </a:rPr>
              <a:t>#define GPIOAEN		(1U&lt;&lt;0)</a:t>
            </a:r>
            <a:r>
              <a:rPr lang="en">
                <a:solidFill>
                  <a:srgbClr val="595959"/>
                </a:solidFill>
                <a:latin typeface="Courier New"/>
                <a:ea typeface="Courier New"/>
                <a:cs typeface="Courier New"/>
                <a:sym typeface="Courier New"/>
              </a:rPr>
              <a:t>		// bit 0 </a:t>
            </a:r>
            <a:r>
              <a:rPr lang="en">
                <a:solidFill>
                  <a:srgbClr val="595959"/>
                </a:solidFill>
                <a:latin typeface="Courier New"/>
                <a:ea typeface="Courier New"/>
                <a:cs typeface="Courier New"/>
                <a:sym typeface="Courier New"/>
              </a:rPr>
              <a:t>enables clock for GPIOA</a:t>
            </a:r>
            <a:endParaRPr>
              <a:solidFill>
                <a:srgbClr val="59595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595959"/>
                </a:solidFill>
                <a:latin typeface="Courier New"/>
                <a:ea typeface="Courier New"/>
                <a:cs typeface="Courier New"/>
                <a:sym typeface="Courier New"/>
              </a:rPr>
              <a:t>#define LED_PIN		(1U&lt;&lt;5)</a:t>
            </a:r>
            <a:r>
              <a:rPr lang="en">
                <a:solidFill>
                  <a:srgbClr val="595959"/>
                </a:solidFill>
                <a:latin typeface="Courier New"/>
                <a:ea typeface="Courier New"/>
                <a:cs typeface="Courier New"/>
                <a:sym typeface="Courier New"/>
              </a:rPr>
              <a:t>		// </a:t>
            </a:r>
            <a:r>
              <a:rPr lang="en">
                <a:solidFill>
                  <a:srgbClr val="595959"/>
                </a:solidFill>
                <a:latin typeface="Courier New"/>
                <a:ea typeface="Courier New"/>
                <a:cs typeface="Courier New"/>
                <a:sym typeface="Courier New"/>
              </a:rPr>
              <a:t>Bit 5 of Port A is wired to the LED</a:t>
            </a:r>
            <a:endParaRPr>
              <a:solidFill>
                <a:srgbClr val="59595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#define MIN_WAIT		100000</a:t>
            </a:r>
            <a:endParaRPr b="1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#define N			10</a:t>
            </a:r>
            <a:endParaRPr b="1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595959"/>
                </a:solidFill>
                <a:latin typeface="Courier New"/>
                <a:ea typeface="Courier New"/>
                <a:cs typeface="Courier New"/>
                <a:sym typeface="Courier New"/>
              </a:rPr>
              <a:t>int main(void) {</a:t>
            </a:r>
            <a:endParaRPr>
              <a:solidFill>
                <a:srgbClr val="59595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595959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b="1" lang="en">
                <a:solidFill>
                  <a:srgbClr val="595959"/>
                </a:solidFill>
                <a:latin typeface="Courier New"/>
                <a:ea typeface="Courier New"/>
                <a:cs typeface="Courier New"/>
                <a:sym typeface="Courier New"/>
              </a:rPr>
              <a:t>RCC-&gt;IOPENR |= GPIOAEN;		</a:t>
            </a:r>
            <a:r>
              <a:rPr lang="en">
                <a:solidFill>
                  <a:srgbClr val="595959"/>
                </a:solidFill>
                <a:latin typeface="Courier New"/>
                <a:ea typeface="Courier New"/>
                <a:cs typeface="Courier New"/>
                <a:sym typeface="Courier New"/>
              </a:rPr>
              <a:t>// 1. Enable clock access to GPIOA</a:t>
            </a:r>
            <a:endParaRPr>
              <a:solidFill>
                <a:srgbClr val="59595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9595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595959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b="1" lang="en">
                <a:solidFill>
                  <a:srgbClr val="595959"/>
                </a:solidFill>
                <a:latin typeface="Courier New"/>
                <a:ea typeface="Courier New"/>
                <a:cs typeface="Courier New"/>
                <a:sym typeface="Courier New"/>
              </a:rPr>
              <a:t>GPIOA-&gt;MODER |= (1U&lt;&lt;10);		</a:t>
            </a:r>
            <a:r>
              <a:rPr lang="en">
                <a:solidFill>
                  <a:srgbClr val="595959"/>
                </a:solidFill>
                <a:latin typeface="Courier New"/>
                <a:ea typeface="Courier New"/>
                <a:cs typeface="Courier New"/>
                <a:sym typeface="Courier New"/>
              </a:rPr>
              <a:t>// 2. Configure PA5 (Port A, bit 5)</a:t>
            </a:r>
            <a:r>
              <a:rPr b="1" lang="en">
                <a:solidFill>
                  <a:srgbClr val="595959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b="1">
              <a:solidFill>
                <a:srgbClr val="59595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595959"/>
                </a:solidFill>
                <a:latin typeface="Courier New"/>
                <a:ea typeface="Courier New"/>
                <a:cs typeface="Courier New"/>
                <a:sym typeface="Courier New"/>
              </a:rPr>
              <a:t>	GPIOA-&gt;MODER &amp;= ~(1U&lt;&lt;11);	</a:t>
            </a:r>
            <a:r>
              <a:rPr lang="en">
                <a:solidFill>
                  <a:srgbClr val="595959"/>
                </a:solidFill>
                <a:latin typeface="Courier New"/>
                <a:ea typeface="Courier New"/>
                <a:cs typeface="Courier New"/>
                <a:sym typeface="Courier New"/>
              </a:rPr>
              <a:t>//    as output pin</a:t>
            </a:r>
            <a:endParaRPr>
              <a:solidFill>
                <a:srgbClr val="59595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9595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595959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b="1" lang="en">
                <a:solidFill>
                  <a:srgbClr val="595959"/>
                </a:solidFill>
                <a:latin typeface="Courier New"/>
                <a:ea typeface="Courier New"/>
                <a:cs typeface="Courier New"/>
                <a:sym typeface="Courier New"/>
              </a:rPr>
              <a:t>while(1) </a:t>
            </a:r>
            <a:r>
              <a:rPr b="1" lang="en">
                <a:solidFill>
                  <a:srgbClr val="595959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1">
              <a:solidFill>
                <a:srgbClr val="59595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595959"/>
                </a:solidFill>
                <a:latin typeface="Courier New"/>
                <a:ea typeface="Courier New"/>
                <a:cs typeface="Courier New"/>
                <a:sym typeface="Courier New"/>
              </a:rPr>
              <a:t>		</a:t>
            </a:r>
            <a:r>
              <a:rPr b="1" lang="en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for(int i = N; i &gt; 0; i--) {</a:t>
            </a:r>
            <a:r>
              <a:rPr b="1" lang="en">
                <a:solidFill>
                  <a:srgbClr val="595959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endParaRPr b="1">
              <a:solidFill>
                <a:srgbClr val="59595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595959"/>
                </a:solidFill>
                <a:latin typeface="Courier New"/>
                <a:ea typeface="Courier New"/>
                <a:cs typeface="Courier New"/>
                <a:sym typeface="Courier New"/>
              </a:rPr>
              <a:t>			</a:t>
            </a:r>
            <a:r>
              <a:rPr b="1" lang="en">
                <a:solidFill>
                  <a:srgbClr val="595959"/>
                </a:solidFill>
                <a:latin typeface="Courier New"/>
                <a:ea typeface="Courier New"/>
                <a:cs typeface="Courier New"/>
                <a:sym typeface="Courier New"/>
              </a:rPr>
              <a:t>GPIOA-&gt;ODR |= LED_PIN;	</a:t>
            </a:r>
            <a:r>
              <a:rPr lang="en">
                <a:solidFill>
                  <a:srgbClr val="595959"/>
                </a:solidFill>
                <a:latin typeface="Courier New"/>
                <a:ea typeface="Courier New"/>
                <a:cs typeface="Courier New"/>
                <a:sym typeface="Courier New"/>
              </a:rPr>
              <a:t>// 3. Set set bit 5 to turn LED on</a:t>
            </a:r>
            <a:endParaRPr>
              <a:solidFill>
                <a:srgbClr val="59595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595959"/>
                </a:solidFill>
                <a:latin typeface="Courier New"/>
                <a:ea typeface="Courier New"/>
                <a:cs typeface="Courier New"/>
                <a:sym typeface="Courier New"/>
              </a:rPr>
              <a:t>			</a:t>
            </a:r>
            <a:r>
              <a:rPr b="1" lang="en">
                <a:solidFill>
                  <a:srgbClr val="595959"/>
                </a:solidFill>
                <a:latin typeface="Courier New"/>
                <a:ea typeface="Courier New"/>
                <a:cs typeface="Courier New"/>
                <a:sym typeface="Courier New"/>
              </a:rPr>
              <a:t>for (int j=0; j&lt;</a:t>
            </a:r>
            <a:r>
              <a:rPr b="1" lang="en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MIN_WAIT</a:t>
            </a:r>
            <a:r>
              <a:rPr b="1" lang="en">
                <a:solidFill>
                  <a:srgbClr val="595959"/>
                </a:solidFill>
                <a:latin typeface="Courier New"/>
                <a:ea typeface="Courier New"/>
                <a:cs typeface="Courier New"/>
                <a:sym typeface="Courier New"/>
              </a:rPr>
              <a:t>; j++);		</a:t>
            </a:r>
            <a:r>
              <a:rPr lang="en">
                <a:solidFill>
                  <a:srgbClr val="595959"/>
                </a:solidFill>
                <a:latin typeface="Courier New"/>
                <a:ea typeface="Courier New"/>
                <a:cs typeface="Courier New"/>
                <a:sym typeface="Courier New"/>
              </a:rPr>
              <a:t>// kill some time</a:t>
            </a:r>
            <a:endParaRPr b="1">
              <a:solidFill>
                <a:srgbClr val="59595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595959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endParaRPr>
              <a:solidFill>
                <a:srgbClr val="59595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595959"/>
                </a:solidFill>
                <a:latin typeface="Courier New"/>
                <a:ea typeface="Courier New"/>
                <a:cs typeface="Courier New"/>
                <a:sym typeface="Courier New"/>
              </a:rPr>
              <a:t>		</a:t>
            </a:r>
            <a:r>
              <a:rPr b="1" lang="en">
                <a:solidFill>
                  <a:srgbClr val="595959"/>
                </a:solidFill>
                <a:latin typeface="Courier New"/>
                <a:ea typeface="Courier New"/>
                <a:cs typeface="Courier New"/>
                <a:sym typeface="Courier New"/>
              </a:rPr>
              <a:t>GPIOA-&gt;ODR &amp;= ~LED_PIN;	</a:t>
            </a:r>
            <a:r>
              <a:rPr lang="en">
                <a:solidFill>
                  <a:srgbClr val="595959"/>
                </a:solidFill>
                <a:latin typeface="Courier New"/>
                <a:ea typeface="Courier New"/>
                <a:cs typeface="Courier New"/>
                <a:sym typeface="Courier New"/>
              </a:rPr>
              <a:t>// 4. Clear bit 5 to turn LED off</a:t>
            </a:r>
            <a:endParaRPr>
              <a:solidFill>
                <a:srgbClr val="59595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595959"/>
                </a:solidFill>
                <a:latin typeface="Courier New"/>
                <a:ea typeface="Courier New"/>
                <a:cs typeface="Courier New"/>
                <a:sym typeface="Courier New"/>
              </a:rPr>
              <a:t>			</a:t>
            </a:r>
            <a:r>
              <a:rPr b="1" lang="en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for(int k = 0; k &lt;= i; k++) {</a:t>
            </a:r>
            <a:endParaRPr b="1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1828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595959"/>
                </a:solidFill>
                <a:latin typeface="Courier New"/>
                <a:ea typeface="Courier New"/>
                <a:cs typeface="Courier New"/>
                <a:sym typeface="Courier New"/>
              </a:rPr>
              <a:t>for(int j = 0; j&lt;</a:t>
            </a:r>
            <a:r>
              <a:rPr b="1" lang="en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MIN_WAIT</a:t>
            </a:r>
            <a:r>
              <a:rPr b="1" lang="en">
                <a:solidFill>
                  <a:srgbClr val="595959"/>
                </a:solidFill>
                <a:latin typeface="Courier New"/>
                <a:ea typeface="Courier New"/>
                <a:cs typeface="Courier New"/>
                <a:sym typeface="Courier New"/>
              </a:rPr>
              <a:t>; j++);	</a:t>
            </a:r>
            <a:r>
              <a:rPr lang="en">
                <a:solidFill>
                  <a:srgbClr val="595959"/>
                </a:solidFill>
                <a:latin typeface="Courier New"/>
                <a:ea typeface="Courier New"/>
                <a:cs typeface="Courier New"/>
                <a:sym typeface="Courier New"/>
              </a:rPr>
              <a:t>// kill some time</a:t>
            </a:r>
            <a:endParaRPr>
              <a:solidFill>
                <a:srgbClr val="59595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18288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FF0000"/>
                </a:solidFill>
                <a:latin typeface="Courier New"/>
                <a:ea typeface="Courier New"/>
                <a:cs typeface="Courier New"/>
                <a:sym typeface="Courier New"/>
              </a:rPr>
              <a:t>			}</a:t>
            </a:r>
            <a:endParaRPr b="1">
              <a:solidFill>
                <a:srgbClr val="FF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595959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b="1" lang="en">
                <a:solidFill>
                  <a:srgbClr val="595959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>
              <a:solidFill>
                <a:srgbClr val="59595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595959"/>
                </a:solidFill>
                <a:latin typeface="Courier New"/>
                <a:ea typeface="Courier New"/>
                <a:cs typeface="Courier New"/>
                <a:sym typeface="Courier New"/>
              </a:rPr>
              <a:t>	return 0;					</a:t>
            </a:r>
            <a:r>
              <a:rPr lang="en">
                <a:solidFill>
                  <a:srgbClr val="595959"/>
                </a:solidFill>
                <a:latin typeface="Courier New"/>
                <a:ea typeface="Courier New"/>
                <a:cs typeface="Courier New"/>
                <a:sym typeface="Courier New"/>
              </a:rPr>
              <a:t>// never reached</a:t>
            </a:r>
            <a:endParaRPr b="1">
              <a:solidFill>
                <a:srgbClr val="59595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595959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>
              <a:solidFill>
                <a:srgbClr val="59595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95959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>
              <a:solidFill>
                <a:srgbClr val="595959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40"/>
          <p:cNvSpPr txBox="1"/>
          <p:nvPr>
            <p:ph type="title"/>
          </p:nvPr>
        </p:nvSpPr>
        <p:spPr>
          <a:xfrm>
            <a:off x="256375" y="261525"/>
            <a:ext cx="37671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AI Use in ENGS 28</a:t>
            </a:r>
            <a:endParaRPr/>
          </a:p>
        </p:txBody>
      </p:sp>
      <p:sp>
        <p:nvSpPr>
          <p:cNvPr id="245" name="Google Shape;245;p40"/>
          <p:cNvSpPr txBox="1"/>
          <p:nvPr>
            <p:ph idx="1" type="body"/>
          </p:nvPr>
        </p:nvSpPr>
        <p:spPr>
          <a:xfrm>
            <a:off x="6111375" y="347550"/>
            <a:ext cx="2845200" cy="500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AI tools are likely to have an impact on your career and work as an engineer.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In ENGS 28, we will be approaching AI tools with a posture of critical exploration and cautious engagement.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Guiding principle: tools must be used in the spirit of the assignment </a:t>
            </a:r>
            <a:r>
              <a:rPr b="1" lang="en">
                <a:solidFill>
                  <a:srgbClr val="38761D"/>
                </a:solidFill>
              </a:rPr>
              <a:t>to enhance your learning</a:t>
            </a:r>
            <a:r>
              <a:rPr lang="en"/>
              <a:t> and </a:t>
            </a:r>
            <a:r>
              <a:rPr b="1" lang="en">
                <a:solidFill>
                  <a:srgbClr val="FF0000"/>
                </a:solidFill>
              </a:rPr>
              <a:t>not a crutch to shortcut your learning</a:t>
            </a:r>
            <a:r>
              <a:rPr lang="en"/>
              <a:t>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4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47" name="Google Shape;247;p40" title="sketchplanations-the-learning-pi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9551" y="1025025"/>
            <a:ext cx="5902674" cy="500345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48" name="Google Shape;248;p40"/>
          <p:cNvCxnSpPr/>
          <p:nvPr/>
        </p:nvCxnSpPr>
        <p:spPr>
          <a:xfrm flipH="1" rot="10800000">
            <a:off x="3912925" y="3746975"/>
            <a:ext cx="705300" cy="1686900"/>
          </a:xfrm>
          <a:prstGeom prst="straightConnector1">
            <a:avLst/>
          </a:prstGeom>
          <a:noFill/>
          <a:ln cap="flat" cmpd="sng" w="28575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49" name="Google Shape;249;p40"/>
          <p:cNvSpPr txBox="1"/>
          <p:nvPr/>
        </p:nvSpPr>
        <p:spPr>
          <a:xfrm rot="1207612">
            <a:off x="4355357" y="4114290"/>
            <a:ext cx="1368788" cy="129304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38761D"/>
                </a:solidFill>
              </a:rPr>
              <a:t>Productive struggle deepens learning</a:t>
            </a:r>
            <a:endParaRPr b="1" sz="1800">
              <a:solidFill>
                <a:srgbClr val="38761D"/>
              </a:solidFill>
            </a:endParaRPr>
          </a:p>
        </p:txBody>
      </p:sp>
      <p:cxnSp>
        <p:nvCxnSpPr>
          <p:cNvPr id="250" name="Google Shape;250;p40"/>
          <p:cNvCxnSpPr/>
          <p:nvPr/>
        </p:nvCxnSpPr>
        <p:spPr>
          <a:xfrm flipH="1" rot="10800000">
            <a:off x="1714500" y="3456800"/>
            <a:ext cx="2986500" cy="3870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51" name="Google Shape;251;p40"/>
          <p:cNvSpPr txBox="1"/>
          <p:nvPr/>
        </p:nvSpPr>
        <p:spPr>
          <a:xfrm rot="-479390">
            <a:off x="2405854" y="3295896"/>
            <a:ext cx="1161172" cy="46168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0000"/>
                </a:solidFill>
              </a:rPr>
              <a:t>shortcut</a:t>
            </a:r>
            <a:endParaRPr b="1" sz="1800">
              <a:solidFill>
                <a:srgbClr val="FF0000"/>
              </a:solidFill>
            </a:endParaRPr>
          </a:p>
        </p:txBody>
      </p:sp>
      <p:cxnSp>
        <p:nvCxnSpPr>
          <p:cNvPr id="252" name="Google Shape;252;p40"/>
          <p:cNvCxnSpPr>
            <a:stCxn id="251" idx="1"/>
          </p:cNvCxnSpPr>
          <p:nvPr/>
        </p:nvCxnSpPr>
        <p:spPr>
          <a:xfrm>
            <a:off x="2411490" y="3607439"/>
            <a:ext cx="962100" cy="1671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3" name="Google Shape;253;p40"/>
          <p:cNvCxnSpPr>
            <a:endCxn id="251" idx="3"/>
          </p:cNvCxnSpPr>
          <p:nvPr/>
        </p:nvCxnSpPr>
        <p:spPr>
          <a:xfrm flipH="1" rot="10800000">
            <a:off x="2544090" y="3446039"/>
            <a:ext cx="1017300" cy="411600"/>
          </a:xfrm>
          <a:prstGeom prst="straightConnector1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41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AI Use in ENGS 28</a:t>
            </a:r>
            <a:endParaRPr/>
          </a:p>
        </p:txBody>
      </p:sp>
      <p:sp>
        <p:nvSpPr>
          <p:cNvPr id="259" name="Google Shape;259;p41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are </a:t>
            </a:r>
            <a:r>
              <a:rPr lang="en">
                <a:solidFill>
                  <a:srgbClr val="38761D"/>
                </a:solidFill>
              </a:rPr>
              <a:t>free to use the HiTA</a:t>
            </a:r>
            <a:r>
              <a:rPr lang="en"/>
              <a:t> tool, integrated in Canvas, to get help with the assignments in this course. </a:t>
            </a:r>
            <a:r>
              <a:rPr lang="en">
                <a:solidFill>
                  <a:srgbClr val="FF0000"/>
                </a:solidFill>
              </a:rPr>
              <a:t>Please do not use any other GenAI tools unless explicitly invited to do so</a:t>
            </a:r>
            <a:r>
              <a:rPr lang="en"/>
              <a:t>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The HiTA tool has been trained on our course materials and can tailor responses accordingly. It was also specifically designed and prompted not to provide direct homework solutions.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What matters most: 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Before asking for </a:t>
            </a:r>
            <a:r>
              <a:rPr lang="en"/>
              <a:t>help, engage in that productive struggle!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Use HiTA </a:t>
            </a:r>
            <a:r>
              <a:rPr lang="en"/>
              <a:t>in combination with your critical thinking skills. Don’t simply accept the answer–probe it, question it, ask for more explanation if it is still unclear.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Analyze whether the tool's output is correct! It's just a language model, after all.</a:t>
            </a:r>
            <a:endParaRPr/>
          </a:p>
        </p:txBody>
      </p:sp>
      <p:sp>
        <p:nvSpPr>
          <p:cNvPr id="260" name="Google Shape;260;p4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42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AI Use in ENGS 28</a:t>
            </a:r>
            <a:endParaRPr/>
          </a:p>
        </p:txBody>
      </p:sp>
      <p:sp>
        <p:nvSpPr>
          <p:cNvPr id="266" name="Google Shape;266;p42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will treat GenAI tools similarly to other resources you use. This means you MUST follow these four points: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Give notice that you used the AI tool and how you used it in the comments of your code and your lab report.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you are basing your work on generated code, rigorously test and alter the program to suit the assignment and your understanding.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You must understand any code you submit and be prepared to explain it to us.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All comments in your code should be your own words.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4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2" name="Google Shape;272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6250" y="2100439"/>
            <a:ext cx="8931500" cy="3534648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43"/>
          <p:cNvSpPr txBox="1"/>
          <p:nvPr>
            <p:ph type="title"/>
          </p:nvPr>
        </p:nvSpPr>
        <p:spPr>
          <a:xfrm>
            <a:off x="311700" y="1596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Equipment Check-Out</a:t>
            </a:r>
            <a:endParaRPr/>
          </a:p>
        </p:txBody>
      </p:sp>
      <p:sp>
        <p:nvSpPr>
          <p:cNvPr id="274" name="Google Shape;274;p43"/>
          <p:cNvSpPr txBox="1"/>
          <p:nvPr>
            <p:ph idx="1" type="body"/>
          </p:nvPr>
        </p:nvSpPr>
        <p:spPr>
          <a:xfrm>
            <a:off x="311700" y="818307"/>
            <a:ext cx="8520600" cy="69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Please be sure to register your equipment via our check-out survey: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4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6" name="Google Shape;276;p43"/>
          <p:cNvSpPr/>
          <p:nvPr/>
        </p:nvSpPr>
        <p:spPr>
          <a:xfrm>
            <a:off x="3515850" y="4852700"/>
            <a:ext cx="2112300" cy="3150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