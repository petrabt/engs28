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6858000" cx="9144000"/>
  <p:notesSz cx="6858000" cy="9144000"/>
  <p:embeddedFontLst>
    <p:embeddedFont>
      <p:font typeface="Roboto"/>
      <p:regular r:id="rId52"/>
      <p:bold r:id="rId53"/>
      <p:italic r:id="rId54"/>
      <p:boldItalic r:id="rId55"/>
    </p:embeddedFont>
    <p:embeddedFont>
      <p:font typeface="Helvetica Neue"/>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91F8EE-AF9D-4D32-834B-25F783E5C243}">
  <a:tblStyle styleId="{0A91F8EE-AF9D-4D32-834B-25F783E5C24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Roboto-bold.fntdata"/><Relationship Id="rId52" Type="http://schemas.openxmlformats.org/officeDocument/2006/relationships/font" Target="fonts/Roboto-regular.fntdata"/><Relationship Id="rId11" Type="http://schemas.openxmlformats.org/officeDocument/2006/relationships/slide" Target="slides/slide6.xml"/><Relationship Id="rId55" Type="http://schemas.openxmlformats.org/officeDocument/2006/relationships/font" Target="fonts/Roboto-boldItalic.fntdata"/><Relationship Id="rId10" Type="http://schemas.openxmlformats.org/officeDocument/2006/relationships/slide" Target="slides/slide5.xml"/><Relationship Id="rId54" Type="http://schemas.openxmlformats.org/officeDocument/2006/relationships/font" Target="fonts/Roboto-italic.fntdata"/><Relationship Id="rId13" Type="http://schemas.openxmlformats.org/officeDocument/2006/relationships/slide" Target="slides/slide8.xml"/><Relationship Id="rId57" Type="http://schemas.openxmlformats.org/officeDocument/2006/relationships/font" Target="fonts/HelveticaNeue-bold.fntdata"/><Relationship Id="rId12" Type="http://schemas.openxmlformats.org/officeDocument/2006/relationships/slide" Target="slides/slide7.xml"/><Relationship Id="rId56" Type="http://schemas.openxmlformats.org/officeDocument/2006/relationships/font" Target="fonts/HelveticaNeue-regular.fntdata"/><Relationship Id="rId15" Type="http://schemas.openxmlformats.org/officeDocument/2006/relationships/slide" Target="slides/slide10.xml"/><Relationship Id="rId59" Type="http://schemas.openxmlformats.org/officeDocument/2006/relationships/font" Target="fonts/HelveticaNeue-boldItalic.fntdata"/><Relationship Id="rId14" Type="http://schemas.openxmlformats.org/officeDocument/2006/relationships/slide" Target="slides/slide9.xml"/><Relationship Id="rId58" Type="http://schemas.openxmlformats.org/officeDocument/2006/relationships/font" Target="fonts/HelveticaNeue-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92dcb5ddd8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92dcb5dd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a0f2e65117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a0f2e651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d6b3190a16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1d6b3190a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27e873a1ef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27e873a1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27e873a1ef_0_1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27e873a1e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27e873a1ef_0_4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27e873a1e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27e873a1ef_0_3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27e873a1e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27e873a1ef_0_5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27e873a1ef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27e873a1ef_0_2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27e873a1e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27e873a1ef_0_6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27e873a1e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27e873a1ef_0_6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27e873a1ef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27e873a1ef_0_7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27e873a1e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27e873a1ef_0_8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27e873a1ef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27e873a1ef_0_9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27e873a1ef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27e873a1ef_0_10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27e873a1ef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a204a1577e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a204a157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a204a1577e_0_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a204a1577e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203200" rtl="0" algn="l">
              <a:lnSpc>
                <a:spcPct val="142857"/>
              </a:lnSpc>
              <a:spcBef>
                <a:spcPts val="0"/>
              </a:spcBef>
              <a:spcAft>
                <a:spcPts val="0"/>
              </a:spcAft>
              <a:buClr>
                <a:schemeClr val="dk1"/>
              </a:buClr>
              <a:buSzPts val="1100"/>
              <a:buFont typeface="Arial"/>
              <a:buNone/>
            </a:pPr>
            <a:r>
              <a:rPr lang="en" sz="1050">
                <a:solidFill>
                  <a:srgbClr val="444746"/>
                </a:solidFill>
                <a:latin typeface="Roboto"/>
                <a:ea typeface="Roboto"/>
                <a:cs typeface="Roboto"/>
                <a:sym typeface="Roboto"/>
              </a:rPr>
              <a:t>Shockley took top billing, but Bardeen and Brattain actually built the device.</a:t>
            </a:r>
            <a:endParaRPr sz="1050">
              <a:solidFill>
                <a:srgbClr val="444746"/>
              </a:solidFill>
              <a:latin typeface="Roboto"/>
              <a:ea typeface="Roboto"/>
              <a:cs typeface="Roboto"/>
              <a:sym typeface="Roboto"/>
            </a:endParaRPr>
          </a:p>
          <a:p>
            <a:pPr indent="0" lvl="0" marL="0" marR="203200" rtl="0" algn="l">
              <a:lnSpc>
                <a:spcPct val="142857"/>
              </a:lnSpc>
              <a:spcBef>
                <a:spcPts val="0"/>
              </a:spcBef>
              <a:spcAft>
                <a:spcPts val="0"/>
              </a:spcAft>
              <a:buClr>
                <a:schemeClr val="dk1"/>
              </a:buClr>
              <a:buSzPts val="1100"/>
              <a:buFont typeface="Arial"/>
              <a:buNone/>
            </a:pPr>
            <a:r>
              <a:rPr lang="en" sz="1050">
                <a:solidFill>
                  <a:srgbClr val="444746"/>
                </a:solidFill>
                <a:latin typeface="Roboto"/>
                <a:ea typeface="Roboto"/>
                <a:cs typeface="Roboto"/>
                <a:sym typeface="Roboto"/>
              </a:rPr>
              <a:t>How a </a:t>
            </a:r>
            <a:r>
              <a:rPr lang="en" sz="1050">
                <a:solidFill>
                  <a:srgbClr val="444746"/>
                </a:solidFill>
                <a:latin typeface="Roboto"/>
                <a:ea typeface="Roboto"/>
                <a:cs typeface="Roboto"/>
                <a:sym typeface="Roboto"/>
              </a:rPr>
              <a:t>vacuum</a:t>
            </a:r>
            <a:r>
              <a:rPr lang="en" sz="1050">
                <a:solidFill>
                  <a:srgbClr val="444746"/>
                </a:solidFill>
                <a:latin typeface="Roboto"/>
                <a:ea typeface="Roboto"/>
                <a:cs typeface="Roboto"/>
                <a:sym typeface="Roboto"/>
              </a:rPr>
              <a:t> tube works?</a:t>
            </a:r>
            <a:endParaRPr sz="1050">
              <a:solidFill>
                <a:srgbClr val="444746"/>
              </a:solidFill>
              <a:latin typeface="Roboto"/>
              <a:ea typeface="Roboto"/>
              <a:cs typeface="Roboto"/>
              <a:sym typeface="Roboto"/>
            </a:endParaRPr>
          </a:p>
          <a:p>
            <a:pPr indent="0" lvl="0" marL="0" marR="203200" rtl="0" algn="l">
              <a:lnSpc>
                <a:spcPct val="142857"/>
              </a:lnSpc>
              <a:spcBef>
                <a:spcPts val="0"/>
              </a:spcBef>
              <a:spcAft>
                <a:spcPts val="0"/>
              </a:spcAft>
              <a:buClr>
                <a:schemeClr val="dk1"/>
              </a:buClr>
              <a:buSzPts val="1100"/>
              <a:buFont typeface="Arial"/>
              <a:buNone/>
            </a:pPr>
            <a:r>
              <a:rPr lang="en" sz="1050">
                <a:solidFill>
                  <a:srgbClr val="444746"/>
                </a:solidFill>
                <a:latin typeface="Roboto"/>
                <a:ea typeface="Roboto"/>
                <a:cs typeface="Roboto"/>
                <a:sym typeface="Roboto"/>
              </a:rPr>
              <a:t>	1.	Electron Emission: The filament heats the cathode, causing it to release electrons into the vacuum via thermionic emission.</a:t>
            </a:r>
            <a:endParaRPr sz="1050">
              <a:solidFill>
                <a:srgbClr val="444746"/>
              </a:solidFill>
              <a:latin typeface="Roboto"/>
              <a:ea typeface="Roboto"/>
              <a:cs typeface="Roboto"/>
              <a:sym typeface="Roboto"/>
            </a:endParaRPr>
          </a:p>
          <a:p>
            <a:pPr indent="0" lvl="0" marL="0" marR="203200" rtl="0" algn="l">
              <a:lnSpc>
                <a:spcPct val="142857"/>
              </a:lnSpc>
              <a:spcBef>
                <a:spcPts val="0"/>
              </a:spcBef>
              <a:spcAft>
                <a:spcPts val="0"/>
              </a:spcAft>
              <a:buClr>
                <a:schemeClr val="dk1"/>
              </a:buClr>
              <a:buSzPts val="1100"/>
              <a:buFont typeface="Arial"/>
              <a:buNone/>
            </a:pPr>
            <a:r>
              <a:rPr lang="en" sz="1050">
                <a:solidFill>
                  <a:srgbClr val="444746"/>
                </a:solidFill>
                <a:latin typeface="Roboto"/>
                <a:ea typeface="Roboto"/>
                <a:cs typeface="Roboto"/>
                <a:sym typeface="Roboto"/>
              </a:rPr>
              <a:t>	2.	Electron Flow: A voltage applied between the cathode (negative) and the anode (positive) creates an electric field, causing the electrons to accelerate toward the anode.</a:t>
            </a:r>
            <a:endParaRPr sz="1050">
              <a:solidFill>
                <a:srgbClr val="444746"/>
              </a:solidFill>
              <a:latin typeface="Roboto"/>
              <a:ea typeface="Roboto"/>
              <a:cs typeface="Roboto"/>
              <a:sym typeface="Roboto"/>
            </a:endParaRPr>
          </a:p>
          <a:p>
            <a:pPr indent="0" lvl="0" marL="0" marR="203200" rtl="0" algn="l">
              <a:lnSpc>
                <a:spcPct val="142857"/>
              </a:lnSpc>
              <a:spcBef>
                <a:spcPts val="0"/>
              </a:spcBef>
              <a:spcAft>
                <a:spcPts val="0"/>
              </a:spcAft>
              <a:buClr>
                <a:schemeClr val="dk1"/>
              </a:buClr>
              <a:buSzPts val="1100"/>
              <a:buFont typeface="Arial"/>
              <a:buNone/>
            </a:pPr>
            <a:r>
              <a:rPr lang="en" sz="1050">
                <a:solidFill>
                  <a:srgbClr val="444746"/>
                </a:solidFill>
                <a:latin typeface="Roboto"/>
                <a:ea typeface="Roboto"/>
                <a:cs typeface="Roboto"/>
                <a:sym typeface="Roboto"/>
              </a:rPr>
              <a:t>	3.	Signal Modulation: The control grid, placed near the cathode, influences the flow of electrons:</a:t>
            </a:r>
            <a:endParaRPr sz="1050">
              <a:solidFill>
                <a:srgbClr val="444746"/>
              </a:solidFill>
              <a:latin typeface="Roboto"/>
              <a:ea typeface="Roboto"/>
              <a:cs typeface="Roboto"/>
              <a:sym typeface="Roboto"/>
            </a:endParaRPr>
          </a:p>
          <a:p>
            <a:pPr indent="0" lvl="0" marL="0" marR="203200" rtl="0" algn="l">
              <a:lnSpc>
                <a:spcPct val="142857"/>
              </a:lnSpc>
              <a:spcBef>
                <a:spcPts val="0"/>
              </a:spcBef>
              <a:spcAft>
                <a:spcPts val="0"/>
              </a:spcAft>
              <a:buClr>
                <a:schemeClr val="dk1"/>
              </a:buClr>
              <a:buSzPts val="1100"/>
              <a:buFont typeface="Arial"/>
              <a:buNone/>
            </a:pPr>
            <a:r>
              <a:rPr lang="en" sz="1050">
                <a:solidFill>
                  <a:srgbClr val="444746"/>
                </a:solidFill>
                <a:latin typeface="Roboto"/>
                <a:ea typeface="Roboto"/>
                <a:cs typeface="Roboto"/>
                <a:sym typeface="Roboto"/>
              </a:rPr>
              <a:t>	•	A small negative voltage on the control grid repels some electrons, reducing the current reaching the anode.</a:t>
            </a:r>
            <a:endParaRPr sz="1050">
              <a:solidFill>
                <a:srgbClr val="444746"/>
              </a:solidFill>
              <a:latin typeface="Roboto"/>
              <a:ea typeface="Roboto"/>
              <a:cs typeface="Roboto"/>
              <a:sym typeface="Roboto"/>
            </a:endParaRPr>
          </a:p>
          <a:p>
            <a:pPr indent="0" lvl="0" marL="0" marR="203200" rtl="0" algn="l">
              <a:lnSpc>
                <a:spcPct val="142857"/>
              </a:lnSpc>
              <a:spcBef>
                <a:spcPts val="0"/>
              </a:spcBef>
              <a:spcAft>
                <a:spcPts val="0"/>
              </a:spcAft>
              <a:buClr>
                <a:schemeClr val="dk1"/>
              </a:buClr>
              <a:buSzPts val="1100"/>
              <a:buFont typeface="Arial"/>
              <a:buNone/>
            </a:pPr>
            <a:r>
              <a:rPr lang="en" sz="1050">
                <a:solidFill>
                  <a:srgbClr val="444746"/>
                </a:solidFill>
                <a:latin typeface="Roboto"/>
                <a:ea typeface="Roboto"/>
                <a:cs typeface="Roboto"/>
                <a:sym typeface="Roboto"/>
              </a:rPr>
              <a:t>	•	A less negative (or positive) grid allows more electrons to pass through, increasing the current.</a:t>
            </a:r>
            <a:endParaRPr sz="1050">
              <a:solidFill>
                <a:srgbClr val="444746"/>
              </a:solidFill>
              <a:latin typeface="Roboto"/>
              <a:ea typeface="Roboto"/>
              <a:cs typeface="Roboto"/>
              <a:sym typeface="Roboto"/>
            </a:endParaRPr>
          </a:p>
          <a:p>
            <a:pPr indent="0" lvl="0" marL="0" marR="203200" rtl="0" algn="l">
              <a:lnSpc>
                <a:spcPct val="142857"/>
              </a:lnSpc>
              <a:spcBef>
                <a:spcPts val="0"/>
              </a:spcBef>
              <a:spcAft>
                <a:spcPts val="0"/>
              </a:spcAft>
              <a:buClr>
                <a:schemeClr val="dk1"/>
              </a:buClr>
              <a:buSzPts val="1100"/>
              <a:buFont typeface="Arial"/>
              <a:buNone/>
            </a:pPr>
            <a:r>
              <a:rPr lang="en" sz="1050">
                <a:solidFill>
                  <a:srgbClr val="444746"/>
                </a:solidFill>
                <a:latin typeface="Roboto"/>
                <a:ea typeface="Roboto"/>
                <a:cs typeface="Roboto"/>
                <a:sym typeface="Roboto"/>
              </a:rPr>
              <a:t>	4.	Amplification: A small input signal applied to the control grid modulates a much larger current flow to the anode, amplifying the signal.</a:t>
            </a:r>
            <a:endParaRPr sz="1050">
              <a:solidFill>
                <a:srgbClr val="444746"/>
              </a:solidFill>
              <a:latin typeface="Roboto"/>
              <a:ea typeface="Roboto"/>
              <a:cs typeface="Roboto"/>
              <a:sym typeface="Roboto"/>
            </a:endParaRPr>
          </a:p>
          <a:p>
            <a:pPr indent="0" lvl="0" marL="0" marR="203200" rtl="0" algn="l">
              <a:lnSpc>
                <a:spcPct val="142857"/>
              </a:lnSpc>
              <a:spcBef>
                <a:spcPts val="0"/>
              </a:spcBef>
              <a:spcAft>
                <a:spcPts val="0"/>
              </a:spcAft>
              <a:buClr>
                <a:schemeClr val="dk1"/>
              </a:buClr>
              <a:buSzPts val="1100"/>
              <a:buFont typeface="Arial"/>
              <a:buNone/>
            </a:pPr>
            <a:r>
              <a:t/>
            </a:r>
            <a:endParaRPr sz="1050">
              <a:solidFill>
                <a:srgbClr val="444746"/>
              </a:solidFill>
              <a:latin typeface="Roboto"/>
              <a:ea typeface="Roboto"/>
              <a:cs typeface="Roboto"/>
              <a:sym typeface="Roboto"/>
            </a:endParaRPr>
          </a:p>
          <a:p>
            <a:pPr indent="0" lvl="0" marL="0" marR="203200" rtl="0" algn="l">
              <a:lnSpc>
                <a:spcPct val="142857"/>
              </a:lnSpc>
              <a:spcBef>
                <a:spcPts val="0"/>
              </a:spcBef>
              <a:spcAft>
                <a:spcPts val="0"/>
              </a:spcAft>
              <a:buClr>
                <a:schemeClr val="dk1"/>
              </a:buClr>
              <a:buSzPts val="1100"/>
              <a:buFont typeface="Arial"/>
              <a:buNone/>
            </a:pPr>
            <a:r>
              <a:t/>
            </a:r>
            <a:endParaRPr sz="1050">
              <a:solidFill>
                <a:srgbClr val="444746"/>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050">
              <a:solidFill>
                <a:schemeClr val="dk1"/>
              </a:solidFill>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a204a1577e_0_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a204a1577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a204a1577e_0_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a204a1577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Remote circuit can operate on a completely different voltage than the main circuit.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a204a1577e_0_6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a204a1577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are some of the symbols you'll see.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a2192b5027_0_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a2192b502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 BJT transistor consists of three differently doped semiconductors. The main atom is typically silicon, which has 4 electrons in the outer shell. The dopant atoms are close in size to the silicon atom, so they don’t cause any undue strain on the lattice.  </a:t>
            </a:r>
            <a:endParaRPr/>
          </a:p>
          <a:p>
            <a:pPr indent="0" lvl="0" marL="0" rtl="0" algn="l">
              <a:spcBef>
                <a:spcPts val="0"/>
              </a:spcBef>
              <a:spcAft>
                <a:spcPts val="0"/>
              </a:spcAft>
              <a:buClr>
                <a:schemeClr val="dk1"/>
              </a:buClr>
              <a:buSzPts val="1100"/>
              <a:buFont typeface="Arial"/>
              <a:buNone/>
            </a:pPr>
            <a:r>
              <a:rPr lang="en"/>
              <a:t>The N-Type dopants such as Phosphorus provide an extra electron which does not participate in any of the covalent bonds, and it therefore can move about easily.</a:t>
            </a:r>
            <a:endParaRPr/>
          </a:p>
          <a:p>
            <a:pPr indent="0" lvl="0" marL="0" rtl="0" algn="l">
              <a:spcBef>
                <a:spcPts val="0"/>
              </a:spcBef>
              <a:spcAft>
                <a:spcPts val="0"/>
              </a:spcAft>
              <a:buClr>
                <a:schemeClr val="dk1"/>
              </a:buClr>
              <a:buSzPts val="1100"/>
              <a:buFont typeface="Arial"/>
              <a:buNone/>
            </a:pPr>
            <a:r>
              <a:rPr lang="en"/>
              <a:t>The P-Type dopants such as Boron have only three </a:t>
            </a:r>
            <a:r>
              <a:rPr lang="en"/>
              <a:t>electrons</a:t>
            </a:r>
            <a:r>
              <a:rPr lang="en"/>
              <a:t> in </a:t>
            </a:r>
            <a:r>
              <a:rPr lang="en"/>
              <a:t>their</a:t>
            </a:r>
            <a:r>
              <a:rPr lang="en"/>
              <a:t> outer shell which creates "holes" in the covalent bonds. These holes can also move around by virtue of electrons jumping from one hole to another hole (the hole moves in the opposite direction of the electron).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The NPN transistor comes with two junctions, called:</a:t>
            </a:r>
            <a:endParaRPr/>
          </a:p>
          <a:p>
            <a:pPr indent="0" lvl="0" marL="0" rtl="0" algn="l">
              <a:spcBef>
                <a:spcPts val="0"/>
              </a:spcBef>
              <a:spcAft>
                <a:spcPts val="0"/>
              </a:spcAft>
              <a:buClr>
                <a:schemeClr val="dk1"/>
              </a:buClr>
              <a:buSzPts val="1100"/>
              <a:buFont typeface="Arial"/>
              <a:buNone/>
            </a:pPr>
            <a:r>
              <a:rPr lang="en"/>
              <a:t>Emitter-Base Junction.</a:t>
            </a:r>
            <a:endParaRPr/>
          </a:p>
          <a:p>
            <a:pPr indent="0" lvl="0" marL="0" rtl="0" algn="l">
              <a:spcBef>
                <a:spcPts val="0"/>
              </a:spcBef>
              <a:spcAft>
                <a:spcPts val="0"/>
              </a:spcAft>
              <a:buNone/>
            </a:pPr>
            <a:r>
              <a:rPr lang="en"/>
              <a:t>Collector-Base Junction.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The NPN transistor is in operating condition when an emitter-base junction is forward biased and the collector-base junction is reverse biased and enough current is present at the base terminal. In order to make emitter-base junction forward biased, a positive voltage is applied at the base side and a negative voltage is applied at the emitter side.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Beta tends to be ~50 or so.  Main thing is that it is positive.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a2192b5027_0_16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a2192b5027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Point out that current (like a diode) flows in the direction of the arrow in the symbol.</a:t>
            </a:r>
            <a:endParaRPr/>
          </a:p>
          <a:p>
            <a:pPr indent="0" lvl="0" marL="0" rtl="0" algn="l">
              <a:spcBef>
                <a:spcPts val="0"/>
              </a:spcBef>
              <a:spcAft>
                <a:spcPts val="0"/>
              </a:spcAft>
              <a:buNone/>
            </a:pPr>
            <a:r>
              <a:rPr lang="en"/>
              <a:t>Current flows from + to -, so it makes sense that the PNP will be “on top”.</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1.	Emitter:</a:t>
            </a:r>
            <a:endParaRPr/>
          </a:p>
          <a:p>
            <a:pPr indent="0" lvl="0" marL="0" rtl="0" algn="l">
              <a:spcBef>
                <a:spcPts val="0"/>
              </a:spcBef>
              <a:spcAft>
                <a:spcPts val="0"/>
              </a:spcAft>
              <a:buClr>
                <a:schemeClr val="dk1"/>
              </a:buClr>
              <a:buSzPts val="1100"/>
              <a:buFont typeface="Arial"/>
              <a:buNone/>
            </a:pPr>
            <a:r>
              <a:rPr lang="en"/>
              <a:t>	•	The emitter “emits” or supplies charge carriers (electrons in an NPN transistor or holes in a PNP transistor) into the base region.</a:t>
            </a:r>
            <a:endParaRPr/>
          </a:p>
          <a:p>
            <a:pPr indent="0" lvl="0" marL="0" rtl="0" algn="l">
              <a:spcBef>
                <a:spcPts val="0"/>
              </a:spcBef>
              <a:spcAft>
                <a:spcPts val="0"/>
              </a:spcAft>
              <a:buClr>
                <a:schemeClr val="dk1"/>
              </a:buClr>
              <a:buSzPts val="1100"/>
              <a:buFont typeface="Arial"/>
              <a:buNone/>
            </a:pPr>
            <a:r>
              <a:rPr lang="en"/>
              <a:t>	•	It is heavily doped to ensure a high concentration of charge carriers, maximizing their injection into the base.</a:t>
            </a:r>
            <a:endParaRPr/>
          </a:p>
          <a:p>
            <a:pPr indent="0" lvl="0" marL="0" rtl="0" algn="l">
              <a:spcBef>
                <a:spcPts val="0"/>
              </a:spcBef>
              <a:spcAft>
                <a:spcPts val="0"/>
              </a:spcAft>
              <a:buClr>
                <a:schemeClr val="dk1"/>
              </a:buClr>
              <a:buSzPts val="1100"/>
              <a:buFont typeface="Arial"/>
              <a:buNone/>
            </a:pPr>
            <a:r>
              <a:rPr lang="en"/>
              <a:t>2.	Base:</a:t>
            </a:r>
            <a:endParaRPr/>
          </a:p>
          <a:p>
            <a:pPr indent="0" lvl="0" marL="0" rtl="0" algn="l">
              <a:spcBef>
                <a:spcPts val="0"/>
              </a:spcBef>
              <a:spcAft>
                <a:spcPts val="0"/>
              </a:spcAft>
              <a:buClr>
                <a:schemeClr val="dk1"/>
              </a:buClr>
              <a:buSzPts val="1100"/>
              <a:buFont typeface="Arial"/>
              <a:buNone/>
            </a:pPr>
            <a:r>
              <a:rPr lang="en"/>
              <a:t>	•	The base is the thin, central region of the transistor that “bases” or supports the operation by controlling the flow of charge carriers between the emitter and collector.</a:t>
            </a:r>
            <a:endParaRPr/>
          </a:p>
          <a:p>
            <a:pPr indent="0" lvl="0" marL="0" rtl="0" algn="l">
              <a:spcBef>
                <a:spcPts val="0"/>
              </a:spcBef>
              <a:spcAft>
                <a:spcPts val="0"/>
              </a:spcAft>
              <a:buClr>
                <a:schemeClr val="dk1"/>
              </a:buClr>
              <a:buSzPts val="1100"/>
              <a:buFont typeface="Arial"/>
              <a:buNone/>
            </a:pPr>
            <a:r>
              <a:rPr lang="en"/>
              <a:t>	•	It is lightly doped and very thin to allow most of the charge carriers emitted by the emitter to pass through to the collector.</a:t>
            </a:r>
            <a:endParaRPr/>
          </a:p>
          <a:p>
            <a:pPr indent="0" lvl="0" marL="0" rtl="0" algn="l">
              <a:spcBef>
                <a:spcPts val="0"/>
              </a:spcBef>
              <a:spcAft>
                <a:spcPts val="0"/>
              </a:spcAft>
              <a:buClr>
                <a:schemeClr val="dk1"/>
              </a:buClr>
              <a:buSzPts val="1100"/>
              <a:buFont typeface="Arial"/>
              <a:buNone/>
            </a:pPr>
            <a:r>
              <a:rPr lang="en"/>
              <a:t>3.	Collector:</a:t>
            </a:r>
            <a:endParaRPr/>
          </a:p>
          <a:p>
            <a:pPr indent="0" lvl="0" marL="0" rtl="0" algn="l">
              <a:spcBef>
                <a:spcPts val="0"/>
              </a:spcBef>
              <a:spcAft>
                <a:spcPts val="0"/>
              </a:spcAft>
              <a:buClr>
                <a:schemeClr val="dk1"/>
              </a:buClr>
              <a:buSzPts val="1100"/>
              <a:buFont typeface="Arial"/>
              <a:buNone/>
            </a:pPr>
            <a:r>
              <a:rPr lang="en"/>
              <a:t>	•	The collector “collects” the charge carriers that flow through the base from the emitter.</a:t>
            </a:r>
            <a:endParaRPr/>
          </a:p>
          <a:p>
            <a:pPr indent="0" lvl="0" marL="0" rtl="0" algn="l">
              <a:spcBef>
                <a:spcPts val="0"/>
              </a:spcBef>
              <a:spcAft>
                <a:spcPts val="0"/>
              </a:spcAft>
              <a:buClr>
                <a:schemeClr val="dk1"/>
              </a:buClr>
              <a:buSzPts val="1100"/>
              <a:buFont typeface="Arial"/>
              <a:buNone/>
            </a:pPr>
            <a:r>
              <a:rPr lang="en"/>
              <a:t>	•	It is moderately doped and has a larger physical area to dissipate the heat generated by power dissipation in the device.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a2192b5027_0_17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a2192b5027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91e5162c2c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91e5162c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91e5162c2c_0_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91e5162c2c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b171cc9457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b171cc945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a2192b5027_0_18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a2192b5027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a2acdb6575_0_3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2a2acdb657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little tricky to dance around.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nFETs start with a p-type channel (with no voltage on the gate).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When positive voltage is applied the majority carriers (positive holes) are repelled from beneath the gate.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Eventually, with enough potential, the minority carriers (electrons in p-type si) are attracted to the gate from the source (which is N-Type).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soon as there are enough to connect source to drain, the channel region is said to be inverted (appears like N-Type - lots of electrons, even though it was doped P-Type).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probably more than they are going to want to absorb…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a2192b5027_0_21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a2192b5027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1.	No Gate Current (Ideal Behavior):</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Unlike a BJT, which is a current-controlled device, a MOSFET’s gate is insulated from the rest of the device by a thin oxide layer. This means that in ideal conditions, almost no current flows into the gate. The gate only controls the electric field.</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2.	Electric Field Effect:</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 voltage applied to the gate terminal creates an electric field in the semiconductor channel below the gate (the channel between the source and drain). This field modulates the conductivity of the channel:</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	•	If the gate voltage is below a certain threshold (V_{th}), the channel is not conductive, and little or no current flows between the drain and source.</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	•	When the gate voltage exceeds the threshold, the electric field “inverts” the semiconductor region below the gate, creating a conductive channel through which current can flow between the drain and source.</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3.	Current Flow Proportional to Gate Voltage:</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	•	In the linear region, the drain-source current (I_{DS}) is proportional to the gate-source voltage (V_{GS}), assuming the drain-source voltage is small.</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	•	In the saturation region, the current becomes less dependent on the drain-source voltage and is instead controlled almost entirely by the gate-source voltage.</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4.	Advantages of Voltage Control:</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	•	High Input Impedance: Since the gate draws almost no current, the MOSFET has a very high input impedance, making it efficient and easier to drive.</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	•	Ease of Control: The ability to control large drain-source currents with relatively small gate-source voltages makes MOSFETs suitable for amplification and switching applications.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bulk is typically tied to lowest potential</a:t>
            </a:r>
            <a:endParaRPr sz="1200"/>
          </a:p>
          <a:p>
            <a:pPr indent="0" lvl="0" marL="0" rtl="0" algn="l">
              <a:spcBef>
                <a:spcPts val="0"/>
              </a:spcBef>
              <a:spcAft>
                <a:spcPts val="0"/>
              </a:spcAft>
              <a:buNone/>
            </a:pPr>
            <a:r>
              <a:rPr lang="en" sz="1200"/>
              <a:t>While true, we haven’t mentioned the 4th terminal yet (in fact, they won’t see it until they study more advanced design techniques), so we could drop this.</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a2acdb6575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2a2acdb657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pmos body is typically tied</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to highest potential</a:t>
            </a:r>
            <a:endParaRPr sz="1200">
              <a:solidFill>
                <a:schemeClr val="dk1"/>
              </a:solidFill>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(Could drop this too).</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a2acdb6575_0_3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2a2acdb657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595959"/>
                </a:solidFill>
              </a:rPr>
              <a:t>MOSFETs are really easy to "saturate", which just means that they are fully open, and they are dead reliable for very fast switching between their saturation and cut-off regions (fully on and fully off regions). This makes them wonderful switches, especially for high power applications like motors, lamps, etc. </a:t>
            </a:r>
            <a:endParaRPr sz="1800">
              <a:solidFill>
                <a:srgbClr val="595959"/>
              </a:solidFill>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a2192b5027_0_19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a2192b5027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a2acdb6575_0_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2a2acdb657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a2acdb6575_0_2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a2acdb657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think </a:t>
            </a:r>
            <a:r>
              <a:rPr lang="en"/>
              <a:t>driving</a:t>
            </a:r>
            <a:r>
              <a:rPr lang="en"/>
              <a:t> home that NFets are used to pull down and PFets are used to pull up is the key takeaway </a:t>
            </a:r>
            <a:endParaRPr/>
          </a:p>
          <a:p>
            <a:pPr indent="0" lvl="0" marL="0" rtl="0" algn="l">
              <a:spcBef>
                <a:spcPts val="0"/>
              </a:spcBef>
              <a:spcAft>
                <a:spcPts val="0"/>
              </a:spcAft>
              <a:buNone/>
            </a:pPr>
            <a:r>
              <a:rPr lang="en"/>
              <a:t>here.  That alone will make my job in 31 easier!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think it is sufficient to acknowledge the existence of depletion mode devices (as you did on an earlier slide) </a:t>
            </a:r>
            <a:endParaRPr/>
          </a:p>
          <a:p>
            <a:pPr indent="0" lvl="0" marL="0" rtl="0" algn="l">
              <a:spcBef>
                <a:spcPts val="0"/>
              </a:spcBef>
              <a:spcAft>
                <a:spcPts val="0"/>
              </a:spcAft>
              <a:buNone/>
            </a:pPr>
            <a:r>
              <a:rPr lang="en"/>
              <a:t>and never mention them again.  </a:t>
            </a:r>
            <a:r>
              <a:rPr lang="en"/>
              <a:t>They have a few traditional uses, but are a bit esoteric.  (If you are interested, </a:t>
            </a:r>
            <a:endParaRPr/>
          </a:p>
          <a:p>
            <a:pPr indent="0" lvl="0" marL="0" rtl="0" algn="l">
              <a:spcBef>
                <a:spcPts val="0"/>
              </a:spcBef>
              <a:spcAft>
                <a:spcPts val="0"/>
              </a:spcAft>
              <a:buNone/>
            </a:pPr>
            <a:r>
              <a:rPr lang="en"/>
              <a:t>they are basically fets that are ON with no applied gate voltage and you turn them more off with (negative) </a:t>
            </a:r>
            <a:endParaRPr/>
          </a:p>
          <a:p>
            <a:pPr indent="0" lvl="0" marL="0" rtl="0" algn="l">
              <a:spcBef>
                <a:spcPts val="0"/>
              </a:spcBef>
              <a:spcAft>
                <a:spcPts val="0"/>
              </a:spcAft>
              <a:buNone/>
            </a:pPr>
            <a:r>
              <a:rPr lang="en"/>
              <a:t>gate voltage.)  Depletion mode NFets tend to appear connected to the positive supply.  Applying less than </a:t>
            </a:r>
            <a:endParaRPr/>
          </a:p>
          <a:p>
            <a:pPr indent="0" lvl="0" marL="0" rtl="0" algn="l">
              <a:spcBef>
                <a:spcPts val="0"/>
              </a:spcBef>
              <a:spcAft>
                <a:spcPts val="0"/>
              </a:spcAft>
              <a:buNone/>
            </a:pPr>
            <a:r>
              <a:rPr lang="en"/>
              <a:t>Vcc to the gate makes the resistance go up.  They are typically used as voltage controlled resistors)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275b563f8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275b563f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think driving home that NFets are used to pull down and PFets are used to pull up is the key takeaway </a:t>
            </a:r>
            <a:endParaRPr/>
          </a:p>
          <a:p>
            <a:pPr indent="0" lvl="0" marL="0" rtl="0" algn="l">
              <a:spcBef>
                <a:spcPts val="0"/>
              </a:spcBef>
              <a:spcAft>
                <a:spcPts val="0"/>
              </a:spcAft>
              <a:buNone/>
            </a:pPr>
            <a:r>
              <a:rPr lang="en"/>
              <a:t>here.  That alone will make my job in 31 easier!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think it is sufficient to acknowledge the existence of depletion mode devices (as you did on an earlier slide) </a:t>
            </a:r>
            <a:endParaRPr/>
          </a:p>
          <a:p>
            <a:pPr indent="0" lvl="0" marL="0" rtl="0" algn="l">
              <a:spcBef>
                <a:spcPts val="0"/>
              </a:spcBef>
              <a:spcAft>
                <a:spcPts val="0"/>
              </a:spcAft>
              <a:buNone/>
            </a:pPr>
            <a:r>
              <a:rPr lang="en"/>
              <a:t>and never mention them again.  They have a few traditional uses, but are a bit esoteric.  (If you are interested, </a:t>
            </a:r>
            <a:endParaRPr/>
          </a:p>
          <a:p>
            <a:pPr indent="0" lvl="0" marL="0" rtl="0" algn="l">
              <a:spcBef>
                <a:spcPts val="0"/>
              </a:spcBef>
              <a:spcAft>
                <a:spcPts val="0"/>
              </a:spcAft>
              <a:buNone/>
            </a:pPr>
            <a:r>
              <a:rPr lang="en"/>
              <a:t>they are basically fets that are ON with no applied gate voltage and you turn them more off with (negative) </a:t>
            </a:r>
            <a:endParaRPr/>
          </a:p>
          <a:p>
            <a:pPr indent="0" lvl="0" marL="0" rtl="0" algn="l">
              <a:spcBef>
                <a:spcPts val="0"/>
              </a:spcBef>
              <a:spcAft>
                <a:spcPts val="0"/>
              </a:spcAft>
              <a:buNone/>
            </a:pPr>
            <a:r>
              <a:rPr lang="en"/>
              <a:t>gate voltage.)  Depletion mode NFets tend to appear connected to the positive supply.  Applying less than </a:t>
            </a:r>
            <a:endParaRPr/>
          </a:p>
          <a:p>
            <a:pPr indent="0" lvl="0" marL="0" rtl="0" algn="l">
              <a:spcBef>
                <a:spcPts val="0"/>
              </a:spcBef>
              <a:spcAft>
                <a:spcPts val="0"/>
              </a:spcAft>
              <a:buNone/>
            </a:pPr>
            <a:r>
              <a:rPr lang="en"/>
              <a:t>Vcc to the gate makes the resistance go up.  They are typically used as voltage controlled resistors)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adef84e8b1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2adef84e8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a2192b5027_0_6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2a2192b5027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2a2192b5027_0_7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2a2192b5027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2a2192b5027_0_8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2a2192b5027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Intrinsic silicon has all 4 valence electrons covalently bonded to nearby atoms.  </a:t>
            </a:r>
            <a:endParaRPr/>
          </a:p>
          <a:p>
            <a:pPr indent="0" lvl="0" marL="0" rtl="0" algn="l">
              <a:spcBef>
                <a:spcPts val="0"/>
              </a:spcBef>
              <a:spcAft>
                <a:spcPts val="0"/>
              </a:spcAft>
              <a:buNone/>
            </a:pPr>
            <a:r>
              <a:rPr lang="en"/>
              <a:t>Thermal energy </a:t>
            </a:r>
            <a:r>
              <a:rPr lang="en"/>
              <a:t>causes a statistically predictable number of electrons to escape their associated bond.  </a:t>
            </a:r>
            <a:endParaRPr/>
          </a:p>
          <a:p>
            <a:pPr indent="0" lvl="0" marL="0" rtl="0" algn="l">
              <a:spcBef>
                <a:spcPts val="0"/>
              </a:spcBef>
              <a:spcAft>
                <a:spcPts val="0"/>
              </a:spcAft>
              <a:buNone/>
            </a:pPr>
            <a:r>
              <a:rPr lang="en"/>
              <a:t>It is this thermal activity that allows silicon and semiconductors in general to conduct electricity.</a:t>
            </a:r>
            <a:endParaRPr/>
          </a:p>
          <a:p>
            <a:pPr indent="0" lvl="0" marL="0" rtl="0" algn="l">
              <a:spcBef>
                <a:spcPts val="0"/>
              </a:spcBef>
              <a:spcAft>
                <a:spcPts val="0"/>
              </a:spcAft>
              <a:buNone/>
            </a:pPr>
            <a:r>
              <a:rPr lang="en"/>
              <a:t>As the temperature increases, more bonds are broken and the semiconductor becomes a better conductor.</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2a204a1577e_0_8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2a204a1577e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dopant atoms are close in size to the silicon atom, so they don’t cause any undue strain on the lattice.  </a:t>
            </a:r>
            <a:endParaRPr/>
          </a:p>
          <a:p>
            <a:pPr indent="0" lvl="0" marL="0" rtl="0" algn="l">
              <a:spcBef>
                <a:spcPts val="0"/>
              </a:spcBef>
              <a:spcAft>
                <a:spcPts val="0"/>
              </a:spcAft>
              <a:buNone/>
            </a:pPr>
            <a:r>
              <a:rPr lang="en"/>
              <a:t>The N-Type dopants Phosphorus in this case provide an extra electron </a:t>
            </a:r>
            <a:r>
              <a:rPr lang="en"/>
              <a:t>which does not participate in any of the covalent bond, and it therefore can move about easily.</a:t>
            </a:r>
            <a:endParaRPr/>
          </a:p>
          <a:p>
            <a:pPr indent="0" lvl="0" marL="0" rtl="0" algn="l">
              <a:spcBef>
                <a:spcPts val="0"/>
              </a:spcBef>
              <a:spcAft>
                <a:spcPts val="0"/>
              </a:spcAft>
              <a:buNone/>
            </a:pPr>
            <a:r>
              <a:rPr lang="en"/>
              <a:t>People tend to have trouble conceptualizing a “hole”.  </a:t>
            </a:r>
            <a:endParaRPr/>
          </a:p>
          <a:p>
            <a:pPr indent="0" lvl="0" marL="0" rtl="0" algn="l">
              <a:spcBef>
                <a:spcPts val="0"/>
              </a:spcBef>
              <a:spcAft>
                <a:spcPts val="0"/>
              </a:spcAft>
              <a:buNone/>
            </a:pPr>
            <a:r>
              <a:rPr lang="en"/>
              <a:t>It is easiest to think it as a positive charge, which is, linguistically at least, the same as the absence of a negative charge…  </a:t>
            </a:r>
            <a:endParaRPr/>
          </a:p>
          <a:p>
            <a:pPr indent="0" lvl="0" marL="0" rtl="0" algn="l">
              <a:spcBef>
                <a:spcPts val="0"/>
              </a:spcBef>
              <a:spcAft>
                <a:spcPts val="0"/>
              </a:spcAft>
              <a:buNone/>
            </a:pPr>
            <a:r>
              <a:rPr lang="en"/>
              <a:t>It isn’t strictly a positive charge, but it behaves exactly as if it was.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a204a1577e_0_9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2a204a1577e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can also be hard to conceptualize at first.  It helps to imagine two pieces of silicon widely separated.  </a:t>
            </a:r>
            <a:endParaRPr/>
          </a:p>
          <a:p>
            <a:pPr indent="0" lvl="0" marL="0" rtl="0" algn="l">
              <a:spcBef>
                <a:spcPts val="0"/>
              </a:spcBef>
              <a:spcAft>
                <a:spcPts val="0"/>
              </a:spcAft>
              <a:buNone/>
            </a:pPr>
            <a:r>
              <a:rPr lang="en"/>
              <a:t>One is P type and one is N type.  </a:t>
            </a:r>
            <a:endParaRPr/>
          </a:p>
          <a:p>
            <a:pPr indent="0" lvl="0" marL="0" rtl="0" algn="l">
              <a:spcBef>
                <a:spcPts val="0"/>
              </a:spcBef>
              <a:spcAft>
                <a:spcPts val="0"/>
              </a:spcAft>
              <a:buNone/>
            </a:pPr>
            <a:r>
              <a:rPr lang="en"/>
              <a:t>Each is charge neutral and each has lots of carriers that are very loosely bound to their host atom.</a:t>
            </a:r>
            <a:endParaRPr/>
          </a:p>
          <a:p>
            <a:pPr indent="0" lvl="0" marL="0" rtl="0" algn="l">
              <a:spcBef>
                <a:spcPts val="0"/>
              </a:spcBef>
              <a:spcAft>
                <a:spcPts val="0"/>
              </a:spcAft>
              <a:buNone/>
            </a:pPr>
            <a:r>
              <a:rPr lang="en"/>
              <a:t>When the two pieces are brought together, the higher density electrons (for example) in the N-Type notice a lower density in the P-Type and diffuse across in an attempt to reach equilibrium</a:t>
            </a:r>
            <a:endParaRPr/>
          </a:p>
          <a:p>
            <a:pPr indent="0" lvl="0" marL="0" rtl="0" algn="l">
              <a:spcBef>
                <a:spcPts val="0"/>
              </a:spcBef>
              <a:spcAft>
                <a:spcPts val="0"/>
              </a:spcAft>
              <a:buNone/>
            </a:pPr>
            <a:r>
              <a:rPr lang="en"/>
              <a:t>The same applies to the holes.</a:t>
            </a:r>
            <a:endParaRPr/>
          </a:p>
          <a:p>
            <a:pPr indent="0" lvl="0" marL="0" rtl="0" algn="l">
              <a:spcBef>
                <a:spcPts val="0"/>
              </a:spcBef>
              <a:spcAft>
                <a:spcPts val="0"/>
              </a:spcAft>
              <a:buNone/>
            </a:pPr>
            <a:r>
              <a:rPr lang="en"/>
              <a:t>Each electron that wanders into P territory </a:t>
            </a:r>
            <a:r>
              <a:rPr lang="en"/>
              <a:t>disappears</a:t>
            </a:r>
            <a:r>
              <a:rPr lang="en"/>
              <a:t> (is annihilated) when it encounters a mobile hole.  (same in the other direction).</a:t>
            </a:r>
            <a:endParaRPr/>
          </a:p>
          <a:p>
            <a:pPr indent="0" lvl="0" marL="0" rtl="0" algn="l">
              <a:spcBef>
                <a:spcPts val="0"/>
              </a:spcBef>
              <a:spcAft>
                <a:spcPts val="0"/>
              </a:spcAft>
              <a:buNone/>
            </a:pPr>
            <a:r>
              <a:rPr lang="en"/>
              <a:t>Also - each electron that leaves N-Type leaves behind an exposed (fixed) positive charge.  (same in the other direction)</a:t>
            </a:r>
            <a:endParaRPr/>
          </a:p>
          <a:p>
            <a:pPr indent="0" lvl="0" marL="0" rtl="0" algn="l">
              <a:spcBef>
                <a:spcPts val="0"/>
              </a:spcBef>
              <a:spcAft>
                <a:spcPts val="0"/>
              </a:spcAft>
              <a:buNone/>
            </a:pPr>
            <a:r>
              <a:rPr lang="en"/>
              <a:t>The process continues building a stronger and stronger electric field at the junction until the field is strong enough to overcome diffusion and we are at equilibrium.</a:t>
            </a:r>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2a2192b5027_0_13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2a2192b5027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If the positive terminal of the battery is connected to the P-region and the negative terminal to the N-region, the PN Junction will be said to be operating in a Forward-Biased State.</a:t>
            </a:r>
            <a:endParaRPr/>
          </a:p>
          <a:p>
            <a:pPr indent="0" lvl="0" marL="0" rtl="0" algn="l">
              <a:spcBef>
                <a:spcPts val="0"/>
              </a:spcBef>
              <a:spcAft>
                <a:spcPts val="0"/>
              </a:spcAft>
              <a:buClr>
                <a:schemeClr val="dk1"/>
              </a:buClr>
              <a:buSzPts val="1100"/>
              <a:buFont typeface="Arial"/>
              <a:buNone/>
            </a:pPr>
            <a:r>
              <a:rPr lang="en"/>
              <a:t>The external voltage should be greater than the built-in potential i.e. 0.7V for Si, so that it could melt the depletion region.</a:t>
            </a:r>
            <a:endParaRPr/>
          </a:p>
          <a:p>
            <a:pPr indent="0" lvl="0" marL="0" rtl="0" algn="l">
              <a:spcBef>
                <a:spcPts val="0"/>
              </a:spcBef>
              <a:spcAft>
                <a:spcPts val="0"/>
              </a:spcAft>
              <a:buClr>
                <a:schemeClr val="dk1"/>
              </a:buClr>
              <a:buSzPts val="1100"/>
              <a:buFont typeface="Arial"/>
              <a:buNone/>
            </a:pPr>
            <a:r>
              <a:rPr lang="en"/>
              <a:t>In the Forward-Biased State, the Holes start to move towards the N-region and the electrons start flowing towards the P-region.</a:t>
            </a:r>
            <a:endParaRPr/>
          </a:p>
          <a:p>
            <a:pPr indent="0" lvl="0" marL="0" rtl="0" algn="l">
              <a:spcBef>
                <a:spcPts val="0"/>
              </a:spcBef>
              <a:spcAft>
                <a:spcPts val="0"/>
              </a:spcAft>
              <a:buClr>
                <a:schemeClr val="dk1"/>
              </a:buClr>
              <a:buSzPts val="1100"/>
              <a:buFont typeface="Arial"/>
              <a:buNone/>
            </a:pPr>
            <a:r>
              <a:rPr lang="en"/>
              <a:t>As a result, the width of the depletion region starts reducing and finally depletes out.</a:t>
            </a:r>
            <a:endParaRPr/>
          </a:p>
          <a:p>
            <a:pPr indent="0" lvl="0" marL="0" rtl="0" algn="l">
              <a:spcBef>
                <a:spcPts val="0"/>
              </a:spcBef>
              <a:spcAft>
                <a:spcPts val="0"/>
              </a:spcAft>
              <a:buClr>
                <a:schemeClr val="dk1"/>
              </a:buClr>
              <a:buSzPts val="1100"/>
              <a:buFont typeface="Arial"/>
              <a:buNone/>
            </a:pPr>
            <a:r>
              <a:rPr lang="en"/>
              <a:t>The current starts flowing through the semiconductor, as soon as the depletion region gets removed. We can say the semiconductor is acting as a conductor.</a:t>
            </a:r>
            <a:endParaRPr/>
          </a:p>
          <a:p>
            <a:pPr indent="0" lvl="0" marL="0" rtl="0" algn="l">
              <a:spcBef>
                <a:spcPts val="0"/>
              </a:spcBef>
              <a:spcAft>
                <a:spcPts val="0"/>
              </a:spcAft>
              <a:buNone/>
            </a:pPr>
            <a:r>
              <a:rPr lang="en"/>
              <a:t>In this state, the semiconductor has maximum conductivity and quite low resistance.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the P-region is connected with the negative terminal of the external source and the N-region with the positive terminal, the PN-Junction will operate in the reverse-biased state.</a:t>
            </a:r>
            <a:endParaRPr/>
          </a:p>
          <a:p>
            <a:pPr indent="0" lvl="0" marL="0" rtl="0" algn="l">
              <a:spcBef>
                <a:spcPts val="0"/>
              </a:spcBef>
              <a:spcAft>
                <a:spcPts val="0"/>
              </a:spcAft>
              <a:buNone/>
            </a:pPr>
            <a:r>
              <a:rPr lang="en"/>
              <a:t>As the P-region is connected to the negative voltage, the holes in the P-region will get attracted towards the external voltage, so start flowing away from the depletion region. The same will be the case with the electrons.</a:t>
            </a:r>
            <a:endParaRPr/>
          </a:p>
          <a:p>
            <a:pPr indent="0" lvl="0" marL="0" rtl="0" algn="l">
              <a:spcBef>
                <a:spcPts val="0"/>
              </a:spcBef>
              <a:spcAft>
                <a:spcPts val="0"/>
              </a:spcAft>
              <a:buNone/>
            </a:pPr>
            <a:r>
              <a:rPr lang="en"/>
              <a:t>So, no current will flow through the PN Junction in a reverse-biased state.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Tad’s Version below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that we understand the depletion region, let’s apply an external field (using a voltage source).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the top diagram, we are applying a </a:t>
            </a:r>
            <a:r>
              <a:rPr lang="en"/>
              <a:t>field from right to left (opposite of the intrinsic field) </a:t>
            </a:r>
            <a:endParaRPr/>
          </a:p>
          <a:p>
            <a:pPr indent="0" lvl="0" marL="0" rtl="0" algn="l">
              <a:spcBef>
                <a:spcPts val="0"/>
              </a:spcBef>
              <a:spcAft>
                <a:spcPts val="0"/>
              </a:spcAft>
              <a:buNone/>
            </a:pPr>
            <a:r>
              <a:rPr lang="en"/>
              <a:t>The fields are additive, so the net field at the junction shrinks as we increase the voltage.</a:t>
            </a:r>
            <a:endParaRPr/>
          </a:p>
          <a:p>
            <a:pPr indent="0" lvl="0" marL="0" rtl="0" algn="l">
              <a:spcBef>
                <a:spcPts val="0"/>
              </a:spcBef>
              <a:spcAft>
                <a:spcPts val="0"/>
              </a:spcAft>
              <a:buNone/>
            </a:pPr>
            <a:r>
              <a:rPr lang="en"/>
              <a:t>When we reach the built-in potential, the net field goes to zero and carriers are free to move </a:t>
            </a:r>
            <a:endParaRPr/>
          </a:p>
          <a:p>
            <a:pPr indent="0" lvl="0" marL="0" rtl="0" algn="l">
              <a:spcBef>
                <a:spcPts val="0"/>
              </a:spcBef>
              <a:spcAft>
                <a:spcPts val="0"/>
              </a:spcAft>
              <a:buNone/>
            </a:pPr>
            <a:r>
              <a:rPr lang="en"/>
              <a:t>Around as they please.  A tiny bit more potential will create a net field across the whole structure and current will flow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bottom diagram shows what happens when the applied field is in the same direction as the built-in field.</a:t>
            </a:r>
            <a:endParaRPr/>
          </a:p>
          <a:p>
            <a:pPr indent="0" lvl="0" marL="0" rtl="0" algn="l">
              <a:spcBef>
                <a:spcPts val="0"/>
              </a:spcBef>
              <a:spcAft>
                <a:spcPts val="0"/>
              </a:spcAft>
              <a:buNone/>
            </a:pPr>
            <a:r>
              <a:rPr lang="en"/>
              <a:t>The effect is to widen the depletion region, making it harder for current to flow (so none does).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a2192b502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2a2192b50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Current is exponential (until breakdown when other effects take 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0.025V is kT/q (Boltzmann * T in Kelvin)/(charge of electron)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I0 is very small, but exponents get big quickly.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reverse, there is always some current flowing (V negative allows very small “leakage” current)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2a2192b5027_0_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2a2192b502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a77792835a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2a7779283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00000"/>
              </a:lnSpc>
              <a:spcBef>
                <a:spcPts val="1400"/>
              </a:spcBef>
              <a:spcAft>
                <a:spcPts val="0"/>
              </a:spcAft>
              <a:buClr>
                <a:schemeClr val="dk1"/>
              </a:buClr>
              <a:buSzPts val="1100"/>
              <a:buFont typeface="Arial"/>
              <a:buNone/>
            </a:pPr>
            <a:r>
              <a:rPr lang="en" sz="1300">
                <a:solidFill>
                  <a:schemeClr val="dk1"/>
                </a:solidFill>
              </a:rPr>
              <a:t>During normal operation, a potential is applied across the base/emitter junction so that the base is approximately 0.6v more positive than the emitter, this makes the base/emitter junction forward biased.</a:t>
            </a:r>
            <a:endParaRPr sz="1300">
              <a:solidFill>
                <a:schemeClr val="dk1"/>
              </a:solidFill>
            </a:endParaRPr>
          </a:p>
          <a:p>
            <a:pPr indent="0" lvl="0" marL="0" rtl="0" algn="just">
              <a:lnSpc>
                <a:spcPct val="100000"/>
              </a:lnSpc>
              <a:spcBef>
                <a:spcPts val="1400"/>
              </a:spcBef>
              <a:spcAft>
                <a:spcPts val="0"/>
              </a:spcAft>
              <a:buClr>
                <a:schemeClr val="dk1"/>
              </a:buClr>
              <a:buSzPts val="1100"/>
              <a:buFont typeface="Arial"/>
              <a:buNone/>
            </a:pPr>
            <a:r>
              <a:rPr lang="en" sz="1300">
                <a:solidFill>
                  <a:schemeClr val="dk1"/>
                </a:solidFill>
              </a:rPr>
              <a:t>A much higher potential is applied across the base/collector junction with a relatively high positive voltage applied to the collector, so that the base/collector junction is heavily reverse biased. This makes the depletion layer between base and collector quite wide once power is applied.</a:t>
            </a:r>
            <a:endParaRPr sz="1300">
              <a:solidFill>
                <a:schemeClr val="dk1"/>
              </a:solidFill>
            </a:endParaRPr>
          </a:p>
          <a:p>
            <a:pPr indent="0" lvl="0" marL="0" rtl="0" algn="just">
              <a:lnSpc>
                <a:spcPct val="100000"/>
              </a:lnSpc>
              <a:spcBef>
                <a:spcPts val="1400"/>
              </a:spcBef>
              <a:spcAft>
                <a:spcPts val="0"/>
              </a:spcAft>
              <a:buClr>
                <a:schemeClr val="dk1"/>
              </a:buClr>
              <a:buSzPts val="1100"/>
              <a:buFont typeface="Arial"/>
              <a:buNone/>
            </a:pPr>
            <a:r>
              <a:rPr lang="en" sz="1300">
                <a:solidFill>
                  <a:schemeClr val="dk1"/>
                </a:solidFill>
              </a:rPr>
              <a:t>As mentioned above, the collector is made up of mainly heavily doped, low resistivity material with a thin layer of lightly doped, high resistivity material next to the base/collector junction. This means that most of the voltage between collector and base is developed across this thin high resistivity layer, creating a high voltage gradient near the collector base junction.</a:t>
            </a:r>
            <a:endParaRPr sz="1300">
              <a:solidFill>
                <a:schemeClr val="dk1"/>
              </a:solidFill>
            </a:endParaRPr>
          </a:p>
          <a:p>
            <a:pPr indent="0" lvl="0" marL="0" rtl="0" algn="just">
              <a:lnSpc>
                <a:spcPct val="100000"/>
              </a:lnSpc>
              <a:spcBef>
                <a:spcPts val="1400"/>
              </a:spcBef>
              <a:spcAft>
                <a:spcPts val="0"/>
              </a:spcAft>
              <a:buClr>
                <a:schemeClr val="dk1"/>
              </a:buClr>
              <a:buSzPts val="1100"/>
              <a:buFont typeface="Arial"/>
              <a:buNone/>
            </a:pPr>
            <a:r>
              <a:rPr lang="en" sz="1300">
                <a:solidFill>
                  <a:schemeClr val="dk1"/>
                </a:solidFill>
              </a:rPr>
              <a:t>When the base emitter junction is forward biased, a small current will flow into the base (with engineering convention… </a:t>
            </a:r>
            <a:r>
              <a:rPr lang="en" sz="1300">
                <a:solidFill>
                  <a:schemeClr val="dk1"/>
                </a:solidFill>
              </a:rPr>
              <a:t>electrons</a:t>
            </a:r>
            <a:r>
              <a:rPr lang="en" sz="1300">
                <a:solidFill>
                  <a:schemeClr val="dk1"/>
                </a:solidFill>
              </a:rPr>
              <a:t> really flow out of the base into the power source…). Therefore holes are injected into the P type material (well, electrons are removed by the power source). These holes attract electrons across the forward biased base/emitter junction to combine with the holes. However, because the emitter region is very heavily doped, many more electrons cross into the P type base region than are able to combine with the available holes. This means there is a large concentration of electrons in the base region and most of these electrons are swept straight through the very thin base, and into the base/collector depletion layer. Once here, they come under the influence of the strong electric field across the base/collector junction. This field is so strong due to the large potential gradient in the collector material mentioned earlier, that the electrons are swept across the depletion layer and into the collector material, and so towards the collector terminal.</a:t>
            </a:r>
            <a:endParaRPr sz="1300">
              <a:solidFill>
                <a:schemeClr val="dk1"/>
              </a:solidFill>
            </a:endParaRPr>
          </a:p>
          <a:p>
            <a:pPr indent="0" lvl="0" marL="0" rtl="0" algn="just">
              <a:lnSpc>
                <a:spcPct val="100000"/>
              </a:lnSpc>
              <a:spcBef>
                <a:spcPts val="1400"/>
              </a:spcBef>
              <a:spcAft>
                <a:spcPts val="0"/>
              </a:spcAft>
              <a:buClr>
                <a:schemeClr val="dk1"/>
              </a:buClr>
              <a:buSzPts val="1100"/>
              <a:buFont typeface="Arial"/>
              <a:buNone/>
            </a:pPr>
            <a:r>
              <a:rPr lang="en" sz="1300">
                <a:solidFill>
                  <a:schemeClr val="dk1"/>
                </a:solidFill>
              </a:rPr>
              <a:t>Varying the current flowing into the base, affects the number of electrons attracted from the emitter. In this way very small changes in base current cause very large changes in the current flowing from emitter to collector, so current amplification is taking place.</a:t>
            </a:r>
            <a:endParaRPr sz="1300">
              <a:solidFill>
                <a:schemeClr val="dk1"/>
              </a:solidFill>
            </a:endParaRPr>
          </a:p>
          <a:p>
            <a:pPr indent="0" lvl="0" marL="0" rtl="0" algn="l">
              <a:lnSpc>
                <a:spcPct val="100000"/>
              </a:lnSpc>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28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52" name="Google Shape;52;p13"/>
          <p:cNvSpPr txBox="1"/>
          <p:nvPr>
            <p:ph idx="1" type="body"/>
          </p:nvPr>
        </p:nvSpPr>
        <p:spPr>
          <a:xfrm>
            <a:off x="533400" y="990600"/>
            <a:ext cx="8153400" cy="5105400"/>
          </a:xfrm>
          <a:prstGeom prst="rect">
            <a:avLst/>
          </a:prstGeom>
          <a:noFill/>
          <a:ln>
            <a:noFill/>
          </a:ln>
        </p:spPr>
        <p:txBody>
          <a:bodyPr anchorCtr="0" anchor="t" bIns="45700" lIns="91425" spcFirstLastPara="1" rIns="91425" wrap="square" tIns="45700">
            <a:noAutofit/>
          </a:bodyPr>
          <a:lstStyle>
            <a:lvl1pPr indent="-228600" lvl="0" marL="457200" rtl="0" algn="l">
              <a:spcBef>
                <a:spcPts val="360"/>
              </a:spcBef>
              <a:spcAft>
                <a:spcPts val="0"/>
              </a:spcAft>
              <a:buSzPts val="1800"/>
              <a:buNone/>
              <a:defRPr/>
            </a:lvl1pPr>
            <a:lvl2pPr indent="-228600" lvl="1" marL="914400" rtl="0" algn="l">
              <a:spcBef>
                <a:spcPts val="360"/>
              </a:spcBef>
              <a:spcAft>
                <a:spcPts val="0"/>
              </a:spcAft>
              <a:buSzPts val="1400"/>
              <a:buNone/>
              <a:defRPr/>
            </a:lvl2pPr>
            <a:lvl3pPr indent="-228600" lvl="2" marL="1371600" rtl="0" algn="l">
              <a:spcBef>
                <a:spcPts val="360"/>
              </a:spcBef>
              <a:spcAft>
                <a:spcPts val="0"/>
              </a:spcAft>
              <a:buSzPts val="1400"/>
              <a:buNone/>
              <a:defRPr/>
            </a:lvl3pPr>
            <a:lvl4pPr indent="-228600" lvl="3" marL="1828800" rtl="0" algn="l">
              <a:spcBef>
                <a:spcPts val="360"/>
              </a:spcBef>
              <a:spcAft>
                <a:spcPts val="0"/>
              </a:spcAft>
              <a:buSzPts val="1400"/>
              <a:buNone/>
              <a:defRPr/>
            </a:lvl4pPr>
            <a:lvl5pPr indent="-228600" lvl="4" marL="2286000" rtl="0" algn="l">
              <a:spcBef>
                <a:spcPts val="360"/>
              </a:spcBef>
              <a:spcAft>
                <a:spcPts val="0"/>
              </a:spcAft>
              <a:buSzPts val="1400"/>
              <a:buNone/>
              <a:defRPr/>
            </a:lvl5pPr>
            <a:lvl6pPr indent="-228600" lvl="5" marL="2743200" rtl="0" algn="l">
              <a:spcBef>
                <a:spcPts val="360"/>
              </a:spcBef>
              <a:spcAft>
                <a:spcPts val="0"/>
              </a:spcAft>
              <a:buSzPts val="1400"/>
              <a:buNone/>
              <a:defRPr/>
            </a:lvl6pPr>
            <a:lvl7pPr indent="-228600" lvl="6" marL="3200400" rtl="0" algn="l">
              <a:spcBef>
                <a:spcPts val="360"/>
              </a:spcBef>
              <a:spcAft>
                <a:spcPts val="0"/>
              </a:spcAft>
              <a:buSzPts val="1400"/>
              <a:buNone/>
              <a:defRPr/>
            </a:lvl7pPr>
            <a:lvl8pPr indent="-228600" lvl="7" marL="3657600" rtl="0" algn="l">
              <a:spcBef>
                <a:spcPts val="360"/>
              </a:spcBef>
              <a:spcAft>
                <a:spcPts val="0"/>
              </a:spcAft>
              <a:buSzPts val="1400"/>
              <a:buNone/>
              <a:defRPr/>
            </a:lvl8pPr>
            <a:lvl9pPr indent="-228600" lvl="8" marL="4114800" rtl="0" algn="l">
              <a:spcBef>
                <a:spcPts val="360"/>
              </a:spcBef>
              <a:spcAft>
                <a:spcPts val="0"/>
              </a:spcAft>
              <a:buSzPts val="1400"/>
              <a:buNone/>
              <a:defRPr/>
            </a:lvl9pPr>
          </a:lstStyle>
          <a:p/>
        </p:txBody>
      </p:sp>
      <p:sp>
        <p:nvSpPr>
          <p:cNvPr id="53" name="Google Shape;53;p13"/>
          <p:cNvSpPr txBox="1"/>
          <p:nvPr>
            <p:ph idx="10" type="dt"/>
          </p:nvPr>
        </p:nvSpPr>
        <p:spPr>
          <a:xfrm>
            <a:off x="533400" y="6248400"/>
            <a:ext cx="1905000" cy="3048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600"/>
              </a:spcBef>
              <a:spcAft>
                <a:spcPts val="0"/>
              </a:spcAft>
              <a:buSzPts val="1400"/>
              <a:buNone/>
              <a:defRPr i="1" sz="1200">
                <a:solidFill>
                  <a:schemeClr val="lt2"/>
                </a:solidFill>
                <a:latin typeface="Helvetica Neue"/>
                <a:ea typeface="Helvetica Neue"/>
                <a:cs typeface="Helvetica Neue"/>
                <a:sym typeface="Helvetica Neu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4" name="Google Shape;54;p13"/>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i="0" sz="100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12.png"/><Relationship Id="rId6" Type="http://schemas.openxmlformats.org/officeDocument/2006/relationships/image" Target="../media/image6.png"/><Relationship Id="rId7"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22.png"/><Relationship Id="rId5" Type="http://schemas.openxmlformats.org/officeDocument/2006/relationships/image" Target="../media/image17.png"/><Relationship Id="rId6"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3.png"/><Relationship Id="rId4" Type="http://schemas.openxmlformats.org/officeDocument/2006/relationships/image" Target="../media/image21.png"/><Relationship Id="rId5"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29.png"/><Relationship Id="rId5" Type="http://schemas.openxmlformats.org/officeDocument/2006/relationships/image" Target="../media/image19.png"/><Relationship Id="rId6" Type="http://schemas.openxmlformats.org/officeDocument/2006/relationships/image" Target="../media/image26.png"/><Relationship Id="rId7"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3.png"/><Relationship Id="rId4" Type="http://schemas.openxmlformats.org/officeDocument/2006/relationships/image" Target="../media/image28.png"/><Relationship Id="rId5"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1.png"/><Relationship Id="rId4" Type="http://schemas.openxmlformats.org/officeDocument/2006/relationships/image" Target="../media/image35.png"/><Relationship Id="rId5"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7.png"/><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9.png"/><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5.png"/><Relationship Id="rId4" Type="http://schemas.openxmlformats.org/officeDocument/2006/relationships/image" Target="../media/image5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4.png"/><Relationship Id="rId4" Type="http://schemas.openxmlformats.org/officeDocument/2006/relationships/image" Target="../media/image51.png"/><Relationship Id="rId5" Type="http://schemas.openxmlformats.org/officeDocument/2006/relationships/image" Target="../media/image47.png"/><Relationship Id="rId6" Type="http://schemas.openxmlformats.org/officeDocument/2006/relationships/image" Target="../media/image4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3.png"/><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49.png"/><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Comic Sans MS"/>
                <a:ea typeface="Comic Sans MS"/>
                <a:cs typeface="Comic Sans MS"/>
                <a:sym typeface="Comic Sans MS"/>
              </a:rPr>
              <a:t>Engs </a:t>
            </a:r>
            <a:r>
              <a:rPr lang="en" sz="3000">
                <a:latin typeface="Comic Sans MS"/>
                <a:ea typeface="Comic Sans MS"/>
                <a:cs typeface="Comic Sans MS"/>
                <a:sym typeface="Comic Sans MS"/>
              </a:rPr>
              <a:t>28</a:t>
            </a:r>
            <a:endParaRPr sz="30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5200">
                <a:solidFill>
                  <a:srgbClr val="000000"/>
                </a:solidFill>
                <a:latin typeface="Comic Sans MS"/>
                <a:ea typeface="Comic Sans MS"/>
                <a:cs typeface="Comic Sans MS"/>
                <a:sym typeface="Comic Sans MS"/>
              </a:rPr>
              <a:t>Embedded Systems</a:t>
            </a:r>
            <a:endParaRPr sz="5200">
              <a:solidFill>
                <a:srgbClr val="000000"/>
              </a:solidFill>
              <a:latin typeface="Comic Sans MS"/>
              <a:ea typeface="Comic Sans MS"/>
              <a:cs typeface="Comic Sans MS"/>
              <a:sym typeface="Comic Sans MS"/>
            </a:endParaRPr>
          </a:p>
        </p:txBody>
      </p:sp>
      <p:sp>
        <p:nvSpPr>
          <p:cNvPr id="60" name="Google Shape;60;p14"/>
          <p:cNvSpPr txBox="1"/>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rgbClr val="595959"/>
                </a:solidFill>
                <a:latin typeface="Comic Sans MS"/>
                <a:ea typeface="Comic Sans MS"/>
                <a:cs typeface="Comic Sans MS"/>
                <a:sym typeface="Comic Sans MS"/>
              </a:rPr>
              <a:t>Day 6</a:t>
            </a:r>
            <a:endParaRPr sz="2800">
              <a:solidFill>
                <a:srgbClr val="595959"/>
              </a:solidFill>
              <a:latin typeface="Comic Sans MS"/>
              <a:ea typeface="Comic Sans MS"/>
              <a:cs typeface="Comic Sans MS"/>
              <a:sym typeface="Comic Sans MS"/>
            </a:endParaRPr>
          </a:p>
        </p:txBody>
      </p:sp>
      <p:pic>
        <p:nvPicPr>
          <p:cNvPr id="61" name="Google Shape;61;p14"/>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62" name="Google Shape;62;p14"/>
          <p:cNvPicPr preferRelativeResize="0"/>
          <p:nvPr/>
        </p:nvPicPr>
        <p:blipFill rotWithShape="1">
          <a:blip r:embed="rId4">
            <a:alphaModFix/>
          </a:blip>
          <a:srcRect b="0" l="0" r="0" t="0"/>
          <a:stretch/>
        </p:blipFill>
        <p:spPr>
          <a:xfrm>
            <a:off x="7600125" y="0"/>
            <a:ext cx="1543875" cy="2126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few updates from HiTA</a:t>
            </a:r>
            <a:endParaRPr/>
          </a:p>
        </p:txBody>
      </p:sp>
      <p:sp>
        <p:nvSpPr>
          <p:cNvPr id="68" name="Google Shape;68;p15"/>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They experienced issues with one of their providers </a:t>
            </a:r>
            <a:r>
              <a:rPr lang="en"/>
              <a:t>yesterday</a:t>
            </a:r>
            <a:r>
              <a:rPr lang="en"/>
              <a:t> and the day before - should be all set now.</a:t>
            </a:r>
            <a:endParaRPr/>
          </a:p>
          <a:p>
            <a:pPr indent="-342900" lvl="0" marL="457200" rtl="0" algn="l">
              <a:spcBef>
                <a:spcPts val="0"/>
              </a:spcBef>
              <a:spcAft>
                <a:spcPts val="0"/>
              </a:spcAft>
              <a:buSzPts val="1800"/>
              <a:buChar char="●"/>
            </a:pPr>
            <a:r>
              <a:rPr i="1" lang="en"/>
              <a:t>"</a:t>
            </a:r>
            <a:r>
              <a:rPr i="1" lang="en"/>
              <a:t>T</a:t>
            </a:r>
            <a:r>
              <a:rPr i="1" lang="en"/>
              <a:t>here are cases where the structure of the table will not be completely understood by the assistant or, if the table is an image, the numbers can be "seen" inaccurately. Unfortunately there's not too much small tweaking that we can do that we haven't already explored in the past."</a:t>
            </a:r>
            <a:endParaRPr i="1"/>
          </a:p>
          <a:p>
            <a:pPr indent="-342900" lvl="0" marL="457200" rtl="0" algn="l">
              <a:spcBef>
                <a:spcPts val="0"/>
              </a:spcBef>
              <a:spcAft>
                <a:spcPts val="0"/>
              </a:spcAft>
              <a:buSzPts val="1800"/>
              <a:buChar char="●"/>
            </a:pPr>
            <a:r>
              <a:rPr lang="en"/>
              <a:t>If HiTA has provided you with code that include something like </a:t>
            </a:r>
            <a:br>
              <a:rPr lang="en"/>
            </a:br>
            <a:r>
              <a:rPr b="1" lang="en">
                <a:latin typeface="Courier New"/>
                <a:ea typeface="Courier New"/>
                <a:cs typeface="Courier New"/>
                <a:sym typeface="Courier New"/>
              </a:rPr>
              <a:t>#include &lt;avr/io.h&gt;</a:t>
            </a:r>
            <a:br>
              <a:rPr b="1" lang="en">
                <a:latin typeface="Courier New"/>
                <a:ea typeface="Courier New"/>
                <a:cs typeface="Courier New"/>
                <a:sym typeface="Courier New"/>
              </a:rPr>
            </a:br>
            <a:r>
              <a:rPr b="1" lang="en">
                <a:latin typeface="Courier New"/>
                <a:ea typeface="Courier New"/>
                <a:cs typeface="Courier New"/>
                <a:sym typeface="Courier New"/>
              </a:rPr>
              <a:t>#include &lt;delay.h&gt;</a:t>
            </a:r>
            <a:br>
              <a:rPr lang="en"/>
            </a:br>
            <a:r>
              <a:rPr lang="en"/>
              <a:t>please show me the conversation so that I can determine where it appears to be finding this code.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Code review / demo</a:t>
            </a:r>
            <a:r>
              <a:rPr lang="en"/>
              <a:t>: Keyboard-Controlled Counter</a:t>
            </a:r>
            <a:endParaRPr/>
          </a:p>
        </p:txBody>
      </p:sp>
      <p:sp>
        <p:nvSpPr>
          <p:cNvPr id="74" name="Google Shape;74;p16"/>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Create a counter that starts at 0 and counts up by one every time 'u' or 'U' is pressed on the keyboard and down by one every time 'd' or 'D' is pressed. Other key presses should be ignored.</a:t>
            </a:r>
            <a:endParaRPr sz="1600"/>
          </a:p>
          <a:p>
            <a:pPr indent="0" lvl="0" marL="0" rtl="0" algn="l">
              <a:spcBef>
                <a:spcPts val="1600"/>
              </a:spcBef>
              <a:spcAft>
                <a:spcPts val="0"/>
              </a:spcAft>
              <a:buNone/>
            </a:pPr>
            <a:r>
              <a:rPr lang="en" sz="1600"/>
              <a:t>Counter should include negative values if you decrement below 0.  Use the int8_t datatype for your counter: this is an integer that is only 8 bit wide.</a:t>
            </a:r>
            <a:endParaRPr sz="1600"/>
          </a:p>
          <a:p>
            <a:pPr indent="0" lvl="0" marL="0" rtl="0" algn="l">
              <a:spcBef>
                <a:spcPts val="1600"/>
              </a:spcBef>
              <a:spcAft>
                <a:spcPts val="0"/>
              </a:spcAft>
              <a:buNone/>
            </a:pPr>
            <a:r>
              <a:rPr lang="en" sz="1600"/>
              <a:t>Begin with the template on the next slide.</a:t>
            </a:r>
            <a:endParaRPr sz="1600"/>
          </a:p>
          <a:p>
            <a:pPr indent="0" lvl="0" marL="0" rtl="0" algn="l">
              <a:spcBef>
                <a:spcPts val="1600"/>
              </a:spcBef>
              <a:spcAft>
                <a:spcPts val="0"/>
              </a:spcAft>
              <a:buNone/>
            </a:pPr>
            <a:r>
              <a:rPr lang="en" sz="1600"/>
              <a:t>Testing:</a:t>
            </a:r>
            <a:endParaRPr sz="1600"/>
          </a:p>
          <a:p>
            <a:pPr indent="-330200" lvl="0" marL="457200" rtl="0" algn="l">
              <a:spcBef>
                <a:spcPts val="0"/>
              </a:spcBef>
              <a:spcAft>
                <a:spcPts val="0"/>
              </a:spcAft>
              <a:buSzPts val="1600"/>
              <a:buChar char="●"/>
            </a:pPr>
            <a:r>
              <a:rPr lang="en" sz="1600"/>
              <a:t>Simple increment and decrement</a:t>
            </a:r>
            <a:endParaRPr sz="1600"/>
          </a:p>
          <a:p>
            <a:pPr indent="-330200" lvl="0" marL="457200" rtl="0" algn="l">
              <a:spcBef>
                <a:spcPts val="0"/>
              </a:spcBef>
              <a:spcAft>
                <a:spcPts val="0"/>
              </a:spcAft>
              <a:buSzPts val="1600"/>
              <a:buChar char="●"/>
            </a:pPr>
            <a:r>
              <a:rPr lang="en" sz="1600"/>
              <a:t>Decrement below 0 to confirm negative numbers</a:t>
            </a:r>
            <a:endParaRPr sz="1600"/>
          </a:p>
          <a:p>
            <a:pPr indent="-330200" lvl="0" marL="457200" rtl="0" algn="l">
              <a:spcBef>
                <a:spcPts val="0"/>
              </a:spcBef>
              <a:spcAft>
                <a:spcPts val="0"/>
              </a:spcAft>
              <a:buSzPts val="1600"/>
              <a:buChar char="●"/>
            </a:pPr>
            <a:r>
              <a:rPr lang="en" sz="1600"/>
              <a:t>Increment all the way to the maximum value, and beyond.  What do you observe?</a:t>
            </a:r>
            <a:endParaRPr sz="1600"/>
          </a:p>
          <a:p>
            <a:pPr indent="0" lvl="0" marL="457200" rtl="0" algn="l">
              <a:spcBef>
                <a:spcPts val="1600"/>
              </a:spcBef>
              <a:spcAft>
                <a:spcPts val="0"/>
              </a:spcAft>
              <a:buNone/>
            </a:pPr>
            <a:r>
              <a:t/>
            </a:r>
            <a:endParaRPr sz="1600"/>
          </a:p>
          <a:p>
            <a:pPr indent="0" lvl="0" marL="0" rtl="0" algn="ctr">
              <a:spcBef>
                <a:spcPts val="1600"/>
              </a:spcBef>
              <a:spcAft>
                <a:spcPts val="0"/>
              </a:spcAft>
              <a:buClr>
                <a:schemeClr val="dk1"/>
              </a:buClr>
              <a:buSzPts val="1100"/>
              <a:buFont typeface="Arial"/>
              <a:buNone/>
            </a:pPr>
            <a:r>
              <a:rPr lang="en" sz="1900">
                <a:solidFill>
                  <a:srgbClr val="0000FF"/>
                </a:solidFill>
              </a:rPr>
              <a:t>With your group, demo your design, read and discuss each other’s code.</a:t>
            </a:r>
            <a:r>
              <a:rPr lang="en" sz="1700">
                <a:solidFill>
                  <a:schemeClr val="dk1"/>
                </a:solidFill>
                <a:latin typeface="Courier New"/>
                <a:ea typeface="Courier New"/>
                <a:cs typeface="Courier New"/>
                <a:sym typeface="Courier New"/>
              </a:rPr>
              <a:t>	</a:t>
            </a:r>
            <a:endParaRPr sz="1900"/>
          </a:p>
          <a:p>
            <a:pPr indent="0" lvl="0" marL="0" rtl="0" algn="l">
              <a:spcBef>
                <a:spcPts val="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nvSpPr>
        <p:spPr>
          <a:xfrm>
            <a:off x="311700" y="1005900"/>
            <a:ext cx="6252900" cy="518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7F0055"/>
                </a:solidFill>
                <a:highlight>
                  <a:srgbClr val="FFFFFF"/>
                </a:highlight>
                <a:latin typeface="Courier New"/>
                <a:ea typeface="Courier New"/>
                <a:cs typeface="Courier New"/>
                <a:sym typeface="Courier New"/>
              </a:rPr>
              <a:t>#include </a:t>
            </a:r>
            <a:r>
              <a:rPr b="1" lang="en" sz="1300">
                <a:solidFill>
                  <a:srgbClr val="2A00FF"/>
                </a:solidFill>
                <a:highlight>
                  <a:srgbClr val="FFFFFF"/>
                </a:highlight>
                <a:latin typeface="Courier New"/>
                <a:ea typeface="Courier New"/>
                <a:cs typeface="Courier New"/>
                <a:sym typeface="Courier New"/>
              </a:rPr>
              <a:t>&lt;</a:t>
            </a:r>
            <a:r>
              <a:rPr b="1" lang="en" sz="1300">
                <a:solidFill>
                  <a:srgbClr val="3F3FBF"/>
                </a:solidFill>
                <a:highlight>
                  <a:srgbClr val="FFFFFF"/>
                </a:highlight>
                <a:latin typeface="Courier New"/>
                <a:ea typeface="Courier New"/>
                <a:cs typeface="Courier New"/>
                <a:sym typeface="Courier New"/>
              </a:rPr>
              <a:t>stdio.h</a:t>
            </a:r>
            <a:r>
              <a:rPr b="1" lang="en" sz="1300">
                <a:solidFill>
                  <a:srgbClr val="2A00FF"/>
                </a:solidFill>
                <a:highlight>
                  <a:srgbClr val="FFFFFF"/>
                </a:highlight>
                <a:latin typeface="Courier New"/>
                <a:ea typeface="Courier New"/>
                <a:cs typeface="Courier New"/>
                <a:sym typeface="Courier New"/>
              </a:rPr>
              <a:t>&gt;</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rgbClr val="7F0055"/>
                </a:solidFill>
                <a:highlight>
                  <a:srgbClr val="FFFFFF"/>
                </a:highlight>
                <a:latin typeface="Courier New"/>
                <a:ea typeface="Courier New"/>
                <a:cs typeface="Courier New"/>
                <a:sym typeface="Courier New"/>
              </a:rPr>
              <a:t>#include </a:t>
            </a:r>
            <a:r>
              <a:rPr b="1" lang="en" sz="1300">
                <a:solidFill>
                  <a:srgbClr val="2A00FF"/>
                </a:solidFill>
                <a:highlight>
                  <a:srgbClr val="FFFFFF"/>
                </a:highlight>
                <a:latin typeface="Courier New"/>
                <a:ea typeface="Courier New"/>
                <a:cs typeface="Courier New"/>
                <a:sym typeface="Courier New"/>
              </a:rPr>
              <a:t>"</a:t>
            </a:r>
            <a:r>
              <a:rPr b="1" lang="en" sz="1300">
                <a:solidFill>
                  <a:srgbClr val="3F3FBF"/>
                </a:solidFill>
                <a:highlight>
                  <a:srgbClr val="FFFFFF"/>
                </a:highlight>
                <a:latin typeface="Courier New"/>
                <a:ea typeface="Courier New"/>
                <a:cs typeface="Courier New"/>
                <a:sym typeface="Courier New"/>
              </a:rPr>
              <a:t>ES28.h</a:t>
            </a:r>
            <a:r>
              <a:rPr b="1" lang="en" sz="1300">
                <a:solidFill>
                  <a:srgbClr val="2A00FF"/>
                </a:solidFill>
                <a:highlight>
                  <a:srgbClr val="FFFFFF"/>
                </a:highlight>
                <a:latin typeface="Courier New"/>
                <a:ea typeface="Courier New"/>
                <a:cs typeface="Courier New"/>
                <a:sym typeface="Courier New"/>
              </a:rPr>
              <a:t>"</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rgbClr val="7F0055"/>
                </a:solidFill>
                <a:highlight>
                  <a:srgbClr val="FFFFFF"/>
                </a:highlight>
                <a:latin typeface="Courier New"/>
                <a:ea typeface="Courier New"/>
                <a:cs typeface="Courier New"/>
                <a:sym typeface="Courier New"/>
              </a:rPr>
              <a:t>#include </a:t>
            </a:r>
            <a:r>
              <a:rPr b="1" lang="en" sz="1300">
                <a:solidFill>
                  <a:srgbClr val="2A00FF"/>
                </a:solidFill>
                <a:highlight>
                  <a:srgbClr val="FFFFFF"/>
                </a:highlight>
                <a:latin typeface="Courier New"/>
                <a:ea typeface="Courier New"/>
                <a:cs typeface="Courier New"/>
                <a:sym typeface="Courier New"/>
              </a:rPr>
              <a:t>"</a:t>
            </a:r>
            <a:r>
              <a:rPr b="1" lang="en" sz="1300">
                <a:solidFill>
                  <a:srgbClr val="3F3FBF"/>
                </a:solidFill>
                <a:highlight>
                  <a:srgbClr val="FFFFFF"/>
                </a:highlight>
                <a:latin typeface="Courier New"/>
                <a:ea typeface="Courier New"/>
                <a:cs typeface="Courier New"/>
                <a:sym typeface="Courier New"/>
              </a:rPr>
              <a:t>uart.h</a:t>
            </a:r>
            <a:r>
              <a:rPr b="1" lang="en" sz="1300">
                <a:solidFill>
                  <a:srgbClr val="2A00FF"/>
                </a:solidFill>
                <a:highlight>
                  <a:srgbClr val="FFFFFF"/>
                </a:highlight>
                <a:latin typeface="Courier New"/>
                <a:ea typeface="Courier New"/>
                <a:cs typeface="Courier New"/>
                <a:sym typeface="Courier New"/>
              </a:rPr>
              <a:t>"</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rgbClr val="7F0055"/>
                </a:solidFill>
                <a:highlight>
                  <a:srgbClr val="FFFFFF"/>
                </a:highlight>
                <a:latin typeface="Courier New"/>
                <a:ea typeface="Courier New"/>
                <a:cs typeface="Courier New"/>
                <a:sym typeface="Courier New"/>
              </a:rPr>
              <a:t>int</a:t>
            </a:r>
            <a:r>
              <a:rPr b="1" lang="en" sz="1300">
                <a:solidFill>
                  <a:schemeClr val="dk1"/>
                </a:solidFill>
                <a:highlight>
                  <a:srgbClr val="FFFFFF"/>
                </a:highlight>
                <a:latin typeface="Courier New"/>
                <a:ea typeface="Courier New"/>
                <a:cs typeface="Courier New"/>
                <a:sym typeface="Courier New"/>
              </a:rPr>
              <a:t> </a:t>
            </a:r>
            <a:r>
              <a:rPr b="1" lang="en" sz="1300">
                <a:solidFill>
                  <a:srgbClr val="7F0055"/>
                </a:solidFill>
                <a:highlight>
                  <a:srgbClr val="FFFFFF"/>
                </a:highlight>
                <a:latin typeface="Courier New"/>
                <a:ea typeface="Courier New"/>
                <a:cs typeface="Courier New"/>
                <a:sym typeface="Courier New"/>
              </a:rPr>
              <a:t>main</a:t>
            </a:r>
            <a:r>
              <a:rPr b="1" lang="en" sz="1300">
                <a:solidFill>
                  <a:schemeClr val="dk1"/>
                </a:solidFill>
                <a:highlight>
                  <a:srgbClr val="FFFFFF"/>
                </a:highlight>
                <a:latin typeface="Courier New"/>
                <a:ea typeface="Courier New"/>
                <a:cs typeface="Courier New"/>
                <a:sym typeface="Courier New"/>
              </a:rPr>
              <a:t>(</a:t>
            </a:r>
            <a:r>
              <a:rPr b="1" lang="en" sz="1300">
                <a:solidFill>
                  <a:srgbClr val="7F0055"/>
                </a:solidFill>
                <a:highlight>
                  <a:srgbClr val="FFFFFF"/>
                </a:highlight>
                <a:latin typeface="Courier New"/>
                <a:ea typeface="Courier New"/>
                <a:cs typeface="Courier New"/>
                <a:sym typeface="Courier New"/>
              </a:rPr>
              <a:t>void</a:t>
            </a:r>
            <a:r>
              <a:rPr b="1" lang="en" sz="1300">
                <a:solidFill>
                  <a:schemeClr val="dk1"/>
                </a:solidFill>
                <a:highlight>
                  <a:srgbClr val="FFFFFF"/>
                </a:highlight>
                <a:latin typeface="Courier New"/>
                <a:ea typeface="Courier New"/>
                <a:cs typeface="Courier New"/>
                <a:sym typeface="Courier New"/>
              </a:rPr>
              <a:t>) {</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7F0055"/>
                </a:solidFill>
                <a:highlight>
                  <a:srgbClr val="FFFFFF"/>
                </a:highlight>
                <a:latin typeface="Courier New"/>
                <a:ea typeface="Courier New"/>
                <a:cs typeface="Courier New"/>
                <a:sym typeface="Courier New"/>
              </a:rPr>
              <a:t>int</a:t>
            </a:r>
            <a:r>
              <a:rPr b="1" lang="en" sz="1300">
                <a:solidFill>
                  <a:schemeClr val="dk1"/>
                </a:solidFill>
                <a:highlight>
                  <a:srgbClr val="FFFFFF"/>
                </a:highlight>
                <a:latin typeface="Courier New"/>
                <a:ea typeface="Courier New"/>
                <a:cs typeface="Courier New"/>
                <a:sym typeface="Courier New"/>
              </a:rPr>
              <a:t> key;</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7F0055"/>
                </a:solidFill>
                <a:highlight>
                  <a:srgbClr val="FFFFFF"/>
                </a:highlight>
                <a:latin typeface="Courier New"/>
                <a:ea typeface="Courier New"/>
                <a:cs typeface="Courier New"/>
                <a:sym typeface="Courier New"/>
              </a:rPr>
              <a:t>int8_t</a:t>
            </a:r>
            <a:r>
              <a:rPr b="1" lang="en" sz="1300">
                <a:solidFill>
                  <a:schemeClr val="dk1"/>
                </a:solidFill>
                <a:highlight>
                  <a:srgbClr val="FFFFFF"/>
                </a:highlight>
                <a:latin typeface="Courier New"/>
                <a:ea typeface="Courier New"/>
                <a:cs typeface="Courier New"/>
                <a:sym typeface="Courier New"/>
              </a:rPr>
              <a:t> counter = 0;</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3F7F59"/>
                </a:solidFill>
                <a:highlight>
                  <a:srgbClr val="FFFFFF"/>
                </a:highlight>
                <a:latin typeface="Courier New"/>
                <a:ea typeface="Courier New"/>
                <a:cs typeface="Courier New"/>
                <a:sym typeface="Courier New"/>
              </a:rPr>
              <a:t>// Initialize the UART</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uart2_init();</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3F7F59"/>
                </a:solidFill>
                <a:highlight>
                  <a:srgbClr val="FFFFFF"/>
                </a:highlight>
                <a:latin typeface="Courier New"/>
                <a:ea typeface="Courier New"/>
                <a:cs typeface="Courier New"/>
                <a:sym typeface="Courier New"/>
              </a:rPr>
              <a:t>// A little message to show that the program has started</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7F0055"/>
                </a:solidFill>
                <a:highlight>
                  <a:srgbClr val="FFFFFF"/>
                </a:highlight>
                <a:latin typeface="Courier New"/>
                <a:ea typeface="Courier New"/>
                <a:cs typeface="Courier New"/>
                <a:sym typeface="Courier New"/>
              </a:rPr>
              <a:t>printf</a:t>
            </a:r>
            <a:r>
              <a:rPr b="1" lang="en" sz="1300">
                <a:solidFill>
                  <a:schemeClr val="dk1"/>
                </a:solidFill>
                <a:highlight>
                  <a:srgbClr val="FFFFFF"/>
                </a:highlight>
                <a:latin typeface="Courier New"/>
                <a:ea typeface="Courier New"/>
                <a:cs typeface="Courier New"/>
                <a:sym typeface="Courier New"/>
              </a:rPr>
              <a:t>(</a:t>
            </a:r>
            <a:r>
              <a:rPr b="1" lang="en" sz="1300">
                <a:solidFill>
                  <a:srgbClr val="2A00FF"/>
                </a:solidFill>
                <a:highlight>
                  <a:srgbClr val="FFFFFF"/>
                </a:highlight>
                <a:latin typeface="Courier New"/>
                <a:ea typeface="Courier New"/>
                <a:cs typeface="Courier New"/>
                <a:sym typeface="Courier New"/>
              </a:rPr>
              <a:t>"Keyboard-controlled up-down counter\r\n"</a:t>
            </a:r>
            <a:r>
              <a:rPr b="1" lang="en" sz="1300">
                <a:solidFill>
                  <a:schemeClr val="dk1"/>
                </a:solidFill>
                <a:highlight>
                  <a:srgbClr val="FFFFFF"/>
                </a:highlight>
                <a:latin typeface="Courier New"/>
                <a:ea typeface="Courier New"/>
                <a:cs typeface="Courier New"/>
                <a:sym typeface="Courier New"/>
              </a:rPr>
              <a:t>);</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7F0055"/>
                </a:solidFill>
                <a:highlight>
                  <a:srgbClr val="FFFFFF"/>
                </a:highlight>
                <a:latin typeface="Courier New"/>
                <a:ea typeface="Courier New"/>
                <a:cs typeface="Courier New"/>
                <a:sym typeface="Courier New"/>
              </a:rPr>
              <a:t>while</a:t>
            </a:r>
            <a:r>
              <a:rPr b="1" lang="en" sz="1300">
                <a:solidFill>
                  <a:schemeClr val="dk1"/>
                </a:solidFill>
                <a:highlight>
                  <a:srgbClr val="FFFFFF"/>
                </a:highlight>
                <a:latin typeface="Courier New"/>
                <a:ea typeface="Courier New"/>
                <a:cs typeface="Courier New"/>
                <a:sym typeface="Courier New"/>
              </a:rPr>
              <a:t>(1) {</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key = uart2_read();</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7F0055"/>
                </a:solidFill>
                <a:highlight>
                  <a:srgbClr val="FFFFFF"/>
                </a:highlight>
                <a:latin typeface="Courier New"/>
                <a:ea typeface="Courier New"/>
                <a:cs typeface="Courier New"/>
                <a:sym typeface="Courier New"/>
              </a:rPr>
              <a:t>if</a:t>
            </a:r>
            <a:r>
              <a:rPr b="1" lang="en" sz="1300">
                <a:solidFill>
                  <a:schemeClr val="dk1"/>
                </a:solidFill>
                <a:highlight>
                  <a:srgbClr val="FFFFFF"/>
                </a:highlight>
                <a:latin typeface="Courier New"/>
                <a:ea typeface="Courier New"/>
                <a:cs typeface="Courier New"/>
                <a:sym typeface="Courier New"/>
              </a:rPr>
              <a:t> ((key == </a:t>
            </a:r>
            <a:r>
              <a:rPr b="1" lang="en" sz="1300">
                <a:solidFill>
                  <a:srgbClr val="2A00FF"/>
                </a:solidFill>
                <a:highlight>
                  <a:srgbClr val="FFFFFF"/>
                </a:highlight>
                <a:latin typeface="Courier New"/>
                <a:ea typeface="Courier New"/>
                <a:cs typeface="Courier New"/>
                <a:sym typeface="Courier New"/>
              </a:rPr>
              <a:t>'u'</a:t>
            </a:r>
            <a:r>
              <a:rPr b="1" lang="en" sz="1300">
                <a:solidFill>
                  <a:schemeClr val="dk1"/>
                </a:solidFill>
                <a:highlight>
                  <a:srgbClr val="FFFFFF"/>
                </a:highlight>
                <a:latin typeface="Courier New"/>
                <a:ea typeface="Courier New"/>
                <a:cs typeface="Courier New"/>
                <a:sym typeface="Courier New"/>
              </a:rPr>
              <a:t>) || (key == </a:t>
            </a:r>
            <a:r>
              <a:rPr b="1" lang="en" sz="1300">
                <a:solidFill>
                  <a:srgbClr val="2A00FF"/>
                </a:solidFill>
                <a:highlight>
                  <a:srgbClr val="FFFFFF"/>
                </a:highlight>
                <a:latin typeface="Courier New"/>
                <a:ea typeface="Courier New"/>
                <a:cs typeface="Courier New"/>
                <a:sym typeface="Courier New"/>
              </a:rPr>
              <a:t>'U'</a:t>
            </a:r>
            <a:r>
              <a:rPr b="1" lang="en" sz="1300">
                <a:solidFill>
                  <a:schemeClr val="dk1"/>
                </a:solidFill>
                <a:highlight>
                  <a:srgbClr val="FFFFFF"/>
                </a:highlight>
                <a:latin typeface="Courier New"/>
                <a:ea typeface="Courier New"/>
                <a:cs typeface="Courier New"/>
                <a:sym typeface="Courier New"/>
              </a:rPr>
              <a:t>)) {</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3F7F59"/>
                </a:solidFill>
                <a:highlight>
                  <a:srgbClr val="FFFFFF"/>
                </a:highlight>
                <a:latin typeface="Courier New"/>
                <a:ea typeface="Courier New"/>
                <a:cs typeface="Courier New"/>
                <a:sym typeface="Courier New"/>
              </a:rPr>
              <a:t>// increment and print</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7F0055"/>
                </a:solidFill>
                <a:highlight>
                  <a:srgbClr val="FFFFFF"/>
                </a:highlight>
                <a:latin typeface="Courier New"/>
                <a:ea typeface="Courier New"/>
                <a:cs typeface="Courier New"/>
                <a:sym typeface="Courier New"/>
              </a:rPr>
              <a:t>printf</a:t>
            </a:r>
            <a:r>
              <a:rPr b="1" lang="en" sz="1300">
                <a:solidFill>
                  <a:schemeClr val="dk1"/>
                </a:solidFill>
                <a:highlight>
                  <a:srgbClr val="FFFFFF"/>
                </a:highlight>
                <a:latin typeface="Courier New"/>
                <a:ea typeface="Courier New"/>
                <a:cs typeface="Courier New"/>
                <a:sym typeface="Courier New"/>
              </a:rPr>
              <a:t>(</a:t>
            </a:r>
            <a:r>
              <a:rPr b="1" lang="en" sz="1300">
                <a:solidFill>
                  <a:srgbClr val="2A00FF"/>
                </a:solidFill>
                <a:highlight>
                  <a:srgbClr val="FFFFFF"/>
                </a:highlight>
                <a:latin typeface="Courier New"/>
                <a:ea typeface="Courier New"/>
                <a:cs typeface="Courier New"/>
                <a:sym typeface="Courier New"/>
              </a:rPr>
              <a:t>"%d\r\n"</a:t>
            </a:r>
            <a:r>
              <a:rPr b="1" lang="en" sz="1300">
                <a:solidFill>
                  <a:schemeClr val="dk1"/>
                </a:solidFill>
                <a:highlight>
                  <a:srgbClr val="FFFFFF"/>
                </a:highlight>
                <a:latin typeface="Courier New"/>
                <a:ea typeface="Courier New"/>
                <a:cs typeface="Courier New"/>
                <a:sym typeface="Courier New"/>
              </a:rPr>
              <a:t>, ++counter);</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 </a:t>
            </a:r>
            <a:r>
              <a:rPr b="1" lang="en" sz="1300">
                <a:solidFill>
                  <a:srgbClr val="7F0055"/>
                </a:solidFill>
                <a:highlight>
                  <a:srgbClr val="FFFFFF"/>
                </a:highlight>
                <a:latin typeface="Courier New"/>
                <a:ea typeface="Courier New"/>
                <a:cs typeface="Courier New"/>
                <a:sym typeface="Courier New"/>
              </a:rPr>
              <a:t>else</a:t>
            </a:r>
            <a:r>
              <a:rPr b="1" lang="en" sz="1300">
                <a:solidFill>
                  <a:schemeClr val="dk1"/>
                </a:solidFill>
                <a:highlight>
                  <a:srgbClr val="FFFFFF"/>
                </a:highlight>
                <a:latin typeface="Courier New"/>
                <a:ea typeface="Courier New"/>
                <a:cs typeface="Courier New"/>
                <a:sym typeface="Courier New"/>
              </a:rPr>
              <a:t> </a:t>
            </a:r>
            <a:r>
              <a:rPr b="1" lang="en" sz="1300">
                <a:solidFill>
                  <a:srgbClr val="7F0055"/>
                </a:solidFill>
                <a:highlight>
                  <a:srgbClr val="FFFFFF"/>
                </a:highlight>
                <a:latin typeface="Courier New"/>
                <a:ea typeface="Courier New"/>
                <a:cs typeface="Courier New"/>
                <a:sym typeface="Courier New"/>
              </a:rPr>
              <a:t>if</a:t>
            </a:r>
            <a:r>
              <a:rPr b="1" lang="en" sz="1300">
                <a:solidFill>
                  <a:schemeClr val="dk1"/>
                </a:solidFill>
                <a:highlight>
                  <a:srgbClr val="FFFFFF"/>
                </a:highlight>
                <a:latin typeface="Courier New"/>
                <a:ea typeface="Courier New"/>
                <a:cs typeface="Courier New"/>
                <a:sym typeface="Courier New"/>
              </a:rPr>
              <a:t> ((key == </a:t>
            </a:r>
            <a:r>
              <a:rPr b="1" lang="en" sz="1300">
                <a:solidFill>
                  <a:srgbClr val="2A00FF"/>
                </a:solidFill>
                <a:highlight>
                  <a:srgbClr val="FFFFFF"/>
                </a:highlight>
                <a:latin typeface="Courier New"/>
                <a:ea typeface="Courier New"/>
                <a:cs typeface="Courier New"/>
                <a:sym typeface="Courier New"/>
              </a:rPr>
              <a:t>'d'</a:t>
            </a:r>
            <a:r>
              <a:rPr b="1" lang="en" sz="1300">
                <a:solidFill>
                  <a:schemeClr val="dk1"/>
                </a:solidFill>
                <a:highlight>
                  <a:srgbClr val="FFFFFF"/>
                </a:highlight>
                <a:latin typeface="Courier New"/>
                <a:ea typeface="Courier New"/>
                <a:cs typeface="Courier New"/>
                <a:sym typeface="Courier New"/>
              </a:rPr>
              <a:t>) || (key == </a:t>
            </a:r>
            <a:r>
              <a:rPr b="1" lang="en" sz="1300">
                <a:solidFill>
                  <a:srgbClr val="2A00FF"/>
                </a:solidFill>
                <a:highlight>
                  <a:srgbClr val="FFFFFF"/>
                </a:highlight>
                <a:latin typeface="Courier New"/>
                <a:ea typeface="Courier New"/>
                <a:cs typeface="Courier New"/>
                <a:sym typeface="Courier New"/>
              </a:rPr>
              <a:t>'D'</a:t>
            </a:r>
            <a:r>
              <a:rPr b="1" lang="en" sz="1300">
                <a:solidFill>
                  <a:schemeClr val="dk1"/>
                </a:solidFill>
                <a:highlight>
                  <a:srgbClr val="FFFFFF"/>
                </a:highlight>
                <a:latin typeface="Courier New"/>
                <a:ea typeface="Courier New"/>
                <a:cs typeface="Courier New"/>
                <a:sym typeface="Courier New"/>
              </a:rPr>
              <a:t>)) {</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3F7F59"/>
                </a:solidFill>
                <a:highlight>
                  <a:srgbClr val="FFFFFF"/>
                </a:highlight>
                <a:latin typeface="Courier New"/>
                <a:ea typeface="Courier New"/>
                <a:cs typeface="Courier New"/>
                <a:sym typeface="Courier New"/>
              </a:rPr>
              <a:t>// decrement and print</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7F0055"/>
                </a:solidFill>
                <a:highlight>
                  <a:srgbClr val="FFFFFF"/>
                </a:highlight>
                <a:latin typeface="Courier New"/>
                <a:ea typeface="Courier New"/>
                <a:cs typeface="Courier New"/>
                <a:sym typeface="Courier New"/>
              </a:rPr>
              <a:t>printf</a:t>
            </a:r>
            <a:r>
              <a:rPr b="1" lang="en" sz="1300">
                <a:solidFill>
                  <a:schemeClr val="dk1"/>
                </a:solidFill>
                <a:highlight>
                  <a:srgbClr val="FFFFFF"/>
                </a:highlight>
                <a:latin typeface="Courier New"/>
                <a:ea typeface="Courier New"/>
                <a:cs typeface="Courier New"/>
                <a:sym typeface="Courier New"/>
              </a:rPr>
              <a:t>(</a:t>
            </a:r>
            <a:r>
              <a:rPr b="1" lang="en" sz="1300">
                <a:solidFill>
                  <a:srgbClr val="2A00FF"/>
                </a:solidFill>
                <a:highlight>
                  <a:srgbClr val="FFFFFF"/>
                </a:highlight>
                <a:latin typeface="Courier New"/>
                <a:ea typeface="Courier New"/>
                <a:cs typeface="Courier New"/>
                <a:sym typeface="Courier New"/>
              </a:rPr>
              <a:t>"%d\r\n"</a:t>
            </a:r>
            <a:r>
              <a:rPr b="1" lang="en" sz="1300">
                <a:solidFill>
                  <a:schemeClr val="dk1"/>
                </a:solidFill>
                <a:highlight>
                  <a:srgbClr val="FFFFFF"/>
                </a:highlight>
                <a:latin typeface="Courier New"/>
                <a:ea typeface="Courier New"/>
                <a:cs typeface="Courier New"/>
                <a:sym typeface="Courier New"/>
              </a:rPr>
              <a:t>, --counter);</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a:t>
            </a:r>
            <a:endParaRPr b="1"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7F0055"/>
                </a:solidFill>
                <a:highlight>
                  <a:srgbClr val="FFFFFF"/>
                </a:highlight>
                <a:latin typeface="Courier New"/>
                <a:ea typeface="Courier New"/>
                <a:cs typeface="Courier New"/>
                <a:sym typeface="Courier New"/>
              </a:rPr>
              <a:t>return</a:t>
            </a:r>
            <a:r>
              <a:rPr b="1" lang="en" sz="1300">
                <a:solidFill>
                  <a:schemeClr val="dk1"/>
                </a:solidFill>
                <a:highlight>
                  <a:srgbClr val="FFFFFF"/>
                </a:highlight>
                <a:latin typeface="Courier New"/>
                <a:ea typeface="Courier New"/>
                <a:cs typeface="Courier New"/>
                <a:sym typeface="Courier New"/>
              </a:rPr>
              <a:t> 0;</a:t>
            </a:r>
            <a:endParaRPr b="1" sz="13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a:t>
            </a:r>
            <a:endParaRPr b="1" sz="1300">
              <a:solidFill>
                <a:srgbClr val="696969"/>
              </a:solidFill>
              <a:highlight>
                <a:schemeClr val="lt1"/>
              </a:highlight>
              <a:latin typeface="Courier New"/>
              <a:ea typeface="Courier New"/>
              <a:cs typeface="Courier New"/>
              <a:sym typeface="Courier New"/>
            </a:endParaRPr>
          </a:p>
        </p:txBody>
      </p:sp>
      <p:sp>
        <p:nvSpPr>
          <p:cNvPr id="80" name="Google Shape;80;p17"/>
          <p:cNvSpPr txBox="1"/>
          <p:nvPr>
            <p:ph type="title"/>
          </p:nvPr>
        </p:nvSpPr>
        <p:spPr>
          <a:xfrm>
            <a:off x="311700" y="176067"/>
            <a:ext cx="8520600" cy="763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Sample solution...</a:t>
            </a:r>
            <a:endParaRPr/>
          </a:p>
        </p:txBody>
      </p:sp>
      <p:sp>
        <p:nvSpPr>
          <p:cNvPr id="81" name="Google Shape;81;p17"/>
          <p:cNvSpPr txBox="1"/>
          <p:nvPr/>
        </p:nvSpPr>
        <p:spPr>
          <a:xfrm>
            <a:off x="5359050" y="524000"/>
            <a:ext cx="1858200" cy="615600"/>
          </a:xfrm>
          <a:prstGeom prst="rect">
            <a:avLst/>
          </a:prstGeom>
          <a:noFill/>
          <a:ln cap="flat" cmpd="sng" w="9525">
            <a:solidFill>
              <a:srgbClr val="0000E6"/>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E6"/>
                </a:solidFill>
              </a:rPr>
              <a:t>U</a:t>
            </a:r>
            <a:r>
              <a:rPr lang="en">
                <a:solidFill>
                  <a:srgbClr val="0000E6"/>
                </a:solidFill>
              </a:rPr>
              <a:t>se</a:t>
            </a:r>
            <a:r>
              <a:rPr lang="en">
                <a:solidFill>
                  <a:srgbClr val="0000E6"/>
                </a:solidFill>
                <a:latin typeface="Consolas"/>
                <a:ea typeface="Consolas"/>
                <a:cs typeface="Consolas"/>
                <a:sym typeface="Consolas"/>
              </a:rPr>
              <a:t> CoolTerm as a </a:t>
            </a:r>
            <a:r>
              <a:rPr lang="en">
                <a:solidFill>
                  <a:srgbClr val="0000E6"/>
                </a:solidFill>
              </a:rPr>
              <a:t>serial monitor.</a:t>
            </a:r>
            <a:endParaRPr>
              <a:solidFill>
                <a:srgbClr val="0000E6"/>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Setting and Clearing Pins, Revisited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3643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Enable clock for GPIOA and GPIOB </a:t>
            </a:r>
            <a:endParaRPr/>
          </a:p>
        </p:txBody>
      </p:sp>
      <p:sp>
        <p:nvSpPr>
          <p:cNvPr id="92" name="Google Shape;92;p19"/>
          <p:cNvSpPr txBox="1"/>
          <p:nvPr/>
        </p:nvSpPr>
        <p:spPr>
          <a:xfrm>
            <a:off x="311700" y="1127850"/>
            <a:ext cx="8520600" cy="199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#include </a:t>
            </a:r>
            <a:r>
              <a:rPr b="1" lang="en" sz="1100">
                <a:solidFill>
                  <a:srgbClr val="2A00FF"/>
                </a:solidFill>
                <a:highlight>
                  <a:schemeClr val="lt1"/>
                </a:highlight>
                <a:latin typeface="Courier New"/>
                <a:ea typeface="Courier New"/>
                <a:cs typeface="Courier New"/>
                <a:sym typeface="Courier New"/>
              </a:rPr>
              <a:t>"</a:t>
            </a:r>
            <a:r>
              <a:rPr b="1" lang="en" sz="1100">
                <a:solidFill>
                  <a:srgbClr val="3F3FBF"/>
                </a:solidFill>
                <a:highlight>
                  <a:schemeClr val="lt1"/>
                </a:highlight>
                <a:latin typeface="Courier New"/>
                <a:ea typeface="Courier New"/>
                <a:cs typeface="Courier New"/>
                <a:sym typeface="Courier New"/>
              </a:rPr>
              <a:t>ES28.h</a:t>
            </a:r>
            <a:r>
              <a:rPr b="1" lang="en" sz="1100">
                <a:solidFill>
                  <a:srgbClr val="2A00FF"/>
                </a:solidFill>
                <a:highlight>
                  <a:schemeClr val="lt1"/>
                </a:highlight>
                <a:latin typeface="Courier New"/>
                <a:ea typeface="Courier New"/>
                <a:cs typeface="Courier New"/>
                <a:sym typeface="Courier New"/>
              </a:rPr>
              <a:t>"</a:t>
            </a:r>
            <a:endParaRPr b="1" sz="1100">
              <a:solidFill>
                <a:srgbClr val="7F0055"/>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int</a:t>
            </a:r>
            <a:r>
              <a:rPr b="1" lang="en" sz="1100">
                <a:solidFill>
                  <a:schemeClr val="dk1"/>
                </a:solidFill>
                <a:highlight>
                  <a:schemeClr val="lt1"/>
                </a:highlight>
                <a:latin typeface="Courier New"/>
                <a:ea typeface="Courier New"/>
                <a:cs typeface="Courier New"/>
                <a:sym typeface="Courier New"/>
              </a:rPr>
              <a:t> </a:t>
            </a:r>
            <a:r>
              <a:rPr b="1" lang="en" sz="1100">
                <a:solidFill>
                  <a:srgbClr val="7F0055"/>
                </a:solidFill>
                <a:highlight>
                  <a:schemeClr val="lt1"/>
                </a:highlight>
                <a:latin typeface="Courier New"/>
                <a:ea typeface="Courier New"/>
                <a:cs typeface="Courier New"/>
                <a:sym typeface="Courier New"/>
              </a:rPr>
              <a:t>main</a:t>
            </a:r>
            <a:r>
              <a:rPr b="1" lang="en" sz="1100">
                <a:solidFill>
                  <a:schemeClr val="dk1"/>
                </a:solidFill>
                <a:highlight>
                  <a:schemeClr val="lt1"/>
                </a:highlight>
                <a:latin typeface="Courier New"/>
                <a:ea typeface="Courier New"/>
                <a:cs typeface="Courier New"/>
                <a:sym typeface="Courier New"/>
              </a:rPr>
              <a:t>(</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RCC-&gt;IOPENR |= (1U&lt;&lt;0 | 1U&lt;&lt;1);   </a:t>
            </a:r>
            <a:r>
              <a:rPr b="1" lang="en" sz="1100">
                <a:solidFill>
                  <a:srgbClr val="3F7F59"/>
                </a:solidFill>
                <a:highlight>
                  <a:schemeClr val="lt1"/>
                </a:highlight>
                <a:latin typeface="Courier New"/>
                <a:ea typeface="Courier New"/>
                <a:cs typeface="Courier New"/>
                <a:sym typeface="Courier New"/>
              </a:rPr>
              <a:t>// Enable clock access to GPIOA and B</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a:t>
            </a:r>
            <a:endParaRPr b="1" sz="1100">
              <a:solidFill>
                <a:srgbClr val="7F0055"/>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10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a:solidFill>
                  <a:srgbClr val="0000FF"/>
                </a:solidFill>
                <a:highlight>
                  <a:srgbClr val="FFFFFF"/>
                </a:highlight>
              </a:rPr>
              <a:t>Open the STM32C0x1 Reference Manual and use it to fill in this table:</a:t>
            </a:r>
            <a:endParaRPr>
              <a:solidFill>
                <a:srgbClr val="0000FF"/>
              </a:solidFill>
              <a:highlight>
                <a:srgbClr val="FFFFFF"/>
              </a:highlight>
            </a:endParaRPr>
          </a:p>
        </p:txBody>
      </p:sp>
      <p:graphicFrame>
        <p:nvGraphicFramePr>
          <p:cNvPr id="93" name="Google Shape;93;p19"/>
          <p:cNvGraphicFramePr/>
          <p:nvPr/>
        </p:nvGraphicFramePr>
        <p:xfrm>
          <a:off x="415963" y="3206025"/>
          <a:ext cx="3000000" cy="3000000"/>
        </p:xfrm>
        <a:graphic>
          <a:graphicData uri="http://schemas.openxmlformats.org/drawingml/2006/table">
            <a:tbl>
              <a:tblPr>
                <a:noFill/>
                <a:tableStyleId>{0A91F8EE-AF9D-4D32-834B-25F783E5C243}</a:tableStyleId>
              </a:tblPr>
              <a:tblGrid>
                <a:gridCol w="3524000"/>
                <a:gridCol w="1875750"/>
                <a:gridCol w="2912325"/>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Name</a:t>
                      </a:r>
                      <a:endParaRPr/>
                    </a:p>
                  </a:txBody>
                  <a:tcPr marT="91425" marB="91425" marR="91425" marL="91425"/>
                </a:tc>
                <a:tc>
                  <a:txBody>
                    <a:bodyPr/>
                    <a:lstStyle/>
                    <a:p>
                      <a:pPr indent="0" lvl="0" marL="0" rtl="0" algn="l">
                        <a:spcBef>
                          <a:spcPts val="0"/>
                        </a:spcBef>
                        <a:spcAft>
                          <a:spcPts val="0"/>
                        </a:spcAft>
                        <a:buNone/>
                      </a:pPr>
                      <a:r>
                        <a:rPr lang="en"/>
                        <a:t>How to refer to it in code</a:t>
                      </a:r>
                      <a:endParaRPr/>
                    </a:p>
                  </a:txBody>
                  <a:tcPr marT="91425" marB="91425" marR="91425" marL="91425"/>
                </a:tc>
              </a:tr>
              <a:tr h="381000">
                <a:tc>
                  <a:txBody>
                    <a:bodyPr/>
                    <a:lstStyle/>
                    <a:p>
                      <a:pPr indent="0" lvl="0" marL="0" rtl="0" algn="l">
                        <a:lnSpc>
                          <a:spcPct val="115000"/>
                        </a:lnSpc>
                        <a:spcBef>
                          <a:spcPts val="0"/>
                        </a:spcBef>
                        <a:spcAft>
                          <a:spcPts val="0"/>
                        </a:spcAft>
                        <a:buClr>
                          <a:schemeClr val="dk1"/>
                        </a:buClr>
                        <a:buSzPts val="1100"/>
                        <a:buFont typeface="Arial"/>
                        <a:buNone/>
                      </a:pPr>
                      <a:r>
                        <a:rPr lang="en">
                          <a:solidFill>
                            <a:srgbClr val="0000FF"/>
                          </a:solidFill>
                          <a:highlight>
                            <a:schemeClr val="lt1"/>
                          </a:highlight>
                        </a:rPr>
                        <a:t>Register in </a:t>
                      </a:r>
                      <a:r>
                        <a:rPr lang="en">
                          <a:solidFill>
                            <a:srgbClr val="0000FF"/>
                          </a:solidFill>
                          <a:highlight>
                            <a:schemeClr val="lt1"/>
                          </a:highlight>
                        </a:rPr>
                        <a:t>which</a:t>
                      </a:r>
                      <a:r>
                        <a:rPr lang="en">
                          <a:solidFill>
                            <a:srgbClr val="0000FF"/>
                          </a:solidFill>
                          <a:highlight>
                            <a:schemeClr val="lt1"/>
                          </a:highlight>
                        </a:rPr>
                        <a:t> to enable GPIO ports</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Bit to enable GPIOA</a:t>
                      </a:r>
                      <a:endParaRPr>
                        <a:solidFill>
                          <a:srgbClr val="0000FF"/>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Bit to enable GPIOB</a:t>
                      </a:r>
                      <a:endParaRPr>
                        <a:solidFill>
                          <a:srgbClr val="0000FF"/>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94" name="Google Shape;94;p19"/>
          <p:cNvSpPr txBox="1"/>
          <p:nvPr/>
        </p:nvSpPr>
        <p:spPr>
          <a:xfrm>
            <a:off x="385725" y="5025425"/>
            <a:ext cx="6942300" cy="139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a:solidFill>
                  <a:srgbClr val="0000FF"/>
                </a:solidFill>
                <a:highlight>
                  <a:schemeClr val="lt1"/>
                </a:highlight>
              </a:rPr>
              <a:t>Code to enable GPIOA:</a:t>
            </a:r>
            <a:endParaRPr>
              <a:solidFill>
                <a:srgbClr val="0000FF"/>
              </a:solidFill>
              <a:highlight>
                <a:schemeClr val="lt1"/>
              </a:highlight>
            </a:endParaRPr>
          </a:p>
          <a:p>
            <a:pPr indent="0" lvl="0" marL="0" rtl="0" algn="l">
              <a:lnSpc>
                <a:spcPct val="115000"/>
              </a:lnSpc>
              <a:spcBef>
                <a:spcPts val="0"/>
              </a:spcBef>
              <a:spcAft>
                <a:spcPts val="0"/>
              </a:spcAft>
              <a:buNone/>
            </a:pPr>
            <a:r>
              <a:t/>
            </a:r>
            <a:endParaRPr>
              <a:solidFill>
                <a:srgbClr val="0000FF"/>
              </a:solidFill>
              <a:highlight>
                <a:schemeClr val="lt1"/>
              </a:highlight>
            </a:endParaRPr>
          </a:p>
          <a:p>
            <a:pPr indent="0" lvl="0" marL="0" rtl="0" algn="l">
              <a:lnSpc>
                <a:spcPct val="115000"/>
              </a:lnSpc>
              <a:spcBef>
                <a:spcPts val="0"/>
              </a:spcBef>
              <a:spcAft>
                <a:spcPts val="0"/>
              </a:spcAft>
              <a:buNone/>
            </a:pPr>
            <a:r>
              <a:rPr lang="en">
                <a:solidFill>
                  <a:srgbClr val="0000FF"/>
                </a:solidFill>
                <a:highlight>
                  <a:schemeClr val="lt1"/>
                </a:highlight>
              </a:rPr>
              <a:t>Code to enable GPIOB:</a:t>
            </a:r>
            <a:endParaRPr>
              <a:solidFill>
                <a:srgbClr val="0000FF"/>
              </a:solidFill>
              <a:highlight>
                <a:schemeClr val="lt1"/>
              </a:highlight>
            </a:endParaRPr>
          </a:p>
          <a:p>
            <a:pPr indent="0" lvl="0" marL="0" rtl="0" algn="l">
              <a:lnSpc>
                <a:spcPct val="115000"/>
              </a:lnSpc>
              <a:spcBef>
                <a:spcPts val="0"/>
              </a:spcBef>
              <a:spcAft>
                <a:spcPts val="0"/>
              </a:spcAft>
              <a:buNone/>
            </a:pPr>
            <a:r>
              <a:t/>
            </a:r>
            <a:endParaRPr>
              <a:solidFill>
                <a:srgbClr val="0000FF"/>
              </a:solidFill>
              <a:highlight>
                <a:schemeClr val="lt1"/>
              </a:highlight>
            </a:endParaRPr>
          </a:p>
          <a:p>
            <a:pPr indent="0" lvl="0" marL="0" rtl="0" algn="l">
              <a:lnSpc>
                <a:spcPct val="115000"/>
              </a:lnSpc>
              <a:spcBef>
                <a:spcPts val="0"/>
              </a:spcBef>
              <a:spcAft>
                <a:spcPts val="0"/>
              </a:spcAft>
              <a:buNone/>
            </a:pPr>
            <a:r>
              <a:rPr lang="en">
                <a:solidFill>
                  <a:srgbClr val="0000FF"/>
                </a:solidFill>
                <a:highlight>
                  <a:schemeClr val="lt1"/>
                </a:highlight>
              </a:rPr>
              <a:t>Code to enable both at the same time:</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20"/>
          <p:cNvPicPr preferRelativeResize="0"/>
          <p:nvPr/>
        </p:nvPicPr>
        <p:blipFill>
          <a:blip r:embed="rId3">
            <a:alphaModFix/>
          </a:blip>
          <a:stretch>
            <a:fillRect/>
          </a:stretch>
        </p:blipFill>
        <p:spPr>
          <a:xfrm>
            <a:off x="984025" y="160825"/>
            <a:ext cx="6765874" cy="65363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3643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Enable clock for GPIOA and GPIOB </a:t>
            </a:r>
            <a:endParaRPr/>
          </a:p>
        </p:txBody>
      </p:sp>
      <p:sp>
        <p:nvSpPr>
          <p:cNvPr id="105" name="Google Shape;105;p21"/>
          <p:cNvSpPr txBox="1"/>
          <p:nvPr/>
        </p:nvSpPr>
        <p:spPr>
          <a:xfrm>
            <a:off x="311700" y="1036525"/>
            <a:ext cx="8520600" cy="253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7F0055"/>
                </a:solidFill>
                <a:highlight>
                  <a:schemeClr val="lt1"/>
                </a:highlight>
                <a:latin typeface="Courier New"/>
                <a:ea typeface="Courier New"/>
                <a:cs typeface="Courier New"/>
                <a:sym typeface="Courier New"/>
              </a:rPr>
              <a:t>#include </a:t>
            </a:r>
            <a:r>
              <a:rPr b="1" lang="en" sz="1100">
                <a:solidFill>
                  <a:srgbClr val="2A00FF"/>
                </a:solidFill>
                <a:highlight>
                  <a:schemeClr val="lt1"/>
                </a:highlight>
                <a:latin typeface="Courier New"/>
                <a:ea typeface="Courier New"/>
                <a:cs typeface="Courier New"/>
                <a:sym typeface="Courier New"/>
              </a:rPr>
              <a:t>"</a:t>
            </a:r>
            <a:r>
              <a:rPr b="1" lang="en" sz="1100">
                <a:solidFill>
                  <a:srgbClr val="3F3FBF"/>
                </a:solidFill>
                <a:highlight>
                  <a:schemeClr val="lt1"/>
                </a:highlight>
                <a:latin typeface="Courier New"/>
                <a:ea typeface="Courier New"/>
                <a:cs typeface="Courier New"/>
                <a:sym typeface="Courier New"/>
              </a:rPr>
              <a:t>ES28.h</a:t>
            </a:r>
            <a:r>
              <a:rPr b="1" lang="en" sz="1100">
                <a:solidFill>
                  <a:srgbClr val="2A00FF"/>
                </a:solidFill>
                <a:highlight>
                  <a:schemeClr val="lt1"/>
                </a:highlight>
                <a:latin typeface="Courier New"/>
                <a:ea typeface="Courier New"/>
                <a:cs typeface="Courier New"/>
                <a:sym typeface="Courier New"/>
              </a:rPr>
              <a:t>"</a:t>
            </a:r>
            <a:endParaRPr b="1" sz="1100">
              <a:solidFill>
                <a:srgbClr val="7F0055"/>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highlight>
                  <a:srgbClr val="FFFFFF"/>
                </a:highlight>
                <a:latin typeface="Courier New"/>
                <a:ea typeface="Courier New"/>
                <a:cs typeface="Courier New"/>
                <a:sym typeface="Courier New"/>
              </a:rPr>
              <a:t>(...)</a:t>
            </a:r>
            <a:endParaRPr b="1" sz="1100">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100">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int</a:t>
            </a:r>
            <a:r>
              <a:rPr b="1" lang="en" sz="1100">
                <a:solidFill>
                  <a:srgbClr val="000000"/>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main</a:t>
            </a:r>
            <a:r>
              <a:rPr b="1" lang="en" sz="1100">
                <a:solidFill>
                  <a:srgbClr val="000000"/>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void</a:t>
            </a:r>
            <a:r>
              <a:rPr b="1" lang="en" sz="1100">
                <a:solidFill>
                  <a:srgbClr val="000000"/>
                </a:solidFill>
                <a:highlight>
                  <a:srgbClr val="FFFFFF"/>
                </a:highlight>
                <a:latin typeface="Courier New"/>
                <a:ea typeface="Courier New"/>
                <a:cs typeface="Courier New"/>
                <a:sym typeface="Courier New"/>
              </a:rPr>
              <a:t>) {</a:t>
            </a:r>
            <a:endParaRPr b="1" sz="110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rgbClr val="000000"/>
                </a:solidFill>
                <a:highlight>
                  <a:srgbClr val="FFFFFF"/>
                </a:highlight>
                <a:latin typeface="Courier New"/>
                <a:ea typeface="Courier New"/>
                <a:cs typeface="Courier New"/>
                <a:sym typeface="Courier New"/>
              </a:rPr>
              <a:t>    RCC-&gt;IOPENR |= (</a:t>
            </a:r>
            <a:r>
              <a:rPr b="1" lang="en" sz="1100">
                <a:highlight>
                  <a:srgbClr val="FFFFFF"/>
                </a:highlight>
                <a:latin typeface="Courier New"/>
                <a:ea typeface="Courier New"/>
                <a:cs typeface="Courier New"/>
                <a:sym typeface="Courier New"/>
              </a:rPr>
              <a:t>1U&lt;&lt;0</a:t>
            </a:r>
            <a:r>
              <a:rPr b="1" lang="en" sz="1100">
                <a:solidFill>
                  <a:srgbClr val="000000"/>
                </a:solidFill>
                <a:highlight>
                  <a:srgbClr val="FFFFFF"/>
                </a:highlight>
                <a:latin typeface="Courier New"/>
                <a:ea typeface="Courier New"/>
                <a:cs typeface="Courier New"/>
                <a:sym typeface="Courier New"/>
              </a:rPr>
              <a:t> | </a:t>
            </a:r>
            <a:r>
              <a:rPr b="1" lang="en" sz="1100">
                <a:highlight>
                  <a:srgbClr val="FFFFFF"/>
                </a:highlight>
                <a:latin typeface="Courier New"/>
                <a:ea typeface="Courier New"/>
                <a:cs typeface="Courier New"/>
                <a:sym typeface="Courier New"/>
              </a:rPr>
              <a:t>1U&lt;&lt;1</a:t>
            </a:r>
            <a:r>
              <a:rPr b="1" lang="en" sz="1100">
                <a:solidFill>
                  <a:srgbClr val="000000"/>
                </a:solidFill>
                <a:highlight>
                  <a:srgbClr val="FFFFFF"/>
                </a:highlight>
                <a:latin typeface="Courier New"/>
                <a:ea typeface="Courier New"/>
                <a:cs typeface="Courier New"/>
                <a:sym typeface="Courier New"/>
              </a:rPr>
              <a:t>);   </a:t>
            </a:r>
            <a:r>
              <a:rPr b="1" lang="en" sz="1100">
                <a:solidFill>
                  <a:srgbClr val="3F7F59"/>
                </a:solidFill>
                <a:highlight>
                  <a:srgbClr val="FFFFFF"/>
                </a:highlight>
                <a:latin typeface="Courier New"/>
                <a:ea typeface="Courier New"/>
                <a:cs typeface="Courier New"/>
                <a:sym typeface="Courier New"/>
              </a:rPr>
              <a:t>// Enable clock access to GPIOA and B</a:t>
            </a:r>
            <a:endParaRPr b="1" sz="110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highlight>
                  <a:srgbClr val="FFFFFF"/>
                </a:highlight>
                <a:latin typeface="Courier New"/>
                <a:ea typeface="Courier New"/>
                <a:cs typeface="Courier New"/>
                <a:sym typeface="Courier New"/>
              </a:rPr>
              <a:t>    (...)</a:t>
            </a:r>
            <a:endParaRPr b="1" sz="1100">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rgbClr val="000000"/>
                </a:solidFill>
                <a:highlight>
                  <a:srgbClr val="FFFFFF"/>
                </a:highlight>
                <a:latin typeface="Courier New"/>
                <a:ea typeface="Courier New"/>
                <a:cs typeface="Courier New"/>
                <a:sym typeface="Courier New"/>
              </a:rPr>
              <a:t>}</a:t>
            </a:r>
            <a:endParaRPr b="1" sz="110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10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a:solidFill>
                  <a:srgbClr val="0000FF"/>
                </a:solidFill>
                <a:highlight>
                  <a:srgbClr val="FFFFFF"/>
                </a:highlight>
              </a:rPr>
              <a:t>Open the STM32C0x1 Reference Manual use it to fill in this table:</a:t>
            </a:r>
            <a:endParaRPr>
              <a:solidFill>
                <a:srgbClr val="0000FF"/>
              </a:solidFill>
              <a:highlight>
                <a:srgbClr val="FFFFFF"/>
              </a:highlight>
            </a:endParaRPr>
          </a:p>
        </p:txBody>
      </p:sp>
      <p:sp>
        <p:nvSpPr>
          <p:cNvPr id="106" name="Google Shape;106;p21"/>
          <p:cNvSpPr txBox="1"/>
          <p:nvPr/>
        </p:nvSpPr>
        <p:spPr>
          <a:xfrm>
            <a:off x="385800" y="4941625"/>
            <a:ext cx="8446500" cy="163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rgbClr val="0000FF"/>
                </a:solidFill>
                <a:highlight>
                  <a:schemeClr val="lt1"/>
                </a:highlight>
              </a:rPr>
              <a:t>Code to enable GPIOA:  </a:t>
            </a:r>
            <a:r>
              <a:rPr b="1" lang="en">
                <a:solidFill>
                  <a:schemeClr val="dk1"/>
                </a:solidFill>
                <a:highlight>
                  <a:schemeClr val="lt1"/>
                </a:highlight>
                <a:latin typeface="Courier New"/>
                <a:ea typeface="Courier New"/>
                <a:cs typeface="Courier New"/>
                <a:sym typeface="Courier New"/>
              </a:rPr>
              <a:t>RCC-&gt;IOPENR |= RCC_IOPENR_GPIOAEN;</a:t>
            </a:r>
            <a:endParaRPr>
              <a:solidFill>
                <a:srgbClr val="0000FF"/>
              </a:solidFill>
              <a:highlight>
                <a:schemeClr val="lt1"/>
              </a:highlight>
            </a:endParaRPr>
          </a:p>
          <a:p>
            <a:pPr indent="0" lvl="0" marL="0" rtl="0" algn="l">
              <a:lnSpc>
                <a:spcPct val="115000"/>
              </a:lnSpc>
              <a:spcBef>
                <a:spcPts val="0"/>
              </a:spcBef>
              <a:spcAft>
                <a:spcPts val="0"/>
              </a:spcAft>
              <a:buNone/>
            </a:pPr>
            <a:r>
              <a:t/>
            </a:r>
            <a:endParaRPr>
              <a:solidFill>
                <a:srgbClr val="0000FF"/>
              </a:solidFill>
              <a:highlight>
                <a:schemeClr val="lt1"/>
              </a:highlight>
            </a:endParaRPr>
          </a:p>
          <a:p>
            <a:pPr indent="0" lvl="0" marL="0" rtl="0" algn="l">
              <a:lnSpc>
                <a:spcPct val="115000"/>
              </a:lnSpc>
              <a:spcBef>
                <a:spcPts val="0"/>
              </a:spcBef>
              <a:spcAft>
                <a:spcPts val="0"/>
              </a:spcAft>
              <a:buNone/>
            </a:pPr>
            <a:r>
              <a:rPr lang="en">
                <a:solidFill>
                  <a:srgbClr val="0000FF"/>
                </a:solidFill>
                <a:highlight>
                  <a:schemeClr val="lt1"/>
                </a:highlight>
              </a:rPr>
              <a:t>Code to enable GPIOB: </a:t>
            </a:r>
            <a:r>
              <a:rPr b="1" lang="en">
                <a:solidFill>
                  <a:schemeClr val="dk1"/>
                </a:solidFill>
                <a:highlight>
                  <a:schemeClr val="lt1"/>
                </a:highlight>
                <a:latin typeface="Courier New"/>
                <a:ea typeface="Courier New"/>
                <a:cs typeface="Courier New"/>
                <a:sym typeface="Courier New"/>
              </a:rPr>
              <a:t>RCC-&gt;IOPENR |= RCC_IOPENR_GPIOBEN;</a:t>
            </a:r>
            <a:endParaRPr>
              <a:solidFill>
                <a:srgbClr val="0000FF"/>
              </a:solidFill>
              <a:highlight>
                <a:schemeClr val="lt1"/>
              </a:highlight>
            </a:endParaRPr>
          </a:p>
          <a:p>
            <a:pPr indent="0" lvl="0" marL="0" rtl="0" algn="l">
              <a:lnSpc>
                <a:spcPct val="115000"/>
              </a:lnSpc>
              <a:spcBef>
                <a:spcPts val="0"/>
              </a:spcBef>
              <a:spcAft>
                <a:spcPts val="0"/>
              </a:spcAft>
              <a:buNone/>
            </a:pPr>
            <a:r>
              <a:t/>
            </a:r>
            <a:endParaRPr>
              <a:solidFill>
                <a:srgbClr val="0000FF"/>
              </a:solidFill>
              <a:highlight>
                <a:schemeClr val="lt1"/>
              </a:highlight>
            </a:endParaRPr>
          </a:p>
          <a:p>
            <a:pPr indent="0" lvl="0" marL="0" rtl="0" algn="l">
              <a:lnSpc>
                <a:spcPct val="115000"/>
              </a:lnSpc>
              <a:spcBef>
                <a:spcPts val="0"/>
              </a:spcBef>
              <a:spcAft>
                <a:spcPts val="0"/>
              </a:spcAft>
              <a:buNone/>
            </a:pPr>
            <a:r>
              <a:rPr lang="en">
                <a:solidFill>
                  <a:srgbClr val="0000FF"/>
                </a:solidFill>
                <a:highlight>
                  <a:schemeClr val="lt1"/>
                </a:highlight>
              </a:rPr>
              <a:t>Code to enable both at the same time: </a:t>
            </a:r>
            <a:endParaRPr>
              <a:solidFill>
                <a:srgbClr val="0000FF"/>
              </a:solidFill>
              <a:highlight>
                <a:schemeClr val="lt1"/>
              </a:highlight>
            </a:endParaRPr>
          </a:p>
          <a:p>
            <a:pPr indent="0" lvl="0" marL="0" rtl="0" algn="l">
              <a:lnSpc>
                <a:spcPct val="115000"/>
              </a:lnSpc>
              <a:spcBef>
                <a:spcPts val="0"/>
              </a:spcBef>
              <a:spcAft>
                <a:spcPts val="0"/>
              </a:spcAft>
              <a:buNone/>
            </a:pPr>
            <a:r>
              <a:rPr b="1" lang="en">
                <a:solidFill>
                  <a:schemeClr val="dk1"/>
                </a:solidFill>
                <a:highlight>
                  <a:schemeClr val="lt1"/>
                </a:highlight>
                <a:latin typeface="Courier New"/>
                <a:ea typeface="Courier New"/>
                <a:cs typeface="Courier New"/>
                <a:sym typeface="Courier New"/>
              </a:rPr>
              <a:t>RCC-&gt;IOPENR |= (RCC_IOPENR_GPIOAEN | RCC_IOPENR_GPIOBEN);</a:t>
            </a:r>
            <a:endParaRPr sz="1800">
              <a:solidFill>
                <a:schemeClr val="dk2"/>
              </a:solidFill>
            </a:endParaRPr>
          </a:p>
        </p:txBody>
      </p:sp>
      <p:graphicFrame>
        <p:nvGraphicFramePr>
          <p:cNvPr id="107" name="Google Shape;107;p21"/>
          <p:cNvGraphicFramePr/>
          <p:nvPr/>
        </p:nvGraphicFramePr>
        <p:xfrm>
          <a:off x="311688" y="3119600"/>
          <a:ext cx="3000000" cy="3000000"/>
        </p:xfrm>
        <a:graphic>
          <a:graphicData uri="http://schemas.openxmlformats.org/drawingml/2006/table">
            <a:tbl>
              <a:tblPr>
                <a:noFill/>
                <a:tableStyleId>{0A91F8EE-AF9D-4D32-834B-25F783E5C243}</a:tableStyleId>
              </a:tblPr>
              <a:tblGrid>
                <a:gridCol w="3524000"/>
                <a:gridCol w="1875750"/>
                <a:gridCol w="2912325"/>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Name</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How to refer to it in code</a:t>
                      </a:r>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a:solidFill>
                            <a:srgbClr val="0000FF"/>
                          </a:solidFill>
                          <a:highlight>
                            <a:schemeClr val="lt1"/>
                          </a:highlight>
                        </a:rPr>
                        <a:t>Register in which to enable GPIO ports</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RCC_IOPENR</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RCC-&gt;IOPENR</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rgbClr val="0000FF"/>
                          </a:solidFill>
                        </a:rPr>
                        <a:t>Bit to enable GPIOA</a:t>
                      </a:r>
                      <a:endParaRPr>
                        <a:solidFill>
                          <a:srgbClr val="0000FF"/>
                        </a:solidFill>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GPIOAEN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RCC_IOPENR_GPIOAEN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rgbClr val="0000FF"/>
                          </a:solidFill>
                        </a:rPr>
                        <a:t>Bit to enable GPIOB</a:t>
                      </a:r>
                      <a:endParaRPr>
                        <a:solidFill>
                          <a:srgbClr val="0000FF"/>
                        </a:solidFill>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GPIOBEN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RCC_IOPENR_GPIOBEN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1594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Set mode register for PA5 to output mode</a:t>
            </a:r>
            <a:endParaRPr/>
          </a:p>
        </p:txBody>
      </p:sp>
      <p:sp>
        <p:nvSpPr>
          <p:cNvPr id="113" name="Google Shape;113;p22"/>
          <p:cNvSpPr txBox="1"/>
          <p:nvPr/>
        </p:nvSpPr>
        <p:spPr>
          <a:xfrm>
            <a:off x="311700" y="855750"/>
            <a:ext cx="8520600" cy="226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7F0055"/>
                </a:solidFill>
                <a:highlight>
                  <a:schemeClr val="lt1"/>
                </a:highlight>
                <a:latin typeface="Courier New"/>
                <a:ea typeface="Courier New"/>
                <a:cs typeface="Courier New"/>
                <a:sym typeface="Courier New"/>
              </a:rPr>
              <a:t>#include </a:t>
            </a:r>
            <a:r>
              <a:rPr b="1" lang="en" sz="1100">
                <a:solidFill>
                  <a:srgbClr val="2A00FF"/>
                </a:solidFill>
                <a:highlight>
                  <a:schemeClr val="lt1"/>
                </a:highlight>
                <a:latin typeface="Courier New"/>
                <a:ea typeface="Courier New"/>
                <a:cs typeface="Courier New"/>
                <a:sym typeface="Courier New"/>
              </a:rPr>
              <a:t>"</a:t>
            </a:r>
            <a:r>
              <a:rPr b="1" lang="en" sz="1100">
                <a:solidFill>
                  <a:srgbClr val="3F3FBF"/>
                </a:solidFill>
                <a:highlight>
                  <a:schemeClr val="lt1"/>
                </a:highlight>
                <a:latin typeface="Courier New"/>
                <a:ea typeface="Courier New"/>
                <a:cs typeface="Courier New"/>
                <a:sym typeface="Courier New"/>
              </a:rPr>
              <a:t>ES28.h</a:t>
            </a:r>
            <a:r>
              <a:rPr b="1" lang="en" sz="1100">
                <a:solidFill>
                  <a:srgbClr val="2A00FF"/>
                </a:solidFill>
                <a:highlight>
                  <a:schemeClr val="lt1"/>
                </a:highlight>
                <a:latin typeface="Courier New"/>
                <a:ea typeface="Courier New"/>
                <a:cs typeface="Courier New"/>
                <a:sym typeface="Courier New"/>
              </a:rPr>
              <a:t>"</a:t>
            </a:r>
            <a:endParaRPr b="1" sz="1100">
              <a:solidFill>
                <a:srgbClr val="7F0055"/>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rgbClr val="7F0055"/>
                </a:solidFill>
                <a:highlight>
                  <a:schemeClr val="lt1"/>
                </a:highlight>
                <a:latin typeface="Courier New"/>
                <a:ea typeface="Courier New"/>
                <a:cs typeface="Courier New"/>
                <a:sym typeface="Courier New"/>
              </a:rPr>
              <a:t>int</a:t>
            </a:r>
            <a:r>
              <a:rPr b="1" lang="en" sz="1100">
                <a:solidFill>
                  <a:schemeClr val="dk1"/>
                </a:solidFill>
                <a:highlight>
                  <a:schemeClr val="lt1"/>
                </a:highlight>
                <a:latin typeface="Courier New"/>
                <a:ea typeface="Courier New"/>
                <a:cs typeface="Courier New"/>
                <a:sym typeface="Courier New"/>
              </a:rPr>
              <a:t> </a:t>
            </a:r>
            <a:r>
              <a:rPr b="1" lang="en" sz="1100">
                <a:solidFill>
                  <a:srgbClr val="7F0055"/>
                </a:solidFill>
                <a:highlight>
                  <a:schemeClr val="lt1"/>
                </a:highlight>
                <a:latin typeface="Courier New"/>
                <a:ea typeface="Courier New"/>
                <a:cs typeface="Courier New"/>
                <a:sym typeface="Courier New"/>
              </a:rPr>
              <a:t>main</a:t>
            </a:r>
            <a:r>
              <a:rPr b="1" lang="en" sz="1100">
                <a:solidFill>
                  <a:schemeClr val="dk1"/>
                </a:solidFill>
                <a:highlight>
                  <a:schemeClr val="lt1"/>
                </a:highlight>
                <a:latin typeface="Courier New"/>
                <a:ea typeface="Courier New"/>
                <a:cs typeface="Courier New"/>
                <a:sym typeface="Courier New"/>
              </a:rPr>
              <a:t>(</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GPIOA-&gt;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 (1U&lt;&lt;10);	</a:t>
            </a:r>
            <a:r>
              <a:rPr b="1" lang="en" sz="1100">
                <a:solidFill>
                  <a:srgbClr val="3F7F5F"/>
                </a:solidFill>
                <a:highlight>
                  <a:srgbClr val="FFFFFF"/>
                </a:highlight>
                <a:latin typeface="Courier New"/>
                <a:ea typeface="Courier New"/>
                <a:cs typeface="Courier New"/>
                <a:sym typeface="Courier New"/>
              </a:rPr>
              <a:t>// 2. Configure PA5 (Port A, bit 5)</a:t>
            </a:r>
            <a:endParaRPr b="1" sz="1100">
              <a:solidFill>
                <a:srgbClr val="3F7F5F"/>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GPIOA-&gt;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&amp;= ~(1U&lt;&lt;11);</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a:t>
            </a:r>
            <a:endParaRPr b="1" sz="1100">
              <a:solidFill>
                <a:srgbClr val="7F0055"/>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10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a:solidFill>
                  <a:srgbClr val="0000FF"/>
                </a:solidFill>
                <a:highlight>
                  <a:srgbClr val="FFFFFF"/>
                </a:highlight>
              </a:rPr>
              <a:t>Open the STM32C0x1 Reference Manual and use it to fill in this table:</a:t>
            </a:r>
            <a:endParaRPr>
              <a:solidFill>
                <a:srgbClr val="0000FF"/>
              </a:solidFill>
              <a:highlight>
                <a:srgbClr val="FFFFFF"/>
              </a:highlight>
            </a:endParaRPr>
          </a:p>
        </p:txBody>
      </p:sp>
      <p:graphicFrame>
        <p:nvGraphicFramePr>
          <p:cNvPr id="114" name="Google Shape;114;p22"/>
          <p:cNvGraphicFramePr/>
          <p:nvPr/>
        </p:nvGraphicFramePr>
        <p:xfrm>
          <a:off x="415963" y="3206025"/>
          <a:ext cx="3000000" cy="3000000"/>
        </p:xfrm>
        <a:graphic>
          <a:graphicData uri="http://schemas.openxmlformats.org/drawingml/2006/table">
            <a:tbl>
              <a:tblPr>
                <a:noFill/>
                <a:tableStyleId>{0A91F8EE-AF9D-4D32-834B-25F783E5C243}</a:tableStyleId>
              </a:tblPr>
              <a:tblGrid>
                <a:gridCol w="3415525"/>
                <a:gridCol w="1984225"/>
                <a:gridCol w="2912325"/>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Name</a:t>
                      </a:r>
                      <a:endParaRPr/>
                    </a:p>
                  </a:txBody>
                  <a:tcPr marT="91425" marB="91425" marR="91425" marL="91425"/>
                </a:tc>
                <a:tc>
                  <a:txBody>
                    <a:bodyPr/>
                    <a:lstStyle/>
                    <a:p>
                      <a:pPr indent="0" lvl="0" marL="0" rtl="0" algn="l">
                        <a:spcBef>
                          <a:spcPts val="0"/>
                        </a:spcBef>
                        <a:spcAft>
                          <a:spcPts val="0"/>
                        </a:spcAft>
                        <a:buNone/>
                      </a:pPr>
                      <a:r>
                        <a:rPr lang="en"/>
                        <a:t>How to refer to it in code</a:t>
                      </a:r>
                      <a:endParaRPr/>
                    </a:p>
                  </a:txBody>
                  <a:tcPr marT="91425" marB="91425" marR="91425" marL="91425"/>
                </a:tc>
              </a:tr>
              <a:tr h="381000">
                <a:tc>
                  <a:txBody>
                    <a:bodyPr/>
                    <a:lstStyle/>
                    <a:p>
                      <a:pPr indent="0" lvl="0" marL="0" rtl="0" algn="l">
                        <a:lnSpc>
                          <a:spcPct val="115000"/>
                        </a:lnSpc>
                        <a:spcBef>
                          <a:spcPts val="0"/>
                        </a:spcBef>
                        <a:spcAft>
                          <a:spcPts val="0"/>
                        </a:spcAft>
                        <a:buNone/>
                      </a:pPr>
                      <a:r>
                        <a:rPr lang="en">
                          <a:solidFill>
                            <a:srgbClr val="0000FF"/>
                          </a:solidFill>
                          <a:highlight>
                            <a:schemeClr val="lt1"/>
                          </a:highlight>
                        </a:rPr>
                        <a:t>Register in which to set mode for PA5</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Bits to modify for PA5</a:t>
                      </a:r>
                      <a:endParaRPr>
                        <a:solidFill>
                          <a:srgbClr val="0000FF"/>
                        </a:solidFill>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15" name="Google Shape;115;p22"/>
          <p:cNvSpPr txBox="1"/>
          <p:nvPr/>
        </p:nvSpPr>
        <p:spPr>
          <a:xfrm>
            <a:off x="385725" y="4881350"/>
            <a:ext cx="8312100" cy="163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rgbClr val="0000FF"/>
                </a:solidFill>
                <a:highlight>
                  <a:schemeClr val="lt1"/>
                </a:highlight>
              </a:rPr>
              <a:t>Code to configure PA5 as output pin:</a:t>
            </a:r>
            <a:endParaRPr>
              <a:solidFill>
                <a:srgbClr val="0000FF"/>
              </a:solidFill>
              <a:highlight>
                <a:schemeClr val="lt1"/>
              </a:highlight>
            </a:endParaRPr>
          </a:p>
          <a:p>
            <a:pPr indent="0" lvl="0" marL="0" rtl="0" algn="l">
              <a:lnSpc>
                <a:spcPct val="115000"/>
              </a:lnSpc>
              <a:spcBef>
                <a:spcPts val="0"/>
              </a:spcBef>
              <a:spcAft>
                <a:spcPts val="0"/>
              </a:spcAft>
              <a:buNone/>
            </a:pPr>
            <a:r>
              <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a:solidFill>
                  <a:srgbClr val="0000FF"/>
                </a:solidFill>
                <a:highlight>
                  <a:schemeClr val="lt1"/>
                </a:highlight>
              </a:rPr>
              <a:t>Is there a better way? Idea: clear both bits, then write both bits at the same time with their respective values. How? </a:t>
            </a:r>
            <a:endParaRPr b="1">
              <a:solidFill>
                <a:schemeClr val="dk1"/>
              </a:solidFill>
              <a:highlight>
                <a:schemeClr val="lt1"/>
              </a:highlight>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3643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Set mode register </a:t>
            </a:r>
            <a:endParaRPr/>
          </a:p>
        </p:txBody>
      </p:sp>
      <p:pic>
        <p:nvPicPr>
          <p:cNvPr id="121" name="Google Shape;121;p23"/>
          <p:cNvPicPr preferRelativeResize="0"/>
          <p:nvPr/>
        </p:nvPicPr>
        <p:blipFill>
          <a:blip r:embed="rId3">
            <a:alphaModFix/>
          </a:blip>
          <a:stretch>
            <a:fillRect/>
          </a:stretch>
        </p:blipFill>
        <p:spPr>
          <a:xfrm>
            <a:off x="152400" y="1198292"/>
            <a:ext cx="8839201" cy="522281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1594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Set mode register for PA5 to output mode</a:t>
            </a:r>
            <a:endParaRPr/>
          </a:p>
        </p:txBody>
      </p:sp>
      <p:sp>
        <p:nvSpPr>
          <p:cNvPr id="127" name="Google Shape;127;p24"/>
          <p:cNvSpPr txBox="1"/>
          <p:nvPr/>
        </p:nvSpPr>
        <p:spPr>
          <a:xfrm>
            <a:off x="311700" y="855750"/>
            <a:ext cx="8520600" cy="226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7F0055"/>
                </a:solidFill>
                <a:highlight>
                  <a:schemeClr val="lt1"/>
                </a:highlight>
                <a:latin typeface="Courier New"/>
                <a:ea typeface="Courier New"/>
                <a:cs typeface="Courier New"/>
                <a:sym typeface="Courier New"/>
              </a:rPr>
              <a:t>#include </a:t>
            </a:r>
            <a:r>
              <a:rPr b="1" lang="en" sz="1100">
                <a:solidFill>
                  <a:srgbClr val="2A00FF"/>
                </a:solidFill>
                <a:highlight>
                  <a:schemeClr val="lt1"/>
                </a:highlight>
                <a:latin typeface="Courier New"/>
                <a:ea typeface="Courier New"/>
                <a:cs typeface="Courier New"/>
                <a:sym typeface="Courier New"/>
              </a:rPr>
              <a:t>"</a:t>
            </a:r>
            <a:r>
              <a:rPr b="1" lang="en" sz="1100">
                <a:solidFill>
                  <a:srgbClr val="3F3FBF"/>
                </a:solidFill>
                <a:highlight>
                  <a:schemeClr val="lt1"/>
                </a:highlight>
                <a:latin typeface="Courier New"/>
                <a:ea typeface="Courier New"/>
                <a:cs typeface="Courier New"/>
                <a:sym typeface="Courier New"/>
              </a:rPr>
              <a:t>ES28.h</a:t>
            </a:r>
            <a:r>
              <a:rPr b="1" lang="en" sz="1100">
                <a:solidFill>
                  <a:srgbClr val="2A00FF"/>
                </a:solidFill>
                <a:highlight>
                  <a:schemeClr val="lt1"/>
                </a:highlight>
                <a:latin typeface="Courier New"/>
                <a:ea typeface="Courier New"/>
                <a:cs typeface="Courier New"/>
                <a:sym typeface="Courier New"/>
              </a:rPr>
              <a:t>"</a:t>
            </a:r>
            <a:endParaRPr b="1" sz="1100">
              <a:solidFill>
                <a:srgbClr val="7F0055"/>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rgbClr val="7F0055"/>
                </a:solidFill>
                <a:highlight>
                  <a:schemeClr val="lt1"/>
                </a:highlight>
                <a:latin typeface="Courier New"/>
                <a:ea typeface="Courier New"/>
                <a:cs typeface="Courier New"/>
                <a:sym typeface="Courier New"/>
              </a:rPr>
              <a:t>int</a:t>
            </a:r>
            <a:r>
              <a:rPr b="1" lang="en" sz="1100">
                <a:solidFill>
                  <a:schemeClr val="dk1"/>
                </a:solidFill>
                <a:highlight>
                  <a:schemeClr val="lt1"/>
                </a:highlight>
                <a:latin typeface="Courier New"/>
                <a:ea typeface="Courier New"/>
                <a:cs typeface="Courier New"/>
                <a:sym typeface="Courier New"/>
              </a:rPr>
              <a:t> </a:t>
            </a:r>
            <a:r>
              <a:rPr b="1" lang="en" sz="1100">
                <a:solidFill>
                  <a:srgbClr val="7F0055"/>
                </a:solidFill>
                <a:highlight>
                  <a:schemeClr val="lt1"/>
                </a:highlight>
                <a:latin typeface="Courier New"/>
                <a:ea typeface="Courier New"/>
                <a:cs typeface="Courier New"/>
                <a:sym typeface="Courier New"/>
              </a:rPr>
              <a:t>main</a:t>
            </a:r>
            <a:r>
              <a:rPr b="1" lang="en" sz="1100">
                <a:solidFill>
                  <a:schemeClr val="dk1"/>
                </a:solidFill>
                <a:highlight>
                  <a:schemeClr val="lt1"/>
                </a:highlight>
                <a:latin typeface="Courier New"/>
                <a:ea typeface="Courier New"/>
                <a:cs typeface="Courier New"/>
                <a:sym typeface="Courier New"/>
              </a:rPr>
              <a:t>(</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GPIOA-&gt;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 (1U&lt;&lt;10);	</a:t>
            </a:r>
            <a:r>
              <a:rPr b="1" lang="en" sz="1100">
                <a:solidFill>
                  <a:srgbClr val="3F7F5F"/>
                </a:solidFill>
                <a:highlight>
                  <a:srgbClr val="FFFFFF"/>
                </a:highlight>
                <a:latin typeface="Courier New"/>
                <a:ea typeface="Courier New"/>
                <a:cs typeface="Courier New"/>
                <a:sym typeface="Courier New"/>
              </a:rPr>
              <a:t>// 2. Configure PA5 (Port A, bit 5)</a:t>
            </a:r>
            <a:endParaRPr b="1" sz="1100">
              <a:solidFill>
                <a:srgbClr val="3F7F5F"/>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GPIOA-&gt;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&amp;= ~(1U&lt;&lt;11);</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a:t>
            </a:r>
            <a:endParaRPr b="1" sz="1100">
              <a:solidFill>
                <a:srgbClr val="7F0055"/>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10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a:solidFill>
                  <a:srgbClr val="0000FF"/>
                </a:solidFill>
                <a:highlight>
                  <a:srgbClr val="FFFFFF"/>
                </a:highlight>
              </a:rPr>
              <a:t>Open the STM32C0x1 Reference Manual and use it to fill in this table:</a:t>
            </a:r>
            <a:endParaRPr>
              <a:solidFill>
                <a:srgbClr val="0000FF"/>
              </a:solidFill>
              <a:highlight>
                <a:srgbClr val="FFFFFF"/>
              </a:highlight>
            </a:endParaRPr>
          </a:p>
        </p:txBody>
      </p:sp>
      <p:graphicFrame>
        <p:nvGraphicFramePr>
          <p:cNvPr id="128" name="Google Shape;128;p24"/>
          <p:cNvGraphicFramePr/>
          <p:nvPr/>
        </p:nvGraphicFramePr>
        <p:xfrm>
          <a:off x="415963" y="3206025"/>
          <a:ext cx="3000000" cy="3000000"/>
        </p:xfrm>
        <a:graphic>
          <a:graphicData uri="http://schemas.openxmlformats.org/drawingml/2006/table">
            <a:tbl>
              <a:tblPr>
                <a:noFill/>
                <a:tableStyleId>{0A91F8EE-AF9D-4D32-834B-25F783E5C243}</a:tableStyleId>
              </a:tblPr>
              <a:tblGrid>
                <a:gridCol w="3415525"/>
                <a:gridCol w="1984225"/>
                <a:gridCol w="2912325"/>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Name</a:t>
                      </a:r>
                      <a:endParaRPr/>
                    </a:p>
                  </a:txBody>
                  <a:tcPr marT="91425" marB="91425" marR="91425" marL="91425"/>
                </a:tc>
                <a:tc>
                  <a:txBody>
                    <a:bodyPr/>
                    <a:lstStyle/>
                    <a:p>
                      <a:pPr indent="0" lvl="0" marL="0" rtl="0" algn="l">
                        <a:spcBef>
                          <a:spcPts val="0"/>
                        </a:spcBef>
                        <a:spcAft>
                          <a:spcPts val="0"/>
                        </a:spcAft>
                        <a:buNone/>
                      </a:pPr>
                      <a:r>
                        <a:rPr lang="en"/>
                        <a:t>How to refer to it in code</a:t>
                      </a:r>
                      <a:endParaRPr/>
                    </a:p>
                  </a:txBody>
                  <a:tcPr marT="91425" marB="91425" marR="91425" marL="91425"/>
                </a:tc>
              </a:tr>
              <a:tr h="381000">
                <a:tc>
                  <a:txBody>
                    <a:bodyPr/>
                    <a:lstStyle/>
                    <a:p>
                      <a:pPr indent="0" lvl="0" marL="0" rtl="0" algn="l">
                        <a:lnSpc>
                          <a:spcPct val="115000"/>
                        </a:lnSpc>
                        <a:spcBef>
                          <a:spcPts val="0"/>
                        </a:spcBef>
                        <a:spcAft>
                          <a:spcPts val="0"/>
                        </a:spcAft>
                        <a:buNone/>
                      </a:pPr>
                      <a:r>
                        <a:rPr lang="en">
                          <a:solidFill>
                            <a:srgbClr val="0000FF"/>
                          </a:solidFill>
                          <a:highlight>
                            <a:schemeClr val="lt1"/>
                          </a:highlight>
                        </a:rPr>
                        <a:t>Register in which to set mode for PA5</a:t>
                      </a:r>
                      <a:endParaRPr/>
                    </a:p>
                  </a:txBody>
                  <a:tcPr marT="91425" marB="91425" marR="91425" marL="91425"/>
                </a:tc>
                <a:tc>
                  <a:txBody>
                    <a:bodyPr/>
                    <a:lstStyle/>
                    <a:p>
                      <a:pPr indent="0" lvl="0" marL="0" rtl="0" algn="l">
                        <a:spcBef>
                          <a:spcPts val="0"/>
                        </a:spcBef>
                        <a:spcAft>
                          <a:spcPts val="0"/>
                        </a:spcAft>
                        <a:buNone/>
                      </a:pPr>
                      <a:r>
                        <a:rPr lang="en"/>
                        <a:t>GPIOA_MODER</a:t>
                      </a:r>
                      <a:endParaRPr/>
                    </a:p>
                  </a:txBody>
                  <a:tcPr marT="91425" marB="91425" marR="91425" marL="91425"/>
                </a:tc>
                <a:tc>
                  <a:txBody>
                    <a:bodyPr/>
                    <a:lstStyle/>
                    <a:p>
                      <a:pPr indent="0" lvl="0" marL="0" rtl="0" algn="l">
                        <a:spcBef>
                          <a:spcPts val="0"/>
                        </a:spcBef>
                        <a:spcAft>
                          <a:spcPts val="0"/>
                        </a:spcAft>
                        <a:buNone/>
                      </a:pPr>
                      <a:r>
                        <a:rPr lang="en"/>
                        <a:t>GPIOA-&gt;MODER</a:t>
                      </a:r>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Bits to modify for PA5</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t>MODE5[0]</a:t>
                      </a:r>
                      <a:endParaRPr/>
                    </a:p>
                    <a:p>
                      <a:pPr indent="0" lvl="0" marL="0" rtl="0" algn="l">
                        <a:spcBef>
                          <a:spcPts val="0"/>
                        </a:spcBef>
                        <a:spcAft>
                          <a:spcPts val="0"/>
                        </a:spcAft>
                        <a:buNone/>
                      </a:pPr>
                      <a:r>
                        <a:rPr lang="en"/>
                        <a:t>MODE5[1]</a:t>
                      </a:r>
                      <a:endParaRPr/>
                    </a:p>
                  </a:txBody>
                  <a:tcPr marT="91425" marB="91425" marR="91425" marL="91425"/>
                </a:tc>
                <a:tc>
                  <a:txBody>
                    <a:bodyPr/>
                    <a:lstStyle/>
                    <a:p>
                      <a:pPr indent="0" lvl="0" marL="0" rtl="0" algn="l">
                        <a:spcBef>
                          <a:spcPts val="0"/>
                        </a:spcBef>
                        <a:spcAft>
                          <a:spcPts val="0"/>
                        </a:spcAft>
                        <a:buNone/>
                      </a:pPr>
                      <a:r>
                        <a:rPr lang="en"/>
                        <a:t>GPIO_MODER_MODE5_0</a:t>
                      </a:r>
                      <a:endParaRPr/>
                    </a:p>
                    <a:p>
                      <a:pPr indent="0" lvl="0" marL="0" rtl="0" algn="l">
                        <a:spcBef>
                          <a:spcPts val="0"/>
                        </a:spcBef>
                        <a:spcAft>
                          <a:spcPts val="0"/>
                        </a:spcAft>
                        <a:buNone/>
                      </a:pPr>
                      <a:r>
                        <a:rPr lang="en"/>
                        <a:t>GPIO_MODER_MODE5_1</a:t>
                      </a:r>
                      <a:endParaRPr/>
                    </a:p>
                  </a:txBody>
                  <a:tcPr marT="91425" marB="91425" marR="91425" marL="91425"/>
                </a:tc>
              </a:tr>
            </a:tbl>
          </a:graphicData>
        </a:graphic>
      </p:graphicFrame>
      <p:sp>
        <p:nvSpPr>
          <p:cNvPr id="129" name="Google Shape;129;p24"/>
          <p:cNvSpPr txBox="1"/>
          <p:nvPr/>
        </p:nvSpPr>
        <p:spPr>
          <a:xfrm>
            <a:off x="385725" y="4881350"/>
            <a:ext cx="8312100" cy="163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rgbClr val="0000FF"/>
                </a:solidFill>
                <a:highlight>
                  <a:schemeClr val="lt1"/>
                </a:highlight>
              </a:rPr>
              <a:t>Code to configure PA5 as output pin:</a:t>
            </a:r>
            <a:endParaRPr>
              <a:solidFill>
                <a:srgbClr val="0000FF"/>
              </a:solidFill>
              <a:highlight>
                <a:schemeClr val="lt1"/>
              </a:highlight>
            </a:endParaRPr>
          </a:p>
          <a:p>
            <a:pPr indent="0" lvl="0" marL="0" rtl="0" algn="l">
              <a:lnSpc>
                <a:spcPct val="115000"/>
              </a:lnSpc>
              <a:spcBef>
                <a:spcPts val="0"/>
              </a:spcBef>
              <a:spcAft>
                <a:spcPts val="0"/>
              </a:spcAft>
              <a:buNone/>
            </a:pPr>
            <a:r>
              <a:rPr b="1" lang="en">
                <a:solidFill>
                  <a:schemeClr val="dk1"/>
                </a:solidFill>
                <a:highlight>
                  <a:schemeClr val="lt1"/>
                </a:highlight>
                <a:latin typeface="Courier New"/>
                <a:ea typeface="Courier New"/>
                <a:cs typeface="Courier New"/>
                <a:sym typeface="Courier New"/>
              </a:rPr>
              <a:t>GPIOA-&gt;MODER |= GPIO_MODER_MODE5_0;</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a:solidFill>
                  <a:schemeClr val="dk1"/>
                </a:solidFill>
                <a:highlight>
                  <a:schemeClr val="lt1"/>
                </a:highlight>
                <a:latin typeface="Courier New"/>
                <a:ea typeface="Courier New"/>
                <a:cs typeface="Courier New"/>
                <a:sym typeface="Courier New"/>
              </a:rPr>
              <a:t>GPIOA-&gt;MODER &amp;= ~GPIO_MODER_MODE5_1;</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a:solidFill>
                  <a:srgbClr val="0000FF"/>
                </a:solidFill>
                <a:highlight>
                  <a:schemeClr val="lt1"/>
                </a:highlight>
              </a:rPr>
              <a:t>Is there a better way? Idea: clear both bits, then write both bits at the same time with their respective values. How? </a:t>
            </a:r>
            <a:endParaRPr b="1">
              <a:solidFill>
                <a:schemeClr val="dk1"/>
              </a:solidFill>
              <a:highlight>
                <a:schemeClr val="lt1"/>
              </a:highlight>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118875" y="412525"/>
            <a:ext cx="2484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Another Way</a:t>
            </a:r>
            <a:endParaRPr/>
          </a:p>
        </p:txBody>
      </p:sp>
      <p:sp>
        <p:nvSpPr>
          <p:cNvPr id="135" name="Google Shape;135;p25"/>
          <p:cNvSpPr txBox="1"/>
          <p:nvPr>
            <p:ph idx="1" type="body"/>
          </p:nvPr>
        </p:nvSpPr>
        <p:spPr>
          <a:xfrm>
            <a:off x="263475" y="1572777"/>
            <a:ext cx="8520600" cy="330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0000FF"/>
                </a:solidFill>
                <a:highlight>
                  <a:schemeClr val="lt1"/>
                </a:highlight>
              </a:rPr>
              <a:t>Goal</a:t>
            </a:r>
            <a:r>
              <a:rPr lang="en">
                <a:solidFill>
                  <a:srgbClr val="0000FF"/>
                </a:solidFill>
                <a:highlight>
                  <a:schemeClr val="lt1"/>
                </a:highlight>
              </a:rPr>
              <a:t>: Make this code more readable:</a:t>
            </a:r>
            <a:endParaRPr>
              <a:solidFill>
                <a:srgbClr val="0000FF"/>
              </a:solidFill>
              <a:highlight>
                <a:schemeClr val="lt1"/>
              </a:highlight>
            </a:endParaRPr>
          </a:p>
          <a:p>
            <a:pPr indent="0" lvl="0" marL="0" rtl="0" algn="l">
              <a:spcBef>
                <a:spcPts val="0"/>
              </a:spcBef>
              <a:spcAft>
                <a:spcPts val="0"/>
              </a:spcAft>
              <a:buClr>
                <a:schemeClr val="dk1"/>
              </a:buClr>
              <a:buSzPts val="1100"/>
              <a:buFont typeface="Arial"/>
              <a:buNone/>
            </a:pPr>
            <a:r>
              <a:rPr b="1" lang="en" sz="1400">
                <a:solidFill>
                  <a:schemeClr val="dk1"/>
                </a:solidFill>
                <a:highlight>
                  <a:schemeClr val="lt1"/>
                </a:highlight>
                <a:latin typeface="Courier New"/>
                <a:ea typeface="Courier New"/>
                <a:cs typeface="Courier New"/>
                <a:sym typeface="Courier New"/>
              </a:rPr>
              <a:t>GPIOA-&gt;MODER |= GPIO_MODER_MODE5_0;</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b="1" lang="en" sz="1400">
                <a:solidFill>
                  <a:schemeClr val="dk1"/>
                </a:solidFill>
                <a:highlight>
                  <a:schemeClr val="lt1"/>
                </a:highlight>
                <a:latin typeface="Courier New"/>
                <a:ea typeface="Courier New"/>
                <a:cs typeface="Courier New"/>
                <a:sym typeface="Courier New"/>
              </a:rPr>
              <a:t>GPIOA-&gt;MODER &amp;= ~GPIO_MODER_MODE5_1;</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solidFill>
                  <a:srgbClr val="0000FF"/>
                </a:solidFill>
                <a:highlight>
                  <a:schemeClr val="lt1"/>
                </a:highlight>
              </a:rPr>
              <a:t>Step 1: Clear all bits involved in setting the mode for PA5:</a:t>
            </a:r>
            <a:endParaRPr>
              <a:solidFill>
                <a:srgbClr val="0000FF"/>
              </a:solidFill>
              <a:highlight>
                <a:schemeClr val="lt1"/>
              </a:highlight>
            </a:endParaRPr>
          </a:p>
          <a:p>
            <a:pPr indent="0" lvl="0" marL="0" rtl="0" algn="l">
              <a:spcBef>
                <a:spcPts val="0"/>
              </a:spcBef>
              <a:spcAft>
                <a:spcPts val="0"/>
              </a:spcAft>
              <a:buNone/>
            </a:pPr>
            <a:r>
              <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a:solidFill>
                  <a:srgbClr val="0000FF"/>
                </a:solidFill>
                <a:highlight>
                  <a:schemeClr val="lt1"/>
                </a:highlight>
              </a:rPr>
              <a:t>Step 2: Shift the correct value into both bits at once:</a:t>
            </a:r>
            <a:endParaRPr>
              <a:solidFill>
                <a:srgbClr val="0000FF"/>
              </a:solidFill>
              <a:highlight>
                <a:schemeClr val="lt1"/>
              </a:highlight>
            </a:endParaRPr>
          </a:p>
          <a:p>
            <a:pPr indent="0" lvl="0" marL="0" rtl="0" algn="l">
              <a:spcBef>
                <a:spcPts val="0"/>
              </a:spcBef>
              <a:spcAft>
                <a:spcPts val="0"/>
              </a:spcAft>
              <a:buNone/>
            </a:pPr>
            <a:r>
              <a:rPr b="1" lang="en" sz="1400">
                <a:solidFill>
                  <a:schemeClr val="dk1"/>
                </a:solidFill>
                <a:highlight>
                  <a:schemeClr val="lt1"/>
                </a:highlight>
                <a:latin typeface="Courier New"/>
                <a:ea typeface="Courier New"/>
                <a:cs typeface="Courier New"/>
                <a:sym typeface="Courier New"/>
              </a:rPr>
              <a:t>GPIOA-&gt;MODER |= (?? &lt;&lt; GPIO_MODER_MODE5_Pos);</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a:solidFill>
                  <a:srgbClr val="0000FF"/>
                </a:solidFill>
                <a:highlight>
                  <a:schemeClr val="lt1"/>
                </a:highlight>
              </a:rPr>
              <a:t>What should you put for "??"</a:t>
            </a:r>
            <a:endParaRPr>
              <a:solidFill>
                <a:srgbClr val="0000FF"/>
              </a:solidFill>
              <a:highlight>
                <a:schemeClr val="lt1"/>
              </a:highlight>
            </a:endParaRPr>
          </a:p>
          <a:p>
            <a:pPr indent="0" lvl="0" marL="0" rtl="0" algn="l">
              <a:spcBef>
                <a:spcPts val="0"/>
              </a:spcBef>
              <a:spcAft>
                <a:spcPts val="0"/>
              </a:spcAft>
              <a:buNone/>
            </a:pPr>
            <a:r>
              <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b="1" sz="1400">
              <a:solidFill>
                <a:schemeClr val="dk1"/>
              </a:solidFill>
              <a:highlight>
                <a:schemeClr val="lt1"/>
              </a:highlight>
              <a:latin typeface="Courier New"/>
              <a:ea typeface="Courier New"/>
              <a:cs typeface="Courier New"/>
              <a:sym typeface="Courier New"/>
            </a:endParaRPr>
          </a:p>
        </p:txBody>
      </p:sp>
      <p:pic>
        <p:nvPicPr>
          <p:cNvPr id="136" name="Google Shape;136;p25"/>
          <p:cNvPicPr preferRelativeResize="0"/>
          <p:nvPr/>
        </p:nvPicPr>
        <p:blipFill>
          <a:blip r:embed="rId3">
            <a:alphaModFix/>
          </a:blip>
          <a:stretch>
            <a:fillRect/>
          </a:stretch>
        </p:blipFill>
        <p:spPr>
          <a:xfrm>
            <a:off x="2665125" y="534021"/>
            <a:ext cx="6223500" cy="1014950"/>
          </a:xfrm>
          <a:prstGeom prst="rect">
            <a:avLst/>
          </a:prstGeom>
          <a:noFill/>
          <a:ln>
            <a:noFill/>
          </a:ln>
        </p:spPr>
      </p:pic>
      <p:sp>
        <p:nvSpPr>
          <p:cNvPr id="137" name="Google Shape;137;p25"/>
          <p:cNvSpPr txBox="1"/>
          <p:nvPr/>
        </p:nvSpPr>
        <p:spPr>
          <a:xfrm>
            <a:off x="2665125" y="72325"/>
            <a:ext cx="642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 stm32c031xx.h:</a:t>
            </a:r>
            <a:endParaRPr sz="1800">
              <a:solidFill>
                <a:schemeClr val="dk2"/>
              </a:solidFill>
            </a:endParaRPr>
          </a:p>
        </p:txBody>
      </p:sp>
      <p:graphicFrame>
        <p:nvGraphicFramePr>
          <p:cNvPr id="138" name="Google Shape;138;p25"/>
          <p:cNvGraphicFramePr/>
          <p:nvPr/>
        </p:nvGraphicFramePr>
        <p:xfrm>
          <a:off x="1024800" y="4742425"/>
          <a:ext cx="3000000" cy="3000000"/>
        </p:xfrm>
        <a:graphic>
          <a:graphicData uri="http://schemas.openxmlformats.org/drawingml/2006/table">
            <a:tbl>
              <a:tblPr>
                <a:noFill/>
                <a:tableStyleId>{0A91F8EE-AF9D-4D32-834B-25F783E5C243}</a:tableStyleId>
              </a:tblPr>
              <a:tblGrid>
                <a:gridCol w="2031350"/>
                <a:gridCol w="2031350"/>
                <a:gridCol w="2031350"/>
              </a:tblGrid>
              <a:tr h="381000">
                <a:tc>
                  <a:txBody>
                    <a:bodyPr/>
                    <a:lstStyle/>
                    <a:p>
                      <a:pPr indent="0" lvl="0" marL="0" rtl="0" algn="l">
                        <a:spcBef>
                          <a:spcPts val="0"/>
                        </a:spcBef>
                        <a:spcAft>
                          <a:spcPts val="0"/>
                        </a:spcAft>
                        <a:buNone/>
                      </a:pPr>
                      <a:r>
                        <a:rPr lang="en">
                          <a:solidFill>
                            <a:srgbClr val="0000FF"/>
                          </a:solidFill>
                        </a:rPr>
                        <a:t>Mode</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Values of the two bits</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Value for "??"</a:t>
                      </a:r>
                      <a:endParaRPr>
                        <a:solidFill>
                          <a:srgbClr val="0000FF"/>
                        </a:solidFill>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Input</a:t>
                      </a:r>
                      <a:endParaRPr>
                        <a:solidFill>
                          <a:srgbClr val="0000FF"/>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Output</a:t>
                      </a:r>
                      <a:endParaRPr>
                        <a:solidFill>
                          <a:srgbClr val="0000FF"/>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Alternate Function</a:t>
                      </a:r>
                      <a:endParaRPr>
                        <a:solidFill>
                          <a:srgbClr val="0000FF"/>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Analog</a:t>
                      </a:r>
                      <a:endParaRPr>
                        <a:solidFill>
                          <a:srgbClr val="0000FF"/>
                        </a:solidFill>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2" name="Shape 142"/>
        <p:cNvGrpSpPr/>
        <p:nvPr/>
      </p:nvGrpSpPr>
      <p:grpSpPr>
        <a:xfrm>
          <a:off x="0" y="0"/>
          <a:ext cx="0" cy="0"/>
          <a:chOff x="0" y="0"/>
          <a:chExt cx="0" cy="0"/>
        </a:xfrm>
      </p:grpSpPr>
      <p:sp>
        <p:nvSpPr>
          <p:cNvPr id="143" name="Google Shape;143;p26"/>
          <p:cNvSpPr txBox="1"/>
          <p:nvPr>
            <p:ph type="title"/>
          </p:nvPr>
        </p:nvSpPr>
        <p:spPr>
          <a:xfrm>
            <a:off x="118875" y="412525"/>
            <a:ext cx="2484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Another Way</a:t>
            </a:r>
            <a:endParaRPr/>
          </a:p>
        </p:txBody>
      </p:sp>
      <p:sp>
        <p:nvSpPr>
          <p:cNvPr id="144" name="Google Shape;144;p26"/>
          <p:cNvSpPr txBox="1"/>
          <p:nvPr>
            <p:ph idx="1" type="body"/>
          </p:nvPr>
        </p:nvSpPr>
        <p:spPr>
          <a:xfrm>
            <a:off x="263475" y="1572777"/>
            <a:ext cx="8520600" cy="330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highlight>
                  <a:schemeClr val="lt1"/>
                </a:highlight>
              </a:rPr>
              <a:t>Goal: Make this code more readable:</a:t>
            </a:r>
            <a:endParaRPr>
              <a:solidFill>
                <a:srgbClr val="0000FF"/>
              </a:solidFill>
              <a:highlight>
                <a:schemeClr val="lt1"/>
              </a:highlight>
            </a:endParaRPr>
          </a:p>
          <a:p>
            <a:pPr indent="0" lvl="0" marL="0" rtl="0" algn="l">
              <a:spcBef>
                <a:spcPts val="0"/>
              </a:spcBef>
              <a:spcAft>
                <a:spcPts val="0"/>
              </a:spcAft>
              <a:buNone/>
            </a:pPr>
            <a:r>
              <a:rPr b="1" lang="en" sz="1400">
                <a:solidFill>
                  <a:schemeClr val="dk1"/>
                </a:solidFill>
                <a:highlight>
                  <a:schemeClr val="lt1"/>
                </a:highlight>
                <a:latin typeface="Courier New"/>
                <a:ea typeface="Courier New"/>
                <a:cs typeface="Courier New"/>
                <a:sym typeface="Courier New"/>
              </a:rPr>
              <a:t>GPIOA-&gt;MODER |= GPIO_MODER_MODE5_0;</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b="1" lang="en" sz="1400">
                <a:solidFill>
                  <a:schemeClr val="dk1"/>
                </a:solidFill>
                <a:highlight>
                  <a:schemeClr val="lt1"/>
                </a:highlight>
                <a:latin typeface="Courier New"/>
                <a:ea typeface="Courier New"/>
                <a:cs typeface="Courier New"/>
                <a:sym typeface="Courier New"/>
              </a:rPr>
              <a:t>GPIOA-&gt;MODER &amp;= ~GPIO_MODER_MODE5_1;</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a:solidFill>
                  <a:srgbClr val="0000FF"/>
                </a:solidFill>
                <a:highlight>
                  <a:schemeClr val="lt1"/>
                </a:highlight>
              </a:rPr>
              <a:t>Step 1: Clear all bits involved in setting the mode for PA5:</a:t>
            </a:r>
            <a:endParaRPr>
              <a:solidFill>
                <a:srgbClr val="0000FF"/>
              </a:solidFill>
              <a:highlight>
                <a:schemeClr val="lt1"/>
              </a:highlight>
            </a:endParaRPr>
          </a:p>
          <a:p>
            <a:pPr indent="0" lvl="0" marL="0" rtl="0" algn="l">
              <a:spcBef>
                <a:spcPts val="0"/>
              </a:spcBef>
              <a:spcAft>
                <a:spcPts val="0"/>
              </a:spcAft>
              <a:buNone/>
            </a:pPr>
            <a:r>
              <a:rPr b="1" lang="en" sz="1400">
                <a:solidFill>
                  <a:schemeClr val="dk1"/>
                </a:solidFill>
                <a:highlight>
                  <a:schemeClr val="lt1"/>
                </a:highlight>
                <a:latin typeface="Courier New"/>
                <a:ea typeface="Courier New"/>
                <a:cs typeface="Courier New"/>
                <a:sym typeface="Courier New"/>
              </a:rPr>
              <a:t>GPIOA-&gt;MODER &amp;= ~GPIO_MODER_MODE5_Msk;</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a:solidFill>
                  <a:srgbClr val="0000FF"/>
                </a:solidFill>
                <a:highlight>
                  <a:schemeClr val="lt1"/>
                </a:highlight>
              </a:rPr>
              <a:t>Step 2: Shift the correct value into both bits at once:</a:t>
            </a:r>
            <a:endParaRPr>
              <a:solidFill>
                <a:srgbClr val="0000FF"/>
              </a:solidFill>
              <a:highlight>
                <a:schemeClr val="lt1"/>
              </a:highlight>
            </a:endParaRPr>
          </a:p>
          <a:p>
            <a:pPr indent="0" lvl="0" marL="0" rtl="0" algn="l">
              <a:spcBef>
                <a:spcPts val="0"/>
              </a:spcBef>
              <a:spcAft>
                <a:spcPts val="0"/>
              </a:spcAft>
              <a:buNone/>
            </a:pPr>
            <a:r>
              <a:rPr b="1" lang="en" sz="1400">
                <a:solidFill>
                  <a:schemeClr val="dk1"/>
                </a:solidFill>
                <a:highlight>
                  <a:schemeClr val="lt1"/>
                </a:highlight>
                <a:latin typeface="Courier New"/>
                <a:ea typeface="Courier New"/>
                <a:cs typeface="Courier New"/>
                <a:sym typeface="Courier New"/>
              </a:rPr>
              <a:t>GPIOA-&gt;MODER |= (?? &lt;&lt; GPIO_MODER_MODE5_Pos);</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a:solidFill>
                  <a:srgbClr val="0000FF"/>
                </a:solidFill>
                <a:highlight>
                  <a:schemeClr val="lt1"/>
                </a:highlight>
              </a:rPr>
              <a:t>What should you put for "??"</a:t>
            </a:r>
            <a:endParaRPr>
              <a:solidFill>
                <a:srgbClr val="0000FF"/>
              </a:solidFill>
              <a:highlight>
                <a:schemeClr val="lt1"/>
              </a:highlight>
            </a:endParaRPr>
          </a:p>
          <a:p>
            <a:pPr indent="0" lvl="0" marL="0" rtl="0" algn="l">
              <a:spcBef>
                <a:spcPts val="0"/>
              </a:spcBef>
              <a:spcAft>
                <a:spcPts val="0"/>
              </a:spcAft>
              <a:buNone/>
            </a:pPr>
            <a:r>
              <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b="1" sz="1400">
              <a:solidFill>
                <a:schemeClr val="dk1"/>
              </a:solidFill>
              <a:highlight>
                <a:schemeClr val="lt1"/>
              </a:highlight>
              <a:latin typeface="Courier New"/>
              <a:ea typeface="Courier New"/>
              <a:cs typeface="Courier New"/>
              <a:sym typeface="Courier New"/>
            </a:endParaRPr>
          </a:p>
        </p:txBody>
      </p:sp>
      <p:pic>
        <p:nvPicPr>
          <p:cNvPr id="145" name="Google Shape;145;p26"/>
          <p:cNvPicPr preferRelativeResize="0"/>
          <p:nvPr/>
        </p:nvPicPr>
        <p:blipFill>
          <a:blip r:embed="rId3">
            <a:alphaModFix/>
          </a:blip>
          <a:stretch>
            <a:fillRect/>
          </a:stretch>
        </p:blipFill>
        <p:spPr>
          <a:xfrm>
            <a:off x="2665125" y="534021"/>
            <a:ext cx="6223500" cy="1014950"/>
          </a:xfrm>
          <a:prstGeom prst="rect">
            <a:avLst/>
          </a:prstGeom>
          <a:noFill/>
          <a:ln>
            <a:noFill/>
          </a:ln>
        </p:spPr>
      </p:pic>
      <p:sp>
        <p:nvSpPr>
          <p:cNvPr id="146" name="Google Shape;146;p26"/>
          <p:cNvSpPr txBox="1"/>
          <p:nvPr/>
        </p:nvSpPr>
        <p:spPr>
          <a:xfrm>
            <a:off x="2665125" y="72325"/>
            <a:ext cx="642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 stm32c031xx.h:</a:t>
            </a:r>
            <a:endParaRPr sz="1800">
              <a:solidFill>
                <a:schemeClr val="dk2"/>
              </a:solidFill>
            </a:endParaRPr>
          </a:p>
        </p:txBody>
      </p:sp>
      <p:graphicFrame>
        <p:nvGraphicFramePr>
          <p:cNvPr id="147" name="Google Shape;147;p26"/>
          <p:cNvGraphicFramePr/>
          <p:nvPr/>
        </p:nvGraphicFramePr>
        <p:xfrm>
          <a:off x="765650" y="4754475"/>
          <a:ext cx="3000000" cy="3000000"/>
        </p:xfrm>
        <a:graphic>
          <a:graphicData uri="http://schemas.openxmlformats.org/drawingml/2006/table">
            <a:tbl>
              <a:tblPr>
                <a:noFill/>
                <a:tableStyleId>{0A91F8EE-AF9D-4D32-834B-25F783E5C243}</a:tableStyleId>
              </a:tblPr>
              <a:tblGrid>
                <a:gridCol w="1903175"/>
                <a:gridCol w="1903175"/>
                <a:gridCol w="1903175"/>
                <a:gridCol w="1903175"/>
              </a:tblGrid>
              <a:tr h="381000">
                <a:tc>
                  <a:txBody>
                    <a:bodyPr/>
                    <a:lstStyle/>
                    <a:p>
                      <a:pPr indent="0" lvl="0" marL="0" rtl="0" algn="l">
                        <a:spcBef>
                          <a:spcPts val="0"/>
                        </a:spcBef>
                        <a:spcAft>
                          <a:spcPts val="0"/>
                        </a:spcAft>
                        <a:buNone/>
                      </a:pPr>
                      <a:r>
                        <a:rPr lang="en">
                          <a:solidFill>
                            <a:srgbClr val="0000FF"/>
                          </a:solidFill>
                        </a:rPr>
                        <a:t>Mode</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Values of the two bits</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Value for "??"</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Macro name</a:t>
                      </a:r>
                      <a:endParaRPr>
                        <a:solidFill>
                          <a:srgbClr val="0000FF"/>
                        </a:solidFill>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Input</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t>00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GPIO_INPUT</a:t>
                      </a:r>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Output</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t>01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GPIO_OUTPUT</a:t>
                      </a:r>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Alternate Function</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t>10</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t>GPIO_ALTERNATE</a:t>
                      </a:r>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Analog</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
                        <a:t>11</a:t>
                      </a:r>
                      <a:endParaRPr/>
                    </a:p>
                  </a:txBody>
                  <a:tcPr marT="91425" marB="91425" marR="91425" marL="91425"/>
                </a:tc>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t>GPIO_ANALOG</a:t>
                      </a:r>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311700" y="280025"/>
            <a:ext cx="15204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Upshot</a:t>
            </a:r>
            <a:endParaRPr/>
          </a:p>
        </p:txBody>
      </p:sp>
      <p:sp>
        <p:nvSpPr>
          <p:cNvPr id="153" name="Google Shape;153;p27"/>
          <p:cNvSpPr txBox="1"/>
          <p:nvPr>
            <p:ph idx="1" type="body"/>
          </p:nvPr>
        </p:nvSpPr>
        <p:spPr>
          <a:xfrm>
            <a:off x="311700" y="2288450"/>
            <a:ext cx="6193500" cy="56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highlight>
                  <a:schemeClr val="lt1"/>
                </a:highlight>
              </a:rPr>
              <a:t>To set</a:t>
            </a:r>
            <a:r>
              <a:rPr lang="en">
                <a:solidFill>
                  <a:srgbClr val="0000FF"/>
                </a:solidFill>
                <a:highlight>
                  <a:schemeClr val="lt1"/>
                </a:highlight>
              </a:rPr>
              <a:t> PA5 to…:</a:t>
            </a:r>
            <a:endParaRPr>
              <a:solidFill>
                <a:srgbClr val="0000FF"/>
              </a:solidFill>
              <a:highlight>
                <a:schemeClr val="lt1"/>
              </a:highlight>
            </a:endParaRPr>
          </a:p>
          <a:p>
            <a:pPr indent="0" lvl="0" marL="0" rtl="0" algn="l">
              <a:spcBef>
                <a:spcPts val="0"/>
              </a:spcBef>
              <a:spcAft>
                <a:spcPts val="0"/>
              </a:spcAft>
              <a:buNone/>
            </a:pPr>
            <a:r>
              <a:t/>
            </a:r>
            <a:endParaRPr/>
          </a:p>
        </p:txBody>
      </p:sp>
      <p:pic>
        <p:nvPicPr>
          <p:cNvPr id="154" name="Google Shape;154;p27"/>
          <p:cNvPicPr preferRelativeResize="0"/>
          <p:nvPr/>
        </p:nvPicPr>
        <p:blipFill rotWithShape="1">
          <a:blip r:embed="rId3">
            <a:alphaModFix/>
          </a:blip>
          <a:srcRect b="64155" l="0" r="0" t="0"/>
          <a:stretch/>
        </p:blipFill>
        <p:spPr>
          <a:xfrm>
            <a:off x="3769100" y="713750"/>
            <a:ext cx="2534475" cy="1383275"/>
          </a:xfrm>
          <a:prstGeom prst="rect">
            <a:avLst/>
          </a:prstGeom>
          <a:noFill/>
          <a:ln>
            <a:noFill/>
          </a:ln>
        </p:spPr>
      </p:pic>
      <p:sp>
        <p:nvSpPr>
          <p:cNvPr id="155" name="Google Shape;155;p27"/>
          <p:cNvSpPr txBox="1"/>
          <p:nvPr/>
        </p:nvSpPr>
        <p:spPr>
          <a:xfrm>
            <a:off x="3769100" y="131675"/>
            <a:ext cx="212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 ES28.h:</a:t>
            </a:r>
            <a:endParaRPr sz="1800">
              <a:solidFill>
                <a:schemeClr val="dk2"/>
              </a:solidFill>
            </a:endParaRPr>
          </a:p>
        </p:txBody>
      </p:sp>
      <p:graphicFrame>
        <p:nvGraphicFramePr>
          <p:cNvPr id="156" name="Google Shape;156;p27"/>
          <p:cNvGraphicFramePr/>
          <p:nvPr/>
        </p:nvGraphicFramePr>
        <p:xfrm>
          <a:off x="311700" y="3040275"/>
          <a:ext cx="3000000" cy="3000000"/>
        </p:xfrm>
        <a:graphic>
          <a:graphicData uri="http://schemas.openxmlformats.org/drawingml/2006/table">
            <a:tbl>
              <a:tblPr>
                <a:noFill/>
                <a:tableStyleId>{0A91F8EE-AF9D-4D32-834B-25F783E5C243}</a:tableStyleId>
              </a:tblPr>
              <a:tblGrid>
                <a:gridCol w="2179625"/>
                <a:gridCol w="6361100"/>
              </a:tblGrid>
              <a:tr h="381000">
                <a:tc>
                  <a:txBody>
                    <a:bodyPr/>
                    <a:lstStyle/>
                    <a:p>
                      <a:pPr indent="0" lvl="0" marL="0" rtl="0" algn="l">
                        <a:spcBef>
                          <a:spcPts val="0"/>
                        </a:spcBef>
                        <a:spcAft>
                          <a:spcPts val="0"/>
                        </a:spcAft>
                        <a:buNone/>
                      </a:pPr>
                      <a:r>
                        <a:rPr lang="en">
                          <a:solidFill>
                            <a:srgbClr val="0000FF"/>
                          </a:solidFill>
                        </a:rPr>
                        <a:t>Input mode</a:t>
                      </a:r>
                      <a:endParaRPr>
                        <a:solidFill>
                          <a:srgbClr val="0000FF"/>
                        </a:solidFill>
                      </a:endParaRPr>
                    </a:p>
                  </a:txBody>
                  <a:tcPr marT="91425" marB="91425" marR="91425" marL="91425"/>
                </a:tc>
                <a:tc>
                  <a:txBody>
                    <a:bodyPr/>
                    <a:lstStyle/>
                    <a:p>
                      <a:pPr indent="0" lvl="0" marL="0" rtl="0" algn="l">
                        <a:lnSpc>
                          <a:spcPct val="115000"/>
                        </a:lnSpc>
                        <a:spcBef>
                          <a:spcPts val="0"/>
                        </a:spcBef>
                        <a:spcAft>
                          <a:spcPts val="0"/>
                        </a:spcAft>
                        <a:buNone/>
                      </a:pPr>
                      <a:r>
                        <a:rPr b="1" lang="en">
                          <a:solidFill>
                            <a:schemeClr val="dk1"/>
                          </a:solidFill>
                          <a:highlight>
                            <a:schemeClr val="lt1"/>
                          </a:highlight>
                          <a:latin typeface="Courier New"/>
                          <a:ea typeface="Courier New"/>
                          <a:cs typeface="Courier New"/>
                          <a:sym typeface="Courier New"/>
                        </a:rPr>
                        <a:t>GPIOA-&gt;MODER &amp;= ~GPIO_MODER_MODE5_Msk;</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a:solidFill>
                            <a:schemeClr val="dk1"/>
                          </a:solidFill>
                          <a:highlight>
                            <a:schemeClr val="lt1"/>
                          </a:highlight>
                          <a:latin typeface="Courier New"/>
                          <a:ea typeface="Courier New"/>
                          <a:cs typeface="Courier New"/>
                          <a:sym typeface="Courier New"/>
                        </a:rPr>
                        <a:t>GPIOA-&gt;MODER |= (GPIO_INPUT &lt;&lt; GPIO_MODER_MODE5_Pos);</a:t>
                      </a:r>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Output mode</a:t>
                      </a:r>
                      <a:endParaRPr>
                        <a:solidFill>
                          <a:srgbClr val="0000FF"/>
                        </a:solidFill>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GPIOA-&gt;MODER &amp;= ~GPIO_MODER_MODE5_Msk;</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a:solidFill>
                            <a:schemeClr val="dk1"/>
                          </a:solidFill>
                          <a:highlight>
                            <a:schemeClr val="lt1"/>
                          </a:highlight>
                          <a:latin typeface="Courier New"/>
                          <a:ea typeface="Courier New"/>
                          <a:cs typeface="Courier New"/>
                          <a:sym typeface="Courier New"/>
                        </a:rPr>
                        <a:t>GPIOA-&gt;MODER |= (GPIO_OUTPUT &lt;&lt; GPIO_MODER_MODE5_Pos);</a:t>
                      </a:r>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Alternate </a:t>
                      </a:r>
                      <a:r>
                        <a:rPr lang="en">
                          <a:solidFill>
                            <a:srgbClr val="0000FF"/>
                          </a:solidFill>
                        </a:rPr>
                        <a:t>function</a:t>
                      </a:r>
                      <a:r>
                        <a:rPr lang="en">
                          <a:solidFill>
                            <a:srgbClr val="0000FF"/>
                          </a:solidFill>
                        </a:rPr>
                        <a:t> mode</a:t>
                      </a:r>
                      <a:endParaRPr>
                        <a:solidFill>
                          <a:srgbClr val="0000FF"/>
                        </a:solidFill>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GPIOA-&gt;MODER &amp;= ~GPIO_MODER_MODE5_Msk;</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a:solidFill>
                            <a:schemeClr val="dk1"/>
                          </a:solidFill>
                          <a:highlight>
                            <a:schemeClr val="lt1"/>
                          </a:highlight>
                          <a:latin typeface="Courier New"/>
                          <a:ea typeface="Courier New"/>
                          <a:cs typeface="Courier New"/>
                          <a:sym typeface="Courier New"/>
                        </a:rPr>
                        <a:t>GPIOA-&gt;MODER |= (GPIO_ALTERNATE &lt;&lt; GPIO_MODER_MODE5_Pos);</a:t>
                      </a:r>
                      <a:endParaRPr/>
                    </a:p>
                  </a:txBody>
                  <a:tcPr marT="91425" marB="91425" marR="91425" marL="91425"/>
                </a:tc>
              </a:tr>
              <a:tr h="381000">
                <a:tc>
                  <a:txBody>
                    <a:bodyPr/>
                    <a:lstStyle/>
                    <a:p>
                      <a:pPr indent="0" lvl="0" marL="0" rtl="0" algn="l">
                        <a:spcBef>
                          <a:spcPts val="0"/>
                        </a:spcBef>
                        <a:spcAft>
                          <a:spcPts val="0"/>
                        </a:spcAft>
                        <a:buNone/>
                      </a:pPr>
                      <a:r>
                        <a:rPr lang="en">
                          <a:solidFill>
                            <a:srgbClr val="0000FF"/>
                          </a:solidFill>
                        </a:rPr>
                        <a:t>Analog mode</a:t>
                      </a:r>
                      <a:endParaRPr>
                        <a:solidFill>
                          <a:srgbClr val="0000FF"/>
                        </a:solidFill>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GPIOA-&gt;MODER &amp;= ~GPIO_MODER_MODE5_Msk;</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a:solidFill>
                            <a:schemeClr val="dk1"/>
                          </a:solidFill>
                          <a:highlight>
                            <a:schemeClr val="lt1"/>
                          </a:highlight>
                          <a:latin typeface="Courier New"/>
                          <a:ea typeface="Courier New"/>
                          <a:cs typeface="Courier New"/>
                          <a:sym typeface="Courier New"/>
                        </a:rPr>
                        <a:t>GPIOA-&gt;MODER |= (GPIO_ANALOG &lt;&lt; GPIO_MODER_MODE5_Pos);</a:t>
                      </a:r>
                      <a:endParaRPr/>
                    </a:p>
                  </a:txBody>
                  <a:tcPr marT="91425" marB="91425" marR="91425" marL="91425"/>
                </a:tc>
              </a:tr>
            </a:tbl>
          </a:graphicData>
        </a:graphic>
      </p:graphicFrame>
      <p:pic>
        <p:nvPicPr>
          <p:cNvPr id="157" name="Google Shape;157;p27"/>
          <p:cNvPicPr preferRelativeResize="0"/>
          <p:nvPr/>
        </p:nvPicPr>
        <p:blipFill rotWithShape="1">
          <a:blip r:embed="rId3">
            <a:alphaModFix/>
          </a:blip>
          <a:srcRect b="0" l="0" r="0" t="34284"/>
          <a:stretch/>
        </p:blipFill>
        <p:spPr>
          <a:xfrm>
            <a:off x="6456975" y="216925"/>
            <a:ext cx="2534475" cy="25360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ph type="title"/>
          </p:nvPr>
        </p:nvSpPr>
        <p:spPr>
          <a:xfrm>
            <a:off x="311700" y="2076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Your Turn!</a:t>
            </a:r>
            <a:endParaRPr/>
          </a:p>
        </p:txBody>
      </p:sp>
      <p:sp>
        <p:nvSpPr>
          <p:cNvPr id="163" name="Google Shape;163;p28"/>
          <p:cNvSpPr txBox="1"/>
          <p:nvPr>
            <p:ph idx="1" type="body"/>
          </p:nvPr>
        </p:nvSpPr>
        <p:spPr>
          <a:xfrm>
            <a:off x="311700" y="971201"/>
            <a:ext cx="8520600" cy="19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highlight>
                  <a:schemeClr val="lt1"/>
                </a:highlight>
              </a:rPr>
              <a:t>Enable the pullup for PB4. Code we used previously:</a:t>
            </a:r>
            <a:endParaRPr>
              <a:solidFill>
                <a:srgbClr val="0000FF"/>
              </a:solidFill>
              <a:highlight>
                <a:schemeClr val="lt1"/>
              </a:highlight>
            </a:endParaRPr>
          </a:p>
          <a:p>
            <a:pPr indent="0" lvl="0" marL="25400" rtl="0" algn="l">
              <a:spcBef>
                <a:spcPts val="0"/>
              </a:spcBef>
              <a:spcAft>
                <a:spcPts val="0"/>
              </a:spcAft>
              <a:buNone/>
            </a:pPr>
            <a:r>
              <a:t/>
            </a:r>
            <a:endParaRPr sz="1200">
              <a:solidFill>
                <a:schemeClr val="dk1"/>
              </a:solidFill>
              <a:highlight>
                <a:srgbClr val="FFFFFF"/>
              </a:highlight>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GPIOB-&gt;</a:t>
            </a:r>
            <a:r>
              <a:rPr b="1" lang="en" sz="1200">
                <a:solidFill>
                  <a:srgbClr val="0000C0"/>
                </a:solidFill>
                <a:highlight>
                  <a:srgbClr val="FFFFFF"/>
                </a:highlight>
                <a:latin typeface="Courier New"/>
                <a:ea typeface="Courier New"/>
                <a:cs typeface="Courier New"/>
                <a:sym typeface="Courier New"/>
              </a:rPr>
              <a:t>PUPDR</a:t>
            </a:r>
            <a:r>
              <a:rPr b="1" lang="en" sz="1200">
                <a:solidFill>
                  <a:schemeClr val="dk1"/>
                </a:solidFill>
                <a:highlight>
                  <a:srgbClr val="FFFFFF"/>
                </a:highlight>
                <a:latin typeface="Courier New"/>
                <a:ea typeface="Courier New"/>
                <a:cs typeface="Courier New"/>
                <a:sym typeface="Courier New"/>
              </a:rPr>
              <a:t> |= (1U&lt;&lt;8);	</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GPIOB-&gt;</a:t>
            </a:r>
            <a:r>
              <a:rPr b="1" lang="en" sz="1200">
                <a:solidFill>
                  <a:srgbClr val="0000C0"/>
                </a:solidFill>
                <a:highlight>
                  <a:srgbClr val="FFFFFF"/>
                </a:highlight>
                <a:latin typeface="Courier New"/>
                <a:ea typeface="Courier New"/>
                <a:cs typeface="Courier New"/>
                <a:sym typeface="Courier New"/>
              </a:rPr>
              <a:t>PUPDR</a:t>
            </a:r>
            <a:r>
              <a:rPr b="1" lang="en" sz="1200">
                <a:solidFill>
                  <a:schemeClr val="dk1"/>
                </a:solidFill>
                <a:highlight>
                  <a:srgbClr val="FFFFFF"/>
                </a:highlight>
                <a:latin typeface="Courier New"/>
                <a:ea typeface="Courier New"/>
                <a:cs typeface="Courier New"/>
                <a:sym typeface="Courier New"/>
              </a:rPr>
              <a:t> &amp;= ~(1U&lt;&lt;9);</a:t>
            </a:r>
            <a:endParaRPr b="1" sz="12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a:solidFill>
                <a:srgbClr val="0000FF"/>
              </a:solidFill>
              <a:highlight>
                <a:schemeClr val="lt1"/>
              </a:highlight>
            </a:endParaRPr>
          </a:p>
          <a:p>
            <a:pPr indent="0" lvl="0" marL="0" rtl="0" algn="l">
              <a:spcBef>
                <a:spcPts val="0"/>
              </a:spcBef>
              <a:spcAft>
                <a:spcPts val="0"/>
              </a:spcAft>
              <a:buClr>
                <a:schemeClr val="dk1"/>
              </a:buClr>
              <a:buSzPts val="1100"/>
              <a:buFont typeface="Arial"/>
              <a:buNone/>
            </a:pPr>
            <a:r>
              <a:rPr lang="en">
                <a:solidFill>
                  <a:srgbClr val="0000FF"/>
                </a:solidFill>
                <a:highlight>
                  <a:schemeClr val="lt1"/>
                </a:highlight>
              </a:rPr>
              <a:t>Replace this with our new macro language.</a:t>
            </a:r>
            <a:endParaRPr>
              <a:solidFill>
                <a:srgbClr val="0000FF"/>
              </a:solidFill>
              <a:highlight>
                <a:schemeClr val="lt1"/>
              </a:highlight>
            </a:endParaRPr>
          </a:p>
        </p:txBody>
      </p:sp>
      <p:pic>
        <p:nvPicPr>
          <p:cNvPr id="164" name="Google Shape;164;p28"/>
          <p:cNvPicPr preferRelativeResize="0"/>
          <p:nvPr/>
        </p:nvPicPr>
        <p:blipFill rotWithShape="1">
          <a:blip r:embed="rId3">
            <a:alphaModFix/>
          </a:blip>
          <a:srcRect b="0" l="0" r="0" t="54477"/>
          <a:stretch/>
        </p:blipFill>
        <p:spPr>
          <a:xfrm>
            <a:off x="0" y="5375518"/>
            <a:ext cx="7991475" cy="1409200"/>
          </a:xfrm>
          <a:prstGeom prst="rect">
            <a:avLst/>
          </a:prstGeom>
          <a:noFill/>
          <a:ln>
            <a:noFill/>
          </a:ln>
        </p:spPr>
      </p:pic>
      <p:pic>
        <p:nvPicPr>
          <p:cNvPr id="165" name="Google Shape;165;p28"/>
          <p:cNvPicPr preferRelativeResize="0"/>
          <p:nvPr/>
        </p:nvPicPr>
        <p:blipFill rotWithShape="1">
          <a:blip r:embed="rId3">
            <a:alphaModFix/>
          </a:blip>
          <a:srcRect b="80535" l="0" r="0" t="0"/>
          <a:stretch/>
        </p:blipFill>
        <p:spPr>
          <a:xfrm>
            <a:off x="167075" y="4772956"/>
            <a:ext cx="7991475" cy="602575"/>
          </a:xfrm>
          <a:prstGeom prst="rect">
            <a:avLst/>
          </a:prstGeom>
          <a:noFill/>
          <a:ln>
            <a:noFill/>
          </a:ln>
        </p:spPr>
      </p:pic>
      <p:pic>
        <p:nvPicPr>
          <p:cNvPr id="166" name="Google Shape;166;p28"/>
          <p:cNvPicPr preferRelativeResize="0"/>
          <p:nvPr/>
        </p:nvPicPr>
        <p:blipFill rotWithShape="1">
          <a:blip r:embed="rId4">
            <a:alphaModFix/>
          </a:blip>
          <a:srcRect b="64155" l="0" r="0" t="0"/>
          <a:stretch/>
        </p:blipFill>
        <p:spPr>
          <a:xfrm>
            <a:off x="6541225" y="789775"/>
            <a:ext cx="2534475" cy="1383275"/>
          </a:xfrm>
          <a:prstGeom prst="rect">
            <a:avLst/>
          </a:prstGeom>
          <a:noFill/>
          <a:ln>
            <a:noFill/>
          </a:ln>
        </p:spPr>
      </p:pic>
      <p:sp>
        <p:nvSpPr>
          <p:cNvPr id="167" name="Google Shape;167;p28"/>
          <p:cNvSpPr txBox="1"/>
          <p:nvPr/>
        </p:nvSpPr>
        <p:spPr>
          <a:xfrm>
            <a:off x="6541225" y="207700"/>
            <a:ext cx="212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 ES28.h:</a:t>
            </a:r>
            <a:endParaRPr sz="18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type="title"/>
          </p:nvPr>
        </p:nvSpPr>
        <p:spPr>
          <a:xfrm>
            <a:off x="311700" y="2076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Your Turn!</a:t>
            </a:r>
            <a:endParaRPr/>
          </a:p>
        </p:txBody>
      </p:sp>
      <p:sp>
        <p:nvSpPr>
          <p:cNvPr id="173" name="Google Shape;173;p29"/>
          <p:cNvSpPr txBox="1"/>
          <p:nvPr>
            <p:ph idx="1" type="body"/>
          </p:nvPr>
        </p:nvSpPr>
        <p:spPr>
          <a:xfrm>
            <a:off x="311700" y="971208"/>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highlight>
                  <a:schemeClr val="lt1"/>
                </a:highlight>
              </a:rPr>
              <a:t>Enable the pullup for PB4. Code we used previously:</a:t>
            </a:r>
            <a:endParaRPr>
              <a:solidFill>
                <a:srgbClr val="0000FF"/>
              </a:solidFill>
              <a:highlight>
                <a:schemeClr val="lt1"/>
              </a:highlight>
            </a:endParaRPr>
          </a:p>
          <a:p>
            <a:pPr indent="0" lvl="0" marL="25400" rtl="0" algn="l">
              <a:spcBef>
                <a:spcPts val="0"/>
              </a:spcBef>
              <a:spcAft>
                <a:spcPts val="0"/>
              </a:spcAft>
              <a:buNone/>
            </a:pPr>
            <a:r>
              <a:t/>
            </a:r>
            <a:endParaRPr sz="1200">
              <a:solidFill>
                <a:schemeClr val="dk1"/>
              </a:solidFill>
              <a:highlight>
                <a:srgbClr val="FFFFFF"/>
              </a:highlight>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GPIOB-&gt;</a:t>
            </a:r>
            <a:r>
              <a:rPr b="1" lang="en" sz="1200">
                <a:solidFill>
                  <a:srgbClr val="0000C0"/>
                </a:solidFill>
                <a:highlight>
                  <a:srgbClr val="FFFFFF"/>
                </a:highlight>
                <a:latin typeface="Courier New"/>
                <a:ea typeface="Courier New"/>
                <a:cs typeface="Courier New"/>
                <a:sym typeface="Courier New"/>
              </a:rPr>
              <a:t>PUPDR</a:t>
            </a:r>
            <a:r>
              <a:rPr b="1" lang="en" sz="1200">
                <a:solidFill>
                  <a:schemeClr val="dk1"/>
                </a:solidFill>
                <a:highlight>
                  <a:srgbClr val="FFFFFF"/>
                </a:highlight>
                <a:latin typeface="Courier New"/>
                <a:ea typeface="Courier New"/>
                <a:cs typeface="Courier New"/>
                <a:sym typeface="Courier New"/>
              </a:rPr>
              <a:t> |= (1U&lt;&lt;8);	</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GPIOB-&gt;</a:t>
            </a:r>
            <a:r>
              <a:rPr b="1" lang="en" sz="1200">
                <a:solidFill>
                  <a:srgbClr val="0000C0"/>
                </a:solidFill>
                <a:highlight>
                  <a:srgbClr val="FFFFFF"/>
                </a:highlight>
                <a:latin typeface="Courier New"/>
                <a:ea typeface="Courier New"/>
                <a:cs typeface="Courier New"/>
                <a:sym typeface="Courier New"/>
              </a:rPr>
              <a:t>PUPDR</a:t>
            </a:r>
            <a:r>
              <a:rPr b="1" lang="en" sz="1200">
                <a:solidFill>
                  <a:schemeClr val="dk1"/>
                </a:solidFill>
                <a:highlight>
                  <a:srgbClr val="FFFFFF"/>
                </a:highlight>
                <a:latin typeface="Courier New"/>
                <a:ea typeface="Courier New"/>
                <a:cs typeface="Courier New"/>
                <a:sym typeface="Courier New"/>
              </a:rPr>
              <a:t> &amp;= ~(1U&lt;&lt;9);</a:t>
            </a:r>
            <a:endParaRPr b="1" sz="12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a:solidFill>
                <a:srgbClr val="0000FF"/>
              </a:solidFill>
              <a:highlight>
                <a:schemeClr val="lt1"/>
              </a:highlight>
            </a:endParaRPr>
          </a:p>
          <a:p>
            <a:pPr indent="0" lvl="0" marL="0" rtl="0" algn="l">
              <a:spcBef>
                <a:spcPts val="0"/>
              </a:spcBef>
              <a:spcAft>
                <a:spcPts val="0"/>
              </a:spcAft>
              <a:buNone/>
            </a:pPr>
            <a:r>
              <a:rPr lang="en">
                <a:solidFill>
                  <a:srgbClr val="0000FF"/>
                </a:solidFill>
                <a:highlight>
                  <a:schemeClr val="lt1"/>
                </a:highlight>
              </a:rPr>
              <a:t>Replace this with our new macro language.</a:t>
            </a:r>
            <a:endParaRPr>
              <a:solidFill>
                <a:srgbClr val="0000FF"/>
              </a:solidFill>
              <a:highlight>
                <a:schemeClr val="lt1"/>
              </a:highlight>
            </a:endParaRPr>
          </a:p>
          <a:p>
            <a:pPr indent="0" lvl="0" marL="25400" rtl="0" algn="l">
              <a:spcBef>
                <a:spcPts val="0"/>
              </a:spcBef>
              <a:spcAft>
                <a:spcPts val="0"/>
              </a:spcAft>
              <a:buNone/>
            </a:pPr>
            <a:r>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GPIOB-&gt;</a:t>
            </a:r>
            <a:r>
              <a:rPr b="1" lang="en" sz="1200">
                <a:solidFill>
                  <a:srgbClr val="0000C0"/>
                </a:solidFill>
                <a:highlight>
                  <a:srgbClr val="FFFFFF"/>
                </a:highlight>
                <a:latin typeface="Courier New"/>
                <a:ea typeface="Courier New"/>
                <a:cs typeface="Courier New"/>
                <a:sym typeface="Courier New"/>
              </a:rPr>
              <a:t>PUPDR</a:t>
            </a:r>
            <a:r>
              <a:rPr b="1" lang="en" sz="1200">
                <a:solidFill>
                  <a:schemeClr val="dk1"/>
                </a:solidFill>
                <a:highlight>
                  <a:srgbClr val="FFFFFF"/>
                </a:highlight>
                <a:latin typeface="Courier New"/>
                <a:ea typeface="Courier New"/>
                <a:cs typeface="Courier New"/>
                <a:sym typeface="Courier New"/>
              </a:rPr>
              <a:t> &amp;= ~GPIO_PUPDR_PUPD4_Msk;	</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GPIOB-&gt;</a:t>
            </a:r>
            <a:r>
              <a:rPr b="1" lang="en" sz="1200">
                <a:solidFill>
                  <a:srgbClr val="0000C0"/>
                </a:solidFill>
                <a:highlight>
                  <a:srgbClr val="FFFFFF"/>
                </a:highlight>
                <a:latin typeface="Courier New"/>
                <a:ea typeface="Courier New"/>
                <a:cs typeface="Courier New"/>
                <a:sym typeface="Courier New"/>
              </a:rPr>
              <a:t>PUPDR</a:t>
            </a:r>
            <a:r>
              <a:rPr b="1" lang="en" sz="1200">
                <a:solidFill>
                  <a:schemeClr val="dk1"/>
                </a:solidFill>
                <a:highlight>
                  <a:srgbClr val="FFFFFF"/>
                </a:highlight>
                <a:latin typeface="Courier New"/>
                <a:ea typeface="Courier New"/>
                <a:cs typeface="Courier New"/>
                <a:sym typeface="Courier New"/>
              </a:rPr>
              <a:t> |= (GPIO_PULLUP &lt;&lt; GPIO_PUPDR_PUPD4_Pos);</a:t>
            </a:r>
            <a:endParaRPr b="1" sz="12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a:solidFill>
                <a:srgbClr val="0000FF"/>
              </a:solidFill>
              <a:highlight>
                <a:schemeClr val="lt1"/>
              </a:highlight>
            </a:endParaRPr>
          </a:p>
        </p:txBody>
      </p:sp>
      <p:pic>
        <p:nvPicPr>
          <p:cNvPr id="174" name="Google Shape;174;p29"/>
          <p:cNvPicPr preferRelativeResize="0"/>
          <p:nvPr/>
        </p:nvPicPr>
        <p:blipFill>
          <a:blip r:embed="rId3">
            <a:alphaModFix/>
          </a:blip>
          <a:stretch>
            <a:fillRect/>
          </a:stretch>
        </p:blipFill>
        <p:spPr>
          <a:xfrm>
            <a:off x="2257875" y="3519400"/>
            <a:ext cx="6817826" cy="1102000"/>
          </a:xfrm>
          <a:prstGeom prst="rect">
            <a:avLst/>
          </a:prstGeom>
          <a:noFill/>
          <a:ln>
            <a:noFill/>
          </a:ln>
        </p:spPr>
      </p:pic>
      <p:pic>
        <p:nvPicPr>
          <p:cNvPr id="175" name="Google Shape;175;p29"/>
          <p:cNvPicPr preferRelativeResize="0"/>
          <p:nvPr/>
        </p:nvPicPr>
        <p:blipFill rotWithShape="1">
          <a:blip r:embed="rId4">
            <a:alphaModFix/>
          </a:blip>
          <a:srcRect b="64155" l="0" r="0" t="0"/>
          <a:stretch/>
        </p:blipFill>
        <p:spPr>
          <a:xfrm>
            <a:off x="6541225" y="789775"/>
            <a:ext cx="2534475" cy="1383275"/>
          </a:xfrm>
          <a:prstGeom prst="rect">
            <a:avLst/>
          </a:prstGeom>
          <a:noFill/>
          <a:ln>
            <a:noFill/>
          </a:ln>
        </p:spPr>
      </p:pic>
      <p:sp>
        <p:nvSpPr>
          <p:cNvPr id="176" name="Google Shape;176;p29"/>
          <p:cNvSpPr txBox="1"/>
          <p:nvPr/>
        </p:nvSpPr>
        <p:spPr>
          <a:xfrm>
            <a:off x="6541225" y="207700"/>
            <a:ext cx="212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 ES28.h:</a:t>
            </a:r>
            <a:endParaRPr sz="1800">
              <a:solidFill>
                <a:schemeClr val="dk2"/>
              </a:solidFill>
            </a:endParaRPr>
          </a:p>
        </p:txBody>
      </p:sp>
      <p:pic>
        <p:nvPicPr>
          <p:cNvPr id="177" name="Google Shape;177;p29"/>
          <p:cNvPicPr preferRelativeResize="0"/>
          <p:nvPr/>
        </p:nvPicPr>
        <p:blipFill rotWithShape="1">
          <a:blip r:embed="rId5">
            <a:alphaModFix/>
          </a:blip>
          <a:srcRect b="0" l="0" r="0" t="54477"/>
          <a:stretch/>
        </p:blipFill>
        <p:spPr>
          <a:xfrm>
            <a:off x="0" y="5375518"/>
            <a:ext cx="7991475" cy="1409200"/>
          </a:xfrm>
          <a:prstGeom prst="rect">
            <a:avLst/>
          </a:prstGeom>
          <a:noFill/>
          <a:ln>
            <a:noFill/>
          </a:ln>
        </p:spPr>
      </p:pic>
      <p:pic>
        <p:nvPicPr>
          <p:cNvPr id="178" name="Google Shape;178;p29"/>
          <p:cNvPicPr preferRelativeResize="0"/>
          <p:nvPr/>
        </p:nvPicPr>
        <p:blipFill rotWithShape="1">
          <a:blip r:embed="rId5">
            <a:alphaModFix/>
          </a:blip>
          <a:srcRect b="80535" l="0" r="0" t="0"/>
          <a:stretch/>
        </p:blipFill>
        <p:spPr>
          <a:xfrm>
            <a:off x="167075" y="4772956"/>
            <a:ext cx="7991475" cy="602575"/>
          </a:xfrm>
          <a:prstGeom prst="rect">
            <a:avLst/>
          </a:prstGeom>
          <a:noFill/>
          <a:ln>
            <a:noFill/>
          </a:ln>
        </p:spPr>
      </p:pic>
      <p:sp>
        <p:nvSpPr>
          <p:cNvPr id="179" name="Google Shape;179;p29"/>
          <p:cNvSpPr txBox="1"/>
          <p:nvPr/>
        </p:nvSpPr>
        <p:spPr>
          <a:xfrm>
            <a:off x="6651350" y="3017938"/>
            <a:ext cx="231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 stm32c031xx.h:</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0"/>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Transistors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 to Transistors</a:t>
            </a:r>
            <a:endParaRPr/>
          </a:p>
        </p:txBody>
      </p:sp>
      <p:sp>
        <p:nvSpPr>
          <p:cNvPr id="190" name="Google Shape;190;p31"/>
          <p:cNvSpPr txBox="1"/>
          <p:nvPr>
            <p:ph idx="1" type="body"/>
          </p:nvPr>
        </p:nvSpPr>
        <p:spPr>
          <a:xfrm>
            <a:off x="311700" y="1356875"/>
            <a:ext cx="4186500" cy="395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Transistors form the basic building blocks of all computer hardware.</a:t>
            </a:r>
            <a:endParaRPr/>
          </a:p>
          <a:p>
            <a:pPr indent="-342900" lvl="0" marL="457200" rtl="0" algn="l">
              <a:spcBef>
                <a:spcPts val="1600"/>
              </a:spcBef>
              <a:spcAft>
                <a:spcPts val="0"/>
              </a:spcAft>
              <a:buSzPts val="1800"/>
              <a:buChar char="●"/>
            </a:pPr>
            <a:r>
              <a:rPr lang="en"/>
              <a:t>Invented by William Shockley, John Bardeen and Walter Brattain in 1947, replacing previous vacuum tube technology.</a:t>
            </a:r>
            <a:endParaRPr/>
          </a:p>
          <a:p>
            <a:pPr indent="-342900" lvl="0" marL="457200" rtl="0" algn="l">
              <a:spcBef>
                <a:spcPts val="0"/>
              </a:spcBef>
              <a:spcAft>
                <a:spcPts val="0"/>
              </a:spcAft>
              <a:buSzPts val="1800"/>
              <a:buChar char="●"/>
            </a:pPr>
            <a:r>
              <a:rPr lang="en"/>
              <a:t>Won Nobel Prize for Physics in 1956.</a:t>
            </a:r>
            <a:endParaRPr/>
          </a:p>
          <a:p>
            <a:pPr indent="-342900" lvl="0" marL="457200" rtl="0" algn="l">
              <a:spcBef>
                <a:spcPts val="0"/>
              </a:spcBef>
              <a:spcAft>
                <a:spcPts val="0"/>
              </a:spcAft>
              <a:buSzPts val="1800"/>
              <a:buChar char="●"/>
            </a:pPr>
            <a:r>
              <a:rPr lang="en"/>
              <a:t>Used for applications such as amplification, switching and digital logic design.</a:t>
            </a:r>
            <a:endParaRPr/>
          </a:p>
          <a:p>
            <a:pPr indent="0" lvl="0" marL="0" rtl="0" algn="l">
              <a:spcBef>
                <a:spcPts val="1600"/>
              </a:spcBef>
              <a:spcAft>
                <a:spcPts val="1600"/>
              </a:spcAft>
              <a:buNone/>
            </a:pPr>
            <a:r>
              <a:t/>
            </a:r>
            <a:endParaRPr/>
          </a:p>
        </p:txBody>
      </p:sp>
      <p:pic>
        <p:nvPicPr>
          <p:cNvPr id="191" name="Google Shape;191;p31"/>
          <p:cNvPicPr preferRelativeResize="0"/>
          <p:nvPr/>
        </p:nvPicPr>
        <p:blipFill>
          <a:blip r:embed="rId3">
            <a:alphaModFix/>
          </a:blip>
          <a:stretch>
            <a:fillRect/>
          </a:stretch>
        </p:blipFill>
        <p:spPr>
          <a:xfrm>
            <a:off x="4650600" y="1170292"/>
            <a:ext cx="4341000" cy="3255750"/>
          </a:xfrm>
          <a:prstGeom prst="rect">
            <a:avLst/>
          </a:prstGeom>
          <a:noFill/>
          <a:ln>
            <a:noFill/>
          </a:ln>
        </p:spPr>
      </p:pic>
      <p:sp>
        <p:nvSpPr>
          <p:cNvPr id="192" name="Google Shape;192;p31"/>
          <p:cNvSpPr txBox="1"/>
          <p:nvPr/>
        </p:nvSpPr>
        <p:spPr>
          <a:xfrm>
            <a:off x="4980525" y="4576350"/>
            <a:ext cx="3468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COLOSSI computer using 2,400 vacuum tubes for logic circuitry.</a:t>
            </a:r>
            <a:endParaRPr sz="1800">
              <a:solidFill>
                <a:schemeClr val="dk2"/>
              </a:solidFill>
            </a:endParaRPr>
          </a:p>
        </p:txBody>
      </p:sp>
      <p:pic>
        <p:nvPicPr>
          <p:cNvPr id="193" name="Google Shape;193;p31"/>
          <p:cNvPicPr preferRelativeResize="0"/>
          <p:nvPr/>
        </p:nvPicPr>
        <p:blipFill>
          <a:blip r:embed="rId4">
            <a:alphaModFix/>
          </a:blip>
          <a:stretch>
            <a:fillRect/>
          </a:stretch>
        </p:blipFill>
        <p:spPr>
          <a:xfrm>
            <a:off x="1955070" y="5228620"/>
            <a:ext cx="1165675" cy="1320400"/>
          </a:xfrm>
          <a:prstGeom prst="rect">
            <a:avLst/>
          </a:prstGeom>
          <a:noFill/>
          <a:ln>
            <a:noFill/>
          </a:ln>
        </p:spPr>
      </p:pic>
      <p:pic>
        <p:nvPicPr>
          <p:cNvPr id="194" name="Google Shape;194;p31"/>
          <p:cNvPicPr preferRelativeResize="0"/>
          <p:nvPr/>
        </p:nvPicPr>
        <p:blipFill>
          <a:blip r:embed="rId5">
            <a:alphaModFix/>
          </a:blip>
          <a:stretch>
            <a:fillRect/>
          </a:stretch>
        </p:blipFill>
        <p:spPr>
          <a:xfrm>
            <a:off x="3581476" y="5261112"/>
            <a:ext cx="1257950" cy="1255424"/>
          </a:xfrm>
          <a:prstGeom prst="rect">
            <a:avLst/>
          </a:prstGeom>
          <a:noFill/>
          <a:ln>
            <a:noFill/>
          </a:ln>
        </p:spPr>
      </p:pic>
      <p:pic>
        <p:nvPicPr>
          <p:cNvPr id="195" name="Google Shape;195;p31"/>
          <p:cNvPicPr preferRelativeResize="0"/>
          <p:nvPr/>
        </p:nvPicPr>
        <p:blipFill>
          <a:blip r:embed="rId6">
            <a:alphaModFix/>
          </a:blip>
          <a:stretch>
            <a:fillRect/>
          </a:stretch>
        </p:blipFill>
        <p:spPr>
          <a:xfrm>
            <a:off x="5378375" y="5228622"/>
            <a:ext cx="1407650" cy="1554078"/>
          </a:xfrm>
          <a:prstGeom prst="rect">
            <a:avLst/>
          </a:prstGeom>
          <a:noFill/>
          <a:ln>
            <a:noFill/>
          </a:ln>
        </p:spPr>
      </p:pic>
      <p:pic>
        <p:nvPicPr>
          <p:cNvPr id="196" name="Google Shape;196;p31"/>
          <p:cNvPicPr preferRelativeResize="0"/>
          <p:nvPr/>
        </p:nvPicPr>
        <p:blipFill>
          <a:blip r:embed="rId7">
            <a:alphaModFix/>
          </a:blip>
          <a:stretch>
            <a:fillRect/>
          </a:stretch>
        </p:blipFill>
        <p:spPr>
          <a:xfrm>
            <a:off x="311700" y="5301838"/>
            <a:ext cx="1407650" cy="14076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can a transistor do?</a:t>
            </a:r>
            <a:endParaRPr/>
          </a:p>
        </p:txBody>
      </p:sp>
      <p:pic>
        <p:nvPicPr>
          <p:cNvPr id="202" name="Google Shape;202;p32"/>
          <p:cNvPicPr preferRelativeResize="0"/>
          <p:nvPr/>
        </p:nvPicPr>
        <p:blipFill>
          <a:blip r:embed="rId3">
            <a:alphaModFix/>
          </a:blip>
          <a:stretch>
            <a:fillRect/>
          </a:stretch>
        </p:blipFill>
        <p:spPr>
          <a:xfrm>
            <a:off x="311700" y="1847875"/>
            <a:ext cx="4114375" cy="3842675"/>
          </a:xfrm>
          <a:prstGeom prst="rect">
            <a:avLst/>
          </a:prstGeom>
          <a:noFill/>
          <a:ln>
            <a:noFill/>
          </a:ln>
        </p:spPr>
      </p:pic>
      <p:pic>
        <p:nvPicPr>
          <p:cNvPr id="203" name="Google Shape;203;p32"/>
          <p:cNvPicPr preferRelativeResize="0"/>
          <p:nvPr/>
        </p:nvPicPr>
        <p:blipFill>
          <a:blip r:embed="rId4">
            <a:alphaModFix/>
          </a:blip>
          <a:stretch>
            <a:fillRect/>
          </a:stretch>
        </p:blipFill>
        <p:spPr>
          <a:xfrm>
            <a:off x="4333516" y="1925225"/>
            <a:ext cx="4505685" cy="3765325"/>
          </a:xfrm>
          <a:prstGeom prst="rect">
            <a:avLst/>
          </a:prstGeom>
          <a:noFill/>
          <a:ln>
            <a:noFill/>
          </a:ln>
        </p:spPr>
      </p:pic>
      <p:sp>
        <p:nvSpPr>
          <p:cNvPr id="204" name="Google Shape;204;p32"/>
          <p:cNvSpPr txBox="1"/>
          <p:nvPr/>
        </p:nvSpPr>
        <p:spPr>
          <a:xfrm>
            <a:off x="2836900" y="5869000"/>
            <a:ext cx="5114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 circuit can be turned on and off with a switch.</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3"/>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can a transistor do?</a:t>
            </a:r>
            <a:endParaRPr/>
          </a:p>
        </p:txBody>
      </p:sp>
      <p:pic>
        <p:nvPicPr>
          <p:cNvPr id="210" name="Google Shape;210;p33"/>
          <p:cNvPicPr preferRelativeResize="0"/>
          <p:nvPr/>
        </p:nvPicPr>
        <p:blipFill>
          <a:blip r:embed="rId3">
            <a:alphaModFix/>
          </a:blip>
          <a:stretch>
            <a:fillRect/>
          </a:stretch>
        </p:blipFill>
        <p:spPr>
          <a:xfrm>
            <a:off x="103475" y="2264300"/>
            <a:ext cx="3976126" cy="2827651"/>
          </a:xfrm>
          <a:prstGeom prst="rect">
            <a:avLst/>
          </a:prstGeom>
          <a:noFill/>
          <a:ln>
            <a:noFill/>
          </a:ln>
        </p:spPr>
      </p:pic>
      <p:pic>
        <p:nvPicPr>
          <p:cNvPr id="211" name="Google Shape;211;p33"/>
          <p:cNvPicPr preferRelativeResize="0"/>
          <p:nvPr/>
        </p:nvPicPr>
        <p:blipFill>
          <a:blip r:embed="rId4">
            <a:alphaModFix/>
          </a:blip>
          <a:stretch>
            <a:fillRect/>
          </a:stretch>
        </p:blipFill>
        <p:spPr>
          <a:xfrm>
            <a:off x="4497825" y="2166600"/>
            <a:ext cx="4520240" cy="2925351"/>
          </a:xfrm>
          <a:prstGeom prst="rect">
            <a:avLst/>
          </a:prstGeom>
          <a:noFill/>
          <a:ln>
            <a:noFill/>
          </a:ln>
        </p:spPr>
      </p:pic>
      <p:sp>
        <p:nvSpPr>
          <p:cNvPr id="212" name="Google Shape;212;p33"/>
          <p:cNvSpPr txBox="1"/>
          <p:nvPr/>
        </p:nvSpPr>
        <p:spPr>
          <a:xfrm>
            <a:off x="385725" y="5335475"/>
            <a:ext cx="36354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Replacing the switch with a transistor allows us to remotely control the circuit.</a:t>
            </a:r>
            <a:endParaRPr sz="1800">
              <a:solidFill>
                <a:schemeClr val="dk2"/>
              </a:solidFill>
            </a:endParaRPr>
          </a:p>
        </p:txBody>
      </p:sp>
      <p:sp>
        <p:nvSpPr>
          <p:cNvPr id="213" name="Google Shape;213;p33"/>
          <p:cNvSpPr txBox="1"/>
          <p:nvPr/>
        </p:nvSpPr>
        <p:spPr>
          <a:xfrm>
            <a:off x="5722075" y="5612525"/>
            <a:ext cx="183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Remote switch</a:t>
            </a:r>
            <a:endParaRPr sz="1800">
              <a:solidFill>
                <a:schemeClr val="dk2"/>
              </a:solidFill>
            </a:endParaRPr>
          </a:p>
        </p:txBody>
      </p:sp>
      <p:cxnSp>
        <p:nvCxnSpPr>
          <p:cNvPr id="214" name="Google Shape;214;p33"/>
          <p:cNvCxnSpPr>
            <a:stCxn id="213" idx="1"/>
          </p:cNvCxnSpPr>
          <p:nvPr/>
        </p:nvCxnSpPr>
        <p:spPr>
          <a:xfrm rot="10800000">
            <a:off x="4827775" y="4567775"/>
            <a:ext cx="894300" cy="12756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4"/>
          <p:cNvSpPr txBox="1"/>
          <p:nvPr>
            <p:ph idx="1" type="body"/>
          </p:nvPr>
        </p:nvSpPr>
        <p:spPr>
          <a:xfrm>
            <a:off x="628100" y="908100"/>
            <a:ext cx="3698700" cy="50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00E6"/>
                </a:solidFill>
              </a:rPr>
              <a:t>B</a:t>
            </a:r>
            <a:r>
              <a:rPr b="1" lang="en">
                <a:solidFill>
                  <a:srgbClr val="0000E6"/>
                </a:solidFill>
              </a:rPr>
              <a:t>ipolar junction transistor </a:t>
            </a:r>
            <a:br>
              <a:rPr b="1" lang="en">
                <a:solidFill>
                  <a:srgbClr val="0000E6"/>
                </a:solidFill>
              </a:rPr>
            </a:br>
            <a:r>
              <a:rPr b="1" lang="en">
                <a:solidFill>
                  <a:srgbClr val="0000E6"/>
                </a:solidFill>
              </a:rPr>
              <a:t>(BJT or bipolar)</a:t>
            </a:r>
            <a:endParaRPr b="1">
              <a:solidFill>
                <a:srgbClr val="0000E6"/>
              </a:solidFill>
            </a:endParaRPr>
          </a:p>
          <a:p>
            <a:pPr indent="-342900" lvl="0" marL="457200" rtl="0" algn="l">
              <a:spcBef>
                <a:spcPts val="1600"/>
              </a:spcBef>
              <a:spcAft>
                <a:spcPts val="0"/>
              </a:spcAft>
              <a:buSzPts val="1800"/>
              <a:buChar char="●"/>
            </a:pPr>
            <a:r>
              <a:rPr lang="en"/>
              <a:t>NPN (N-type)</a:t>
            </a:r>
            <a:br>
              <a:rPr lang="en"/>
            </a:br>
            <a:br>
              <a:rPr lang="en"/>
            </a:br>
            <a:br>
              <a:rPr lang="en"/>
            </a:br>
            <a:br>
              <a:rPr lang="en"/>
            </a:br>
            <a:br>
              <a:rPr lang="en"/>
            </a:br>
            <a:br>
              <a:rPr lang="en"/>
            </a:br>
            <a:br>
              <a:rPr lang="en"/>
            </a:br>
            <a:endParaRPr/>
          </a:p>
          <a:p>
            <a:pPr indent="-342900" lvl="0" marL="457200" rtl="0" algn="l">
              <a:spcBef>
                <a:spcPts val="0"/>
              </a:spcBef>
              <a:spcAft>
                <a:spcPts val="0"/>
              </a:spcAft>
              <a:buSzPts val="1800"/>
              <a:buChar char="●"/>
            </a:pPr>
            <a:r>
              <a:rPr lang="en"/>
              <a:t>PNP (P-type)</a:t>
            </a:r>
            <a:br>
              <a:rPr lang="en"/>
            </a:br>
            <a:br>
              <a:rPr lang="en"/>
            </a:br>
            <a:endParaRPr/>
          </a:p>
        </p:txBody>
      </p:sp>
      <p:sp>
        <p:nvSpPr>
          <p:cNvPr id="220" name="Google Shape;220;p34"/>
          <p:cNvSpPr txBox="1"/>
          <p:nvPr>
            <p:ph type="title"/>
          </p:nvPr>
        </p:nvSpPr>
        <p:spPr>
          <a:xfrm>
            <a:off x="311700" y="2253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Two Types of Transistors</a:t>
            </a:r>
            <a:endParaRPr/>
          </a:p>
        </p:txBody>
      </p:sp>
      <p:sp>
        <p:nvSpPr>
          <p:cNvPr id="221" name="Google Shape;221;p34"/>
          <p:cNvSpPr txBox="1"/>
          <p:nvPr>
            <p:ph idx="1" type="body"/>
          </p:nvPr>
        </p:nvSpPr>
        <p:spPr>
          <a:xfrm>
            <a:off x="4631500" y="869175"/>
            <a:ext cx="4308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00E6"/>
                </a:solidFill>
              </a:rPr>
              <a:t>Metal oxide field effect transistor (MOSFET or FET)</a:t>
            </a:r>
            <a:endParaRPr b="1">
              <a:solidFill>
                <a:srgbClr val="0000E6"/>
              </a:solidFill>
            </a:endParaRPr>
          </a:p>
          <a:p>
            <a:pPr indent="-342900" lvl="0" marL="457200" rtl="0" algn="l">
              <a:spcBef>
                <a:spcPts val="1600"/>
              </a:spcBef>
              <a:spcAft>
                <a:spcPts val="0"/>
              </a:spcAft>
              <a:buSzPts val="1800"/>
              <a:buChar char="●"/>
            </a:pPr>
            <a:r>
              <a:rPr lang="en"/>
              <a:t>N-Channel (NFET or NMOS)</a:t>
            </a:r>
            <a:br>
              <a:rPr lang="en"/>
            </a:br>
            <a:br>
              <a:rPr lang="en"/>
            </a:br>
            <a:br>
              <a:rPr lang="en"/>
            </a:br>
            <a:br>
              <a:rPr lang="en"/>
            </a:br>
            <a:br>
              <a:rPr lang="en"/>
            </a:br>
            <a:br>
              <a:rPr lang="en"/>
            </a:br>
            <a:br>
              <a:rPr lang="en"/>
            </a:br>
            <a:endParaRPr/>
          </a:p>
          <a:p>
            <a:pPr indent="-342900" lvl="0" marL="457200" rtl="0" algn="l">
              <a:spcBef>
                <a:spcPts val="0"/>
              </a:spcBef>
              <a:spcAft>
                <a:spcPts val="0"/>
              </a:spcAft>
              <a:buSzPts val="1800"/>
              <a:buChar char="●"/>
            </a:pPr>
            <a:r>
              <a:rPr lang="en"/>
              <a:t>P-channel (PFET or PMOS)</a:t>
            </a:r>
            <a:endParaRPr/>
          </a:p>
          <a:p>
            <a:pPr indent="0" lvl="0" marL="0" rtl="0" algn="l">
              <a:spcBef>
                <a:spcPts val="1600"/>
              </a:spcBef>
              <a:spcAft>
                <a:spcPts val="1600"/>
              </a:spcAft>
              <a:buNone/>
            </a:pPr>
            <a:r>
              <a:t/>
            </a:r>
            <a:endParaRPr/>
          </a:p>
        </p:txBody>
      </p:sp>
      <p:pic>
        <p:nvPicPr>
          <p:cNvPr id="222" name="Google Shape;222;p34"/>
          <p:cNvPicPr preferRelativeResize="0"/>
          <p:nvPr/>
        </p:nvPicPr>
        <p:blipFill>
          <a:blip r:embed="rId3">
            <a:alphaModFix/>
          </a:blip>
          <a:stretch>
            <a:fillRect/>
          </a:stretch>
        </p:blipFill>
        <p:spPr>
          <a:xfrm>
            <a:off x="1214700" y="2213338"/>
            <a:ext cx="1469675" cy="1866884"/>
          </a:xfrm>
          <a:prstGeom prst="rect">
            <a:avLst/>
          </a:prstGeom>
          <a:noFill/>
          <a:ln>
            <a:noFill/>
          </a:ln>
        </p:spPr>
      </p:pic>
      <p:pic>
        <p:nvPicPr>
          <p:cNvPr id="223" name="Google Shape;223;p34"/>
          <p:cNvPicPr preferRelativeResize="0"/>
          <p:nvPr/>
        </p:nvPicPr>
        <p:blipFill>
          <a:blip r:embed="rId4">
            <a:alphaModFix/>
          </a:blip>
          <a:stretch>
            <a:fillRect/>
          </a:stretch>
        </p:blipFill>
        <p:spPr>
          <a:xfrm>
            <a:off x="1214700" y="4766938"/>
            <a:ext cx="1469675" cy="1817050"/>
          </a:xfrm>
          <a:prstGeom prst="rect">
            <a:avLst/>
          </a:prstGeom>
          <a:noFill/>
          <a:ln>
            <a:noFill/>
          </a:ln>
        </p:spPr>
      </p:pic>
      <p:pic>
        <p:nvPicPr>
          <p:cNvPr id="224" name="Google Shape;224;p34"/>
          <p:cNvPicPr preferRelativeResize="0"/>
          <p:nvPr/>
        </p:nvPicPr>
        <p:blipFill>
          <a:blip r:embed="rId5">
            <a:alphaModFix/>
          </a:blip>
          <a:stretch>
            <a:fillRect/>
          </a:stretch>
        </p:blipFill>
        <p:spPr>
          <a:xfrm>
            <a:off x="5115500" y="2543550"/>
            <a:ext cx="2246349" cy="1497550"/>
          </a:xfrm>
          <a:prstGeom prst="rect">
            <a:avLst/>
          </a:prstGeom>
          <a:noFill/>
          <a:ln>
            <a:noFill/>
          </a:ln>
        </p:spPr>
      </p:pic>
      <p:pic>
        <p:nvPicPr>
          <p:cNvPr id="225" name="Google Shape;225;p34"/>
          <p:cNvPicPr preferRelativeResize="0"/>
          <p:nvPr/>
        </p:nvPicPr>
        <p:blipFill>
          <a:blip r:embed="rId6">
            <a:alphaModFix/>
          </a:blip>
          <a:stretch>
            <a:fillRect/>
          </a:stretch>
        </p:blipFill>
        <p:spPr>
          <a:xfrm>
            <a:off x="5098937" y="4926700"/>
            <a:ext cx="2279471" cy="14975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5"/>
          <p:cNvSpPr txBox="1"/>
          <p:nvPr>
            <p:ph type="title"/>
          </p:nvPr>
        </p:nvSpPr>
        <p:spPr>
          <a:xfrm>
            <a:off x="181575" y="1976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Bipolar Junction Transistors</a:t>
            </a:r>
            <a:endParaRPr/>
          </a:p>
        </p:txBody>
      </p:sp>
      <p:pic>
        <p:nvPicPr>
          <p:cNvPr id="231" name="Google Shape;231;p35"/>
          <p:cNvPicPr preferRelativeResize="0"/>
          <p:nvPr/>
        </p:nvPicPr>
        <p:blipFill rotWithShape="1">
          <a:blip r:embed="rId3">
            <a:alphaModFix/>
          </a:blip>
          <a:srcRect b="0" l="0" r="55752" t="0"/>
          <a:stretch/>
        </p:blipFill>
        <p:spPr>
          <a:xfrm>
            <a:off x="181575" y="1656025"/>
            <a:ext cx="1625450" cy="2749125"/>
          </a:xfrm>
          <a:prstGeom prst="rect">
            <a:avLst/>
          </a:prstGeom>
          <a:noFill/>
          <a:ln>
            <a:noFill/>
          </a:ln>
        </p:spPr>
      </p:pic>
      <p:sp>
        <p:nvSpPr>
          <p:cNvPr id="232" name="Google Shape;232;p35"/>
          <p:cNvSpPr txBox="1"/>
          <p:nvPr/>
        </p:nvSpPr>
        <p:spPr>
          <a:xfrm>
            <a:off x="1159425" y="1194325"/>
            <a:ext cx="1717800" cy="4617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NPN transistor</a:t>
            </a:r>
            <a:endParaRPr sz="1800">
              <a:solidFill>
                <a:srgbClr val="0000FF"/>
              </a:solidFill>
            </a:endParaRPr>
          </a:p>
        </p:txBody>
      </p:sp>
      <p:sp>
        <p:nvSpPr>
          <p:cNvPr id="233" name="Google Shape;233;p35"/>
          <p:cNvSpPr txBox="1"/>
          <p:nvPr/>
        </p:nvSpPr>
        <p:spPr>
          <a:xfrm>
            <a:off x="1923525" y="3925400"/>
            <a:ext cx="953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Base current </a:t>
            </a:r>
            <a:endParaRPr>
              <a:solidFill>
                <a:srgbClr val="FF0000"/>
              </a:solidFill>
            </a:endParaRPr>
          </a:p>
        </p:txBody>
      </p:sp>
      <p:sp>
        <p:nvSpPr>
          <p:cNvPr id="234" name="Google Shape;234;p35"/>
          <p:cNvSpPr txBox="1"/>
          <p:nvPr/>
        </p:nvSpPr>
        <p:spPr>
          <a:xfrm>
            <a:off x="234250" y="4824025"/>
            <a:ext cx="41382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This is a diode! </a:t>
            </a:r>
            <a:endParaRPr sz="1800">
              <a:solidFill>
                <a:srgbClr val="0000FF"/>
              </a:solidFill>
            </a:endParaRPr>
          </a:p>
          <a:p>
            <a:pPr indent="0" lvl="0" marL="0" rtl="0" algn="l">
              <a:spcBef>
                <a:spcPts val="0"/>
              </a:spcBef>
              <a:spcAft>
                <a:spcPts val="0"/>
              </a:spcAft>
              <a:buNone/>
            </a:pPr>
            <a:r>
              <a:t/>
            </a:r>
            <a:endParaRPr sz="1800">
              <a:solidFill>
                <a:srgbClr val="0000FF"/>
              </a:solidFill>
            </a:endParaRPr>
          </a:p>
          <a:p>
            <a:pPr indent="0" lvl="0" marL="0" rtl="0" algn="l">
              <a:spcBef>
                <a:spcPts val="0"/>
              </a:spcBef>
              <a:spcAft>
                <a:spcPts val="0"/>
              </a:spcAft>
              <a:buNone/>
            </a:pPr>
            <a:r>
              <a:rPr lang="en" sz="1800">
                <a:solidFill>
                  <a:srgbClr val="0000FF"/>
                </a:solidFill>
              </a:rPr>
              <a:t>If V</a:t>
            </a:r>
            <a:r>
              <a:rPr baseline="-25000" lang="en" sz="1800">
                <a:solidFill>
                  <a:srgbClr val="0000FF"/>
                </a:solidFill>
              </a:rPr>
              <a:t>BE</a:t>
            </a:r>
            <a:r>
              <a:rPr lang="en" sz="1800">
                <a:solidFill>
                  <a:srgbClr val="0000FF"/>
                </a:solidFill>
              </a:rPr>
              <a:t> large enough (&gt; 0.7V generally), base current I</a:t>
            </a:r>
            <a:r>
              <a:rPr baseline="-25000" lang="en" sz="1800">
                <a:solidFill>
                  <a:srgbClr val="0000FF"/>
                </a:solidFill>
              </a:rPr>
              <a:t>B</a:t>
            </a:r>
            <a:r>
              <a:rPr lang="en" sz="1800">
                <a:solidFill>
                  <a:srgbClr val="0000FF"/>
                </a:solidFill>
              </a:rPr>
              <a:t> will start to flow.</a:t>
            </a:r>
            <a:endParaRPr sz="1800">
              <a:solidFill>
                <a:srgbClr val="0000FF"/>
              </a:solidFill>
            </a:endParaRPr>
          </a:p>
        </p:txBody>
      </p:sp>
      <p:sp>
        <p:nvSpPr>
          <p:cNvPr id="235" name="Google Shape;235;p35"/>
          <p:cNvSpPr/>
          <p:nvPr/>
        </p:nvSpPr>
        <p:spPr>
          <a:xfrm>
            <a:off x="234250" y="2793950"/>
            <a:ext cx="1470600" cy="14967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36" name="Google Shape;236;p35"/>
          <p:cNvCxnSpPr>
            <a:endCxn id="237" idx="2"/>
          </p:cNvCxnSpPr>
          <p:nvPr/>
        </p:nvCxnSpPr>
        <p:spPr>
          <a:xfrm flipH="1" rot="10800000">
            <a:off x="2335275" y="3526463"/>
            <a:ext cx="123300" cy="503100"/>
          </a:xfrm>
          <a:prstGeom prst="straightConnector1">
            <a:avLst/>
          </a:prstGeom>
          <a:noFill/>
          <a:ln cap="flat" cmpd="sng" w="9525">
            <a:solidFill>
              <a:srgbClr val="FF0000"/>
            </a:solidFill>
            <a:prstDash val="solid"/>
            <a:round/>
            <a:headEnd len="med" w="med" type="none"/>
            <a:tailEnd len="med" w="med" type="none"/>
          </a:ln>
        </p:spPr>
      </p:cxnSp>
      <p:sp>
        <p:nvSpPr>
          <p:cNvPr id="238" name="Google Shape;238;p35"/>
          <p:cNvSpPr txBox="1"/>
          <p:nvPr/>
        </p:nvSpPr>
        <p:spPr>
          <a:xfrm>
            <a:off x="3332450" y="1405975"/>
            <a:ext cx="953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Collector current </a:t>
            </a:r>
            <a:endParaRPr>
              <a:solidFill>
                <a:srgbClr val="FF0000"/>
              </a:solidFill>
            </a:endParaRPr>
          </a:p>
        </p:txBody>
      </p:sp>
      <p:cxnSp>
        <p:nvCxnSpPr>
          <p:cNvPr id="239" name="Google Shape;239;p35"/>
          <p:cNvCxnSpPr/>
          <p:nvPr/>
        </p:nvCxnSpPr>
        <p:spPr>
          <a:xfrm flipH="1" rot="10800000">
            <a:off x="3566575" y="1932225"/>
            <a:ext cx="134700" cy="358500"/>
          </a:xfrm>
          <a:prstGeom prst="straightConnector1">
            <a:avLst/>
          </a:prstGeom>
          <a:noFill/>
          <a:ln cap="flat" cmpd="sng" w="9525">
            <a:solidFill>
              <a:srgbClr val="FF0000"/>
            </a:solidFill>
            <a:prstDash val="solid"/>
            <a:round/>
            <a:headEnd len="med" w="med" type="none"/>
            <a:tailEnd len="med" w="med" type="none"/>
          </a:ln>
        </p:spPr>
      </p:cxnSp>
      <p:sp>
        <p:nvSpPr>
          <p:cNvPr id="240" name="Google Shape;240;p35"/>
          <p:cNvSpPr/>
          <p:nvPr/>
        </p:nvSpPr>
        <p:spPr>
          <a:xfrm>
            <a:off x="4502600" y="1652675"/>
            <a:ext cx="2811000" cy="273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35"/>
          <p:cNvSpPr txBox="1"/>
          <p:nvPr/>
        </p:nvSpPr>
        <p:spPr>
          <a:xfrm>
            <a:off x="5395175" y="2055050"/>
            <a:ext cx="2811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V</a:t>
            </a:r>
            <a:r>
              <a:rPr baseline="-25000" lang="en" sz="1800">
                <a:solidFill>
                  <a:schemeClr val="dk1"/>
                </a:solidFill>
              </a:rPr>
              <a:t>BE</a:t>
            </a:r>
            <a:r>
              <a:rPr lang="en" sz="1800">
                <a:solidFill>
                  <a:schemeClr val="dk1"/>
                </a:solidFill>
              </a:rPr>
              <a:t>&gt; 0.7V</a:t>
            </a:r>
            <a:endParaRPr sz="1800">
              <a:solidFill>
                <a:schemeClr val="dk1"/>
              </a:solidFill>
            </a:endParaRPr>
          </a:p>
          <a:p>
            <a:pPr indent="0" lvl="0" marL="0" rtl="0" algn="l">
              <a:spcBef>
                <a:spcPts val="0"/>
              </a:spcBef>
              <a:spcAft>
                <a:spcPts val="0"/>
              </a:spcAft>
              <a:buNone/>
            </a:pPr>
            <a:r>
              <a:rPr lang="en" sz="1800">
                <a:solidFill>
                  <a:schemeClr val="dk1"/>
                </a:solidFill>
              </a:rPr>
              <a:t>turns transistor switch 'on'</a:t>
            </a:r>
            <a:endParaRPr sz="1800">
              <a:solidFill>
                <a:schemeClr val="dk1"/>
              </a:solidFill>
            </a:endParaRPr>
          </a:p>
        </p:txBody>
      </p:sp>
      <p:grpSp>
        <p:nvGrpSpPr>
          <p:cNvPr id="242" name="Google Shape;242;p35"/>
          <p:cNvGrpSpPr/>
          <p:nvPr/>
        </p:nvGrpSpPr>
        <p:grpSpPr>
          <a:xfrm>
            <a:off x="5489550" y="3487700"/>
            <a:ext cx="2107800" cy="928200"/>
            <a:chOff x="5678300" y="5725475"/>
            <a:chExt cx="2107800" cy="928200"/>
          </a:xfrm>
        </p:grpSpPr>
        <p:sp>
          <p:nvSpPr>
            <p:cNvPr id="243" name="Google Shape;243;p35"/>
            <p:cNvSpPr/>
            <p:nvPr/>
          </p:nvSpPr>
          <p:spPr>
            <a:xfrm>
              <a:off x="5678300" y="5725475"/>
              <a:ext cx="2107800" cy="9282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quot;font&quot;:{&quot;family&quot;:&quot;Arial&quot;,&quot;color&quot;:&quot;#0000FF&quot;,&quot;size&quot;:18},&quot;code&quot;:&quot;\\begin{gather*}\n{\\text{Key}\\;\\text{equation:}\\;\\text{}}\\\\\n{I_{C}\\,=\\,\\beta I_{B}}\t\n\\end{gather*}&quot;,&quot;aid&quot;:null,&quot;backgroundColor&quot;:&quot;#FFFFFF&quot;,&quot;type&quot;:&quot;gather*&quot;,&quot;id&quot;:&quot;3&quot;,&quot;ts&quot;:1701807816875,&quot;cs&quot;:&quot;S1frqb7nN3KL5+M/E0uY9w==&quot;,&quot;size&quot;:{&quot;width&quot;:167.66666666666666,&quot;height&quot;:61.333333333333336}}" id="244" name="Google Shape;244;p35"/>
            <p:cNvPicPr preferRelativeResize="0"/>
            <p:nvPr/>
          </p:nvPicPr>
          <p:blipFill>
            <a:blip r:embed="rId4">
              <a:alphaModFix/>
            </a:blip>
            <a:stretch>
              <a:fillRect/>
            </a:stretch>
          </p:blipFill>
          <p:spPr>
            <a:xfrm>
              <a:off x="5880175" y="5876200"/>
              <a:ext cx="1597025" cy="584200"/>
            </a:xfrm>
            <a:prstGeom prst="rect">
              <a:avLst/>
            </a:prstGeom>
            <a:noFill/>
            <a:ln>
              <a:noFill/>
            </a:ln>
          </p:spPr>
        </p:pic>
      </p:grpSp>
      <p:grpSp>
        <p:nvGrpSpPr>
          <p:cNvPr id="245" name="Google Shape;245;p35"/>
          <p:cNvGrpSpPr/>
          <p:nvPr/>
        </p:nvGrpSpPr>
        <p:grpSpPr>
          <a:xfrm>
            <a:off x="2213725" y="2208050"/>
            <a:ext cx="1538850" cy="1645050"/>
            <a:chOff x="2013850" y="2760588"/>
            <a:chExt cx="1538850" cy="1645050"/>
          </a:xfrm>
        </p:grpSpPr>
        <p:pic>
          <p:nvPicPr>
            <p:cNvPr id="246" name="Google Shape;246;p35"/>
            <p:cNvPicPr preferRelativeResize="0"/>
            <p:nvPr/>
          </p:nvPicPr>
          <p:blipFill rotWithShape="1">
            <a:blip r:embed="rId5">
              <a:alphaModFix/>
            </a:blip>
            <a:srcRect b="13210" l="0" r="48480" t="0"/>
            <a:stretch/>
          </p:blipFill>
          <p:spPr>
            <a:xfrm>
              <a:off x="2133625" y="2917363"/>
              <a:ext cx="1153876" cy="1371600"/>
            </a:xfrm>
            <a:prstGeom prst="rect">
              <a:avLst/>
            </a:prstGeom>
            <a:noFill/>
            <a:ln>
              <a:noFill/>
            </a:ln>
          </p:spPr>
        </p:pic>
        <p:cxnSp>
          <p:nvCxnSpPr>
            <p:cNvPr id="247" name="Google Shape;247;p35"/>
            <p:cNvCxnSpPr/>
            <p:nvPr/>
          </p:nvCxnSpPr>
          <p:spPr>
            <a:xfrm>
              <a:off x="2013850" y="3684800"/>
              <a:ext cx="391800" cy="0"/>
            </a:xfrm>
            <a:prstGeom prst="straightConnector1">
              <a:avLst/>
            </a:prstGeom>
            <a:noFill/>
            <a:ln cap="flat" cmpd="sng" w="28575">
              <a:solidFill>
                <a:srgbClr val="FF0000"/>
              </a:solidFill>
              <a:prstDash val="solid"/>
              <a:round/>
              <a:headEnd len="med" w="med" type="none"/>
              <a:tailEnd len="med" w="med" type="triangle"/>
            </a:ln>
          </p:spPr>
        </p:cxnSp>
        <p:sp>
          <p:nvSpPr>
            <p:cNvPr id="237" name="Google Shape;237;p35"/>
            <p:cNvSpPr txBox="1"/>
            <p:nvPr/>
          </p:nvSpPr>
          <p:spPr>
            <a:xfrm>
              <a:off x="2041050" y="3617300"/>
              <a:ext cx="435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FF0000"/>
                  </a:solidFill>
                </a:rPr>
                <a:t>I</a:t>
              </a:r>
              <a:r>
                <a:rPr b="1" baseline="-25000" lang="en" sz="1800">
                  <a:solidFill>
                    <a:srgbClr val="FF0000"/>
                  </a:solidFill>
                </a:rPr>
                <a:t>B</a:t>
              </a:r>
              <a:endParaRPr b="1" baseline="-25000" sz="1800">
                <a:solidFill>
                  <a:srgbClr val="FF0000"/>
                </a:solidFill>
              </a:endParaRPr>
            </a:p>
          </p:txBody>
        </p:sp>
        <p:sp>
          <p:nvSpPr>
            <p:cNvPr id="248" name="Google Shape;248;p35"/>
            <p:cNvSpPr txBox="1"/>
            <p:nvPr/>
          </p:nvSpPr>
          <p:spPr>
            <a:xfrm>
              <a:off x="3117400" y="2760588"/>
              <a:ext cx="435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FF0000"/>
                  </a:solidFill>
                </a:rPr>
                <a:t>I</a:t>
              </a:r>
              <a:r>
                <a:rPr b="1" baseline="-25000" lang="en" sz="1800">
                  <a:solidFill>
                    <a:srgbClr val="FF0000"/>
                  </a:solidFill>
                </a:rPr>
                <a:t>C</a:t>
              </a:r>
              <a:endParaRPr b="1" baseline="-25000" sz="1800">
                <a:solidFill>
                  <a:srgbClr val="FF0000"/>
                </a:solidFill>
              </a:endParaRPr>
            </a:p>
          </p:txBody>
        </p:sp>
        <p:cxnSp>
          <p:nvCxnSpPr>
            <p:cNvPr id="249" name="Google Shape;249;p35"/>
            <p:cNvCxnSpPr/>
            <p:nvPr/>
          </p:nvCxnSpPr>
          <p:spPr>
            <a:xfrm>
              <a:off x="3124175" y="2775875"/>
              <a:ext cx="0" cy="473700"/>
            </a:xfrm>
            <a:prstGeom prst="straightConnector1">
              <a:avLst/>
            </a:prstGeom>
            <a:noFill/>
            <a:ln cap="flat" cmpd="sng" w="28575">
              <a:solidFill>
                <a:srgbClr val="FF0000"/>
              </a:solidFill>
              <a:prstDash val="solid"/>
              <a:round/>
              <a:headEnd len="med" w="med" type="none"/>
              <a:tailEnd len="med" w="med" type="triangle"/>
            </a:ln>
          </p:spPr>
        </p:cxnSp>
        <p:sp>
          <p:nvSpPr>
            <p:cNvPr id="250" name="Google Shape;250;p35"/>
            <p:cNvSpPr txBox="1"/>
            <p:nvPr/>
          </p:nvSpPr>
          <p:spPr>
            <a:xfrm>
              <a:off x="3117400" y="3916650"/>
              <a:ext cx="435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FF0000"/>
                  </a:solidFill>
                </a:rPr>
                <a:t>I</a:t>
              </a:r>
              <a:r>
                <a:rPr b="1" baseline="-25000" lang="en" sz="1800">
                  <a:solidFill>
                    <a:srgbClr val="FF0000"/>
                  </a:solidFill>
                </a:rPr>
                <a:t>E</a:t>
              </a:r>
              <a:endParaRPr b="1" baseline="-25000" sz="1800">
                <a:solidFill>
                  <a:srgbClr val="FF0000"/>
                </a:solidFill>
              </a:endParaRPr>
            </a:p>
          </p:txBody>
        </p:sp>
        <p:cxnSp>
          <p:nvCxnSpPr>
            <p:cNvPr id="251" name="Google Shape;251;p35"/>
            <p:cNvCxnSpPr/>
            <p:nvPr/>
          </p:nvCxnSpPr>
          <p:spPr>
            <a:xfrm>
              <a:off x="3124175" y="3931938"/>
              <a:ext cx="0" cy="473700"/>
            </a:xfrm>
            <a:prstGeom prst="straightConnector1">
              <a:avLst/>
            </a:prstGeom>
            <a:noFill/>
            <a:ln cap="flat" cmpd="sng" w="28575">
              <a:solidFill>
                <a:srgbClr val="FF0000"/>
              </a:solidFill>
              <a:prstDash val="solid"/>
              <a:round/>
              <a:headEnd len="med" w="med" type="none"/>
              <a:tailEnd len="med" w="med" type="triangle"/>
            </a:ln>
          </p:spPr>
        </p:cxnSp>
      </p:grpSp>
      <p:sp>
        <p:nvSpPr>
          <p:cNvPr id="252" name="Google Shape;252;p35"/>
          <p:cNvSpPr txBox="1"/>
          <p:nvPr/>
        </p:nvSpPr>
        <p:spPr>
          <a:xfrm>
            <a:off x="4870325" y="4824025"/>
            <a:ext cx="3860700" cy="1015800"/>
          </a:xfrm>
          <a:prstGeom prst="rect">
            <a:avLst/>
          </a:prstGeom>
          <a:solidFill>
            <a:srgbClr val="D9EAD3"/>
          </a:solidFill>
          <a:ln cap="flat" cmpd="sng" w="28575">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 BJT is a current-controlled device. The base current controls the collector current.</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6"/>
          <p:cNvSpPr txBox="1"/>
          <p:nvPr>
            <p:ph type="title"/>
          </p:nvPr>
        </p:nvSpPr>
        <p:spPr>
          <a:xfrm>
            <a:off x="181575" y="1976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Bipolar Junction Transistors</a:t>
            </a:r>
            <a:endParaRPr/>
          </a:p>
        </p:txBody>
      </p:sp>
      <p:pic>
        <p:nvPicPr>
          <p:cNvPr id="258" name="Google Shape;258;p36"/>
          <p:cNvPicPr preferRelativeResize="0"/>
          <p:nvPr/>
        </p:nvPicPr>
        <p:blipFill rotWithShape="1">
          <a:blip r:embed="rId3">
            <a:alphaModFix/>
          </a:blip>
          <a:srcRect b="0" l="0" r="55145" t="0"/>
          <a:stretch/>
        </p:blipFill>
        <p:spPr>
          <a:xfrm>
            <a:off x="311700" y="2228600"/>
            <a:ext cx="1647725" cy="2749125"/>
          </a:xfrm>
          <a:prstGeom prst="rect">
            <a:avLst/>
          </a:prstGeom>
          <a:noFill/>
          <a:ln>
            <a:noFill/>
          </a:ln>
        </p:spPr>
      </p:pic>
      <p:pic>
        <p:nvPicPr>
          <p:cNvPr id="259" name="Google Shape;259;p36"/>
          <p:cNvPicPr preferRelativeResize="0"/>
          <p:nvPr/>
        </p:nvPicPr>
        <p:blipFill rotWithShape="1">
          <a:blip r:embed="rId4">
            <a:alphaModFix/>
          </a:blip>
          <a:srcRect b="0" l="0" r="55145" t="0"/>
          <a:stretch/>
        </p:blipFill>
        <p:spPr>
          <a:xfrm>
            <a:off x="4967325" y="2237525"/>
            <a:ext cx="1647725" cy="2731275"/>
          </a:xfrm>
          <a:prstGeom prst="rect">
            <a:avLst/>
          </a:prstGeom>
          <a:noFill/>
          <a:ln>
            <a:noFill/>
          </a:ln>
        </p:spPr>
      </p:pic>
      <p:sp>
        <p:nvSpPr>
          <p:cNvPr id="260" name="Google Shape;260;p36"/>
          <p:cNvSpPr txBox="1"/>
          <p:nvPr/>
        </p:nvSpPr>
        <p:spPr>
          <a:xfrm>
            <a:off x="571100" y="1451200"/>
            <a:ext cx="1717800" cy="4617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NPN transistor</a:t>
            </a:r>
            <a:endParaRPr sz="1800">
              <a:solidFill>
                <a:srgbClr val="FF0000"/>
              </a:solidFill>
            </a:endParaRPr>
          </a:p>
        </p:txBody>
      </p:sp>
      <p:sp>
        <p:nvSpPr>
          <p:cNvPr id="261" name="Google Shape;261;p36"/>
          <p:cNvSpPr txBox="1"/>
          <p:nvPr/>
        </p:nvSpPr>
        <p:spPr>
          <a:xfrm>
            <a:off x="5174700" y="1451200"/>
            <a:ext cx="1717800" cy="4617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PNP transistor</a:t>
            </a:r>
            <a:endParaRPr sz="1800">
              <a:solidFill>
                <a:srgbClr val="0000FF"/>
              </a:solidFill>
            </a:endParaRPr>
          </a:p>
        </p:txBody>
      </p:sp>
      <p:pic>
        <p:nvPicPr>
          <p:cNvPr id="262" name="Google Shape;262;p36"/>
          <p:cNvPicPr preferRelativeResize="0"/>
          <p:nvPr/>
        </p:nvPicPr>
        <p:blipFill rotWithShape="1">
          <a:blip r:embed="rId5">
            <a:alphaModFix/>
          </a:blip>
          <a:srcRect b="13210" l="51033" r="0" t="0"/>
          <a:stretch/>
        </p:blipFill>
        <p:spPr>
          <a:xfrm>
            <a:off x="6912451" y="2885138"/>
            <a:ext cx="1096676" cy="1371600"/>
          </a:xfrm>
          <a:prstGeom prst="rect">
            <a:avLst/>
          </a:prstGeom>
          <a:noFill/>
          <a:ln>
            <a:noFill/>
          </a:ln>
        </p:spPr>
      </p:pic>
      <p:sp>
        <p:nvSpPr>
          <p:cNvPr id="263" name="Google Shape;263;p36"/>
          <p:cNvSpPr txBox="1"/>
          <p:nvPr/>
        </p:nvSpPr>
        <p:spPr>
          <a:xfrm>
            <a:off x="5174700" y="2237525"/>
            <a:ext cx="888600" cy="343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Emitter</a:t>
            </a:r>
            <a:endParaRPr>
              <a:solidFill>
                <a:schemeClr val="dk1"/>
              </a:solidFill>
            </a:endParaRPr>
          </a:p>
        </p:txBody>
      </p:sp>
      <p:sp>
        <p:nvSpPr>
          <p:cNvPr id="264" name="Google Shape;264;p36"/>
          <p:cNvSpPr txBox="1"/>
          <p:nvPr/>
        </p:nvSpPr>
        <p:spPr>
          <a:xfrm>
            <a:off x="5174700" y="4529625"/>
            <a:ext cx="888600" cy="343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Collector</a:t>
            </a:r>
            <a:endParaRPr>
              <a:solidFill>
                <a:schemeClr val="dk1"/>
              </a:solidFill>
            </a:endParaRPr>
          </a:p>
        </p:txBody>
      </p:sp>
      <p:sp>
        <p:nvSpPr>
          <p:cNvPr id="265" name="Google Shape;265;p36"/>
          <p:cNvSpPr txBox="1"/>
          <p:nvPr/>
        </p:nvSpPr>
        <p:spPr>
          <a:xfrm>
            <a:off x="7863600" y="3909013"/>
            <a:ext cx="435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0000DD"/>
                </a:solidFill>
              </a:rPr>
              <a:t>I</a:t>
            </a:r>
            <a:r>
              <a:rPr b="1" baseline="-25000" lang="en" sz="1800">
                <a:solidFill>
                  <a:srgbClr val="0000DD"/>
                </a:solidFill>
              </a:rPr>
              <a:t>C</a:t>
            </a:r>
            <a:endParaRPr b="1" baseline="-25000" sz="1800">
              <a:solidFill>
                <a:srgbClr val="0000DD"/>
              </a:solidFill>
            </a:endParaRPr>
          </a:p>
        </p:txBody>
      </p:sp>
      <p:cxnSp>
        <p:nvCxnSpPr>
          <p:cNvPr id="266" name="Google Shape;266;p36"/>
          <p:cNvCxnSpPr/>
          <p:nvPr/>
        </p:nvCxnSpPr>
        <p:spPr>
          <a:xfrm flipH="1">
            <a:off x="6749025" y="3303825"/>
            <a:ext cx="441000" cy="5700"/>
          </a:xfrm>
          <a:prstGeom prst="straightConnector1">
            <a:avLst/>
          </a:prstGeom>
          <a:noFill/>
          <a:ln cap="flat" cmpd="sng" w="28575">
            <a:solidFill>
              <a:srgbClr val="0000DD"/>
            </a:solidFill>
            <a:prstDash val="solid"/>
            <a:round/>
            <a:headEnd len="med" w="med" type="none"/>
            <a:tailEnd len="med" w="med" type="triangle"/>
          </a:ln>
        </p:spPr>
      </p:cxnSp>
      <p:sp>
        <p:nvSpPr>
          <p:cNvPr id="267" name="Google Shape;267;p36"/>
          <p:cNvSpPr txBox="1"/>
          <p:nvPr/>
        </p:nvSpPr>
        <p:spPr>
          <a:xfrm>
            <a:off x="6819900" y="2847775"/>
            <a:ext cx="435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0000DD"/>
                </a:solidFill>
              </a:rPr>
              <a:t>I</a:t>
            </a:r>
            <a:r>
              <a:rPr b="1" baseline="-25000" lang="en" sz="1800">
                <a:solidFill>
                  <a:srgbClr val="0000DD"/>
                </a:solidFill>
              </a:rPr>
              <a:t>B</a:t>
            </a:r>
            <a:endParaRPr b="1" baseline="-25000" sz="1800">
              <a:solidFill>
                <a:srgbClr val="0000DD"/>
              </a:solidFill>
            </a:endParaRPr>
          </a:p>
        </p:txBody>
      </p:sp>
      <p:cxnSp>
        <p:nvCxnSpPr>
          <p:cNvPr id="268" name="Google Shape;268;p36"/>
          <p:cNvCxnSpPr/>
          <p:nvPr/>
        </p:nvCxnSpPr>
        <p:spPr>
          <a:xfrm>
            <a:off x="7870375" y="3924300"/>
            <a:ext cx="0" cy="473700"/>
          </a:xfrm>
          <a:prstGeom prst="straightConnector1">
            <a:avLst/>
          </a:prstGeom>
          <a:noFill/>
          <a:ln cap="flat" cmpd="sng" w="28575">
            <a:solidFill>
              <a:srgbClr val="0000DD"/>
            </a:solidFill>
            <a:prstDash val="solid"/>
            <a:round/>
            <a:headEnd len="med" w="med" type="none"/>
            <a:tailEnd len="med" w="med" type="triangle"/>
          </a:ln>
        </p:spPr>
      </p:cxnSp>
      <p:sp>
        <p:nvSpPr>
          <p:cNvPr id="269" name="Google Shape;269;p36"/>
          <p:cNvSpPr txBox="1"/>
          <p:nvPr/>
        </p:nvSpPr>
        <p:spPr>
          <a:xfrm>
            <a:off x="7820050" y="2695288"/>
            <a:ext cx="435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0000DD"/>
                </a:solidFill>
              </a:rPr>
              <a:t>I</a:t>
            </a:r>
            <a:r>
              <a:rPr b="1" baseline="-25000" lang="en" sz="1800">
                <a:solidFill>
                  <a:srgbClr val="0000DD"/>
                </a:solidFill>
              </a:rPr>
              <a:t>E</a:t>
            </a:r>
            <a:endParaRPr b="1" baseline="-25000" sz="1800">
              <a:solidFill>
                <a:srgbClr val="0000DD"/>
              </a:solidFill>
            </a:endParaRPr>
          </a:p>
        </p:txBody>
      </p:sp>
      <p:cxnSp>
        <p:nvCxnSpPr>
          <p:cNvPr id="270" name="Google Shape;270;p36"/>
          <p:cNvCxnSpPr/>
          <p:nvPr/>
        </p:nvCxnSpPr>
        <p:spPr>
          <a:xfrm>
            <a:off x="7826825" y="2710575"/>
            <a:ext cx="0" cy="473700"/>
          </a:xfrm>
          <a:prstGeom prst="straightConnector1">
            <a:avLst/>
          </a:prstGeom>
          <a:noFill/>
          <a:ln cap="flat" cmpd="sng" w="28575">
            <a:solidFill>
              <a:srgbClr val="0000DD"/>
            </a:solidFill>
            <a:prstDash val="solid"/>
            <a:round/>
            <a:headEnd len="med" w="med" type="none"/>
            <a:tailEnd len="med" w="med" type="triangle"/>
          </a:ln>
        </p:spPr>
      </p:cxnSp>
      <p:grpSp>
        <p:nvGrpSpPr>
          <p:cNvPr id="271" name="Google Shape;271;p36"/>
          <p:cNvGrpSpPr/>
          <p:nvPr/>
        </p:nvGrpSpPr>
        <p:grpSpPr>
          <a:xfrm>
            <a:off x="2013850" y="2760588"/>
            <a:ext cx="1538850" cy="1645050"/>
            <a:chOff x="2013850" y="2760588"/>
            <a:chExt cx="1538850" cy="1645050"/>
          </a:xfrm>
        </p:grpSpPr>
        <p:pic>
          <p:nvPicPr>
            <p:cNvPr id="272" name="Google Shape;272;p36"/>
            <p:cNvPicPr preferRelativeResize="0"/>
            <p:nvPr/>
          </p:nvPicPr>
          <p:blipFill rotWithShape="1">
            <a:blip r:embed="rId5">
              <a:alphaModFix/>
            </a:blip>
            <a:srcRect b="13210" l="0" r="48480" t="0"/>
            <a:stretch/>
          </p:blipFill>
          <p:spPr>
            <a:xfrm>
              <a:off x="2133625" y="2917363"/>
              <a:ext cx="1153876" cy="1371600"/>
            </a:xfrm>
            <a:prstGeom prst="rect">
              <a:avLst/>
            </a:prstGeom>
            <a:noFill/>
            <a:ln>
              <a:noFill/>
            </a:ln>
          </p:spPr>
        </p:pic>
        <p:cxnSp>
          <p:nvCxnSpPr>
            <p:cNvPr id="273" name="Google Shape;273;p36"/>
            <p:cNvCxnSpPr/>
            <p:nvPr/>
          </p:nvCxnSpPr>
          <p:spPr>
            <a:xfrm>
              <a:off x="2013850" y="3684800"/>
              <a:ext cx="391800" cy="0"/>
            </a:xfrm>
            <a:prstGeom prst="straightConnector1">
              <a:avLst/>
            </a:prstGeom>
            <a:noFill/>
            <a:ln cap="flat" cmpd="sng" w="28575">
              <a:solidFill>
                <a:srgbClr val="FF0000"/>
              </a:solidFill>
              <a:prstDash val="solid"/>
              <a:round/>
              <a:headEnd len="med" w="med" type="none"/>
              <a:tailEnd len="med" w="med" type="triangle"/>
            </a:ln>
          </p:spPr>
        </p:cxnSp>
        <p:sp>
          <p:nvSpPr>
            <p:cNvPr id="274" name="Google Shape;274;p36"/>
            <p:cNvSpPr txBox="1"/>
            <p:nvPr/>
          </p:nvSpPr>
          <p:spPr>
            <a:xfrm>
              <a:off x="2041050" y="3617300"/>
              <a:ext cx="435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FF0000"/>
                  </a:solidFill>
                </a:rPr>
                <a:t>I</a:t>
              </a:r>
              <a:r>
                <a:rPr b="1" baseline="-25000" lang="en" sz="1800">
                  <a:solidFill>
                    <a:srgbClr val="FF0000"/>
                  </a:solidFill>
                </a:rPr>
                <a:t>B</a:t>
              </a:r>
              <a:endParaRPr b="1" baseline="-25000" sz="1800">
                <a:solidFill>
                  <a:srgbClr val="FF0000"/>
                </a:solidFill>
              </a:endParaRPr>
            </a:p>
          </p:txBody>
        </p:sp>
        <p:sp>
          <p:nvSpPr>
            <p:cNvPr id="275" name="Google Shape;275;p36"/>
            <p:cNvSpPr txBox="1"/>
            <p:nvPr/>
          </p:nvSpPr>
          <p:spPr>
            <a:xfrm>
              <a:off x="3117400" y="2760588"/>
              <a:ext cx="435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FF0000"/>
                  </a:solidFill>
                </a:rPr>
                <a:t>I</a:t>
              </a:r>
              <a:r>
                <a:rPr b="1" baseline="-25000" lang="en" sz="1800">
                  <a:solidFill>
                    <a:srgbClr val="FF0000"/>
                  </a:solidFill>
                </a:rPr>
                <a:t>C</a:t>
              </a:r>
              <a:endParaRPr b="1" baseline="-25000" sz="1800">
                <a:solidFill>
                  <a:srgbClr val="FF0000"/>
                </a:solidFill>
              </a:endParaRPr>
            </a:p>
          </p:txBody>
        </p:sp>
        <p:cxnSp>
          <p:nvCxnSpPr>
            <p:cNvPr id="276" name="Google Shape;276;p36"/>
            <p:cNvCxnSpPr/>
            <p:nvPr/>
          </p:nvCxnSpPr>
          <p:spPr>
            <a:xfrm>
              <a:off x="3124175" y="2775875"/>
              <a:ext cx="0" cy="473700"/>
            </a:xfrm>
            <a:prstGeom prst="straightConnector1">
              <a:avLst/>
            </a:prstGeom>
            <a:noFill/>
            <a:ln cap="flat" cmpd="sng" w="28575">
              <a:solidFill>
                <a:srgbClr val="FF0000"/>
              </a:solidFill>
              <a:prstDash val="solid"/>
              <a:round/>
              <a:headEnd len="med" w="med" type="none"/>
              <a:tailEnd len="med" w="med" type="triangle"/>
            </a:ln>
          </p:spPr>
        </p:cxnSp>
        <p:sp>
          <p:nvSpPr>
            <p:cNvPr id="277" name="Google Shape;277;p36"/>
            <p:cNvSpPr txBox="1"/>
            <p:nvPr/>
          </p:nvSpPr>
          <p:spPr>
            <a:xfrm>
              <a:off x="3117400" y="3916650"/>
              <a:ext cx="435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FF0000"/>
                  </a:solidFill>
                </a:rPr>
                <a:t>I</a:t>
              </a:r>
              <a:r>
                <a:rPr b="1" baseline="-25000" lang="en" sz="1800">
                  <a:solidFill>
                    <a:srgbClr val="FF0000"/>
                  </a:solidFill>
                </a:rPr>
                <a:t>E</a:t>
              </a:r>
              <a:endParaRPr b="1" baseline="-25000" sz="1800">
                <a:solidFill>
                  <a:srgbClr val="FF0000"/>
                </a:solidFill>
              </a:endParaRPr>
            </a:p>
          </p:txBody>
        </p:sp>
        <p:cxnSp>
          <p:nvCxnSpPr>
            <p:cNvPr id="278" name="Google Shape;278;p36"/>
            <p:cNvCxnSpPr/>
            <p:nvPr/>
          </p:nvCxnSpPr>
          <p:spPr>
            <a:xfrm>
              <a:off x="3124175" y="3931938"/>
              <a:ext cx="0" cy="473700"/>
            </a:xfrm>
            <a:prstGeom prst="straightConnector1">
              <a:avLst/>
            </a:prstGeom>
            <a:noFill/>
            <a:ln cap="flat" cmpd="sng" w="28575">
              <a:solidFill>
                <a:srgbClr val="FF0000"/>
              </a:solidFill>
              <a:prstDash val="solid"/>
              <a:round/>
              <a:headEnd len="med" w="med" type="none"/>
              <a:tailEnd len="med" w="med" type="triangle"/>
            </a:ln>
          </p:spPr>
        </p:cxnSp>
      </p:grpSp>
      <p:pic>
        <p:nvPicPr>
          <p:cNvPr id="279" name="Google Shape;279;p36"/>
          <p:cNvPicPr preferRelativeResize="0"/>
          <p:nvPr/>
        </p:nvPicPr>
        <p:blipFill>
          <a:blip r:embed="rId6">
            <a:alphaModFix/>
          </a:blip>
          <a:stretch>
            <a:fillRect/>
          </a:stretch>
        </p:blipFill>
        <p:spPr>
          <a:xfrm>
            <a:off x="2627488" y="1352600"/>
            <a:ext cx="790575" cy="1228725"/>
          </a:xfrm>
          <a:prstGeom prst="rect">
            <a:avLst/>
          </a:prstGeom>
          <a:noFill/>
          <a:ln>
            <a:noFill/>
          </a:ln>
        </p:spPr>
      </p:pic>
      <p:pic>
        <p:nvPicPr>
          <p:cNvPr id="280" name="Google Shape;280;p36"/>
          <p:cNvPicPr preferRelativeResize="0"/>
          <p:nvPr/>
        </p:nvPicPr>
        <p:blipFill>
          <a:blip r:embed="rId6">
            <a:alphaModFix/>
          </a:blip>
          <a:stretch>
            <a:fillRect/>
          </a:stretch>
        </p:blipFill>
        <p:spPr>
          <a:xfrm>
            <a:off x="7335988" y="4577525"/>
            <a:ext cx="790575" cy="1228725"/>
          </a:xfrm>
          <a:prstGeom prst="rect">
            <a:avLst/>
          </a:prstGeom>
          <a:noFill/>
          <a:ln>
            <a:noFill/>
          </a:ln>
        </p:spPr>
      </p:pic>
      <p:cxnSp>
        <p:nvCxnSpPr>
          <p:cNvPr id="281" name="Google Shape;281;p36"/>
          <p:cNvCxnSpPr/>
          <p:nvPr/>
        </p:nvCxnSpPr>
        <p:spPr>
          <a:xfrm>
            <a:off x="2882688" y="2568575"/>
            <a:ext cx="0" cy="428700"/>
          </a:xfrm>
          <a:prstGeom prst="straightConnector1">
            <a:avLst/>
          </a:prstGeom>
          <a:noFill/>
          <a:ln cap="flat" cmpd="sng" w="19050">
            <a:solidFill>
              <a:schemeClr val="dk2"/>
            </a:solidFill>
            <a:prstDash val="solid"/>
            <a:round/>
            <a:headEnd len="med" w="med" type="none"/>
            <a:tailEnd len="med" w="med" type="none"/>
          </a:ln>
        </p:spPr>
      </p:cxnSp>
      <p:cxnSp>
        <p:nvCxnSpPr>
          <p:cNvPr id="282" name="Google Shape;282;p36"/>
          <p:cNvCxnSpPr/>
          <p:nvPr/>
        </p:nvCxnSpPr>
        <p:spPr>
          <a:xfrm>
            <a:off x="2882475" y="4197350"/>
            <a:ext cx="0" cy="428700"/>
          </a:xfrm>
          <a:prstGeom prst="straightConnector1">
            <a:avLst/>
          </a:prstGeom>
          <a:noFill/>
          <a:ln cap="flat" cmpd="sng" w="19050">
            <a:solidFill>
              <a:schemeClr val="dk2"/>
            </a:solidFill>
            <a:prstDash val="solid"/>
            <a:round/>
            <a:headEnd len="med" w="med" type="none"/>
            <a:tailEnd len="med" w="med" type="none"/>
          </a:ln>
        </p:spPr>
      </p:cxnSp>
      <p:pic>
        <p:nvPicPr>
          <p:cNvPr id="283" name="Google Shape;283;p36"/>
          <p:cNvPicPr preferRelativeResize="0"/>
          <p:nvPr/>
        </p:nvPicPr>
        <p:blipFill rotWithShape="1">
          <a:blip r:embed="rId7">
            <a:alphaModFix/>
          </a:blip>
          <a:srcRect b="0" l="0" r="0" t="10619"/>
          <a:stretch/>
        </p:blipFill>
        <p:spPr>
          <a:xfrm>
            <a:off x="2543500" y="4626050"/>
            <a:ext cx="678400" cy="606350"/>
          </a:xfrm>
          <a:prstGeom prst="rect">
            <a:avLst/>
          </a:prstGeom>
          <a:noFill/>
          <a:ln>
            <a:noFill/>
          </a:ln>
        </p:spPr>
      </p:pic>
      <p:cxnSp>
        <p:nvCxnSpPr>
          <p:cNvPr id="284" name="Google Shape;284;p36"/>
          <p:cNvCxnSpPr/>
          <p:nvPr/>
        </p:nvCxnSpPr>
        <p:spPr>
          <a:xfrm>
            <a:off x="7592613" y="4148825"/>
            <a:ext cx="0" cy="428700"/>
          </a:xfrm>
          <a:prstGeom prst="straightConnector1">
            <a:avLst/>
          </a:prstGeom>
          <a:noFill/>
          <a:ln cap="flat" cmpd="sng" w="19050">
            <a:solidFill>
              <a:schemeClr val="dk2"/>
            </a:solidFill>
            <a:prstDash val="solid"/>
            <a:round/>
            <a:headEnd len="med" w="med" type="none"/>
            <a:tailEnd len="med" w="med" type="none"/>
          </a:ln>
        </p:spPr>
      </p:cxnSp>
      <p:pic>
        <p:nvPicPr>
          <p:cNvPr id="285" name="Google Shape;285;p36"/>
          <p:cNvPicPr preferRelativeResize="0"/>
          <p:nvPr/>
        </p:nvPicPr>
        <p:blipFill rotWithShape="1">
          <a:blip r:embed="rId7">
            <a:alphaModFix/>
          </a:blip>
          <a:srcRect b="0" l="0" r="0" t="10619"/>
          <a:stretch/>
        </p:blipFill>
        <p:spPr>
          <a:xfrm>
            <a:off x="7255188" y="5730050"/>
            <a:ext cx="678400" cy="606350"/>
          </a:xfrm>
          <a:prstGeom prst="rect">
            <a:avLst/>
          </a:prstGeom>
          <a:noFill/>
          <a:ln>
            <a:noFill/>
          </a:ln>
        </p:spPr>
      </p:pic>
      <p:cxnSp>
        <p:nvCxnSpPr>
          <p:cNvPr id="286" name="Google Shape;286;p36"/>
          <p:cNvCxnSpPr/>
          <p:nvPr/>
        </p:nvCxnSpPr>
        <p:spPr>
          <a:xfrm>
            <a:off x="7587350" y="1992075"/>
            <a:ext cx="2100" cy="991500"/>
          </a:xfrm>
          <a:prstGeom prst="straightConnector1">
            <a:avLst/>
          </a:prstGeom>
          <a:noFill/>
          <a:ln cap="flat" cmpd="sng" w="19050">
            <a:solidFill>
              <a:schemeClr val="dk2"/>
            </a:solidFill>
            <a:prstDash val="solid"/>
            <a:round/>
            <a:headEnd len="med" w="med" type="none"/>
            <a:tailEnd len="med" w="med" type="none"/>
          </a:ln>
        </p:spPr>
      </p:cxnSp>
      <p:sp>
        <p:nvSpPr>
          <p:cNvPr id="287" name="Google Shape;287;p36"/>
          <p:cNvSpPr/>
          <p:nvPr/>
        </p:nvSpPr>
        <p:spPr>
          <a:xfrm>
            <a:off x="2805450" y="1197500"/>
            <a:ext cx="154500" cy="1551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8" name="Google Shape;288;p36"/>
          <p:cNvSpPr/>
          <p:nvPr/>
        </p:nvSpPr>
        <p:spPr>
          <a:xfrm>
            <a:off x="7517150" y="1836975"/>
            <a:ext cx="154500" cy="1551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9" name="Google Shape;289;p36"/>
          <p:cNvSpPr txBox="1"/>
          <p:nvPr/>
        </p:nvSpPr>
        <p:spPr>
          <a:xfrm>
            <a:off x="2933700" y="849100"/>
            <a:ext cx="67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+V</a:t>
            </a:r>
            <a:r>
              <a:rPr baseline="-25000" lang="en" sz="1800">
                <a:solidFill>
                  <a:schemeClr val="dk2"/>
                </a:solidFill>
              </a:rPr>
              <a:t>CC</a:t>
            </a:r>
            <a:endParaRPr baseline="-25000" sz="1800">
              <a:solidFill>
                <a:schemeClr val="dk2"/>
              </a:solidFill>
            </a:endParaRPr>
          </a:p>
        </p:txBody>
      </p:sp>
      <p:sp>
        <p:nvSpPr>
          <p:cNvPr id="290" name="Google Shape;290;p36"/>
          <p:cNvSpPr txBox="1"/>
          <p:nvPr/>
        </p:nvSpPr>
        <p:spPr>
          <a:xfrm>
            <a:off x="7587350" y="1451200"/>
            <a:ext cx="67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+V</a:t>
            </a:r>
            <a:r>
              <a:rPr baseline="-25000" lang="en" sz="1800">
                <a:solidFill>
                  <a:schemeClr val="dk2"/>
                </a:solidFill>
              </a:rPr>
              <a:t>CC</a:t>
            </a:r>
            <a:endParaRPr baseline="-25000" sz="1800">
              <a:solidFill>
                <a:schemeClr val="dk2"/>
              </a:solidFill>
            </a:endParaRPr>
          </a:p>
        </p:txBody>
      </p:sp>
      <p:sp>
        <p:nvSpPr>
          <p:cNvPr id="291" name="Google Shape;291;p36"/>
          <p:cNvSpPr txBox="1"/>
          <p:nvPr/>
        </p:nvSpPr>
        <p:spPr>
          <a:xfrm>
            <a:off x="5538075" y="348525"/>
            <a:ext cx="2862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Where does the load go?</a:t>
            </a:r>
            <a:endParaRPr sz="1800">
              <a:solidFill>
                <a:schemeClr val="dk2"/>
              </a:solidFill>
            </a:endParaRPr>
          </a:p>
        </p:txBody>
      </p:sp>
      <p:sp>
        <p:nvSpPr>
          <p:cNvPr id="292" name="Google Shape;292;p36"/>
          <p:cNvSpPr txBox="1"/>
          <p:nvPr/>
        </p:nvSpPr>
        <p:spPr>
          <a:xfrm>
            <a:off x="1057050" y="5461000"/>
            <a:ext cx="1902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Low side switch</a:t>
            </a:r>
            <a:endParaRPr sz="1800">
              <a:solidFill>
                <a:srgbClr val="FF0000"/>
              </a:solidFill>
            </a:endParaRPr>
          </a:p>
        </p:txBody>
      </p:sp>
      <p:sp>
        <p:nvSpPr>
          <p:cNvPr id="293" name="Google Shape;293;p36"/>
          <p:cNvSpPr txBox="1"/>
          <p:nvPr/>
        </p:nvSpPr>
        <p:spPr>
          <a:xfrm>
            <a:off x="4917000" y="5461000"/>
            <a:ext cx="1902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High </a:t>
            </a:r>
            <a:r>
              <a:rPr lang="en" sz="1800">
                <a:solidFill>
                  <a:srgbClr val="0000FF"/>
                </a:solidFill>
              </a:rPr>
              <a:t>side switch</a:t>
            </a:r>
            <a:endParaRPr sz="1800">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Examine BJT Datasheets. Fill in the table.</a:t>
            </a:r>
            <a:endParaRPr/>
          </a:p>
        </p:txBody>
      </p:sp>
      <p:graphicFrame>
        <p:nvGraphicFramePr>
          <p:cNvPr id="299" name="Google Shape;299;p37"/>
          <p:cNvGraphicFramePr/>
          <p:nvPr/>
        </p:nvGraphicFramePr>
        <p:xfrm>
          <a:off x="952500" y="2476500"/>
          <a:ext cx="3000000" cy="3000000"/>
        </p:xfrm>
        <a:graphic>
          <a:graphicData uri="http://schemas.openxmlformats.org/drawingml/2006/table">
            <a:tbl>
              <a:tblPr>
                <a:noFill/>
                <a:tableStyleId>{0A91F8EE-AF9D-4D32-834B-25F783E5C243}</a:tableStyleId>
              </a:tblPr>
              <a:tblGrid>
                <a:gridCol w="1809750"/>
                <a:gridCol w="1809750"/>
                <a:gridCol w="1809750"/>
                <a:gridCol w="1809750"/>
              </a:tblGrid>
              <a:tr h="381000">
                <a:tc>
                  <a:txBody>
                    <a:bodyPr/>
                    <a:lstStyle/>
                    <a:p>
                      <a:pPr indent="0" lvl="0" marL="0" rtl="0" algn="l">
                        <a:spcBef>
                          <a:spcPts val="0"/>
                        </a:spcBef>
                        <a:spcAft>
                          <a:spcPts val="0"/>
                        </a:spcAft>
                        <a:buNone/>
                      </a:pPr>
                      <a:r>
                        <a:rPr lang="en" sz="2000"/>
                        <a:t>Part Number</a:t>
                      </a:r>
                      <a:endParaRPr sz="2000"/>
                    </a:p>
                  </a:txBody>
                  <a:tcPr marT="91425" marB="91425" marR="91425" marL="91425"/>
                </a:tc>
                <a:tc>
                  <a:txBody>
                    <a:bodyPr/>
                    <a:lstStyle/>
                    <a:p>
                      <a:pPr indent="0" lvl="0" marL="0" rtl="0" algn="l">
                        <a:spcBef>
                          <a:spcPts val="0"/>
                        </a:spcBef>
                        <a:spcAft>
                          <a:spcPts val="0"/>
                        </a:spcAft>
                        <a:buNone/>
                      </a:pPr>
                      <a:r>
                        <a:rPr lang="en" sz="2000"/>
                        <a:t>Type (PNP or NPN)</a:t>
                      </a:r>
                      <a:endParaRPr sz="2000"/>
                    </a:p>
                  </a:txBody>
                  <a:tcPr marT="91425" marB="91425" marR="91425" marL="91425"/>
                </a:tc>
                <a:tc>
                  <a:txBody>
                    <a:bodyPr/>
                    <a:lstStyle/>
                    <a:p>
                      <a:pPr indent="0" lvl="0" marL="0" rtl="0" algn="l">
                        <a:spcBef>
                          <a:spcPts val="0"/>
                        </a:spcBef>
                        <a:spcAft>
                          <a:spcPts val="0"/>
                        </a:spcAft>
                        <a:buNone/>
                      </a:pPr>
                      <a:r>
                        <a:rPr lang="en" sz="2000"/>
                        <a:t>𝛽 (or h</a:t>
                      </a:r>
                      <a:r>
                        <a:rPr baseline="-25000" lang="en" sz="2000"/>
                        <a:t>FE</a:t>
                      </a:r>
                      <a:r>
                        <a:rPr lang="en" sz="2000"/>
                        <a:t>)</a:t>
                      </a:r>
                      <a:endParaRPr sz="2000"/>
                    </a:p>
                  </a:txBody>
                  <a:tcPr marT="91425" marB="91425" marR="91425" marL="91425"/>
                </a:tc>
                <a:tc>
                  <a:txBody>
                    <a:bodyPr/>
                    <a:lstStyle/>
                    <a:p>
                      <a:pPr indent="0" lvl="0" marL="0" rtl="0" algn="l">
                        <a:spcBef>
                          <a:spcPts val="0"/>
                        </a:spcBef>
                        <a:spcAft>
                          <a:spcPts val="0"/>
                        </a:spcAft>
                        <a:buNone/>
                      </a:pPr>
                      <a:r>
                        <a:rPr lang="en" sz="2000"/>
                        <a:t>Max collector current</a:t>
                      </a:r>
                      <a:endParaRPr sz="2000"/>
                    </a:p>
                  </a:txBody>
                  <a:tcPr marT="91425" marB="91425" marR="91425" marL="91425"/>
                </a:tc>
              </a:tr>
              <a:tr h="381000">
                <a:tc>
                  <a:txBody>
                    <a:bodyPr/>
                    <a:lstStyle/>
                    <a:p>
                      <a:pPr indent="0" lvl="0" marL="0" rtl="0" algn="l">
                        <a:spcBef>
                          <a:spcPts val="0"/>
                        </a:spcBef>
                        <a:spcAft>
                          <a:spcPts val="0"/>
                        </a:spcAft>
                        <a:buNone/>
                      </a:pPr>
                      <a:r>
                        <a:rPr lang="en" sz="2000"/>
                        <a:t>KSC2073 </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r>
              <a:tr h="381000">
                <a:tc>
                  <a:txBody>
                    <a:bodyPr/>
                    <a:lstStyle/>
                    <a:p>
                      <a:pPr indent="0" lvl="0" marL="0" rtl="0" algn="l">
                        <a:spcBef>
                          <a:spcPts val="0"/>
                        </a:spcBef>
                        <a:spcAft>
                          <a:spcPts val="0"/>
                        </a:spcAft>
                        <a:buNone/>
                      </a:pPr>
                      <a:r>
                        <a:rPr lang="en" sz="2000"/>
                        <a:t>TIP42</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r>
              <a:tr h="381000">
                <a:tc>
                  <a:txBody>
                    <a:bodyPr/>
                    <a:lstStyle/>
                    <a:p>
                      <a:pPr indent="0" lvl="0" marL="0" rtl="0" algn="l">
                        <a:spcBef>
                          <a:spcPts val="0"/>
                        </a:spcBef>
                        <a:spcAft>
                          <a:spcPts val="0"/>
                        </a:spcAft>
                        <a:buNone/>
                      </a:pPr>
                      <a:r>
                        <a:rPr lang="en" sz="2000"/>
                        <a:t>2N3906</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r>
              <a:tr h="381000">
                <a:tc>
                  <a:txBody>
                    <a:bodyPr/>
                    <a:lstStyle/>
                    <a:p>
                      <a:pPr indent="0" lvl="0" marL="0" rtl="0" algn="l">
                        <a:spcBef>
                          <a:spcPts val="0"/>
                        </a:spcBef>
                        <a:spcAft>
                          <a:spcPts val="0"/>
                        </a:spcAft>
                        <a:buNone/>
                      </a:pPr>
                      <a:r>
                        <a:rPr lang="en" sz="2000"/>
                        <a:t>2N3904</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Why are there three values sometimes? (Min, Typ, Max)</a:t>
            </a:r>
            <a:endParaRPr sz="2600"/>
          </a:p>
        </p:txBody>
      </p:sp>
      <p:sp>
        <p:nvSpPr>
          <p:cNvPr id="305" name="Google Shape;305;p38"/>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Manufacturing Variation: No two BJTs or MOSFETs are identical. Parameters like </a:t>
            </a:r>
            <a:r>
              <a:rPr lang="en">
                <a:solidFill>
                  <a:schemeClr val="dk1"/>
                </a:solidFill>
              </a:rPr>
              <a:t>𝛽 (h</a:t>
            </a:r>
            <a:r>
              <a:rPr baseline="-25000" lang="en">
                <a:solidFill>
                  <a:schemeClr val="dk1"/>
                </a:solidFill>
              </a:rPr>
              <a:t>FE</a:t>
            </a:r>
            <a:r>
              <a:rPr lang="en">
                <a:solidFill>
                  <a:schemeClr val="dk1"/>
                </a:solidFill>
              </a:rPr>
              <a:t>)</a:t>
            </a:r>
            <a:r>
              <a:rPr lang="en"/>
              <a:t> vary significantly across a single production batch.</a:t>
            </a:r>
            <a:br>
              <a:rPr lang="en"/>
            </a:br>
            <a:endParaRPr/>
          </a:p>
          <a:p>
            <a:pPr indent="-342900" lvl="0" marL="457200" rtl="0" algn="l">
              <a:spcBef>
                <a:spcPts val="0"/>
              </a:spcBef>
              <a:spcAft>
                <a:spcPts val="0"/>
              </a:spcAft>
              <a:buSzPts val="1800"/>
              <a:buChar char="●"/>
            </a:pPr>
            <a:r>
              <a:rPr lang="en"/>
              <a:t>The 3-Sigma Rule: Manufacturers often specify Min and Max values to represent the 3σ (three standard deviations) points of a normal distribution.</a:t>
            </a:r>
            <a:endParaRPr/>
          </a:p>
          <a:p>
            <a:pPr indent="-323850" lvl="1" marL="914400" rtl="0" algn="l">
              <a:spcBef>
                <a:spcPts val="0"/>
              </a:spcBef>
              <a:spcAft>
                <a:spcPts val="0"/>
              </a:spcAft>
              <a:buSzPts val="1500"/>
              <a:buChar char="○"/>
            </a:pPr>
            <a:r>
              <a:rPr lang="en" sz="1500"/>
              <a:t>Typical (Typ): The average or "mean" value you are most likely to see.</a:t>
            </a:r>
            <a:endParaRPr sz="1500"/>
          </a:p>
          <a:p>
            <a:pPr indent="-317500" lvl="1" marL="914400" rtl="0" algn="l">
              <a:spcBef>
                <a:spcPts val="0"/>
              </a:spcBef>
              <a:spcAft>
                <a:spcPts val="0"/>
              </a:spcAft>
              <a:buSzPts val="1400"/>
              <a:buChar char="○"/>
            </a:pPr>
            <a:r>
              <a:rPr lang="en" sz="1500"/>
              <a:t>Min/Max: Only about 0.15% of parts will fall outside these boundaries on either end.</a:t>
            </a:r>
            <a:br>
              <a:rPr lang="en"/>
            </a:br>
            <a:endParaRPr/>
          </a:p>
          <a:p>
            <a:pPr indent="-342900" lvl="0" marL="457200" rtl="0" algn="l">
              <a:spcBef>
                <a:spcPts val="0"/>
              </a:spcBef>
              <a:spcAft>
                <a:spcPts val="0"/>
              </a:spcAft>
              <a:buSzPts val="1800"/>
              <a:buChar char="●"/>
            </a:pPr>
            <a:r>
              <a:rPr lang="en"/>
              <a:t>The Reality Check: If you pick a part off the shelf, it is highly likely to have a value near the "Typical," but it is guaranteed (mostly) to be at least the "Min" and no more than the "Max."</a:t>
            </a:r>
            <a:endParaRPr/>
          </a:p>
          <a:p>
            <a:pPr indent="0" lvl="0" marL="0" rtl="0" algn="l">
              <a:spcBef>
                <a:spcPts val="1600"/>
              </a:spcBef>
              <a:spcAft>
                <a:spcPts val="1600"/>
              </a:spcAft>
              <a:buNone/>
            </a:pPr>
            <a:r>
              <a:rPr lang="en"/>
              <a:t>So what value should I pick??</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"Correct" Value Depends on the Question</a:t>
            </a:r>
            <a:endParaRPr/>
          </a:p>
        </p:txBody>
      </p:sp>
      <p:sp>
        <p:nvSpPr>
          <p:cNvPr id="311" name="Google Shape;311;p39"/>
          <p:cNvSpPr txBox="1"/>
          <p:nvPr>
            <p:ph idx="1" type="body"/>
          </p:nvPr>
        </p:nvSpPr>
        <p:spPr>
          <a:xfrm>
            <a:off x="311700" y="1536624"/>
            <a:ext cx="8520600" cy="5091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There is no single "right" number to use; it depends on what you are trying to do.</a:t>
            </a:r>
            <a:endParaRPr/>
          </a:p>
          <a:p>
            <a:pPr indent="-342900" lvl="0" marL="457200" rtl="0" algn="l">
              <a:spcBef>
                <a:spcPts val="1600"/>
              </a:spcBef>
              <a:spcAft>
                <a:spcPts val="0"/>
              </a:spcAft>
              <a:buSzPts val="1800"/>
              <a:buChar char="●"/>
            </a:pPr>
            <a:r>
              <a:rPr lang="en"/>
              <a:t>Scenario A: "Will my circuit function?"</a:t>
            </a:r>
            <a:endParaRPr/>
          </a:p>
          <a:p>
            <a:pPr indent="-317500" lvl="1" marL="914400" rtl="0" algn="l">
              <a:spcBef>
                <a:spcPts val="0"/>
              </a:spcBef>
              <a:spcAft>
                <a:spcPts val="0"/>
              </a:spcAft>
              <a:buSzPts val="1400"/>
              <a:buChar char="○"/>
            </a:pPr>
            <a:r>
              <a:rPr lang="en"/>
              <a:t>Goal: You need to ensure the transistor turns on even if it is the "weakest" one in the box.</a:t>
            </a:r>
            <a:endParaRPr/>
          </a:p>
          <a:p>
            <a:pPr indent="-317500" lvl="1" marL="914400" rtl="0" algn="l">
              <a:spcBef>
                <a:spcPts val="0"/>
              </a:spcBef>
              <a:spcAft>
                <a:spcPts val="0"/>
              </a:spcAft>
              <a:buSzPts val="1400"/>
              <a:buChar char="○"/>
            </a:pPr>
            <a:r>
              <a:rPr lang="en"/>
              <a:t>Selection: Use Worst-Case Minimums </a:t>
            </a:r>
            <a:r>
              <a:rPr lang="en" sz="1250"/>
              <a:t>(e.g., </a:t>
            </a:r>
            <a:r>
              <a:rPr lang="en" sz="1250">
                <a:solidFill>
                  <a:schemeClr val="dk1"/>
                </a:solidFill>
              </a:rPr>
              <a:t>𝛽</a:t>
            </a:r>
            <a:r>
              <a:rPr baseline="-25000" lang="en" sz="1250">
                <a:solidFill>
                  <a:schemeClr val="dk1"/>
                </a:solidFill>
              </a:rPr>
              <a:t>min</a:t>
            </a:r>
            <a:r>
              <a:rPr lang="en" sz="1250"/>
              <a:t>).</a:t>
            </a:r>
            <a:endParaRPr sz="1250"/>
          </a:p>
          <a:p>
            <a:pPr indent="-317500" lvl="1" marL="914400" rtl="0" algn="l">
              <a:spcBef>
                <a:spcPts val="0"/>
              </a:spcBef>
              <a:spcAft>
                <a:spcPts val="0"/>
              </a:spcAft>
              <a:buSzPts val="1400"/>
              <a:buChar char="○"/>
            </a:pPr>
            <a:r>
              <a:rPr lang="en" sz="1250"/>
              <a:t>E</a:t>
            </a:r>
            <a:r>
              <a:rPr lang="en"/>
              <a:t>xample: If you design for </a:t>
            </a:r>
            <a:r>
              <a:rPr lang="en" sz="1250">
                <a:solidFill>
                  <a:schemeClr val="dk1"/>
                </a:solidFill>
              </a:rPr>
              <a:t>𝛽</a:t>
            </a:r>
            <a:r>
              <a:rPr baseline="-25000" lang="en" sz="1250">
                <a:solidFill>
                  <a:schemeClr val="dk1"/>
                </a:solidFill>
              </a:rPr>
              <a:t>max</a:t>
            </a:r>
            <a:r>
              <a:rPr lang="en"/>
              <a:t>, your circuit will fail for 99.85% of parts. Designing for </a:t>
            </a:r>
            <a:r>
              <a:rPr lang="en" sz="1250">
                <a:solidFill>
                  <a:schemeClr val="dk1"/>
                </a:solidFill>
              </a:rPr>
              <a:t>𝛽</a:t>
            </a:r>
            <a:r>
              <a:rPr baseline="-25000" lang="en" sz="1250">
                <a:solidFill>
                  <a:schemeClr val="dk1"/>
                </a:solidFill>
              </a:rPr>
              <a:t>min</a:t>
            </a:r>
            <a:r>
              <a:rPr lang="en"/>
              <a:t> ensures nearly 100% yield.</a:t>
            </a:r>
            <a:br>
              <a:rPr lang="en"/>
            </a:br>
            <a:endParaRPr/>
          </a:p>
          <a:p>
            <a:pPr indent="-342900" lvl="0" marL="457200" rtl="0" algn="l">
              <a:spcBef>
                <a:spcPts val="0"/>
              </a:spcBef>
              <a:spcAft>
                <a:spcPts val="0"/>
              </a:spcAft>
              <a:buSzPts val="1800"/>
              <a:buChar char="●"/>
            </a:pPr>
            <a:r>
              <a:rPr lang="en"/>
              <a:t>Scenario B: "Will my circuit break or overheat?"</a:t>
            </a:r>
            <a:endParaRPr/>
          </a:p>
          <a:p>
            <a:pPr indent="-317500" lvl="1" marL="914400" rtl="0" algn="l">
              <a:spcBef>
                <a:spcPts val="0"/>
              </a:spcBef>
              <a:spcAft>
                <a:spcPts val="0"/>
              </a:spcAft>
              <a:buSzPts val="1400"/>
              <a:buChar char="○"/>
            </a:pPr>
            <a:r>
              <a:rPr lang="en"/>
              <a:t>Goal: You need to ensure you don't exceed power limits.</a:t>
            </a:r>
            <a:endParaRPr/>
          </a:p>
          <a:p>
            <a:pPr indent="-317500" lvl="1" marL="914400" rtl="0" algn="l">
              <a:spcBef>
                <a:spcPts val="0"/>
              </a:spcBef>
              <a:spcAft>
                <a:spcPts val="0"/>
              </a:spcAft>
              <a:buSzPts val="1400"/>
              <a:buChar char="○"/>
            </a:pPr>
            <a:r>
              <a:rPr lang="en"/>
              <a:t>Selection: Use Worst-Case Maximums (e.g., Max V</a:t>
            </a:r>
            <a:r>
              <a:rPr baseline="-25000" lang="en"/>
              <a:t>OH</a:t>
            </a:r>
            <a:r>
              <a:rPr lang="en"/>
              <a:t>, Max Capacitance, Max Frequency).</a:t>
            </a:r>
            <a:endParaRPr/>
          </a:p>
          <a:p>
            <a:pPr indent="-317500" lvl="1" marL="914400" rtl="0" algn="l">
              <a:spcBef>
                <a:spcPts val="0"/>
              </a:spcBef>
              <a:spcAft>
                <a:spcPts val="0"/>
              </a:spcAft>
              <a:buSzPts val="1400"/>
              <a:buChar char="○"/>
            </a:pPr>
            <a:r>
              <a:rPr lang="en"/>
              <a:t>Question: "Am I inside my power envelope?" You must assume the highest possible voltage and frequency to ensure the system survives the worst-case stress.</a:t>
            </a:r>
            <a:br>
              <a:rPr lang="en"/>
            </a:br>
            <a:endParaRPr/>
          </a:p>
          <a:p>
            <a:pPr indent="-342900" lvl="0" marL="457200" rtl="0" algn="l">
              <a:spcBef>
                <a:spcPts val="0"/>
              </a:spcBef>
              <a:spcAft>
                <a:spcPts val="0"/>
              </a:spcAft>
              <a:buSzPts val="1800"/>
              <a:buChar char="●"/>
            </a:pPr>
            <a:r>
              <a:rPr lang="en"/>
              <a:t>Summary: Always ask: "Does a higher or lower value make it harder for my design to succeed?" Use that value.	</a:t>
            </a:r>
            <a:br>
              <a:rPr lang="en"/>
            </a:br>
            <a:endParaRPr/>
          </a:p>
          <a:p>
            <a:pPr indent="-342900" lvl="0" marL="457200" rtl="0" algn="l">
              <a:spcBef>
                <a:spcPts val="0"/>
              </a:spcBef>
              <a:spcAft>
                <a:spcPts val="0"/>
              </a:spcAft>
              <a:buSzPts val="1800"/>
              <a:buChar char="●"/>
            </a:pPr>
            <a:r>
              <a:rPr lang="en"/>
              <a:t>Added Complexity: Operating Conditions:</a:t>
            </a:r>
            <a:endParaRPr/>
          </a:p>
          <a:p>
            <a:pPr indent="-317500" lvl="1" marL="914400" rtl="0" algn="l">
              <a:spcBef>
                <a:spcPts val="0"/>
              </a:spcBef>
              <a:spcAft>
                <a:spcPts val="0"/>
              </a:spcAft>
              <a:buSzPts val="1400"/>
              <a:buChar char="○"/>
            </a:pPr>
            <a:r>
              <a:rPr lang="en"/>
              <a:t>Remember that these values aren't static. They shift with temperature and other conditions.</a:t>
            </a:r>
            <a:endParaRPr/>
          </a:p>
          <a:p>
            <a:pPr indent="-317500" lvl="1" marL="914400" rtl="0" algn="l">
              <a:spcBef>
                <a:spcPts val="0"/>
              </a:spcBef>
              <a:spcAft>
                <a:spcPts val="0"/>
              </a:spcAft>
              <a:buSzPts val="1400"/>
              <a:buChar char="○"/>
            </a:pPr>
            <a:r>
              <a:rPr lang="en"/>
              <a:t>Always check the datasheet graphs to see how your "Min" or "Max" values might further change when the circuit gets hot or cold.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5" name="Shape 315"/>
        <p:cNvGrpSpPr/>
        <p:nvPr/>
      </p:nvGrpSpPr>
      <p:grpSpPr>
        <a:xfrm>
          <a:off x="0" y="0"/>
          <a:ext cx="0" cy="0"/>
          <a:chOff x="0" y="0"/>
          <a:chExt cx="0" cy="0"/>
        </a:xfrm>
      </p:grpSpPr>
      <p:sp>
        <p:nvSpPr>
          <p:cNvPr id="316" name="Google Shape;316;p4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Designing for Success: The "Worst-Case" Approach</a:t>
            </a:r>
            <a:endParaRPr/>
          </a:p>
        </p:txBody>
      </p:sp>
      <p:sp>
        <p:nvSpPr>
          <p:cNvPr id="317" name="Google Shape;317;p40"/>
          <p:cNvSpPr txBox="1"/>
          <p:nvPr>
            <p:ph idx="1" type="body"/>
          </p:nvPr>
        </p:nvSpPr>
        <p:spPr>
          <a:xfrm>
            <a:off x="311700" y="1536624"/>
            <a:ext cx="8520600" cy="50913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The Trap of the Maximum:</a:t>
            </a:r>
            <a:endParaRPr b="1"/>
          </a:p>
          <a:p>
            <a:pPr indent="-334328" lvl="0" marL="457200" rtl="0" algn="l">
              <a:spcBef>
                <a:spcPts val="1600"/>
              </a:spcBef>
              <a:spcAft>
                <a:spcPts val="0"/>
              </a:spcAft>
              <a:buSzPct val="100000"/>
              <a:buChar char="●"/>
            </a:pPr>
            <a:r>
              <a:rPr lang="en"/>
              <a:t>Example: Using </a:t>
            </a:r>
            <a:r>
              <a:rPr lang="en">
                <a:solidFill>
                  <a:schemeClr val="dk1"/>
                </a:solidFill>
              </a:rPr>
              <a:t>𝛽</a:t>
            </a:r>
            <a:r>
              <a:rPr baseline="-25000" lang="en">
                <a:solidFill>
                  <a:schemeClr val="dk1"/>
                </a:solidFill>
              </a:rPr>
              <a:t>max</a:t>
            </a:r>
            <a:r>
              <a:rPr lang="en"/>
              <a:t> to calculate base current. </a:t>
            </a:r>
            <a:endParaRPr/>
          </a:p>
          <a:p>
            <a:pPr indent="-334328" lvl="0" marL="457200" rtl="0" algn="l">
              <a:spcBef>
                <a:spcPts val="0"/>
              </a:spcBef>
              <a:spcAft>
                <a:spcPts val="0"/>
              </a:spcAft>
              <a:buSzPct val="100000"/>
              <a:buChar char="●"/>
            </a:pPr>
            <a:r>
              <a:rPr lang="en"/>
              <a:t>If you design your circuit to only work if the gain is at its maximum value, your design will fail for 99.85% of the parts you buy, because almost all of them will have a gain lower than that.</a:t>
            </a:r>
            <a:endParaRPr/>
          </a:p>
          <a:p>
            <a:pPr indent="0" lvl="0" marL="0" rtl="0" algn="l">
              <a:spcBef>
                <a:spcPts val="1600"/>
              </a:spcBef>
              <a:spcAft>
                <a:spcPts val="0"/>
              </a:spcAft>
              <a:buNone/>
            </a:pPr>
            <a:r>
              <a:rPr b="1" lang="en"/>
              <a:t>The Golden Rule: Design for the Minimum (</a:t>
            </a:r>
            <a:r>
              <a:rPr b="1" lang="en">
                <a:solidFill>
                  <a:schemeClr val="dk1"/>
                </a:solidFill>
              </a:rPr>
              <a:t>𝛽</a:t>
            </a:r>
            <a:r>
              <a:rPr b="1" baseline="-25000" lang="en">
                <a:solidFill>
                  <a:schemeClr val="dk1"/>
                </a:solidFill>
              </a:rPr>
              <a:t>min</a:t>
            </a:r>
            <a:r>
              <a:rPr b="1" lang="en"/>
              <a:t>):</a:t>
            </a:r>
            <a:endParaRPr b="1"/>
          </a:p>
          <a:p>
            <a:pPr indent="-334328" lvl="0" marL="457200" rtl="0" algn="l">
              <a:spcBef>
                <a:spcPts val="1600"/>
              </a:spcBef>
              <a:spcAft>
                <a:spcPts val="0"/>
              </a:spcAft>
              <a:buSzPct val="100000"/>
              <a:buChar char="●"/>
            </a:pPr>
            <a:r>
              <a:rPr lang="en"/>
              <a:t>If your circuit functions correctly with the lowest possible gain specified, it will work for 99.85% of all parts in that product line.</a:t>
            </a:r>
            <a:endParaRPr/>
          </a:p>
          <a:p>
            <a:pPr indent="-334328" lvl="0" marL="457200" rtl="0" algn="l">
              <a:spcBef>
                <a:spcPts val="0"/>
              </a:spcBef>
              <a:spcAft>
                <a:spcPts val="0"/>
              </a:spcAft>
              <a:buSzPct val="100000"/>
              <a:buChar char="●"/>
            </a:pPr>
            <a:r>
              <a:rPr lang="en"/>
              <a:t>Robustness: A good design "over-drives" the base slightly so that even the "weakest" transistor in the box still turns on fully.</a:t>
            </a:r>
            <a:endParaRPr/>
          </a:p>
          <a:p>
            <a:pPr indent="0" lvl="0" marL="0" rtl="0" algn="l">
              <a:spcBef>
                <a:spcPts val="1600"/>
              </a:spcBef>
              <a:spcAft>
                <a:spcPts val="0"/>
              </a:spcAft>
              <a:buNone/>
            </a:pPr>
            <a:r>
              <a:rPr b="1" lang="en"/>
              <a:t>Added Complexity: Operating Conditions:</a:t>
            </a:r>
            <a:endParaRPr b="1"/>
          </a:p>
          <a:p>
            <a:pPr indent="-334328" lvl="0" marL="457200" rtl="0" algn="l">
              <a:spcBef>
                <a:spcPts val="1600"/>
              </a:spcBef>
              <a:spcAft>
                <a:spcPts val="0"/>
              </a:spcAft>
              <a:buSzPct val="100000"/>
              <a:buChar char="●"/>
            </a:pPr>
            <a:r>
              <a:rPr lang="en"/>
              <a:t>Remember that these values aren't static. They shift with Temperature and Collector Current I</a:t>
            </a:r>
            <a:r>
              <a:rPr baseline="-25000" lang="en"/>
              <a:t>C</a:t>
            </a:r>
            <a:r>
              <a:rPr lang="en"/>
              <a:t>.</a:t>
            </a:r>
            <a:endParaRPr/>
          </a:p>
          <a:p>
            <a:pPr indent="-334328" lvl="0" marL="457200" rtl="0" algn="l">
              <a:spcBef>
                <a:spcPts val="0"/>
              </a:spcBef>
              <a:spcAft>
                <a:spcPts val="0"/>
              </a:spcAft>
              <a:buSzPct val="100000"/>
              <a:buChar char="●"/>
            </a:pPr>
            <a:r>
              <a:rPr lang="en"/>
              <a:t>Always check the datasheet graphs to see how your "Min" value might drop even further when the circuit gets hot or cold.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1"/>
          <p:cNvSpPr txBox="1"/>
          <p:nvPr>
            <p:ph type="title"/>
          </p:nvPr>
        </p:nvSpPr>
        <p:spPr>
          <a:xfrm>
            <a:off x="311700" y="4203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MOSFET</a:t>
            </a:r>
            <a:r>
              <a:rPr lang="en"/>
              <a:t>S</a:t>
            </a:r>
            <a:endParaRPr/>
          </a:p>
        </p:txBody>
      </p:sp>
      <p:sp>
        <p:nvSpPr>
          <p:cNvPr id="323" name="Google Shape;323;p41"/>
          <p:cNvSpPr txBox="1"/>
          <p:nvPr>
            <p:ph idx="1" type="body"/>
          </p:nvPr>
        </p:nvSpPr>
        <p:spPr>
          <a:xfrm>
            <a:off x="233050" y="1183858"/>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MOSFET = Metal Oxide Semiconductor Field Effect Transistors</a:t>
            </a:r>
            <a:endParaRPr/>
          </a:p>
          <a:p>
            <a:pPr indent="0" lvl="0" marL="0" rtl="0" algn="l">
              <a:spcBef>
                <a:spcPts val="1600"/>
              </a:spcBef>
              <a:spcAft>
                <a:spcPts val="0"/>
              </a:spcAft>
              <a:buNone/>
            </a:pPr>
            <a:r>
              <a:rPr lang="en"/>
              <a:t>The BJT was the technology used to make integrated circuits, from the first ones in the early 1960s all the way until the late 1970s, when MOSFETs took over.</a:t>
            </a:r>
            <a:endParaRPr/>
          </a:p>
          <a:p>
            <a:pPr indent="0" lvl="0" marL="0" rtl="0" algn="l">
              <a:spcBef>
                <a:spcPts val="1600"/>
              </a:spcBef>
              <a:spcAft>
                <a:spcPts val="0"/>
              </a:spcAft>
              <a:buNone/>
            </a:pPr>
            <a:r>
              <a:rPr lang="en"/>
              <a:t>MOSFETs h</a:t>
            </a:r>
            <a:r>
              <a:rPr lang="en"/>
              <a:t>ave two components:</a:t>
            </a:r>
            <a:endParaRPr/>
          </a:p>
          <a:p>
            <a:pPr indent="-342900" lvl="0" marL="457200" rtl="0" algn="l">
              <a:spcBef>
                <a:spcPts val="1600"/>
              </a:spcBef>
              <a:spcAft>
                <a:spcPts val="0"/>
              </a:spcAft>
              <a:buSzPts val="1800"/>
              <a:buChar char="●"/>
            </a:pPr>
            <a:r>
              <a:rPr lang="en"/>
              <a:t>The “field effect” is an electric field that creates a channel between two n-type regions for electrons to pass through.</a:t>
            </a:r>
            <a:endParaRPr/>
          </a:p>
          <a:p>
            <a:pPr indent="-342900" lvl="0" marL="457200" rtl="0" algn="l">
              <a:spcBef>
                <a:spcPts val="0"/>
              </a:spcBef>
              <a:spcAft>
                <a:spcPts val="0"/>
              </a:spcAft>
              <a:buSzPts val="1800"/>
              <a:buChar char="●"/>
            </a:pPr>
            <a:r>
              <a:rPr lang="en"/>
              <a:t>This field is generated by an electrically-charged metal layer that is shielded from the semiconductor </a:t>
            </a:r>
            <a:br>
              <a:rPr lang="en"/>
            </a:br>
            <a:r>
              <a:rPr lang="en"/>
              <a:t>material by an insulating </a:t>
            </a:r>
            <a:br>
              <a:rPr lang="en"/>
            </a:br>
            <a:r>
              <a:rPr lang="en"/>
              <a:t>oxidized layer (thus the MOS </a:t>
            </a:r>
            <a:br>
              <a:rPr lang="en"/>
            </a:br>
            <a:r>
              <a:rPr lang="en"/>
              <a:t>component).</a:t>
            </a:r>
            <a:endParaRPr/>
          </a:p>
          <a:p>
            <a:pPr indent="0" lvl="0" marL="0" rtl="0" algn="l">
              <a:spcBef>
                <a:spcPts val="1600"/>
              </a:spcBef>
              <a:spcAft>
                <a:spcPts val="1600"/>
              </a:spcAft>
              <a:buNone/>
            </a:pPr>
            <a:r>
              <a:t/>
            </a:r>
            <a:endParaRPr/>
          </a:p>
        </p:txBody>
      </p:sp>
      <p:pic>
        <p:nvPicPr>
          <p:cNvPr id="324" name="Google Shape;324;p41"/>
          <p:cNvPicPr preferRelativeResize="0"/>
          <p:nvPr/>
        </p:nvPicPr>
        <p:blipFill>
          <a:blip r:embed="rId3">
            <a:alphaModFix/>
          </a:blip>
          <a:stretch>
            <a:fillRect/>
          </a:stretch>
        </p:blipFill>
        <p:spPr>
          <a:xfrm>
            <a:off x="3994103" y="4195025"/>
            <a:ext cx="4838200" cy="2401775"/>
          </a:xfrm>
          <a:prstGeom prst="rect">
            <a:avLst/>
          </a:prstGeom>
          <a:noFill/>
          <a:ln>
            <a:noFill/>
          </a:ln>
        </p:spPr>
      </p:pic>
      <p:sp>
        <p:nvSpPr>
          <p:cNvPr id="325" name="Google Shape;325;p41"/>
          <p:cNvSpPr txBox="1"/>
          <p:nvPr/>
        </p:nvSpPr>
        <p:spPr>
          <a:xfrm>
            <a:off x="311688" y="5469250"/>
            <a:ext cx="2761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Terminals are called </a:t>
            </a:r>
            <a:r>
              <a:rPr lang="en" sz="1800">
                <a:solidFill>
                  <a:srgbClr val="FF00FF"/>
                </a:solidFill>
              </a:rPr>
              <a:t>Gate</a:t>
            </a:r>
            <a:r>
              <a:rPr lang="en" sz="1800">
                <a:solidFill>
                  <a:schemeClr val="dk1"/>
                </a:solidFill>
              </a:rPr>
              <a:t>, </a:t>
            </a:r>
            <a:r>
              <a:rPr lang="en" sz="1800">
                <a:solidFill>
                  <a:srgbClr val="FF00FF"/>
                </a:solidFill>
              </a:rPr>
              <a:t>Drain</a:t>
            </a:r>
            <a:r>
              <a:rPr lang="en" sz="1800">
                <a:solidFill>
                  <a:schemeClr val="dk1"/>
                </a:solidFill>
              </a:rPr>
              <a:t> and </a:t>
            </a:r>
            <a:r>
              <a:rPr lang="en" sz="1800">
                <a:solidFill>
                  <a:srgbClr val="FF00FF"/>
                </a:solidFill>
              </a:rPr>
              <a:t>Source</a:t>
            </a:r>
            <a:r>
              <a:rPr lang="en" sz="1800">
                <a:solidFill>
                  <a:schemeClr val="dk1"/>
                </a:solidFill>
              </a:rPr>
              <a:t>.</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Two types: nFET and pFET</a:t>
            </a:r>
            <a:endParaRPr/>
          </a:p>
        </p:txBody>
      </p:sp>
      <p:sp>
        <p:nvSpPr>
          <p:cNvPr id="331" name="Google Shape;331;p42"/>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Depending on how the channel is formed:</a:t>
            </a:r>
            <a:endParaRPr/>
          </a:p>
          <a:p>
            <a:pPr indent="-342900" lvl="0" marL="457200" rtl="0" algn="l">
              <a:spcBef>
                <a:spcPts val="1600"/>
              </a:spcBef>
              <a:spcAft>
                <a:spcPts val="0"/>
              </a:spcAft>
              <a:buSzPts val="1800"/>
              <a:buChar char="●"/>
            </a:pPr>
            <a:r>
              <a:rPr lang="en"/>
              <a:t>N for nFETs, also called N-channel MOSFETs</a:t>
            </a:r>
            <a:endParaRPr/>
          </a:p>
          <a:p>
            <a:pPr indent="-342900" lvl="0" marL="457200" rtl="0" algn="l">
              <a:spcBef>
                <a:spcPts val="0"/>
              </a:spcBef>
              <a:spcAft>
                <a:spcPts val="0"/>
              </a:spcAft>
              <a:buSzPts val="1800"/>
              <a:buChar char="●"/>
            </a:pPr>
            <a:r>
              <a:rPr lang="en"/>
              <a:t>P for pFETs, also called P-channel MOSFETs.</a:t>
            </a:r>
            <a:endParaRPr/>
          </a:p>
          <a:p>
            <a:pPr indent="0" lvl="0" marL="0" rtl="0" algn="l">
              <a:spcBef>
                <a:spcPts val="1600"/>
              </a:spcBef>
              <a:spcAft>
                <a:spcPts val="0"/>
              </a:spcAft>
              <a:buNone/>
            </a:pPr>
            <a:r>
              <a:rPr lang="en"/>
              <a:t>(There are two subtypes for each: enhancement and depletion type - we'll only use enhancement type here:</a:t>
            </a:r>
            <a:endParaRPr/>
          </a:p>
          <a:p>
            <a:pPr indent="0" lvl="0" marL="0" rtl="0" algn="l">
              <a:spcBef>
                <a:spcPts val="1600"/>
              </a:spcBef>
              <a:spcAft>
                <a:spcPts val="1600"/>
              </a:spcAft>
              <a:buNone/>
            </a:pPr>
            <a:r>
              <a:rPr lang="en"/>
              <a:t>Enhancement type: MOSFET "turns on" when appropriate gate voltage is applied.)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3"/>
          <p:cNvSpPr txBox="1"/>
          <p:nvPr>
            <p:ph type="title"/>
          </p:nvPr>
        </p:nvSpPr>
        <p:spPr>
          <a:xfrm>
            <a:off x="311700" y="357425"/>
            <a:ext cx="35187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nMOSFET (nFET)</a:t>
            </a:r>
            <a:endParaRPr/>
          </a:p>
        </p:txBody>
      </p:sp>
      <p:pic>
        <p:nvPicPr>
          <p:cNvPr id="337" name="Google Shape;337;p43"/>
          <p:cNvPicPr preferRelativeResize="0"/>
          <p:nvPr/>
        </p:nvPicPr>
        <p:blipFill>
          <a:blip r:embed="rId3">
            <a:alphaModFix/>
          </a:blip>
          <a:stretch>
            <a:fillRect/>
          </a:stretch>
        </p:blipFill>
        <p:spPr>
          <a:xfrm>
            <a:off x="696750" y="3991475"/>
            <a:ext cx="2295076" cy="2343151"/>
          </a:xfrm>
          <a:prstGeom prst="rect">
            <a:avLst/>
          </a:prstGeom>
          <a:noFill/>
          <a:ln>
            <a:noFill/>
          </a:ln>
        </p:spPr>
      </p:pic>
      <p:pic>
        <p:nvPicPr>
          <p:cNvPr id="338" name="Google Shape;338;p43"/>
          <p:cNvPicPr preferRelativeResize="0"/>
          <p:nvPr/>
        </p:nvPicPr>
        <p:blipFill>
          <a:blip r:embed="rId4">
            <a:alphaModFix/>
          </a:blip>
          <a:stretch>
            <a:fillRect/>
          </a:stretch>
        </p:blipFill>
        <p:spPr>
          <a:xfrm>
            <a:off x="7634950" y="125075"/>
            <a:ext cx="1372675" cy="2139950"/>
          </a:xfrm>
          <a:prstGeom prst="rect">
            <a:avLst/>
          </a:prstGeom>
          <a:noFill/>
          <a:ln>
            <a:noFill/>
          </a:ln>
        </p:spPr>
      </p:pic>
      <p:pic>
        <p:nvPicPr>
          <p:cNvPr id="339" name="Google Shape;339;p43"/>
          <p:cNvPicPr preferRelativeResize="0"/>
          <p:nvPr/>
        </p:nvPicPr>
        <p:blipFill>
          <a:blip r:embed="rId5">
            <a:alphaModFix/>
          </a:blip>
          <a:stretch>
            <a:fillRect/>
          </a:stretch>
        </p:blipFill>
        <p:spPr>
          <a:xfrm>
            <a:off x="6165403" y="3834200"/>
            <a:ext cx="1799597" cy="2343151"/>
          </a:xfrm>
          <a:prstGeom prst="rect">
            <a:avLst/>
          </a:prstGeom>
          <a:noFill/>
          <a:ln>
            <a:noFill/>
          </a:ln>
        </p:spPr>
      </p:pic>
      <p:sp>
        <p:nvSpPr>
          <p:cNvPr id="340" name="Google Shape;340;p43"/>
          <p:cNvSpPr txBox="1"/>
          <p:nvPr/>
        </p:nvSpPr>
        <p:spPr>
          <a:xfrm>
            <a:off x="311700" y="1195450"/>
            <a:ext cx="70026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For our purposes, a MOSFET acts like a voltage-controlled resistor with two resistances: 0 and infinity.</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The voltage between gate and source (V</a:t>
            </a:r>
            <a:r>
              <a:rPr baseline="-25000" lang="en" sz="1800">
                <a:solidFill>
                  <a:schemeClr val="dk2"/>
                </a:solidFill>
              </a:rPr>
              <a:t>GS</a:t>
            </a:r>
            <a:r>
              <a:rPr lang="en" sz="1800">
                <a:solidFill>
                  <a:schemeClr val="dk2"/>
                </a:solidFill>
              </a:rPr>
              <a:t>) controls the resistance.</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The </a:t>
            </a:r>
            <a:r>
              <a:rPr lang="en" sz="1800">
                <a:solidFill>
                  <a:srgbClr val="FF00FF"/>
                </a:solidFill>
              </a:rPr>
              <a:t>threshold voltage V</a:t>
            </a:r>
            <a:r>
              <a:rPr baseline="-25000" lang="en" sz="1800">
                <a:solidFill>
                  <a:srgbClr val="FF00FF"/>
                </a:solidFill>
              </a:rPr>
              <a:t>th</a:t>
            </a:r>
            <a:r>
              <a:rPr lang="en" sz="1800">
                <a:solidFill>
                  <a:schemeClr val="dk2"/>
                </a:solidFill>
              </a:rPr>
              <a:t> is the gate-source voltage at which the transistor is ‘on.’</a:t>
            </a:r>
            <a:endParaRPr sz="1800">
              <a:solidFill>
                <a:schemeClr val="dk2"/>
              </a:solidFill>
            </a:endParaRPr>
          </a:p>
        </p:txBody>
      </p:sp>
      <p:sp>
        <p:nvSpPr>
          <p:cNvPr id="341" name="Google Shape;341;p43"/>
          <p:cNvSpPr txBox="1"/>
          <p:nvPr/>
        </p:nvSpPr>
        <p:spPr>
          <a:xfrm>
            <a:off x="794375" y="3320175"/>
            <a:ext cx="21975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dk1"/>
                </a:solidFill>
              </a:rPr>
              <a:t>V</a:t>
            </a:r>
            <a:r>
              <a:rPr baseline="-25000" lang="en" sz="2000">
                <a:solidFill>
                  <a:schemeClr val="dk1"/>
                </a:solidFill>
              </a:rPr>
              <a:t>GS</a:t>
            </a:r>
            <a:r>
              <a:rPr lang="en" sz="2000">
                <a:solidFill>
                  <a:schemeClr val="dk1"/>
                </a:solidFill>
              </a:rPr>
              <a:t> &gt;&gt; V</a:t>
            </a:r>
            <a:r>
              <a:rPr baseline="-25000" lang="en" sz="2000">
                <a:solidFill>
                  <a:schemeClr val="dk1"/>
                </a:solidFill>
              </a:rPr>
              <a:t>th</a:t>
            </a:r>
            <a:r>
              <a:rPr lang="en" sz="2000">
                <a:solidFill>
                  <a:schemeClr val="dk1"/>
                </a:solidFill>
              </a:rPr>
              <a:t>: ON</a:t>
            </a:r>
            <a:endParaRPr sz="2000">
              <a:solidFill>
                <a:schemeClr val="dk2"/>
              </a:solidFill>
            </a:endParaRPr>
          </a:p>
        </p:txBody>
      </p:sp>
      <p:sp>
        <p:nvSpPr>
          <p:cNvPr id="342" name="Google Shape;342;p43"/>
          <p:cNvSpPr txBox="1"/>
          <p:nvPr/>
        </p:nvSpPr>
        <p:spPr>
          <a:xfrm>
            <a:off x="5924250" y="3320175"/>
            <a:ext cx="21975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dk1"/>
                </a:solidFill>
              </a:rPr>
              <a:t>V</a:t>
            </a:r>
            <a:r>
              <a:rPr baseline="-25000" lang="en" sz="2000">
                <a:solidFill>
                  <a:schemeClr val="dk1"/>
                </a:solidFill>
              </a:rPr>
              <a:t>GS</a:t>
            </a:r>
            <a:r>
              <a:rPr lang="en" sz="2000">
                <a:solidFill>
                  <a:schemeClr val="dk1"/>
                </a:solidFill>
              </a:rPr>
              <a:t> &lt; V</a:t>
            </a:r>
            <a:r>
              <a:rPr baseline="-25000" lang="en" sz="2000">
                <a:solidFill>
                  <a:schemeClr val="dk1"/>
                </a:solidFill>
              </a:rPr>
              <a:t>th</a:t>
            </a:r>
            <a:r>
              <a:rPr lang="en" sz="2000">
                <a:solidFill>
                  <a:schemeClr val="dk1"/>
                </a:solidFill>
              </a:rPr>
              <a:t>: OFF</a:t>
            </a:r>
            <a:endParaRPr sz="2000">
              <a:solidFill>
                <a:schemeClr val="dk2"/>
              </a:solidFill>
            </a:endParaRPr>
          </a:p>
        </p:txBody>
      </p:sp>
      <p:sp>
        <p:nvSpPr>
          <p:cNvPr id="343" name="Google Shape;343;p43"/>
          <p:cNvSpPr txBox="1"/>
          <p:nvPr/>
        </p:nvSpPr>
        <p:spPr>
          <a:xfrm>
            <a:off x="2390850" y="5536750"/>
            <a:ext cx="24222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rPr>
              <a:t>(R</a:t>
            </a:r>
            <a:r>
              <a:rPr baseline="-25000" lang="en" sz="1800">
                <a:solidFill>
                  <a:schemeClr val="dk1"/>
                </a:solidFill>
              </a:rPr>
              <a:t>ON</a:t>
            </a:r>
            <a:r>
              <a:rPr lang="en" sz="1800">
                <a:solidFill>
                  <a:schemeClr val="dk1"/>
                </a:solidFill>
              </a:rPr>
              <a:t> is very small)</a:t>
            </a:r>
            <a:endParaRPr sz="1800">
              <a:solidFill>
                <a:schemeClr val="dk2"/>
              </a:solidFill>
            </a:endParaRPr>
          </a:p>
        </p:txBody>
      </p:sp>
      <p:sp>
        <p:nvSpPr>
          <p:cNvPr id="344" name="Google Shape;344;p43"/>
          <p:cNvSpPr txBox="1"/>
          <p:nvPr/>
        </p:nvSpPr>
        <p:spPr>
          <a:xfrm>
            <a:off x="311700" y="6012025"/>
            <a:ext cx="4501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Gate voltage must be </a:t>
            </a:r>
            <a:r>
              <a:rPr lang="en" sz="1800">
                <a:solidFill>
                  <a:srgbClr val="FF00FF"/>
                </a:solidFill>
              </a:rPr>
              <a:t>more positive</a:t>
            </a:r>
            <a:r>
              <a:rPr lang="en" sz="1800">
                <a:solidFill>
                  <a:schemeClr val="dk2"/>
                </a:solidFill>
              </a:rPr>
              <a:t> than source voltage, hence V</a:t>
            </a:r>
            <a:r>
              <a:rPr baseline="-25000" lang="en" sz="1800">
                <a:solidFill>
                  <a:srgbClr val="FF00FF"/>
                </a:solidFill>
              </a:rPr>
              <a:t>GS</a:t>
            </a:r>
            <a:r>
              <a:rPr lang="en" sz="1800">
                <a:solidFill>
                  <a:schemeClr val="dk2"/>
                </a:solidFill>
              </a:rPr>
              <a:t>&gt;&gt;...</a:t>
            </a:r>
            <a:endParaRPr sz="1800">
              <a:solidFill>
                <a:schemeClr val="dk2"/>
              </a:solidFill>
            </a:endParaRPr>
          </a:p>
        </p:txBody>
      </p:sp>
      <p:sp>
        <p:nvSpPr>
          <p:cNvPr id="345" name="Google Shape;345;p43"/>
          <p:cNvSpPr txBox="1"/>
          <p:nvPr/>
        </p:nvSpPr>
        <p:spPr>
          <a:xfrm>
            <a:off x="3034974" y="3781600"/>
            <a:ext cx="2889300" cy="1569900"/>
          </a:xfrm>
          <a:prstGeom prst="rect">
            <a:avLst/>
          </a:prstGeom>
          <a:solidFill>
            <a:srgbClr val="D9EAD3"/>
          </a:solidFill>
          <a:ln cap="flat" cmpd="sng" w="28575">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 MOSFET is a voltage-controlled device. The gate voltage controls whether current flows between drain and source.</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pic>
        <p:nvPicPr>
          <p:cNvPr id="350" name="Google Shape;350;p44"/>
          <p:cNvPicPr preferRelativeResize="0"/>
          <p:nvPr/>
        </p:nvPicPr>
        <p:blipFill>
          <a:blip r:embed="rId3">
            <a:alphaModFix/>
          </a:blip>
          <a:stretch>
            <a:fillRect/>
          </a:stretch>
        </p:blipFill>
        <p:spPr>
          <a:xfrm>
            <a:off x="635455" y="4042100"/>
            <a:ext cx="2356370" cy="2334824"/>
          </a:xfrm>
          <a:prstGeom prst="rect">
            <a:avLst/>
          </a:prstGeom>
          <a:noFill/>
          <a:ln>
            <a:noFill/>
          </a:ln>
        </p:spPr>
      </p:pic>
      <p:sp>
        <p:nvSpPr>
          <p:cNvPr id="351" name="Google Shape;351;p44"/>
          <p:cNvSpPr txBox="1"/>
          <p:nvPr>
            <p:ph type="title"/>
          </p:nvPr>
        </p:nvSpPr>
        <p:spPr>
          <a:xfrm>
            <a:off x="311700" y="357425"/>
            <a:ext cx="35187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t>
            </a:r>
            <a:r>
              <a:rPr lang="en"/>
              <a:t>MOSFET (pFET)</a:t>
            </a:r>
            <a:endParaRPr/>
          </a:p>
        </p:txBody>
      </p:sp>
      <p:sp>
        <p:nvSpPr>
          <p:cNvPr id="352" name="Google Shape;352;p44"/>
          <p:cNvSpPr txBox="1"/>
          <p:nvPr/>
        </p:nvSpPr>
        <p:spPr>
          <a:xfrm>
            <a:off x="311700" y="1195450"/>
            <a:ext cx="70026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For our purposes, a MOSFET acts like a voltage-controlled resistor with two resistances: 0 and infinity.</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The voltage between source and gate (V</a:t>
            </a:r>
            <a:r>
              <a:rPr baseline="-25000" lang="en" sz="1800">
                <a:solidFill>
                  <a:schemeClr val="dk2"/>
                </a:solidFill>
              </a:rPr>
              <a:t>SG</a:t>
            </a:r>
            <a:r>
              <a:rPr lang="en" sz="1800">
                <a:solidFill>
                  <a:schemeClr val="dk2"/>
                </a:solidFill>
              </a:rPr>
              <a:t>) controls the resistance.</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The </a:t>
            </a:r>
            <a:r>
              <a:rPr lang="en" sz="1800">
                <a:solidFill>
                  <a:srgbClr val="FF00FF"/>
                </a:solidFill>
              </a:rPr>
              <a:t>threshold voltage V</a:t>
            </a:r>
            <a:r>
              <a:rPr baseline="-25000" lang="en" sz="1800">
                <a:solidFill>
                  <a:srgbClr val="FF00FF"/>
                </a:solidFill>
              </a:rPr>
              <a:t>th</a:t>
            </a:r>
            <a:r>
              <a:rPr lang="en" sz="1800">
                <a:solidFill>
                  <a:schemeClr val="dk2"/>
                </a:solidFill>
              </a:rPr>
              <a:t> is the gate-source voltage at which the transistor is ‘on.’</a:t>
            </a:r>
            <a:endParaRPr sz="1800">
              <a:solidFill>
                <a:schemeClr val="dk2"/>
              </a:solidFill>
            </a:endParaRPr>
          </a:p>
        </p:txBody>
      </p:sp>
      <p:sp>
        <p:nvSpPr>
          <p:cNvPr id="353" name="Google Shape;353;p44"/>
          <p:cNvSpPr txBox="1"/>
          <p:nvPr/>
        </p:nvSpPr>
        <p:spPr>
          <a:xfrm>
            <a:off x="860550" y="3320175"/>
            <a:ext cx="21312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dk1"/>
                </a:solidFill>
              </a:rPr>
              <a:t>V</a:t>
            </a:r>
            <a:r>
              <a:rPr baseline="-25000" lang="en" sz="2000">
                <a:solidFill>
                  <a:schemeClr val="dk1"/>
                </a:solidFill>
              </a:rPr>
              <a:t>SG</a:t>
            </a:r>
            <a:r>
              <a:rPr lang="en" sz="2000">
                <a:solidFill>
                  <a:schemeClr val="dk1"/>
                </a:solidFill>
              </a:rPr>
              <a:t> &gt;&gt; V</a:t>
            </a:r>
            <a:r>
              <a:rPr baseline="-25000" lang="en" sz="2000">
                <a:solidFill>
                  <a:schemeClr val="dk1"/>
                </a:solidFill>
              </a:rPr>
              <a:t>th</a:t>
            </a:r>
            <a:r>
              <a:rPr lang="en" sz="2000">
                <a:solidFill>
                  <a:schemeClr val="dk1"/>
                </a:solidFill>
              </a:rPr>
              <a:t>: ON</a:t>
            </a:r>
            <a:endParaRPr sz="2000">
              <a:solidFill>
                <a:schemeClr val="dk2"/>
              </a:solidFill>
            </a:endParaRPr>
          </a:p>
        </p:txBody>
      </p:sp>
      <p:sp>
        <p:nvSpPr>
          <p:cNvPr id="354" name="Google Shape;354;p44"/>
          <p:cNvSpPr txBox="1"/>
          <p:nvPr/>
        </p:nvSpPr>
        <p:spPr>
          <a:xfrm>
            <a:off x="6117025" y="3320175"/>
            <a:ext cx="20046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dk1"/>
                </a:solidFill>
              </a:rPr>
              <a:t>V</a:t>
            </a:r>
            <a:r>
              <a:rPr baseline="-25000" lang="en" sz="2000">
                <a:solidFill>
                  <a:schemeClr val="dk1"/>
                </a:solidFill>
              </a:rPr>
              <a:t>SG</a:t>
            </a:r>
            <a:r>
              <a:rPr lang="en" sz="2000">
                <a:solidFill>
                  <a:schemeClr val="dk1"/>
                </a:solidFill>
              </a:rPr>
              <a:t> &lt; V</a:t>
            </a:r>
            <a:r>
              <a:rPr baseline="-25000" lang="en" sz="2000">
                <a:solidFill>
                  <a:schemeClr val="dk1"/>
                </a:solidFill>
              </a:rPr>
              <a:t>th</a:t>
            </a:r>
            <a:r>
              <a:rPr lang="en" sz="2000">
                <a:solidFill>
                  <a:schemeClr val="dk1"/>
                </a:solidFill>
              </a:rPr>
              <a:t>: OFF</a:t>
            </a:r>
            <a:endParaRPr sz="2000">
              <a:solidFill>
                <a:schemeClr val="dk2"/>
              </a:solidFill>
            </a:endParaRPr>
          </a:p>
        </p:txBody>
      </p:sp>
      <p:sp>
        <p:nvSpPr>
          <p:cNvPr id="355" name="Google Shape;355;p44"/>
          <p:cNvSpPr txBox="1"/>
          <p:nvPr/>
        </p:nvSpPr>
        <p:spPr>
          <a:xfrm>
            <a:off x="2390850" y="5308150"/>
            <a:ext cx="24222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rPr>
              <a:t>(R</a:t>
            </a:r>
            <a:r>
              <a:rPr baseline="-25000" lang="en" sz="1800">
                <a:solidFill>
                  <a:schemeClr val="dk1"/>
                </a:solidFill>
              </a:rPr>
              <a:t>ON</a:t>
            </a:r>
            <a:r>
              <a:rPr lang="en" sz="1800">
                <a:solidFill>
                  <a:schemeClr val="dk1"/>
                </a:solidFill>
              </a:rPr>
              <a:t> is very small)</a:t>
            </a:r>
            <a:endParaRPr sz="1800">
              <a:solidFill>
                <a:schemeClr val="dk2"/>
              </a:solidFill>
            </a:endParaRPr>
          </a:p>
        </p:txBody>
      </p:sp>
      <p:pic>
        <p:nvPicPr>
          <p:cNvPr id="356" name="Google Shape;356;p44"/>
          <p:cNvPicPr preferRelativeResize="0"/>
          <p:nvPr/>
        </p:nvPicPr>
        <p:blipFill>
          <a:blip r:embed="rId4">
            <a:alphaModFix/>
          </a:blip>
          <a:stretch>
            <a:fillRect/>
          </a:stretch>
        </p:blipFill>
        <p:spPr>
          <a:xfrm>
            <a:off x="7602475" y="169825"/>
            <a:ext cx="1253047" cy="2050451"/>
          </a:xfrm>
          <a:prstGeom prst="rect">
            <a:avLst/>
          </a:prstGeom>
          <a:noFill/>
          <a:ln>
            <a:noFill/>
          </a:ln>
        </p:spPr>
      </p:pic>
      <p:pic>
        <p:nvPicPr>
          <p:cNvPr id="357" name="Google Shape;357;p44"/>
          <p:cNvPicPr preferRelativeResize="0"/>
          <p:nvPr/>
        </p:nvPicPr>
        <p:blipFill>
          <a:blip r:embed="rId5">
            <a:alphaModFix/>
          </a:blip>
          <a:stretch>
            <a:fillRect/>
          </a:stretch>
        </p:blipFill>
        <p:spPr>
          <a:xfrm>
            <a:off x="6117025" y="3958745"/>
            <a:ext cx="1799600" cy="2334830"/>
          </a:xfrm>
          <a:prstGeom prst="rect">
            <a:avLst/>
          </a:prstGeom>
          <a:noFill/>
          <a:ln>
            <a:noFill/>
          </a:ln>
        </p:spPr>
      </p:pic>
      <p:sp>
        <p:nvSpPr>
          <p:cNvPr id="358" name="Google Shape;358;p44"/>
          <p:cNvSpPr txBox="1"/>
          <p:nvPr/>
        </p:nvSpPr>
        <p:spPr>
          <a:xfrm>
            <a:off x="311700" y="6012025"/>
            <a:ext cx="4501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Gate voltage must be </a:t>
            </a:r>
            <a:r>
              <a:rPr lang="en" sz="1800">
                <a:solidFill>
                  <a:srgbClr val="FF00FF"/>
                </a:solidFill>
              </a:rPr>
              <a:t>more negative</a:t>
            </a:r>
            <a:r>
              <a:rPr lang="en" sz="1800">
                <a:solidFill>
                  <a:schemeClr val="dk2"/>
                </a:solidFill>
              </a:rPr>
              <a:t> than source voltage, hence V</a:t>
            </a:r>
            <a:r>
              <a:rPr baseline="-25000" lang="en" sz="1800">
                <a:solidFill>
                  <a:srgbClr val="FF00FF"/>
                </a:solidFill>
              </a:rPr>
              <a:t>SG</a:t>
            </a:r>
            <a:r>
              <a:rPr lang="en" sz="1800">
                <a:solidFill>
                  <a:schemeClr val="dk2"/>
                </a:solidFill>
              </a:rPr>
              <a:t>&gt;&gt;...</a:t>
            </a:r>
            <a:endParaRPr sz="1800">
              <a:solidFill>
                <a:schemeClr val="dk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MOSFETs versus BJTs: first difference</a:t>
            </a:r>
            <a:endParaRPr/>
          </a:p>
        </p:txBody>
      </p:sp>
      <p:sp>
        <p:nvSpPr>
          <p:cNvPr id="364" name="Google Shape;364;p45"/>
          <p:cNvSpPr txBox="1"/>
          <p:nvPr>
            <p:ph idx="1" type="body"/>
          </p:nvPr>
        </p:nvSpPr>
        <p:spPr>
          <a:xfrm>
            <a:off x="4813100" y="1536625"/>
            <a:ext cx="3825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BJTs:</a:t>
            </a:r>
            <a:endParaRPr>
              <a:solidFill>
                <a:srgbClr val="0000FF"/>
              </a:solidFill>
            </a:endParaRPr>
          </a:p>
          <a:p>
            <a:pPr indent="0" lvl="0" marL="0" rtl="0" algn="l">
              <a:spcBef>
                <a:spcPts val="1600"/>
              </a:spcBef>
              <a:spcAft>
                <a:spcPts val="0"/>
              </a:spcAft>
              <a:buNone/>
            </a:pPr>
            <a:r>
              <a:rPr lang="en"/>
              <a:t>Terminals are called</a:t>
            </a:r>
            <a:endParaRPr/>
          </a:p>
          <a:p>
            <a:pPr indent="-342900" lvl="0" marL="457200" rtl="0" algn="l">
              <a:spcBef>
                <a:spcPts val="1600"/>
              </a:spcBef>
              <a:spcAft>
                <a:spcPts val="0"/>
              </a:spcAft>
              <a:buSzPts val="1800"/>
              <a:buChar char="●"/>
            </a:pPr>
            <a:r>
              <a:rPr lang="en"/>
              <a:t>Base</a:t>
            </a:r>
            <a:endParaRPr/>
          </a:p>
          <a:p>
            <a:pPr indent="-342900" lvl="0" marL="457200" rtl="0" algn="l">
              <a:spcBef>
                <a:spcPts val="0"/>
              </a:spcBef>
              <a:spcAft>
                <a:spcPts val="0"/>
              </a:spcAft>
              <a:buSzPts val="1800"/>
              <a:buChar char="●"/>
            </a:pPr>
            <a:r>
              <a:rPr lang="en"/>
              <a:t>Collector</a:t>
            </a:r>
            <a:endParaRPr/>
          </a:p>
          <a:p>
            <a:pPr indent="-342900" lvl="0" marL="457200" rtl="0" algn="l">
              <a:spcBef>
                <a:spcPts val="0"/>
              </a:spcBef>
              <a:spcAft>
                <a:spcPts val="0"/>
              </a:spcAft>
              <a:buSzPts val="1800"/>
              <a:buChar char="●"/>
            </a:pPr>
            <a:r>
              <a:rPr lang="en"/>
              <a:t>Emitter</a:t>
            </a:r>
            <a:endParaRPr/>
          </a:p>
          <a:p>
            <a:pPr indent="0" lvl="0" marL="0" rtl="0" algn="l">
              <a:spcBef>
                <a:spcPts val="1600"/>
              </a:spcBef>
              <a:spcAft>
                <a:spcPts val="1600"/>
              </a:spcAft>
              <a:buNone/>
            </a:pPr>
            <a:r>
              <a:rPr lang="en"/>
              <a:t>BJTs require that a </a:t>
            </a:r>
            <a:r>
              <a:rPr lang="en">
                <a:solidFill>
                  <a:srgbClr val="0000FF"/>
                </a:solidFill>
              </a:rPr>
              <a:t>current be applied to the base pin</a:t>
            </a:r>
            <a:r>
              <a:rPr lang="en"/>
              <a:t> in order for current to flow between the collector and emitter pins. </a:t>
            </a:r>
            <a:endParaRPr/>
          </a:p>
        </p:txBody>
      </p:sp>
      <p:sp>
        <p:nvSpPr>
          <p:cNvPr id="365" name="Google Shape;365;p45"/>
          <p:cNvSpPr txBox="1"/>
          <p:nvPr>
            <p:ph idx="1" type="body"/>
          </p:nvPr>
        </p:nvSpPr>
        <p:spPr>
          <a:xfrm>
            <a:off x="412600" y="1536625"/>
            <a:ext cx="3825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FF"/>
                </a:solidFill>
              </a:rPr>
              <a:t>MOSFETs:</a:t>
            </a:r>
            <a:endParaRPr>
              <a:solidFill>
                <a:srgbClr val="FF00FF"/>
              </a:solidFill>
            </a:endParaRPr>
          </a:p>
          <a:p>
            <a:pPr indent="0" lvl="0" marL="0" rtl="0" algn="l">
              <a:spcBef>
                <a:spcPts val="1600"/>
              </a:spcBef>
              <a:spcAft>
                <a:spcPts val="0"/>
              </a:spcAft>
              <a:buNone/>
            </a:pPr>
            <a:r>
              <a:rPr lang="en"/>
              <a:t>Terminals are called</a:t>
            </a:r>
            <a:endParaRPr/>
          </a:p>
          <a:p>
            <a:pPr indent="-342900" lvl="0" marL="457200" rtl="0" algn="l">
              <a:spcBef>
                <a:spcPts val="1600"/>
              </a:spcBef>
              <a:spcAft>
                <a:spcPts val="0"/>
              </a:spcAft>
              <a:buSzPts val="1800"/>
              <a:buChar char="●"/>
            </a:pPr>
            <a:r>
              <a:rPr lang="en"/>
              <a:t>Gate</a:t>
            </a:r>
            <a:endParaRPr/>
          </a:p>
          <a:p>
            <a:pPr indent="-342900" lvl="0" marL="457200" rtl="0" algn="l">
              <a:spcBef>
                <a:spcPts val="0"/>
              </a:spcBef>
              <a:spcAft>
                <a:spcPts val="0"/>
              </a:spcAft>
              <a:buSzPts val="1800"/>
              <a:buChar char="●"/>
            </a:pPr>
            <a:r>
              <a:rPr lang="en"/>
              <a:t>Drain</a:t>
            </a:r>
            <a:endParaRPr/>
          </a:p>
          <a:p>
            <a:pPr indent="-342900" lvl="0" marL="457200" rtl="0" algn="l">
              <a:spcBef>
                <a:spcPts val="0"/>
              </a:spcBef>
              <a:spcAft>
                <a:spcPts val="0"/>
              </a:spcAft>
              <a:buSzPts val="1800"/>
              <a:buChar char="●"/>
            </a:pPr>
            <a:r>
              <a:rPr lang="en"/>
              <a:t>Source</a:t>
            </a:r>
            <a:endParaRPr/>
          </a:p>
          <a:p>
            <a:pPr indent="0" lvl="0" marL="0" rtl="0" algn="l">
              <a:spcBef>
                <a:spcPts val="1600"/>
              </a:spcBef>
              <a:spcAft>
                <a:spcPts val="0"/>
              </a:spcAft>
              <a:buNone/>
            </a:pPr>
            <a:r>
              <a:rPr lang="en"/>
              <a:t>MOSFETs only require a </a:t>
            </a:r>
            <a:r>
              <a:rPr lang="en">
                <a:solidFill>
                  <a:srgbClr val="FF00FF"/>
                </a:solidFill>
              </a:rPr>
              <a:t>voltage at the gate pin</a:t>
            </a:r>
            <a:r>
              <a:rPr lang="en"/>
              <a:t> to allow current flow between the drain and source pins.</a:t>
            </a:r>
            <a:endParaRPr/>
          </a:p>
          <a:p>
            <a:pPr indent="0" lvl="0" marL="0" rtl="0" algn="l">
              <a:spcBef>
                <a:spcPts val="1600"/>
              </a:spcBef>
              <a:spcAft>
                <a:spcPts val="1600"/>
              </a:spcAft>
              <a:buNone/>
            </a:pPr>
            <a:r>
              <a:rPr lang="en"/>
              <a:t>MOSFETs are really easy to "saturate" (fully open), so super reliable for very fast </a:t>
            </a:r>
            <a:r>
              <a:rPr lang="en"/>
              <a:t>switching.</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6"/>
          <p:cNvSpPr txBox="1"/>
          <p:nvPr>
            <p:ph type="title"/>
          </p:nvPr>
        </p:nvSpPr>
        <p:spPr>
          <a:xfrm>
            <a:off x="311700" y="4400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MOSFET versus BJT: some of the differences</a:t>
            </a:r>
            <a:endParaRPr/>
          </a:p>
        </p:txBody>
      </p:sp>
      <p:sp>
        <p:nvSpPr>
          <p:cNvPr id="371" name="Google Shape;371;p46"/>
          <p:cNvSpPr/>
          <p:nvPr/>
        </p:nvSpPr>
        <p:spPr>
          <a:xfrm>
            <a:off x="5804125" y="5788400"/>
            <a:ext cx="2516700" cy="849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372" name="Google Shape;372;p46"/>
          <p:cNvGraphicFramePr/>
          <p:nvPr/>
        </p:nvGraphicFramePr>
        <p:xfrm>
          <a:off x="311688" y="1090600"/>
          <a:ext cx="3000000" cy="3000000"/>
        </p:xfrm>
        <a:graphic>
          <a:graphicData uri="http://schemas.openxmlformats.org/drawingml/2006/table">
            <a:tbl>
              <a:tblPr>
                <a:noFill/>
                <a:tableStyleId>{0A91F8EE-AF9D-4D32-834B-25F783E5C243}</a:tableStyleId>
              </a:tblPr>
              <a:tblGrid>
                <a:gridCol w="1770625"/>
                <a:gridCol w="3532250"/>
                <a:gridCol w="3217725"/>
              </a:tblGrid>
              <a:tr h="381000">
                <a:tc>
                  <a:txBody>
                    <a:bodyPr/>
                    <a:lstStyle/>
                    <a:p>
                      <a:pPr indent="0" lvl="0" marL="0" rtl="0" algn="l">
                        <a:spcBef>
                          <a:spcPts val="0"/>
                        </a:spcBef>
                        <a:spcAft>
                          <a:spcPts val="0"/>
                        </a:spcAft>
                        <a:buNone/>
                      </a:pPr>
                      <a:r>
                        <a:t/>
                      </a:r>
                      <a:endParaRPr sz="1700"/>
                    </a:p>
                  </a:txBody>
                  <a:tcPr marT="91425" marB="91425" marR="91425" marL="91425"/>
                </a:tc>
                <a:tc>
                  <a:txBody>
                    <a:bodyPr/>
                    <a:lstStyle/>
                    <a:p>
                      <a:pPr indent="0" lvl="0" marL="0" rtl="0" algn="l">
                        <a:spcBef>
                          <a:spcPts val="0"/>
                        </a:spcBef>
                        <a:spcAft>
                          <a:spcPts val="0"/>
                        </a:spcAft>
                        <a:buNone/>
                      </a:pPr>
                      <a:r>
                        <a:rPr b="1" lang="en" sz="2000">
                          <a:solidFill>
                            <a:srgbClr val="FF00FF"/>
                          </a:solidFill>
                        </a:rPr>
                        <a:t>MOSFET</a:t>
                      </a:r>
                      <a:endParaRPr b="1" sz="2000">
                        <a:solidFill>
                          <a:srgbClr val="FF00FF"/>
                        </a:solidFill>
                      </a:endParaRPr>
                    </a:p>
                  </a:txBody>
                  <a:tcPr marT="91425" marB="91425" marR="91425" marL="91425"/>
                </a:tc>
                <a:tc>
                  <a:txBody>
                    <a:bodyPr/>
                    <a:lstStyle/>
                    <a:p>
                      <a:pPr indent="0" lvl="0" marL="0" rtl="0" algn="l">
                        <a:spcBef>
                          <a:spcPts val="0"/>
                        </a:spcBef>
                        <a:spcAft>
                          <a:spcPts val="0"/>
                        </a:spcAft>
                        <a:buNone/>
                      </a:pPr>
                      <a:r>
                        <a:rPr b="1" lang="en" sz="2000">
                          <a:solidFill>
                            <a:srgbClr val="0000FF"/>
                          </a:solidFill>
                        </a:rPr>
                        <a:t>BJT</a:t>
                      </a:r>
                      <a:endParaRPr b="1" sz="2000">
                        <a:solidFill>
                          <a:srgbClr val="0000FF"/>
                        </a:solidFill>
                      </a:endParaRPr>
                    </a:p>
                  </a:txBody>
                  <a:tcPr marT="91425" marB="91425" marR="91425" marL="91425"/>
                </a:tc>
              </a:tr>
              <a:tr h="381000">
                <a:tc>
                  <a:txBody>
                    <a:bodyPr/>
                    <a:lstStyle/>
                    <a:p>
                      <a:pPr indent="0" lvl="0" marL="0" rtl="0" algn="l">
                        <a:spcBef>
                          <a:spcPts val="0"/>
                        </a:spcBef>
                        <a:spcAft>
                          <a:spcPts val="0"/>
                        </a:spcAft>
                        <a:buNone/>
                      </a:pPr>
                      <a:r>
                        <a:rPr b="1" lang="en" sz="1700"/>
                        <a:t>Polarity</a:t>
                      </a:r>
                      <a:endParaRPr b="1" sz="1700"/>
                    </a:p>
                  </a:txBody>
                  <a:tcPr marT="91425" marB="91425" marR="91425" marL="91425"/>
                </a:tc>
                <a:tc>
                  <a:txBody>
                    <a:bodyPr/>
                    <a:lstStyle/>
                    <a:p>
                      <a:pPr indent="0" lvl="0" marL="0" rtl="0" algn="l">
                        <a:spcBef>
                          <a:spcPts val="0"/>
                        </a:spcBef>
                        <a:spcAft>
                          <a:spcPts val="0"/>
                        </a:spcAft>
                        <a:buNone/>
                      </a:pPr>
                      <a:r>
                        <a:rPr lang="en" sz="1700"/>
                        <a:t>Current can flow in either direction between the source and drain (</a:t>
                      </a:r>
                      <a:r>
                        <a:rPr lang="en" sz="1700">
                          <a:solidFill>
                            <a:srgbClr val="FF00FF"/>
                          </a:solidFill>
                        </a:rPr>
                        <a:t>unipolar)</a:t>
                      </a:r>
                      <a:r>
                        <a:rPr lang="en" sz="1700"/>
                        <a:t>.</a:t>
                      </a:r>
                      <a:endParaRPr sz="1700"/>
                    </a:p>
                  </a:txBody>
                  <a:tcPr marT="91425" marB="91425" marR="91425" marL="91425"/>
                </a:tc>
                <a:tc>
                  <a:txBody>
                    <a:bodyPr/>
                    <a:lstStyle/>
                    <a:p>
                      <a:pPr indent="0" lvl="0" marL="0" rtl="0" algn="l">
                        <a:spcBef>
                          <a:spcPts val="0"/>
                        </a:spcBef>
                        <a:spcAft>
                          <a:spcPts val="0"/>
                        </a:spcAft>
                        <a:buNone/>
                      </a:pPr>
                      <a:r>
                        <a:rPr lang="en" sz="1700"/>
                        <a:t>BJT is a </a:t>
                      </a:r>
                      <a:r>
                        <a:rPr lang="en" sz="1700">
                          <a:solidFill>
                            <a:srgbClr val="0000FF"/>
                          </a:solidFill>
                        </a:rPr>
                        <a:t>bipolar </a:t>
                      </a:r>
                      <a:r>
                        <a:rPr lang="en" sz="1700"/>
                        <a:t>device (it has a polarity).</a:t>
                      </a:r>
                      <a:endParaRPr sz="1700"/>
                    </a:p>
                  </a:txBody>
                  <a:tcPr marT="91425" marB="91425" marR="91425" marL="91425"/>
                </a:tc>
              </a:tr>
              <a:tr h="381000">
                <a:tc>
                  <a:txBody>
                    <a:bodyPr/>
                    <a:lstStyle/>
                    <a:p>
                      <a:pPr indent="0" lvl="0" marL="0" rtl="0" algn="l">
                        <a:spcBef>
                          <a:spcPts val="0"/>
                        </a:spcBef>
                        <a:spcAft>
                          <a:spcPts val="0"/>
                        </a:spcAft>
                        <a:buNone/>
                      </a:pPr>
                      <a:r>
                        <a:rPr b="1" lang="en" sz="1700"/>
                        <a:t>Controlling quantity</a:t>
                      </a:r>
                      <a:endParaRPr b="1" sz="1700"/>
                    </a:p>
                  </a:txBody>
                  <a:tcPr marT="91425" marB="91425" marR="91425" marL="91425"/>
                </a:tc>
                <a:tc>
                  <a:txBody>
                    <a:bodyPr/>
                    <a:lstStyle/>
                    <a:p>
                      <a:pPr indent="0" lvl="0" marL="0" rtl="0" algn="l">
                        <a:spcBef>
                          <a:spcPts val="0"/>
                        </a:spcBef>
                        <a:spcAft>
                          <a:spcPts val="0"/>
                        </a:spcAft>
                        <a:buNone/>
                      </a:pPr>
                      <a:r>
                        <a:rPr lang="en" sz="1700">
                          <a:solidFill>
                            <a:srgbClr val="FF00FF"/>
                          </a:solidFill>
                        </a:rPr>
                        <a:t>C</a:t>
                      </a:r>
                      <a:r>
                        <a:rPr lang="en" sz="1700">
                          <a:solidFill>
                            <a:srgbClr val="FF00FF"/>
                          </a:solidFill>
                        </a:rPr>
                        <a:t>ontrolled by the voltage</a:t>
                      </a:r>
                      <a:r>
                        <a:rPr lang="en" sz="1700"/>
                        <a:t> on the gate (in fact, the current into the gate is zero!)</a:t>
                      </a:r>
                      <a:endParaRPr sz="1700"/>
                    </a:p>
                  </a:txBody>
                  <a:tcPr marT="91425" marB="91425" marR="91425" marL="91425"/>
                </a:tc>
                <a:tc>
                  <a:txBody>
                    <a:bodyPr/>
                    <a:lstStyle/>
                    <a:p>
                      <a:pPr indent="0" lvl="0" marL="0" rtl="0" algn="l">
                        <a:spcBef>
                          <a:spcPts val="0"/>
                        </a:spcBef>
                        <a:spcAft>
                          <a:spcPts val="0"/>
                        </a:spcAft>
                        <a:buNone/>
                      </a:pPr>
                      <a:r>
                        <a:rPr lang="en" sz="1700">
                          <a:solidFill>
                            <a:srgbClr val="0000FF"/>
                          </a:solidFill>
                        </a:rPr>
                        <a:t>Controlled by current</a:t>
                      </a:r>
                      <a:r>
                        <a:rPr lang="en" sz="1700"/>
                        <a:t> into the base terminal</a:t>
                      </a:r>
                      <a:endParaRPr sz="1700"/>
                    </a:p>
                  </a:txBody>
                  <a:tcPr marT="91425" marB="91425" marR="91425" marL="91425"/>
                </a:tc>
              </a:tr>
              <a:tr h="381000">
                <a:tc>
                  <a:txBody>
                    <a:bodyPr/>
                    <a:lstStyle/>
                    <a:p>
                      <a:pPr indent="0" lvl="0" marL="0" rtl="0" algn="l">
                        <a:spcBef>
                          <a:spcPts val="0"/>
                        </a:spcBef>
                        <a:spcAft>
                          <a:spcPts val="0"/>
                        </a:spcAft>
                        <a:buNone/>
                      </a:pPr>
                      <a:r>
                        <a:rPr b="1" lang="en" sz="1700"/>
                        <a:t>Power consumption</a:t>
                      </a:r>
                      <a:endParaRPr b="1" sz="1700"/>
                    </a:p>
                  </a:txBody>
                  <a:tcPr marT="91425" marB="91425" marR="91425" marL="91425"/>
                </a:tc>
                <a:tc>
                  <a:txBody>
                    <a:bodyPr/>
                    <a:lstStyle/>
                    <a:p>
                      <a:pPr indent="0" lvl="0" marL="0" rtl="0" algn="l">
                        <a:spcBef>
                          <a:spcPts val="0"/>
                        </a:spcBef>
                        <a:spcAft>
                          <a:spcPts val="0"/>
                        </a:spcAft>
                        <a:buNone/>
                      </a:pPr>
                      <a:r>
                        <a:rPr lang="en" sz="1700"/>
                        <a:t>The power consumption by a MOSFET is </a:t>
                      </a:r>
                      <a:r>
                        <a:rPr lang="en" sz="1700">
                          <a:solidFill>
                            <a:srgbClr val="FF00FF"/>
                          </a:solidFill>
                        </a:rPr>
                        <a:t>lower</a:t>
                      </a:r>
                      <a:r>
                        <a:rPr lang="en" sz="1700"/>
                        <a:t> than that of a BJT.</a:t>
                      </a:r>
                      <a:endParaRPr sz="1700"/>
                    </a:p>
                  </a:txBody>
                  <a:tcPr marT="91425" marB="91425" marR="91425" marL="91425"/>
                </a:tc>
                <a:tc>
                  <a:txBody>
                    <a:bodyPr/>
                    <a:lstStyle/>
                    <a:p>
                      <a:pPr indent="0" lvl="0" marL="0" rtl="0" algn="l">
                        <a:spcBef>
                          <a:spcPts val="0"/>
                        </a:spcBef>
                        <a:spcAft>
                          <a:spcPts val="0"/>
                        </a:spcAft>
                        <a:buNone/>
                      </a:pPr>
                      <a:r>
                        <a:rPr lang="en" sz="1700">
                          <a:solidFill>
                            <a:srgbClr val="0000FF"/>
                          </a:solidFill>
                        </a:rPr>
                        <a:t>Higher</a:t>
                      </a:r>
                      <a:r>
                        <a:rPr lang="en" sz="1700"/>
                        <a:t> than that of a MOSFET.</a:t>
                      </a:r>
                      <a:endParaRPr sz="1700"/>
                    </a:p>
                  </a:txBody>
                  <a:tcPr marT="91425" marB="91425" marR="91425" marL="91425"/>
                </a:tc>
              </a:tr>
              <a:tr h="381000">
                <a:tc>
                  <a:txBody>
                    <a:bodyPr/>
                    <a:lstStyle/>
                    <a:p>
                      <a:pPr indent="0" lvl="0" marL="0" rtl="0" algn="l">
                        <a:spcBef>
                          <a:spcPts val="0"/>
                        </a:spcBef>
                        <a:spcAft>
                          <a:spcPts val="0"/>
                        </a:spcAft>
                        <a:buNone/>
                      </a:pPr>
                      <a:r>
                        <a:rPr b="1" lang="en" sz="1700"/>
                        <a:t>Applications</a:t>
                      </a:r>
                      <a:endParaRPr b="1" sz="1700"/>
                    </a:p>
                  </a:txBody>
                  <a:tcPr marT="91425" marB="91425" marR="91425" marL="91425"/>
                </a:tc>
                <a:tc>
                  <a:txBody>
                    <a:bodyPr/>
                    <a:lstStyle/>
                    <a:p>
                      <a:pPr indent="0" lvl="0" marL="0" rtl="0" algn="l">
                        <a:spcBef>
                          <a:spcPts val="0"/>
                        </a:spcBef>
                        <a:spcAft>
                          <a:spcPts val="0"/>
                        </a:spcAft>
                        <a:buNone/>
                      </a:pPr>
                      <a:r>
                        <a:rPr lang="en" sz="1700"/>
                        <a:t>MOSFET is suitable for </a:t>
                      </a:r>
                      <a:r>
                        <a:rPr lang="en" sz="1700">
                          <a:solidFill>
                            <a:srgbClr val="FF00FF"/>
                          </a:solidFill>
                        </a:rPr>
                        <a:t>high power applications</a:t>
                      </a:r>
                      <a:r>
                        <a:rPr lang="en" sz="1700"/>
                        <a:t>. It is used in power supplies, etc</a:t>
                      </a:r>
                      <a:endParaRPr sz="1700"/>
                    </a:p>
                  </a:txBody>
                  <a:tcPr marT="91425" marB="91425" marR="91425" marL="91425"/>
                </a:tc>
                <a:tc>
                  <a:txBody>
                    <a:bodyPr/>
                    <a:lstStyle/>
                    <a:p>
                      <a:pPr indent="0" lvl="0" marL="0" rtl="0" algn="l">
                        <a:spcBef>
                          <a:spcPts val="0"/>
                        </a:spcBef>
                        <a:spcAft>
                          <a:spcPts val="0"/>
                        </a:spcAft>
                        <a:buNone/>
                      </a:pPr>
                      <a:r>
                        <a:rPr lang="en" sz="1700"/>
                        <a:t>BJT is preferred for the </a:t>
                      </a:r>
                      <a:r>
                        <a:rPr lang="en" sz="1700">
                          <a:solidFill>
                            <a:srgbClr val="0000FF"/>
                          </a:solidFill>
                        </a:rPr>
                        <a:t>low current applications</a:t>
                      </a:r>
                      <a:r>
                        <a:rPr lang="en" sz="1700"/>
                        <a:t>. It is widely used as amplifiers, oscillators, and electronic switches.</a:t>
                      </a:r>
                      <a:endParaRPr sz="1700"/>
                    </a:p>
                  </a:txBody>
                  <a:tcPr marT="91425" marB="91425" marR="91425" marL="91425"/>
                </a:tc>
              </a:tr>
              <a:tr h="381000">
                <a:tc>
                  <a:txBody>
                    <a:bodyPr/>
                    <a:lstStyle/>
                    <a:p>
                      <a:pPr indent="0" lvl="0" marL="0" rtl="0" algn="l">
                        <a:spcBef>
                          <a:spcPts val="0"/>
                        </a:spcBef>
                        <a:spcAft>
                          <a:spcPts val="0"/>
                        </a:spcAft>
                        <a:buNone/>
                      </a:pPr>
                      <a:r>
                        <a:rPr b="1" lang="en" sz="1700"/>
                        <a:t>Other</a:t>
                      </a:r>
                      <a:endParaRPr b="1" sz="1700"/>
                    </a:p>
                  </a:txBody>
                  <a:tcPr marT="91425" marB="91425" marR="91425" marL="91425"/>
                </a:tc>
                <a:tc>
                  <a:txBody>
                    <a:bodyPr/>
                    <a:lstStyle/>
                    <a:p>
                      <a:pPr indent="0" lvl="0" marL="0" rtl="0" algn="l">
                        <a:spcBef>
                          <a:spcPts val="0"/>
                        </a:spcBef>
                        <a:spcAft>
                          <a:spcPts val="0"/>
                        </a:spcAft>
                        <a:buNone/>
                      </a:pPr>
                      <a:r>
                        <a:rPr lang="en" sz="1700"/>
                        <a:t>MOSFETs are vulnerable to </a:t>
                      </a:r>
                      <a:r>
                        <a:rPr lang="en" sz="1700">
                          <a:solidFill>
                            <a:srgbClr val="FF00FF"/>
                          </a:solidFill>
                        </a:rPr>
                        <a:t>damage by electrostatic charges</a:t>
                      </a:r>
                      <a:r>
                        <a:rPr lang="en" sz="1700"/>
                        <a:t> due to the thin oxide layer.</a:t>
                      </a:r>
                      <a:endParaRPr sz="1700"/>
                    </a:p>
                  </a:txBody>
                  <a:tcPr marT="91425" marB="91425" marR="91425" marL="91425"/>
                </a:tc>
                <a:tc>
                  <a:txBody>
                    <a:bodyPr/>
                    <a:lstStyle/>
                    <a:p>
                      <a:pPr indent="0" lvl="0" marL="0" rtl="0" algn="l">
                        <a:spcBef>
                          <a:spcPts val="0"/>
                        </a:spcBef>
                        <a:spcAft>
                          <a:spcPts val="0"/>
                        </a:spcAft>
                        <a:buNone/>
                      </a:pPr>
                      <a:r>
                        <a:rPr lang="en" sz="1700"/>
                        <a:t>BJT can be </a:t>
                      </a:r>
                      <a:r>
                        <a:rPr lang="en" sz="1700">
                          <a:solidFill>
                            <a:srgbClr val="0000FF"/>
                          </a:solidFill>
                        </a:rPr>
                        <a:t>faster</a:t>
                      </a:r>
                      <a:r>
                        <a:rPr lang="en" sz="1700"/>
                        <a:t> than FETs (no </a:t>
                      </a:r>
                      <a:r>
                        <a:rPr lang="en" sz="1700"/>
                        <a:t>capacitance</a:t>
                      </a:r>
                      <a:r>
                        <a:rPr lang="en" sz="1700"/>
                        <a:t> to charge) at the expense of </a:t>
                      </a:r>
                      <a:r>
                        <a:rPr lang="en" sz="1700">
                          <a:solidFill>
                            <a:srgbClr val="0000FF"/>
                          </a:solidFill>
                        </a:rPr>
                        <a:t>more</a:t>
                      </a:r>
                      <a:r>
                        <a:rPr lang="en" sz="1700"/>
                        <a:t> </a:t>
                      </a:r>
                      <a:r>
                        <a:rPr lang="en" sz="1700">
                          <a:solidFill>
                            <a:srgbClr val="0000FF"/>
                          </a:solidFill>
                        </a:rPr>
                        <a:t>power</a:t>
                      </a:r>
                      <a:r>
                        <a:rPr lang="en" sz="1700"/>
                        <a:t>.</a:t>
                      </a:r>
                      <a:endParaRPr sz="1700"/>
                    </a:p>
                  </a:txBody>
                  <a:tcPr marT="91425" marB="91425" marR="91425" marL="91425"/>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Examine FET Datasheets. Fill in the table.</a:t>
            </a:r>
            <a:endParaRPr/>
          </a:p>
        </p:txBody>
      </p:sp>
      <p:graphicFrame>
        <p:nvGraphicFramePr>
          <p:cNvPr id="378" name="Google Shape;378;p47"/>
          <p:cNvGraphicFramePr/>
          <p:nvPr/>
        </p:nvGraphicFramePr>
        <p:xfrm>
          <a:off x="952500" y="2476500"/>
          <a:ext cx="3000000" cy="3000000"/>
        </p:xfrm>
        <a:graphic>
          <a:graphicData uri="http://schemas.openxmlformats.org/drawingml/2006/table">
            <a:tbl>
              <a:tblPr>
                <a:noFill/>
                <a:tableStyleId>{0A91F8EE-AF9D-4D32-834B-25F783E5C243}</a:tableStyleId>
              </a:tblPr>
              <a:tblGrid>
                <a:gridCol w="1809750"/>
                <a:gridCol w="1809750"/>
                <a:gridCol w="1809750"/>
                <a:gridCol w="1809750"/>
              </a:tblGrid>
              <a:tr h="381000">
                <a:tc>
                  <a:txBody>
                    <a:bodyPr/>
                    <a:lstStyle/>
                    <a:p>
                      <a:pPr indent="0" lvl="0" marL="0" rtl="0" algn="l">
                        <a:spcBef>
                          <a:spcPts val="0"/>
                        </a:spcBef>
                        <a:spcAft>
                          <a:spcPts val="0"/>
                        </a:spcAft>
                        <a:buNone/>
                      </a:pPr>
                      <a:r>
                        <a:rPr lang="en" sz="2000"/>
                        <a:t>Part Number</a:t>
                      </a:r>
                      <a:endParaRPr sz="2000"/>
                    </a:p>
                  </a:txBody>
                  <a:tcPr marT="91425" marB="91425" marR="91425" marL="91425"/>
                </a:tc>
                <a:tc>
                  <a:txBody>
                    <a:bodyPr/>
                    <a:lstStyle/>
                    <a:p>
                      <a:pPr indent="0" lvl="0" marL="0" rtl="0" algn="l">
                        <a:spcBef>
                          <a:spcPts val="0"/>
                        </a:spcBef>
                        <a:spcAft>
                          <a:spcPts val="0"/>
                        </a:spcAft>
                        <a:buNone/>
                      </a:pPr>
                      <a:r>
                        <a:rPr lang="en" sz="2000"/>
                        <a:t>Type (NFET or PFET)</a:t>
                      </a:r>
                      <a:endParaRPr sz="2000"/>
                    </a:p>
                  </a:txBody>
                  <a:tcPr marT="91425" marB="91425" marR="91425" marL="91425"/>
                </a:tc>
                <a:tc>
                  <a:txBody>
                    <a:bodyPr/>
                    <a:lstStyle/>
                    <a:p>
                      <a:pPr indent="0" lvl="0" marL="0" rtl="0" algn="l">
                        <a:spcBef>
                          <a:spcPts val="0"/>
                        </a:spcBef>
                        <a:spcAft>
                          <a:spcPts val="0"/>
                        </a:spcAft>
                        <a:buNone/>
                      </a:pPr>
                      <a:r>
                        <a:rPr lang="en" sz="2000"/>
                        <a:t>Threshold voltage</a:t>
                      </a:r>
                      <a:endParaRPr sz="2000"/>
                    </a:p>
                  </a:txBody>
                  <a:tcPr marT="91425" marB="91425" marR="91425" marL="91425"/>
                </a:tc>
                <a:tc>
                  <a:txBody>
                    <a:bodyPr/>
                    <a:lstStyle/>
                    <a:p>
                      <a:pPr indent="0" lvl="0" marL="0" rtl="0" algn="l">
                        <a:spcBef>
                          <a:spcPts val="0"/>
                        </a:spcBef>
                        <a:spcAft>
                          <a:spcPts val="0"/>
                        </a:spcAft>
                        <a:buNone/>
                      </a:pPr>
                      <a:r>
                        <a:rPr lang="en" sz="2000"/>
                        <a:t>Max drain current</a:t>
                      </a:r>
                      <a:endParaRPr sz="2000"/>
                    </a:p>
                  </a:txBody>
                  <a:tcPr marT="91425" marB="91425" marR="91425" marL="91425"/>
                </a:tc>
              </a:tr>
              <a:tr h="381000">
                <a:tc>
                  <a:txBody>
                    <a:bodyPr/>
                    <a:lstStyle/>
                    <a:p>
                      <a:pPr indent="0" lvl="0" marL="0" rtl="0" algn="l">
                        <a:spcBef>
                          <a:spcPts val="0"/>
                        </a:spcBef>
                        <a:spcAft>
                          <a:spcPts val="0"/>
                        </a:spcAft>
                        <a:buNone/>
                      </a:pPr>
                      <a:r>
                        <a:rPr lang="en" sz="2000"/>
                        <a:t>IRF9Z24</a:t>
                      </a:r>
                      <a:r>
                        <a:rPr lang="en" sz="2000"/>
                        <a:t> </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r>
              <a:tr h="381000">
                <a:tc>
                  <a:txBody>
                    <a:bodyPr/>
                    <a:lstStyle/>
                    <a:p>
                      <a:pPr indent="0" lvl="0" marL="0" rtl="0" algn="l">
                        <a:spcBef>
                          <a:spcPts val="0"/>
                        </a:spcBef>
                        <a:spcAft>
                          <a:spcPts val="0"/>
                        </a:spcAft>
                        <a:buNone/>
                      </a:pPr>
                      <a:r>
                        <a:rPr lang="en" sz="2000"/>
                        <a:t>BS250P</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r>
              <a:tr h="381000">
                <a:tc>
                  <a:txBody>
                    <a:bodyPr/>
                    <a:lstStyle/>
                    <a:p>
                      <a:pPr indent="0" lvl="0" marL="0" rtl="0" algn="l">
                        <a:spcBef>
                          <a:spcPts val="0"/>
                        </a:spcBef>
                        <a:spcAft>
                          <a:spcPts val="0"/>
                        </a:spcAft>
                        <a:buNone/>
                      </a:pPr>
                      <a:r>
                        <a:rPr lang="en" sz="2000"/>
                        <a:t>IRFZ24</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r>
              <a:tr h="381000">
                <a:tc>
                  <a:txBody>
                    <a:bodyPr/>
                    <a:lstStyle/>
                    <a:p>
                      <a:pPr indent="0" lvl="0" marL="0" rtl="0" algn="l">
                        <a:spcBef>
                          <a:spcPts val="0"/>
                        </a:spcBef>
                        <a:spcAft>
                          <a:spcPts val="0"/>
                        </a:spcAft>
                        <a:buNone/>
                      </a:pPr>
                      <a:r>
                        <a:rPr lang="en" sz="2000"/>
                        <a:t>BS107P</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Correctly wiring a MOSFET</a:t>
            </a:r>
            <a:endParaRPr/>
          </a:p>
        </p:txBody>
      </p:sp>
      <p:sp>
        <p:nvSpPr>
          <p:cNvPr id="384" name="Google Shape;384;p48"/>
          <p:cNvSpPr txBox="1"/>
          <p:nvPr>
            <p:ph idx="1" type="body"/>
          </p:nvPr>
        </p:nvSpPr>
        <p:spPr>
          <a:xfrm>
            <a:off x="311700" y="1384225"/>
            <a:ext cx="3964500" cy="25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nFET: </a:t>
            </a:r>
            <a:endParaRPr/>
          </a:p>
          <a:p>
            <a:pPr indent="-342900" lvl="0" marL="457200" rtl="0" algn="l">
              <a:spcBef>
                <a:spcPts val="1600"/>
              </a:spcBef>
              <a:spcAft>
                <a:spcPts val="0"/>
              </a:spcAft>
              <a:buSzPts val="1800"/>
              <a:buChar char="●"/>
            </a:pPr>
            <a:r>
              <a:rPr lang="en"/>
              <a:t>Gate voltage more positive than source voltage</a:t>
            </a:r>
            <a:endParaRPr/>
          </a:p>
          <a:p>
            <a:pPr indent="-342900" lvl="0" marL="457200" rtl="0" algn="l">
              <a:spcBef>
                <a:spcPts val="0"/>
              </a:spcBef>
              <a:spcAft>
                <a:spcPts val="0"/>
              </a:spcAft>
              <a:buSzPts val="1800"/>
              <a:buChar char="●"/>
            </a:pPr>
            <a:r>
              <a:rPr lang="en"/>
              <a:t>nFET 'on' when V</a:t>
            </a:r>
            <a:r>
              <a:rPr baseline="-25000" lang="en"/>
              <a:t>GS</a:t>
            </a:r>
            <a:r>
              <a:rPr lang="en"/>
              <a:t>&gt;&gt;V</a:t>
            </a:r>
            <a:r>
              <a:rPr baseline="-25000" lang="en"/>
              <a:t>th</a:t>
            </a:r>
            <a:endParaRPr/>
          </a:p>
          <a:p>
            <a:pPr indent="-342900" lvl="0" marL="457200" rtl="0" algn="l">
              <a:spcBef>
                <a:spcPts val="0"/>
              </a:spcBef>
              <a:spcAft>
                <a:spcPts val="0"/>
              </a:spcAft>
              <a:buSzPts val="1800"/>
              <a:buChar char="●"/>
            </a:pPr>
            <a:r>
              <a:rPr lang="en"/>
              <a:t>Drain voltage more positive than gate voltage (V</a:t>
            </a:r>
            <a:r>
              <a:rPr baseline="-25000" lang="en"/>
              <a:t>DS</a:t>
            </a:r>
            <a:r>
              <a:rPr lang="en"/>
              <a:t>&gt; V</a:t>
            </a:r>
            <a:r>
              <a:rPr baseline="-25000" lang="en"/>
              <a:t>GS</a:t>
            </a:r>
            <a:r>
              <a:rPr lang="en"/>
              <a:t>)</a:t>
            </a:r>
            <a:endParaRPr/>
          </a:p>
        </p:txBody>
      </p:sp>
      <p:sp>
        <p:nvSpPr>
          <p:cNvPr id="385" name="Google Shape;385;p48"/>
          <p:cNvSpPr txBox="1"/>
          <p:nvPr>
            <p:ph idx="1" type="body"/>
          </p:nvPr>
        </p:nvSpPr>
        <p:spPr>
          <a:xfrm>
            <a:off x="4938300" y="1384225"/>
            <a:ext cx="3964500" cy="23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t>
            </a:r>
            <a:r>
              <a:rPr lang="en"/>
              <a:t>FET: </a:t>
            </a:r>
            <a:endParaRPr/>
          </a:p>
          <a:p>
            <a:pPr indent="-342900" lvl="0" marL="457200" rtl="0" algn="l">
              <a:spcBef>
                <a:spcPts val="1600"/>
              </a:spcBef>
              <a:spcAft>
                <a:spcPts val="0"/>
              </a:spcAft>
              <a:buSzPts val="1800"/>
              <a:buChar char="●"/>
            </a:pPr>
            <a:r>
              <a:rPr lang="en"/>
              <a:t>Gate voltage more negative than source voltage</a:t>
            </a:r>
            <a:endParaRPr/>
          </a:p>
          <a:p>
            <a:pPr indent="-342900" lvl="0" marL="457200" rtl="0" algn="l">
              <a:spcBef>
                <a:spcPts val="0"/>
              </a:spcBef>
              <a:spcAft>
                <a:spcPts val="0"/>
              </a:spcAft>
              <a:buSzPts val="1800"/>
              <a:buChar char="●"/>
            </a:pPr>
            <a:r>
              <a:rPr lang="en"/>
              <a:t>pFET 'on' when V</a:t>
            </a:r>
            <a:r>
              <a:rPr baseline="-25000" lang="en"/>
              <a:t>SG</a:t>
            </a:r>
            <a:r>
              <a:rPr lang="en"/>
              <a:t>&gt;&gt;V</a:t>
            </a:r>
            <a:r>
              <a:rPr baseline="-25000" lang="en"/>
              <a:t>th</a:t>
            </a:r>
            <a:endParaRPr/>
          </a:p>
          <a:p>
            <a:pPr indent="-342900" lvl="0" marL="457200" rtl="0" algn="l">
              <a:spcBef>
                <a:spcPts val="0"/>
              </a:spcBef>
              <a:spcAft>
                <a:spcPts val="0"/>
              </a:spcAft>
              <a:buSzPts val="1800"/>
              <a:buChar char="●"/>
            </a:pPr>
            <a:r>
              <a:rPr lang="en"/>
              <a:t>Drain voltage more negative than gate voltage (V</a:t>
            </a:r>
            <a:r>
              <a:rPr baseline="-25000" lang="en"/>
              <a:t>SD</a:t>
            </a:r>
            <a:r>
              <a:rPr lang="en"/>
              <a:t>&gt; V</a:t>
            </a:r>
            <a:r>
              <a:rPr baseline="-25000" lang="en"/>
              <a:t>SG</a:t>
            </a:r>
            <a:r>
              <a:rPr lang="en"/>
              <a:t>)</a:t>
            </a:r>
            <a:endParaRPr/>
          </a:p>
        </p:txBody>
      </p:sp>
      <p:sp>
        <p:nvSpPr>
          <p:cNvPr id="386" name="Google Shape;386;p48"/>
          <p:cNvSpPr txBox="1"/>
          <p:nvPr/>
        </p:nvSpPr>
        <p:spPr>
          <a:xfrm>
            <a:off x="2666650" y="4934134"/>
            <a:ext cx="1170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Low side switch</a:t>
            </a:r>
            <a:endParaRPr sz="1800">
              <a:solidFill>
                <a:srgbClr val="FF0000"/>
              </a:solidFill>
            </a:endParaRPr>
          </a:p>
        </p:txBody>
      </p:sp>
      <p:sp>
        <p:nvSpPr>
          <p:cNvPr id="387" name="Google Shape;387;p48"/>
          <p:cNvSpPr txBox="1"/>
          <p:nvPr/>
        </p:nvSpPr>
        <p:spPr>
          <a:xfrm>
            <a:off x="7220100" y="4869525"/>
            <a:ext cx="1429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High side switch</a:t>
            </a:r>
            <a:endParaRPr sz="1800">
              <a:solidFill>
                <a:srgbClr val="0000FF"/>
              </a:solidFill>
            </a:endParaRPr>
          </a:p>
        </p:txBody>
      </p:sp>
      <p:pic>
        <p:nvPicPr>
          <p:cNvPr id="388" name="Google Shape;388;p48"/>
          <p:cNvPicPr preferRelativeResize="0"/>
          <p:nvPr/>
        </p:nvPicPr>
        <p:blipFill>
          <a:blip r:embed="rId3">
            <a:alphaModFix/>
          </a:blip>
          <a:stretch>
            <a:fillRect/>
          </a:stretch>
        </p:blipFill>
        <p:spPr>
          <a:xfrm>
            <a:off x="1094325" y="3936325"/>
            <a:ext cx="1854496" cy="2622901"/>
          </a:xfrm>
          <a:prstGeom prst="rect">
            <a:avLst/>
          </a:prstGeom>
          <a:noFill/>
          <a:ln>
            <a:noFill/>
          </a:ln>
        </p:spPr>
      </p:pic>
      <p:pic>
        <p:nvPicPr>
          <p:cNvPr id="389" name="Google Shape;389;p48"/>
          <p:cNvPicPr preferRelativeResize="0"/>
          <p:nvPr/>
        </p:nvPicPr>
        <p:blipFill>
          <a:blip r:embed="rId4">
            <a:alphaModFix/>
          </a:blip>
          <a:stretch>
            <a:fillRect/>
          </a:stretch>
        </p:blipFill>
        <p:spPr>
          <a:xfrm>
            <a:off x="5531025" y="3963663"/>
            <a:ext cx="1854500" cy="2550612"/>
          </a:xfrm>
          <a:prstGeom prst="rect">
            <a:avLst/>
          </a:prstGeom>
          <a:noFill/>
          <a:ln>
            <a:noFill/>
          </a:ln>
        </p:spPr>
      </p:pic>
      <p:sp>
        <p:nvSpPr>
          <p:cNvPr id="390" name="Google Shape;390;p48"/>
          <p:cNvSpPr txBox="1"/>
          <p:nvPr/>
        </p:nvSpPr>
        <p:spPr>
          <a:xfrm>
            <a:off x="529875" y="2649675"/>
            <a:ext cx="3167400" cy="841800"/>
          </a:xfrm>
          <a:prstGeom prst="rect">
            <a:avLst/>
          </a:prstGeom>
          <a:solidFill>
            <a:schemeClr val="lt1"/>
          </a:solidFill>
          <a:ln cap="flat" cmpd="sng" w="2857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FF0000"/>
                </a:solidFill>
              </a:rPr>
              <a:t>n</a:t>
            </a:r>
            <a:r>
              <a:rPr lang="en" sz="3000">
                <a:solidFill>
                  <a:schemeClr val="dk2"/>
                </a:solidFill>
              </a:rPr>
              <a:t>FET: Pull Dow</a:t>
            </a:r>
            <a:r>
              <a:rPr b="1" lang="en" sz="3000">
                <a:solidFill>
                  <a:srgbClr val="FF0000"/>
                </a:solidFill>
              </a:rPr>
              <a:t>n</a:t>
            </a:r>
            <a:endParaRPr b="1" sz="3000">
              <a:solidFill>
                <a:srgbClr val="FF0000"/>
              </a:solidFill>
            </a:endParaRPr>
          </a:p>
        </p:txBody>
      </p:sp>
      <p:sp>
        <p:nvSpPr>
          <p:cNvPr id="391" name="Google Shape;391;p48"/>
          <p:cNvSpPr txBox="1"/>
          <p:nvPr/>
        </p:nvSpPr>
        <p:spPr>
          <a:xfrm>
            <a:off x="5124375" y="2649675"/>
            <a:ext cx="3167400" cy="841800"/>
          </a:xfrm>
          <a:prstGeom prst="rect">
            <a:avLst/>
          </a:prstGeom>
          <a:solidFill>
            <a:schemeClr val="lt1"/>
          </a:solid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solidFill>
                  <a:srgbClr val="0000FF"/>
                </a:solidFill>
              </a:rPr>
              <a:t>p</a:t>
            </a:r>
            <a:r>
              <a:rPr lang="en" sz="3000">
                <a:solidFill>
                  <a:schemeClr val="dk2"/>
                </a:solidFill>
              </a:rPr>
              <a:t>FET: Pull U</a:t>
            </a:r>
            <a:r>
              <a:rPr b="1" lang="en" sz="3000">
                <a:solidFill>
                  <a:srgbClr val="0000FF"/>
                </a:solidFill>
              </a:rPr>
              <a:t>p</a:t>
            </a:r>
            <a:endParaRPr b="1" sz="3000">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5" name="Shape 395"/>
        <p:cNvGrpSpPr/>
        <p:nvPr/>
      </p:nvGrpSpPr>
      <p:grpSpPr>
        <a:xfrm>
          <a:off x="0" y="0"/>
          <a:ext cx="0" cy="0"/>
          <a:chOff x="0" y="0"/>
          <a:chExt cx="0" cy="0"/>
        </a:xfrm>
      </p:grpSpPr>
      <p:pic>
        <p:nvPicPr>
          <p:cNvPr id="396" name="Google Shape;396;p49"/>
          <p:cNvPicPr preferRelativeResize="0"/>
          <p:nvPr/>
        </p:nvPicPr>
        <p:blipFill rotWithShape="1">
          <a:blip r:embed="rId3">
            <a:alphaModFix/>
          </a:blip>
          <a:srcRect b="0" l="51265" r="0" t="0"/>
          <a:stretch/>
        </p:blipFill>
        <p:spPr>
          <a:xfrm>
            <a:off x="554880" y="0"/>
            <a:ext cx="4230477" cy="6857998"/>
          </a:xfrm>
          <a:prstGeom prst="rect">
            <a:avLst/>
          </a:prstGeom>
          <a:noFill/>
          <a:ln>
            <a:noFill/>
          </a:ln>
        </p:spPr>
      </p:pic>
      <p:pic>
        <p:nvPicPr>
          <p:cNvPr id="397" name="Google Shape;397;p49"/>
          <p:cNvPicPr preferRelativeResize="0"/>
          <p:nvPr/>
        </p:nvPicPr>
        <p:blipFill rotWithShape="1">
          <a:blip r:embed="rId3">
            <a:alphaModFix/>
          </a:blip>
          <a:srcRect b="0" l="0" r="51265" t="0"/>
          <a:stretch/>
        </p:blipFill>
        <p:spPr>
          <a:xfrm>
            <a:off x="4715400" y="0"/>
            <a:ext cx="4230477" cy="6857998"/>
          </a:xfrm>
          <a:prstGeom prst="rect">
            <a:avLst/>
          </a:prstGeom>
          <a:noFill/>
          <a:ln>
            <a:noFill/>
          </a:ln>
        </p:spPr>
      </p:pic>
      <p:sp>
        <p:nvSpPr>
          <p:cNvPr id="398" name="Google Shape;398;p49"/>
          <p:cNvSpPr txBox="1"/>
          <p:nvPr/>
        </p:nvSpPr>
        <p:spPr>
          <a:xfrm>
            <a:off x="1535375" y="2743200"/>
            <a:ext cx="2091600" cy="426600"/>
          </a:xfrm>
          <a:prstGeom prst="rect">
            <a:avLst/>
          </a:prstGeom>
          <a:solidFill>
            <a:schemeClr val="lt1"/>
          </a:solidFill>
          <a:ln cap="flat" cmpd="sng" w="2857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FF0000"/>
                </a:solidFill>
              </a:rPr>
              <a:t>n</a:t>
            </a:r>
            <a:r>
              <a:rPr lang="en" sz="2000">
                <a:solidFill>
                  <a:schemeClr val="dk2"/>
                </a:solidFill>
              </a:rPr>
              <a:t>FET: Pull Dow</a:t>
            </a:r>
            <a:r>
              <a:rPr b="1" lang="en" sz="2000">
                <a:solidFill>
                  <a:srgbClr val="FF0000"/>
                </a:solidFill>
              </a:rPr>
              <a:t>n</a:t>
            </a:r>
            <a:endParaRPr b="1" sz="2000">
              <a:solidFill>
                <a:srgbClr val="FF0000"/>
              </a:solidFill>
            </a:endParaRPr>
          </a:p>
        </p:txBody>
      </p:sp>
      <p:sp>
        <p:nvSpPr>
          <p:cNvPr id="399" name="Google Shape;399;p49"/>
          <p:cNvSpPr txBox="1"/>
          <p:nvPr/>
        </p:nvSpPr>
        <p:spPr>
          <a:xfrm>
            <a:off x="5882638" y="2743200"/>
            <a:ext cx="1896000" cy="426600"/>
          </a:xfrm>
          <a:prstGeom prst="rect">
            <a:avLst/>
          </a:prstGeom>
          <a:solidFill>
            <a:schemeClr val="lt1"/>
          </a:solidFill>
          <a:ln cap="flat" cmpd="sng" w="2857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FF0000"/>
                </a:solidFill>
              </a:rPr>
              <a:t>p</a:t>
            </a:r>
            <a:r>
              <a:rPr lang="en" sz="2000">
                <a:solidFill>
                  <a:schemeClr val="dk2"/>
                </a:solidFill>
              </a:rPr>
              <a:t>FET: Pull U</a:t>
            </a:r>
            <a:r>
              <a:rPr b="1" lang="en" sz="2000">
                <a:solidFill>
                  <a:srgbClr val="FF0000"/>
                </a:solidFill>
              </a:rPr>
              <a:t>p</a:t>
            </a:r>
            <a:endParaRPr b="1" sz="2000">
              <a:solidFill>
                <a:srgbClr val="FF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0"/>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Continue Working on your Lab!</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8" name="Shape 408"/>
        <p:cNvGrpSpPr/>
        <p:nvPr/>
      </p:nvGrpSpPr>
      <p:grpSpPr>
        <a:xfrm>
          <a:off x="0" y="0"/>
          <a:ext cx="0" cy="0"/>
          <a:chOff x="0" y="0"/>
          <a:chExt cx="0" cy="0"/>
        </a:xfrm>
      </p:grpSpPr>
      <p:sp>
        <p:nvSpPr>
          <p:cNvPr id="409" name="Google Shape;409;p51"/>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How do Transistors Work</a:t>
            </a:r>
            <a:r>
              <a:rPr lang="en"/>
              <a:t>?</a:t>
            </a:r>
            <a:endParaRPr/>
          </a:p>
        </p:txBody>
      </p:sp>
      <p:sp>
        <p:nvSpPr>
          <p:cNvPr id="410" name="Google Shape;410;p51"/>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Super Brief Introduction to Semiconductor Devices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4" name="Shape 414"/>
        <p:cNvGrpSpPr/>
        <p:nvPr/>
      </p:nvGrpSpPr>
      <p:grpSpPr>
        <a:xfrm>
          <a:off x="0" y="0"/>
          <a:ext cx="0" cy="0"/>
          <a:chOff x="0" y="0"/>
          <a:chExt cx="0" cy="0"/>
        </a:xfrm>
      </p:grpSpPr>
      <p:sp>
        <p:nvSpPr>
          <p:cNvPr id="415" name="Google Shape;415;p5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Conductor           versus           Insulator</a:t>
            </a:r>
            <a:endParaRPr/>
          </a:p>
        </p:txBody>
      </p:sp>
      <p:sp>
        <p:nvSpPr>
          <p:cNvPr id="416" name="Google Shape;416;p52"/>
          <p:cNvSpPr txBox="1"/>
          <p:nvPr/>
        </p:nvSpPr>
        <p:spPr>
          <a:xfrm>
            <a:off x="408975" y="2972825"/>
            <a:ext cx="3617700" cy="35094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en" sz="1800">
                <a:solidFill>
                  <a:schemeClr val="dk2"/>
                </a:solidFill>
              </a:rPr>
              <a:t>3 or less electrons on </a:t>
            </a:r>
            <a:r>
              <a:rPr lang="en" sz="1800">
                <a:solidFill>
                  <a:schemeClr val="dk2"/>
                </a:solidFill>
              </a:rPr>
              <a:t>valence</a:t>
            </a:r>
            <a:r>
              <a:rPr lang="en" sz="1800">
                <a:solidFill>
                  <a:schemeClr val="dk2"/>
                </a:solidFill>
              </a:rPr>
              <a:t> shell, they easily </a:t>
            </a:r>
            <a:r>
              <a:rPr lang="en" sz="1800">
                <a:solidFill>
                  <a:schemeClr val="dk2"/>
                </a:solidFill>
              </a:rPr>
              <a:t>break</a:t>
            </a:r>
            <a:r>
              <a:rPr lang="en" sz="1800">
                <a:solidFill>
                  <a:schemeClr val="dk2"/>
                </a:solidFill>
              </a:rPr>
              <a:t> free and move around.</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A “sea” of electrons can wander about crystal.</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Since they are “free”, they respond to applied fields and give rise to conduction.</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ctr">
              <a:spcBef>
                <a:spcPts val="0"/>
              </a:spcBef>
              <a:spcAft>
                <a:spcPts val="0"/>
              </a:spcAft>
              <a:buNone/>
            </a:pPr>
            <a:r>
              <a:rPr lang="en" sz="1800">
                <a:solidFill>
                  <a:srgbClr val="274E13"/>
                </a:solidFill>
              </a:rPr>
              <a:t>Example: copper</a:t>
            </a:r>
            <a:endParaRPr sz="1800">
              <a:solidFill>
                <a:srgbClr val="274E13"/>
              </a:solidFill>
            </a:endParaRPr>
          </a:p>
          <a:p>
            <a:pPr indent="0" lvl="0" marL="0" rtl="0" algn="l">
              <a:spcBef>
                <a:spcPts val="0"/>
              </a:spcBef>
              <a:spcAft>
                <a:spcPts val="0"/>
              </a:spcAft>
              <a:buClr>
                <a:schemeClr val="dk1"/>
              </a:buClr>
              <a:buSzPts val="1100"/>
              <a:buFont typeface="Arial"/>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417" name="Google Shape;417;p52"/>
          <p:cNvPicPr preferRelativeResize="0"/>
          <p:nvPr/>
        </p:nvPicPr>
        <p:blipFill rotWithShape="1">
          <a:blip r:embed="rId3">
            <a:alphaModFix/>
          </a:blip>
          <a:srcRect b="60643" l="51428" r="1597" t="12413"/>
          <a:stretch/>
        </p:blipFill>
        <p:spPr>
          <a:xfrm>
            <a:off x="311700" y="1356869"/>
            <a:ext cx="4294124" cy="1231580"/>
          </a:xfrm>
          <a:prstGeom prst="rect">
            <a:avLst/>
          </a:prstGeom>
          <a:noFill/>
          <a:ln>
            <a:noFill/>
          </a:ln>
        </p:spPr>
      </p:pic>
      <p:pic>
        <p:nvPicPr>
          <p:cNvPr id="418" name="Google Shape;418;p52"/>
          <p:cNvPicPr preferRelativeResize="0"/>
          <p:nvPr/>
        </p:nvPicPr>
        <p:blipFill rotWithShape="1">
          <a:blip r:embed="rId3">
            <a:alphaModFix/>
          </a:blip>
          <a:srcRect b="29840" l="51922" r="2268" t="43215"/>
          <a:stretch/>
        </p:blipFill>
        <p:spPr>
          <a:xfrm>
            <a:off x="4880523" y="1356875"/>
            <a:ext cx="4187699" cy="1231575"/>
          </a:xfrm>
          <a:prstGeom prst="rect">
            <a:avLst/>
          </a:prstGeom>
          <a:noFill/>
          <a:ln>
            <a:noFill/>
          </a:ln>
        </p:spPr>
      </p:pic>
      <p:sp>
        <p:nvSpPr>
          <p:cNvPr id="419" name="Google Shape;419;p52"/>
          <p:cNvSpPr txBox="1"/>
          <p:nvPr/>
        </p:nvSpPr>
        <p:spPr>
          <a:xfrm>
            <a:off x="4827275" y="2972825"/>
            <a:ext cx="4294200" cy="3232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en" sz="1800">
                <a:solidFill>
                  <a:schemeClr val="dk2"/>
                </a:solidFill>
              </a:rPr>
              <a:t>5 or more</a:t>
            </a:r>
            <a:r>
              <a:rPr lang="en" sz="1800">
                <a:solidFill>
                  <a:schemeClr val="dk2"/>
                </a:solidFill>
              </a:rPr>
              <a:t> electrons on </a:t>
            </a:r>
            <a:r>
              <a:rPr lang="en" sz="1800">
                <a:solidFill>
                  <a:schemeClr val="dk2"/>
                </a:solidFill>
              </a:rPr>
              <a:t>valence</a:t>
            </a:r>
            <a:r>
              <a:rPr lang="en" sz="1800">
                <a:solidFill>
                  <a:schemeClr val="dk2"/>
                </a:solidFill>
              </a:rPr>
              <a:t> shell, takes huge energy to break free so they stay put.</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There are no “free” electrons available so an electric field does not change anything with respect to electron distribution.</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Electricity is not conducted.</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ctr">
              <a:spcBef>
                <a:spcPts val="0"/>
              </a:spcBef>
              <a:spcAft>
                <a:spcPts val="0"/>
              </a:spcAft>
              <a:buNone/>
            </a:pPr>
            <a:r>
              <a:rPr lang="en" sz="1800">
                <a:solidFill>
                  <a:srgbClr val="274E13"/>
                </a:solidFill>
              </a:rPr>
              <a:t>Example: rubber</a:t>
            </a:r>
            <a:endParaRPr sz="1800">
              <a:solidFill>
                <a:srgbClr val="274E13"/>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3" name="Shape 423"/>
        <p:cNvGrpSpPr/>
        <p:nvPr/>
      </p:nvGrpSpPr>
      <p:grpSpPr>
        <a:xfrm>
          <a:off x="0" y="0"/>
          <a:ext cx="0" cy="0"/>
          <a:chOff x="0" y="0"/>
          <a:chExt cx="0" cy="0"/>
        </a:xfrm>
      </p:grpSpPr>
      <p:sp>
        <p:nvSpPr>
          <p:cNvPr id="424" name="Google Shape;424;p53"/>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Meet Silicon (a Semiconductor)</a:t>
            </a:r>
            <a:endParaRPr/>
          </a:p>
        </p:txBody>
      </p:sp>
      <p:sp>
        <p:nvSpPr>
          <p:cNvPr id="425" name="Google Shape;425;p53"/>
          <p:cNvSpPr txBox="1"/>
          <p:nvPr>
            <p:ph idx="1" type="body"/>
          </p:nvPr>
        </p:nvSpPr>
        <p:spPr>
          <a:xfrm>
            <a:off x="311700" y="4813173"/>
            <a:ext cx="8520600" cy="1683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Four valence </a:t>
            </a:r>
            <a:r>
              <a:rPr lang="en"/>
              <a:t>electrons</a:t>
            </a:r>
            <a:r>
              <a:rPr lang="en"/>
              <a:t>.</a:t>
            </a:r>
            <a:endParaRPr/>
          </a:p>
          <a:p>
            <a:pPr indent="-342900" lvl="0" marL="457200" rtl="0" algn="l">
              <a:spcBef>
                <a:spcPts val="0"/>
              </a:spcBef>
              <a:spcAft>
                <a:spcPts val="0"/>
              </a:spcAft>
              <a:buSzPts val="1800"/>
              <a:buChar char="●"/>
            </a:pPr>
            <a:r>
              <a:rPr lang="en"/>
              <a:t>The electrical conductivity of a semiconductor falls in-between that of a conductor (such as copper) and that of an insulator (such as rubber).</a:t>
            </a:r>
            <a:endParaRPr/>
          </a:p>
          <a:p>
            <a:pPr indent="-342900" lvl="0" marL="457200" rtl="0" algn="l">
              <a:spcBef>
                <a:spcPts val="0"/>
              </a:spcBef>
              <a:spcAft>
                <a:spcPts val="0"/>
              </a:spcAft>
              <a:buSzPts val="1800"/>
              <a:buChar char="●"/>
            </a:pPr>
            <a:r>
              <a:rPr lang="en"/>
              <a:t>A few bonds are broken and give rise to a few free </a:t>
            </a:r>
            <a:r>
              <a:rPr lang="en"/>
              <a:t>electrons</a:t>
            </a:r>
            <a:r>
              <a:rPr lang="en"/>
              <a:t>, along with leaving behind a positive hole.</a:t>
            </a:r>
            <a:endParaRPr/>
          </a:p>
        </p:txBody>
      </p:sp>
      <p:pic>
        <p:nvPicPr>
          <p:cNvPr id="426" name="Google Shape;426;p53"/>
          <p:cNvPicPr preferRelativeResize="0"/>
          <p:nvPr/>
        </p:nvPicPr>
        <p:blipFill>
          <a:blip r:embed="rId3">
            <a:alphaModFix/>
          </a:blip>
          <a:stretch>
            <a:fillRect/>
          </a:stretch>
        </p:blipFill>
        <p:spPr>
          <a:xfrm>
            <a:off x="1678150" y="1419792"/>
            <a:ext cx="5530478" cy="315151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0" name="Shape 430"/>
        <p:cNvGrpSpPr/>
        <p:nvPr/>
      </p:nvGrpSpPr>
      <p:grpSpPr>
        <a:xfrm>
          <a:off x="0" y="0"/>
          <a:ext cx="0" cy="0"/>
          <a:chOff x="0" y="0"/>
          <a:chExt cx="0" cy="0"/>
        </a:xfrm>
      </p:grpSpPr>
      <p:sp>
        <p:nvSpPr>
          <p:cNvPr id="431" name="Google Shape;431;p54"/>
          <p:cNvSpPr txBox="1"/>
          <p:nvPr>
            <p:ph type="title"/>
          </p:nvPr>
        </p:nvSpPr>
        <p:spPr>
          <a:xfrm>
            <a:off x="311700" y="370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Doping: Replace some Si Atoms with…</a:t>
            </a:r>
            <a:endParaRPr/>
          </a:p>
        </p:txBody>
      </p:sp>
      <p:pic>
        <p:nvPicPr>
          <p:cNvPr id="432" name="Google Shape;432;p54"/>
          <p:cNvPicPr preferRelativeResize="0"/>
          <p:nvPr/>
        </p:nvPicPr>
        <p:blipFill>
          <a:blip r:embed="rId3">
            <a:alphaModFix/>
          </a:blip>
          <a:stretch>
            <a:fillRect/>
          </a:stretch>
        </p:blipFill>
        <p:spPr>
          <a:xfrm>
            <a:off x="311700" y="1252775"/>
            <a:ext cx="6716945" cy="2584150"/>
          </a:xfrm>
          <a:prstGeom prst="rect">
            <a:avLst/>
          </a:prstGeom>
          <a:noFill/>
          <a:ln>
            <a:noFill/>
          </a:ln>
        </p:spPr>
      </p:pic>
      <p:pic>
        <p:nvPicPr>
          <p:cNvPr id="433" name="Google Shape;433;p54"/>
          <p:cNvPicPr preferRelativeResize="0"/>
          <p:nvPr/>
        </p:nvPicPr>
        <p:blipFill>
          <a:blip r:embed="rId4">
            <a:alphaModFix/>
          </a:blip>
          <a:stretch>
            <a:fillRect/>
          </a:stretch>
        </p:blipFill>
        <p:spPr>
          <a:xfrm>
            <a:off x="311688" y="3956025"/>
            <a:ext cx="6547972" cy="2584150"/>
          </a:xfrm>
          <a:prstGeom prst="rect">
            <a:avLst/>
          </a:prstGeom>
          <a:noFill/>
          <a:ln>
            <a:noFill/>
          </a:ln>
        </p:spPr>
      </p:pic>
      <p:sp>
        <p:nvSpPr>
          <p:cNvPr id="434" name="Google Shape;434;p54"/>
          <p:cNvSpPr txBox="1"/>
          <p:nvPr/>
        </p:nvSpPr>
        <p:spPr>
          <a:xfrm>
            <a:off x="7222375" y="1965000"/>
            <a:ext cx="1678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n-type semiconductor</a:t>
            </a:r>
            <a:endParaRPr sz="1800">
              <a:solidFill>
                <a:schemeClr val="dk2"/>
              </a:solidFill>
            </a:endParaRPr>
          </a:p>
        </p:txBody>
      </p:sp>
      <p:sp>
        <p:nvSpPr>
          <p:cNvPr id="435" name="Google Shape;435;p54"/>
          <p:cNvSpPr txBox="1"/>
          <p:nvPr/>
        </p:nvSpPr>
        <p:spPr>
          <a:xfrm>
            <a:off x="7222375" y="4878650"/>
            <a:ext cx="1678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a:t>
            </a:r>
            <a:r>
              <a:rPr lang="en" sz="1800">
                <a:solidFill>
                  <a:schemeClr val="dk2"/>
                </a:solidFill>
              </a:rPr>
              <a:t>-type semiconductor</a:t>
            </a:r>
            <a:endParaRPr sz="1800">
              <a:solidFill>
                <a:schemeClr val="dk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9" name="Shape 439"/>
        <p:cNvGrpSpPr/>
        <p:nvPr/>
      </p:nvGrpSpPr>
      <p:grpSpPr>
        <a:xfrm>
          <a:off x="0" y="0"/>
          <a:ext cx="0" cy="0"/>
          <a:chOff x="0" y="0"/>
          <a:chExt cx="0" cy="0"/>
        </a:xfrm>
      </p:grpSpPr>
      <p:sp>
        <p:nvSpPr>
          <p:cNvPr id="440" name="Google Shape;440;p55"/>
          <p:cNvSpPr txBox="1"/>
          <p:nvPr>
            <p:ph type="title"/>
          </p:nvPr>
        </p:nvSpPr>
        <p:spPr>
          <a:xfrm>
            <a:off x="311700" y="-8"/>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PN Junction: Stick p-type next to n-type.</a:t>
            </a:r>
            <a:endParaRPr/>
          </a:p>
        </p:txBody>
      </p:sp>
      <p:sp>
        <p:nvSpPr>
          <p:cNvPr id="441" name="Google Shape;441;p55"/>
          <p:cNvSpPr/>
          <p:nvPr/>
        </p:nvSpPr>
        <p:spPr>
          <a:xfrm>
            <a:off x="4413988" y="4580650"/>
            <a:ext cx="195300" cy="1054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2" name="Google Shape;442;p55"/>
          <p:cNvSpPr txBox="1"/>
          <p:nvPr/>
        </p:nvSpPr>
        <p:spPr>
          <a:xfrm>
            <a:off x="311688" y="5634850"/>
            <a:ext cx="85959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Some of the free electrons of the n-type region diffuse into the holes of the p-type region, creating holes in the n-type region. This creates a small electric field in the depletion region. At rest: equilibrium between diffusion and electric field.</a:t>
            </a:r>
            <a:endParaRPr sz="1800">
              <a:solidFill>
                <a:schemeClr val="dk2"/>
              </a:solidFill>
            </a:endParaRPr>
          </a:p>
        </p:txBody>
      </p:sp>
      <p:pic>
        <p:nvPicPr>
          <p:cNvPr id="443" name="Google Shape;443;p55"/>
          <p:cNvPicPr preferRelativeResize="0"/>
          <p:nvPr/>
        </p:nvPicPr>
        <p:blipFill rotWithShape="1">
          <a:blip r:embed="rId3">
            <a:alphaModFix/>
          </a:blip>
          <a:srcRect b="21504" l="15915" r="14524" t="2859"/>
          <a:stretch/>
        </p:blipFill>
        <p:spPr>
          <a:xfrm flipH="1">
            <a:off x="828675" y="648650"/>
            <a:ext cx="7365949" cy="4986201"/>
          </a:xfrm>
          <a:prstGeom prst="rect">
            <a:avLst/>
          </a:prstGeom>
          <a:noFill/>
          <a:ln>
            <a:noFill/>
          </a:ln>
        </p:spPr>
      </p:pic>
      <p:sp>
        <p:nvSpPr>
          <p:cNvPr id="444" name="Google Shape;444;p55"/>
          <p:cNvSpPr txBox="1"/>
          <p:nvPr/>
        </p:nvSpPr>
        <p:spPr>
          <a:xfrm>
            <a:off x="7369625" y="2122725"/>
            <a:ext cx="653100" cy="23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0000"/>
                </a:solidFill>
              </a:rPr>
              <a:t>holes</a:t>
            </a:r>
            <a:endParaRPr>
              <a:solidFill>
                <a:srgbClr val="FF0000"/>
              </a:solidFill>
            </a:endParaRPr>
          </a:p>
        </p:txBody>
      </p:sp>
      <p:sp>
        <p:nvSpPr>
          <p:cNvPr id="445" name="Google Shape;445;p55"/>
          <p:cNvSpPr txBox="1"/>
          <p:nvPr/>
        </p:nvSpPr>
        <p:spPr>
          <a:xfrm>
            <a:off x="1001475" y="2329475"/>
            <a:ext cx="990600" cy="23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E6"/>
                </a:solidFill>
              </a:rPr>
              <a:t>electrons</a:t>
            </a:r>
            <a:endParaRPr>
              <a:solidFill>
                <a:srgbClr val="0000E6"/>
              </a:solidFill>
            </a:endParaRPr>
          </a:p>
        </p:txBody>
      </p:sp>
      <p:sp>
        <p:nvSpPr>
          <p:cNvPr id="446" name="Google Shape;446;p55"/>
          <p:cNvSpPr txBox="1"/>
          <p:nvPr/>
        </p:nvSpPr>
        <p:spPr>
          <a:xfrm>
            <a:off x="1404250" y="3265800"/>
            <a:ext cx="990600" cy="282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n-type</a:t>
            </a:r>
            <a:endParaRPr sz="1800">
              <a:solidFill>
                <a:schemeClr val="dk1"/>
              </a:solidFill>
            </a:endParaRPr>
          </a:p>
        </p:txBody>
      </p:sp>
      <p:sp>
        <p:nvSpPr>
          <p:cNvPr id="447" name="Google Shape;447;p55"/>
          <p:cNvSpPr txBox="1"/>
          <p:nvPr/>
        </p:nvSpPr>
        <p:spPr>
          <a:xfrm>
            <a:off x="6379025" y="3265725"/>
            <a:ext cx="990600" cy="282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p</a:t>
            </a:r>
            <a:r>
              <a:rPr lang="en" sz="1800">
                <a:solidFill>
                  <a:schemeClr val="dk1"/>
                </a:solidFill>
              </a:rPr>
              <a:t>-type</a:t>
            </a:r>
            <a:endParaRPr sz="1800">
              <a:solidFill>
                <a:schemeClr val="dk1"/>
              </a:solidFill>
            </a:endParaRPr>
          </a:p>
        </p:txBody>
      </p:sp>
      <p:sp>
        <p:nvSpPr>
          <p:cNvPr id="448" name="Google Shape;448;p55"/>
          <p:cNvSpPr txBox="1"/>
          <p:nvPr/>
        </p:nvSpPr>
        <p:spPr>
          <a:xfrm>
            <a:off x="3646725" y="648650"/>
            <a:ext cx="1284300" cy="679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depletion region</a:t>
            </a:r>
            <a:endParaRPr sz="1800">
              <a:solidFill>
                <a:schemeClr val="dk1"/>
              </a:solidFill>
            </a:endParaRPr>
          </a:p>
        </p:txBody>
      </p:sp>
      <p:sp>
        <p:nvSpPr>
          <p:cNvPr id="449" name="Google Shape;449;p55"/>
          <p:cNvSpPr txBox="1"/>
          <p:nvPr/>
        </p:nvSpPr>
        <p:spPr>
          <a:xfrm>
            <a:off x="5900075" y="648650"/>
            <a:ext cx="1818000" cy="679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neutral</a:t>
            </a:r>
            <a:r>
              <a:rPr lang="en" sz="1800">
                <a:solidFill>
                  <a:schemeClr val="dk1"/>
                </a:solidFill>
              </a:rPr>
              <a:t> region</a:t>
            </a:r>
            <a:endParaRPr sz="1800">
              <a:solidFill>
                <a:schemeClr val="dk1"/>
              </a:solidFill>
            </a:endParaRPr>
          </a:p>
        </p:txBody>
      </p:sp>
      <p:sp>
        <p:nvSpPr>
          <p:cNvPr id="450" name="Google Shape;450;p55"/>
          <p:cNvSpPr txBox="1"/>
          <p:nvPr/>
        </p:nvSpPr>
        <p:spPr>
          <a:xfrm>
            <a:off x="1295400" y="648650"/>
            <a:ext cx="1818000" cy="679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neutral region</a:t>
            </a:r>
            <a:endParaRPr sz="1800">
              <a:solidFill>
                <a:schemeClr val="dk1"/>
              </a:solidFill>
            </a:endParaRPr>
          </a:p>
        </p:txBody>
      </p:sp>
      <p:sp>
        <p:nvSpPr>
          <p:cNvPr id="451" name="Google Shape;451;p55"/>
          <p:cNvSpPr txBox="1"/>
          <p:nvPr/>
        </p:nvSpPr>
        <p:spPr>
          <a:xfrm>
            <a:off x="3494325" y="5275075"/>
            <a:ext cx="1654500" cy="359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Electric field</a:t>
            </a:r>
            <a:endParaRPr sz="1800">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5" name="Shape 455"/>
        <p:cNvGrpSpPr/>
        <p:nvPr/>
      </p:nvGrpSpPr>
      <p:grpSpPr>
        <a:xfrm>
          <a:off x="0" y="0"/>
          <a:ext cx="0" cy="0"/>
          <a:chOff x="0" y="0"/>
          <a:chExt cx="0" cy="0"/>
        </a:xfrm>
      </p:grpSpPr>
      <p:sp>
        <p:nvSpPr>
          <p:cNvPr id="456" name="Google Shape;456;p56"/>
          <p:cNvSpPr txBox="1"/>
          <p:nvPr>
            <p:ph type="title"/>
          </p:nvPr>
        </p:nvSpPr>
        <p:spPr>
          <a:xfrm>
            <a:off x="5371950" y="95275"/>
            <a:ext cx="35421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PN Junction - Biased</a:t>
            </a:r>
            <a:endParaRPr/>
          </a:p>
        </p:txBody>
      </p:sp>
      <p:sp>
        <p:nvSpPr>
          <p:cNvPr id="457" name="Google Shape;457;p56"/>
          <p:cNvSpPr txBox="1"/>
          <p:nvPr/>
        </p:nvSpPr>
        <p:spPr>
          <a:xfrm>
            <a:off x="5978300" y="858775"/>
            <a:ext cx="26841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Forward bias:</a:t>
            </a:r>
            <a:endParaRPr b="1" sz="1800">
              <a:solidFill>
                <a:schemeClr val="dk2"/>
              </a:solidFill>
            </a:endParaRPr>
          </a:p>
          <a:p>
            <a:pPr indent="0" lvl="0" marL="0" rtl="0" algn="l">
              <a:spcBef>
                <a:spcPts val="0"/>
              </a:spcBef>
              <a:spcAft>
                <a:spcPts val="0"/>
              </a:spcAft>
              <a:buNone/>
            </a:pPr>
            <a:r>
              <a:rPr lang="en" sz="1800">
                <a:solidFill>
                  <a:schemeClr val="dk2"/>
                </a:solidFill>
              </a:rPr>
              <a:t>'-' connected to n-region</a:t>
            </a:r>
            <a:endParaRPr sz="1800">
              <a:solidFill>
                <a:schemeClr val="dk2"/>
              </a:solidFill>
            </a:endParaRPr>
          </a:p>
          <a:p>
            <a:pPr indent="0" lvl="0" marL="0" rtl="0" algn="l">
              <a:spcBef>
                <a:spcPts val="0"/>
              </a:spcBef>
              <a:spcAft>
                <a:spcPts val="0"/>
              </a:spcAft>
              <a:buNone/>
            </a:pPr>
            <a:r>
              <a:rPr lang="en" sz="1800">
                <a:solidFill>
                  <a:schemeClr val="dk2"/>
                </a:solidFill>
              </a:rPr>
              <a:t>'+' connected to p-region</a:t>
            </a:r>
            <a:endParaRPr sz="1800">
              <a:solidFill>
                <a:schemeClr val="dk2"/>
              </a:solidFill>
            </a:endParaRPr>
          </a:p>
        </p:txBody>
      </p:sp>
      <p:sp>
        <p:nvSpPr>
          <p:cNvPr id="458" name="Google Shape;458;p56"/>
          <p:cNvSpPr txBox="1"/>
          <p:nvPr/>
        </p:nvSpPr>
        <p:spPr>
          <a:xfrm>
            <a:off x="5978300" y="3480988"/>
            <a:ext cx="26841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Reverse bias:</a:t>
            </a:r>
            <a:endParaRPr b="1" sz="1800">
              <a:solidFill>
                <a:schemeClr val="dk2"/>
              </a:solidFill>
            </a:endParaRPr>
          </a:p>
          <a:p>
            <a:pPr indent="0" lvl="0" marL="0" rtl="0" algn="l">
              <a:spcBef>
                <a:spcPts val="0"/>
              </a:spcBef>
              <a:spcAft>
                <a:spcPts val="0"/>
              </a:spcAft>
              <a:buNone/>
            </a:pPr>
            <a:r>
              <a:rPr lang="en" sz="1800">
                <a:solidFill>
                  <a:schemeClr val="dk2"/>
                </a:solidFill>
              </a:rPr>
              <a:t>'+' connected to n-region</a:t>
            </a:r>
            <a:endParaRPr sz="1800">
              <a:solidFill>
                <a:schemeClr val="dk2"/>
              </a:solidFill>
            </a:endParaRPr>
          </a:p>
          <a:p>
            <a:pPr indent="0" lvl="0" marL="0" rtl="0" algn="l">
              <a:spcBef>
                <a:spcPts val="0"/>
              </a:spcBef>
              <a:spcAft>
                <a:spcPts val="0"/>
              </a:spcAft>
              <a:buNone/>
            </a:pPr>
            <a:r>
              <a:rPr lang="en" sz="1800">
                <a:solidFill>
                  <a:schemeClr val="dk2"/>
                </a:solidFill>
              </a:rPr>
              <a:t>'-' connected to p-region</a:t>
            </a:r>
            <a:endParaRPr sz="1800">
              <a:solidFill>
                <a:schemeClr val="dk2"/>
              </a:solidFill>
            </a:endParaRPr>
          </a:p>
        </p:txBody>
      </p:sp>
      <p:sp>
        <p:nvSpPr>
          <p:cNvPr id="459" name="Google Shape;459;p56"/>
          <p:cNvSpPr txBox="1"/>
          <p:nvPr/>
        </p:nvSpPr>
        <p:spPr>
          <a:xfrm>
            <a:off x="6260300" y="5772925"/>
            <a:ext cx="2273700" cy="4617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FF0000"/>
                </a:solidFill>
              </a:rPr>
              <a:t>This is a d</a:t>
            </a:r>
            <a:r>
              <a:rPr lang="en" sz="1800">
                <a:solidFill>
                  <a:srgbClr val="FF0000"/>
                </a:solidFill>
              </a:rPr>
              <a:t>iode!</a:t>
            </a:r>
            <a:endParaRPr sz="1800">
              <a:solidFill>
                <a:srgbClr val="FF0000"/>
              </a:solidFill>
            </a:endParaRPr>
          </a:p>
        </p:txBody>
      </p:sp>
      <p:pic>
        <p:nvPicPr>
          <p:cNvPr id="460" name="Google Shape;460;p56"/>
          <p:cNvPicPr preferRelativeResize="0"/>
          <p:nvPr/>
        </p:nvPicPr>
        <p:blipFill rotWithShape="1">
          <a:blip r:embed="rId3">
            <a:alphaModFix/>
          </a:blip>
          <a:srcRect b="64446" l="0" r="0" t="0"/>
          <a:stretch/>
        </p:blipFill>
        <p:spPr>
          <a:xfrm>
            <a:off x="451250" y="95270"/>
            <a:ext cx="5024500" cy="2024600"/>
          </a:xfrm>
          <a:prstGeom prst="rect">
            <a:avLst/>
          </a:prstGeom>
          <a:noFill/>
          <a:ln>
            <a:noFill/>
          </a:ln>
        </p:spPr>
      </p:pic>
      <p:pic>
        <p:nvPicPr>
          <p:cNvPr id="461" name="Google Shape;461;p56"/>
          <p:cNvPicPr preferRelativeResize="0"/>
          <p:nvPr/>
        </p:nvPicPr>
        <p:blipFill rotWithShape="1">
          <a:blip r:embed="rId3">
            <a:alphaModFix/>
          </a:blip>
          <a:srcRect b="64446" l="0" r="0" t="0"/>
          <a:stretch/>
        </p:blipFill>
        <p:spPr>
          <a:xfrm>
            <a:off x="451250" y="3404720"/>
            <a:ext cx="5024500" cy="2024600"/>
          </a:xfrm>
          <a:prstGeom prst="rect">
            <a:avLst/>
          </a:prstGeom>
          <a:noFill/>
          <a:ln>
            <a:noFill/>
          </a:ln>
        </p:spPr>
      </p:pic>
      <p:pic>
        <p:nvPicPr>
          <p:cNvPr id="462" name="Google Shape;462;p56"/>
          <p:cNvPicPr preferRelativeResize="0"/>
          <p:nvPr/>
        </p:nvPicPr>
        <p:blipFill rotWithShape="1">
          <a:blip r:embed="rId3">
            <a:alphaModFix/>
          </a:blip>
          <a:srcRect b="0" l="0" r="0" t="47241"/>
          <a:stretch/>
        </p:blipFill>
        <p:spPr>
          <a:xfrm>
            <a:off x="451238" y="3759291"/>
            <a:ext cx="5024500" cy="3004310"/>
          </a:xfrm>
          <a:prstGeom prst="rect">
            <a:avLst/>
          </a:prstGeom>
          <a:noFill/>
          <a:ln>
            <a:noFill/>
          </a:ln>
        </p:spPr>
      </p:pic>
      <p:pic>
        <p:nvPicPr>
          <p:cNvPr id="463" name="Google Shape;463;p56"/>
          <p:cNvPicPr preferRelativeResize="0"/>
          <p:nvPr/>
        </p:nvPicPr>
        <p:blipFill rotWithShape="1">
          <a:blip r:embed="rId4">
            <a:alphaModFix/>
          </a:blip>
          <a:srcRect b="0" l="0" r="0" t="9198"/>
          <a:stretch/>
        </p:blipFill>
        <p:spPr>
          <a:xfrm>
            <a:off x="567877" y="400425"/>
            <a:ext cx="4791235" cy="3004300"/>
          </a:xfrm>
          <a:prstGeom prst="rect">
            <a:avLst/>
          </a:prstGeom>
          <a:noFill/>
          <a:ln>
            <a:noFill/>
          </a:ln>
        </p:spPr>
      </p:pic>
      <p:sp>
        <p:nvSpPr>
          <p:cNvPr id="464" name="Google Shape;464;p56"/>
          <p:cNvSpPr txBox="1"/>
          <p:nvPr/>
        </p:nvSpPr>
        <p:spPr>
          <a:xfrm>
            <a:off x="5978300" y="1874575"/>
            <a:ext cx="31185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Depletion region shrinks. Current can flow freely as soon as voltage &gt; built-up potential.</a:t>
            </a:r>
            <a:endParaRPr sz="1800">
              <a:solidFill>
                <a:schemeClr val="dk2"/>
              </a:solidFill>
            </a:endParaRPr>
          </a:p>
        </p:txBody>
      </p:sp>
      <p:sp>
        <p:nvSpPr>
          <p:cNvPr id="465" name="Google Shape;465;p56"/>
          <p:cNvSpPr txBox="1"/>
          <p:nvPr/>
        </p:nvSpPr>
        <p:spPr>
          <a:xfrm>
            <a:off x="5978300" y="4496800"/>
            <a:ext cx="2684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Depletion region grows. No current can flow.</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9" name="Shape 469"/>
        <p:cNvGrpSpPr/>
        <p:nvPr/>
      </p:nvGrpSpPr>
      <p:grpSpPr>
        <a:xfrm>
          <a:off x="0" y="0"/>
          <a:ext cx="0" cy="0"/>
          <a:chOff x="0" y="0"/>
          <a:chExt cx="0" cy="0"/>
        </a:xfrm>
      </p:grpSpPr>
      <p:pic>
        <p:nvPicPr>
          <p:cNvPr id="470" name="Google Shape;470;p57"/>
          <p:cNvPicPr preferRelativeResize="0"/>
          <p:nvPr/>
        </p:nvPicPr>
        <p:blipFill rotWithShape="1">
          <a:blip r:embed="rId3">
            <a:alphaModFix/>
          </a:blip>
          <a:srcRect b="0" l="0" r="63821" t="0"/>
          <a:stretch/>
        </p:blipFill>
        <p:spPr>
          <a:xfrm>
            <a:off x="6743088" y="3939450"/>
            <a:ext cx="2239924" cy="2295525"/>
          </a:xfrm>
          <a:prstGeom prst="rect">
            <a:avLst/>
          </a:prstGeom>
          <a:noFill/>
          <a:ln>
            <a:noFill/>
          </a:ln>
        </p:spPr>
      </p:pic>
      <p:sp>
        <p:nvSpPr>
          <p:cNvPr id="471" name="Google Shape;471;p57"/>
          <p:cNvSpPr txBox="1"/>
          <p:nvPr>
            <p:ph type="title"/>
          </p:nvPr>
        </p:nvSpPr>
        <p:spPr>
          <a:xfrm>
            <a:off x="311700" y="4632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PN Junction - Diode</a:t>
            </a:r>
            <a:endParaRPr/>
          </a:p>
        </p:txBody>
      </p:sp>
      <p:pic>
        <p:nvPicPr>
          <p:cNvPr id="472" name="Google Shape;472;p57"/>
          <p:cNvPicPr preferRelativeResize="0"/>
          <p:nvPr/>
        </p:nvPicPr>
        <p:blipFill>
          <a:blip r:embed="rId4">
            <a:alphaModFix/>
          </a:blip>
          <a:stretch>
            <a:fillRect/>
          </a:stretch>
        </p:blipFill>
        <p:spPr>
          <a:xfrm>
            <a:off x="803050" y="1226750"/>
            <a:ext cx="5313176" cy="5313176"/>
          </a:xfrm>
          <a:prstGeom prst="rect">
            <a:avLst/>
          </a:prstGeom>
          <a:noFill/>
          <a:ln>
            <a:noFill/>
          </a:ln>
        </p:spPr>
      </p:pic>
      <p:pic>
        <p:nvPicPr>
          <p:cNvPr id="473" name="Google Shape;473;p57"/>
          <p:cNvPicPr preferRelativeResize="0"/>
          <p:nvPr/>
        </p:nvPicPr>
        <p:blipFill rotWithShape="1">
          <a:blip r:embed="rId5">
            <a:alphaModFix/>
          </a:blip>
          <a:srcRect b="27430" l="9911" r="7431" t="36516"/>
          <a:stretch/>
        </p:blipFill>
        <p:spPr>
          <a:xfrm rot="-3534128">
            <a:off x="5818497" y="2436723"/>
            <a:ext cx="3940502" cy="412503"/>
          </a:xfrm>
          <a:prstGeom prst="rect">
            <a:avLst/>
          </a:prstGeom>
          <a:noFill/>
          <a:ln>
            <a:noFill/>
          </a:ln>
        </p:spPr>
      </p:pic>
      <p:pic>
        <p:nvPicPr>
          <p:cNvPr id="474" name="Google Shape;474;p57"/>
          <p:cNvPicPr preferRelativeResize="0"/>
          <p:nvPr/>
        </p:nvPicPr>
        <p:blipFill>
          <a:blip r:embed="rId6">
            <a:alphaModFix/>
          </a:blip>
          <a:stretch>
            <a:fillRect/>
          </a:stretch>
        </p:blipFill>
        <p:spPr>
          <a:xfrm>
            <a:off x="979598" y="1732582"/>
            <a:ext cx="2239900" cy="361466"/>
          </a:xfrm>
          <a:prstGeom prst="rect">
            <a:avLst/>
          </a:prstGeom>
          <a:noFill/>
          <a:ln>
            <a:noFill/>
          </a:ln>
        </p:spPr>
      </p:pic>
      <p:cxnSp>
        <p:nvCxnSpPr>
          <p:cNvPr id="475" name="Google Shape;475;p57"/>
          <p:cNvCxnSpPr>
            <a:stCxn id="474" idx="3"/>
          </p:cNvCxnSpPr>
          <p:nvPr/>
        </p:nvCxnSpPr>
        <p:spPr>
          <a:xfrm>
            <a:off x="3219498" y="1913315"/>
            <a:ext cx="1579500" cy="5298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9" name="Shape 479"/>
        <p:cNvGrpSpPr/>
        <p:nvPr/>
      </p:nvGrpSpPr>
      <p:grpSpPr>
        <a:xfrm>
          <a:off x="0" y="0"/>
          <a:ext cx="0" cy="0"/>
          <a:chOff x="0" y="0"/>
          <a:chExt cx="0" cy="0"/>
        </a:xfrm>
      </p:grpSpPr>
      <p:sp>
        <p:nvSpPr>
          <p:cNvPr id="480" name="Google Shape;480;p58"/>
          <p:cNvSpPr txBox="1"/>
          <p:nvPr>
            <p:ph type="title"/>
          </p:nvPr>
        </p:nvSpPr>
        <p:spPr>
          <a:xfrm>
            <a:off x="78650" y="197625"/>
            <a:ext cx="8871300" cy="115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Bipolar</a:t>
            </a:r>
            <a:r>
              <a:rPr lang="en"/>
              <a:t> Junction Transistors: P sandwiched between two N regions or N sandwiched between two P regions</a:t>
            </a:r>
            <a:endParaRPr/>
          </a:p>
        </p:txBody>
      </p:sp>
      <p:pic>
        <p:nvPicPr>
          <p:cNvPr id="481" name="Google Shape;481;p58"/>
          <p:cNvPicPr preferRelativeResize="0"/>
          <p:nvPr/>
        </p:nvPicPr>
        <p:blipFill rotWithShape="1">
          <a:blip r:embed="rId3">
            <a:alphaModFix/>
          </a:blip>
          <a:srcRect b="0" l="0" r="56246" t="0"/>
          <a:stretch/>
        </p:blipFill>
        <p:spPr>
          <a:xfrm>
            <a:off x="790788" y="2033275"/>
            <a:ext cx="1607275" cy="2749125"/>
          </a:xfrm>
          <a:prstGeom prst="rect">
            <a:avLst/>
          </a:prstGeom>
          <a:noFill/>
          <a:ln>
            <a:noFill/>
          </a:ln>
        </p:spPr>
      </p:pic>
      <p:pic>
        <p:nvPicPr>
          <p:cNvPr id="482" name="Google Shape;482;p58"/>
          <p:cNvPicPr preferRelativeResize="0"/>
          <p:nvPr/>
        </p:nvPicPr>
        <p:blipFill rotWithShape="1">
          <a:blip r:embed="rId4">
            <a:alphaModFix/>
          </a:blip>
          <a:srcRect b="0" l="0" r="56246" t="0"/>
          <a:stretch/>
        </p:blipFill>
        <p:spPr>
          <a:xfrm>
            <a:off x="6299138" y="2058575"/>
            <a:ext cx="1607275" cy="2731275"/>
          </a:xfrm>
          <a:prstGeom prst="rect">
            <a:avLst/>
          </a:prstGeom>
          <a:noFill/>
          <a:ln>
            <a:noFill/>
          </a:ln>
        </p:spPr>
      </p:pic>
      <p:sp>
        <p:nvSpPr>
          <p:cNvPr id="483" name="Google Shape;483;p58"/>
          <p:cNvSpPr txBox="1"/>
          <p:nvPr/>
        </p:nvSpPr>
        <p:spPr>
          <a:xfrm>
            <a:off x="908550" y="1462100"/>
            <a:ext cx="1717800" cy="4617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NPN transistor</a:t>
            </a:r>
            <a:endParaRPr sz="1800">
              <a:solidFill>
                <a:srgbClr val="0000FF"/>
              </a:solidFill>
            </a:endParaRPr>
          </a:p>
        </p:txBody>
      </p:sp>
      <p:sp>
        <p:nvSpPr>
          <p:cNvPr id="484" name="Google Shape;484;p58"/>
          <p:cNvSpPr txBox="1"/>
          <p:nvPr/>
        </p:nvSpPr>
        <p:spPr>
          <a:xfrm>
            <a:off x="6448375" y="1462100"/>
            <a:ext cx="1717800" cy="4617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PNP</a:t>
            </a:r>
            <a:r>
              <a:rPr lang="en" sz="1800">
                <a:solidFill>
                  <a:srgbClr val="0000FF"/>
                </a:solidFill>
              </a:rPr>
              <a:t> transistor</a:t>
            </a:r>
            <a:endParaRPr sz="1800">
              <a:solidFill>
                <a:srgbClr val="0000FF"/>
              </a:solidFill>
            </a:endParaRPr>
          </a:p>
        </p:txBody>
      </p:sp>
      <p:sp>
        <p:nvSpPr>
          <p:cNvPr id="485" name="Google Shape;485;p58"/>
          <p:cNvSpPr txBox="1"/>
          <p:nvPr/>
        </p:nvSpPr>
        <p:spPr>
          <a:xfrm>
            <a:off x="3054513" y="3139025"/>
            <a:ext cx="2761200" cy="3232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Terminals are called Base, Collector and Emitter.</a:t>
            </a:r>
            <a:endParaRPr sz="1800">
              <a:solidFill>
                <a:schemeClr val="dk1"/>
              </a:solidFill>
            </a:endParaRPr>
          </a:p>
          <a:p>
            <a:pPr indent="-342900" lvl="0" marL="457200" rtl="0" algn="l">
              <a:spcBef>
                <a:spcPts val="0"/>
              </a:spcBef>
              <a:spcAft>
                <a:spcPts val="0"/>
              </a:spcAft>
              <a:buClr>
                <a:schemeClr val="dk2"/>
              </a:buClr>
              <a:buSzPts val="1800"/>
              <a:buChar char="●"/>
            </a:pPr>
            <a:r>
              <a:rPr lang="en" sz="1800">
                <a:solidFill>
                  <a:srgbClr val="FF00FF"/>
                </a:solidFill>
              </a:rPr>
              <a:t>Base</a:t>
            </a:r>
            <a:r>
              <a:rPr lang="en" sz="1800">
                <a:solidFill>
                  <a:schemeClr val="dk2"/>
                </a:solidFill>
              </a:rPr>
              <a:t> region is lightly doped and very thin</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rgbClr val="FF00FF"/>
                </a:solidFill>
              </a:rPr>
              <a:t>Emitter</a:t>
            </a:r>
            <a:r>
              <a:rPr lang="en" sz="1800">
                <a:solidFill>
                  <a:schemeClr val="dk2"/>
                </a:solidFill>
              </a:rPr>
              <a:t> is heavily doped</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rgbClr val="FF00FF"/>
                </a:solidFill>
              </a:rPr>
              <a:t>Collector</a:t>
            </a:r>
            <a:r>
              <a:rPr lang="en" sz="1800">
                <a:solidFill>
                  <a:schemeClr val="dk2"/>
                </a:solidFill>
              </a:rPr>
              <a:t> is heavily doped except close to the base</a:t>
            </a:r>
            <a:r>
              <a:rPr lang="en" sz="1800">
                <a:solidFill>
                  <a:schemeClr val="dk2"/>
                </a:solidFill>
              </a:rPr>
              <a:t> where it is only lightly doped</a:t>
            </a:r>
            <a:endParaRPr sz="1800">
              <a:solidFill>
                <a:schemeClr val="dk2"/>
              </a:solidFill>
            </a:endParaRPr>
          </a:p>
        </p:txBody>
      </p:sp>
      <p:sp>
        <p:nvSpPr>
          <p:cNvPr id="486" name="Google Shape;486;p58"/>
          <p:cNvSpPr txBox="1"/>
          <p:nvPr/>
        </p:nvSpPr>
        <p:spPr>
          <a:xfrm>
            <a:off x="6448325" y="2058575"/>
            <a:ext cx="888600" cy="343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Emitter</a:t>
            </a:r>
            <a:endParaRPr>
              <a:solidFill>
                <a:schemeClr val="dk1"/>
              </a:solidFill>
            </a:endParaRPr>
          </a:p>
        </p:txBody>
      </p:sp>
      <p:sp>
        <p:nvSpPr>
          <p:cNvPr id="487" name="Google Shape;487;p58"/>
          <p:cNvSpPr txBox="1"/>
          <p:nvPr/>
        </p:nvSpPr>
        <p:spPr>
          <a:xfrm>
            <a:off x="6448375" y="4355475"/>
            <a:ext cx="888600" cy="343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Collector</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1" name="Shape 491"/>
        <p:cNvGrpSpPr/>
        <p:nvPr/>
      </p:nvGrpSpPr>
      <p:grpSpPr>
        <a:xfrm>
          <a:off x="0" y="0"/>
          <a:ext cx="0" cy="0"/>
          <a:chOff x="0" y="0"/>
          <a:chExt cx="0" cy="0"/>
        </a:xfrm>
      </p:grpSpPr>
      <p:sp>
        <p:nvSpPr>
          <p:cNvPr id="492" name="Google Shape;492;p59"/>
          <p:cNvSpPr txBox="1"/>
          <p:nvPr>
            <p:ph type="title"/>
          </p:nvPr>
        </p:nvSpPr>
        <p:spPr>
          <a:xfrm>
            <a:off x="477375" y="210900"/>
            <a:ext cx="29382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NPN Transistor</a:t>
            </a:r>
            <a:endParaRPr/>
          </a:p>
        </p:txBody>
      </p:sp>
      <p:pic>
        <p:nvPicPr>
          <p:cNvPr id="493" name="Google Shape;493;p59"/>
          <p:cNvPicPr preferRelativeResize="0"/>
          <p:nvPr/>
        </p:nvPicPr>
        <p:blipFill>
          <a:blip r:embed="rId3">
            <a:alphaModFix/>
          </a:blip>
          <a:stretch>
            <a:fillRect/>
          </a:stretch>
        </p:blipFill>
        <p:spPr>
          <a:xfrm>
            <a:off x="0" y="2511950"/>
            <a:ext cx="7443374" cy="4114500"/>
          </a:xfrm>
          <a:prstGeom prst="rect">
            <a:avLst/>
          </a:prstGeom>
          <a:noFill/>
          <a:ln>
            <a:noFill/>
          </a:ln>
        </p:spPr>
      </p:pic>
      <p:pic>
        <p:nvPicPr>
          <p:cNvPr id="494" name="Google Shape;494;p59"/>
          <p:cNvPicPr preferRelativeResize="0"/>
          <p:nvPr/>
        </p:nvPicPr>
        <p:blipFill rotWithShape="1">
          <a:blip r:embed="rId4">
            <a:alphaModFix/>
          </a:blip>
          <a:srcRect b="13801" l="0" r="0" t="0"/>
          <a:stretch/>
        </p:blipFill>
        <p:spPr>
          <a:xfrm>
            <a:off x="4952825" y="64725"/>
            <a:ext cx="4191175" cy="2553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