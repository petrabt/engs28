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9144000"/>
  <p:notesSz cx="6858000" cy="9144000"/>
  <p:embeddedFontLst>
    <p:embeddedFont>
      <p:font typeface="Helvetica Neue"/>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73A852-0B6E-4556-8AB7-8F05ECB0CFB5}">
  <a:tblStyle styleId="{8173A852-0B6E-4556-8AB7-8F05ECB0CFB5}" styleName="Table_0">
    <a:wholeTbl>
      <a:tcTxStyle b="off" i="off">
        <a:font>
          <a:latin typeface="Palatino"/>
          <a:ea typeface="Palatino"/>
          <a:cs typeface="Palatino"/>
        </a:font>
        <a:schemeClr val="dk1"/>
      </a:tcTxStyle>
      <a:tcStyle>
        <a:tcBdr>
          <a:left>
            <a:ln cap="flat" cmpd="sng" w="12700">
              <a:solidFill>
                <a:schemeClr val="accent3"/>
              </a:solidFill>
              <a:prstDash val="solid"/>
              <a:round/>
              <a:headEnd len="sm" w="sm" type="none"/>
              <a:tailEnd len="sm" w="sm" type="none"/>
            </a:ln>
          </a:left>
          <a:right>
            <a:ln cap="flat" cmpd="sng" w="12700">
              <a:solidFill>
                <a:schemeClr val="accent3"/>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12700">
              <a:solidFill>
                <a:schemeClr val="accent3"/>
              </a:solidFill>
              <a:prstDash val="solid"/>
              <a:round/>
              <a:headEnd len="sm" w="sm" type="none"/>
              <a:tailEnd len="sm" w="sm" type="none"/>
            </a:ln>
          </a:insideH>
          <a:insideV>
            <a:ln cap="flat" cmpd="sng" w="12700">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20000"/>
            </a:schemeClr>
          </a:solidFill>
        </a:fill>
      </a:tcStyle>
    </a:band1H>
    <a:band2H>
      <a:tcTxStyle/>
    </a:band2H>
    <a:band1V>
      <a:tcTxStyle/>
      <a:tcStyle>
        <a:fill>
          <a:solidFill>
            <a:schemeClr val="accent3">
              <a:alpha val="20000"/>
            </a:schemeClr>
          </a:solidFill>
        </a:fill>
      </a:tcStyle>
    </a:band1V>
    <a:band2V>
      <a:tcTxStyle/>
    </a:band2V>
    <a:lastCol>
      <a:tcTxStyle b="on" i="off"/>
    </a:lastCol>
    <a:firstCol>
      <a:tcTxStyle b="on" i="off"/>
    </a:firstCol>
    <a:lastRow>
      <a:tcTxStyle b="on" i="off"/>
      <a:tcStyle>
        <a:tcBdr>
          <a:top>
            <a:ln cap="flat" cmpd="sng" w="50800">
              <a:solidFill>
                <a:schemeClr val="accent3"/>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3"/>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517CC0F7-86E2-4DBA-A014-BD13E14E40D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HelveticaNeue-bold.fntdata"/><Relationship Id="rId63" Type="http://schemas.openxmlformats.org/officeDocument/2006/relationships/font" Target="fonts/HelveticaNeue-regular.fntdata"/><Relationship Id="rId22" Type="http://schemas.openxmlformats.org/officeDocument/2006/relationships/slide" Target="slides/slide16.xml"/><Relationship Id="rId66" Type="http://schemas.openxmlformats.org/officeDocument/2006/relationships/font" Target="fonts/HelveticaNeue-boldItalic.fntdata"/><Relationship Id="rId21" Type="http://schemas.openxmlformats.org/officeDocument/2006/relationships/slide" Target="slides/slide15.xml"/><Relationship Id="rId65" Type="http://schemas.openxmlformats.org/officeDocument/2006/relationships/font" Target="fonts/HelveticaNeue-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dcc7ec2cb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dcc7ec2c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0fd94a8cb_0_4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0fd94a8c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19e80fdd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19e80fd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1195d0ce4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1195d0ce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19e80fdde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19e80fd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19e80fdde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19e80fdd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19e80fdde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19e80fdd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19e80fdde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19e80fd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1195d0ce4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1195d0ce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11195d0ce4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11195d0ce4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1195d0ce4_0_1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1195d0ce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0fd94a8c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0fd94a8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a667ecccc9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a667ecccc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Connected to the Arduino via 4 wires: power, ground, data and clock. It's mounted on a "backpack" so that we can easily access the pins. The Backpack provides the i2c </a:t>
            </a:r>
            <a:r>
              <a:rPr lang="en" sz="1400"/>
              <a:t>functionality</a:t>
            </a:r>
            <a:r>
              <a:rPr lang="en" sz="1400"/>
              <a:t>. You speak to the controller on the backpack via i2c and tell it which segments you want to have lit up, the brightness level, and whether or not you want it to blink.</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0821c6236f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0821c623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3518081d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3518081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072c27203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072c2720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821c6236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821c623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213f9a79b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213f9a79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After the address and the r/w bit have been sent, the controller continues to maintain the clock, so sends an “extra” clock out for the ACK/NACK. When it drives the low edge of the clock out, it lets go of the data line.  Now –</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For an ACK, the target grabs the line and pulls low sometime during the low portion of the clock.  Depending on specific implementation and chips and wiring and all that, we may see a blip high while the clock is low.  The important thing is that the ACK is stable when the next rising clock comes along.</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Since the data isn’t allow to change when the clock is high (except for start and stop) the target has to hold ACK until the clock falls again.  At this point, the target lets go and the controller takes over again.  Here, again - depending on timing, we could see a blip while the handoff occurs, but as long as the proper value is there at the end of the low portion, no one will be the wiser.</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213f9a79b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b213f9a79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 extra '0' is to tell the target that we wish to write to it.</a:t>
            </a:r>
            <a:endParaRPr/>
          </a:p>
          <a:p>
            <a:pPr indent="0" lvl="0" marL="0" rtl="0" algn="l">
              <a:lnSpc>
                <a:spcPct val="115000"/>
              </a:lnSpc>
              <a:spcBef>
                <a:spcPts val="0"/>
              </a:spcBef>
              <a:spcAft>
                <a:spcPts val="0"/>
              </a:spcAft>
              <a:buClr>
                <a:schemeClr val="dk1"/>
              </a:buClr>
              <a:buSzPts val="1100"/>
              <a:buFont typeface="Arial"/>
              <a:buNone/>
            </a:pPr>
            <a:r>
              <a:rPr lang="en"/>
              <a:t>After that last 0 has been sent, when the clock is next low, the controller lets go of the data line. If there is a target that recognized its address, it'll grab the data line and pull it low </a:t>
            </a:r>
            <a:r>
              <a:rPr lang="en"/>
              <a:t>during</a:t>
            </a:r>
            <a:r>
              <a:rPr lang="en"/>
              <a:t> that low portion of the clock so that when the clock goes high, the data reads low again, that's the Ack. During the next low of the clock the target lets go of the data and the controller takes over again and starts sending the data.</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After the address and the r/w bit have been sent, the controller continues to maintain the clock, so sends an “extra” clock out for the ACK/NACK. When it drives the low edge of the clock out, it lets go of the data line.  Now –</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For an ACK, the target grabs the line and pulls low sometime during the low portion of the clock.  Depending on specific implementation and chips and wiring and all that, we may see a blip high while the clock is low.  The important thing is that the ACK is stable when the next rising clock comes along.</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Since the data isn’t allow to change when the clock is high (except for start and stop) the target has to hold ACK until the clock falls again.  At this point, the target lets go and the controller takes over again.  Here, again - depending on timing, we could see a blip while the handoff occurs, but as long as the proper value is there at the end of the low portion, no one will be the wiser.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b213f9a79b_0_1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b213f9a79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0821c6236f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0821c6236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821c6236f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821c6236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After that last 0 has been sent, when the clock is next low, the controller lets go of the data line. No target recognized the address, so the data line remains high and when the clock goes high, the data still reads high, that's the NoAck. During the next low of the clock the controller pulls the data line low again and then, during the next high clock, lets go of the data line. That's the stop condition.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0821c6236f_0_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0821c6236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821c6236f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821c6236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0821c6236f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0821c6236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d3e9d8e0da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d3e9d8e0d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Follow the instructions on the slide. Trigger settings depend on your scopy software version…</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First we want to simply look at the clock and serial data. That's what this slide gets you to accomplish. By setting the sampling rate to 10Mega bits per second you stretch out the picture so you can get a good look at the clock. Use the cursors to measure the period and frequency of the clock, verify that it's 100kHz (standard I2C clock frequency). Then we'll move on to start the decode.</a:t>
            </a:r>
            <a:endParaRPr sz="1400">
              <a:solidFill>
                <a:schemeClr val="dk1"/>
              </a:solidFill>
            </a:endParaRPr>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Almost like an oscilloscope except not quite. Signals are just high or low, not continuous voltages as they were in oscilloscope mode. There are 16 digital channels, so you can look at lots of digital signals simultaneously which can be important if you are trying to monitor lots of signals at the same time.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All modern mixed signal oscilloscopes, including the M2K, can decode the bits on the serial bus. So you can put Scopy into I2C mode and it will take that bitstream, decode it and show you what's actually being sent. So you don't have to do all of the interpreting on your own. Super useful for debugging.</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You can also decode a UART this way: stick it on the TX/RX  and it can show you the ASCII characters (not just the bits).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It can also do SPI (which we'll only use sort of during wifi in week 9).</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Can also do CANBUS protocol which is from automotive applications. Those in DFR will know this.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d3e9d8e0da_0_1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d3e9d8e0d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set up the actual decoding. Change settings as in the slide.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d3e9d8e0da_0_2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d3e9d8e0da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d3e9d8e0da_0_2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d3e9d8e0da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af728df9ed_0_4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Each digit consists of 7 segments, these are labeled a, b, c, d, e, f, g. Each segment corresponds to one LED.</a:t>
            </a:r>
            <a:endParaRPr sz="1400"/>
          </a:p>
          <a:p>
            <a:pPr indent="0" lvl="0" marL="0" rtl="0" algn="l">
              <a:spcBef>
                <a:spcPts val="0"/>
              </a:spcBef>
              <a:spcAft>
                <a:spcPts val="0"/>
              </a:spcAft>
              <a:buNone/>
            </a:pPr>
            <a:r>
              <a:rPr lang="en" sz="1400"/>
              <a:t>To display a 0, for example, you want to turn on the a, b, c, d, e, f segments and leave the g segment off. You'd thus send 00111111 (.GFEDCBA) to the decoder.</a:t>
            </a:r>
            <a:endParaRPr sz="1400"/>
          </a:p>
          <a:p>
            <a:pPr indent="0" lvl="0" marL="0" rtl="0" algn="l">
              <a:spcBef>
                <a:spcPts val="0"/>
              </a:spcBef>
              <a:spcAft>
                <a:spcPts val="0"/>
              </a:spcAft>
              <a:buNone/>
            </a:pPr>
            <a:r>
              <a:rPr lang="en" sz="1400"/>
              <a:t>The table shows 0-9, can also come up with A, b, C, d, E, F (some upper, some lower-case). Can make other letters as well. Can also make a minus sign, the hamburger menu, etc.</a:t>
            </a:r>
            <a:endParaRPr sz="1400"/>
          </a:p>
        </p:txBody>
      </p:sp>
      <p:sp>
        <p:nvSpPr>
          <p:cNvPr id="392" name="Google Shape;392;g2af728df9ed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0462898765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046289876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is how it's built: Each segment is an LED. All LEDs (for one digit) have their cathodes tied together. All the cathodes for the next digit are tied together, etc. The two cathodes for the colon are tied </a:t>
            </a:r>
            <a:r>
              <a:rPr lang="en" sz="1400"/>
              <a:t>together</a:t>
            </a:r>
            <a:r>
              <a:rPr lang="en" sz="1400"/>
              <a: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 addition, all the anodes for all the 'a' segments are tied </a:t>
            </a:r>
            <a:r>
              <a:rPr lang="en" sz="1400"/>
              <a:t>together</a:t>
            </a:r>
            <a:r>
              <a:rPr lang="en" sz="1400"/>
              <a:t>, all those for the 'b' segments are tied together, etc.</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So if you want to turn on the 'a' segment in digit 2, you drive all the 'a' segments high and you take the common cathode for digit 2 and you ground it (drive it low). That combination is unique and current will </a:t>
            </a:r>
            <a:r>
              <a:rPr lang="en" sz="1400"/>
              <a:t>only</a:t>
            </a:r>
            <a:r>
              <a:rPr lang="en" sz="1400"/>
              <a:t> flow through the LED for the 'a' segment in digit 2.</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So you need 4 wires for the common cathodes, 8 wires for the 7 </a:t>
            </a:r>
            <a:r>
              <a:rPr lang="en" sz="1400"/>
              <a:t>segments</a:t>
            </a:r>
            <a:r>
              <a:rPr lang="en" sz="1400"/>
              <a:t> and the decimal point, that's 12 wires, plus two for the colon, so 14 wires with which you can control a total of 34 LEDs.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If I want to turn on 0 in digit 3, I'll activate the a, b, c, d, e, f segments on the anode side and ground the digit 3 cathode, and digit 3 will display a 0. But that will only turn on a 0 in digit 3.</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So if I want to display a four-digit number I'll need to do the digits in sequence and sweep through them rapidly enough so that my eyes don't notice. It looks like all 4 digits are lit up at the same time.</a:t>
            </a:r>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0fd94a8cb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0fd94a8c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All that sequencing is done by the Backpack controller driver. It does all of the multiplexing, timing, decoding, etc and also provides the I2C interface with the processor.</a:t>
            </a:r>
            <a:endParaRPr sz="14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0fd94a8cb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0fd94a8c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I2C controller manages all of the stuff on the device end. In orange, those are control signals that set the modes that the chip will run it. Turns out, the chip can do all kinds of things beyond managing the 4-digit 7-segment display. You command that particular mode by setting a particular mode.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a:t>
            </a:r>
            <a:r>
              <a:rPr lang="en" sz="1400"/>
              <a:t>display</a:t>
            </a:r>
            <a:r>
              <a:rPr lang="en" sz="1400"/>
              <a:t> RAM is where the individual bit patterns are stored for the segments you are currently lighting up. Each segment is stored as a 16-bit number (2 8-bit numbers); in the case of the 7-segment display we only use the first of these two bytes for each segment. We still need to send both bytes </a:t>
            </a:r>
            <a:r>
              <a:rPr lang="en" sz="1400"/>
              <a:t>though</a:t>
            </a:r>
            <a:r>
              <a:rPr lang="en" sz="1400"/>
              <a:t> (so send a '0' after each 'real' piece of data).</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controller can also control dot-matrix displays, keypads and more. That's why it has more capabilities than we need and in particular more storage in the display memory than we need.</a:t>
            </a:r>
            <a:endParaRPr sz="14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10fd94a8cb_0_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10fd94a8c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The display memory is organized as follows: for each digit, there are two bytes. The first byte is the seven bits of digit 1 and the decimal point. The second byte is the second 8 bits which we aren't using - so we always need to stick a 0 in there.</a:t>
            </a:r>
            <a:endParaRPr sz="1400">
              <a:solidFill>
                <a:schemeClr val="dk1"/>
              </a:solidFill>
            </a:endParaRPr>
          </a:p>
          <a:p>
            <a:pPr indent="0" lvl="0" marL="0" rtl="0" algn="l">
              <a:spcBef>
                <a:spcPts val="0"/>
              </a:spcBef>
              <a:spcAft>
                <a:spcPts val="0"/>
              </a:spcAft>
              <a:buNone/>
            </a:pPr>
            <a:r>
              <a:t/>
            </a:r>
            <a:endParaRPr sz="1400"/>
          </a:p>
          <a:p>
            <a:pPr indent="0" lvl="0" marL="0" rtl="0" algn="l">
              <a:spcBef>
                <a:spcPts val="0"/>
              </a:spcBef>
              <a:spcAft>
                <a:spcPts val="0"/>
              </a:spcAft>
              <a:buNone/>
            </a:pPr>
            <a:r>
              <a:rPr lang="en" sz="1400"/>
              <a:t>Example: activate the G segment of the first digit. That is 0b01000000 (the 1 is in the g slot). Then send 0b00000000 for the second byte which is always 0 in our case.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(Need to activate the common cathode for digit 1 (COMM0) and the common anode for all g segments (ROW6). Skip details…)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way to write the memory is you write the byte that is for the first digit, then a byte of zeros, then the byte for the second digit, then a byte of zeros, same for the second digit, then the colon, then the </a:t>
            </a:r>
            <a:r>
              <a:rPr lang="en" sz="1400"/>
              <a:t>third</a:t>
            </a:r>
            <a:r>
              <a:rPr lang="en" sz="1400"/>
              <a:t>, then the fourth digit. So </a:t>
            </a:r>
            <a:r>
              <a:rPr lang="en" sz="1400"/>
              <a:t>altogether</a:t>
            </a:r>
            <a:r>
              <a:rPr lang="en" sz="1400"/>
              <a:t> you write 10 bytes of data all in one i2c transaction. Each time you write a byte, it goes into the display memory and a pointer inside the controller advances. If you don't write the zeros, the pointer won't advance.</a:t>
            </a:r>
            <a:endParaRPr sz="1400"/>
          </a:p>
          <a:p>
            <a:pPr indent="0" lvl="0" marL="0" rtl="0" algn="l">
              <a:spcBef>
                <a:spcPts val="0"/>
              </a:spcBef>
              <a:spcAft>
                <a:spcPts val="0"/>
              </a:spcAft>
              <a:buNone/>
            </a:pPr>
            <a:r>
              <a:t/>
            </a:r>
            <a:endParaRPr sz="1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213f9a79b_0_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b213f9a79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SKIP - for reference only</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display memory is organized as follows: for each digit, there are two bytes. The first byte is the seven bits of digit 1 and the decimal point. The second byte is the second 8 bits which we aren't using - so we always need to stick a 0 in there.</a:t>
            </a:r>
            <a:endParaRPr sz="1400">
              <a:solidFill>
                <a:schemeClr val="dk1"/>
              </a:solidFill>
            </a:endParaRPr>
          </a:p>
          <a:p>
            <a:pPr indent="0" lvl="0" marL="0" rtl="0" algn="l">
              <a:spcBef>
                <a:spcPts val="0"/>
              </a:spcBef>
              <a:spcAft>
                <a:spcPts val="0"/>
              </a:spcAft>
              <a:buNone/>
            </a:pPr>
            <a:r>
              <a:t/>
            </a:r>
            <a:endParaRPr sz="1400"/>
          </a:p>
          <a:p>
            <a:pPr indent="0" lvl="0" marL="0" rtl="0" algn="l">
              <a:spcBef>
                <a:spcPts val="0"/>
              </a:spcBef>
              <a:spcAft>
                <a:spcPts val="0"/>
              </a:spcAft>
              <a:buNone/>
            </a:pPr>
            <a:r>
              <a:rPr lang="en" sz="1400"/>
              <a:t>Example: activate the G segment of the first digit. That is 0b01000000 (the 1 is in the g slot). Then send 0b00000000 for the second byte which is always 0 in our case.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(Need to activate the common cathode for digit 1 (COMM0) and the common anode for all g segments (ROW6). Skip details…)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way to write the memory is you write the byte that is for the first digit, then a byte of zeros, then the byte for the second digit, then a byte of zeros, same for the second digit, then the colon, then the third, then the fourth digit. So altogether you write 10 bytes of data all in one i2c transaction. Each time you write a byte, it goes into the display memory and a pointer inside the controller advances. If you don't write the zeros, the pointer won't advance.</a:t>
            </a:r>
            <a:endParaRPr sz="1400"/>
          </a:p>
          <a:p>
            <a:pPr indent="0" lvl="0" marL="0" rtl="0" algn="l">
              <a:spcBef>
                <a:spcPts val="0"/>
              </a:spcBef>
              <a:spcAft>
                <a:spcPts val="0"/>
              </a:spcAft>
              <a:buNone/>
            </a:pPr>
            <a:r>
              <a:t/>
            </a:r>
            <a:endParaRPr sz="14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10fd94a8cb_0_1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10fd94a8c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Here is a fun exercise.</a:t>
            </a:r>
            <a:endParaRPr sz="15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d3a07ce34e_0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d3a07ce34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Many i2c devices have their own registers inside that are their own control and status registers. The way to access them is via various commands or sometimes via various addresses that you send to the device. The datasheet will tell you.</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Here: First need to get the attention of the device, so send the address, shifted left by 1. Next comes a command.</a:t>
            </a:r>
            <a:endParaRPr sz="1500"/>
          </a:p>
          <a:p>
            <a:pPr indent="0" lvl="0" marL="0" rtl="0" algn="l">
              <a:spcBef>
                <a:spcPts val="0"/>
              </a:spcBef>
              <a:spcAft>
                <a:spcPts val="0"/>
              </a:spcAft>
              <a:buNone/>
            </a:pPr>
            <a:r>
              <a:rPr lang="en" sz="1500"/>
              <a:t>0x21 turns on the oscillator.</a:t>
            </a:r>
            <a:endParaRPr sz="1500"/>
          </a:p>
          <a:p>
            <a:pPr indent="0" lvl="0" marL="0" rtl="0" algn="l">
              <a:spcBef>
                <a:spcPts val="0"/>
              </a:spcBef>
              <a:spcAft>
                <a:spcPts val="0"/>
              </a:spcAft>
              <a:buNone/>
            </a:pPr>
            <a:r>
              <a:rPr lang="en" sz="1500"/>
              <a:t>0x81 turns on the display, no blinking. </a:t>
            </a:r>
            <a:endParaRPr sz="1500"/>
          </a:p>
          <a:p>
            <a:pPr indent="0" lvl="0" marL="0" rtl="0" algn="l">
              <a:spcBef>
                <a:spcPts val="0"/>
              </a:spcBef>
              <a:spcAft>
                <a:spcPts val="0"/>
              </a:spcAft>
              <a:buNone/>
            </a:pPr>
            <a:r>
              <a:rPr lang="en" sz="1500"/>
              <a:t>0xEF turns on the display fully (no dimming).</a:t>
            </a:r>
            <a:endParaRPr sz="1500"/>
          </a:p>
          <a:p>
            <a:pPr indent="0" lvl="0" marL="0" rtl="0" algn="l">
              <a:spcBef>
                <a:spcPts val="0"/>
              </a:spcBef>
              <a:spcAft>
                <a:spcPts val="0"/>
              </a:spcAft>
              <a:buNone/>
            </a:pPr>
            <a:r>
              <a:t/>
            </a:r>
            <a:endParaRPr sz="15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b213f9a79b_0_1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b213f9a79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Many i2c devices have their own registers inside that are their own control and status registers. The way to access them is via various commands or sometimes via various addresses that you send to the device. The datasheet will tell you.</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Here: First need to get the attention of the device, so send the address, shifted left by 1. Next comes a command.</a:t>
            </a:r>
            <a:endParaRPr sz="1500"/>
          </a:p>
          <a:p>
            <a:pPr indent="0" lvl="0" marL="0" rtl="0" algn="l">
              <a:spcBef>
                <a:spcPts val="0"/>
              </a:spcBef>
              <a:spcAft>
                <a:spcPts val="0"/>
              </a:spcAft>
              <a:buNone/>
            </a:pPr>
            <a:r>
              <a:rPr lang="en" sz="1500"/>
              <a:t>0x21 turns on the oscillator.</a:t>
            </a:r>
            <a:endParaRPr sz="1500"/>
          </a:p>
          <a:p>
            <a:pPr indent="0" lvl="0" marL="0" rtl="0" algn="l">
              <a:spcBef>
                <a:spcPts val="0"/>
              </a:spcBef>
              <a:spcAft>
                <a:spcPts val="0"/>
              </a:spcAft>
              <a:buNone/>
            </a:pPr>
            <a:r>
              <a:rPr lang="en" sz="1500"/>
              <a:t>0x81 turns on the display, no blinking. </a:t>
            </a:r>
            <a:endParaRPr sz="1500"/>
          </a:p>
          <a:p>
            <a:pPr indent="0" lvl="0" marL="0" rtl="0" algn="l">
              <a:spcBef>
                <a:spcPts val="0"/>
              </a:spcBef>
              <a:spcAft>
                <a:spcPts val="0"/>
              </a:spcAft>
              <a:buNone/>
            </a:pPr>
            <a:r>
              <a:rPr lang="en" sz="1500"/>
              <a:t>0xEF turns on the display fully (no dimming).</a:t>
            </a:r>
            <a:endParaRPr sz="1500"/>
          </a:p>
          <a:p>
            <a:pPr indent="0" lvl="0" marL="0" rtl="0" algn="l">
              <a:spcBef>
                <a:spcPts val="0"/>
              </a:spcBef>
              <a:spcAft>
                <a:spcPts val="0"/>
              </a:spcAft>
              <a:buNone/>
            </a:pPr>
            <a:r>
              <a:t/>
            </a:r>
            <a:endParaRPr sz="15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11b4dc138b_0_2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11b4dc138b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If you send all zeros for the command right after the backpack address, that means you want to write the display memory (all of it). The 0x00 is really the start of the display memory. You could choose a different address here and only write some of the memory, but that's crazy complicated. We'll just write the whole thing.</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way display memory addresses are distinguished from commands on the previous page is that they all start with 0000.</a:t>
            </a:r>
            <a:endParaRPr sz="14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b213f9a79b_0_1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b213f9a79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d3e9d8e0da_0_2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d3e9d8e0da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b213f9a79b_0_1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b213f9a79b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bb1032d479_0_3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bb1032d479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bb1032d479_0_2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bb1032d47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You'll build the device driver!</a:t>
            </a:r>
            <a:endParaRPr sz="14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0b21dae8b3_0_2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p:txBody>
      </p:sp>
      <p:sp>
        <p:nvSpPr>
          <p:cNvPr id="658" name="Google Shape;658;g30b21dae8b3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0b21dae8b3_0_3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p:txBody>
      </p:sp>
      <p:sp>
        <p:nvSpPr>
          <p:cNvPr id="667" name="Google Shape;667;g30b21dae8b3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bb1032d479_0_3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bb1032d479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bb1032d479_0_3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bb1032d479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is a nice way to structure writing a device driver.</a:t>
            </a:r>
            <a:endParaRPr sz="1400"/>
          </a:p>
          <a:p>
            <a:pPr indent="0" lvl="0" marL="0" rtl="0" algn="l">
              <a:spcBef>
                <a:spcPts val="0"/>
              </a:spcBef>
              <a:spcAft>
                <a:spcPts val="0"/>
              </a:spcAft>
              <a:buNone/>
            </a:pPr>
            <a:r>
              <a:rPr lang="en" sz="1400"/>
              <a:t>You look at the datasheet and see there are different commands: enabling display, dimming, blinking, etc. Here those all are.</a:t>
            </a:r>
            <a:endParaRPr sz="1400"/>
          </a:p>
          <a:p>
            <a:pPr indent="0" lvl="0" marL="0" rtl="0" algn="l">
              <a:spcBef>
                <a:spcPts val="0"/>
              </a:spcBef>
              <a:spcAft>
                <a:spcPts val="0"/>
              </a:spcAft>
              <a:buNone/>
            </a:pPr>
            <a:r>
              <a:rPr lang="en" sz="1400"/>
              <a:t>Example: system setup is 0b0010000{s}, where s is 0 if oscillator off and 1 for oscillator off. So the system command by itself is just 0b00100000 = 0x20, and you OR that with 0x01 to turn the oscillator on. So you'd then use HT16K33_SYSTEM_CMD | HT16K33_OSC_ON: you can use the names rather than the numbers in your code.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All this is in your .h file.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Similar for brightness, display on/off, etc.</a:t>
            </a:r>
            <a:endParaRPr sz="140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bb1032d479_0_3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bb1032d479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These are the functions you'll need to write.</a:t>
            </a:r>
            <a:endParaRPr sz="1400"/>
          </a:p>
          <a:p>
            <a:pPr indent="0" lvl="0" marL="0" rtl="0" algn="l">
              <a:spcBef>
                <a:spcPts val="0"/>
              </a:spcBef>
              <a:spcAft>
                <a:spcPts val="0"/>
              </a:spcAft>
              <a:buNone/>
            </a:pPr>
            <a:r>
              <a:rPr lang="en" sz="1400"/>
              <a:t>SevenSseg_write() takes all the bits and writes them to the display memory. In your main code you define an array that you fill up with the numbers you want to send. You then pass the pointer to that array to the write function that loops through these numbers and sends them to the display memory.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Won't use arrays all that often but this is the time.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Also: you won't want to remember what </a:t>
            </a:r>
            <a:r>
              <a:rPr lang="en" sz="1400"/>
              <a:t>segments</a:t>
            </a:r>
            <a:r>
              <a:rPr lang="en" sz="1400"/>
              <a:t> to light up for a particular number. The function SevenSeg_number is passed a number num (a 4-digit number you wish to display) and it does the job for you of filling up the display array whose pointer is given to it.</a:t>
            </a:r>
            <a:endParaRPr sz="14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bb1032d479_0_4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bb1032d479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Download sevenseg.h and sevenseg_partial.c. Take a look and fill in the blanks. Finish the blink function and finish the dim function. Change the name to SevenSeg.c and stick it (with the .h file) into your mylib.</a:t>
            </a:r>
            <a:endParaRPr sz="140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f3e1ff8ac4_0_2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2f3e1ff8ac4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Download sevenseg.h and sevenseg_partial.c. Take a look and fill in the blanks. Finish the blink function and finish the dim function. Change the name to SevenSeg.c and stick it (with the .h file) into your mylib.</a:t>
            </a:r>
            <a:endParaRPr sz="1400"/>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bc32d0ffe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bc32d0ff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You can test your device driver with the file SevenSeg_test.c from Canvas. If you get this done today you are doing really well. Most likely you won't get any further.</a:t>
            </a:r>
            <a:endParaRPr sz="15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bb1032d479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bb1032d47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1a667ecccc9_0_2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1a667ecccc9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1a667ecccc9_0_2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1a667ecccc9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setup for lab 5.</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1" name="Google Shape;61;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5" name="Google Shape;6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3" name="Google Shape;73;p18"/>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4" name="Google Shape;7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20"/>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1" name="Google Shape;8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4" name="Google Shape;8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 name="Google Shape;88;p22"/>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90" name="Google Shape;9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7" name="Google Shape;9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6"/>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102" name="Google Shape;102;p26"/>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103" name="Google Shape;103;p26"/>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6"/>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7" name="Google Shape;57;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19.png"/><Relationship Id="rId5"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9.png"/><Relationship Id="rId6" Type="http://schemas.openxmlformats.org/officeDocument/2006/relationships/image" Target="../media/image31.png"/><Relationship Id="rId7" Type="http://schemas.openxmlformats.org/officeDocument/2006/relationships/image" Target="../media/image24.png"/><Relationship Id="rId8"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7"/>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110" name="Google Shape;110;p27"/>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10</a:t>
            </a:r>
            <a:endParaRPr sz="2800">
              <a:solidFill>
                <a:srgbClr val="595959"/>
              </a:solidFill>
              <a:latin typeface="Comic Sans MS"/>
              <a:ea typeface="Comic Sans MS"/>
              <a:cs typeface="Comic Sans MS"/>
              <a:sym typeface="Comic Sans MS"/>
            </a:endParaRPr>
          </a:p>
        </p:txBody>
      </p:sp>
      <p:pic>
        <p:nvPicPr>
          <p:cNvPr id="111" name="Google Shape;111;p27"/>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112" name="Google Shape;112;p27"/>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18" name="Google Shape;118;p2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interrupt design reviews</a:t>
            </a:r>
            <a:endParaRPr/>
          </a:p>
          <a:p>
            <a:pPr indent="0" lvl="0" marL="0" rtl="0" algn="l">
              <a:spcBef>
                <a:spcPts val="1600"/>
              </a:spcBef>
              <a:spcAft>
                <a:spcPts val="0"/>
              </a:spcAft>
              <a:buNone/>
            </a:pPr>
            <a:r>
              <a:rPr lang="en"/>
              <a:t>Device driver for the four-digit display</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Homework from Tuesday</a:t>
            </a:r>
            <a:endParaRPr/>
          </a:p>
        </p:txBody>
      </p:sp>
      <p:sp>
        <p:nvSpPr>
          <p:cNvPr id="124" name="Google Shape;124;p2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AutoNum type="arabicPeriod"/>
            </a:pPr>
            <a:r>
              <a:rPr lang="en" sz="1600"/>
              <a:t>Counter with timer and</a:t>
            </a:r>
            <a:r>
              <a:rPr lang="en" sz="1600"/>
              <a:t> reset: </a:t>
            </a:r>
            <a:r>
              <a:rPr lang="en" sz="1600"/>
              <a:t>Modify counterResetButtonInt to use a timer instead of a delay_ms(). Set the update period to 1 sec.</a:t>
            </a:r>
            <a:endParaRPr sz="1600"/>
          </a:p>
          <a:p>
            <a:pPr indent="-330200" lvl="0" marL="457200" rtl="0" algn="l">
              <a:lnSpc>
                <a:spcPct val="115000"/>
              </a:lnSpc>
              <a:spcBef>
                <a:spcPts val="1000"/>
              </a:spcBef>
              <a:spcAft>
                <a:spcPts val="0"/>
              </a:spcAft>
              <a:buSzPts val="1600"/>
              <a:buAutoNum type="arabicPeriod"/>
            </a:pPr>
            <a:r>
              <a:rPr lang="en" sz="1600"/>
              <a:t>Rewrite ADCPot.c, taking a measurement every second, using a timer instead of delay_ms().</a:t>
            </a:r>
            <a:endParaRPr sz="1600"/>
          </a:p>
          <a:p>
            <a:pPr indent="-330200" lvl="0" marL="457200" rtl="0" algn="l">
              <a:lnSpc>
                <a:spcPct val="115000"/>
              </a:lnSpc>
              <a:spcBef>
                <a:spcPts val="1000"/>
              </a:spcBef>
              <a:spcAft>
                <a:spcPts val="0"/>
              </a:spcAft>
              <a:buSzPts val="1600"/>
              <a:buAutoNum type="arabicPeriod"/>
            </a:pPr>
            <a:r>
              <a:rPr lang="en" sz="1600">
                <a:solidFill>
                  <a:schemeClr val="dk1"/>
                </a:solidFill>
              </a:rPr>
              <a:t>Blinky with T</a:t>
            </a:r>
            <a:r>
              <a:rPr baseline="-25000" lang="en" sz="1600">
                <a:solidFill>
                  <a:schemeClr val="dk1"/>
                </a:solidFill>
              </a:rPr>
              <a:t>on</a:t>
            </a:r>
            <a:r>
              <a:rPr lang="en" sz="1600">
                <a:solidFill>
                  <a:schemeClr val="dk1"/>
                </a:solidFill>
              </a:rPr>
              <a:t> ≠ T</a:t>
            </a:r>
            <a:r>
              <a:rPr baseline="-25000" lang="en" sz="1600">
                <a:solidFill>
                  <a:schemeClr val="dk1"/>
                </a:solidFill>
              </a:rPr>
              <a:t>off</a:t>
            </a:r>
            <a:endParaRPr baseline="-25000" sz="1600">
              <a:solidFill>
                <a:schemeClr val="dk1"/>
              </a:solidFill>
            </a:endParaRPr>
          </a:p>
          <a:p>
            <a:pPr indent="0" lvl="0" marL="457200" rtl="0" algn="l">
              <a:lnSpc>
                <a:spcPct val="115000"/>
              </a:lnSpc>
              <a:spcBef>
                <a:spcPts val="1000"/>
              </a:spcBef>
              <a:spcAft>
                <a:spcPts val="0"/>
              </a:spcAft>
              <a:buNone/>
            </a:pPr>
            <a:r>
              <a:t/>
            </a:r>
            <a:endParaRPr sz="1600"/>
          </a:p>
          <a:p>
            <a:pPr indent="0" lvl="0" marL="0" rtl="0" algn="ctr">
              <a:lnSpc>
                <a:spcPct val="115000"/>
              </a:lnSpc>
              <a:spcBef>
                <a:spcPts val="1000"/>
              </a:spcBef>
              <a:spcAft>
                <a:spcPts val="1000"/>
              </a:spcAft>
              <a:buNone/>
            </a:pPr>
            <a:r>
              <a:rPr lang="en" sz="1600">
                <a:solidFill>
                  <a:srgbClr val="0000FF"/>
                </a:solidFill>
              </a:rPr>
              <a:t>Demonstrate your </a:t>
            </a:r>
            <a:r>
              <a:rPr b="1" lang="en" sz="1600">
                <a:solidFill>
                  <a:srgbClr val="0000FF"/>
                </a:solidFill>
              </a:rPr>
              <a:t>counter with timer and reset</a:t>
            </a:r>
            <a:r>
              <a:rPr lang="en" sz="1600">
                <a:solidFill>
                  <a:srgbClr val="0000FF"/>
                </a:solidFill>
              </a:rPr>
              <a:t> and discuss with your table partners.</a:t>
            </a:r>
            <a:endParaRPr sz="1600">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0"/>
          <p:cNvSpPr txBox="1"/>
          <p:nvPr>
            <p:ph type="title"/>
          </p:nvPr>
        </p:nvSpPr>
        <p:spPr>
          <a:xfrm>
            <a:off x="311700" y="146155"/>
            <a:ext cx="8520600" cy="12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asked chatGPT and Gemini to do the counter with timer reset assignment for me…</a:t>
            </a:r>
            <a:endParaRPr/>
          </a:p>
        </p:txBody>
      </p:sp>
      <p:sp>
        <p:nvSpPr>
          <p:cNvPr id="130" name="Google Shape;130;p3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With your group, pick one of the two solutions and study it.</a:t>
            </a:r>
            <a:endParaRPr/>
          </a:p>
          <a:p>
            <a:pPr indent="-342900" lvl="0" marL="457200" rtl="0" algn="l">
              <a:spcBef>
                <a:spcPts val="0"/>
              </a:spcBef>
              <a:spcAft>
                <a:spcPts val="0"/>
              </a:spcAft>
              <a:buSzPts val="1800"/>
              <a:buChar char="●"/>
            </a:pPr>
            <a:r>
              <a:rPr lang="en"/>
              <a:t>Do you see advantages over your own solution?</a:t>
            </a:r>
            <a:endParaRPr/>
          </a:p>
          <a:p>
            <a:pPr indent="-342900" lvl="0" marL="457200" rtl="0" algn="l">
              <a:spcBef>
                <a:spcPts val="0"/>
              </a:spcBef>
              <a:spcAft>
                <a:spcPts val="0"/>
              </a:spcAft>
              <a:buSzPts val="1800"/>
              <a:buChar char="●"/>
            </a:pPr>
            <a:r>
              <a:rPr lang="en"/>
              <a:t>Do you see problematic parts in the solution?</a:t>
            </a:r>
            <a:endParaRPr/>
          </a:p>
          <a:p>
            <a:pPr indent="-342900" lvl="0" marL="457200" rtl="0" algn="l">
              <a:spcBef>
                <a:spcPts val="0"/>
              </a:spcBef>
              <a:spcAft>
                <a:spcPts val="0"/>
              </a:spcAft>
              <a:buSzPts val="1800"/>
              <a:buChar char="●"/>
            </a:pPr>
            <a:r>
              <a:rPr lang="en"/>
              <a:t>Would you revise your solution, having seen this one?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1"/>
          <p:cNvSpPr txBox="1"/>
          <p:nvPr/>
        </p:nvSpPr>
        <p:spPr>
          <a:xfrm>
            <a:off x="122150" y="33450"/>
            <a:ext cx="4177200" cy="6791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counterResetButtonIntTimerChatGPT.c</a:t>
            </a:r>
            <a:endParaRPr b="1" sz="1200">
              <a:solidFill>
                <a:schemeClr val="dk1"/>
              </a:solidFill>
              <a:highlight>
                <a:srgbClr val="FFFFFF"/>
              </a:highlight>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buttonPushed;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timerElapsed;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"Counter demo\r\n"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buttonPushed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timerElapsed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(1)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(timerElapsed)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timerElapsed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latin typeface="Courier New"/>
                <a:ea typeface="Courier New"/>
                <a:cs typeface="Courier New"/>
                <a:sym typeface="Courier New"/>
              </a:rPr>
              <a:t>if</a:t>
            </a:r>
            <a:r>
              <a:rPr b="1" lang="en" sz="1100">
                <a:solidFill>
                  <a:schemeClr val="dk1"/>
                </a:solidFill>
                <a:latin typeface="Courier New"/>
                <a:ea typeface="Courier New"/>
                <a:cs typeface="Courier New"/>
                <a:sym typeface="Courier New"/>
              </a:rPr>
              <a:t> (buttonPushed) {</a:t>
            </a:r>
            <a:endParaRPr b="1" sz="11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latin typeface="Courier New"/>
                <a:ea typeface="Courier New"/>
                <a:cs typeface="Courier New"/>
                <a:sym typeface="Courier New"/>
              </a:rPr>
              <a:t>        counter = 0;</a:t>
            </a:r>
            <a:endParaRPr b="1" sz="11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latin typeface="Courier New"/>
                <a:ea typeface="Courier New"/>
                <a:cs typeface="Courier New"/>
                <a:sym typeface="Courier New"/>
              </a:rPr>
              <a:t>        buttonPushed = 0;</a:t>
            </a:r>
            <a:endParaRPr b="1" sz="11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 </a:t>
            </a:r>
            <a:r>
              <a:rPr b="1" lang="en" sz="1100">
                <a:solidFill>
                  <a:srgbClr val="7F0055"/>
                </a:solidFill>
                <a:latin typeface="Courier New"/>
                <a:ea typeface="Courier New"/>
                <a:cs typeface="Courier New"/>
                <a:sym typeface="Courier New"/>
              </a:rPr>
              <a:t>else</a:t>
            </a:r>
            <a:r>
              <a:rPr b="1" lang="en" sz="1100">
                <a:solidFill>
                  <a:schemeClr val="dk1"/>
                </a:solidFill>
                <a:latin typeface="Courier New"/>
                <a:ea typeface="Courier New"/>
                <a:cs typeface="Courier New"/>
                <a:sym typeface="Courier New"/>
              </a:rPr>
              <a:t> </a:t>
            </a:r>
            <a:r>
              <a:rPr b="1" lang="en" sz="1100">
                <a:solidFill>
                  <a:srgbClr val="7F0055"/>
                </a:solidFill>
                <a:latin typeface="Courier New"/>
                <a:ea typeface="Courier New"/>
                <a:cs typeface="Courier New"/>
                <a:sym typeface="Courier New"/>
              </a:rPr>
              <a:t>if</a:t>
            </a:r>
            <a:r>
              <a:rPr b="1" lang="en" sz="1100">
                <a:solidFill>
                  <a:schemeClr val="dk1"/>
                </a:solidFill>
                <a:latin typeface="Courier New"/>
                <a:ea typeface="Courier New"/>
                <a:cs typeface="Courier New"/>
                <a:sym typeface="Courier New"/>
              </a:rPr>
              <a:t> (counter == MAXCOUNT - 1) {</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counter = 0;</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136" name="Google Shape;136;p31"/>
          <p:cNvSpPr txBox="1"/>
          <p:nvPr/>
        </p:nvSpPr>
        <p:spPr>
          <a:xfrm>
            <a:off x="4299400" y="833425"/>
            <a:ext cx="4755900" cy="59910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TIM_SR_UIF)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latin typeface="Courier New"/>
                <a:ea typeface="Courier New"/>
                <a:cs typeface="Courier New"/>
                <a:sym typeface="Courier New"/>
              </a:rPr>
              <a:t>&amp;</a:t>
            </a:r>
            <a:r>
              <a:rPr b="1" lang="en" sz="1100">
                <a:solidFill>
                  <a:schemeClr val="dk1"/>
                </a:solidFill>
                <a:highlight>
                  <a:srgbClr val="FFFFFF"/>
                </a:highlight>
                <a:latin typeface="Courier New"/>
                <a:ea typeface="Courier New"/>
                <a:cs typeface="Courier New"/>
                <a:sym typeface="Courier New"/>
              </a:rPr>
              <a:t>= ~TIM_SR_UIF; </a:t>
            </a:r>
            <a:r>
              <a:rPr b="1" lang="en" sz="1100">
                <a:solidFill>
                  <a:srgbClr val="3F7F5F"/>
                </a:solidFill>
                <a:highlight>
                  <a:srgbClr val="FFFFFF"/>
                </a:highlight>
                <a:latin typeface="Courier New"/>
                <a:ea typeface="Courier New"/>
                <a:cs typeface="Courier New"/>
                <a:sym typeface="Courier New"/>
              </a:rPr>
              <a:t>// Clear PR flag</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timerElapsed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RCC_APBENR2_TIM14EN;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PSC</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latin typeface="Courier New"/>
                <a:ea typeface="Courier New"/>
                <a:cs typeface="Courier New"/>
                <a:sym typeface="Courier New"/>
              </a:rPr>
              <a:t>48000</a:t>
            </a:r>
            <a:r>
              <a:rPr b="1" lang="en" sz="1100">
                <a:solidFill>
                  <a:schemeClr val="dk1"/>
                </a:solidFill>
                <a:highlight>
                  <a:srgbClr val="FFFFFF"/>
                </a:highlight>
                <a:latin typeface="Courier New"/>
                <a:ea typeface="Courier New"/>
                <a:cs typeface="Courier New"/>
                <a:sym typeface="Courier New"/>
              </a:rPr>
              <a:t>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1000 - 1;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~TIM_SR_UIF;</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DIER</a:t>
            </a:r>
            <a:r>
              <a:rPr b="1" lang="en" sz="1100">
                <a:solidFill>
                  <a:schemeClr val="dk1"/>
                </a:solidFill>
                <a:highlight>
                  <a:srgbClr val="FFFFFF"/>
                </a:highlight>
                <a:latin typeface="Courier New"/>
                <a:ea typeface="Courier New"/>
                <a:cs typeface="Courier New"/>
                <a:sym typeface="Courier New"/>
              </a:rPr>
              <a:t> |= TIM_DIER_UIE;</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TIM14_IRQn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CR1</a:t>
            </a:r>
            <a:r>
              <a:rPr b="1" lang="en" sz="1100">
                <a:solidFill>
                  <a:schemeClr val="dk1"/>
                </a:solidFill>
                <a:highlight>
                  <a:srgbClr val="FFFFFF"/>
                </a:highlight>
                <a:latin typeface="Courier New"/>
                <a:ea typeface="Courier New"/>
                <a:cs typeface="Courier New"/>
                <a:sym typeface="Courier New"/>
              </a:rPr>
              <a:t> |= TIM_CR1_CEN;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EXTI4_15_IRQHandler(</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137" name="Google Shape;137;p31"/>
          <p:cNvSpPr txBox="1"/>
          <p:nvPr>
            <p:ph idx="4294967295" type="title"/>
          </p:nvPr>
        </p:nvSpPr>
        <p:spPr>
          <a:xfrm>
            <a:off x="4210450" y="164425"/>
            <a:ext cx="4933800" cy="6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 with reset - </a:t>
            </a:r>
            <a:r>
              <a:rPr lang="en">
                <a:highlight>
                  <a:srgbClr val="FFFF00"/>
                </a:highlight>
              </a:rPr>
              <a:t>ChatGPT</a:t>
            </a:r>
            <a:endParaRPr>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2"/>
          <p:cNvSpPr txBox="1"/>
          <p:nvPr/>
        </p:nvSpPr>
        <p:spPr>
          <a:xfrm>
            <a:off x="122150" y="33450"/>
            <a:ext cx="4177200" cy="6791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counterResetButtonIntTimerChatGPT.c</a:t>
            </a:r>
            <a:endParaRPr b="1" sz="1200">
              <a:solidFill>
                <a:schemeClr val="dk1"/>
              </a:solidFill>
              <a:highlight>
                <a:srgbClr val="FFFFFF"/>
              </a:highlight>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buttonPushed;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timerElapsed;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"Counter demo\r\n"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buttonPushed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timerElapsed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(1)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(timerElapsed)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timerElapsed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4CCCC"/>
                </a:highlight>
                <a:latin typeface="Courier New"/>
                <a:ea typeface="Courier New"/>
                <a:cs typeface="Courier New"/>
                <a:sym typeface="Courier New"/>
              </a:rPr>
              <a:t>if</a:t>
            </a:r>
            <a:r>
              <a:rPr b="1" lang="en" sz="1100">
                <a:solidFill>
                  <a:schemeClr val="dk1"/>
                </a:solidFill>
                <a:highlight>
                  <a:srgbClr val="F4CCCC"/>
                </a:highlight>
                <a:latin typeface="Courier New"/>
                <a:ea typeface="Courier New"/>
                <a:cs typeface="Courier New"/>
                <a:sym typeface="Courier New"/>
              </a:rPr>
              <a:t> (buttonPushed) {</a:t>
            </a:r>
            <a:endParaRPr b="1" sz="1100">
              <a:solidFill>
                <a:schemeClr val="dk1"/>
              </a:solidFill>
              <a:highlight>
                <a:srgbClr val="F4CCC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counter = 0;</a:t>
            </a:r>
            <a:endParaRPr b="1" sz="1100">
              <a:solidFill>
                <a:schemeClr val="dk1"/>
              </a:solidFill>
              <a:highlight>
                <a:srgbClr val="F4CCC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buttonPushed = 0;</a:t>
            </a:r>
            <a:endParaRPr b="1" sz="1100">
              <a:solidFill>
                <a:schemeClr val="dk1"/>
              </a:solidFill>
              <a:highlight>
                <a:srgbClr val="F4CCC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 </a:t>
            </a:r>
            <a:r>
              <a:rPr b="1" lang="en" sz="1100">
                <a:solidFill>
                  <a:srgbClr val="7F0055"/>
                </a:solidFill>
                <a:highlight>
                  <a:srgbClr val="F4CCCC"/>
                </a:highlight>
                <a:latin typeface="Courier New"/>
                <a:ea typeface="Courier New"/>
                <a:cs typeface="Courier New"/>
                <a:sym typeface="Courier New"/>
              </a:rPr>
              <a:t>else</a:t>
            </a:r>
            <a:r>
              <a:rPr b="1" lang="en" sz="1100">
                <a:solidFill>
                  <a:schemeClr val="dk1"/>
                </a:solidFill>
                <a:highlight>
                  <a:srgbClr val="F4CCCC"/>
                </a:highlight>
                <a:latin typeface="Courier New"/>
                <a:ea typeface="Courier New"/>
                <a:cs typeface="Courier New"/>
                <a:sym typeface="Courier New"/>
              </a:rPr>
              <a:t> </a:t>
            </a:r>
            <a:r>
              <a:rPr b="1" lang="en" sz="1100">
                <a:solidFill>
                  <a:srgbClr val="7F0055"/>
                </a:solidFill>
                <a:highlight>
                  <a:srgbClr val="F4CCCC"/>
                </a:highlight>
                <a:latin typeface="Courier New"/>
                <a:ea typeface="Courier New"/>
                <a:cs typeface="Courier New"/>
                <a:sym typeface="Courier New"/>
              </a:rPr>
              <a:t>if</a:t>
            </a:r>
            <a:r>
              <a:rPr b="1" lang="en" sz="1100">
                <a:solidFill>
                  <a:schemeClr val="dk1"/>
                </a:solidFill>
                <a:highlight>
                  <a:srgbClr val="F4CCCC"/>
                </a:highlight>
                <a:latin typeface="Courier New"/>
                <a:ea typeface="Courier New"/>
                <a:cs typeface="Courier New"/>
                <a:sym typeface="Courier New"/>
              </a:rPr>
              <a:t> (counter == MAXCOUNT - 1) {</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counter = 0;</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143" name="Google Shape;143;p32"/>
          <p:cNvSpPr txBox="1"/>
          <p:nvPr/>
        </p:nvSpPr>
        <p:spPr>
          <a:xfrm>
            <a:off x="4299400" y="833425"/>
            <a:ext cx="4755900" cy="59910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TIM_SR_UIF)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&amp;</a:t>
            </a:r>
            <a:r>
              <a:rPr b="1" lang="en" sz="1100">
                <a:solidFill>
                  <a:schemeClr val="dk1"/>
                </a:solidFill>
                <a:highlight>
                  <a:srgbClr val="FFFFFF"/>
                </a:highlight>
                <a:latin typeface="Courier New"/>
                <a:ea typeface="Courier New"/>
                <a:cs typeface="Courier New"/>
                <a:sym typeface="Courier New"/>
              </a:rPr>
              <a:t>= ~TIM_SR_UIF; </a:t>
            </a:r>
            <a:r>
              <a:rPr b="1" lang="en" sz="1100">
                <a:solidFill>
                  <a:srgbClr val="3F7F5F"/>
                </a:solidFill>
                <a:highlight>
                  <a:srgbClr val="FFFFFF"/>
                </a:highlight>
                <a:latin typeface="Courier New"/>
                <a:ea typeface="Courier New"/>
                <a:cs typeface="Courier New"/>
                <a:sym typeface="Courier New"/>
              </a:rPr>
              <a:t>// Clear PR flag</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timerElapsed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RCC_APBENR2_TIM14EN;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PSC</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highlight>
                  <a:srgbClr val="F4CCCC"/>
                </a:highlight>
                <a:latin typeface="Courier New"/>
                <a:ea typeface="Courier New"/>
                <a:cs typeface="Courier New"/>
                <a:sym typeface="Courier New"/>
              </a:rPr>
              <a:t>48000</a:t>
            </a:r>
            <a:r>
              <a:rPr b="1" lang="en" sz="1100">
                <a:solidFill>
                  <a:schemeClr val="dk1"/>
                </a:solidFill>
                <a:highlight>
                  <a:srgbClr val="FFFFFF"/>
                </a:highlight>
                <a:latin typeface="Courier New"/>
                <a:ea typeface="Courier New"/>
                <a:cs typeface="Courier New"/>
                <a:sym typeface="Courier New"/>
              </a:rPr>
              <a:t>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1000 - 1;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&amp;</a:t>
            </a:r>
            <a:r>
              <a:rPr b="1" lang="en" sz="1100">
                <a:solidFill>
                  <a:schemeClr val="dk1"/>
                </a:solidFill>
                <a:highlight>
                  <a:srgbClr val="FFFFFF"/>
                </a:highlight>
                <a:latin typeface="Courier New"/>
                <a:ea typeface="Courier New"/>
                <a:cs typeface="Courier New"/>
                <a:sym typeface="Courier New"/>
              </a:rPr>
              <a:t>= ~TIM_SR_UIF;</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DIER</a:t>
            </a:r>
            <a:r>
              <a:rPr b="1" lang="en" sz="1100">
                <a:solidFill>
                  <a:schemeClr val="dk1"/>
                </a:solidFill>
                <a:highlight>
                  <a:srgbClr val="FFFFFF"/>
                </a:highlight>
                <a:latin typeface="Courier New"/>
                <a:ea typeface="Courier New"/>
                <a:cs typeface="Courier New"/>
                <a:sym typeface="Courier New"/>
              </a:rPr>
              <a:t> |= TIM_DIER_UIE;</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TIM14_IRQn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CR1</a:t>
            </a:r>
            <a:r>
              <a:rPr b="1" lang="en" sz="1100">
                <a:solidFill>
                  <a:schemeClr val="dk1"/>
                </a:solidFill>
                <a:highlight>
                  <a:srgbClr val="FFFFFF"/>
                </a:highlight>
                <a:latin typeface="Courier New"/>
                <a:ea typeface="Courier New"/>
                <a:cs typeface="Courier New"/>
                <a:sym typeface="Courier New"/>
              </a:rPr>
              <a:t> |= TIM_CR1_CEN;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EXTI4_15_IRQHandler(</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p:txBody>
      </p:sp>
      <p:sp>
        <p:nvSpPr>
          <p:cNvPr id="144" name="Google Shape;144;p32"/>
          <p:cNvSpPr txBox="1"/>
          <p:nvPr>
            <p:ph idx="4294967295" type="title"/>
          </p:nvPr>
        </p:nvSpPr>
        <p:spPr>
          <a:xfrm>
            <a:off x="4210450" y="164425"/>
            <a:ext cx="4933800" cy="6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 with reset - </a:t>
            </a:r>
            <a:r>
              <a:rPr lang="en">
                <a:highlight>
                  <a:srgbClr val="FFFF00"/>
                </a:highlight>
              </a:rPr>
              <a:t>ChatGPT</a:t>
            </a:r>
            <a:endParaRPr>
              <a:highlight>
                <a:srgbClr val="FFFF00"/>
              </a:highlight>
            </a:endParaRPr>
          </a:p>
        </p:txBody>
      </p:sp>
      <p:sp>
        <p:nvSpPr>
          <p:cNvPr id="145" name="Google Shape;145;p32"/>
          <p:cNvSpPr txBox="1"/>
          <p:nvPr/>
        </p:nvSpPr>
        <p:spPr>
          <a:xfrm>
            <a:off x="1725275" y="5722200"/>
            <a:ext cx="2358000" cy="10158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Only checked when timer elapsed - could miss button presses</a:t>
            </a:r>
            <a:endParaRPr sz="1800">
              <a:solidFill>
                <a:schemeClr val="dk2"/>
              </a:solidFill>
            </a:endParaRPr>
          </a:p>
        </p:txBody>
      </p:sp>
      <p:sp>
        <p:nvSpPr>
          <p:cNvPr id="146" name="Google Shape;146;p32"/>
          <p:cNvSpPr txBox="1"/>
          <p:nvPr/>
        </p:nvSpPr>
        <p:spPr>
          <a:xfrm>
            <a:off x="6950475" y="1546450"/>
            <a:ext cx="1787700" cy="7389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Should use only "="</a:t>
            </a:r>
            <a:endParaRPr sz="1800">
              <a:solidFill>
                <a:schemeClr val="dk2"/>
              </a:solidFill>
            </a:endParaRPr>
          </a:p>
        </p:txBody>
      </p:sp>
      <p:sp>
        <p:nvSpPr>
          <p:cNvPr id="147" name="Google Shape;147;p32"/>
          <p:cNvSpPr txBox="1"/>
          <p:nvPr/>
        </p:nvSpPr>
        <p:spPr>
          <a:xfrm>
            <a:off x="7236700" y="2748225"/>
            <a:ext cx="1650300" cy="7389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Incorrect clock speed</a:t>
            </a:r>
            <a:endParaRPr sz="1800">
              <a:solidFill>
                <a:schemeClr val="dk2"/>
              </a:solidFill>
            </a:endParaRPr>
          </a:p>
        </p:txBody>
      </p:sp>
      <p:sp>
        <p:nvSpPr>
          <p:cNvPr id="148" name="Google Shape;148;p32"/>
          <p:cNvSpPr txBox="1"/>
          <p:nvPr/>
        </p:nvSpPr>
        <p:spPr>
          <a:xfrm>
            <a:off x="7236700" y="3658125"/>
            <a:ext cx="1650300" cy="12930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Not zeroing counter - will start at a random place</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nvSpPr>
        <p:spPr>
          <a:xfrm>
            <a:off x="122150" y="33450"/>
            <a:ext cx="4177200" cy="6791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counterResetButtonIntTimerChatGPT.c</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buttonPushed;</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i</a:t>
            </a:r>
            <a:r>
              <a:rPr b="1" lang="en" sz="1100">
                <a:solidFill>
                  <a:srgbClr val="7F0055"/>
                </a:solidFill>
                <a:highlight>
                  <a:srgbClr val="FFFFFF"/>
                </a:highlight>
                <a:latin typeface="Courier New"/>
                <a:ea typeface="Courier New"/>
                <a:cs typeface="Courier New"/>
                <a:sym typeface="Courier New"/>
              </a:rPr>
              <a:t>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Initialize peripherals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buttonPushed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"Counter …\r\n"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latin typeface="Courier New"/>
                <a:ea typeface="Courier New"/>
                <a:cs typeface="Courier New"/>
                <a:sym typeface="Courier New"/>
              </a:rPr>
              <a:t>(TIM14-&gt;</a:t>
            </a:r>
            <a:r>
              <a:rPr b="1" lang="en" sz="1100">
                <a:solidFill>
                  <a:srgbClr val="0000C0"/>
                </a:solidFill>
                <a:latin typeface="Courier New"/>
                <a:ea typeface="Courier New"/>
                <a:cs typeface="Courier New"/>
                <a:sym typeface="Courier New"/>
              </a:rPr>
              <a:t>SR</a:t>
            </a:r>
            <a:r>
              <a:rPr b="1" lang="en" sz="1100">
                <a:solidFill>
                  <a:schemeClr val="dk1"/>
                </a:solidFill>
                <a:latin typeface="Courier New"/>
                <a:ea typeface="Courier New"/>
                <a:cs typeface="Courier New"/>
                <a:sym typeface="Courier New"/>
              </a:rPr>
              <a:t> &amp; TIM_SR_UIF) </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~TIM_SR_UIF; </a:t>
            </a:r>
            <a:r>
              <a:rPr b="1" lang="en" sz="1100">
                <a:solidFill>
                  <a:srgbClr val="3F7F5F"/>
                </a:solidFill>
                <a:highlight>
                  <a:srgbClr val="FFFFFF"/>
                </a:highlight>
                <a:latin typeface="Courier New"/>
                <a:ea typeface="Courier New"/>
                <a:cs typeface="Courier New"/>
                <a:sym typeface="Courier New"/>
              </a:rPr>
              <a:t>// lear PR flag</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Logic for counting and button reset</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latin typeface="Courier New"/>
                <a:ea typeface="Courier New"/>
                <a:cs typeface="Courier New"/>
                <a:sym typeface="Courier New"/>
              </a:rPr>
              <a:t>if</a:t>
            </a:r>
            <a:r>
              <a:rPr b="1" lang="en" sz="1100">
                <a:solidFill>
                  <a:schemeClr val="dk1"/>
                </a:solidFill>
                <a:latin typeface="Courier New"/>
                <a:ea typeface="Courier New"/>
                <a:cs typeface="Courier New"/>
                <a:sym typeface="Courier New"/>
              </a:rPr>
              <a:t> (buttonPushed) {</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counter = 0;</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buttonPushed = 0;</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 </a:t>
            </a:r>
            <a:r>
              <a:rPr b="1" lang="en" sz="1100">
                <a:solidFill>
                  <a:srgbClr val="7F0055"/>
                </a:solidFill>
                <a:latin typeface="Courier New"/>
                <a:ea typeface="Courier New"/>
                <a:cs typeface="Courier New"/>
                <a:sym typeface="Courier New"/>
              </a:rPr>
              <a:t>else</a:t>
            </a:r>
            <a:r>
              <a:rPr b="1" lang="en" sz="1100">
                <a:solidFill>
                  <a:schemeClr val="dk1"/>
                </a:solidFill>
                <a:latin typeface="Courier New"/>
                <a:ea typeface="Courier New"/>
                <a:cs typeface="Courier New"/>
                <a:sym typeface="Courier New"/>
              </a:rPr>
              <a:t> </a:t>
            </a:r>
            <a:r>
              <a:rPr b="1" lang="en" sz="1100">
                <a:solidFill>
                  <a:srgbClr val="7F0055"/>
                </a:solidFill>
                <a:latin typeface="Courier New"/>
                <a:ea typeface="Courier New"/>
                <a:cs typeface="Courier New"/>
                <a:sym typeface="Courier New"/>
              </a:rPr>
              <a:t>if</a:t>
            </a:r>
            <a:r>
              <a:rPr b="1" lang="en" sz="1100">
                <a:solidFill>
                  <a:schemeClr val="dk1"/>
                </a:solidFill>
                <a:latin typeface="Courier New"/>
                <a:ea typeface="Courier New"/>
                <a:cs typeface="Courier New"/>
                <a:sym typeface="Courier New"/>
              </a:rPr>
              <a:t> (counter &gt;= MAXCOUNT - 1) {</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latin typeface="Courier New"/>
                <a:ea typeface="Courier New"/>
                <a:cs typeface="Courier New"/>
                <a:sym typeface="Courier New"/>
              </a:rPr>
              <a:t>        counter = 0;</a:t>
            </a:r>
            <a:endParaRPr b="1"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154" name="Google Shape;154;p33"/>
          <p:cNvSpPr txBox="1"/>
          <p:nvPr/>
        </p:nvSpPr>
        <p:spPr>
          <a:xfrm>
            <a:off x="4391825" y="1447350"/>
            <a:ext cx="4663500" cy="3584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RCC_APBENR2_TIM14EN;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PSC</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latin typeface="Courier New"/>
                <a:ea typeface="Courier New"/>
                <a:cs typeface="Courier New"/>
                <a:sym typeface="Courier New"/>
              </a:rPr>
              <a:t>16000 </a:t>
            </a:r>
            <a:r>
              <a:rPr b="1" lang="en" sz="1100">
                <a:solidFill>
                  <a:schemeClr val="dk1"/>
                </a:solidFill>
                <a:highlight>
                  <a:srgbClr val="FFFFFF"/>
                </a:highlight>
                <a:latin typeface="Courier New"/>
                <a:ea typeface="Courier New"/>
                <a:cs typeface="Courier New"/>
                <a:sym typeface="Courier New"/>
              </a:rPr>
              <a:t>- 1;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1000 - 1;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EGR</a:t>
            </a:r>
            <a:r>
              <a:rPr b="1" lang="en" sz="1100">
                <a:solidFill>
                  <a:schemeClr val="dk1"/>
                </a:solidFill>
                <a:highlight>
                  <a:srgbClr val="FFFFFF"/>
                </a:highlight>
                <a:latin typeface="Courier New"/>
                <a:ea typeface="Courier New"/>
                <a:cs typeface="Courier New"/>
                <a:sym typeface="Courier New"/>
              </a:rPr>
              <a:t> |= TIM_EGR_UG;</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CR1</a:t>
            </a:r>
            <a:r>
              <a:rPr b="1" lang="en" sz="1100">
                <a:solidFill>
                  <a:schemeClr val="dk1"/>
                </a:solidFill>
                <a:highlight>
                  <a:srgbClr val="FFFFFF"/>
                </a:highlight>
                <a:latin typeface="Courier New"/>
                <a:ea typeface="Courier New"/>
                <a:cs typeface="Courier New"/>
                <a:sym typeface="Courier New"/>
              </a:rPr>
              <a:t> |= TIM_CR1_CEN;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EXTI4_15_IRQHandler(</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155" name="Google Shape;155;p33"/>
          <p:cNvSpPr txBox="1"/>
          <p:nvPr>
            <p:ph idx="4294967295" type="title"/>
          </p:nvPr>
        </p:nvSpPr>
        <p:spPr>
          <a:xfrm>
            <a:off x="4210450" y="164425"/>
            <a:ext cx="4933800" cy="6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 with reset - </a:t>
            </a:r>
            <a:r>
              <a:rPr lang="en">
                <a:highlight>
                  <a:srgbClr val="FFFF00"/>
                </a:highlight>
              </a:rPr>
              <a:t>Gemini</a:t>
            </a:r>
            <a:endParaRPr>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4"/>
          <p:cNvSpPr txBox="1"/>
          <p:nvPr/>
        </p:nvSpPr>
        <p:spPr>
          <a:xfrm>
            <a:off x="122150" y="33450"/>
            <a:ext cx="4177200" cy="6791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counterResetButtonIntTimerChatGPT.c</a:t>
            </a:r>
            <a:endParaRPr b="1" sz="1200">
              <a:solidFill>
                <a:schemeClr val="dk1"/>
              </a:solidFill>
              <a:highlight>
                <a:srgbClr val="FFFFFF"/>
              </a:highlight>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buttonPushed;</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i</a:t>
            </a:r>
            <a:r>
              <a:rPr b="1" lang="en" sz="1100">
                <a:solidFill>
                  <a:srgbClr val="7F0055"/>
                </a:solidFill>
                <a:highlight>
                  <a:srgbClr val="FFFFFF"/>
                </a:highlight>
                <a:latin typeface="Courier New"/>
                <a:ea typeface="Courier New"/>
                <a:cs typeface="Courier New"/>
                <a:sym typeface="Courier New"/>
              </a:rPr>
              <a:t>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Initialize peripherals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buttonPushed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"Counter …\r\n"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(TIM14-&gt;</a:t>
            </a:r>
            <a:r>
              <a:rPr b="1" lang="en" sz="1100">
                <a:solidFill>
                  <a:srgbClr val="0000C0"/>
                </a:solidFill>
                <a:highlight>
                  <a:srgbClr val="F4CCCC"/>
                </a:highlight>
                <a:latin typeface="Courier New"/>
                <a:ea typeface="Courier New"/>
                <a:cs typeface="Courier New"/>
                <a:sym typeface="Courier New"/>
              </a:rPr>
              <a:t>SR</a:t>
            </a:r>
            <a:r>
              <a:rPr b="1" lang="en" sz="1100">
                <a:solidFill>
                  <a:schemeClr val="dk1"/>
                </a:solidFill>
                <a:highlight>
                  <a:srgbClr val="F4CCCC"/>
                </a:highlight>
                <a:latin typeface="Courier New"/>
                <a:ea typeface="Courier New"/>
                <a:cs typeface="Courier New"/>
                <a:sym typeface="Courier New"/>
              </a:rPr>
              <a:t> &amp; TIM_SR_UIF)</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~TIM_SR_UIF; </a:t>
            </a:r>
            <a:r>
              <a:rPr b="1" lang="en" sz="1100">
                <a:solidFill>
                  <a:srgbClr val="3F7F5F"/>
                </a:solidFill>
                <a:highlight>
                  <a:srgbClr val="FFFFFF"/>
                </a:highlight>
                <a:latin typeface="Courier New"/>
                <a:ea typeface="Courier New"/>
                <a:cs typeface="Courier New"/>
                <a:sym typeface="Courier New"/>
              </a:rPr>
              <a:t>// lear PR flag</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Logic for counting and button reset</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4CCCC"/>
                </a:highlight>
                <a:latin typeface="Courier New"/>
                <a:ea typeface="Courier New"/>
                <a:cs typeface="Courier New"/>
                <a:sym typeface="Courier New"/>
              </a:rPr>
              <a:t>if</a:t>
            </a:r>
            <a:r>
              <a:rPr b="1" lang="en" sz="1100">
                <a:solidFill>
                  <a:schemeClr val="dk1"/>
                </a:solidFill>
                <a:highlight>
                  <a:srgbClr val="F4CCCC"/>
                </a:highlight>
                <a:latin typeface="Courier New"/>
                <a:ea typeface="Courier New"/>
                <a:cs typeface="Courier New"/>
                <a:sym typeface="Courier New"/>
              </a:rPr>
              <a:t> (buttonPushed) {</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counter = 0;</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buttonPushed = 0;</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 </a:t>
            </a:r>
            <a:r>
              <a:rPr b="1" lang="en" sz="1100">
                <a:solidFill>
                  <a:srgbClr val="7F0055"/>
                </a:solidFill>
                <a:highlight>
                  <a:srgbClr val="F4CCCC"/>
                </a:highlight>
                <a:latin typeface="Courier New"/>
                <a:ea typeface="Courier New"/>
                <a:cs typeface="Courier New"/>
                <a:sym typeface="Courier New"/>
              </a:rPr>
              <a:t>else</a:t>
            </a:r>
            <a:r>
              <a:rPr b="1" lang="en" sz="1100">
                <a:solidFill>
                  <a:schemeClr val="dk1"/>
                </a:solidFill>
                <a:highlight>
                  <a:srgbClr val="F4CCCC"/>
                </a:highlight>
                <a:latin typeface="Courier New"/>
                <a:ea typeface="Courier New"/>
                <a:cs typeface="Courier New"/>
                <a:sym typeface="Courier New"/>
              </a:rPr>
              <a:t> </a:t>
            </a:r>
            <a:r>
              <a:rPr b="1" lang="en" sz="1100">
                <a:solidFill>
                  <a:srgbClr val="7F0055"/>
                </a:solidFill>
                <a:highlight>
                  <a:srgbClr val="F4CCCC"/>
                </a:highlight>
                <a:latin typeface="Courier New"/>
                <a:ea typeface="Courier New"/>
                <a:cs typeface="Courier New"/>
                <a:sym typeface="Courier New"/>
              </a:rPr>
              <a:t>if</a:t>
            </a:r>
            <a:r>
              <a:rPr b="1" lang="en" sz="1100">
                <a:solidFill>
                  <a:schemeClr val="dk1"/>
                </a:solidFill>
                <a:highlight>
                  <a:srgbClr val="F4CCCC"/>
                </a:highlight>
                <a:latin typeface="Courier New"/>
                <a:ea typeface="Courier New"/>
                <a:cs typeface="Courier New"/>
                <a:sym typeface="Courier New"/>
              </a:rPr>
              <a:t> (counter &gt;= MAXCOUNT - 1) {</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4CCCC"/>
                </a:highlight>
                <a:latin typeface="Courier New"/>
                <a:ea typeface="Courier New"/>
                <a:cs typeface="Courier New"/>
                <a:sym typeface="Courier New"/>
              </a:rPr>
              <a:t>        counter = 0;</a:t>
            </a:r>
            <a:endParaRPr b="1" sz="1100">
              <a:solidFill>
                <a:schemeClr val="dk1"/>
              </a:solidFill>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161" name="Google Shape;161;p34"/>
          <p:cNvSpPr txBox="1"/>
          <p:nvPr/>
        </p:nvSpPr>
        <p:spPr>
          <a:xfrm>
            <a:off x="4391825" y="1447350"/>
            <a:ext cx="4663500" cy="3584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RCC_APBENR2_TIM14EN;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PSC</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highlight>
                  <a:srgbClr val="F4CCCC"/>
                </a:highlight>
                <a:latin typeface="Courier New"/>
                <a:ea typeface="Courier New"/>
                <a:cs typeface="Courier New"/>
                <a:sym typeface="Courier New"/>
              </a:rPr>
              <a:t>16000</a:t>
            </a:r>
            <a:r>
              <a:rPr b="1" lang="en" sz="1100">
                <a:solidFill>
                  <a:schemeClr val="dk1"/>
                </a:solidFill>
                <a:highlight>
                  <a:srgbClr val="FFFFFF"/>
                </a:highlight>
                <a:latin typeface="Courier New"/>
                <a:ea typeface="Courier New"/>
                <a:cs typeface="Courier New"/>
                <a:sym typeface="Courier New"/>
              </a:rPr>
              <a:t>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1000 - 1;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EGR</a:t>
            </a:r>
            <a:r>
              <a:rPr b="1" lang="en" sz="1100">
                <a:solidFill>
                  <a:schemeClr val="dk1"/>
                </a:solidFill>
                <a:highlight>
                  <a:srgbClr val="FFFFFF"/>
                </a:highlight>
                <a:latin typeface="Courier New"/>
                <a:ea typeface="Courier New"/>
                <a:cs typeface="Courier New"/>
                <a:sym typeface="Courier New"/>
              </a:rPr>
              <a:t> |= TIM_EGR_UG;</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CR1</a:t>
            </a:r>
            <a:r>
              <a:rPr b="1" lang="en" sz="1100">
                <a:solidFill>
                  <a:schemeClr val="dk1"/>
                </a:solidFill>
                <a:highlight>
                  <a:srgbClr val="FFFFFF"/>
                </a:highlight>
                <a:latin typeface="Courier New"/>
                <a:ea typeface="Courier New"/>
                <a:cs typeface="Courier New"/>
                <a:sym typeface="Courier New"/>
              </a:rPr>
              <a:t> |= TIM_CR1_CEN;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EXTI4_15_IRQHandler(</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unchanged from our code</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162" name="Google Shape;162;p34"/>
          <p:cNvSpPr txBox="1"/>
          <p:nvPr>
            <p:ph idx="4294967295" type="title"/>
          </p:nvPr>
        </p:nvSpPr>
        <p:spPr>
          <a:xfrm>
            <a:off x="4210450" y="164425"/>
            <a:ext cx="4933800" cy="6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 with reset - </a:t>
            </a:r>
            <a:r>
              <a:rPr lang="en">
                <a:highlight>
                  <a:srgbClr val="FFFF00"/>
                </a:highlight>
              </a:rPr>
              <a:t>Gemini</a:t>
            </a:r>
            <a:endParaRPr>
              <a:highlight>
                <a:srgbClr val="FFFF00"/>
              </a:highlight>
            </a:endParaRPr>
          </a:p>
        </p:txBody>
      </p:sp>
      <p:sp>
        <p:nvSpPr>
          <p:cNvPr id="163" name="Google Shape;163;p34"/>
          <p:cNvSpPr txBox="1"/>
          <p:nvPr/>
        </p:nvSpPr>
        <p:spPr>
          <a:xfrm>
            <a:off x="2165375" y="5365650"/>
            <a:ext cx="2358000" cy="10158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Only checked when timer elapsed - could miss button presses</a:t>
            </a:r>
            <a:endParaRPr sz="1800">
              <a:solidFill>
                <a:schemeClr val="dk2"/>
              </a:solidFill>
            </a:endParaRPr>
          </a:p>
        </p:txBody>
      </p:sp>
      <p:sp>
        <p:nvSpPr>
          <p:cNvPr id="164" name="Google Shape;164;p34"/>
          <p:cNvSpPr txBox="1"/>
          <p:nvPr/>
        </p:nvSpPr>
        <p:spPr>
          <a:xfrm>
            <a:off x="2877275" y="2997650"/>
            <a:ext cx="934200" cy="4617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polling</a:t>
            </a:r>
            <a:endParaRPr sz="1800">
              <a:solidFill>
                <a:schemeClr val="dk2"/>
              </a:solidFill>
            </a:endParaRPr>
          </a:p>
        </p:txBody>
      </p:sp>
      <p:sp>
        <p:nvSpPr>
          <p:cNvPr id="165" name="Google Shape;165;p34"/>
          <p:cNvSpPr txBox="1"/>
          <p:nvPr/>
        </p:nvSpPr>
        <p:spPr>
          <a:xfrm>
            <a:off x="7263800" y="2170725"/>
            <a:ext cx="1577400" cy="7389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Incorrect clock speed</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 name="Shape 169"/>
        <p:cNvGrpSpPr/>
        <p:nvPr/>
      </p:nvGrpSpPr>
      <p:grpSpPr>
        <a:xfrm>
          <a:off x="0" y="0"/>
          <a:ext cx="0" cy="0"/>
          <a:chOff x="0" y="0"/>
          <a:chExt cx="0" cy="0"/>
        </a:xfrm>
      </p:grpSpPr>
      <p:sp>
        <p:nvSpPr>
          <p:cNvPr id="170" name="Google Shape;170;p35"/>
          <p:cNvSpPr txBox="1"/>
          <p:nvPr/>
        </p:nvSpPr>
        <p:spPr>
          <a:xfrm>
            <a:off x="122150" y="33450"/>
            <a:ext cx="4177200" cy="6791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counterResetButtonIntTimer.c</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"exti.h"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LINE4	(1U&lt;&lt;4)	</a:t>
            </a:r>
            <a:r>
              <a:rPr b="1" lang="en" sz="1100">
                <a:solidFill>
                  <a:srgbClr val="3F7F5F"/>
                </a:solidFill>
                <a:highlight>
                  <a:srgbClr val="FFFFFF"/>
                </a:highlight>
                <a:latin typeface="Courier New"/>
                <a:ea typeface="Courier New"/>
                <a:cs typeface="Courier New"/>
                <a:sym typeface="Courier New"/>
              </a:rPr>
              <a:t>// EXTI Line 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buttonB4Pushed;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timerFlag;</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tim14_ms_interrupt_init(1000);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buttonB4Pushed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(timerFlag)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(counter == MAXCOUNT)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   </a:t>
            </a:r>
            <a:r>
              <a:rPr b="1" lang="en" sz="1100">
                <a:solidFill>
                  <a:srgbClr val="3F7F5F"/>
                </a:solidFill>
                <a:highlight>
                  <a:srgbClr val="FFFFFF"/>
                </a:highlight>
                <a:latin typeface="Courier New"/>
                <a:ea typeface="Courier New"/>
                <a:cs typeface="Courier New"/>
                <a:sym typeface="Courier New"/>
              </a:rPr>
              <a:t>// Roll over</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3F7F5F"/>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counter++;     </a:t>
            </a:r>
            <a:r>
              <a:rPr b="1" lang="en" sz="1100">
                <a:solidFill>
                  <a:srgbClr val="3F7F5F"/>
                </a:solidFill>
                <a:highlight>
                  <a:srgbClr val="FFFFFF"/>
                </a:highlight>
                <a:latin typeface="Courier New"/>
                <a:ea typeface="Courier New"/>
                <a:cs typeface="Courier New"/>
                <a:sym typeface="Courier New"/>
              </a:rPr>
              <a:t>// Increment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timerFlag = 0;    </a:t>
            </a:r>
            <a:r>
              <a:rPr b="1" lang="en" sz="1100">
                <a:solidFill>
                  <a:srgbClr val="3F7F5F"/>
                </a:solidFill>
                <a:highlight>
                  <a:srgbClr val="FFFFFF"/>
                </a:highlight>
                <a:latin typeface="Courier New"/>
                <a:ea typeface="Courier New"/>
                <a:cs typeface="Courier New"/>
                <a:sym typeface="Courier New"/>
              </a:rPr>
              <a:t>// Clear timer flag</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3F7F5F"/>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(buttonB4Pushed)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buttonB4Pushed = 0; </a:t>
            </a:r>
            <a:r>
              <a:rPr b="1" lang="en" sz="1100">
                <a:solidFill>
                  <a:srgbClr val="3F7F5F"/>
                </a:solidFill>
                <a:highlight>
                  <a:srgbClr val="FFFFFF"/>
                </a:highlight>
                <a:latin typeface="Courier New"/>
                <a:ea typeface="Courier New"/>
                <a:cs typeface="Courier New"/>
                <a:sym typeface="Courier New"/>
              </a:rPr>
              <a:t>// clear button flag</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171" name="Google Shape;171;p35"/>
          <p:cNvSpPr txBox="1"/>
          <p:nvPr/>
        </p:nvSpPr>
        <p:spPr>
          <a:xfrm>
            <a:off x="4299400" y="1244400"/>
            <a:ext cx="4755900" cy="45903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chemeClr val="lt1"/>
                </a:highlight>
              </a:rPr>
              <a:t>counterResetButtonIntTimer</a:t>
            </a:r>
            <a:r>
              <a:rPr b="1" lang="en" sz="1200">
                <a:solidFill>
                  <a:schemeClr val="dk1"/>
                </a:solidFill>
                <a:highlight>
                  <a:srgbClr val="FFFFFF"/>
                </a:highlight>
              </a:rPr>
              <a:t>.c</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EXTI4_15_IRQHandler(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&amp; EXTI_FPR1_FPIF4)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 EXTI_FPR1_FPIF4; </a:t>
            </a:r>
            <a:r>
              <a:rPr b="1" lang="en" sz="1100">
                <a:solidFill>
                  <a:srgbClr val="3F7F5F"/>
                </a:solidFill>
                <a:highlight>
                  <a:srgbClr val="FFFFFF"/>
                </a:highlight>
                <a:latin typeface="Courier New"/>
                <a:ea typeface="Courier New"/>
                <a:cs typeface="Courier New"/>
                <a:sym typeface="Courier New"/>
              </a:rPr>
              <a:t>// Clear PR flag</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buttonB4Pushed = 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UIF in status register</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 ~TIM_SR_UIF; </a:t>
            </a:r>
            <a:r>
              <a:rPr b="1" lang="en" sz="1100">
                <a:solidFill>
                  <a:srgbClr val="3F7F5F"/>
                </a:solidFill>
                <a:highlight>
                  <a:srgbClr val="FFFFFF"/>
                </a:highlight>
                <a:latin typeface="Courier New"/>
                <a:ea typeface="Courier New"/>
                <a:cs typeface="Courier New"/>
                <a:sym typeface="Courier New"/>
              </a:rPr>
              <a:t>// Clear UIF</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timerFlag = 1;</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172" name="Google Shape;172;p35"/>
          <p:cNvSpPr txBox="1"/>
          <p:nvPr>
            <p:ph idx="4294967295" type="title"/>
          </p:nvPr>
        </p:nvSpPr>
        <p:spPr>
          <a:xfrm>
            <a:off x="4299400" y="164425"/>
            <a:ext cx="4755900" cy="6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 with reset - solution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p36"/>
          <p:cNvSpPr txBox="1"/>
          <p:nvPr/>
        </p:nvSpPr>
        <p:spPr>
          <a:xfrm>
            <a:off x="122150" y="33450"/>
            <a:ext cx="4263300" cy="68247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exti.c</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"exti.h"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disable global interrupt</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clock access to GPIOB</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RCC-&gt;</a:t>
            </a:r>
            <a:r>
              <a:rPr b="1" lang="en" sz="1100">
                <a:solidFill>
                  <a:srgbClr val="0000C0"/>
                </a:solidFill>
                <a:highlight>
                  <a:schemeClr val="lt1"/>
                </a:highlight>
                <a:latin typeface="Courier New"/>
                <a:ea typeface="Courier New"/>
                <a:cs typeface="Courier New"/>
                <a:sym typeface="Courier New"/>
              </a:rPr>
              <a:t>IOPENR</a:t>
            </a:r>
            <a:r>
              <a:rPr b="1" lang="en" sz="1100">
                <a:solidFill>
                  <a:schemeClr val="dk1"/>
                </a:solidFill>
                <a:highlight>
                  <a:schemeClr val="lt1"/>
                </a:highlight>
                <a:latin typeface="Courier New"/>
                <a:ea typeface="Courier New"/>
                <a:cs typeface="Courier New"/>
                <a:sym typeface="Courier New"/>
              </a:rPr>
              <a:t> |= RCC_IOPENR_GPIOBEN;</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Configure PB4 as input pin </a:t>
            </a:r>
            <a:endParaRPr b="1" sz="1100">
              <a:solidFill>
                <a:srgbClr val="3F7F5F"/>
              </a:solidFill>
              <a:highlight>
                <a:schemeClr val="lt1"/>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100">
                <a:solidFill>
                  <a:srgbClr val="3F7F5F"/>
                </a:solidFill>
                <a:highlight>
                  <a:schemeClr val="lt1"/>
                </a:highlight>
                <a:latin typeface="Courier New"/>
                <a:ea typeface="Courier New"/>
                <a:cs typeface="Courier New"/>
                <a:sym typeface="Courier New"/>
              </a:rPr>
              <a:t>// (not necessary since this is default)</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MODER</a:t>
            </a:r>
            <a:r>
              <a:rPr b="1" lang="en" sz="1100">
                <a:solidFill>
                  <a:schemeClr val="dk1"/>
                </a:solidFill>
                <a:highlight>
                  <a:schemeClr val="lt1"/>
                </a:highlight>
                <a:latin typeface="Courier New"/>
                <a:ea typeface="Courier New"/>
                <a:cs typeface="Courier New"/>
                <a:sym typeface="Courier New"/>
              </a:rPr>
              <a:t> &amp;= ~GPIO_MODER_MODE4_Msk;</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MODER</a:t>
            </a:r>
            <a:r>
              <a:rPr b="1" lang="en" sz="1100">
                <a:solidFill>
                  <a:schemeClr val="dk1"/>
                </a:solidFill>
                <a:highlight>
                  <a:schemeClr val="lt1"/>
                </a:highlight>
                <a:latin typeface="Courier New"/>
                <a:ea typeface="Courier New"/>
                <a:cs typeface="Courier New"/>
                <a:sym typeface="Courier New"/>
              </a:rPr>
              <a:t> |= (GPIO_INPUT &lt;&lt; </a:t>
            </a:r>
            <a:endParaRPr b="1" sz="1100">
              <a:solidFill>
                <a:schemeClr val="dk1"/>
              </a:solidFill>
              <a:highlight>
                <a:schemeClr val="lt1"/>
              </a:highlight>
              <a:latin typeface="Courier New"/>
              <a:ea typeface="Courier New"/>
              <a:cs typeface="Courier New"/>
              <a:sym typeface="Courier New"/>
            </a:endParaRPr>
          </a:p>
          <a:p>
            <a:pPr indent="431800" lvl="0" marL="9398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GPIO_MODER_MODE4_Pos);</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pull-up for PB4</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PUPDR</a:t>
            </a:r>
            <a:r>
              <a:rPr b="1" lang="en" sz="1100">
                <a:solidFill>
                  <a:schemeClr val="dk1"/>
                </a:solidFill>
                <a:highlight>
                  <a:schemeClr val="lt1"/>
                </a:highlight>
                <a:latin typeface="Courier New"/>
                <a:ea typeface="Courier New"/>
                <a:cs typeface="Courier New"/>
                <a:sym typeface="Courier New"/>
              </a:rPr>
              <a:t> &amp;= ~GPIO_PUPDR_PUPD4_Msk;</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PUPDR</a:t>
            </a:r>
            <a:r>
              <a:rPr b="1" lang="en" sz="1100">
                <a:solidFill>
                  <a:schemeClr val="dk1"/>
                </a:solidFill>
                <a:highlight>
                  <a:schemeClr val="lt1"/>
                </a:highlight>
                <a:latin typeface="Courier New"/>
                <a:ea typeface="Courier New"/>
                <a:cs typeface="Courier New"/>
                <a:sym typeface="Courier New"/>
              </a:rPr>
              <a:t> |= (GPIO_PULLUP &lt;&lt; </a:t>
            </a:r>
            <a:endParaRPr b="1" sz="1100">
              <a:solidFill>
                <a:schemeClr val="dk1"/>
              </a:solidFill>
              <a:highlight>
                <a:schemeClr val="lt1"/>
              </a:highlight>
              <a:latin typeface="Courier New"/>
              <a:ea typeface="Courier New"/>
              <a:cs typeface="Courier New"/>
              <a:sym typeface="Courier New"/>
            </a:endParaRPr>
          </a:p>
          <a:p>
            <a:pPr indent="431800" lvl="0" marL="13970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GPIO_PUPDR_PUPD4_Pos);</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Configure EXTICR2</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EXTICR</a:t>
            </a:r>
            <a:r>
              <a:rPr b="1" lang="en" sz="1100">
                <a:solidFill>
                  <a:schemeClr val="dk1"/>
                </a:solidFill>
                <a:highlight>
                  <a:schemeClr val="lt1"/>
                </a:highlight>
                <a:latin typeface="Courier New"/>
                <a:ea typeface="Courier New"/>
                <a:cs typeface="Courier New"/>
                <a:sym typeface="Courier New"/>
              </a:rPr>
              <a:t>[1] &amp;= ~EXTI_EXTICR2_EXTI4_Msk;</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EXTICR</a:t>
            </a:r>
            <a:r>
              <a:rPr b="1" lang="en" sz="1100">
                <a:solidFill>
                  <a:schemeClr val="dk1"/>
                </a:solidFill>
                <a:highlight>
                  <a:schemeClr val="lt1"/>
                </a:highlight>
                <a:latin typeface="Courier New"/>
                <a:ea typeface="Courier New"/>
                <a:cs typeface="Courier New"/>
                <a:sym typeface="Courier New"/>
              </a:rPr>
              <a:t>[1] |= (EXTI_PB &lt;&lt; </a:t>
            </a:r>
            <a:endParaRPr b="1" sz="1100">
              <a:solidFill>
                <a:schemeClr val="dk1"/>
              </a:solidFill>
              <a:highlight>
                <a:schemeClr val="lt1"/>
              </a:highlight>
              <a:latin typeface="Courier New"/>
              <a:ea typeface="Courier New"/>
              <a:cs typeface="Courier New"/>
              <a:sym typeface="Courier New"/>
            </a:endParaRPr>
          </a:p>
          <a:p>
            <a:pPr indent="457200" lvl="0" marL="13716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EXTI_EXTICR2_EXTI4_Pos);</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Falling edge trigger for line EXTI4</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FTSR1</a:t>
            </a:r>
            <a:r>
              <a:rPr b="1" lang="en" sz="1100">
                <a:solidFill>
                  <a:schemeClr val="dk1"/>
                </a:solidFill>
                <a:highlight>
                  <a:schemeClr val="lt1"/>
                </a:highlight>
                <a:latin typeface="Courier New"/>
                <a:ea typeface="Courier New"/>
                <a:cs typeface="Courier New"/>
                <a:sym typeface="Courier New"/>
              </a:rPr>
              <a:t> |= EXTI_FTSR1_FT4;</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a:t>
            </a:r>
            <a:r>
              <a:rPr b="1" lang="en" sz="1100" u="sng">
                <a:solidFill>
                  <a:srgbClr val="3F7F5F"/>
                </a:solidFill>
                <a:highlight>
                  <a:schemeClr val="lt1"/>
                </a:highlight>
                <a:latin typeface="Courier New"/>
                <a:ea typeface="Courier New"/>
                <a:cs typeface="Courier New"/>
                <a:sym typeface="Courier New"/>
              </a:rPr>
              <a:t>Unmask</a:t>
            </a:r>
            <a:r>
              <a:rPr b="1" lang="en" sz="1100">
                <a:solidFill>
                  <a:srgbClr val="3F7F5F"/>
                </a:solidFill>
                <a:highlight>
                  <a:schemeClr val="lt1"/>
                </a:highlight>
                <a:latin typeface="Courier New"/>
                <a:ea typeface="Courier New"/>
                <a:cs typeface="Courier New"/>
                <a:sym typeface="Courier New"/>
              </a:rPr>
              <a:t> line EXTI4</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IMR1</a:t>
            </a:r>
            <a:r>
              <a:rPr b="1" lang="en" sz="1100">
                <a:solidFill>
                  <a:schemeClr val="dk1"/>
                </a:solidFill>
                <a:highlight>
                  <a:schemeClr val="lt1"/>
                </a:highlight>
                <a:latin typeface="Courier New"/>
                <a:ea typeface="Courier New"/>
                <a:cs typeface="Courier New"/>
                <a:sym typeface="Courier New"/>
              </a:rPr>
              <a:t> |= EXTI_IMR1_IM4;</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EXTI4 line in NVIC</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NVIC_EnableIRQ(</a:t>
            </a:r>
            <a:r>
              <a:rPr b="1" i="1" lang="en" sz="1100">
                <a:solidFill>
                  <a:srgbClr val="0000C0"/>
                </a:solidFill>
                <a:highlight>
                  <a:schemeClr val="lt1"/>
                </a:highlight>
                <a:latin typeface="Courier New"/>
                <a:ea typeface="Courier New"/>
                <a:cs typeface="Courier New"/>
                <a:sym typeface="Courier New"/>
              </a:rPr>
              <a:t>EXTI4_15_IRQn</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global interrupts</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178" name="Google Shape;178;p36"/>
          <p:cNvSpPr txBox="1"/>
          <p:nvPr/>
        </p:nvSpPr>
        <p:spPr>
          <a:xfrm>
            <a:off x="4473500" y="33450"/>
            <a:ext cx="4586400" cy="13920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exti.h</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#ifndef</a:t>
            </a:r>
            <a:r>
              <a:rPr b="1" lang="en" sz="1100">
                <a:solidFill>
                  <a:schemeClr val="dk1"/>
                </a:solidFill>
                <a:highlight>
                  <a:srgbClr val="FFFFFF"/>
                </a:highlight>
                <a:latin typeface="Courier New"/>
                <a:ea typeface="Courier New"/>
                <a:cs typeface="Courier New"/>
                <a:sym typeface="Courier New"/>
              </a:rPr>
              <a:t> EXTI_H_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EXTI_H_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#endif</a:t>
            </a: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EXTI_H_ */</a:t>
            </a:r>
            <a:endParaRPr b="1" sz="1000">
              <a:solidFill>
                <a:srgbClr val="7F0055"/>
              </a:solidFill>
              <a:highlight>
                <a:srgbClr val="FFFFFF"/>
              </a:highlight>
              <a:latin typeface="Courier New"/>
              <a:ea typeface="Courier New"/>
              <a:cs typeface="Courier New"/>
              <a:sym typeface="Courier New"/>
            </a:endParaRPr>
          </a:p>
        </p:txBody>
      </p:sp>
      <p:sp>
        <p:nvSpPr>
          <p:cNvPr id="179" name="Google Shape;179;p36"/>
          <p:cNvSpPr txBox="1"/>
          <p:nvPr/>
        </p:nvSpPr>
        <p:spPr>
          <a:xfrm>
            <a:off x="4463000" y="1689100"/>
            <a:ext cx="4607400" cy="29916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tim.c</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"stm32C0xx.h"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PSC_FACTOR	12000	 </a:t>
            </a:r>
            <a:r>
              <a:rPr b="1" lang="en" sz="1100">
                <a:solidFill>
                  <a:srgbClr val="3F7F5F"/>
                </a:solidFill>
                <a:highlight>
                  <a:srgbClr val="FFFFFF"/>
                </a:highlight>
                <a:latin typeface="Courier New"/>
                <a:ea typeface="Courier New"/>
                <a:cs typeface="Courier New"/>
                <a:sym typeface="Courier New"/>
              </a:rPr>
              <a:t>// 12 MHz/12000 = 1 kHz</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tim14_ms_interrupt_init(</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milliseconds)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RCC_APBENR2_TIM14EN;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PSC</a:t>
            </a:r>
            <a:r>
              <a:rPr b="1" lang="en" sz="1100">
                <a:solidFill>
                  <a:schemeClr val="dk1"/>
                </a:solidFill>
                <a:highlight>
                  <a:srgbClr val="FFFFFF"/>
                </a:highlight>
                <a:latin typeface="Courier New"/>
                <a:ea typeface="Courier New"/>
                <a:cs typeface="Courier New"/>
                <a:sym typeface="Courier New"/>
              </a:rPr>
              <a:t> = PSC_FACTOR - 1;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milliseconds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CNT</a:t>
            </a:r>
            <a:r>
              <a:rPr b="1" lang="en" sz="1100">
                <a:solidFill>
                  <a:schemeClr val="dk1"/>
                </a:solidFill>
                <a:highlight>
                  <a:srgbClr val="FFFFFF"/>
                </a:highlight>
                <a:latin typeface="Courier New"/>
                <a:ea typeface="Courier New"/>
                <a:cs typeface="Courier New"/>
                <a:sym typeface="Courier New"/>
              </a:rPr>
              <a:t>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DIER</a:t>
            </a:r>
            <a:r>
              <a:rPr b="1" lang="en" sz="1100">
                <a:solidFill>
                  <a:schemeClr val="dk1"/>
                </a:solidFill>
                <a:highlight>
                  <a:srgbClr val="FFFFFF"/>
                </a:highlight>
                <a:latin typeface="Courier New"/>
                <a:ea typeface="Courier New"/>
                <a:cs typeface="Courier New"/>
                <a:sym typeface="Courier New"/>
              </a:rPr>
              <a:t> |= TIM_DIER_UIE;</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TIM14_IRQn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CR1</a:t>
            </a:r>
            <a:r>
              <a:rPr b="1" lang="en" sz="1100">
                <a:solidFill>
                  <a:schemeClr val="dk1"/>
                </a:solidFill>
                <a:highlight>
                  <a:srgbClr val="FFFFFF"/>
                </a:highlight>
                <a:latin typeface="Courier New"/>
                <a:ea typeface="Courier New"/>
                <a:cs typeface="Courier New"/>
                <a:sym typeface="Courier New"/>
              </a:rPr>
              <a:t> |= TIM_CR1_CEN;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2"/>
              </a:solidFill>
              <a:latin typeface="Courier New"/>
              <a:ea typeface="Courier New"/>
              <a:cs typeface="Courier New"/>
              <a:sym typeface="Courier New"/>
            </a:endParaRPr>
          </a:p>
        </p:txBody>
      </p:sp>
      <p:sp>
        <p:nvSpPr>
          <p:cNvPr id="180" name="Google Shape;180;p36"/>
          <p:cNvSpPr txBox="1"/>
          <p:nvPr/>
        </p:nvSpPr>
        <p:spPr>
          <a:xfrm>
            <a:off x="4463000" y="4944350"/>
            <a:ext cx="4607400" cy="14463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tim.h</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#ifndef</a:t>
            </a:r>
            <a:r>
              <a:rPr b="1" lang="en" sz="1100">
                <a:solidFill>
                  <a:schemeClr val="dk1"/>
                </a:solidFill>
                <a:highlight>
                  <a:srgbClr val="FFFFFF"/>
                </a:highlight>
                <a:latin typeface="Courier New"/>
                <a:ea typeface="Courier New"/>
                <a:cs typeface="Courier New"/>
                <a:sym typeface="Courier New"/>
              </a:rPr>
              <a:t> TIM_H_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TIM_H_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tim14_ms_interrupt_init(</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milliseconds);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#endif</a:t>
            </a: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TIM_H_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p37"/>
          <p:cNvSpPr txBox="1"/>
          <p:nvPr>
            <p:ph idx="1" type="body"/>
          </p:nvPr>
        </p:nvSpPr>
        <p:spPr>
          <a:xfrm>
            <a:off x="103250" y="49675"/>
            <a:ext cx="4413600" cy="6737400"/>
          </a:xfrm>
          <a:prstGeom prst="rect">
            <a:avLst/>
          </a:prstGeom>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spcBef>
                <a:spcPts val="0"/>
              </a:spcBef>
              <a:spcAft>
                <a:spcPts val="0"/>
              </a:spcAft>
              <a:buNone/>
            </a:pPr>
            <a:r>
              <a:rPr b="1" lang="en" sz="1100">
                <a:solidFill>
                  <a:schemeClr val="dk1"/>
                </a:solidFill>
                <a:highlight>
                  <a:srgbClr val="FFFFFF"/>
                </a:highlight>
              </a:rPr>
              <a:t>ADCPotWithTimerInt.c</a:t>
            </a:r>
            <a:endParaRPr b="1" sz="1100">
              <a:solidFill>
                <a:schemeClr val="dk1"/>
              </a:solidFill>
              <a:highlight>
                <a:srgbClr val="FFFFFF"/>
              </a:highlight>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"adc.h"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timerFlag;</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uint16_t</a:t>
            </a:r>
            <a:r>
              <a:rPr b="1" lang="en" sz="1100">
                <a:solidFill>
                  <a:schemeClr val="dk1"/>
                </a:solidFill>
                <a:highlight>
                  <a:srgbClr val="FFFFFF"/>
                </a:highlight>
                <a:latin typeface="Courier New"/>
                <a:ea typeface="Courier New"/>
                <a:cs typeface="Courier New"/>
                <a:sym typeface="Courier New"/>
              </a:rPr>
              <a:t> sensor_value;</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b="1" lang="en" sz="1100">
                <a:solidFill>
                  <a:schemeClr val="dk1"/>
                </a:solidFill>
                <a:highlight>
                  <a:srgbClr val="FFFFFF"/>
                </a:highlight>
                <a:latin typeface="Courier New"/>
                <a:ea typeface="Courier New"/>
                <a:cs typeface="Courier New"/>
                <a:sym typeface="Courier New"/>
              </a:rPr>
              <a:t> voltage10;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pa0_adc_init();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tim14_ms_interrupt_init(1000);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(timerFlag)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start_conversion();</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sensor_value = adc_read();</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voltage10 = (sensor_value*33)/4096;</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"ADC: %u, voltage: %u.%u Volt\r\n"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sensor_value, voltage10/10, voltage10%10);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UIF in status register</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 ~TIM_SR_UIF;</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timerFlag = 1;</a:t>
            </a:r>
            <a:endParaRPr b="1" sz="11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b="1" sz="1100">
              <a:solidFill>
                <a:srgbClr val="004A43"/>
              </a:solidFill>
              <a:highlight>
                <a:srgbClr val="FFFFFF"/>
              </a:highlight>
              <a:latin typeface="Courier New"/>
              <a:ea typeface="Courier New"/>
              <a:cs typeface="Courier New"/>
              <a:sym typeface="Courier New"/>
            </a:endParaRPr>
          </a:p>
        </p:txBody>
      </p:sp>
      <p:sp>
        <p:nvSpPr>
          <p:cNvPr id="186" name="Google Shape;186;p37"/>
          <p:cNvSpPr txBox="1"/>
          <p:nvPr/>
        </p:nvSpPr>
        <p:spPr>
          <a:xfrm>
            <a:off x="4575950" y="49675"/>
            <a:ext cx="4481400" cy="54279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chemeClr val="dk1"/>
                </a:solidFill>
                <a:highlight>
                  <a:srgbClr val="FFFFFF"/>
                </a:highlight>
              </a:rPr>
              <a:t>adc.c</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&lt;stdint.h&gt;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"adc.h"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"stm32C0xx.h"</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pa0_adc_init(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RCC_IOPENR_GPIOAEN;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~GPIO_MODER_MODE0_Msk;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(GPIO_ANALOG &lt;&lt;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GPIO_MODER_MODE0_Pos);</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RCC_APBENR2_ADCEN;			ADC1-&gt;</a:t>
            </a:r>
            <a:r>
              <a:rPr b="1" lang="en" sz="1100">
                <a:solidFill>
                  <a:srgbClr val="0000C0"/>
                </a:solidFill>
                <a:highlight>
                  <a:srgbClr val="FFFFFF"/>
                </a:highlight>
                <a:latin typeface="Courier New"/>
                <a:ea typeface="Courier New"/>
                <a:cs typeface="Courier New"/>
                <a:sym typeface="Courier New"/>
              </a:rPr>
              <a:t>CHSELR</a:t>
            </a:r>
            <a:r>
              <a:rPr b="1" lang="en" sz="1100">
                <a:solidFill>
                  <a:schemeClr val="dk1"/>
                </a:solidFill>
                <a:highlight>
                  <a:srgbClr val="FFFFFF"/>
                </a:highlight>
                <a:latin typeface="Courier New"/>
                <a:ea typeface="Courier New"/>
                <a:cs typeface="Courier New"/>
                <a:sym typeface="Courier New"/>
              </a:rPr>
              <a:t> |= ADC_CHSELR_CHSEL0;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ADC_CR_ADVREGEN;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delay_ms(2);</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ADC_CR_ADCAL;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&amp; </a:t>
            </a:r>
            <a:r>
              <a:rPr b="1" lang="en" sz="1100">
                <a:solidFill>
                  <a:schemeClr val="dk1"/>
                </a:solidFill>
                <a:latin typeface="Courier New"/>
                <a:ea typeface="Courier New"/>
                <a:cs typeface="Courier New"/>
                <a:sym typeface="Courier New"/>
              </a:rPr>
              <a:t>ADC_ISR_EOCAL</a:t>
            </a:r>
            <a:r>
              <a:rPr b="1" lang="en" sz="1100">
                <a:solidFill>
                  <a:schemeClr val="dk1"/>
                </a:solidFill>
                <a:highlight>
                  <a:srgbClr val="FFFFFF"/>
                </a:highlight>
                <a:latin typeface="Courier New"/>
                <a:ea typeface="Courier New"/>
                <a:cs typeface="Courier New"/>
                <a:sym typeface="Courier New"/>
              </a:rPr>
              <a:t>)==0){} 		</a:t>
            </a:r>
            <a:r>
              <a:rPr b="1" lang="en" sz="1100">
                <a:solidFill>
                  <a:srgbClr val="005032"/>
                </a:solidFill>
                <a:highlight>
                  <a:srgbClr val="FFFFFF"/>
                </a:highlight>
                <a:latin typeface="Courier New"/>
                <a:ea typeface="Courier New"/>
                <a:cs typeface="Courier New"/>
                <a:sym typeface="Courier New"/>
              </a:rPr>
              <a:t>uint8_t</a:t>
            </a:r>
            <a:r>
              <a:rPr b="1" lang="en" sz="1100">
                <a:solidFill>
                  <a:schemeClr val="dk1"/>
                </a:solidFill>
                <a:highlight>
                  <a:srgbClr val="FFFFFF"/>
                </a:highlight>
                <a:latin typeface="Courier New"/>
                <a:ea typeface="Courier New"/>
                <a:cs typeface="Courier New"/>
                <a:sym typeface="Courier New"/>
              </a:rPr>
              <a:t> calibration = ADC1-&gt;</a:t>
            </a:r>
            <a:r>
              <a:rPr b="1" lang="en" sz="1100">
                <a:solidFill>
                  <a:srgbClr val="0000C0"/>
                </a:solidFill>
                <a:highlight>
                  <a:srgbClr val="FFFFFF"/>
                </a:highlight>
                <a:latin typeface="Courier New"/>
                <a:ea typeface="Courier New"/>
                <a:cs typeface="Courier New"/>
                <a:sym typeface="Courier New"/>
              </a:rPr>
              <a:t>DR</a:t>
            </a:r>
            <a:r>
              <a:rPr b="1" lang="en" sz="1100">
                <a:solidFill>
                  <a:schemeClr val="dk1"/>
                </a:solidFill>
                <a:highlight>
                  <a:srgbClr val="FFFFFF"/>
                </a:highlight>
                <a:latin typeface="Courier New"/>
                <a:ea typeface="Courier New"/>
                <a:cs typeface="Courier New"/>
                <a:sym typeface="Courier New"/>
              </a:rPr>
              <a:t> &amp; 0x7F;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 ADC_ISR_ADRDY;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ADC_CR_ADEN;</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CALFACT</a:t>
            </a:r>
            <a:r>
              <a:rPr b="1" lang="en" sz="1100">
                <a:solidFill>
                  <a:schemeClr val="dk1"/>
                </a:solidFill>
                <a:highlight>
                  <a:srgbClr val="FFFFFF"/>
                </a:highlight>
                <a:latin typeface="Courier New"/>
                <a:ea typeface="Courier New"/>
                <a:cs typeface="Courier New"/>
                <a:sym typeface="Courier New"/>
              </a:rPr>
              <a:t> = calibration;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start_conversion(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&amp; ADC_ISR_ADRDY) == 0){}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ADC_CR_ADSTART;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005032"/>
                </a:solidFill>
                <a:highlight>
                  <a:srgbClr val="FFFFFF"/>
                </a:highlight>
                <a:latin typeface="Courier New"/>
                <a:ea typeface="Courier New"/>
                <a:cs typeface="Courier New"/>
                <a:sym typeface="Courier New"/>
              </a:rPr>
              <a:t>uint16_t</a:t>
            </a:r>
            <a:r>
              <a:rPr b="1" lang="en" sz="1100">
                <a:solidFill>
                  <a:schemeClr val="dk1"/>
                </a:solidFill>
                <a:highlight>
                  <a:srgbClr val="FFFFFF"/>
                </a:highlight>
                <a:latin typeface="Courier New"/>
                <a:ea typeface="Courier New"/>
                <a:cs typeface="Courier New"/>
                <a:sym typeface="Courier New"/>
              </a:rPr>
              <a:t> adc_read(</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&amp; ADC_ISR_EOC) == 0 ){}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uint16_t</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DR</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000">
              <a:solidFill>
                <a:srgbClr val="800000"/>
              </a:solidFill>
              <a:highlight>
                <a:srgbClr val="FFFFFF"/>
              </a:highlight>
              <a:latin typeface="Courier New"/>
              <a:ea typeface="Courier New"/>
              <a:cs typeface="Courier New"/>
              <a:sym typeface="Courier New"/>
            </a:endParaRPr>
          </a:p>
        </p:txBody>
      </p:sp>
      <p:sp>
        <p:nvSpPr>
          <p:cNvPr id="187" name="Google Shape;187;p37"/>
          <p:cNvSpPr txBox="1"/>
          <p:nvPr/>
        </p:nvSpPr>
        <p:spPr>
          <a:xfrm>
            <a:off x="4576000" y="5533550"/>
            <a:ext cx="4481400" cy="12534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tim.c</a:t>
            </a:r>
            <a:endParaRPr b="1" sz="1200">
              <a:solidFill>
                <a:schemeClr val="dk1"/>
              </a:solidFill>
              <a:highlight>
                <a:srgbClr val="FFFFFF"/>
              </a:highlight>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PSC_FACTOR 12000 </a:t>
            </a:r>
            <a:r>
              <a:rPr b="1" lang="en" sz="1100">
                <a:solidFill>
                  <a:srgbClr val="3F7F5F"/>
                </a:solidFill>
                <a:highlight>
                  <a:srgbClr val="FFFFFF"/>
                </a:highlight>
                <a:latin typeface="Courier New"/>
                <a:ea typeface="Courier New"/>
                <a:cs typeface="Courier New"/>
                <a:sym typeface="Courier New"/>
              </a:rPr>
              <a:t>// 12 MHz/12000 = 1 kHz</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tim14_ms_interrupt_init(</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milliseconds)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2"/>
              </a:solidFill>
              <a:latin typeface="Courier New"/>
              <a:ea typeface="Courier New"/>
              <a:cs typeface="Courier New"/>
              <a:sym typeface="Courier New"/>
            </a:endParaRPr>
          </a:p>
        </p:txBody>
      </p:sp>
      <p:sp>
        <p:nvSpPr>
          <p:cNvPr id="188" name="Google Shape;188;p37"/>
          <p:cNvSpPr txBox="1"/>
          <p:nvPr>
            <p:ph type="title"/>
          </p:nvPr>
        </p:nvSpPr>
        <p:spPr>
          <a:xfrm rot="-5400000">
            <a:off x="2264325" y="1295850"/>
            <a:ext cx="2784000" cy="9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Timer-controlled A/D conversion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sp>
        <p:nvSpPr>
          <p:cNvPr id="193" name="Google Shape;193;p38"/>
          <p:cNvSpPr txBox="1"/>
          <p:nvPr>
            <p:ph type="title"/>
          </p:nvPr>
        </p:nvSpPr>
        <p:spPr>
          <a:xfrm>
            <a:off x="202400" y="179525"/>
            <a:ext cx="4629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 with timer: </a:t>
            </a:r>
            <a:endParaRPr/>
          </a:p>
          <a:p>
            <a:pPr indent="0" lvl="0" marL="0" rtl="0" algn="l">
              <a:spcBef>
                <a:spcPts val="0"/>
              </a:spcBef>
              <a:spcAft>
                <a:spcPts val="0"/>
              </a:spcAft>
              <a:buNone/>
            </a:pPr>
            <a:r>
              <a:rPr lang="en"/>
              <a:t>T</a:t>
            </a:r>
            <a:r>
              <a:rPr baseline="-25000" lang="en"/>
              <a:t>ON</a:t>
            </a:r>
            <a:r>
              <a:rPr lang="en"/>
              <a:t> ≠ T</a:t>
            </a:r>
            <a:r>
              <a:rPr baseline="-25000" lang="en"/>
              <a:t>OFF</a:t>
            </a:r>
            <a:endParaRPr baseline="-25000"/>
          </a:p>
        </p:txBody>
      </p:sp>
      <p:sp>
        <p:nvSpPr>
          <p:cNvPr id="194" name="Google Shape;194;p38"/>
          <p:cNvSpPr txBox="1"/>
          <p:nvPr>
            <p:ph idx="1" type="body"/>
          </p:nvPr>
        </p:nvSpPr>
        <p:spPr>
          <a:xfrm>
            <a:off x="355750" y="1475375"/>
            <a:ext cx="3843300" cy="23037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LED	(1U&lt;&lt;5) </a:t>
            </a:r>
            <a:r>
              <a:rPr b="1" lang="en" sz="1100">
                <a:solidFill>
                  <a:srgbClr val="3F7F5F"/>
                </a:solidFill>
                <a:highlight>
                  <a:srgbClr val="FFFFFF"/>
                </a:highlight>
                <a:latin typeface="Courier New"/>
                <a:ea typeface="Courier New"/>
                <a:cs typeface="Courier New"/>
                <a:sym typeface="Courier New"/>
              </a:rPr>
              <a:t>// on-board LED</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T_ON     200    </a:t>
            </a:r>
            <a:r>
              <a:rPr b="1" lang="en" sz="1100">
                <a:solidFill>
                  <a:srgbClr val="3F7F5F"/>
                </a:solidFill>
                <a:highlight>
                  <a:srgbClr val="FFFFFF"/>
                </a:highlight>
                <a:latin typeface="Courier New"/>
                <a:ea typeface="Courier New"/>
                <a:cs typeface="Courier New"/>
                <a:sym typeface="Courier New"/>
              </a:rPr>
              <a:t>// 200 </a:t>
            </a:r>
            <a:r>
              <a:rPr b="1" lang="en" sz="1100" u="sng">
                <a:solidFill>
                  <a:srgbClr val="3F7F5F"/>
                </a:solidFill>
                <a:highlight>
                  <a:srgbClr val="FFFFFF"/>
                </a:highlight>
                <a:latin typeface="Courier New"/>
                <a:ea typeface="Courier New"/>
                <a:cs typeface="Courier New"/>
                <a:sym typeface="Courier New"/>
              </a:rPr>
              <a:t>ms</a:t>
            </a:r>
            <a:endParaRPr b="1" sz="1100" u="sng">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latin typeface="Courier New"/>
                <a:ea typeface="Courier New"/>
                <a:cs typeface="Courier New"/>
                <a:sym typeface="Courier New"/>
              </a:rPr>
              <a:t>T_OFF</a:t>
            </a:r>
            <a:r>
              <a:rPr b="1" lang="en" sz="1100">
                <a:solidFill>
                  <a:schemeClr val="dk1"/>
                </a:solidFill>
                <a:highlight>
                  <a:srgbClr val="FFFFFF"/>
                </a:highlight>
                <a:latin typeface="Courier New"/>
                <a:ea typeface="Courier New"/>
                <a:cs typeface="Courier New"/>
                <a:sym typeface="Courier New"/>
              </a:rPr>
              <a:t>    800    </a:t>
            </a:r>
            <a:r>
              <a:rPr b="1" lang="en" sz="1100">
                <a:solidFill>
                  <a:srgbClr val="3F7F5F"/>
                </a:solidFill>
                <a:highlight>
                  <a:srgbClr val="FFFFFF"/>
                </a:highlight>
                <a:latin typeface="Courier New"/>
                <a:ea typeface="Courier New"/>
                <a:cs typeface="Courier New"/>
                <a:sym typeface="Courier New"/>
              </a:rPr>
              <a:t>// 800 </a:t>
            </a:r>
            <a:r>
              <a:rPr b="1" lang="en" sz="1100" u="sng">
                <a:solidFill>
                  <a:srgbClr val="3F7F5F"/>
                </a:solidFill>
                <a:highlight>
                  <a:srgbClr val="FFFFFF"/>
                </a:highlight>
                <a:latin typeface="Courier New"/>
                <a:ea typeface="Courier New"/>
                <a:cs typeface="Courier New"/>
                <a:sym typeface="Courier New"/>
              </a:rPr>
              <a:t>ms</a:t>
            </a:r>
            <a:endParaRPr b="1" sz="1100" u="sng">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typedef</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enum</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LEDON</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state_t</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state_t</a:t>
            </a:r>
            <a:r>
              <a:rPr b="1" lang="en" sz="1100">
                <a:solidFill>
                  <a:schemeClr val="dk1"/>
                </a:solidFill>
                <a:highlight>
                  <a:srgbClr val="FFFFFF"/>
                </a:highlight>
                <a:latin typeface="Courier New"/>
                <a:ea typeface="Courier New"/>
                <a:cs typeface="Courier New"/>
                <a:sym typeface="Courier New"/>
              </a:rPr>
              <a:t> state;</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timerFlag;</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
        <p:nvSpPr>
          <p:cNvPr id="195" name="Google Shape;195;p38"/>
          <p:cNvSpPr txBox="1"/>
          <p:nvPr>
            <p:ph idx="1" type="body"/>
          </p:nvPr>
        </p:nvSpPr>
        <p:spPr>
          <a:xfrm>
            <a:off x="4199050" y="5275425"/>
            <a:ext cx="3934500" cy="15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UIF in status register */</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 ~TIM_SR_UIF;</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timerFlag = 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
        <p:nvSpPr>
          <p:cNvPr id="196" name="Google Shape;196;p38"/>
          <p:cNvSpPr txBox="1"/>
          <p:nvPr>
            <p:ph idx="1" type="body"/>
          </p:nvPr>
        </p:nvSpPr>
        <p:spPr>
          <a:xfrm>
            <a:off x="4199050" y="375200"/>
            <a:ext cx="4807200" cy="50064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RCC_IOPENR_GPIOAEN;</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(1U&lt;&lt;10);  </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&amp;=~(1U&lt;&lt;11); </a:t>
            </a:r>
            <a:endParaRPr b="1" sz="11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GPIOA-&gt;</a:t>
            </a:r>
            <a:r>
              <a:rPr b="1" lang="en" sz="1100">
                <a:solidFill>
                  <a:srgbClr val="0000C0"/>
                </a:solidFill>
                <a:highlight>
                  <a:srgbClr val="FFFFFF"/>
                </a:highlight>
                <a:latin typeface="Courier New"/>
                <a:ea typeface="Courier New"/>
                <a:cs typeface="Courier New"/>
                <a:sym typeface="Courier New"/>
              </a:rPr>
              <a:t>ODR</a:t>
            </a:r>
            <a:r>
              <a:rPr b="1" lang="en" sz="1100">
                <a:solidFill>
                  <a:schemeClr val="dk1"/>
                </a:solidFill>
                <a:highlight>
                  <a:srgbClr val="FFFFFF"/>
                </a:highlight>
                <a:latin typeface="Courier New"/>
                <a:ea typeface="Courier New"/>
                <a:cs typeface="Courier New"/>
                <a:sym typeface="Courier New"/>
              </a:rPr>
              <a:t> &amp;= ~(LED);	   </a:t>
            </a:r>
            <a:r>
              <a:rPr b="1" lang="en" sz="1100">
                <a:solidFill>
                  <a:srgbClr val="3F7F5F"/>
                </a:solidFill>
                <a:highlight>
                  <a:srgbClr val="FFFFFF"/>
                </a:highlight>
                <a:latin typeface="Courier New"/>
                <a:ea typeface="Courier New"/>
                <a:cs typeface="Courier New"/>
                <a:sym typeface="Courier New"/>
              </a:rPr>
              <a:t>// LED is off</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state =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tim14_ms_interrupt_init(T_OFF);</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(timerFlag)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ODR</a:t>
            </a:r>
            <a:r>
              <a:rPr b="1" lang="en" sz="1100">
                <a:solidFill>
                  <a:schemeClr val="dk1"/>
                </a:solidFill>
                <a:highlight>
                  <a:srgbClr val="FFFFFF"/>
                </a:highlight>
                <a:latin typeface="Courier New"/>
                <a:ea typeface="Courier New"/>
                <a:cs typeface="Courier New"/>
                <a:sym typeface="Courier New"/>
              </a:rPr>
              <a:t> ^= LED;					</a:t>
            </a:r>
            <a:r>
              <a:rPr b="1" lang="en" sz="1100">
                <a:solidFill>
                  <a:srgbClr val="7F0055"/>
                </a:solidFill>
                <a:highlight>
                  <a:srgbClr val="FFFFFF"/>
                </a:highlight>
                <a:latin typeface="Courier New"/>
                <a:ea typeface="Courier New"/>
                <a:cs typeface="Courier New"/>
                <a:sym typeface="Courier New"/>
              </a:rPr>
              <a:t>switch</a:t>
            </a:r>
            <a:r>
              <a:rPr b="1" lang="en" sz="1100">
                <a:solidFill>
                  <a:schemeClr val="dk1"/>
                </a:solidFill>
                <a:highlight>
                  <a:srgbClr val="FFFFFF"/>
                </a:highlight>
                <a:latin typeface="Courier New"/>
                <a:ea typeface="Courier New"/>
                <a:cs typeface="Courier New"/>
                <a:sym typeface="Courier New"/>
              </a:rPr>
              <a:t> (state)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case</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T_ON-1;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state = </a:t>
            </a:r>
            <a:r>
              <a:rPr b="1" i="1" lang="en" sz="1100">
                <a:solidFill>
                  <a:srgbClr val="0000C0"/>
                </a:solidFill>
                <a:highlight>
                  <a:srgbClr val="FFFFFF"/>
                </a:highlight>
                <a:latin typeface="Courier New"/>
                <a:ea typeface="Courier New"/>
                <a:cs typeface="Courier New"/>
                <a:sym typeface="Courier New"/>
              </a:rPr>
              <a:t>LEDON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break</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case</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T_OFF-1;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state =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break</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9"/>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Seven-segment display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7-segment LED Display with HT16K33 Backpack</a:t>
            </a:r>
            <a:endParaRPr/>
          </a:p>
        </p:txBody>
      </p:sp>
      <p:pic>
        <p:nvPicPr>
          <p:cNvPr id="207" name="Google Shape;207;p40"/>
          <p:cNvPicPr preferRelativeResize="0"/>
          <p:nvPr/>
        </p:nvPicPr>
        <p:blipFill rotWithShape="1">
          <a:blip r:embed="rId3">
            <a:alphaModFix/>
          </a:blip>
          <a:srcRect b="7329" l="0" r="0" t="17506"/>
          <a:stretch/>
        </p:blipFill>
        <p:spPr>
          <a:xfrm>
            <a:off x="348550" y="1712425"/>
            <a:ext cx="8446900" cy="48782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1"/>
          <p:cNvSpPr txBox="1"/>
          <p:nvPr>
            <p:ph type="title"/>
          </p:nvPr>
        </p:nvSpPr>
        <p:spPr>
          <a:xfrm>
            <a:off x="311700" y="1767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"Ping" the display</a:t>
            </a:r>
            <a:endParaRPr/>
          </a:p>
        </p:txBody>
      </p:sp>
      <p:sp>
        <p:nvSpPr>
          <p:cNvPr id="213" name="Google Shape;213;p41"/>
          <p:cNvSpPr txBox="1"/>
          <p:nvPr>
            <p:ph idx="1" type="body"/>
          </p:nvPr>
        </p:nvSpPr>
        <p:spPr>
          <a:xfrm>
            <a:off x="311700" y="1007348"/>
            <a:ext cx="8520600" cy="55467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chemeClr val="lt1"/>
                </a:highlight>
                <a:latin typeface="Courier New"/>
                <a:ea typeface="Courier New"/>
                <a:cs typeface="Courier New"/>
                <a:sym typeface="Courier New"/>
              </a:rPr>
              <a:t>#include</a:t>
            </a:r>
            <a:r>
              <a:rPr b="1" lang="en" sz="1200">
                <a:solidFill>
                  <a:schemeClr val="dk1"/>
                </a:solidFill>
                <a:highlight>
                  <a:schemeClr val="lt1"/>
                </a:highlight>
                <a:latin typeface="Courier New"/>
                <a:ea typeface="Courier New"/>
                <a:cs typeface="Courier New"/>
                <a:sym typeface="Courier New"/>
              </a:rPr>
              <a:t> </a:t>
            </a:r>
            <a:r>
              <a:rPr b="1" lang="en" sz="1200">
                <a:solidFill>
                  <a:srgbClr val="2A00FF"/>
                </a:solidFill>
                <a:highlight>
                  <a:schemeClr val="lt1"/>
                </a:highlight>
                <a:latin typeface="Courier New"/>
                <a:ea typeface="Courier New"/>
                <a:cs typeface="Courier New"/>
                <a:sym typeface="Courier New"/>
              </a:rPr>
              <a:t>"i2c.h"</a:t>
            </a:r>
            <a:endParaRPr b="1" sz="1200">
              <a:solidFill>
                <a:srgbClr val="2A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HT16K33_ADDR	0x70	</a:t>
            </a:r>
            <a:r>
              <a:rPr b="1" lang="en" sz="1200">
                <a:solidFill>
                  <a:srgbClr val="3F7F5F"/>
                </a:solidFill>
                <a:highlight>
                  <a:srgbClr val="FFFFFF"/>
                </a:highlight>
                <a:latin typeface="Courier New"/>
                <a:ea typeface="Courier New"/>
                <a:cs typeface="Courier New"/>
                <a:sym typeface="Courier New"/>
              </a:rPr>
              <a:t>// I2C address of our backpack controller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display_addr = HT16K33_ADDR;</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data = 0b0; </a:t>
            </a:r>
            <a:r>
              <a:rPr b="1" lang="en" sz="1200">
                <a:solidFill>
                  <a:srgbClr val="3F7F5F"/>
                </a:solidFill>
                <a:highlight>
                  <a:srgbClr val="FFFFFF"/>
                </a:highlight>
                <a:latin typeface="Courier New"/>
                <a:ea typeface="Courier New"/>
                <a:cs typeface="Courier New"/>
                <a:sym typeface="Courier New"/>
              </a:rPr>
              <a:t>// The hardware requires us to send some data, not important here.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i2c1_init();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Ping the display's address, repeatedly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(1) {</a:t>
            </a:r>
            <a:endParaRPr b="1" sz="1200">
              <a:solidFill>
                <a:schemeClr val="dk1"/>
              </a:solidFill>
              <a:highlight>
                <a:srgbClr val="FFFFFF"/>
              </a:highlight>
              <a:latin typeface="Courier New"/>
              <a:ea typeface="Courier New"/>
              <a:cs typeface="Courier New"/>
              <a:sym typeface="Courier New"/>
            </a:endParaRPr>
          </a:p>
          <a:p>
            <a:pPr indent="431800" lvl="0" marL="482600" rtl="0" algn="l">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 Configure I2C and send start condition</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431800" lvl="0" marL="4826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I2C1-&gt;</a:t>
            </a:r>
            <a:r>
              <a:rPr b="1" lang="en" sz="1200">
                <a:solidFill>
                  <a:srgbClr val="0000C0"/>
                </a:solidFill>
                <a:highlight>
                  <a:srgbClr val="FFFFFF"/>
                </a:highlight>
                <a:latin typeface="Courier New"/>
                <a:ea typeface="Courier New"/>
                <a:cs typeface="Courier New"/>
                <a:sym typeface="Courier New"/>
              </a:rPr>
              <a:t>CR2</a:t>
            </a:r>
            <a:r>
              <a:rPr b="1" lang="en" sz="1200">
                <a:solidFill>
                  <a:schemeClr val="dk1"/>
                </a:solidFill>
                <a:highlight>
                  <a:srgbClr val="FFFFFF"/>
                </a:highlight>
                <a:latin typeface="Courier New"/>
                <a:ea typeface="Courier New"/>
                <a:cs typeface="Courier New"/>
                <a:sym typeface="Courier New"/>
              </a:rPr>
              <a:t>  = (display_addr&lt;&lt;1) | (1U &lt;&lt; I2C_CR2_NBYTES_Pos)</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I2C_CR2_AUTOEND		</a:t>
            </a:r>
            <a:r>
              <a:rPr b="1" lang="en" sz="1200">
                <a:solidFill>
                  <a:srgbClr val="3F7F5F"/>
                </a:solidFill>
                <a:highlight>
                  <a:srgbClr val="FFFFFF"/>
                </a:highlight>
                <a:latin typeface="Courier New"/>
                <a:ea typeface="Courier New"/>
                <a:cs typeface="Courier New"/>
                <a:sym typeface="Courier New"/>
              </a:rPr>
              <a:t>// Send Stop condition after transfer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I2C_CR2_START;		</a:t>
            </a:r>
            <a:r>
              <a:rPr b="1" lang="en" sz="1200">
                <a:solidFill>
                  <a:srgbClr val="3F7F5F"/>
                </a:solidFill>
                <a:highlight>
                  <a:srgbClr val="FFFFFF"/>
                </a:highlight>
                <a:latin typeface="Courier New"/>
                <a:ea typeface="Courier New"/>
                <a:cs typeface="Courier New"/>
                <a:sym typeface="Courier New"/>
              </a:rPr>
              <a:t>// Send Start condition</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I2C_ISR_BUSY) );	</a:t>
            </a:r>
            <a:r>
              <a:rPr b="1" lang="en" sz="1200">
                <a:solidFill>
                  <a:srgbClr val="3F7F5F"/>
                </a:solidFill>
                <a:highlight>
                  <a:srgbClr val="FFFFFF"/>
                </a:highlight>
                <a:latin typeface="Courier New"/>
                <a:ea typeface="Courier New"/>
                <a:cs typeface="Courier New"/>
                <a:sym typeface="Courier New"/>
              </a:rPr>
              <a:t>// Wait until Start is received</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 Send the data</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I2C_ISR_NACKF)) {	          </a:t>
            </a:r>
            <a:r>
              <a:rPr b="1" lang="en" sz="1200">
                <a:solidFill>
                  <a:srgbClr val="3F7F5F"/>
                </a:solidFill>
                <a:highlight>
                  <a:srgbClr val="FFFFFF"/>
                </a:highlight>
                <a:latin typeface="Courier New"/>
                <a:ea typeface="Courier New"/>
                <a:cs typeface="Courier New"/>
                <a:sym typeface="Courier New"/>
              </a:rPr>
              <a:t>// Make sure ACK received</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I2C_ISR_TXIS) );	</a:t>
            </a:r>
            <a:r>
              <a:rPr b="1" lang="en" sz="1200">
                <a:solidFill>
                  <a:srgbClr val="3F7F5F"/>
                </a:solidFill>
                <a:highlight>
                  <a:srgbClr val="FFFFFF"/>
                </a:highlight>
                <a:latin typeface="Courier New"/>
                <a:ea typeface="Courier New"/>
                <a:cs typeface="Courier New"/>
                <a:sym typeface="Courier New"/>
              </a:rPr>
              <a:t>// Wait for TX to be ready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TXDR</a:t>
            </a:r>
            <a:r>
              <a:rPr b="1" lang="en" sz="1200">
                <a:solidFill>
                  <a:schemeClr val="dk1"/>
                </a:solidFill>
                <a:highlight>
                  <a:srgbClr val="FFFFFF"/>
                </a:highlight>
                <a:latin typeface="Courier New"/>
                <a:ea typeface="Courier New"/>
                <a:cs typeface="Courier New"/>
                <a:sym typeface="Courier New"/>
              </a:rPr>
              <a:t> = data;					</a:t>
            </a:r>
            <a:r>
              <a:rPr b="1" lang="en" sz="1200">
                <a:solidFill>
                  <a:srgbClr val="3F7F5F"/>
                </a:solidFill>
                <a:highlight>
                  <a:srgbClr val="FFFFFF"/>
                </a:highlight>
                <a:latin typeface="Courier New"/>
                <a:ea typeface="Courier New"/>
                <a:cs typeface="Courier New"/>
                <a:sym typeface="Courier New"/>
              </a:rPr>
              <a:t>// put data in send register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delay_ms(250);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 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2"/>
          <p:cNvSpPr txBox="1"/>
          <p:nvPr>
            <p:ph type="title"/>
          </p:nvPr>
        </p:nvSpPr>
        <p:spPr>
          <a:xfrm>
            <a:off x="311700" y="1767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"Ping" the display - using i2c library</a:t>
            </a:r>
            <a:endParaRPr/>
          </a:p>
        </p:txBody>
      </p:sp>
      <p:sp>
        <p:nvSpPr>
          <p:cNvPr id="219" name="Google Shape;219;p42"/>
          <p:cNvSpPr txBox="1"/>
          <p:nvPr>
            <p:ph idx="1" type="body"/>
          </p:nvPr>
        </p:nvSpPr>
        <p:spPr>
          <a:xfrm>
            <a:off x="311700" y="1007348"/>
            <a:ext cx="8520600" cy="55467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chemeClr val="lt1"/>
                </a:highlight>
                <a:latin typeface="Courier New"/>
                <a:ea typeface="Courier New"/>
                <a:cs typeface="Courier New"/>
                <a:sym typeface="Courier New"/>
              </a:rPr>
              <a:t>#include</a:t>
            </a:r>
            <a:r>
              <a:rPr b="1" lang="en" sz="1200">
                <a:solidFill>
                  <a:schemeClr val="dk1"/>
                </a:solidFill>
                <a:highlight>
                  <a:schemeClr val="lt1"/>
                </a:highlight>
                <a:latin typeface="Courier New"/>
                <a:ea typeface="Courier New"/>
                <a:cs typeface="Courier New"/>
                <a:sym typeface="Courier New"/>
              </a:rPr>
              <a:t> </a:t>
            </a:r>
            <a:r>
              <a:rPr b="1" lang="en" sz="1200">
                <a:solidFill>
                  <a:srgbClr val="2A00FF"/>
                </a:solidFill>
                <a:highlight>
                  <a:schemeClr val="lt1"/>
                </a:highlight>
                <a:latin typeface="Courier New"/>
                <a:ea typeface="Courier New"/>
                <a:cs typeface="Courier New"/>
                <a:sym typeface="Courier New"/>
              </a:rPr>
              <a:t>"i2c.h"</a:t>
            </a:r>
            <a:endParaRPr b="1" sz="1200">
              <a:solidFill>
                <a:srgbClr val="2A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HT16K33_ADDR	0x70	</a:t>
            </a:r>
            <a:r>
              <a:rPr b="1" lang="en" sz="1200">
                <a:solidFill>
                  <a:srgbClr val="3F7F5F"/>
                </a:solidFill>
                <a:highlight>
                  <a:srgbClr val="FFFFFF"/>
                </a:highlight>
                <a:latin typeface="Courier New"/>
                <a:ea typeface="Courier New"/>
                <a:cs typeface="Courier New"/>
                <a:sym typeface="Courier New"/>
              </a:rPr>
              <a:t>// I2C address of our backpack controller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data = 0b0; </a:t>
            </a:r>
            <a:r>
              <a:rPr b="1" lang="en" sz="1200">
                <a:solidFill>
                  <a:srgbClr val="3F7F5F"/>
                </a:solidFill>
                <a:highlight>
                  <a:srgbClr val="FFFFFF"/>
                </a:highlight>
                <a:latin typeface="Courier New"/>
                <a:ea typeface="Courier New"/>
                <a:cs typeface="Courier New"/>
                <a:sym typeface="Courier New"/>
              </a:rPr>
              <a:t>// The hardware requires us to send some data, not important here.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i2c1_init();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Ping the display's address, repeatedly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(1) {</a:t>
            </a:r>
            <a:endParaRPr b="1" sz="1200">
              <a:solidFill>
                <a:schemeClr val="dk1"/>
              </a:solidFill>
              <a:highlight>
                <a:srgbClr val="FFFFFF"/>
              </a:highlight>
              <a:latin typeface="Courier New"/>
              <a:ea typeface="Courier New"/>
              <a:cs typeface="Courier New"/>
              <a:sym typeface="Courier New"/>
            </a:endParaRPr>
          </a:p>
          <a:p>
            <a:pPr indent="431800" lvl="0" marL="482600" rtl="0" algn="l">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 Send data to the display</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431800" lvl="0" marL="4826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i2c1_byteWrite(HT16K33_ADDR, data);</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delay_ms(250);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 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43"/>
          <p:cNvPicPr preferRelativeResize="0"/>
          <p:nvPr/>
        </p:nvPicPr>
        <p:blipFill rotWithShape="1">
          <a:blip r:embed="rId3">
            <a:alphaModFix/>
          </a:blip>
          <a:srcRect b="0" l="0" r="0" t="37609"/>
          <a:stretch/>
        </p:blipFill>
        <p:spPr>
          <a:xfrm>
            <a:off x="943425" y="3133100"/>
            <a:ext cx="7094673" cy="3605951"/>
          </a:xfrm>
          <a:prstGeom prst="rect">
            <a:avLst/>
          </a:prstGeom>
          <a:noFill/>
          <a:ln>
            <a:noFill/>
          </a:ln>
        </p:spPr>
      </p:pic>
      <p:sp>
        <p:nvSpPr>
          <p:cNvPr id="225" name="Google Shape;225;p43"/>
          <p:cNvSpPr txBox="1"/>
          <p:nvPr>
            <p:ph type="title"/>
          </p:nvPr>
        </p:nvSpPr>
        <p:spPr>
          <a:xfrm>
            <a:off x="311700" y="23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Ping the display</a:t>
            </a:r>
            <a:endParaRPr/>
          </a:p>
        </p:txBody>
      </p:sp>
      <p:sp>
        <p:nvSpPr>
          <p:cNvPr id="226" name="Google Shape;226;p43"/>
          <p:cNvSpPr txBox="1"/>
          <p:nvPr>
            <p:ph idx="1" type="body"/>
          </p:nvPr>
        </p:nvSpPr>
        <p:spPr>
          <a:xfrm>
            <a:off x="311700" y="649275"/>
            <a:ext cx="8520600" cy="2311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Wire the display to the Nucleo as in the image.</a:t>
            </a:r>
            <a:endParaRPr/>
          </a:p>
          <a:p>
            <a:pPr indent="-342900" lvl="0" marL="457200" rtl="0" algn="l">
              <a:spcBef>
                <a:spcPts val="0"/>
              </a:spcBef>
              <a:spcAft>
                <a:spcPts val="0"/>
              </a:spcAft>
              <a:buSzPts val="1800"/>
              <a:buChar char="●"/>
            </a:pPr>
            <a:r>
              <a:rPr lang="en"/>
              <a:t>Wire the AD2 as in the image, </a:t>
            </a:r>
            <a:r>
              <a:rPr lang="en"/>
              <a:t>with</a:t>
            </a:r>
            <a:r>
              <a:rPr lang="en"/>
              <a:t> Ch1 on SCL, Ch2 on SDA.</a:t>
            </a:r>
            <a:endParaRPr/>
          </a:p>
          <a:p>
            <a:pPr indent="-342900" lvl="0" marL="457200" rtl="0" algn="l">
              <a:spcBef>
                <a:spcPts val="0"/>
              </a:spcBef>
              <a:spcAft>
                <a:spcPts val="0"/>
              </a:spcAft>
              <a:buSzPts val="1800"/>
              <a:buChar char="●"/>
            </a:pPr>
            <a:r>
              <a:rPr lang="en"/>
              <a:t>Download "i2c.c" and "i2c.h" and put them into your mylib folder. </a:t>
            </a:r>
            <a:endParaRPr/>
          </a:p>
          <a:p>
            <a:pPr indent="-342900" lvl="0" marL="457200" rtl="0" algn="l">
              <a:spcBef>
                <a:spcPts val="0"/>
              </a:spcBef>
              <a:spcAft>
                <a:spcPts val="0"/>
              </a:spcAft>
              <a:buSzPts val="1800"/>
              <a:buChar char="●"/>
            </a:pPr>
            <a:r>
              <a:rPr lang="en"/>
              <a:t>Download "pingDisplay.c" from Canvas and put it in a new project "SevenSegI2CFirstSteps" (copy of TemplateProject).</a:t>
            </a:r>
            <a:endParaRPr/>
          </a:p>
          <a:p>
            <a:pPr indent="-342900" lvl="0" marL="457200" rtl="0" algn="l">
              <a:spcBef>
                <a:spcPts val="0"/>
              </a:spcBef>
              <a:spcAft>
                <a:spcPts val="0"/>
              </a:spcAft>
              <a:buSzPts val="1800"/>
              <a:buChar char="●"/>
            </a:pPr>
            <a:r>
              <a:rPr lang="en"/>
              <a:t>Start the AD2 and put it in oscilloscope mode.</a:t>
            </a:r>
            <a:endParaRPr/>
          </a:p>
          <a:p>
            <a:pPr indent="-342900" lvl="0" marL="457200" rtl="0" algn="l">
              <a:spcBef>
                <a:spcPts val="0"/>
              </a:spcBef>
              <a:spcAft>
                <a:spcPts val="0"/>
              </a:spcAft>
              <a:buSzPts val="1800"/>
              <a:buChar char="●"/>
            </a:pPr>
            <a:r>
              <a:rPr lang="en"/>
              <a:t>Compile and flash the code to your Nucleo.</a:t>
            </a:r>
            <a:endParaRPr/>
          </a:p>
        </p:txBody>
      </p:sp>
      <p:sp>
        <p:nvSpPr>
          <p:cNvPr id="227" name="Google Shape;227;p43"/>
          <p:cNvSpPr txBox="1"/>
          <p:nvPr/>
        </p:nvSpPr>
        <p:spPr>
          <a:xfrm>
            <a:off x="5662050" y="5022600"/>
            <a:ext cx="1568400" cy="369300"/>
          </a:xfrm>
          <a:prstGeom prst="rect">
            <a:avLst/>
          </a:prstGeom>
          <a:solidFill>
            <a:srgbClr val="F1C232"/>
          </a:solid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t>+V, GND, SDA, SCL</a:t>
            </a:r>
            <a:endParaRPr sz="1200"/>
          </a:p>
        </p:txBody>
      </p:sp>
      <p:cxnSp>
        <p:nvCxnSpPr>
          <p:cNvPr id="228" name="Google Shape;228;p43"/>
          <p:cNvCxnSpPr>
            <a:stCxn id="227" idx="1"/>
          </p:cNvCxnSpPr>
          <p:nvPr/>
        </p:nvCxnSpPr>
        <p:spPr>
          <a:xfrm rot="10800000">
            <a:off x="4795050" y="5203050"/>
            <a:ext cx="867000" cy="4200"/>
          </a:xfrm>
          <a:prstGeom prst="straightConnector1">
            <a:avLst/>
          </a:prstGeom>
          <a:noFill/>
          <a:ln cap="flat" cmpd="sng" w="28575">
            <a:solidFill>
              <a:srgbClr val="F1C232"/>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4"/>
          <p:cNvSpPr txBox="1"/>
          <p:nvPr>
            <p:ph type="title"/>
          </p:nvPr>
        </p:nvSpPr>
        <p:spPr>
          <a:xfrm>
            <a:off x="152400" y="111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single sweep</a:t>
            </a:r>
            <a:endParaRPr/>
          </a:p>
        </p:txBody>
      </p:sp>
      <p:pic>
        <p:nvPicPr>
          <p:cNvPr id="234" name="Google Shape;234;p44" title="Screenshot 2025-12-10 at 11.00.25 AM.png"/>
          <p:cNvPicPr preferRelativeResize="0"/>
          <p:nvPr/>
        </p:nvPicPr>
        <p:blipFill>
          <a:blip r:embed="rId3">
            <a:alphaModFix/>
          </a:blip>
          <a:stretch>
            <a:fillRect/>
          </a:stretch>
        </p:blipFill>
        <p:spPr>
          <a:xfrm>
            <a:off x="152400" y="1496204"/>
            <a:ext cx="8520602" cy="4643045"/>
          </a:xfrm>
          <a:prstGeom prst="rect">
            <a:avLst/>
          </a:prstGeom>
          <a:noFill/>
          <a:ln>
            <a:noFill/>
          </a:ln>
        </p:spPr>
      </p:pic>
      <p:pic>
        <p:nvPicPr>
          <p:cNvPr id="235" name="Google Shape;235;p44" title="Screenshot 2025-12-10 at 11.01.29 AM.png"/>
          <p:cNvPicPr preferRelativeResize="0"/>
          <p:nvPr/>
        </p:nvPicPr>
        <p:blipFill>
          <a:blip r:embed="rId4">
            <a:alphaModFix/>
          </a:blip>
          <a:stretch>
            <a:fillRect/>
          </a:stretch>
        </p:blipFill>
        <p:spPr>
          <a:xfrm>
            <a:off x="6433777" y="2074425"/>
            <a:ext cx="2193625" cy="4142276"/>
          </a:xfrm>
          <a:prstGeom prst="rect">
            <a:avLst/>
          </a:prstGeom>
          <a:noFill/>
          <a:ln>
            <a:noFill/>
          </a:ln>
        </p:spPr>
      </p:pic>
      <p:pic>
        <p:nvPicPr>
          <p:cNvPr id="236" name="Google Shape;236;p44" title="Screenshot 2025-12-10 at 11.02.23 AM.png"/>
          <p:cNvPicPr preferRelativeResize="0"/>
          <p:nvPr/>
        </p:nvPicPr>
        <p:blipFill>
          <a:blip r:embed="rId5">
            <a:alphaModFix/>
          </a:blip>
          <a:stretch>
            <a:fillRect/>
          </a:stretch>
        </p:blipFill>
        <p:spPr>
          <a:xfrm>
            <a:off x="357600" y="903247"/>
            <a:ext cx="8520598" cy="492328"/>
          </a:xfrm>
          <a:prstGeom prst="rect">
            <a:avLst/>
          </a:prstGeom>
          <a:noFill/>
          <a:ln>
            <a:noFill/>
          </a:ln>
        </p:spPr>
      </p:pic>
      <p:sp>
        <p:nvSpPr>
          <p:cNvPr id="237" name="Google Shape;237;p44"/>
          <p:cNvSpPr/>
          <p:nvPr/>
        </p:nvSpPr>
        <p:spPr>
          <a:xfrm>
            <a:off x="3188475" y="1622200"/>
            <a:ext cx="4687500" cy="2694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45" title="Screenshot 2025-12-10 at 11.00.25 AM.png"/>
          <p:cNvPicPr preferRelativeResize="0"/>
          <p:nvPr/>
        </p:nvPicPr>
        <p:blipFill>
          <a:blip r:embed="rId3">
            <a:alphaModFix/>
          </a:blip>
          <a:stretch>
            <a:fillRect/>
          </a:stretch>
        </p:blipFill>
        <p:spPr>
          <a:xfrm>
            <a:off x="244025" y="966154"/>
            <a:ext cx="8520602" cy="4643045"/>
          </a:xfrm>
          <a:prstGeom prst="rect">
            <a:avLst/>
          </a:prstGeom>
          <a:noFill/>
          <a:ln>
            <a:noFill/>
          </a:ln>
        </p:spPr>
      </p:pic>
      <p:sp>
        <p:nvSpPr>
          <p:cNvPr id="243" name="Google Shape;243;p45"/>
          <p:cNvSpPr txBox="1"/>
          <p:nvPr>
            <p:ph type="title"/>
          </p:nvPr>
        </p:nvSpPr>
        <p:spPr>
          <a:xfrm>
            <a:off x="152400" y="111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single sweep</a:t>
            </a:r>
            <a:endParaRPr/>
          </a:p>
        </p:txBody>
      </p:sp>
      <p:sp>
        <p:nvSpPr>
          <p:cNvPr id="244" name="Google Shape;244;p45"/>
          <p:cNvSpPr txBox="1"/>
          <p:nvPr/>
        </p:nvSpPr>
        <p:spPr>
          <a:xfrm>
            <a:off x="6148575" y="3947400"/>
            <a:ext cx="669600" cy="461700"/>
          </a:xfrm>
          <a:prstGeom prst="rect">
            <a:avLst/>
          </a:prstGeom>
          <a:solidFill>
            <a:srgbClr val="FF99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SCL</a:t>
            </a:r>
            <a:endParaRPr sz="1800">
              <a:solidFill>
                <a:schemeClr val="dk1"/>
              </a:solidFill>
            </a:endParaRPr>
          </a:p>
        </p:txBody>
      </p:sp>
      <p:sp>
        <p:nvSpPr>
          <p:cNvPr id="245" name="Google Shape;245;p45"/>
          <p:cNvSpPr txBox="1"/>
          <p:nvPr/>
        </p:nvSpPr>
        <p:spPr>
          <a:xfrm>
            <a:off x="6148575" y="2430084"/>
            <a:ext cx="669600" cy="461700"/>
          </a:xfrm>
          <a:prstGeom prst="rect">
            <a:avLst/>
          </a:prstGeom>
          <a:solidFill>
            <a:srgbClr val="9900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rPr>
              <a:t>SDA</a:t>
            </a:r>
            <a:endParaRPr sz="1800">
              <a:solidFill>
                <a:srgbClr val="FFFFFF"/>
              </a:solidFill>
            </a:endParaRPr>
          </a:p>
        </p:txBody>
      </p:sp>
      <p:cxnSp>
        <p:nvCxnSpPr>
          <p:cNvPr id="246" name="Google Shape;246;p45"/>
          <p:cNvCxnSpPr/>
          <p:nvPr/>
        </p:nvCxnSpPr>
        <p:spPr>
          <a:xfrm flipH="1" rot="10800000">
            <a:off x="1945925" y="1961425"/>
            <a:ext cx="28500" cy="1485300"/>
          </a:xfrm>
          <a:prstGeom prst="straightConnector1">
            <a:avLst/>
          </a:prstGeom>
          <a:noFill/>
          <a:ln cap="flat" cmpd="sng" w="19050">
            <a:solidFill>
              <a:srgbClr val="783F04"/>
            </a:solidFill>
            <a:prstDash val="dash"/>
            <a:round/>
            <a:headEnd len="med" w="med" type="none"/>
            <a:tailEnd len="med" w="med" type="none"/>
          </a:ln>
        </p:spPr>
      </p:cxnSp>
      <p:cxnSp>
        <p:nvCxnSpPr>
          <p:cNvPr id="247" name="Google Shape;247;p45"/>
          <p:cNvCxnSpPr/>
          <p:nvPr/>
        </p:nvCxnSpPr>
        <p:spPr>
          <a:xfrm flipH="1" rot="10800000">
            <a:off x="2544800" y="1954525"/>
            <a:ext cx="5400" cy="1499100"/>
          </a:xfrm>
          <a:prstGeom prst="straightConnector1">
            <a:avLst/>
          </a:prstGeom>
          <a:noFill/>
          <a:ln cap="flat" cmpd="sng" w="19050">
            <a:solidFill>
              <a:srgbClr val="783F04"/>
            </a:solidFill>
            <a:prstDash val="dash"/>
            <a:round/>
            <a:headEnd len="med" w="med" type="none"/>
            <a:tailEnd len="med" w="med" type="none"/>
          </a:ln>
        </p:spPr>
      </p:cxnSp>
      <p:cxnSp>
        <p:nvCxnSpPr>
          <p:cNvPr id="248" name="Google Shape;248;p45"/>
          <p:cNvCxnSpPr/>
          <p:nvPr/>
        </p:nvCxnSpPr>
        <p:spPr>
          <a:xfrm rot="10800000">
            <a:off x="2850825" y="3066075"/>
            <a:ext cx="11100" cy="366000"/>
          </a:xfrm>
          <a:prstGeom prst="straightConnector1">
            <a:avLst/>
          </a:prstGeom>
          <a:noFill/>
          <a:ln cap="flat" cmpd="sng" w="19050">
            <a:solidFill>
              <a:srgbClr val="783F04"/>
            </a:solidFill>
            <a:prstDash val="dash"/>
            <a:round/>
            <a:headEnd len="med" w="med" type="none"/>
            <a:tailEnd len="med" w="med" type="none"/>
          </a:ln>
        </p:spPr>
      </p:cxnSp>
      <p:cxnSp>
        <p:nvCxnSpPr>
          <p:cNvPr id="249" name="Google Shape;249;p45"/>
          <p:cNvCxnSpPr/>
          <p:nvPr/>
        </p:nvCxnSpPr>
        <p:spPr>
          <a:xfrm rot="10800000">
            <a:off x="3164800" y="3057050"/>
            <a:ext cx="2700" cy="372600"/>
          </a:xfrm>
          <a:prstGeom prst="straightConnector1">
            <a:avLst/>
          </a:prstGeom>
          <a:noFill/>
          <a:ln cap="flat" cmpd="sng" w="19050">
            <a:solidFill>
              <a:srgbClr val="783F04"/>
            </a:solidFill>
            <a:prstDash val="dash"/>
            <a:round/>
            <a:headEnd len="med" w="med" type="none"/>
            <a:tailEnd len="med" w="med" type="none"/>
          </a:ln>
        </p:spPr>
      </p:cxnSp>
      <p:cxnSp>
        <p:nvCxnSpPr>
          <p:cNvPr id="250" name="Google Shape;250;p45"/>
          <p:cNvCxnSpPr/>
          <p:nvPr/>
        </p:nvCxnSpPr>
        <p:spPr>
          <a:xfrm rot="10800000">
            <a:off x="3474275" y="3050300"/>
            <a:ext cx="1500" cy="386100"/>
          </a:xfrm>
          <a:prstGeom prst="straightConnector1">
            <a:avLst/>
          </a:prstGeom>
          <a:noFill/>
          <a:ln cap="flat" cmpd="sng" w="19050">
            <a:solidFill>
              <a:srgbClr val="783F04"/>
            </a:solidFill>
            <a:prstDash val="dash"/>
            <a:round/>
            <a:headEnd len="med" w="med" type="none"/>
            <a:tailEnd len="med" w="med" type="none"/>
          </a:ln>
        </p:spPr>
      </p:cxnSp>
      <p:cxnSp>
        <p:nvCxnSpPr>
          <p:cNvPr id="251" name="Google Shape;251;p45"/>
          <p:cNvCxnSpPr/>
          <p:nvPr/>
        </p:nvCxnSpPr>
        <p:spPr>
          <a:xfrm flipH="1" rot="10800000">
            <a:off x="3775638" y="3053600"/>
            <a:ext cx="12600" cy="379500"/>
          </a:xfrm>
          <a:prstGeom prst="straightConnector1">
            <a:avLst/>
          </a:prstGeom>
          <a:noFill/>
          <a:ln cap="flat" cmpd="sng" w="19050">
            <a:solidFill>
              <a:srgbClr val="783F04"/>
            </a:solidFill>
            <a:prstDash val="dash"/>
            <a:round/>
            <a:headEnd len="med" w="med" type="none"/>
            <a:tailEnd len="med" w="med" type="none"/>
          </a:ln>
        </p:spPr>
      </p:cxnSp>
      <p:cxnSp>
        <p:nvCxnSpPr>
          <p:cNvPr id="252" name="Google Shape;252;p45"/>
          <p:cNvCxnSpPr/>
          <p:nvPr/>
        </p:nvCxnSpPr>
        <p:spPr>
          <a:xfrm flipH="1" rot="10800000">
            <a:off x="4092163" y="3053600"/>
            <a:ext cx="300" cy="379500"/>
          </a:xfrm>
          <a:prstGeom prst="straightConnector1">
            <a:avLst/>
          </a:prstGeom>
          <a:noFill/>
          <a:ln cap="flat" cmpd="sng" w="19050">
            <a:solidFill>
              <a:srgbClr val="783F04"/>
            </a:solidFill>
            <a:prstDash val="dash"/>
            <a:round/>
            <a:headEnd len="med" w="med" type="none"/>
            <a:tailEnd len="med" w="med" type="none"/>
          </a:ln>
        </p:spPr>
      </p:cxnSp>
      <p:cxnSp>
        <p:nvCxnSpPr>
          <p:cNvPr id="253" name="Google Shape;253;p45"/>
          <p:cNvCxnSpPr/>
          <p:nvPr/>
        </p:nvCxnSpPr>
        <p:spPr>
          <a:xfrm flipH="1" rot="10800000">
            <a:off x="4396400" y="3044475"/>
            <a:ext cx="300" cy="409200"/>
          </a:xfrm>
          <a:prstGeom prst="straightConnector1">
            <a:avLst/>
          </a:prstGeom>
          <a:noFill/>
          <a:ln cap="flat" cmpd="sng" w="19050">
            <a:solidFill>
              <a:srgbClr val="783F04"/>
            </a:solidFill>
            <a:prstDash val="dash"/>
            <a:round/>
            <a:headEnd len="med" w="med" type="none"/>
            <a:tailEnd len="med" w="med" type="none"/>
          </a:ln>
        </p:spPr>
      </p:cxnSp>
      <p:cxnSp>
        <p:nvCxnSpPr>
          <p:cNvPr id="254" name="Google Shape;254;p45"/>
          <p:cNvCxnSpPr/>
          <p:nvPr/>
        </p:nvCxnSpPr>
        <p:spPr>
          <a:xfrm flipH="1" rot="10800000">
            <a:off x="2230075" y="1968175"/>
            <a:ext cx="14100" cy="1471800"/>
          </a:xfrm>
          <a:prstGeom prst="straightConnector1">
            <a:avLst/>
          </a:prstGeom>
          <a:noFill/>
          <a:ln cap="flat" cmpd="sng" w="19050">
            <a:solidFill>
              <a:srgbClr val="783F04"/>
            </a:solidFill>
            <a:prstDash val="dash"/>
            <a:round/>
            <a:headEnd len="med" w="med" type="none"/>
            <a:tailEnd len="med" w="med" type="none"/>
          </a:ln>
        </p:spPr>
      </p:cxnSp>
      <p:sp>
        <p:nvSpPr>
          <p:cNvPr id="255" name="Google Shape;255;p45"/>
          <p:cNvSpPr txBox="1"/>
          <p:nvPr/>
        </p:nvSpPr>
        <p:spPr>
          <a:xfrm>
            <a:off x="213950" y="5889550"/>
            <a:ext cx="77139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2A00FF"/>
              </a:buClr>
              <a:buSzPts val="1800"/>
              <a:buChar char="●"/>
            </a:pPr>
            <a:r>
              <a:rPr lang="en" sz="1800">
                <a:solidFill>
                  <a:srgbClr val="2A00FF"/>
                </a:solidFill>
              </a:rPr>
              <a:t>Can you find the </a:t>
            </a:r>
            <a:r>
              <a:rPr b="1" lang="en" sz="1800">
                <a:solidFill>
                  <a:srgbClr val="2A00FF"/>
                </a:solidFill>
              </a:rPr>
              <a:t>start condition</a:t>
            </a:r>
            <a:r>
              <a:rPr lang="en" sz="1800">
                <a:solidFill>
                  <a:srgbClr val="2A00FF"/>
                </a:solidFill>
              </a:rPr>
              <a:t>? How do you know that's what it is?</a:t>
            </a:r>
            <a:endParaRPr sz="1800">
              <a:solidFill>
                <a:srgbClr val="2A00FF"/>
              </a:solidFill>
            </a:endParaRPr>
          </a:p>
          <a:p>
            <a:pPr indent="-342900" lvl="0" marL="457200" rtl="0" algn="l">
              <a:spcBef>
                <a:spcPts val="0"/>
              </a:spcBef>
              <a:spcAft>
                <a:spcPts val="0"/>
              </a:spcAft>
              <a:buClr>
                <a:srgbClr val="2A00FF"/>
              </a:buClr>
              <a:buSzPts val="1800"/>
              <a:buChar char="●"/>
            </a:pPr>
            <a:r>
              <a:rPr lang="en" sz="1800">
                <a:solidFill>
                  <a:srgbClr val="2A00FF"/>
                </a:solidFill>
              </a:rPr>
              <a:t>What </a:t>
            </a:r>
            <a:r>
              <a:rPr b="1" lang="en" sz="1800">
                <a:solidFill>
                  <a:srgbClr val="2A00FF"/>
                </a:solidFill>
              </a:rPr>
              <a:t>address</a:t>
            </a:r>
            <a:r>
              <a:rPr lang="en" sz="1800">
                <a:solidFill>
                  <a:srgbClr val="2A00FF"/>
                </a:solidFill>
              </a:rPr>
              <a:t> is being sent?</a:t>
            </a:r>
            <a:endParaRPr sz="1800">
              <a:solidFill>
                <a:srgbClr val="2A00FF"/>
              </a:solidFill>
            </a:endParaRPr>
          </a:p>
        </p:txBody>
      </p:sp>
      <p:sp>
        <p:nvSpPr>
          <p:cNvPr id="256" name="Google Shape;256;p45"/>
          <p:cNvSpPr txBox="1"/>
          <p:nvPr/>
        </p:nvSpPr>
        <p:spPr>
          <a:xfrm>
            <a:off x="4777325" y="71000"/>
            <a:ext cx="4311900" cy="2124000"/>
          </a:xfrm>
          <a:prstGeom prst="rect">
            <a:avLst/>
          </a:prstGeom>
          <a:solidFill>
            <a:schemeClr val="lt1"/>
          </a:solidFill>
          <a:ln cap="flat" cmpd="sng" w="28575">
            <a:solidFill>
              <a:srgbClr val="2A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In an I2C conversation, the data on the SDA line is considered stable and is read only when the SCL clock line is high. The data line should not change its state while the clock is high, except for two special cases: the START and STOP conditions.</a:t>
            </a:r>
            <a:endParaRPr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46" title="Screenshot 2025-12-10 at 11.00.25 AM.png"/>
          <p:cNvPicPr preferRelativeResize="0"/>
          <p:nvPr/>
        </p:nvPicPr>
        <p:blipFill>
          <a:blip r:embed="rId3">
            <a:alphaModFix/>
          </a:blip>
          <a:stretch>
            <a:fillRect/>
          </a:stretch>
        </p:blipFill>
        <p:spPr>
          <a:xfrm>
            <a:off x="244025" y="966154"/>
            <a:ext cx="8520602" cy="4643045"/>
          </a:xfrm>
          <a:prstGeom prst="rect">
            <a:avLst/>
          </a:prstGeom>
          <a:noFill/>
          <a:ln>
            <a:noFill/>
          </a:ln>
        </p:spPr>
      </p:pic>
      <p:sp>
        <p:nvSpPr>
          <p:cNvPr id="262" name="Google Shape;262;p46"/>
          <p:cNvSpPr txBox="1"/>
          <p:nvPr>
            <p:ph type="title"/>
          </p:nvPr>
        </p:nvSpPr>
        <p:spPr>
          <a:xfrm>
            <a:off x="152400" y="111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single sweep</a:t>
            </a:r>
            <a:endParaRPr/>
          </a:p>
        </p:txBody>
      </p:sp>
      <p:sp>
        <p:nvSpPr>
          <p:cNvPr id="263" name="Google Shape;263;p46"/>
          <p:cNvSpPr txBox="1"/>
          <p:nvPr/>
        </p:nvSpPr>
        <p:spPr>
          <a:xfrm>
            <a:off x="6148575" y="3672975"/>
            <a:ext cx="669600" cy="461700"/>
          </a:xfrm>
          <a:prstGeom prst="rect">
            <a:avLst/>
          </a:prstGeom>
          <a:solidFill>
            <a:srgbClr val="FF99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SCL</a:t>
            </a:r>
            <a:endParaRPr sz="1800">
              <a:solidFill>
                <a:schemeClr val="dk1"/>
              </a:solidFill>
            </a:endParaRPr>
          </a:p>
        </p:txBody>
      </p:sp>
      <p:sp>
        <p:nvSpPr>
          <p:cNvPr id="264" name="Google Shape;264;p46"/>
          <p:cNvSpPr txBox="1"/>
          <p:nvPr/>
        </p:nvSpPr>
        <p:spPr>
          <a:xfrm>
            <a:off x="6148575" y="2170000"/>
            <a:ext cx="669600" cy="461700"/>
          </a:xfrm>
          <a:prstGeom prst="rect">
            <a:avLst/>
          </a:prstGeom>
          <a:solidFill>
            <a:srgbClr val="9900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rPr>
              <a:t>SDA</a:t>
            </a:r>
            <a:endParaRPr sz="1800">
              <a:solidFill>
                <a:srgbClr val="FFFFFF"/>
              </a:solidFill>
            </a:endParaRPr>
          </a:p>
        </p:txBody>
      </p:sp>
      <p:cxnSp>
        <p:nvCxnSpPr>
          <p:cNvPr id="265" name="Google Shape;265;p46"/>
          <p:cNvCxnSpPr/>
          <p:nvPr/>
        </p:nvCxnSpPr>
        <p:spPr>
          <a:xfrm flipH="1" rot="10800000">
            <a:off x="1945925" y="1961425"/>
            <a:ext cx="28500" cy="1485300"/>
          </a:xfrm>
          <a:prstGeom prst="straightConnector1">
            <a:avLst/>
          </a:prstGeom>
          <a:noFill/>
          <a:ln cap="flat" cmpd="sng" w="19050">
            <a:solidFill>
              <a:srgbClr val="783F04"/>
            </a:solidFill>
            <a:prstDash val="dash"/>
            <a:round/>
            <a:headEnd len="med" w="med" type="none"/>
            <a:tailEnd len="med" w="med" type="none"/>
          </a:ln>
        </p:spPr>
      </p:cxnSp>
      <p:cxnSp>
        <p:nvCxnSpPr>
          <p:cNvPr id="266" name="Google Shape;266;p46"/>
          <p:cNvCxnSpPr/>
          <p:nvPr/>
        </p:nvCxnSpPr>
        <p:spPr>
          <a:xfrm flipH="1" rot="10800000">
            <a:off x="2544800" y="1954525"/>
            <a:ext cx="5400" cy="1499100"/>
          </a:xfrm>
          <a:prstGeom prst="straightConnector1">
            <a:avLst/>
          </a:prstGeom>
          <a:noFill/>
          <a:ln cap="flat" cmpd="sng" w="19050">
            <a:solidFill>
              <a:srgbClr val="783F04"/>
            </a:solidFill>
            <a:prstDash val="dash"/>
            <a:round/>
            <a:headEnd len="med" w="med" type="none"/>
            <a:tailEnd len="med" w="med" type="none"/>
          </a:ln>
        </p:spPr>
      </p:cxnSp>
      <p:cxnSp>
        <p:nvCxnSpPr>
          <p:cNvPr id="267" name="Google Shape;267;p46"/>
          <p:cNvCxnSpPr/>
          <p:nvPr/>
        </p:nvCxnSpPr>
        <p:spPr>
          <a:xfrm rot="10800000">
            <a:off x="2850825" y="3066075"/>
            <a:ext cx="11100" cy="366000"/>
          </a:xfrm>
          <a:prstGeom prst="straightConnector1">
            <a:avLst/>
          </a:prstGeom>
          <a:noFill/>
          <a:ln cap="flat" cmpd="sng" w="19050">
            <a:solidFill>
              <a:srgbClr val="783F04"/>
            </a:solidFill>
            <a:prstDash val="dash"/>
            <a:round/>
            <a:headEnd len="med" w="med" type="none"/>
            <a:tailEnd len="med" w="med" type="none"/>
          </a:ln>
        </p:spPr>
      </p:cxnSp>
      <p:cxnSp>
        <p:nvCxnSpPr>
          <p:cNvPr id="268" name="Google Shape;268;p46"/>
          <p:cNvCxnSpPr/>
          <p:nvPr/>
        </p:nvCxnSpPr>
        <p:spPr>
          <a:xfrm rot="10800000">
            <a:off x="3164800" y="3057050"/>
            <a:ext cx="2700" cy="372600"/>
          </a:xfrm>
          <a:prstGeom prst="straightConnector1">
            <a:avLst/>
          </a:prstGeom>
          <a:noFill/>
          <a:ln cap="flat" cmpd="sng" w="19050">
            <a:solidFill>
              <a:srgbClr val="783F04"/>
            </a:solidFill>
            <a:prstDash val="dash"/>
            <a:round/>
            <a:headEnd len="med" w="med" type="none"/>
            <a:tailEnd len="med" w="med" type="none"/>
          </a:ln>
        </p:spPr>
      </p:cxnSp>
      <p:cxnSp>
        <p:nvCxnSpPr>
          <p:cNvPr id="269" name="Google Shape;269;p46"/>
          <p:cNvCxnSpPr/>
          <p:nvPr/>
        </p:nvCxnSpPr>
        <p:spPr>
          <a:xfrm rot="10800000">
            <a:off x="3474275" y="3050300"/>
            <a:ext cx="1500" cy="386100"/>
          </a:xfrm>
          <a:prstGeom prst="straightConnector1">
            <a:avLst/>
          </a:prstGeom>
          <a:noFill/>
          <a:ln cap="flat" cmpd="sng" w="19050">
            <a:solidFill>
              <a:srgbClr val="783F04"/>
            </a:solidFill>
            <a:prstDash val="dash"/>
            <a:round/>
            <a:headEnd len="med" w="med" type="none"/>
            <a:tailEnd len="med" w="med" type="none"/>
          </a:ln>
        </p:spPr>
      </p:cxnSp>
      <p:cxnSp>
        <p:nvCxnSpPr>
          <p:cNvPr id="270" name="Google Shape;270;p46"/>
          <p:cNvCxnSpPr/>
          <p:nvPr/>
        </p:nvCxnSpPr>
        <p:spPr>
          <a:xfrm flipH="1" rot="10800000">
            <a:off x="3775638" y="3053600"/>
            <a:ext cx="12600" cy="379500"/>
          </a:xfrm>
          <a:prstGeom prst="straightConnector1">
            <a:avLst/>
          </a:prstGeom>
          <a:noFill/>
          <a:ln cap="flat" cmpd="sng" w="19050">
            <a:solidFill>
              <a:srgbClr val="783F04"/>
            </a:solidFill>
            <a:prstDash val="dash"/>
            <a:round/>
            <a:headEnd len="med" w="med" type="none"/>
            <a:tailEnd len="med" w="med" type="none"/>
          </a:ln>
        </p:spPr>
      </p:cxnSp>
      <p:cxnSp>
        <p:nvCxnSpPr>
          <p:cNvPr id="271" name="Google Shape;271;p46"/>
          <p:cNvCxnSpPr/>
          <p:nvPr/>
        </p:nvCxnSpPr>
        <p:spPr>
          <a:xfrm flipH="1" rot="10800000">
            <a:off x="4092163" y="3053600"/>
            <a:ext cx="300" cy="379500"/>
          </a:xfrm>
          <a:prstGeom prst="straightConnector1">
            <a:avLst/>
          </a:prstGeom>
          <a:noFill/>
          <a:ln cap="flat" cmpd="sng" w="19050">
            <a:solidFill>
              <a:srgbClr val="783F04"/>
            </a:solidFill>
            <a:prstDash val="dash"/>
            <a:round/>
            <a:headEnd len="med" w="med" type="none"/>
            <a:tailEnd len="med" w="med" type="none"/>
          </a:ln>
        </p:spPr>
      </p:cxnSp>
      <p:sp>
        <p:nvSpPr>
          <p:cNvPr id="272" name="Google Shape;272;p46"/>
          <p:cNvSpPr txBox="1"/>
          <p:nvPr/>
        </p:nvSpPr>
        <p:spPr>
          <a:xfrm>
            <a:off x="213950" y="5889550"/>
            <a:ext cx="77139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2A00FF"/>
              </a:buClr>
              <a:buSzPts val="1800"/>
              <a:buChar char="●"/>
            </a:pPr>
            <a:r>
              <a:rPr lang="en" sz="1800">
                <a:solidFill>
                  <a:srgbClr val="2A00FF"/>
                </a:solidFill>
              </a:rPr>
              <a:t>0x70 = 0b01110000. What is the "extra" 0 to the right of the address?</a:t>
            </a:r>
            <a:endParaRPr sz="1800">
              <a:solidFill>
                <a:srgbClr val="2A00FF"/>
              </a:solidFill>
            </a:endParaRPr>
          </a:p>
          <a:p>
            <a:pPr indent="-342900" lvl="0" marL="457200" rtl="0" algn="l">
              <a:spcBef>
                <a:spcPts val="0"/>
              </a:spcBef>
              <a:spcAft>
                <a:spcPts val="0"/>
              </a:spcAft>
              <a:buClr>
                <a:srgbClr val="2A00FF"/>
              </a:buClr>
              <a:buSzPts val="1800"/>
              <a:buChar char="●"/>
            </a:pPr>
            <a:r>
              <a:rPr lang="en" sz="1800">
                <a:solidFill>
                  <a:srgbClr val="2A00FF"/>
                </a:solidFill>
              </a:rPr>
              <a:t>How do you recognize the "Ack"? Who sends it?</a:t>
            </a:r>
            <a:endParaRPr sz="1800">
              <a:solidFill>
                <a:srgbClr val="2A00FF"/>
              </a:solidFill>
            </a:endParaRPr>
          </a:p>
        </p:txBody>
      </p:sp>
      <p:cxnSp>
        <p:nvCxnSpPr>
          <p:cNvPr id="273" name="Google Shape;273;p46"/>
          <p:cNvCxnSpPr/>
          <p:nvPr/>
        </p:nvCxnSpPr>
        <p:spPr>
          <a:xfrm flipH="1" rot="10800000">
            <a:off x="4396400" y="3044475"/>
            <a:ext cx="300" cy="409200"/>
          </a:xfrm>
          <a:prstGeom prst="straightConnector1">
            <a:avLst/>
          </a:prstGeom>
          <a:noFill/>
          <a:ln cap="flat" cmpd="sng" w="19050">
            <a:solidFill>
              <a:srgbClr val="783F04"/>
            </a:solidFill>
            <a:prstDash val="dash"/>
            <a:round/>
            <a:headEnd len="med" w="med" type="none"/>
            <a:tailEnd len="med" w="med" type="none"/>
          </a:ln>
        </p:spPr>
      </p:cxnSp>
      <p:sp>
        <p:nvSpPr>
          <p:cNvPr id="274" name="Google Shape;274;p46"/>
          <p:cNvSpPr txBox="1"/>
          <p:nvPr/>
        </p:nvSpPr>
        <p:spPr>
          <a:xfrm>
            <a:off x="4285125" y="2838050"/>
            <a:ext cx="285600" cy="153900"/>
          </a:xfrm>
          <a:prstGeom prst="rect">
            <a:avLst/>
          </a:prstGeom>
          <a:solidFill>
            <a:srgbClr val="93C47D"/>
          </a:solid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rPr>
              <a:t> Ack</a:t>
            </a:r>
            <a:endParaRPr sz="1000">
              <a:solidFill>
                <a:schemeClr val="dk1"/>
              </a:solidFill>
            </a:endParaRPr>
          </a:p>
        </p:txBody>
      </p:sp>
      <p:cxnSp>
        <p:nvCxnSpPr>
          <p:cNvPr id="275" name="Google Shape;275;p46"/>
          <p:cNvCxnSpPr/>
          <p:nvPr/>
        </p:nvCxnSpPr>
        <p:spPr>
          <a:xfrm flipH="1" rot="10800000">
            <a:off x="2230075" y="1968175"/>
            <a:ext cx="14100" cy="1471800"/>
          </a:xfrm>
          <a:prstGeom prst="straightConnector1">
            <a:avLst/>
          </a:prstGeom>
          <a:noFill/>
          <a:ln cap="flat" cmpd="sng" w="19050">
            <a:solidFill>
              <a:srgbClr val="783F04"/>
            </a:solidFill>
            <a:prstDash val="dash"/>
            <a:round/>
            <a:headEnd len="med" w="med" type="none"/>
            <a:tailEnd len="med" w="med" type="none"/>
          </a:ln>
        </p:spPr>
      </p:cxnSp>
      <p:pic>
        <p:nvPicPr>
          <p:cNvPr id="276" name="Google Shape;276;p46"/>
          <p:cNvPicPr preferRelativeResize="0"/>
          <p:nvPr/>
        </p:nvPicPr>
        <p:blipFill>
          <a:blip r:embed="rId4">
            <a:alphaModFix/>
          </a:blip>
          <a:stretch>
            <a:fillRect/>
          </a:stretch>
        </p:blipFill>
        <p:spPr>
          <a:xfrm>
            <a:off x="1812564" y="2834088"/>
            <a:ext cx="2472555" cy="161775"/>
          </a:xfrm>
          <a:prstGeom prst="rect">
            <a:avLst/>
          </a:prstGeom>
          <a:noFill/>
          <a:ln>
            <a:noFill/>
          </a:ln>
        </p:spPr>
      </p:pic>
      <p:sp>
        <p:nvSpPr>
          <p:cNvPr id="277" name="Google Shape;277;p46"/>
          <p:cNvSpPr/>
          <p:nvPr/>
        </p:nvSpPr>
        <p:spPr>
          <a:xfrm>
            <a:off x="4012737" y="2739572"/>
            <a:ext cx="225000" cy="381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46"/>
          <p:cNvSpPr txBox="1"/>
          <p:nvPr/>
        </p:nvSpPr>
        <p:spPr>
          <a:xfrm>
            <a:off x="70275" y="1968175"/>
            <a:ext cx="1134300" cy="738900"/>
          </a:xfrm>
          <a:prstGeom prst="rect">
            <a:avLst/>
          </a:prstGeom>
          <a:solidFill>
            <a:schemeClr val="lt1"/>
          </a:solidFill>
          <a:ln cap="flat" cmpd="sng" w="2857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900FF"/>
                </a:solidFill>
              </a:rPr>
              <a:t>Start condition</a:t>
            </a:r>
            <a:endParaRPr sz="1800">
              <a:solidFill>
                <a:srgbClr val="9900FF"/>
              </a:solidFill>
            </a:endParaRPr>
          </a:p>
        </p:txBody>
      </p:sp>
      <p:cxnSp>
        <p:nvCxnSpPr>
          <p:cNvPr id="279" name="Google Shape;279;p46"/>
          <p:cNvCxnSpPr>
            <a:stCxn id="278" idx="3"/>
          </p:cNvCxnSpPr>
          <p:nvPr/>
        </p:nvCxnSpPr>
        <p:spPr>
          <a:xfrm>
            <a:off x="1204575" y="2337625"/>
            <a:ext cx="287400" cy="44100"/>
          </a:xfrm>
          <a:prstGeom prst="straightConnector1">
            <a:avLst/>
          </a:prstGeom>
          <a:noFill/>
          <a:ln cap="flat" cmpd="sng" w="28575">
            <a:solidFill>
              <a:srgbClr val="9900FF"/>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when …</a:t>
            </a:r>
            <a:endParaRPr/>
          </a:p>
        </p:txBody>
      </p:sp>
      <p:sp>
        <p:nvSpPr>
          <p:cNvPr id="285" name="Google Shape;285;p4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your team, attempt the first question - move on to the second if you have time.</a:t>
            </a:r>
            <a:endParaRPr/>
          </a:p>
          <a:p>
            <a:pPr indent="-342900" lvl="0" marL="457200" rtl="0" algn="l">
              <a:spcBef>
                <a:spcPts val="1600"/>
              </a:spcBef>
              <a:spcAft>
                <a:spcPts val="0"/>
              </a:spcAft>
              <a:buSzPts val="1800"/>
              <a:buChar char="●"/>
            </a:pPr>
            <a:r>
              <a:rPr lang="en"/>
              <a:t>What happens when you ping the wrong address?</a:t>
            </a:r>
            <a:endParaRPr/>
          </a:p>
          <a:p>
            <a:pPr indent="-317500" lvl="1" marL="914400" rtl="0" algn="l">
              <a:spcBef>
                <a:spcPts val="0"/>
              </a:spcBef>
              <a:spcAft>
                <a:spcPts val="0"/>
              </a:spcAft>
              <a:buSzPts val="1400"/>
              <a:buChar char="○"/>
            </a:pPr>
            <a:r>
              <a:rPr lang="en"/>
              <a:t>Modify the code so that the device address is 0x60 (for example). Re-compile and flash your code. </a:t>
            </a:r>
            <a:endParaRPr/>
          </a:p>
          <a:p>
            <a:pPr indent="-317500" lvl="1" marL="914400" rtl="0" algn="l">
              <a:spcBef>
                <a:spcPts val="0"/>
              </a:spcBef>
              <a:spcAft>
                <a:spcPts val="0"/>
              </a:spcAft>
              <a:buSzPts val="1400"/>
              <a:buChar char="○"/>
            </a:pPr>
            <a:r>
              <a:rPr lang="en"/>
              <a:t>Take a single sweep - you may need to start the single sweep and then restart your Nucleo (black on-board button). What do you observe?</a:t>
            </a:r>
            <a:endParaRPr/>
          </a:p>
          <a:p>
            <a:pPr indent="-342900" lvl="0" marL="457200" rtl="0" algn="l">
              <a:spcBef>
                <a:spcPts val="0"/>
              </a:spcBef>
              <a:spcAft>
                <a:spcPts val="0"/>
              </a:spcAft>
              <a:buSzPts val="1800"/>
              <a:buChar char="●"/>
            </a:pPr>
            <a:r>
              <a:rPr lang="en"/>
              <a:t>What happens when you send a different data byte?</a:t>
            </a:r>
            <a:endParaRPr/>
          </a:p>
          <a:p>
            <a:pPr indent="-317500" lvl="1" marL="914400" rtl="0" algn="l">
              <a:spcBef>
                <a:spcPts val="0"/>
              </a:spcBef>
              <a:spcAft>
                <a:spcPts val="0"/>
              </a:spcAft>
              <a:buSzPts val="1400"/>
              <a:buChar char="○"/>
            </a:pPr>
            <a:r>
              <a:rPr lang="en"/>
              <a:t>Go back to the correct device address: 0x70. </a:t>
            </a:r>
            <a:endParaRPr/>
          </a:p>
          <a:p>
            <a:pPr indent="-317500" lvl="1" marL="914400" rtl="0" algn="l">
              <a:spcBef>
                <a:spcPts val="0"/>
              </a:spcBef>
              <a:spcAft>
                <a:spcPts val="0"/>
              </a:spcAft>
              <a:buSzPts val="1400"/>
              <a:buChar char="○"/>
            </a:pPr>
            <a:r>
              <a:rPr lang="en"/>
              <a:t>Modify the data byte and observe the difference after you reflash and take a single sweep.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when you ping the wrong address?</a:t>
            </a:r>
            <a:endParaRPr/>
          </a:p>
        </p:txBody>
      </p:sp>
      <p:sp>
        <p:nvSpPr>
          <p:cNvPr id="291" name="Google Shape;291;p4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Modify the code so that the device address is 0x60 (for example). Re-compile and flash your code. </a:t>
            </a:r>
            <a:endParaRPr/>
          </a:p>
          <a:p>
            <a:pPr indent="0" lvl="0" marL="0" rtl="0" algn="l">
              <a:spcBef>
                <a:spcPts val="1600"/>
              </a:spcBef>
              <a:spcAft>
                <a:spcPts val="0"/>
              </a:spcAft>
              <a:buClr>
                <a:schemeClr val="dk1"/>
              </a:buClr>
              <a:buSzPts val="1100"/>
              <a:buFont typeface="Arial"/>
              <a:buNone/>
            </a:pPr>
            <a:r>
              <a:rPr lang="en"/>
              <a:t>Take a single sweep - you may need to start the single sweep and then restart your Nucleo (black on-board button). What do you observe?</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49" title="Screenshot 2025-12-10 at 11.16.58 AM.png"/>
          <p:cNvPicPr preferRelativeResize="0"/>
          <p:nvPr/>
        </p:nvPicPr>
        <p:blipFill>
          <a:blip r:embed="rId3">
            <a:alphaModFix/>
          </a:blip>
          <a:stretch>
            <a:fillRect/>
          </a:stretch>
        </p:blipFill>
        <p:spPr>
          <a:xfrm>
            <a:off x="152400" y="676103"/>
            <a:ext cx="8662687" cy="4699338"/>
          </a:xfrm>
          <a:prstGeom prst="rect">
            <a:avLst/>
          </a:prstGeom>
          <a:noFill/>
          <a:ln>
            <a:noFill/>
          </a:ln>
        </p:spPr>
      </p:pic>
      <p:sp>
        <p:nvSpPr>
          <p:cNvPr id="297" name="Google Shape;297;p49"/>
          <p:cNvSpPr txBox="1"/>
          <p:nvPr>
            <p:ph type="title"/>
          </p:nvPr>
        </p:nvSpPr>
        <p:spPr>
          <a:xfrm>
            <a:off x="156725" y="3533"/>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Wrong i2c address…</a:t>
            </a:r>
            <a:endParaRPr/>
          </a:p>
        </p:txBody>
      </p:sp>
      <p:sp>
        <p:nvSpPr>
          <p:cNvPr id="298" name="Google Shape;298;p49"/>
          <p:cNvSpPr txBox="1"/>
          <p:nvPr/>
        </p:nvSpPr>
        <p:spPr>
          <a:xfrm>
            <a:off x="6393575" y="3732650"/>
            <a:ext cx="740400" cy="461700"/>
          </a:xfrm>
          <a:prstGeom prst="rect">
            <a:avLst/>
          </a:prstGeom>
          <a:solidFill>
            <a:srgbClr val="FF99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SCL</a:t>
            </a:r>
            <a:endParaRPr sz="1800">
              <a:solidFill>
                <a:schemeClr val="dk1"/>
              </a:solidFill>
            </a:endParaRPr>
          </a:p>
        </p:txBody>
      </p:sp>
      <p:sp>
        <p:nvSpPr>
          <p:cNvPr id="299" name="Google Shape;299;p49"/>
          <p:cNvSpPr txBox="1"/>
          <p:nvPr/>
        </p:nvSpPr>
        <p:spPr>
          <a:xfrm>
            <a:off x="6464225" y="1937416"/>
            <a:ext cx="669600" cy="461700"/>
          </a:xfrm>
          <a:prstGeom prst="rect">
            <a:avLst/>
          </a:prstGeom>
          <a:solidFill>
            <a:srgbClr val="9900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rPr>
              <a:t>SDA</a:t>
            </a:r>
            <a:endParaRPr sz="1800">
              <a:solidFill>
                <a:srgbClr val="FFFFFF"/>
              </a:solidFill>
            </a:endParaRPr>
          </a:p>
        </p:txBody>
      </p:sp>
      <p:cxnSp>
        <p:nvCxnSpPr>
          <p:cNvPr id="300" name="Google Shape;300;p49"/>
          <p:cNvCxnSpPr/>
          <p:nvPr/>
        </p:nvCxnSpPr>
        <p:spPr>
          <a:xfrm flipH="1" rot="10800000">
            <a:off x="1925550" y="1599791"/>
            <a:ext cx="11400" cy="1444200"/>
          </a:xfrm>
          <a:prstGeom prst="straightConnector1">
            <a:avLst/>
          </a:prstGeom>
          <a:noFill/>
          <a:ln cap="flat" cmpd="sng" w="19050">
            <a:solidFill>
              <a:srgbClr val="783F04"/>
            </a:solidFill>
            <a:prstDash val="dash"/>
            <a:round/>
            <a:headEnd len="med" w="med" type="none"/>
            <a:tailEnd len="med" w="med" type="none"/>
          </a:ln>
        </p:spPr>
      </p:cxnSp>
      <p:cxnSp>
        <p:nvCxnSpPr>
          <p:cNvPr id="301" name="Google Shape;301;p49"/>
          <p:cNvCxnSpPr/>
          <p:nvPr/>
        </p:nvCxnSpPr>
        <p:spPr>
          <a:xfrm rot="10800000">
            <a:off x="2184813" y="1579241"/>
            <a:ext cx="1500" cy="1485300"/>
          </a:xfrm>
          <a:prstGeom prst="straightConnector1">
            <a:avLst/>
          </a:prstGeom>
          <a:noFill/>
          <a:ln cap="flat" cmpd="sng" w="19050">
            <a:solidFill>
              <a:srgbClr val="783F04"/>
            </a:solidFill>
            <a:prstDash val="dash"/>
            <a:round/>
            <a:headEnd len="med" w="med" type="none"/>
            <a:tailEnd len="med" w="med" type="none"/>
          </a:ln>
        </p:spPr>
      </p:cxnSp>
      <p:cxnSp>
        <p:nvCxnSpPr>
          <p:cNvPr id="302" name="Google Shape;302;p49"/>
          <p:cNvCxnSpPr/>
          <p:nvPr/>
        </p:nvCxnSpPr>
        <p:spPr>
          <a:xfrm flipH="1" rot="10800000">
            <a:off x="2850650" y="2682641"/>
            <a:ext cx="10200" cy="381900"/>
          </a:xfrm>
          <a:prstGeom prst="straightConnector1">
            <a:avLst/>
          </a:prstGeom>
          <a:noFill/>
          <a:ln cap="flat" cmpd="sng" w="19050">
            <a:solidFill>
              <a:srgbClr val="783F04"/>
            </a:solidFill>
            <a:prstDash val="dash"/>
            <a:round/>
            <a:headEnd len="med" w="med" type="none"/>
            <a:tailEnd len="med" w="med" type="none"/>
          </a:ln>
        </p:spPr>
      </p:cxnSp>
      <p:cxnSp>
        <p:nvCxnSpPr>
          <p:cNvPr id="303" name="Google Shape;303;p49"/>
          <p:cNvCxnSpPr/>
          <p:nvPr/>
        </p:nvCxnSpPr>
        <p:spPr>
          <a:xfrm rot="10800000">
            <a:off x="3167025" y="2692066"/>
            <a:ext cx="5700" cy="399900"/>
          </a:xfrm>
          <a:prstGeom prst="straightConnector1">
            <a:avLst/>
          </a:prstGeom>
          <a:noFill/>
          <a:ln cap="flat" cmpd="sng" w="19050">
            <a:solidFill>
              <a:srgbClr val="783F04"/>
            </a:solidFill>
            <a:prstDash val="dash"/>
            <a:round/>
            <a:headEnd len="med" w="med" type="none"/>
            <a:tailEnd len="med" w="med" type="none"/>
          </a:ln>
        </p:spPr>
      </p:cxnSp>
      <p:cxnSp>
        <p:nvCxnSpPr>
          <p:cNvPr id="304" name="Google Shape;304;p49"/>
          <p:cNvCxnSpPr/>
          <p:nvPr/>
        </p:nvCxnSpPr>
        <p:spPr>
          <a:xfrm rot="10800000">
            <a:off x="3483425" y="2682816"/>
            <a:ext cx="4500" cy="402300"/>
          </a:xfrm>
          <a:prstGeom prst="straightConnector1">
            <a:avLst/>
          </a:prstGeom>
          <a:noFill/>
          <a:ln cap="flat" cmpd="sng" w="19050">
            <a:solidFill>
              <a:srgbClr val="783F04"/>
            </a:solidFill>
            <a:prstDash val="dash"/>
            <a:round/>
            <a:headEnd len="med" w="med" type="none"/>
            <a:tailEnd len="med" w="med" type="none"/>
          </a:ln>
        </p:spPr>
      </p:cxnSp>
      <p:cxnSp>
        <p:nvCxnSpPr>
          <p:cNvPr id="305" name="Google Shape;305;p49"/>
          <p:cNvCxnSpPr/>
          <p:nvPr/>
        </p:nvCxnSpPr>
        <p:spPr>
          <a:xfrm rot="10800000">
            <a:off x="3803050" y="2682591"/>
            <a:ext cx="13800" cy="388800"/>
          </a:xfrm>
          <a:prstGeom prst="straightConnector1">
            <a:avLst/>
          </a:prstGeom>
          <a:noFill/>
          <a:ln cap="flat" cmpd="sng" w="19050">
            <a:solidFill>
              <a:srgbClr val="783F04"/>
            </a:solidFill>
            <a:prstDash val="dash"/>
            <a:round/>
            <a:headEnd len="med" w="med" type="none"/>
            <a:tailEnd len="med" w="med" type="none"/>
          </a:ln>
        </p:spPr>
      </p:cxnSp>
      <p:cxnSp>
        <p:nvCxnSpPr>
          <p:cNvPr id="306" name="Google Shape;306;p49"/>
          <p:cNvCxnSpPr/>
          <p:nvPr/>
        </p:nvCxnSpPr>
        <p:spPr>
          <a:xfrm rot="10800000">
            <a:off x="4113100" y="2685216"/>
            <a:ext cx="4800" cy="397500"/>
          </a:xfrm>
          <a:prstGeom prst="straightConnector1">
            <a:avLst/>
          </a:prstGeom>
          <a:noFill/>
          <a:ln cap="flat" cmpd="sng" w="19050">
            <a:solidFill>
              <a:srgbClr val="783F04"/>
            </a:solidFill>
            <a:prstDash val="dash"/>
            <a:round/>
            <a:headEnd len="med" w="med" type="none"/>
            <a:tailEnd len="med" w="med" type="none"/>
          </a:ln>
        </p:spPr>
      </p:cxnSp>
      <p:pic>
        <p:nvPicPr>
          <p:cNvPr id="307" name="Google Shape;307;p49"/>
          <p:cNvPicPr preferRelativeResize="0"/>
          <p:nvPr/>
        </p:nvPicPr>
        <p:blipFill>
          <a:blip r:embed="rId4">
            <a:alphaModFix/>
          </a:blip>
          <a:stretch>
            <a:fillRect/>
          </a:stretch>
        </p:blipFill>
        <p:spPr>
          <a:xfrm>
            <a:off x="1758020" y="2472366"/>
            <a:ext cx="2585024" cy="161775"/>
          </a:xfrm>
          <a:prstGeom prst="rect">
            <a:avLst/>
          </a:prstGeom>
          <a:noFill/>
          <a:ln>
            <a:noFill/>
          </a:ln>
        </p:spPr>
      </p:pic>
      <p:sp>
        <p:nvSpPr>
          <p:cNvPr id="308" name="Google Shape;308;p49"/>
          <p:cNvSpPr txBox="1"/>
          <p:nvPr/>
        </p:nvSpPr>
        <p:spPr>
          <a:xfrm>
            <a:off x="213950" y="5527841"/>
            <a:ext cx="86712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2A00FF"/>
              </a:buClr>
              <a:buSzPts val="1800"/>
              <a:buChar char="●"/>
            </a:pPr>
            <a:r>
              <a:rPr lang="en" sz="1800">
                <a:solidFill>
                  <a:srgbClr val="2A00FF"/>
                </a:solidFill>
              </a:rPr>
              <a:t>0x60 = 0b01100000. The "extra" 0 to the right of the address indicates that we are writing to the device.</a:t>
            </a:r>
            <a:endParaRPr sz="1800">
              <a:solidFill>
                <a:srgbClr val="2A00FF"/>
              </a:solidFill>
            </a:endParaRPr>
          </a:p>
          <a:p>
            <a:pPr indent="-342900" lvl="0" marL="457200" rtl="0" algn="l">
              <a:spcBef>
                <a:spcPts val="0"/>
              </a:spcBef>
              <a:spcAft>
                <a:spcPts val="0"/>
              </a:spcAft>
              <a:buClr>
                <a:srgbClr val="2A00FF"/>
              </a:buClr>
              <a:buSzPts val="1800"/>
              <a:buChar char="●"/>
            </a:pPr>
            <a:r>
              <a:rPr lang="en" sz="1800">
                <a:solidFill>
                  <a:srgbClr val="2A00FF"/>
                </a:solidFill>
              </a:rPr>
              <a:t>Since there is no Ack from any device, the </a:t>
            </a:r>
            <a:r>
              <a:rPr lang="en" sz="1800">
                <a:solidFill>
                  <a:srgbClr val="2A00FF"/>
                </a:solidFill>
              </a:rPr>
              <a:t>controller</a:t>
            </a:r>
            <a:r>
              <a:rPr lang="en" sz="1800">
                <a:solidFill>
                  <a:srgbClr val="2A00FF"/>
                </a:solidFill>
              </a:rPr>
              <a:t> initiates a Stop condition. Can you find it?</a:t>
            </a:r>
            <a:endParaRPr sz="1800">
              <a:solidFill>
                <a:srgbClr val="2A00FF"/>
              </a:solidFill>
            </a:endParaRPr>
          </a:p>
        </p:txBody>
      </p:sp>
      <p:cxnSp>
        <p:nvCxnSpPr>
          <p:cNvPr id="309" name="Google Shape;309;p49"/>
          <p:cNvCxnSpPr/>
          <p:nvPr/>
        </p:nvCxnSpPr>
        <p:spPr>
          <a:xfrm rot="10800000">
            <a:off x="2548225" y="2682816"/>
            <a:ext cx="900" cy="402300"/>
          </a:xfrm>
          <a:prstGeom prst="straightConnector1">
            <a:avLst/>
          </a:prstGeom>
          <a:noFill/>
          <a:ln cap="flat" cmpd="sng" w="19050">
            <a:solidFill>
              <a:srgbClr val="783F04"/>
            </a:solidFill>
            <a:prstDash val="dash"/>
            <a:round/>
            <a:headEnd len="med" w="med" type="none"/>
            <a:tailEnd len="med" w="med" type="none"/>
          </a:ln>
        </p:spPr>
      </p:cxnSp>
      <p:cxnSp>
        <p:nvCxnSpPr>
          <p:cNvPr id="310" name="Google Shape;310;p49"/>
          <p:cNvCxnSpPr/>
          <p:nvPr/>
        </p:nvCxnSpPr>
        <p:spPr>
          <a:xfrm rot="10800000">
            <a:off x="4414175" y="1599891"/>
            <a:ext cx="5700" cy="1471500"/>
          </a:xfrm>
          <a:prstGeom prst="straightConnector1">
            <a:avLst/>
          </a:prstGeom>
          <a:noFill/>
          <a:ln cap="flat" cmpd="sng" w="19050">
            <a:solidFill>
              <a:srgbClr val="783F04"/>
            </a:solidFill>
            <a:prstDash val="dash"/>
            <a:round/>
            <a:headEnd len="med" w="med" type="none"/>
            <a:tailEnd len="med" w="med" type="none"/>
          </a:ln>
        </p:spPr>
      </p:cxnSp>
      <p:sp>
        <p:nvSpPr>
          <p:cNvPr id="311" name="Google Shape;311;p49"/>
          <p:cNvSpPr txBox="1"/>
          <p:nvPr/>
        </p:nvSpPr>
        <p:spPr>
          <a:xfrm>
            <a:off x="4303282" y="2476304"/>
            <a:ext cx="396600" cy="153900"/>
          </a:xfrm>
          <a:prstGeom prst="rect">
            <a:avLst/>
          </a:prstGeom>
          <a:solidFill>
            <a:srgbClr val="93C47D"/>
          </a:solid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rPr>
              <a:t>No</a:t>
            </a:r>
            <a:r>
              <a:rPr lang="en" sz="1000">
                <a:solidFill>
                  <a:schemeClr val="dk1"/>
                </a:solidFill>
              </a:rPr>
              <a:t>Ack</a:t>
            </a:r>
            <a:endParaRPr sz="1000">
              <a:solidFill>
                <a:schemeClr val="dk1"/>
              </a:solidFill>
            </a:endParaRPr>
          </a:p>
        </p:txBody>
      </p:sp>
      <p:pic>
        <p:nvPicPr>
          <p:cNvPr id="312" name="Google Shape;312;p49"/>
          <p:cNvPicPr preferRelativeResize="0"/>
          <p:nvPr/>
        </p:nvPicPr>
        <p:blipFill>
          <a:blip r:embed="rId5">
            <a:alphaModFix/>
          </a:blip>
          <a:stretch>
            <a:fillRect/>
          </a:stretch>
        </p:blipFill>
        <p:spPr>
          <a:xfrm>
            <a:off x="2507545" y="2484642"/>
            <a:ext cx="124775" cy="137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does a different data byte look like?</a:t>
            </a:r>
            <a:endParaRPr/>
          </a:p>
        </p:txBody>
      </p:sp>
      <p:sp>
        <p:nvSpPr>
          <p:cNvPr id="318" name="Google Shape;318;p5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 back to the correct device address:0x70. Modify the data byte and observe the difference after you reflash and take a single sweep. </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51" title="Screenshot 2025-12-10 at 11.24.39 AM.png"/>
          <p:cNvPicPr preferRelativeResize="0"/>
          <p:nvPr/>
        </p:nvPicPr>
        <p:blipFill>
          <a:blip r:embed="rId3">
            <a:alphaModFix/>
          </a:blip>
          <a:stretch>
            <a:fillRect/>
          </a:stretch>
        </p:blipFill>
        <p:spPr>
          <a:xfrm>
            <a:off x="525400" y="3554983"/>
            <a:ext cx="7320750" cy="2995492"/>
          </a:xfrm>
          <a:prstGeom prst="rect">
            <a:avLst/>
          </a:prstGeom>
          <a:noFill/>
          <a:ln>
            <a:noFill/>
          </a:ln>
        </p:spPr>
      </p:pic>
      <p:pic>
        <p:nvPicPr>
          <p:cNvPr id="324" name="Google Shape;324;p51" title="Screenshot 2025-12-10 at 11.23.08 AM.png"/>
          <p:cNvPicPr preferRelativeResize="0"/>
          <p:nvPr/>
        </p:nvPicPr>
        <p:blipFill>
          <a:blip r:embed="rId4">
            <a:alphaModFix/>
          </a:blip>
          <a:stretch>
            <a:fillRect/>
          </a:stretch>
        </p:blipFill>
        <p:spPr>
          <a:xfrm>
            <a:off x="446875" y="348725"/>
            <a:ext cx="7477801" cy="3099924"/>
          </a:xfrm>
          <a:prstGeom prst="rect">
            <a:avLst/>
          </a:prstGeom>
          <a:noFill/>
          <a:ln>
            <a:noFill/>
          </a:ln>
        </p:spPr>
      </p:pic>
      <p:sp>
        <p:nvSpPr>
          <p:cNvPr id="325" name="Google Shape;325;p51"/>
          <p:cNvSpPr txBox="1"/>
          <p:nvPr/>
        </p:nvSpPr>
        <p:spPr>
          <a:xfrm>
            <a:off x="7305075" y="977725"/>
            <a:ext cx="1444200" cy="461700"/>
          </a:xfrm>
          <a:prstGeom prst="rect">
            <a:avLst/>
          </a:prstGeom>
          <a:solidFill>
            <a:srgbClr val="D9EAD3"/>
          </a:solidFill>
          <a:ln cap="flat" cmpd="sng" w="19050">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Data = 0b0;</a:t>
            </a:r>
            <a:endParaRPr sz="1800">
              <a:solidFill>
                <a:schemeClr val="dk2"/>
              </a:solidFill>
            </a:endParaRPr>
          </a:p>
        </p:txBody>
      </p:sp>
      <p:sp>
        <p:nvSpPr>
          <p:cNvPr id="326" name="Google Shape;326;p51"/>
          <p:cNvSpPr txBox="1"/>
          <p:nvPr/>
        </p:nvSpPr>
        <p:spPr>
          <a:xfrm>
            <a:off x="6316950" y="5175675"/>
            <a:ext cx="2460300" cy="461700"/>
          </a:xfrm>
          <a:prstGeom prst="rect">
            <a:avLst/>
          </a:prstGeom>
          <a:solidFill>
            <a:srgbClr val="D9EAD3"/>
          </a:solidFill>
          <a:ln cap="flat" cmpd="sng" w="19050">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Data = 0b1011110;</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52"/>
          <p:cNvPicPr preferRelativeResize="0"/>
          <p:nvPr/>
        </p:nvPicPr>
        <p:blipFill rotWithShape="1">
          <a:blip r:embed="rId3">
            <a:alphaModFix/>
          </a:blip>
          <a:srcRect b="0" l="21185" r="0" t="0"/>
          <a:stretch/>
        </p:blipFill>
        <p:spPr>
          <a:xfrm>
            <a:off x="3021625" y="397475"/>
            <a:ext cx="5975398" cy="6181676"/>
          </a:xfrm>
          <a:prstGeom prst="rect">
            <a:avLst/>
          </a:prstGeom>
          <a:noFill/>
          <a:ln>
            <a:noFill/>
          </a:ln>
        </p:spPr>
      </p:pic>
      <p:sp>
        <p:nvSpPr>
          <p:cNvPr id="332" name="Google Shape;332;p52"/>
          <p:cNvSpPr txBox="1"/>
          <p:nvPr>
            <p:ph idx="1" type="body"/>
          </p:nvPr>
        </p:nvSpPr>
        <p:spPr>
          <a:xfrm>
            <a:off x="133400" y="959675"/>
            <a:ext cx="4294200" cy="631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AD2 also has a logic analyzer mode that decodes i2c for us!</a:t>
            </a:r>
            <a:endParaRPr/>
          </a:p>
        </p:txBody>
      </p:sp>
      <p:sp>
        <p:nvSpPr>
          <p:cNvPr id="333" name="Google Shape;333;p52"/>
          <p:cNvSpPr txBox="1"/>
          <p:nvPr/>
        </p:nvSpPr>
        <p:spPr>
          <a:xfrm>
            <a:off x="104800" y="1700325"/>
            <a:ext cx="2887800" cy="275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595959"/>
                </a:solidFill>
              </a:rPr>
              <a:t>Use AD2 digital channels (larger flying lead bundle). Wire 3 leads as follows:</a:t>
            </a:r>
            <a:endParaRPr sz="1600">
              <a:solidFill>
                <a:srgbClr val="595959"/>
              </a:solidFill>
            </a:endParaRPr>
          </a:p>
          <a:p>
            <a:pPr indent="0" lvl="0" marL="0" rtl="0" algn="l">
              <a:lnSpc>
                <a:spcPct val="150000"/>
              </a:lnSpc>
              <a:spcBef>
                <a:spcPts val="1600"/>
              </a:spcBef>
              <a:spcAft>
                <a:spcPts val="0"/>
              </a:spcAft>
              <a:buNone/>
            </a:pPr>
            <a:r>
              <a:rPr lang="en" sz="1600">
                <a:solidFill>
                  <a:srgbClr val="595959"/>
                </a:solidFill>
              </a:rPr>
              <a:t>GND (black) to ground (duh)</a:t>
            </a:r>
            <a:br>
              <a:rPr lang="en" sz="1600">
                <a:solidFill>
                  <a:srgbClr val="595959"/>
                </a:solidFill>
              </a:rPr>
            </a:br>
            <a:r>
              <a:rPr lang="en" sz="1600">
                <a:solidFill>
                  <a:srgbClr val="595959"/>
                </a:solidFill>
              </a:rPr>
              <a:t>D0 (pink)  to  SDA</a:t>
            </a:r>
            <a:br>
              <a:rPr lang="en" sz="1600">
                <a:solidFill>
                  <a:srgbClr val="595959"/>
                </a:solidFill>
              </a:rPr>
            </a:br>
            <a:r>
              <a:rPr lang="en" sz="1600">
                <a:solidFill>
                  <a:srgbClr val="595959"/>
                </a:solidFill>
              </a:rPr>
              <a:t>D1 (green) to SCL </a:t>
            </a:r>
            <a:endParaRPr sz="1600">
              <a:solidFill>
                <a:srgbClr val="595959"/>
              </a:solidFill>
            </a:endParaRPr>
          </a:p>
          <a:p>
            <a:pPr indent="0" lvl="0" marL="0" rtl="0" algn="l">
              <a:lnSpc>
                <a:spcPct val="115000"/>
              </a:lnSpc>
              <a:spcBef>
                <a:spcPts val="1600"/>
              </a:spcBef>
              <a:spcAft>
                <a:spcPts val="1600"/>
              </a:spcAft>
              <a:buNone/>
            </a:pPr>
            <a:r>
              <a:rPr lang="en" sz="1600">
                <a:solidFill>
                  <a:srgbClr val="595959"/>
                </a:solidFill>
              </a:rPr>
              <a:t>on the breadboard.</a:t>
            </a:r>
            <a:endParaRPr sz="1600">
              <a:solidFill>
                <a:srgbClr val="595959"/>
              </a:solidFill>
            </a:endParaRPr>
          </a:p>
        </p:txBody>
      </p:sp>
      <p:sp>
        <p:nvSpPr>
          <p:cNvPr id="334" name="Google Shape;334;p52"/>
          <p:cNvSpPr/>
          <p:nvPr/>
        </p:nvSpPr>
        <p:spPr>
          <a:xfrm>
            <a:off x="133400" y="3143275"/>
            <a:ext cx="911100" cy="313500"/>
          </a:xfrm>
          <a:prstGeom prst="rect">
            <a:avLst/>
          </a:prstGeom>
          <a:noFill/>
          <a:ln cap="flat" cmpd="sng" w="3810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2"/>
          <p:cNvSpPr/>
          <p:nvPr/>
        </p:nvSpPr>
        <p:spPr>
          <a:xfrm>
            <a:off x="1408225" y="3143275"/>
            <a:ext cx="548700" cy="3135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2"/>
          <p:cNvSpPr/>
          <p:nvPr/>
        </p:nvSpPr>
        <p:spPr>
          <a:xfrm>
            <a:off x="133400" y="3546025"/>
            <a:ext cx="1049100" cy="313500"/>
          </a:xfrm>
          <a:prstGeom prst="rect">
            <a:avLst/>
          </a:prstGeom>
          <a:no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2"/>
          <p:cNvSpPr/>
          <p:nvPr/>
        </p:nvSpPr>
        <p:spPr>
          <a:xfrm>
            <a:off x="1408213" y="3546025"/>
            <a:ext cx="548700" cy="3135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2"/>
          <p:cNvSpPr/>
          <p:nvPr/>
        </p:nvSpPr>
        <p:spPr>
          <a:xfrm>
            <a:off x="133400" y="2740525"/>
            <a:ext cx="1199100" cy="3135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2"/>
          <p:cNvSpPr/>
          <p:nvPr/>
        </p:nvSpPr>
        <p:spPr>
          <a:xfrm>
            <a:off x="1561375" y="2740525"/>
            <a:ext cx="715500" cy="3135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0" name="Google Shape;340;p52"/>
          <p:cNvPicPr preferRelativeResize="0"/>
          <p:nvPr/>
        </p:nvPicPr>
        <p:blipFill rotWithShape="1">
          <a:blip r:embed="rId4">
            <a:alphaModFix/>
          </a:blip>
          <a:srcRect b="19476" l="14749" r="0" t="19027"/>
          <a:stretch/>
        </p:blipFill>
        <p:spPr>
          <a:xfrm>
            <a:off x="133400" y="4749025"/>
            <a:ext cx="2610628" cy="2043200"/>
          </a:xfrm>
          <a:prstGeom prst="rect">
            <a:avLst/>
          </a:prstGeom>
          <a:noFill/>
          <a:ln>
            <a:noFill/>
          </a:ln>
        </p:spPr>
      </p:pic>
      <p:cxnSp>
        <p:nvCxnSpPr>
          <p:cNvPr id="341" name="Google Shape;341;p52"/>
          <p:cNvCxnSpPr/>
          <p:nvPr/>
        </p:nvCxnSpPr>
        <p:spPr>
          <a:xfrm flipH="1" rot="10800000">
            <a:off x="3205975" y="3990200"/>
            <a:ext cx="6000" cy="476100"/>
          </a:xfrm>
          <a:prstGeom prst="straightConnector1">
            <a:avLst/>
          </a:prstGeom>
          <a:noFill/>
          <a:ln cap="flat" cmpd="sng" w="38100">
            <a:solidFill>
              <a:srgbClr val="595959"/>
            </a:solidFill>
            <a:prstDash val="solid"/>
            <a:round/>
            <a:headEnd len="med" w="med" type="none"/>
            <a:tailEnd len="med" w="med" type="none"/>
          </a:ln>
        </p:spPr>
      </p:cxnSp>
      <p:cxnSp>
        <p:nvCxnSpPr>
          <p:cNvPr id="342" name="Google Shape;342;p52"/>
          <p:cNvCxnSpPr/>
          <p:nvPr/>
        </p:nvCxnSpPr>
        <p:spPr>
          <a:xfrm flipH="1" rot="10800000">
            <a:off x="1484950" y="4576750"/>
            <a:ext cx="3335700" cy="444900"/>
          </a:xfrm>
          <a:prstGeom prst="bentConnector3">
            <a:avLst>
              <a:gd fmla="val 50000" name="adj1"/>
            </a:avLst>
          </a:prstGeom>
          <a:noFill/>
          <a:ln cap="flat" cmpd="sng" w="38100">
            <a:solidFill>
              <a:srgbClr val="EA9999"/>
            </a:solidFill>
            <a:prstDash val="solid"/>
            <a:round/>
            <a:headEnd len="med" w="med" type="none"/>
            <a:tailEnd len="med" w="med" type="none"/>
          </a:ln>
        </p:spPr>
      </p:cxnSp>
      <p:cxnSp>
        <p:nvCxnSpPr>
          <p:cNvPr id="343" name="Google Shape;343;p52"/>
          <p:cNvCxnSpPr/>
          <p:nvPr/>
        </p:nvCxnSpPr>
        <p:spPr>
          <a:xfrm flipH="1" rot="10800000">
            <a:off x="1632325" y="4679650"/>
            <a:ext cx="3304200" cy="342000"/>
          </a:xfrm>
          <a:prstGeom prst="bentConnector3">
            <a:avLst>
              <a:gd fmla="val 343" name="adj1"/>
            </a:avLst>
          </a:prstGeom>
          <a:noFill/>
          <a:ln cap="flat" cmpd="sng" w="38100">
            <a:solidFill>
              <a:srgbClr val="6AA84F"/>
            </a:solidFill>
            <a:prstDash val="solid"/>
            <a:round/>
            <a:headEnd len="med" w="med" type="none"/>
            <a:tailEnd len="med" w="med" type="none"/>
          </a:ln>
        </p:spPr>
      </p:cxnSp>
      <p:sp>
        <p:nvSpPr>
          <p:cNvPr id="344" name="Google Shape;344;p52"/>
          <p:cNvSpPr txBox="1"/>
          <p:nvPr>
            <p:ph type="title"/>
          </p:nvPr>
        </p:nvSpPr>
        <p:spPr>
          <a:xfrm>
            <a:off x="133400" y="72875"/>
            <a:ext cx="4554000" cy="8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Looking at the oscilloscope trace is not exactly … wonderful?!</a:t>
            </a:r>
            <a:endParaRPr sz="2300"/>
          </a:p>
        </p:txBody>
      </p:sp>
      <p:cxnSp>
        <p:nvCxnSpPr>
          <p:cNvPr id="345" name="Google Shape;345;p52"/>
          <p:cNvCxnSpPr/>
          <p:nvPr/>
        </p:nvCxnSpPr>
        <p:spPr>
          <a:xfrm flipH="1" rot="10800000">
            <a:off x="1077525" y="4433825"/>
            <a:ext cx="2154900" cy="22200"/>
          </a:xfrm>
          <a:prstGeom prst="straightConnector1">
            <a:avLst/>
          </a:prstGeom>
          <a:noFill/>
          <a:ln cap="flat" cmpd="sng" w="38100">
            <a:solidFill>
              <a:srgbClr val="595959"/>
            </a:solidFill>
            <a:prstDash val="solid"/>
            <a:round/>
            <a:headEnd len="med" w="med" type="none"/>
            <a:tailEnd len="med" w="med" type="none"/>
          </a:ln>
        </p:spPr>
      </p:cxnSp>
      <p:cxnSp>
        <p:nvCxnSpPr>
          <p:cNvPr id="346" name="Google Shape;346;p52"/>
          <p:cNvCxnSpPr/>
          <p:nvPr/>
        </p:nvCxnSpPr>
        <p:spPr>
          <a:xfrm rot="10800000">
            <a:off x="1088875" y="4444625"/>
            <a:ext cx="11100" cy="662400"/>
          </a:xfrm>
          <a:prstGeom prst="straightConnector1">
            <a:avLst/>
          </a:prstGeom>
          <a:noFill/>
          <a:ln cap="flat" cmpd="sng" w="38100">
            <a:solidFill>
              <a:srgbClr val="595959"/>
            </a:solidFill>
            <a:prstDash val="solid"/>
            <a:round/>
            <a:headEnd len="med" w="med" type="none"/>
            <a:tailEnd len="med" w="med" type="none"/>
          </a:ln>
        </p:spPr>
      </p:cxnSp>
      <p:pic>
        <p:nvPicPr>
          <p:cNvPr id="347" name="Google Shape;347;p52" title="image_386b16d0-7734-42a0-ae94-51630e6d0d3a_700x700.png"/>
          <p:cNvPicPr preferRelativeResize="0"/>
          <p:nvPr/>
        </p:nvPicPr>
        <p:blipFill>
          <a:blip r:embed="rId5">
            <a:alphaModFix/>
          </a:blip>
          <a:stretch>
            <a:fillRect/>
          </a:stretch>
        </p:blipFill>
        <p:spPr>
          <a:xfrm>
            <a:off x="2744025" y="1505350"/>
            <a:ext cx="2203651" cy="22036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53" title="Screenshot 2025-12-10 at 11.38.21 AM.png"/>
          <p:cNvPicPr preferRelativeResize="0"/>
          <p:nvPr/>
        </p:nvPicPr>
        <p:blipFill>
          <a:blip r:embed="rId3">
            <a:alphaModFix/>
          </a:blip>
          <a:stretch>
            <a:fillRect/>
          </a:stretch>
        </p:blipFill>
        <p:spPr>
          <a:xfrm>
            <a:off x="523375" y="1665600"/>
            <a:ext cx="7796683" cy="4876873"/>
          </a:xfrm>
          <a:prstGeom prst="rect">
            <a:avLst/>
          </a:prstGeom>
          <a:noFill/>
          <a:ln>
            <a:noFill/>
          </a:ln>
        </p:spPr>
      </p:pic>
      <p:sp>
        <p:nvSpPr>
          <p:cNvPr id="353" name="Google Shape;353;p53"/>
          <p:cNvSpPr txBox="1"/>
          <p:nvPr/>
        </p:nvSpPr>
        <p:spPr>
          <a:xfrm>
            <a:off x="3628225" y="3659375"/>
            <a:ext cx="2761800" cy="6858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rPr>
              <a:t>3: Click to set DIO0 falling as trigger</a:t>
            </a:r>
            <a:endParaRPr sz="1600">
              <a:solidFill>
                <a:srgbClr val="CC0000"/>
              </a:solidFill>
            </a:endParaRPr>
          </a:p>
        </p:txBody>
      </p:sp>
      <p:sp>
        <p:nvSpPr>
          <p:cNvPr id="354" name="Google Shape;354;p53"/>
          <p:cNvSpPr txBox="1"/>
          <p:nvPr>
            <p:ph type="title"/>
          </p:nvPr>
        </p:nvSpPr>
        <p:spPr>
          <a:xfrm>
            <a:off x="311700" y="278100"/>
            <a:ext cx="6795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 up Waveforms to decode I</a:t>
            </a:r>
            <a:r>
              <a:rPr baseline="30000" lang="en"/>
              <a:t>2</a:t>
            </a:r>
            <a:r>
              <a:rPr lang="en"/>
              <a:t>C</a:t>
            </a:r>
            <a:endParaRPr/>
          </a:p>
        </p:txBody>
      </p:sp>
      <p:sp>
        <p:nvSpPr>
          <p:cNvPr id="355" name="Google Shape;355;p53"/>
          <p:cNvSpPr txBox="1"/>
          <p:nvPr/>
        </p:nvSpPr>
        <p:spPr>
          <a:xfrm>
            <a:off x="6046550" y="1000725"/>
            <a:ext cx="2590500" cy="4194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CC0000"/>
                </a:solidFill>
              </a:rPr>
              <a:t>2: Set timebase to 20us</a:t>
            </a:r>
            <a:endParaRPr sz="1500">
              <a:solidFill>
                <a:srgbClr val="CC0000"/>
              </a:solidFill>
            </a:endParaRPr>
          </a:p>
        </p:txBody>
      </p:sp>
      <p:sp>
        <p:nvSpPr>
          <p:cNvPr id="356" name="Google Shape;356;p53"/>
          <p:cNvSpPr txBox="1"/>
          <p:nvPr/>
        </p:nvSpPr>
        <p:spPr>
          <a:xfrm>
            <a:off x="905250" y="3335800"/>
            <a:ext cx="2160000" cy="7149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CC0000"/>
                </a:solidFill>
              </a:rPr>
              <a:t>1: Add (signals) DIO0 and DIO1</a:t>
            </a:r>
            <a:endParaRPr sz="1500">
              <a:solidFill>
                <a:srgbClr val="CC0000"/>
              </a:solidFill>
            </a:endParaRPr>
          </a:p>
        </p:txBody>
      </p:sp>
      <p:sp>
        <p:nvSpPr>
          <p:cNvPr id="357" name="Google Shape;357;p53"/>
          <p:cNvSpPr txBox="1"/>
          <p:nvPr/>
        </p:nvSpPr>
        <p:spPr>
          <a:xfrm>
            <a:off x="5206350" y="4604950"/>
            <a:ext cx="2761800" cy="10443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CC0000"/>
                </a:solidFill>
              </a:rPr>
              <a:t>4</a:t>
            </a:r>
            <a:r>
              <a:rPr lang="en" sz="1500">
                <a:solidFill>
                  <a:srgbClr val="CC0000"/>
                </a:solidFill>
              </a:rPr>
              <a:t>: Take a single sweep.</a:t>
            </a:r>
            <a:endParaRPr sz="1500">
              <a:solidFill>
                <a:srgbClr val="CC0000"/>
              </a:solidFill>
            </a:endParaRPr>
          </a:p>
          <a:p>
            <a:pPr indent="0" lvl="0" marL="0" rtl="0" algn="l">
              <a:spcBef>
                <a:spcPts val="1000"/>
              </a:spcBef>
              <a:spcAft>
                <a:spcPts val="0"/>
              </a:spcAft>
              <a:buNone/>
            </a:pPr>
            <a:r>
              <a:rPr lang="en" sz="1500">
                <a:solidFill>
                  <a:srgbClr val="CC0000"/>
                </a:solidFill>
              </a:rPr>
              <a:t>5: Use cursors to measure clock period / frequency.</a:t>
            </a:r>
            <a:endParaRPr sz="1500">
              <a:solidFill>
                <a:srgbClr val="CC0000"/>
              </a:solidFill>
            </a:endParaRPr>
          </a:p>
        </p:txBody>
      </p:sp>
      <p:sp>
        <p:nvSpPr>
          <p:cNvPr id="358" name="Google Shape;358;p53"/>
          <p:cNvSpPr txBox="1"/>
          <p:nvPr>
            <p:ph idx="1" type="body"/>
          </p:nvPr>
        </p:nvSpPr>
        <p:spPr>
          <a:xfrm>
            <a:off x="311700" y="1041600"/>
            <a:ext cx="5793900" cy="47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000"/>
              <a:t>Set Waveforms to </a:t>
            </a:r>
            <a:r>
              <a:rPr b="1" lang="en" sz="2000">
                <a:highlight>
                  <a:srgbClr val="FFFF00"/>
                </a:highlight>
              </a:rPr>
              <a:t>Logic</a:t>
            </a:r>
            <a:r>
              <a:rPr lang="en" sz="2000"/>
              <a:t> mode.</a:t>
            </a:r>
            <a:endParaRPr sz="2000"/>
          </a:p>
        </p:txBody>
      </p:sp>
      <p:sp>
        <p:nvSpPr>
          <p:cNvPr id="359" name="Google Shape;359;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360" name="Google Shape;360;p53"/>
          <p:cNvCxnSpPr/>
          <p:nvPr/>
        </p:nvCxnSpPr>
        <p:spPr>
          <a:xfrm rot="10800000">
            <a:off x="844125" y="2401675"/>
            <a:ext cx="634800" cy="903000"/>
          </a:xfrm>
          <a:prstGeom prst="straightConnector1">
            <a:avLst/>
          </a:prstGeom>
          <a:noFill/>
          <a:ln cap="flat" cmpd="sng" w="28575">
            <a:solidFill>
              <a:srgbClr val="990000"/>
            </a:solidFill>
            <a:prstDash val="solid"/>
            <a:round/>
            <a:headEnd len="med" w="med" type="none"/>
            <a:tailEnd len="med" w="med" type="triangle"/>
          </a:ln>
        </p:spPr>
      </p:cxnSp>
      <p:cxnSp>
        <p:nvCxnSpPr>
          <p:cNvPr id="361" name="Google Shape;361;p53"/>
          <p:cNvCxnSpPr/>
          <p:nvPr/>
        </p:nvCxnSpPr>
        <p:spPr>
          <a:xfrm flipH="1">
            <a:off x="6655125" y="1465825"/>
            <a:ext cx="490800" cy="504000"/>
          </a:xfrm>
          <a:prstGeom prst="straightConnector1">
            <a:avLst/>
          </a:prstGeom>
          <a:noFill/>
          <a:ln cap="flat" cmpd="sng" w="28575">
            <a:solidFill>
              <a:srgbClr val="990000"/>
            </a:solidFill>
            <a:prstDash val="solid"/>
            <a:round/>
            <a:headEnd len="med" w="med" type="none"/>
            <a:tailEnd len="med" w="med" type="triangle"/>
          </a:ln>
        </p:spPr>
      </p:cxnSp>
      <p:cxnSp>
        <p:nvCxnSpPr>
          <p:cNvPr id="362" name="Google Shape;362;p53"/>
          <p:cNvCxnSpPr/>
          <p:nvPr/>
        </p:nvCxnSpPr>
        <p:spPr>
          <a:xfrm rot="10800000">
            <a:off x="2336175" y="2813900"/>
            <a:ext cx="1923900" cy="837600"/>
          </a:xfrm>
          <a:prstGeom prst="straightConnector1">
            <a:avLst/>
          </a:prstGeom>
          <a:noFill/>
          <a:ln cap="flat" cmpd="sng" w="28575">
            <a:solidFill>
              <a:srgbClr val="990000"/>
            </a:solidFill>
            <a:prstDash val="solid"/>
            <a:round/>
            <a:headEnd len="med" w="med" type="none"/>
            <a:tailEnd len="med" w="med" type="triangle"/>
          </a:ln>
        </p:spPr>
      </p:cxnSp>
      <p:sp>
        <p:nvSpPr>
          <p:cNvPr id="363" name="Google Shape;363;p53"/>
          <p:cNvSpPr txBox="1"/>
          <p:nvPr/>
        </p:nvSpPr>
        <p:spPr>
          <a:xfrm>
            <a:off x="1096925" y="4842775"/>
            <a:ext cx="2160000" cy="7149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CC0000"/>
                </a:solidFill>
              </a:rPr>
              <a:t>6</a:t>
            </a:r>
            <a:r>
              <a:rPr lang="en" sz="1500">
                <a:solidFill>
                  <a:srgbClr val="CC0000"/>
                </a:solidFill>
              </a:rPr>
              <a:t>: Drag this so start bit is on the left</a:t>
            </a:r>
            <a:endParaRPr sz="1500">
              <a:solidFill>
                <a:srgbClr val="CC0000"/>
              </a:solidFill>
            </a:endParaRPr>
          </a:p>
        </p:txBody>
      </p:sp>
      <p:cxnSp>
        <p:nvCxnSpPr>
          <p:cNvPr id="364" name="Google Shape;364;p53"/>
          <p:cNvCxnSpPr/>
          <p:nvPr/>
        </p:nvCxnSpPr>
        <p:spPr>
          <a:xfrm>
            <a:off x="2578300" y="5555775"/>
            <a:ext cx="274800" cy="595500"/>
          </a:xfrm>
          <a:prstGeom prst="straightConnector1">
            <a:avLst/>
          </a:prstGeom>
          <a:noFill/>
          <a:ln cap="flat" cmpd="sng" w="28575">
            <a:solidFill>
              <a:srgbClr val="990000"/>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54" title="Screenshot 2025-12-10 at 11.57.02 AM.png"/>
          <p:cNvPicPr preferRelativeResize="0"/>
          <p:nvPr/>
        </p:nvPicPr>
        <p:blipFill>
          <a:blip r:embed="rId3">
            <a:alphaModFix/>
          </a:blip>
          <a:stretch>
            <a:fillRect/>
          </a:stretch>
        </p:blipFill>
        <p:spPr>
          <a:xfrm>
            <a:off x="268575" y="1581256"/>
            <a:ext cx="8306376" cy="4583099"/>
          </a:xfrm>
          <a:prstGeom prst="rect">
            <a:avLst/>
          </a:prstGeom>
          <a:noFill/>
          <a:ln>
            <a:noFill/>
          </a:ln>
        </p:spPr>
      </p:pic>
      <p:sp>
        <p:nvSpPr>
          <p:cNvPr id="370" name="Google Shape;370;p5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 up AD2 to decode I</a:t>
            </a:r>
            <a:r>
              <a:rPr baseline="30000" lang="en"/>
              <a:t>2</a:t>
            </a:r>
            <a:r>
              <a:rPr lang="en"/>
              <a:t>C (2)</a:t>
            </a:r>
            <a:endParaRPr/>
          </a:p>
        </p:txBody>
      </p:sp>
      <p:sp>
        <p:nvSpPr>
          <p:cNvPr id="371" name="Google Shape;371;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4"/>
          <p:cNvSpPr txBox="1"/>
          <p:nvPr/>
        </p:nvSpPr>
        <p:spPr>
          <a:xfrm>
            <a:off x="539350" y="3535425"/>
            <a:ext cx="3275700" cy="7635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rPr>
              <a:t>1: Add an I2C bus.  Select DIO1 as clock and DIO0 as data</a:t>
            </a:r>
            <a:endParaRPr sz="1600">
              <a:solidFill>
                <a:srgbClr val="CC0000"/>
              </a:solidFill>
            </a:endParaRPr>
          </a:p>
        </p:txBody>
      </p:sp>
      <p:sp>
        <p:nvSpPr>
          <p:cNvPr id="373" name="Google Shape;373;p54"/>
          <p:cNvSpPr txBox="1"/>
          <p:nvPr/>
        </p:nvSpPr>
        <p:spPr>
          <a:xfrm>
            <a:off x="1459300" y="4530900"/>
            <a:ext cx="3624000" cy="763500"/>
          </a:xfrm>
          <a:prstGeom prst="rect">
            <a:avLst/>
          </a:prstGeom>
          <a:solidFill>
            <a:schemeClr val="lt1"/>
          </a:solid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n" sz="1600">
                <a:solidFill>
                  <a:srgbClr val="CC0000"/>
                </a:solidFill>
              </a:rPr>
              <a:t>3: If your old trace disappears, take a single sweep again.</a:t>
            </a:r>
            <a:endParaRPr sz="1600">
              <a:solidFill>
                <a:srgbClr val="CC0000"/>
              </a:solidFill>
            </a:endParaRPr>
          </a:p>
        </p:txBody>
      </p:sp>
      <p:cxnSp>
        <p:nvCxnSpPr>
          <p:cNvPr id="374" name="Google Shape;374;p54"/>
          <p:cNvCxnSpPr/>
          <p:nvPr/>
        </p:nvCxnSpPr>
        <p:spPr>
          <a:xfrm rot="10800000">
            <a:off x="490900" y="1766725"/>
            <a:ext cx="687000" cy="1695000"/>
          </a:xfrm>
          <a:prstGeom prst="straightConnector1">
            <a:avLst/>
          </a:prstGeom>
          <a:noFill/>
          <a:ln cap="flat" cmpd="sng" w="28575">
            <a:solidFill>
              <a:srgbClr val="990000"/>
            </a:solidFill>
            <a:prstDash val="solid"/>
            <a:round/>
            <a:headEnd len="med" w="med" type="none"/>
            <a:tailEnd len="med" w="med" type="triangle"/>
          </a:ln>
        </p:spPr>
      </p:cxnSp>
      <p:sp>
        <p:nvSpPr>
          <p:cNvPr id="375" name="Google Shape;375;p54"/>
          <p:cNvSpPr txBox="1"/>
          <p:nvPr/>
        </p:nvSpPr>
        <p:spPr>
          <a:xfrm>
            <a:off x="3679756" y="2650024"/>
            <a:ext cx="3057000" cy="759000"/>
          </a:xfrm>
          <a:prstGeom prst="rect">
            <a:avLst/>
          </a:prstGeom>
          <a:solidFill>
            <a:schemeClr val="lt1"/>
          </a:solidFill>
          <a:ln cap="flat" cmpd="sng" w="31625">
            <a:solidFill>
              <a:srgbClr val="990000"/>
            </a:solidFill>
            <a:prstDash val="solid"/>
            <a:round/>
            <a:headEnd len="sm" w="sm" type="none"/>
            <a:tailEnd len="sm" w="sm" type="none"/>
          </a:ln>
        </p:spPr>
        <p:txBody>
          <a:bodyPr anchorCtr="0" anchor="t" bIns="101200" lIns="101200" spcFirstLastPara="1" rIns="101200" wrap="square" tIns="101200">
            <a:noAutofit/>
          </a:bodyPr>
          <a:lstStyle/>
          <a:p>
            <a:pPr indent="0" lvl="0" marL="0" rtl="0" algn="l">
              <a:spcBef>
                <a:spcPts val="0"/>
              </a:spcBef>
              <a:spcAft>
                <a:spcPts val="0"/>
              </a:spcAft>
              <a:buNone/>
            </a:pPr>
            <a:r>
              <a:rPr lang="en" sz="1771">
                <a:solidFill>
                  <a:srgbClr val="CC0000"/>
                </a:solidFill>
              </a:rPr>
              <a:t>2</a:t>
            </a:r>
            <a:r>
              <a:rPr lang="en" sz="1771">
                <a:solidFill>
                  <a:srgbClr val="CC0000"/>
                </a:solidFill>
              </a:rPr>
              <a:t>: Click to set DIO0 falling as trigger</a:t>
            </a:r>
            <a:endParaRPr sz="1771">
              <a:solidFill>
                <a:srgbClr val="CC0000"/>
              </a:solidFill>
            </a:endParaRPr>
          </a:p>
        </p:txBody>
      </p:sp>
      <p:cxnSp>
        <p:nvCxnSpPr>
          <p:cNvPr id="376" name="Google Shape;376;p54"/>
          <p:cNvCxnSpPr>
            <a:stCxn id="375" idx="1"/>
          </p:cNvCxnSpPr>
          <p:nvPr/>
        </p:nvCxnSpPr>
        <p:spPr>
          <a:xfrm rot="10800000">
            <a:off x="1518256" y="2310124"/>
            <a:ext cx="2161500" cy="719400"/>
          </a:xfrm>
          <a:prstGeom prst="straightConnector1">
            <a:avLst/>
          </a:prstGeom>
          <a:noFill/>
          <a:ln cap="flat" cmpd="sng" w="19050">
            <a:solidFill>
              <a:srgbClr val="990000"/>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ping the wrong address again.</a:t>
            </a:r>
            <a:endParaRPr/>
          </a:p>
        </p:txBody>
      </p:sp>
      <p:sp>
        <p:nvSpPr>
          <p:cNvPr id="382" name="Google Shape;382;p5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Modify the code so that the device address is 0x60 (for example). Re-compile and flash your code. </a:t>
            </a:r>
            <a:endParaRPr/>
          </a:p>
          <a:p>
            <a:pPr indent="0" lvl="0" marL="0" rtl="0" algn="l">
              <a:spcBef>
                <a:spcPts val="1600"/>
              </a:spcBef>
              <a:spcAft>
                <a:spcPts val="1600"/>
              </a:spcAft>
              <a:buNone/>
            </a:pPr>
            <a:r>
              <a:rPr lang="en"/>
              <a:t>Take a single sweep - you may need to start the single sweep and then restart your Nucleo (black on-board button). What do you observe?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Pinging the wrong address</a:t>
            </a:r>
            <a:endParaRPr/>
          </a:p>
        </p:txBody>
      </p:sp>
      <p:pic>
        <p:nvPicPr>
          <p:cNvPr id="388" name="Google Shape;388;p56" title="Screenshot 2025-12-10 at 12.01.31 PM.png"/>
          <p:cNvPicPr preferRelativeResize="0"/>
          <p:nvPr/>
        </p:nvPicPr>
        <p:blipFill rotWithShape="1">
          <a:blip r:embed="rId3">
            <a:alphaModFix/>
          </a:blip>
          <a:srcRect b="71187" l="0" r="27923" t="0"/>
          <a:stretch/>
        </p:blipFill>
        <p:spPr>
          <a:xfrm>
            <a:off x="232050" y="1417675"/>
            <a:ext cx="8661801" cy="1922349"/>
          </a:xfrm>
          <a:prstGeom prst="rect">
            <a:avLst/>
          </a:prstGeom>
          <a:noFill/>
          <a:ln>
            <a:noFill/>
          </a:ln>
        </p:spPr>
      </p:pic>
      <p:sp>
        <p:nvSpPr>
          <p:cNvPr id="389" name="Google Shape;389;p56"/>
          <p:cNvSpPr/>
          <p:nvPr/>
        </p:nvSpPr>
        <p:spPr>
          <a:xfrm>
            <a:off x="7175950" y="1778800"/>
            <a:ext cx="569400" cy="418800"/>
          </a:xfrm>
          <a:prstGeom prst="ellipse">
            <a:avLst/>
          </a:prstGeom>
          <a:noFill/>
          <a:ln cap="flat" cmpd="sng" w="19050">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7"/>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How a 7-segment display digit works</a:t>
            </a:r>
            <a:endParaRPr/>
          </a:p>
        </p:txBody>
      </p:sp>
      <p:sp>
        <p:nvSpPr>
          <p:cNvPr id="395" name="Google Shape;395;p57"/>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
              <a:t>23.</a:t>
            </a:r>
            <a:fld id="{00000000-1234-1234-1234-123412341234}" type="slidenum">
              <a:rPr lang="en"/>
              <a:t>‹#›</a:t>
            </a:fld>
            <a:endParaRPr/>
          </a:p>
        </p:txBody>
      </p:sp>
      <p:graphicFrame>
        <p:nvGraphicFramePr>
          <p:cNvPr id="396" name="Google Shape;396;p57"/>
          <p:cNvGraphicFramePr/>
          <p:nvPr/>
        </p:nvGraphicFramePr>
        <p:xfrm>
          <a:off x="444000" y="1473200"/>
          <a:ext cx="3000000" cy="3000000"/>
        </p:xfrm>
        <a:graphic>
          <a:graphicData uri="http://schemas.openxmlformats.org/drawingml/2006/table">
            <a:tbl>
              <a:tblPr bandRow="1" firstRow="1">
                <a:noFill/>
                <a:tableStyleId>{8173A852-0B6E-4556-8AB7-8F05ECB0CFB5}</a:tableStyleId>
              </a:tblPr>
              <a:tblGrid>
                <a:gridCol w="1201200"/>
                <a:gridCol w="672275"/>
                <a:gridCol w="726600"/>
                <a:gridCol w="712350"/>
                <a:gridCol w="741300"/>
                <a:gridCol w="784725"/>
                <a:gridCol w="726825"/>
                <a:gridCol w="712350"/>
              </a:tblGrid>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N</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a</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b</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c</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d</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e</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f</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g</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2</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3</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4</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5</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6</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7</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8</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9</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2857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etc(10-15)</a:t>
                      </a:r>
                      <a:endParaRPr/>
                    </a:p>
                  </a:txBody>
                  <a:tcPr marT="45725" marB="45725" marR="91450" marL="914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gridSpan="7">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A, b, C, d, E, F</a:t>
                      </a:r>
                      <a:endParaRPr/>
                    </a:p>
                  </a:txBody>
                  <a:tcPr marT="45725" marB="45725" marR="91450" marL="914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c hMerge="1"/>
                <a:tc hMerge="1"/>
                <a:tc hMerge="1"/>
                <a:tc hMerge="1"/>
              </a:tr>
            </a:tbl>
          </a:graphicData>
        </a:graphic>
      </p:graphicFrame>
      <p:pic>
        <p:nvPicPr>
          <p:cNvPr id="397" name="Google Shape;397;p57"/>
          <p:cNvPicPr preferRelativeResize="0"/>
          <p:nvPr/>
        </p:nvPicPr>
        <p:blipFill rotWithShape="1">
          <a:blip r:embed="rId3">
            <a:alphaModFix/>
          </a:blip>
          <a:srcRect b="0" l="0" r="0" t="0"/>
          <a:stretch/>
        </p:blipFill>
        <p:spPr>
          <a:xfrm>
            <a:off x="7353300" y="1397000"/>
            <a:ext cx="1142999" cy="1762125"/>
          </a:xfrm>
          <a:prstGeom prst="rect">
            <a:avLst/>
          </a:prstGeom>
          <a:noFill/>
          <a:ln>
            <a:noFill/>
          </a:ln>
        </p:spPr>
      </p:pic>
      <p:sp>
        <p:nvSpPr>
          <p:cNvPr id="398" name="Google Shape;398;p57"/>
          <p:cNvSpPr txBox="1"/>
          <p:nvPr/>
        </p:nvSpPr>
        <p:spPr>
          <a:xfrm>
            <a:off x="7011325" y="3233100"/>
            <a:ext cx="1988100" cy="1649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Each segment is an LED.</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A decoder maps the number to the segments (seven bits).</a:t>
            </a:r>
            <a:endParaRPr>
              <a:solidFill>
                <a:srgbClr val="0000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58"/>
          <p:cNvPicPr preferRelativeResize="0"/>
          <p:nvPr/>
        </p:nvPicPr>
        <p:blipFill rotWithShape="1">
          <a:blip r:embed="rId3">
            <a:alphaModFix/>
          </a:blip>
          <a:srcRect b="28037" l="7529" r="6619" t="25328"/>
          <a:stretch/>
        </p:blipFill>
        <p:spPr>
          <a:xfrm>
            <a:off x="260637" y="775475"/>
            <a:ext cx="8622724" cy="3513000"/>
          </a:xfrm>
          <a:prstGeom prst="rect">
            <a:avLst/>
          </a:prstGeom>
          <a:noFill/>
          <a:ln>
            <a:noFill/>
          </a:ln>
        </p:spPr>
      </p:pic>
      <p:sp>
        <p:nvSpPr>
          <p:cNvPr id="404" name="Google Shape;404;p58"/>
          <p:cNvSpPr txBox="1"/>
          <p:nvPr>
            <p:ph idx="4294967295" type="title"/>
          </p:nvPr>
        </p:nvSpPr>
        <p:spPr>
          <a:xfrm>
            <a:off x="533400" y="270675"/>
            <a:ext cx="75438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How four digits are wired</a:t>
            </a:r>
            <a:endParaRPr/>
          </a:p>
        </p:txBody>
      </p:sp>
      <p:sp>
        <p:nvSpPr>
          <p:cNvPr id="405" name="Google Shape;405;p58"/>
          <p:cNvSpPr txBox="1"/>
          <p:nvPr/>
        </p:nvSpPr>
        <p:spPr>
          <a:xfrm>
            <a:off x="186525" y="4412275"/>
            <a:ext cx="8957400" cy="237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rgbClr val="0000E6"/>
                </a:solidFill>
              </a:rPr>
              <a:t>Common cathode display: Each segment is an LED, all cathodes in a digit are wired together.</a:t>
            </a:r>
            <a:endParaRPr i="1" sz="1600">
              <a:solidFill>
                <a:srgbClr val="0000E6"/>
              </a:solidFill>
            </a:endParaRPr>
          </a:p>
          <a:p>
            <a:pPr indent="0" lvl="0" marL="0" rtl="0" algn="l">
              <a:spcBef>
                <a:spcPts val="0"/>
              </a:spcBef>
              <a:spcAft>
                <a:spcPts val="0"/>
              </a:spcAft>
              <a:buNone/>
            </a:pPr>
            <a:r>
              <a:t/>
            </a:r>
            <a:endParaRPr i="1" sz="1600">
              <a:solidFill>
                <a:srgbClr val="0000E6"/>
              </a:solidFill>
            </a:endParaRPr>
          </a:p>
          <a:p>
            <a:pPr indent="0" lvl="0" marL="0" rtl="0" algn="l">
              <a:spcBef>
                <a:spcPts val="0"/>
              </a:spcBef>
              <a:spcAft>
                <a:spcPts val="0"/>
              </a:spcAft>
              <a:buClr>
                <a:schemeClr val="dk1"/>
              </a:buClr>
              <a:buSzPts val="1100"/>
              <a:buFont typeface="Arial"/>
              <a:buNone/>
            </a:pPr>
            <a:r>
              <a:rPr i="1" lang="en" sz="1600">
                <a:solidFill>
                  <a:srgbClr val="0000E6"/>
                </a:solidFill>
              </a:rPr>
              <a:t>All four "a" anodes are wired together, all four "b" anodes are wired together, etc.</a:t>
            </a:r>
            <a:endParaRPr i="1" sz="1600">
              <a:solidFill>
                <a:srgbClr val="0000E6"/>
              </a:solidFill>
            </a:endParaRPr>
          </a:p>
          <a:p>
            <a:pPr indent="0" lvl="0" marL="0" rtl="0" algn="l">
              <a:spcBef>
                <a:spcPts val="0"/>
              </a:spcBef>
              <a:spcAft>
                <a:spcPts val="0"/>
              </a:spcAft>
              <a:buClr>
                <a:schemeClr val="dk1"/>
              </a:buClr>
              <a:buSzPts val="1100"/>
              <a:buFont typeface="Arial"/>
              <a:buNone/>
            </a:pPr>
            <a:r>
              <a:t/>
            </a:r>
            <a:endParaRPr i="1" sz="1600">
              <a:solidFill>
                <a:srgbClr val="0000E6"/>
              </a:solidFill>
            </a:endParaRPr>
          </a:p>
          <a:p>
            <a:pPr indent="0" lvl="0" marL="0" rtl="0" algn="l">
              <a:spcBef>
                <a:spcPts val="0"/>
              </a:spcBef>
              <a:spcAft>
                <a:spcPts val="0"/>
              </a:spcAft>
              <a:buNone/>
            </a:pPr>
            <a:r>
              <a:rPr i="1" lang="en" sz="1600">
                <a:solidFill>
                  <a:srgbClr val="0000E6"/>
                </a:solidFill>
              </a:rPr>
              <a:t>Result: Four digits are driven by only 12 wires. The colon has its own two wires, for a total of 14.</a:t>
            </a:r>
            <a:endParaRPr i="1" sz="1600">
              <a:solidFill>
                <a:srgbClr val="0000E6"/>
              </a:solidFill>
            </a:endParaRPr>
          </a:p>
          <a:p>
            <a:pPr indent="0" lvl="0" marL="0" rtl="0" algn="l">
              <a:spcBef>
                <a:spcPts val="0"/>
              </a:spcBef>
              <a:spcAft>
                <a:spcPts val="0"/>
              </a:spcAft>
              <a:buNone/>
            </a:pPr>
            <a:r>
              <a:t/>
            </a:r>
            <a:endParaRPr i="1">
              <a:solidFill>
                <a:srgbClr val="0000E6"/>
              </a:solidFill>
            </a:endParaRPr>
          </a:p>
          <a:p>
            <a:pPr indent="-336550" lvl="0" marL="457200" rtl="0" algn="l">
              <a:spcBef>
                <a:spcPts val="0"/>
              </a:spcBef>
              <a:spcAft>
                <a:spcPts val="0"/>
              </a:spcAft>
              <a:buClr>
                <a:srgbClr val="274E13"/>
              </a:buClr>
              <a:buSzPts val="1700"/>
              <a:buChar char="●"/>
            </a:pPr>
            <a:r>
              <a:rPr lang="en" sz="1700">
                <a:solidFill>
                  <a:srgbClr val="274E13"/>
                </a:solidFill>
              </a:rPr>
              <a:t>How do you turn on the 'a' segment in digit 2? </a:t>
            </a:r>
            <a:endParaRPr sz="1700">
              <a:solidFill>
                <a:srgbClr val="274E13"/>
              </a:solidFill>
            </a:endParaRPr>
          </a:p>
          <a:p>
            <a:pPr indent="-336550" lvl="0" marL="457200" rtl="0" algn="l">
              <a:spcBef>
                <a:spcPts val="0"/>
              </a:spcBef>
              <a:spcAft>
                <a:spcPts val="0"/>
              </a:spcAft>
              <a:buClr>
                <a:srgbClr val="274E13"/>
              </a:buClr>
              <a:buSzPts val="1700"/>
              <a:buChar char="●"/>
            </a:pPr>
            <a:r>
              <a:rPr lang="en" sz="1700">
                <a:solidFill>
                  <a:srgbClr val="274E13"/>
                </a:solidFill>
              </a:rPr>
              <a:t>How do you turn on the 'a' segment in digit 2 AND the 'b' segment in digit 3?</a:t>
            </a:r>
            <a:endParaRPr sz="1700">
              <a:solidFill>
                <a:srgbClr val="274E13"/>
              </a:solidFill>
            </a:endParaRPr>
          </a:p>
          <a:p>
            <a:pPr indent="0" lvl="0" marL="0" rtl="0" algn="l">
              <a:spcBef>
                <a:spcPts val="0"/>
              </a:spcBef>
              <a:spcAft>
                <a:spcPts val="0"/>
              </a:spcAft>
              <a:buNone/>
            </a:pPr>
            <a:r>
              <a:t/>
            </a:r>
            <a:endParaRPr i="1">
              <a:solidFill>
                <a:srgbClr val="0000E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HT16K33 Controller Driver Backpack</a:t>
            </a:r>
            <a:endParaRPr/>
          </a:p>
        </p:txBody>
      </p:sp>
      <p:sp>
        <p:nvSpPr>
          <p:cNvPr id="411" name="Google Shape;411;p5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four-digit (plus decimal points and a colon) 7-segment display requires 14 I/O pins (5 cathodes and 9 anodes) to address! That would tie up a lot of pins on the Nucleo...</a:t>
            </a:r>
            <a:endParaRPr/>
          </a:p>
          <a:p>
            <a:pPr indent="-342900" lvl="0" marL="457200" rtl="0" algn="l">
              <a:spcBef>
                <a:spcPts val="0"/>
              </a:spcBef>
              <a:spcAft>
                <a:spcPts val="0"/>
              </a:spcAft>
              <a:buSzPts val="1800"/>
              <a:buChar char="●"/>
            </a:pPr>
            <a:r>
              <a:rPr lang="en"/>
              <a:t>That's why we use a controller driver: The four-digit display is wired to a “backpack” that does the multiplexing and decoding, and interfaces to the processor via I</a:t>
            </a:r>
            <a:r>
              <a:rPr baseline="30000" lang="en"/>
              <a:t>2</a:t>
            </a:r>
            <a:r>
              <a:rPr lang="en"/>
              <a:t>C.</a:t>
            </a:r>
            <a:endParaRPr/>
          </a:p>
          <a:p>
            <a:pPr indent="0" lvl="0" marL="0" rtl="0" algn="l">
              <a:spcBef>
                <a:spcPts val="1600"/>
              </a:spcBef>
              <a:spcAft>
                <a:spcPts val="0"/>
              </a:spcAft>
              <a:buNone/>
            </a:pPr>
            <a:r>
              <a:t/>
            </a:r>
            <a:endParaRPr/>
          </a:p>
          <a:p>
            <a:pPr indent="0" lvl="0" marL="457200" rtl="0" algn="l">
              <a:spcBef>
                <a:spcPts val="1600"/>
              </a:spcBef>
              <a:spcAft>
                <a:spcPts val="1600"/>
              </a:spcAft>
              <a:buNone/>
            </a:pPr>
            <a:r>
              <a:t/>
            </a:r>
            <a:endParaRPr/>
          </a:p>
        </p:txBody>
      </p:sp>
      <p:pic>
        <p:nvPicPr>
          <p:cNvPr id="412" name="Google Shape;412;p59"/>
          <p:cNvPicPr preferRelativeResize="0"/>
          <p:nvPr/>
        </p:nvPicPr>
        <p:blipFill rotWithShape="1">
          <a:blip r:embed="rId3">
            <a:alphaModFix/>
          </a:blip>
          <a:srcRect b="0" l="0" r="34439" t="0"/>
          <a:stretch/>
        </p:blipFill>
        <p:spPr>
          <a:xfrm>
            <a:off x="1266175" y="3739263"/>
            <a:ext cx="2566650" cy="2654375"/>
          </a:xfrm>
          <a:prstGeom prst="rect">
            <a:avLst/>
          </a:prstGeom>
          <a:noFill/>
          <a:ln>
            <a:noFill/>
          </a:ln>
        </p:spPr>
      </p:pic>
      <p:pic>
        <p:nvPicPr>
          <p:cNvPr id="413" name="Google Shape;413;p59"/>
          <p:cNvPicPr preferRelativeResize="0"/>
          <p:nvPr/>
        </p:nvPicPr>
        <p:blipFill>
          <a:blip r:embed="rId4">
            <a:alphaModFix/>
          </a:blip>
          <a:stretch>
            <a:fillRect/>
          </a:stretch>
        </p:blipFill>
        <p:spPr>
          <a:xfrm>
            <a:off x="4292199" y="4229775"/>
            <a:ext cx="4191026" cy="2316700"/>
          </a:xfrm>
          <a:prstGeom prst="rect">
            <a:avLst/>
          </a:prstGeom>
          <a:noFill/>
          <a:ln>
            <a:noFill/>
          </a:ln>
        </p:spPr>
      </p:pic>
      <p:cxnSp>
        <p:nvCxnSpPr>
          <p:cNvPr id="414" name="Google Shape;414;p59"/>
          <p:cNvCxnSpPr/>
          <p:nvPr/>
        </p:nvCxnSpPr>
        <p:spPr>
          <a:xfrm rot="10800000">
            <a:off x="4941650" y="4127050"/>
            <a:ext cx="1060800" cy="376500"/>
          </a:xfrm>
          <a:prstGeom prst="straightConnector1">
            <a:avLst/>
          </a:prstGeom>
          <a:noFill/>
          <a:ln cap="flat" cmpd="sng" w="28575">
            <a:solidFill>
              <a:srgbClr val="FF0000"/>
            </a:solidFill>
            <a:prstDash val="solid"/>
            <a:round/>
            <a:headEnd len="med" w="med" type="none"/>
            <a:tailEnd len="med" w="med" type="triangle"/>
          </a:ln>
        </p:spPr>
      </p:cxnSp>
      <p:cxnSp>
        <p:nvCxnSpPr>
          <p:cNvPr id="415" name="Google Shape;415;p59"/>
          <p:cNvCxnSpPr/>
          <p:nvPr/>
        </p:nvCxnSpPr>
        <p:spPr>
          <a:xfrm rot="10800000">
            <a:off x="5968100" y="3736900"/>
            <a:ext cx="239700" cy="787200"/>
          </a:xfrm>
          <a:prstGeom prst="straightConnector1">
            <a:avLst/>
          </a:prstGeom>
          <a:noFill/>
          <a:ln cap="flat" cmpd="sng" w="28575">
            <a:solidFill>
              <a:srgbClr val="000000"/>
            </a:solidFill>
            <a:prstDash val="solid"/>
            <a:round/>
            <a:headEnd len="med" w="med" type="none"/>
            <a:tailEnd len="med" w="med" type="triangle"/>
          </a:ln>
        </p:spPr>
      </p:cxnSp>
      <p:sp>
        <p:nvSpPr>
          <p:cNvPr id="416" name="Google Shape;416;p59"/>
          <p:cNvSpPr txBox="1"/>
          <p:nvPr/>
        </p:nvSpPr>
        <p:spPr>
          <a:xfrm>
            <a:off x="4325750" y="3791675"/>
            <a:ext cx="615900" cy="3765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VCC</a:t>
            </a:r>
            <a:endParaRPr>
              <a:solidFill>
                <a:srgbClr val="FF0000"/>
              </a:solidFill>
            </a:endParaRPr>
          </a:p>
        </p:txBody>
      </p:sp>
      <p:sp>
        <p:nvSpPr>
          <p:cNvPr id="417" name="Google Shape;417;p59"/>
          <p:cNvSpPr txBox="1"/>
          <p:nvPr/>
        </p:nvSpPr>
        <p:spPr>
          <a:xfrm>
            <a:off x="5427650" y="3360400"/>
            <a:ext cx="615900" cy="3765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GND</a:t>
            </a:r>
            <a:endParaRPr/>
          </a:p>
        </p:txBody>
      </p:sp>
      <p:cxnSp>
        <p:nvCxnSpPr>
          <p:cNvPr id="418" name="Google Shape;418;p59"/>
          <p:cNvCxnSpPr/>
          <p:nvPr/>
        </p:nvCxnSpPr>
        <p:spPr>
          <a:xfrm flipH="1" rot="10800000">
            <a:off x="6399425" y="4010900"/>
            <a:ext cx="6900" cy="499500"/>
          </a:xfrm>
          <a:prstGeom prst="straightConnector1">
            <a:avLst/>
          </a:prstGeom>
          <a:noFill/>
          <a:ln cap="flat" cmpd="sng" w="28575">
            <a:solidFill>
              <a:srgbClr val="0000FF"/>
            </a:solidFill>
            <a:prstDash val="solid"/>
            <a:round/>
            <a:headEnd len="med" w="med" type="none"/>
            <a:tailEnd len="med" w="med" type="triangle"/>
          </a:ln>
        </p:spPr>
      </p:cxnSp>
      <p:sp>
        <p:nvSpPr>
          <p:cNvPr id="419" name="Google Shape;419;p59"/>
          <p:cNvSpPr txBox="1"/>
          <p:nvPr/>
        </p:nvSpPr>
        <p:spPr>
          <a:xfrm>
            <a:off x="6266050" y="3625975"/>
            <a:ext cx="615900" cy="3765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SDA</a:t>
            </a:r>
            <a:endParaRPr>
              <a:solidFill>
                <a:srgbClr val="0000FF"/>
              </a:solidFill>
            </a:endParaRPr>
          </a:p>
        </p:txBody>
      </p:sp>
      <p:cxnSp>
        <p:nvCxnSpPr>
          <p:cNvPr id="420" name="Google Shape;420;p59"/>
          <p:cNvCxnSpPr/>
          <p:nvPr/>
        </p:nvCxnSpPr>
        <p:spPr>
          <a:xfrm flipH="1" rot="10800000">
            <a:off x="6597950" y="4229900"/>
            <a:ext cx="882900" cy="280500"/>
          </a:xfrm>
          <a:prstGeom prst="straightConnector1">
            <a:avLst/>
          </a:prstGeom>
          <a:noFill/>
          <a:ln cap="flat" cmpd="sng" w="28575">
            <a:solidFill>
              <a:srgbClr val="0000FF"/>
            </a:solidFill>
            <a:prstDash val="solid"/>
            <a:round/>
            <a:headEnd len="med" w="med" type="none"/>
            <a:tailEnd len="med" w="med" type="triangle"/>
          </a:ln>
        </p:spPr>
      </p:cxnSp>
      <p:sp>
        <p:nvSpPr>
          <p:cNvPr id="421" name="Google Shape;421;p59"/>
          <p:cNvSpPr txBox="1"/>
          <p:nvPr/>
        </p:nvSpPr>
        <p:spPr>
          <a:xfrm>
            <a:off x="7480850" y="3853275"/>
            <a:ext cx="615900" cy="3765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SCL</a:t>
            </a:r>
            <a:endParaRPr>
              <a:solidFill>
                <a:srgbClr val="0000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60"/>
          <p:cNvPicPr preferRelativeResize="0"/>
          <p:nvPr/>
        </p:nvPicPr>
        <p:blipFill>
          <a:blip r:embed="rId3">
            <a:alphaModFix/>
          </a:blip>
          <a:stretch>
            <a:fillRect/>
          </a:stretch>
        </p:blipFill>
        <p:spPr>
          <a:xfrm>
            <a:off x="1661713" y="2000687"/>
            <a:ext cx="6072024" cy="4510651"/>
          </a:xfrm>
          <a:prstGeom prst="rect">
            <a:avLst/>
          </a:prstGeom>
          <a:noFill/>
          <a:ln>
            <a:noFill/>
          </a:ln>
        </p:spPr>
      </p:pic>
      <p:sp>
        <p:nvSpPr>
          <p:cNvPr id="427" name="Google Shape;427;p60"/>
          <p:cNvSpPr txBox="1"/>
          <p:nvPr>
            <p:ph type="title"/>
          </p:nvPr>
        </p:nvSpPr>
        <p:spPr>
          <a:xfrm>
            <a:off x="311700" y="593375"/>
            <a:ext cx="4427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HT16K33 Controller Driver</a:t>
            </a:r>
            <a:endParaRPr/>
          </a:p>
        </p:txBody>
      </p:sp>
      <p:sp>
        <p:nvSpPr>
          <p:cNvPr id="428" name="Google Shape;428;p60"/>
          <p:cNvSpPr txBox="1"/>
          <p:nvPr/>
        </p:nvSpPr>
        <p:spPr>
          <a:xfrm>
            <a:off x="358800" y="1219375"/>
            <a:ext cx="4333200" cy="4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Interface: I</a:t>
            </a:r>
            <a:r>
              <a:rPr baseline="30000" lang="en" sz="1800"/>
              <a:t>2</a:t>
            </a:r>
            <a:r>
              <a:rPr lang="en" sz="1800"/>
              <a:t>C to internal </a:t>
            </a:r>
            <a:r>
              <a:rPr i="1" lang="en" sz="1800"/>
              <a:t>control</a:t>
            </a:r>
            <a:r>
              <a:rPr lang="en" sz="1800"/>
              <a:t> and </a:t>
            </a:r>
            <a:r>
              <a:rPr i="1" lang="en" sz="1800"/>
              <a:t>data</a:t>
            </a:r>
            <a:endParaRPr sz="1800"/>
          </a:p>
        </p:txBody>
      </p:sp>
      <p:sp>
        <p:nvSpPr>
          <p:cNvPr id="429" name="Google Shape;429;p60"/>
          <p:cNvSpPr/>
          <p:nvPr/>
        </p:nvSpPr>
        <p:spPr>
          <a:xfrm>
            <a:off x="1592425" y="4022700"/>
            <a:ext cx="917700" cy="12087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0"/>
          <p:cNvSpPr/>
          <p:nvPr/>
        </p:nvSpPr>
        <p:spPr>
          <a:xfrm>
            <a:off x="4089025" y="4651075"/>
            <a:ext cx="1217400" cy="6012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0"/>
          <p:cNvSpPr/>
          <p:nvPr/>
        </p:nvSpPr>
        <p:spPr>
          <a:xfrm>
            <a:off x="6280875" y="2946850"/>
            <a:ext cx="1217400" cy="763500"/>
          </a:xfrm>
          <a:prstGeom prst="rect">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0"/>
          <p:cNvSpPr/>
          <p:nvPr/>
        </p:nvSpPr>
        <p:spPr>
          <a:xfrm>
            <a:off x="6280850" y="4974250"/>
            <a:ext cx="1217400" cy="642900"/>
          </a:xfrm>
          <a:prstGeom prst="rect">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0"/>
          <p:cNvSpPr txBox="1"/>
          <p:nvPr/>
        </p:nvSpPr>
        <p:spPr>
          <a:xfrm>
            <a:off x="7678975" y="3145600"/>
            <a:ext cx="11028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4 cathodes</a:t>
            </a:r>
            <a:endParaRPr i="1">
              <a:solidFill>
                <a:srgbClr val="980000"/>
              </a:solidFill>
            </a:endParaRPr>
          </a:p>
        </p:txBody>
      </p:sp>
      <p:sp>
        <p:nvSpPr>
          <p:cNvPr id="434" name="Google Shape;434;p60"/>
          <p:cNvSpPr txBox="1"/>
          <p:nvPr/>
        </p:nvSpPr>
        <p:spPr>
          <a:xfrm>
            <a:off x="7678975" y="5070150"/>
            <a:ext cx="1102800" cy="12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A</a:t>
            </a:r>
            <a:r>
              <a:rPr i="1" lang="en">
                <a:solidFill>
                  <a:srgbClr val="980000"/>
                </a:solidFill>
              </a:rPr>
              <a:t>nodes: 7 segments, decimal point, colon</a:t>
            </a:r>
            <a:endParaRPr i="1">
              <a:solidFill>
                <a:srgbClr val="980000"/>
              </a:solidFill>
            </a:endParaRPr>
          </a:p>
        </p:txBody>
      </p:sp>
      <p:sp>
        <p:nvSpPr>
          <p:cNvPr id="435" name="Google Shape;435;p60"/>
          <p:cNvSpPr txBox="1"/>
          <p:nvPr/>
        </p:nvSpPr>
        <p:spPr>
          <a:xfrm>
            <a:off x="1024825" y="4452600"/>
            <a:ext cx="4962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I</a:t>
            </a:r>
            <a:r>
              <a:rPr baseline="30000" i="1" lang="en">
                <a:solidFill>
                  <a:srgbClr val="0000FF"/>
                </a:solidFill>
              </a:rPr>
              <a:t>2</a:t>
            </a:r>
            <a:r>
              <a:rPr i="1" lang="en">
                <a:solidFill>
                  <a:srgbClr val="0000FF"/>
                </a:solidFill>
              </a:rPr>
              <a:t>C</a:t>
            </a:r>
            <a:endParaRPr i="1">
              <a:solidFill>
                <a:srgbClr val="0000FF"/>
              </a:solidFill>
            </a:endParaRPr>
          </a:p>
        </p:txBody>
      </p:sp>
      <p:sp>
        <p:nvSpPr>
          <p:cNvPr id="436" name="Google Shape;436;p60"/>
          <p:cNvSpPr/>
          <p:nvPr/>
        </p:nvSpPr>
        <p:spPr>
          <a:xfrm>
            <a:off x="6280875" y="4373025"/>
            <a:ext cx="1217400" cy="601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0"/>
          <p:cNvSpPr txBox="1"/>
          <p:nvPr/>
        </p:nvSpPr>
        <p:spPr>
          <a:xfrm>
            <a:off x="7678975" y="4490625"/>
            <a:ext cx="12777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I</a:t>
            </a:r>
            <a:r>
              <a:rPr baseline="30000" i="1" lang="en">
                <a:solidFill>
                  <a:srgbClr val="0000FF"/>
                </a:solidFill>
              </a:rPr>
              <a:t>2</a:t>
            </a:r>
            <a:r>
              <a:rPr i="1" lang="en">
                <a:solidFill>
                  <a:srgbClr val="0000FF"/>
                </a:solidFill>
              </a:rPr>
              <a:t>C address</a:t>
            </a:r>
            <a:endParaRPr i="1">
              <a:solidFill>
                <a:srgbClr val="0000FF"/>
              </a:solidFill>
            </a:endParaRPr>
          </a:p>
        </p:txBody>
      </p:sp>
      <p:sp>
        <p:nvSpPr>
          <p:cNvPr id="438" name="Google Shape;438;p60"/>
          <p:cNvSpPr txBox="1"/>
          <p:nvPr/>
        </p:nvSpPr>
        <p:spPr>
          <a:xfrm>
            <a:off x="5481100" y="319400"/>
            <a:ext cx="3656100" cy="15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FF9900"/>
                </a:solidFill>
              </a:rPr>
              <a:t>Control registers configure the driver:</a:t>
            </a:r>
            <a:endParaRPr i="1">
              <a:solidFill>
                <a:srgbClr val="FF9900"/>
              </a:solidFill>
            </a:endParaRPr>
          </a:p>
          <a:p>
            <a:pPr indent="-317500" lvl="0" marL="457200" rtl="0" algn="l">
              <a:spcBef>
                <a:spcPts val="0"/>
              </a:spcBef>
              <a:spcAft>
                <a:spcPts val="0"/>
              </a:spcAft>
              <a:buClr>
                <a:srgbClr val="FF9900"/>
              </a:buClr>
              <a:buSzPts val="1400"/>
              <a:buChar char="●"/>
            </a:pPr>
            <a:r>
              <a:rPr i="1" lang="en">
                <a:solidFill>
                  <a:srgbClr val="FF9900"/>
                </a:solidFill>
              </a:rPr>
              <a:t>Display or keypad</a:t>
            </a:r>
            <a:endParaRPr i="1">
              <a:solidFill>
                <a:srgbClr val="FF9900"/>
              </a:solidFill>
            </a:endParaRPr>
          </a:p>
          <a:p>
            <a:pPr indent="-317500" lvl="0" marL="457200" rtl="0" algn="l">
              <a:spcBef>
                <a:spcPts val="0"/>
              </a:spcBef>
              <a:spcAft>
                <a:spcPts val="0"/>
              </a:spcAft>
              <a:buClr>
                <a:srgbClr val="FF9900"/>
              </a:buClr>
              <a:buSzPts val="1400"/>
              <a:buChar char="●"/>
            </a:pPr>
            <a:r>
              <a:rPr i="1" lang="en">
                <a:solidFill>
                  <a:srgbClr val="FF9900"/>
                </a:solidFill>
              </a:rPr>
              <a:t>Digits or LED matrix (row-column)</a:t>
            </a:r>
            <a:endParaRPr i="1">
              <a:solidFill>
                <a:srgbClr val="FF9900"/>
              </a:solidFill>
            </a:endParaRPr>
          </a:p>
          <a:p>
            <a:pPr indent="-317500" lvl="0" marL="457200" rtl="0" algn="l">
              <a:spcBef>
                <a:spcPts val="0"/>
              </a:spcBef>
              <a:spcAft>
                <a:spcPts val="0"/>
              </a:spcAft>
              <a:buClr>
                <a:srgbClr val="FF9900"/>
              </a:buClr>
              <a:buSzPts val="1400"/>
              <a:buChar char="●"/>
            </a:pPr>
            <a:r>
              <a:rPr i="1" lang="en">
                <a:solidFill>
                  <a:srgbClr val="FF9900"/>
                </a:solidFill>
              </a:rPr>
              <a:t>Brightness, blinking</a:t>
            </a:r>
            <a:r>
              <a:rPr i="1" lang="en"/>
              <a:t> </a:t>
            </a:r>
            <a:endParaRPr i="1"/>
          </a:p>
          <a:p>
            <a:pPr indent="0" lvl="0" marL="0" rtl="0" algn="l">
              <a:spcBef>
                <a:spcPts val="1000"/>
              </a:spcBef>
              <a:spcAft>
                <a:spcPts val="0"/>
              </a:spcAft>
              <a:buNone/>
            </a:pPr>
            <a:r>
              <a:rPr i="1" lang="en">
                <a:solidFill>
                  <a:srgbClr val="FF00FF"/>
                </a:solidFill>
              </a:rPr>
              <a:t>Data registers (2×8 bits for each COM line)</a:t>
            </a:r>
            <a:r>
              <a:rPr lang="en">
                <a:solidFill>
                  <a:srgbClr val="FF00FF"/>
                </a:solidFill>
              </a:rPr>
              <a:t> </a:t>
            </a:r>
            <a:endParaRPr>
              <a:solidFill>
                <a:srgbClr val="FF00FF"/>
              </a:solidFill>
            </a:endParaRPr>
          </a:p>
        </p:txBody>
      </p:sp>
      <p:cxnSp>
        <p:nvCxnSpPr>
          <p:cNvPr id="439" name="Google Shape;439;p60"/>
          <p:cNvCxnSpPr/>
          <p:nvPr/>
        </p:nvCxnSpPr>
        <p:spPr>
          <a:xfrm flipH="1">
            <a:off x="5287625" y="1642075"/>
            <a:ext cx="1037400" cy="3009000"/>
          </a:xfrm>
          <a:prstGeom prst="straightConnector1">
            <a:avLst/>
          </a:prstGeom>
          <a:noFill/>
          <a:ln cap="flat" cmpd="sng" w="19050">
            <a:solidFill>
              <a:srgbClr val="FF00FF"/>
            </a:solidFill>
            <a:prstDash val="solid"/>
            <a:round/>
            <a:headEnd len="med" w="med" type="none"/>
            <a:tailEnd len="med" w="med" type="triangle"/>
          </a:ln>
        </p:spPr>
      </p:cxnSp>
      <p:sp>
        <p:nvSpPr>
          <p:cNvPr id="440" name="Google Shape;440;p60"/>
          <p:cNvSpPr/>
          <p:nvPr/>
        </p:nvSpPr>
        <p:spPr>
          <a:xfrm>
            <a:off x="5030575" y="5799750"/>
            <a:ext cx="308700" cy="2313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0"/>
          <p:cNvSpPr/>
          <p:nvPr/>
        </p:nvSpPr>
        <p:spPr>
          <a:xfrm>
            <a:off x="5030575" y="3371825"/>
            <a:ext cx="308700" cy="2313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2" name="Google Shape;442;p60"/>
          <p:cNvCxnSpPr>
            <a:endCxn id="441" idx="0"/>
          </p:cNvCxnSpPr>
          <p:nvPr/>
        </p:nvCxnSpPr>
        <p:spPr>
          <a:xfrm flipH="1">
            <a:off x="5184925" y="613325"/>
            <a:ext cx="480000" cy="2758500"/>
          </a:xfrm>
          <a:prstGeom prst="straightConnector1">
            <a:avLst/>
          </a:prstGeom>
          <a:noFill/>
          <a:ln cap="flat" cmpd="sng" w="19050">
            <a:solidFill>
              <a:srgbClr val="FF9900"/>
            </a:solidFill>
            <a:prstDash val="solid"/>
            <a:round/>
            <a:headEnd len="med" w="med" type="none"/>
            <a:tailEnd len="med" w="med" type="triangle"/>
          </a:ln>
        </p:spPr>
      </p:cxnSp>
      <p:sp>
        <p:nvSpPr>
          <p:cNvPr id="443" name="Google Shape;443;p60"/>
          <p:cNvSpPr txBox="1"/>
          <p:nvPr/>
        </p:nvSpPr>
        <p:spPr>
          <a:xfrm>
            <a:off x="7628575" y="2188300"/>
            <a:ext cx="13785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Colon cathode</a:t>
            </a:r>
            <a:endParaRPr i="1">
              <a:solidFill>
                <a:srgbClr val="980000"/>
              </a:solidFill>
            </a:endParaRPr>
          </a:p>
        </p:txBody>
      </p:sp>
      <p:sp>
        <p:nvSpPr>
          <p:cNvPr id="444" name="Google Shape;444;p60"/>
          <p:cNvSpPr/>
          <p:nvPr/>
        </p:nvSpPr>
        <p:spPr>
          <a:xfrm>
            <a:off x="6280875" y="2288350"/>
            <a:ext cx="1217400" cy="165900"/>
          </a:xfrm>
          <a:prstGeom prst="rect">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0"/>
          <p:cNvSpPr txBox="1"/>
          <p:nvPr/>
        </p:nvSpPr>
        <p:spPr>
          <a:xfrm>
            <a:off x="1521025" y="1642075"/>
            <a:ext cx="178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Block Diagram</a:t>
            </a:r>
            <a:endParaRPr b="1">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1"/>
          <p:cNvSpPr txBox="1"/>
          <p:nvPr>
            <p:ph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Display Memory - RAM Structure</a:t>
            </a:r>
            <a:endParaRPr/>
          </a:p>
        </p:txBody>
      </p:sp>
      <p:pic>
        <p:nvPicPr>
          <p:cNvPr id="451" name="Google Shape;451;p61"/>
          <p:cNvPicPr preferRelativeResize="0"/>
          <p:nvPr/>
        </p:nvPicPr>
        <p:blipFill rotWithShape="1">
          <a:blip r:embed="rId3">
            <a:alphaModFix/>
          </a:blip>
          <a:srcRect b="39086" l="49960" r="0" t="33781"/>
          <a:stretch/>
        </p:blipFill>
        <p:spPr>
          <a:xfrm>
            <a:off x="564264" y="1214625"/>
            <a:ext cx="3076225" cy="1409949"/>
          </a:xfrm>
          <a:prstGeom prst="rect">
            <a:avLst/>
          </a:prstGeom>
          <a:noFill/>
          <a:ln>
            <a:noFill/>
          </a:ln>
        </p:spPr>
      </p:pic>
      <p:pic>
        <p:nvPicPr>
          <p:cNvPr id="452" name="Google Shape;452;p61"/>
          <p:cNvPicPr preferRelativeResize="0"/>
          <p:nvPr/>
        </p:nvPicPr>
        <p:blipFill rotWithShape="1">
          <a:blip r:embed="rId4">
            <a:alphaModFix/>
          </a:blip>
          <a:srcRect b="0" l="0" r="0" t="22191"/>
          <a:stretch/>
        </p:blipFill>
        <p:spPr>
          <a:xfrm>
            <a:off x="5705025" y="179050"/>
            <a:ext cx="3076225" cy="3552780"/>
          </a:xfrm>
          <a:prstGeom prst="rect">
            <a:avLst/>
          </a:prstGeom>
          <a:noFill/>
          <a:ln>
            <a:noFill/>
          </a:ln>
        </p:spPr>
      </p:pic>
      <p:cxnSp>
        <p:nvCxnSpPr>
          <p:cNvPr id="453" name="Google Shape;453;p61"/>
          <p:cNvCxnSpPr/>
          <p:nvPr/>
        </p:nvCxnSpPr>
        <p:spPr>
          <a:xfrm>
            <a:off x="749014" y="1890575"/>
            <a:ext cx="285600" cy="0"/>
          </a:xfrm>
          <a:prstGeom prst="straightConnector1">
            <a:avLst/>
          </a:prstGeom>
          <a:noFill/>
          <a:ln cap="flat" cmpd="sng" w="76200">
            <a:solidFill>
              <a:srgbClr val="FF00FF"/>
            </a:solidFill>
            <a:prstDash val="solid"/>
            <a:round/>
            <a:headEnd len="med" w="med" type="none"/>
            <a:tailEnd len="med" w="med" type="none"/>
          </a:ln>
        </p:spPr>
      </p:cxnSp>
      <p:sp>
        <p:nvSpPr>
          <p:cNvPr id="454" name="Google Shape;454;p61"/>
          <p:cNvSpPr/>
          <p:nvPr/>
        </p:nvSpPr>
        <p:spPr>
          <a:xfrm>
            <a:off x="6400175" y="1272125"/>
            <a:ext cx="2290800" cy="160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1"/>
          <p:cNvSpPr/>
          <p:nvPr/>
        </p:nvSpPr>
        <p:spPr>
          <a:xfrm>
            <a:off x="6677600" y="3284325"/>
            <a:ext cx="224400" cy="160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1"/>
          <p:cNvSpPr txBox="1"/>
          <p:nvPr/>
        </p:nvSpPr>
        <p:spPr>
          <a:xfrm>
            <a:off x="593200" y="5079925"/>
            <a:ext cx="8001000" cy="13152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900"/>
              <a:t>Example: </a:t>
            </a:r>
            <a:r>
              <a:rPr lang="en" sz="1900"/>
              <a:t>To turn on the G segment in the first digit: </a:t>
            </a:r>
            <a:endParaRPr sz="1900"/>
          </a:p>
          <a:p>
            <a:pPr indent="0" lvl="0" marL="0" rtl="0" algn="l">
              <a:spcBef>
                <a:spcPts val="0"/>
              </a:spcBef>
              <a:spcAft>
                <a:spcPts val="0"/>
              </a:spcAft>
              <a:buNone/>
            </a:pPr>
            <a:r>
              <a:rPr lang="en" sz="1900"/>
              <a:t>Write 2 bytes to display memory:</a:t>
            </a:r>
            <a:endParaRPr sz="1900"/>
          </a:p>
          <a:p>
            <a:pPr indent="0" lvl="0" marL="0" rtl="0" algn="l">
              <a:spcBef>
                <a:spcPts val="0"/>
              </a:spcBef>
              <a:spcAft>
                <a:spcPts val="0"/>
              </a:spcAft>
              <a:buNone/>
            </a:pPr>
            <a:r>
              <a:rPr lang="en" sz="1900">
                <a:latin typeface="Courier New"/>
                <a:ea typeface="Courier New"/>
                <a:cs typeface="Courier New"/>
                <a:sym typeface="Courier New"/>
              </a:rPr>
              <a:t>0b0</a:t>
            </a:r>
            <a:r>
              <a:rPr b="1" lang="en" sz="1900">
                <a:solidFill>
                  <a:srgbClr val="FF00FF"/>
                </a:solidFill>
                <a:latin typeface="Courier New"/>
                <a:ea typeface="Courier New"/>
                <a:cs typeface="Courier New"/>
                <a:sym typeface="Courier New"/>
              </a:rPr>
              <a:t>1</a:t>
            </a:r>
            <a:r>
              <a:rPr lang="en" sz="1900">
                <a:latin typeface="Courier New"/>
                <a:ea typeface="Courier New"/>
                <a:cs typeface="Courier New"/>
                <a:sym typeface="Courier New"/>
              </a:rPr>
              <a:t>000000 </a:t>
            </a:r>
            <a:r>
              <a:rPr lang="en" sz="1900"/>
              <a:t>to address</a:t>
            </a:r>
            <a:r>
              <a:rPr lang="en" sz="1900">
                <a:latin typeface="Courier New"/>
                <a:ea typeface="Courier New"/>
                <a:cs typeface="Courier New"/>
                <a:sym typeface="Courier New"/>
              </a:rPr>
              <a:t> 0x00 </a:t>
            </a:r>
            <a:r>
              <a:rPr lang="en" sz="1900"/>
              <a:t>and</a:t>
            </a:r>
            <a:endParaRPr sz="1900"/>
          </a:p>
          <a:p>
            <a:pPr indent="0" lvl="0" marL="0" rtl="0" algn="l">
              <a:spcBef>
                <a:spcPts val="0"/>
              </a:spcBef>
              <a:spcAft>
                <a:spcPts val="0"/>
              </a:spcAft>
              <a:buNone/>
            </a:pPr>
            <a:r>
              <a:rPr lang="en" sz="1900">
                <a:latin typeface="Courier New"/>
                <a:ea typeface="Courier New"/>
                <a:cs typeface="Courier New"/>
                <a:sym typeface="Courier New"/>
              </a:rPr>
              <a:t>0b00000000 </a:t>
            </a:r>
            <a:r>
              <a:rPr lang="en" sz="1900"/>
              <a:t>to address</a:t>
            </a:r>
            <a:r>
              <a:rPr lang="en" sz="1900">
                <a:latin typeface="Courier New"/>
                <a:ea typeface="Courier New"/>
                <a:cs typeface="Courier New"/>
                <a:sym typeface="Courier New"/>
              </a:rPr>
              <a:t> 0x01. </a:t>
            </a:r>
            <a:endParaRPr sz="1900">
              <a:latin typeface="Courier New"/>
              <a:ea typeface="Courier New"/>
              <a:cs typeface="Courier New"/>
              <a:sym typeface="Courier New"/>
            </a:endParaRPr>
          </a:p>
        </p:txBody>
      </p:sp>
      <p:sp>
        <p:nvSpPr>
          <p:cNvPr id="457" name="Google Shape;457;p61"/>
          <p:cNvSpPr txBox="1"/>
          <p:nvPr/>
        </p:nvSpPr>
        <p:spPr>
          <a:xfrm>
            <a:off x="405150" y="3284325"/>
            <a:ext cx="8333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display memory is organized as follows: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For each digit, there are two bytes.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first byte consists of the seven bits of digit 1 and the decimal point.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second byte is for other purposes (when the controller is used for a dot matrix or keypad) - so we always simply put a 0 there.</a:t>
            </a:r>
            <a:endParaRPr sz="1800">
              <a:solidFill>
                <a:schemeClr val="dk2"/>
              </a:solidFill>
            </a:endParaRPr>
          </a:p>
        </p:txBody>
      </p:sp>
      <p:sp>
        <p:nvSpPr>
          <p:cNvPr id="458" name="Google Shape;458;p61"/>
          <p:cNvSpPr txBox="1"/>
          <p:nvPr/>
        </p:nvSpPr>
        <p:spPr>
          <a:xfrm>
            <a:off x="4615400" y="920225"/>
            <a:ext cx="75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2A00FF"/>
                </a:solidFill>
              </a:rPr>
              <a:t>Digit 1</a:t>
            </a:r>
            <a:endParaRPr sz="1300">
              <a:solidFill>
                <a:srgbClr val="2A00FF"/>
              </a:solidFill>
            </a:endParaRPr>
          </a:p>
        </p:txBody>
      </p:sp>
      <p:cxnSp>
        <p:nvCxnSpPr>
          <p:cNvPr id="459" name="Google Shape;459;p61"/>
          <p:cNvCxnSpPr/>
          <p:nvPr/>
        </p:nvCxnSpPr>
        <p:spPr>
          <a:xfrm>
            <a:off x="5209875" y="1125675"/>
            <a:ext cx="591900" cy="219900"/>
          </a:xfrm>
          <a:prstGeom prst="straightConnector1">
            <a:avLst/>
          </a:prstGeom>
          <a:noFill/>
          <a:ln cap="flat" cmpd="sng" w="28575">
            <a:solidFill>
              <a:srgbClr val="2A00FF"/>
            </a:solidFill>
            <a:prstDash val="solid"/>
            <a:round/>
            <a:headEnd len="med" w="med" type="none"/>
            <a:tailEnd len="med" w="med" type="triangle"/>
          </a:ln>
        </p:spPr>
      </p:cxnSp>
      <p:sp>
        <p:nvSpPr>
          <p:cNvPr id="460" name="Google Shape;460;p61"/>
          <p:cNvSpPr txBox="1"/>
          <p:nvPr/>
        </p:nvSpPr>
        <p:spPr>
          <a:xfrm>
            <a:off x="4615400" y="1159775"/>
            <a:ext cx="75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990000"/>
                </a:solidFill>
              </a:rPr>
              <a:t>Digit 2</a:t>
            </a:r>
            <a:endParaRPr sz="1300">
              <a:solidFill>
                <a:srgbClr val="990000"/>
              </a:solidFill>
            </a:endParaRPr>
          </a:p>
        </p:txBody>
      </p:sp>
      <p:cxnSp>
        <p:nvCxnSpPr>
          <p:cNvPr id="461" name="Google Shape;461;p61"/>
          <p:cNvCxnSpPr/>
          <p:nvPr/>
        </p:nvCxnSpPr>
        <p:spPr>
          <a:xfrm>
            <a:off x="5209875" y="1345575"/>
            <a:ext cx="606300" cy="162600"/>
          </a:xfrm>
          <a:prstGeom prst="straightConnector1">
            <a:avLst/>
          </a:prstGeom>
          <a:noFill/>
          <a:ln cap="flat" cmpd="sng" w="28575">
            <a:solidFill>
              <a:srgbClr val="990000"/>
            </a:solidFill>
            <a:prstDash val="solid"/>
            <a:round/>
            <a:headEnd len="med" w="med" type="none"/>
            <a:tailEnd len="med" w="med" type="triangle"/>
          </a:ln>
        </p:spPr>
      </p:cxnSp>
      <p:sp>
        <p:nvSpPr>
          <p:cNvPr id="462" name="Google Shape;462;p61"/>
          <p:cNvSpPr txBox="1"/>
          <p:nvPr/>
        </p:nvSpPr>
        <p:spPr>
          <a:xfrm>
            <a:off x="4615388" y="1635040"/>
            <a:ext cx="75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2A00FF"/>
                </a:solidFill>
              </a:rPr>
              <a:t>Digit 3</a:t>
            </a:r>
            <a:endParaRPr sz="1300">
              <a:solidFill>
                <a:srgbClr val="2A00FF"/>
              </a:solidFill>
            </a:endParaRPr>
          </a:p>
        </p:txBody>
      </p:sp>
      <p:sp>
        <p:nvSpPr>
          <p:cNvPr id="463" name="Google Shape;463;p61"/>
          <p:cNvSpPr txBox="1"/>
          <p:nvPr/>
        </p:nvSpPr>
        <p:spPr>
          <a:xfrm>
            <a:off x="4615400" y="1897115"/>
            <a:ext cx="75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990000"/>
                </a:solidFill>
              </a:rPr>
              <a:t>Digit 4</a:t>
            </a:r>
            <a:endParaRPr sz="1300">
              <a:solidFill>
                <a:srgbClr val="990000"/>
              </a:solidFill>
            </a:endParaRPr>
          </a:p>
        </p:txBody>
      </p:sp>
      <p:cxnSp>
        <p:nvCxnSpPr>
          <p:cNvPr id="464" name="Google Shape;464;p61"/>
          <p:cNvCxnSpPr/>
          <p:nvPr/>
        </p:nvCxnSpPr>
        <p:spPr>
          <a:xfrm flipH="1" rot="10800000">
            <a:off x="5217075" y="1812415"/>
            <a:ext cx="570600" cy="20700"/>
          </a:xfrm>
          <a:prstGeom prst="straightConnector1">
            <a:avLst/>
          </a:prstGeom>
          <a:noFill/>
          <a:ln cap="flat" cmpd="sng" w="28575">
            <a:solidFill>
              <a:srgbClr val="2A00FF"/>
            </a:solidFill>
            <a:prstDash val="solid"/>
            <a:round/>
            <a:headEnd len="med" w="med" type="none"/>
            <a:tailEnd len="med" w="med" type="triangle"/>
          </a:ln>
        </p:spPr>
      </p:cxnSp>
      <p:cxnSp>
        <p:nvCxnSpPr>
          <p:cNvPr id="465" name="Google Shape;465;p61"/>
          <p:cNvCxnSpPr/>
          <p:nvPr/>
        </p:nvCxnSpPr>
        <p:spPr>
          <a:xfrm flipH="1" rot="10800000">
            <a:off x="5209725" y="2001040"/>
            <a:ext cx="561600" cy="63600"/>
          </a:xfrm>
          <a:prstGeom prst="straightConnector1">
            <a:avLst/>
          </a:prstGeom>
          <a:noFill/>
          <a:ln cap="flat" cmpd="sng" w="28575">
            <a:solidFill>
              <a:srgbClr val="990000"/>
            </a:solidFill>
            <a:prstDash val="solid"/>
            <a:round/>
            <a:headEnd len="med" w="med" type="none"/>
            <a:tailEnd len="med" w="med" type="triangle"/>
          </a:ln>
        </p:spPr>
      </p:cxnSp>
      <p:sp>
        <p:nvSpPr>
          <p:cNvPr id="466" name="Google Shape;466;p61"/>
          <p:cNvSpPr txBox="1"/>
          <p:nvPr/>
        </p:nvSpPr>
        <p:spPr>
          <a:xfrm>
            <a:off x="4615388" y="1386538"/>
            <a:ext cx="75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274E13"/>
                </a:solidFill>
              </a:rPr>
              <a:t>Colon</a:t>
            </a:r>
            <a:endParaRPr sz="1300">
              <a:solidFill>
                <a:srgbClr val="274E13"/>
              </a:solidFill>
            </a:endParaRPr>
          </a:p>
        </p:txBody>
      </p:sp>
      <p:cxnSp>
        <p:nvCxnSpPr>
          <p:cNvPr id="467" name="Google Shape;467;p61"/>
          <p:cNvCxnSpPr/>
          <p:nvPr/>
        </p:nvCxnSpPr>
        <p:spPr>
          <a:xfrm>
            <a:off x="5179225" y="1594125"/>
            <a:ext cx="585300" cy="66000"/>
          </a:xfrm>
          <a:prstGeom prst="straightConnector1">
            <a:avLst/>
          </a:prstGeom>
          <a:noFill/>
          <a:ln cap="flat" cmpd="sng" w="28575">
            <a:solidFill>
              <a:srgbClr val="274E13"/>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1" name="Shape 471"/>
        <p:cNvGrpSpPr/>
        <p:nvPr/>
      </p:nvGrpSpPr>
      <p:grpSpPr>
        <a:xfrm>
          <a:off x="0" y="0"/>
          <a:ext cx="0" cy="0"/>
          <a:chOff x="0" y="0"/>
          <a:chExt cx="0" cy="0"/>
        </a:xfrm>
      </p:grpSpPr>
      <p:pic>
        <p:nvPicPr>
          <p:cNvPr id="472" name="Google Shape;472;p62"/>
          <p:cNvPicPr preferRelativeResize="0"/>
          <p:nvPr/>
        </p:nvPicPr>
        <p:blipFill rotWithShape="1">
          <a:blip r:embed="rId3">
            <a:alphaModFix/>
          </a:blip>
          <a:srcRect b="0" l="0" r="0" t="0"/>
          <a:stretch/>
        </p:blipFill>
        <p:spPr>
          <a:xfrm>
            <a:off x="0" y="2787112"/>
            <a:ext cx="9144002" cy="3416251"/>
          </a:xfrm>
          <a:prstGeom prst="rect">
            <a:avLst/>
          </a:prstGeom>
          <a:noFill/>
          <a:ln>
            <a:noFill/>
          </a:ln>
        </p:spPr>
      </p:pic>
      <p:sp>
        <p:nvSpPr>
          <p:cNvPr id="473" name="Google Shape;473;p62"/>
          <p:cNvSpPr txBox="1"/>
          <p:nvPr>
            <p:ph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Display Memory - RAM Structure</a:t>
            </a:r>
            <a:endParaRPr/>
          </a:p>
        </p:txBody>
      </p:sp>
      <p:pic>
        <p:nvPicPr>
          <p:cNvPr id="474" name="Google Shape;474;p62"/>
          <p:cNvPicPr preferRelativeResize="0"/>
          <p:nvPr/>
        </p:nvPicPr>
        <p:blipFill rotWithShape="1">
          <a:blip r:embed="rId4">
            <a:alphaModFix/>
          </a:blip>
          <a:srcRect b="39086" l="49960" r="0" t="33781"/>
          <a:stretch/>
        </p:blipFill>
        <p:spPr>
          <a:xfrm>
            <a:off x="2228125" y="1214625"/>
            <a:ext cx="3076225" cy="1409949"/>
          </a:xfrm>
          <a:prstGeom prst="rect">
            <a:avLst/>
          </a:prstGeom>
          <a:noFill/>
          <a:ln>
            <a:noFill/>
          </a:ln>
        </p:spPr>
      </p:pic>
      <p:pic>
        <p:nvPicPr>
          <p:cNvPr id="475" name="Google Shape;475;p62"/>
          <p:cNvPicPr preferRelativeResize="0"/>
          <p:nvPr/>
        </p:nvPicPr>
        <p:blipFill rotWithShape="1">
          <a:blip r:embed="rId5">
            <a:alphaModFix/>
          </a:blip>
          <a:srcRect b="0" l="0" r="0" t="22191"/>
          <a:stretch/>
        </p:blipFill>
        <p:spPr>
          <a:xfrm>
            <a:off x="6220175" y="179050"/>
            <a:ext cx="2561074" cy="2957825"/>
          </a:xfrm>
          <a:prstGeom prst="rect">
            <a:avLst/>
          </a:prstGeom>
          <a:noFill/>
          <a:ln>
            <a:noFill/>
          </a:ln>
        </p:spPr>
      </p:pic>
      <p:sp>
        <p:nvSpPr>
          <p:cNvPr id="476" name="Google Shape;476;p62"/>
          <p:cNvSpPr/>
          <p:nvPr/>
        </p:nvSpPr>
        <p:spPr>
          <a:xfrm>
            <a:off x="910775" y="3922825"/>
            <a:ext cx="516600" cy="8631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2"/>
          <p:cNvSpPr txBox="1"/>
          <p:nvPr/>
        </p:nvSpPr>
        <p:spPr>
          <a:xfrm>
            <a:off x="625325" y="4860800"/>
            <a:ext cx="10875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FF"/>
                </a:solidFill>
              </a:rPr>
              <a:t>10K pull-ups</a:t>
            </a:r>
            <a:endParaRPr sz="1200">
              <a:solidFill>
                <a:srgbClr val="0000FF"/>
              </a:solidFill>
            </a:endParaRPr>
          </a:p>
        </p:txBody>
      </p:sp>
      <p:cxnSp>
        <p:nvCxnSpPr>
          <p:cNvPr id="478" name="Google Shape;478;p62"/>
          <p:cNvCxnSpPr/>
          <p:nvPr/>
        </p:nvCxnSpPr>
        <p:spPr>
          <a:xfrm>
            <a:off x="2412875" y="1890575"/>
            <a:ext cx="285600" cy="0"/>
          </a:xfrm>
          <a:prstGeom prst="straightConnector1">
            <a:avLst/>
          </a:prstGeom>
          <a:noFill/>
          <a:ln cap="flat" cmpd="sng" w="76200">
            <a:solidFill>
              <a:srgbClr val="FF00FF"/>
            </a:solidFill>
            <a:prstDash val="solid"/>
            <a:round/>
            <a:headEnd len="med" w="med" type="none"/>
            <a:tailEnd len="med" w="med" type="none"/>
          </a:ln>
        </p:spPr>
      </p:cxnSp>
      <p:sp>
        <p:nvSpPr>
          <p:cNvPr id="479" name="Google Shape;479;p62"/>
          <p:cNvSpPr/>
          <p:nvPr/>
        </p:nvSpPr>
        <p:spPr>
          <a:xfrm>
            <a:off x="4132475" y="4616100"/>
            <a:ext cx="224400" cy="4554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 name="Google Shape;480;p62"/>
          <p:cNvCxnSpPr/>
          <p:nvPr/>
        </p:nvCxnSpPr>
        <p:spPr>
          <a:xfrm rot="10800000">
            <a:off x="4277000" y="3107100"/>
            <a:ext cx="3300" cy="1509000"/>
          </a:xfrm>
          <a:prstGeom prst="straightConnector1">
            <a:avLst/>
          </a:prstGeom>
          <a:noFill/>
          <a:ln cap="flat" cmpd="sng" w="28575">
            <a:solidFill>
              <a:srgbClr val="FF00FF"/>
            </a:solidFill>
            <a:prstDash val="solid"/>
            <a:round/>
            <a:headEnd len="med" w="med" type="none"/>
            <a:tailEnd len="med" w="med" type="none"/>
          </a:ln>
        </p:spPr>
      </p:cxnSp>
      <p:cxnSp>
        <p:nvCxnSpPr>
          <p:cNvPr id="481" name="Google Shape;481;p62"/>
          <p:cNvCxnSpPr/>
          <p:nvPr/>
        </p:nvCxnSpPr>
        <p:spPr>
          <a:xfrm>
            <a:off x="3065375" y="3107200"/>
            <a:ext cx="1216500" cy="0"/>
          </a:xfrm>
          <a:prstGeom prst="straightConnector1">
            <a:avLst/>
          </a:prstGeom>
          <a:noFill/>
          <a:ln cap="flat" cmpd="sng" w="28575">
            <a:solidFill>
              <a:srgbClr val="FF00FF"/>
            </a:solidFill>
            <a:prstDash val="solid"/>
            <a:round/>
            <a:headEnd len="med" w="med" type="none"/>
            <a:tailEnd len="med" w="med" type="none"/>
          </a:ln>
        </p:spPr>
      </p:cxnSp>
      <p:cxnSp>
        <p:nvCxnSpPr>
          <p:cNvPr id="482" name="Google Shape;482;p62"/>
          <p:cNvCxnSpPr/>
          <p:nvPr/>
        </p:nvCxnSpPr>
        <p:spPr>
          <a:xfrm>
            <a:off x="3051775" y="3107200"/>
            <a:ext cx="0" cy="1685700"/>
          </a:xfrm>
          <a:prstGeom prst="straightConnector1">
            <a:avLst/>
          </a:prstGeom>
          <a:noFill/>
          <a:ln cap="flat" cmpd="sng" w="28575">
            <a:solidFill>
              <a:srgbClr val="FF00FF"/>
            </a:solidFill>
            <a:prstDash val="solid"/>
            <a:round/>
            <a:headEnd len="med" w="med" type="none"/>
            <a:tailEnd len="med" w="med" type="none"/>
          </a:ln>
        </p:spPr>
      </p:cxnSp>
      <p:cxnSp>
        <p:nvCxnSpPr>
          <p:cNvPr id="483" name="Google Shape;483;p62"/>
          <p:cNvCxnSpPr/>
          <p:nvPr/>
        </p:nvCxnSpPr>
        <p:spPr>
          <a:xfrm rot="10800000">
            <a:off x="2528475" y="4792825"/>
            <a:ext cx="530100" cy="0"/>
          </a:xfrm>
          <a:prstGeom prst="straightConnector1">
            <a:avLst/>
          </a:prstGeom>
          <a:noFill/>
          <a:ln cap="flat" cmpd="sng" w="28575">
            <a:solidFill>
              <a:srgbClr val="FF00FF"/>
            </a:solidFill>
            <a:prstDash val="solid"/>
            <a:round/>
            <a:headEnd len="med" w="med" type="none"/>
            <a:tailEnd len="med" w="med" type="none"/>
          </a:ln>
        </p:spPr>
      </p:cxnSp>
      <p:sp>
        <p:nvSpPr>
          <p:cNvPr id="484" name="Google Shape;484;p62"/>
          <p:cNvSpPr/>
          <p:nvPr/>
        </p:nvSpPr>
        <p:spPr>
          <a:xfrm>
            <a:off x="2127375" y="4700525"/>
            <a:ext cx="401100" cy="160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2"/>
          <p:cNvSpPr/>
          <p:nvPr/>
        </p:nvSpPr>
        <p:spPr>
          <a:xfrm>
            <a:off x="2127375" y="5607375"/>
            <a:ext cx="401100" cy="160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6" name="Google Shape;486;p62"/>
          <p:cNvCxnSpPr/>
          <p:nvPr/>
        </p:nvCxnSpPr>
        <p:spPr>
          <a:xfrm rot="10800000">
            <a:off x="2528550" y="5687600"/>
            <a:ext cx="1216500" cy="2400"/>
          </a:xfrm>
          <a:prstGeom prst="straightConnector1">
            <a:avLst/>
          </a:prstGeom>
          <a:noFill/>
          <a:ln cap="flat" cmpd="sng" w="28575">
            <a:solidFill>
              <a:srgbClr val="FF00FF"/>
            </a:solidFill>
            <a:prstDash val="solid"/>
            <a:round/>
            <a:headEnd len="med" w="med" type="none"/>
            <a:tailEnd len="med" w="med" type="none"/>
          </a:ln>
        </p:spPr>
      </p:cxnSp>
      <p:cxnSp>
        <p:nvCxnSpPr>
          <p:cNvPr id="487" name="Google Shape;487;p62"/>
          <p:cNvCxnSpPr/>
          <p:nvPr/>
        </p:nvCxnSpPr>
        <p:spPr>
          <a:xfrm flipH="1" rot="10800000">
            <a:off x="3751850" y="5302500"/>
            <a:ext cx="156300" cy="380700"/>
          </a:xfrm>
          <a:prstGeom prst="straightConnector1">
            <a:avLst/>
          </a:prstGeom>
          <a:noFill/>
          <a:ln cap="flat" cmpd="sng" w="28575">
            <a:solidFill>
              <a:srgbClr val="FF00FF"/>
            </a:solidFill>
            <a:prstDash val="solid"/>
            <a:round/>
            <a:headEnd len="med" w="med" type="none"/>
            <a:tailEnd len="med" w="med" type="none"/>
          </a:ln>
        </p:spPr>
      </p:cxnSp>
      <p:cxnSp>
        <p:nvCxnSpPr>
          <p:cNvPr id="488" name="Google Shape;488;p62"/>
          <p:cNvCxnSpPr/>
          <p:nvPr/>
        </p:nvCxnSpPr>
        <p:spPr>
          <a:xfrm flipH="1" rot="10800000">
            <a:off x="3901250" y="5071500"/>
            <a:ext cx="6900" cy="224400"/>
          </a:xfrm>
          <a:prstGeom prst="straightConnector1">
            <a:avLst/>
          </a:prstGeom>
          <a:noFill/>
          <a:ln cap="flat" cmpd="sng" w="28575">
            <a:solidFill>
              <a:srgbClr val="FF00FF"/>
            </a:solidFill>
            <a:prstDash val="solid"/>
            <a:round/>
            <a:headEnd len="med" w="med" type="none"/>
            <a:tailEnd len="med" w="med" type="none"/>
          </a:ln>
        </p:spPr>
      </p:cxnSp>
      <p:sp>
        <p:nvSpPr>
          <p:cNvPr id="489" name="Google Shape;489;p62"/>
          <p:cNvSpPr/>
          <p:nvPr/>
        </p:nvSpPr>
        <p:spPr>
          <a:xfrm>
            <a:off x="6269500" y="1087475"/>
            <a:ext cx="1444800" cy="127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62"/>
          <p:cNvSpPr/>
          <p:nvPr/>
        </p:nvSpPr>
        <p:spPr>
          <a:xfrm>
            <a:off x="7010375" y="2739100"/>
            <a:ext cx="224400" cy="160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2"/>
          <p:cNvSpPr txBox="1"/>
          <p:nvPr/>
        </p:nvSpPr>
        <p:spPr>
          <a:xfrm>
            <a:off x="2855500" y="5938025"/>
            <a:ext cx="6232800" cy="7635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To turn on the G segment in the first digit: Write 2 bytes to display memory:</a:t>
            </a:r>
            <a:endParaRPr/>
          </a:p>
          <a:p>
            <a:pPr indent="0" lvl="0" marL="0" rtl="0" algn="l">
              <a:spcBef>
                <a:spcPts val="0"/>
              </a:spcBef>
              <a:spcAft>
                <a:spcPts val="0"/>
              </a:spcAft>
              <a:buNone/>
            </a:pPr>
            <a:r>
              <a:rPr lang="en">
                <a:latin typeface="Courier New"/>
                <a:ea typeface="Courier New"/>
                <a:cs typeface="Courier New"/>
                <a:sym typeface="Courier New"/>
              </a:rPr>
              <a:t>0b0</a:t>
            </a:r>
            <a:r>
              <a:rPr b="1" lang="en">
                <a:solidFill>
                  <a:srgbClr val="FF00FF"/>
                </a:solidFill>
                <a:latin typeface="Courier New"/>
                <a:ea typeface="Courier New"/>
                <a:cs typeface="Courier New"/>
                <a:sym typeface="Courier New"/>
              </a:rPr>
              <a:t>1</a:t>
            </a:r>
            <a:r>
              <a:rPr lang="en">
                <a:latin typeface="Courier New"/>
                <a:ea typeface="Courier New"/>
                <a:cs typeface="Courier New"/>
                <a:sym typeface="Courier New"/>
              </a:rPr>
              <a:t>000000 </a:t>
            </a:r>
            <a:r>
              <a:rPr lang="en"/>
              <a:t>to address</a:t>
            </a:r>
            <a:r>
              <a:rPr lang="en">
                <a:latin typeface="Courier New"/>
                <a:ea typeface="Courier New"/>
                <a:cs typeface="Courier New"/>
                <a:sym typeface="Courier New"/>
              </a:rPr>
              <a:t> 0x00 </a:t>
            </a:r>
            <a:r>
              <a:rPr lang="en"/>
              <a:t>and</a:t>
            </a:r>
            <a:endParaRPr/>
          </a:p>
          <a:p>
            <a:pPr indent="0" lvl="0" marL="0" rtl="0" algn="l">
              <a:spcBef>
                <a:spcPts val="0"/>
              </a:spcBef>
              <a:spcAft>
                <a:spcPts val="0"/>
              </a:spcAft>
              <a:buNone/>
            </a:pPr>
            <a:r>
              <a:rPr lang="en">
                <a:latin typeface="Courier New"/>
                <a:ea typeface="Courier New"/>
                <a:cs typeface="Courier New"/>
                <a:sym typeface="Courier New"/>
              </a:rPr>
              <a:t>0b00000000 </a:t>
            </a:r>
            <a:r>
              <a:rPr lang="en"/>
              <a:t>to address</a:t>
            </a:r>
            <a:r>
              <a:rPr lang="en">
                <a:latin typeface="Courier New"/>
                <a:ea typeface="Courier New"/>
                <a:cs typeface="Courier New"/>
                <a:sym typeface="Courier New"/>
              </a:rPr>
              <a:t> 0x01. </a:t>
            </a:r>
            <a:endParaRPr>
              <a:latin typeface="Courier New"/>
              <a:ea typeface="Courier New"/>
              <a:cs typeface="Courier New"/>
              <a:sym typeface="Courier New"/>
            </a:endParaRPr>
          </a:p>
        </p:txBody>
      </p:sp>
      <p:sp>
        <p:nvSpPr>
          <p:cNvPr id="492" name="Google Shape;492;p62"/>
          <p:cNvSpPr/>
          <p:nvPr/>
        </p:nvSpPr>
        <p:spPr>
          <a:xfrm>
            <a:off x="7714300" y="1087475"/>
            <a:ext cx="976800" cy="127200"/>
          </a:xfrm>
          <a:prstGeom prst="rect">
            <a:avLst/>
          </a:prstGeom>
          <a:noFill/>
          <a:ln cap="flat" cmpd="sng" w="28575">
            <a:solidFill>
              <a:srgbClr val="D5A6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3"/>
          <p:cNvSpPr txBox="1"/>
          <p:nvPr>
            <p:ph type="title"/>
          </p:nvPr>
        </p:nvSpPr>
        <p:spPr>
          <a:xfrm>
            <a:off x="186900" y="671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Display Memory - Make a Pattern</a:t>
            </a:r>
            <a:endParaRPr/>
          </a:p>
        </p:txBody>
      </p:sp>
      <p:pic>
        <p:nvPicPr>
          <p:cNvPr id="498" name="Google Shape;498;p63"/>
          <p:cNvPicPr preferRelativeResize="0"/>
          <p:nvPr/>
        </p:nvPicPr>
        <p:blipFill rotWithShape="1">
          <a:blip r:embed="rId3">
            <a:alphaModFix/>
          </a:blip>
          <a:srcRect b="39086" l="49960" r="0" t="33781"/>
          <a:stretch/>
        </p:blipFill>
        <p:spPr>
          <a:xfrm>
            <a:off x="2228125" y="605025"/>
            <a:ext cx="3076225" cy="1409949"/>
          </a:xfrm>
          <a:prstGeom prst="rect">
            <a:avLst/>
          </a:prstGeom>
          <a:noFill/>
          <a:ln>
            <a:noFill/>
          </a:ln>
        </p:spPr>
      </p:pic>
      <p:cxnSp>
        <p:nvCxnSpPr>
          <p:cNvPr id="499" name="Google Shape;499;p63"/>
          <p:cNvCxnSpPr/>
          <p:nvPr/>
        </p:nvCxnSpPr>
        <p:spPr>
          <a:xfrm>
            <a:off x="2467250" y="920725"/>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0" name="Google Shape;500;p63"/>
          <p:cNvCxnSpPr/>
          <p:nvPr/>
        </p:nvCxnSpPr>
        <p:spPr>
          <a:xfrm>
            <a:off x="3163400" y="920725"/>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1" name="Google Shape;501;p63"/>
          <p:cNvCxnSpPr/>
          <p:nvPr/>
        </p:nvCxnSpPr>
        <p:spPr>
          <a:xfrm>
            <a:off x="3845950" y="920725"/>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2" name="Google Shape;502;p63"/>
          <p:cNvCxnSpPr/>
          <p:nvPr/>
        </p:nvCxnSpPr>
        <p:spPr>
          <a:xfrm>
            <a:off x="4542100" y="920725"/>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3" name="Google Shape;503;p63"/>
          <p:cNvCxnSpPr/>
          <p:nvPr/>
        </p:nvCxnSpPr>
        <p:spPr>
          <a:xfrm>
            <a:off x="2390375" y="1652650"/>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4" name="Google Shape;504;p63"/>
          <p:cNvCxnSpPr/>
          <p:nvPr/>
        </p:nvCxnSpPr>
        <p:spPr>
          <a:xfrm>
            <a:off x="3025350" y="1652650"/>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5" name="Google Shape;505;p63"/>
          <p:cNvCxnSpPr/>
          <p:nvPr/>
        </p:nvCxnSpPr>
        <p:spPr>
          <a:xfrm>
            <a:off x="3762250" y="1652650"/>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6" name="Google Shape;506;p63"/>
          <p:cNvCxnSpPr/>
          <p:nvPr/>
        </p:nvCxnSpPr>
        <p:spPr>
          <a:xfrm>
            <a:off x="4429200" y="1652650"/>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07" name="Google Shape;507;p63"/>
          <p:cNvCxnSpPr/>
          <p:nvPr/>
        </p:nvCxnSpPr>
        <p:spPr>
          <a:xfrm flipH="1">
            <a:off x="2390375" y="920713"/>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08" name="Google Shape;508;p63"/>
          <p:cNvCxnSpPr/>
          <p:nvPr/>
        </p:nvCxnSpPr>
        <p:spPr>
          <a:xfrm flipH="1">
            <a:off x="2327175" y="1313038"/>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09" name="Google Shape;509;p63"/>
          <p:cNvCxnSpPr/>
          <p:nvPr/>
        </p:nvCxnSpPr>
        <p:spPr>
          <a:xfrm>
            <a:off x="2426375" y="1260325"/>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10" name="Google Shape;510;p63"/>
          <p:cNvCxnSpPr/>
          <p:nvPr/>
        </p:nvCxnSpPr>
        <p:spPr>
          <a:xfrm>
            <a:off x="3095325" y="1260325"/>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11" name="Google Shape;511;p63"/>
          <p:cNvCxnSpPr/>
          <p:nvPr/>
        </p:nvCxnSpPr>
        <p:spPr>
          <a:xfrm flipH="1">
            <a:off x="3059325" y="920713"/>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2" name="Google Shape;512;p63"/>
          <p:cNvCxnSpPr/>
          <p:nvPr/>
        </p:nvCxnSpPr>
        <p:spPr>
          <a:xfrm flipH="1">
            <a:off x="3380925" y="1260313"/>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3" name="Google Shape;513;p63"/>
          <p:cNvCxnSpPr/>
          <p:nvPr/>
        </p:nvCxnSpPr>
        <p:spPr>
          <a:xfrm flipH="1">
            <a:off x="4115550" y="920713"/>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4" name="Google Shape;514;p63"/>
          <p:cNvCxnSpPr/>
          <p:nvPr/>
        </p:nvCxnSpPr>
        <p:spPr>
          <a:xfrm flipH="1">
            <a:off x="3726250" y="1313038"/>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5" name="Google Shape;515;p63"/>
          <p:cNvCxnSpPr/>
          <p:nvPr/>
        </p:nvCxnSpPr>
        <p:spPr>
          <a:xfrm flipH="1">
            <a:off x="4429200" y="920713"/>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6" name="Google Shape;516;p63"/>
          <p:cNvCxnSpPr/>
          <p:nvPr/>
        </p:nvCxnSpPr>
        <p:spPr>
          <a:xfrm flipH="1">
            <a:off x="4818100" y="920713"/>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7" name="Google Shape;517;p63"/>
          <p:cNvCxnSpPr/>
          <p:nvPr/>
        </p:nvCxnSpPr>
        <p:spPr>
          <a:xfrm flipH="1">
            <a:off x="4393200" y="1313038"/>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8" name="Google Shape;518;p63"/>
          <p:cNvCxnSpPr/>
          <p:nvPr/>
        </p:nvCxnSpPr>
        <p:spPr>
          <a:xfrm flipH="1">
            <a:off x="4762225" y="1313038"/>
            <a:ext cx="36000" cy="339600"/>
          </a:xfrm>
          <a:prstGeom prst="straightConnector1">
            <a:avLst/>
          </a:prstGeom>
          <a:noFill/>
          <a:ln cap="flat" cmpd="sng" w="76200">
            <a:solidFill>
              <a:srgbClr val="FF00FF"/>
            </a:solidFill>
            <a:prstDash val="solid"/>
            <a:round/>
            <a:headEnd len="med" w="med" type="none"/>
            <a:tailEnd len="med" w="med" type="none"/>
          </a:ln>
        </p:spPr>
      </p:cxnSp>
      <p:cxnSp>
        <p:nvCxnSpPr>
          <p:cNvPr id="519" name="Google Shape;519;p63"/>
          <p:cNvCxnSpPr/>
          <p:nvPr/>
        </p:nvCxnSpPr>
        <p:spPr>
          <a:xfrm>
            <a:off x="4465200" y="1260325"/>
            <a:ext cx="285600" cy="0"/>
          </a:xfrm>
          <a:prstGeom prst="straightConnector1">
            <a:avLst/>
          </a:prstGeom>
          <a:noFill/>
          <a:ln cap="flat" cmpd="sng" w="76200">
            <a:solidFill>
              <a:srgbClr val="FF00FF"/>
            </a:solidFill>
            <a:prstDash val="solid"/>
            <a:round/>
            <a:headEnd len="med" w="med" type="none"/>
            <a:tailEnd len="med" w="med" type="none"/>
          </a:ln>
        </p:spPr>
      </p:cxnSp>
      <p:sp>
        <p:nvSpPr>
          <p:cNvPr id="520" name="Google Shape;520;p63"/>
          <p:cNvSpPr/>
          <p:nvPr/>
        </p:nvSpPr>
        <p:spPr>
          <a:xfrm>
            <a:off x="3410000" y="1594900"/>
            <a:ext cx="116700" cy="115500"/>
          </a:xfrm>
          <a:prstGeom prst="ellipse">
            <a:avLst/>
          </a:prstGeom>
          <a:solidFill>
            <a:srgbClr val="FF00FF"/>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1" name="Google Shape;521;p63"/>
          <p:cNvCxnSpPr/>
          <p:nvPr/>
        </p:nvCxnSpPr>
        <p:spPr>
          <a:xfrm flipH="1">
            <a:off x="3026713" y="1286675"/>
            <a:ext cx="36000" cy="339600"/>
          </a:xfrm>
          <a:prstGeom prst="straightConnector1">
            <a:avLst/>
          </a:prstGeom>
          <a:noFill/>
          <a:ln cap="flat" cmpd="sng" w="76200">
            <a:solidFill>
              <a:srgbClr val="D9D9D9"/>
            </a:solidFill>
            <a:prstDash val="solid"/>
            <a:round/>
            <a:headEnd len="med" w="med" type="none"/>
            <a:tailEnd len="med" w="med" type="none"/>
          </a:ln>
        </p:spPr>
      </p:cxnSp>
      <p:cxnSp>
        <p:nvCxnSpPr>
          <p:cNvPr id="522" name="Google Shape;522;p63"/>
          <p:cNvCxnSpPr/>
          <p:nvPr/>
        </p:nvCxnSpPr>
        <p:spPr>
          <a:xfrm flipH="1">
            <a:off x="3452625" y="920725"/>
            <a:ext cx="36000" cy="339600"/>
          </a:xfrm>
          <a:prstGeom prst="straightConnector1">
            <a:avLst/>
          </a:prstGeom>
          <a:noFill/>
          <a:ln cap="flat" cmpd="sng" w="76200">
            <a:solidFill>
              <a:srgbClr val="D9D9D9"/>
            </a:solidFill>
            <a:prstDash val="solid"/>
            <a:round/>
            <a:headEnd len="med" w="med" type="none"/>
            <a:tailEnd len="med" w="med" type="none"/>
          </a:ln>
        </p:spPr>
      </p:cxnSp>
      <p:sp>
        <p:nvSpPr>
          <p:cNvPr id="523" name="Google Shape;523;p63"/>
          <p:cNvSpPr/>
          <p:nvPr/>
        </p:nvSpPr>
        <p:spPr>
          <a:xfrm>
            <a:off x="2712500" y="1592575"/>
            <a:ext cx="116700" cy="115500"/>
          </a:xfrm>
          <a:prstGeom prst="ellipse">
            <a:avLst/>
          </a:pr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3"/>
          <p:cNvSpPr/>
          <p:nvPr/>
        </p:nvSpPr>
        <p:spPr>
          <a:xfrm>
            <a:off x="4107513" y="1592575"/>
            <a:ext cx="116700" cy="115500"/>
          </a:xfrm>
          <a:prstGeom prst="ellipse">
            <a:avLst/>
          </a:pr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3"/>
          <p:cNvSpPr/>
          <p:nvPr/>
        </p:nvSpPr>
        <p:spPr>
          <a:xfrm>
            <a:off x="4777750" y="1592575"/>
            <a:ext cx="116700" cy="115500"/>
          </a:xfrm>
          <a:prstGeom prst="ellipse">
            <a:avLst/>
          </a:pr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3"/>
          <p:cNvSpPr/>
          <p:nvPr/>
        </p:nvSpPr>
        <p:spPr>
          <a:xfrm>
            <a:off x="3568100" y="1003075"/>
            <a:ext cx="116700" cy="115500"/>
          </a:xfrm>
          <a:prstGeom prst="ellipse">
            <a:avLst/>
          </a:pr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3"/>
          <p:cNvSpPr/>
          <p:nvPr/>
        </p:nvSpPr>
        <p:spPr>
          <a:xfrm>
            <a:off x="3513238" y="1471300"/>
            <a:ext cx="116700" cy="115500"/>
          </a:xfrm>
          <a:prstGeom prst="ellipse">
            <a:avLst/>
          </a:pr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3"/>
          <p:cNvSpPr txBox="1"/>
          <p:nvPr/>
        </p:nvSpPr>
        <p:spPr>
          <a:xfrm>
            <a:off x="5304350" y="677300"/>
            <a:ext cx="3442500" cy="8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How would you populate the display memory to display this pattern?</a:t>
            </a:r>
            <a:endParaRPr sz="1600"/>
          </a:p>
        </p:txBody>
      </p:sp>
      <p:cxnSp>
        <p:nvCxnSpPr>
          <p:cNvPr id="529" name="Google Shape;529;p63"/>
          <p:cNvCxnSpPr/>
          <p:nvPr/>
        </p:nvCxnSpPr>
        <p:spPr>
          <a:xfrm flipH="1">
            <a:off x="2675975" y="1332400"/>
            <a:ext cx="66000" cy="300900"/>
          </a:xfrm>
          <a:prstGeom prst="straightConnector1">
            <a:avLst/>
          </a:prstGeom>
          <a:noFill/>
          <a:ln cap="flat" cmpd="sng" w="76200">
            <a:solidFill>
              <a:srgbClr val="D9D9D9"/>
            </a:solidFill>
            <a:prstDash val="solid"/>
            <a:round/>
            <a:headEnd len="med" w="med" type="none"/>
            <a:tailEnd len="med" w="med" type="none"/>
          </a:ln>
        </p:spPr>
      </p:cxnSp>
      <p:cxnSp>
        <p:nvCxnSpPr>
          <p:cNvPr id="530" name="Google Shape;530;p63"/>
          <p:cNvCxnSpPr/>
          <p:nvPr/>
        </p:nvCxnSpPr>
        <p:spPr>
          <a:xfrm flipH="1">
            <a:off x="2737850" y="931100"/>
            <a:ext cx="66000" cy="300900"/>
          </a:xfrm>
          <a:prstGeom prst="straightConnector1">
            <a:avLst/>
          </a:prstGeom>
          <a:noFill/>
          <a:ln cap="flat" cmpd="sng" w="76200">
            <a:solidFill>
              <a:srgbClr val="D9D9D9"/>
            </a:solidFill>
            <a:prstDash val="solid"/>
            <a:round/>
            <a:headEnd len="med" w="med" type="none"/>
            <a:tailEnd len="med" w="med" type="none"/>
          </a:ln>
        </p:spPr>
      </p:cxnSp>
      <p:cxnSp>
        <p:nvCxnSpPr>
          <p:cNvPr id="531" name="Google Shape;531;p63"/>
          <p:cNvCxnSpPr/>
          <p:nvPr/>
        </p:nvCxnSpPr>
        <p:spPr>
          <a:xfrm>
            <a:off x="3800275" y="1279550"/>
            <a:ext cx="285600" cy="0"/>
          </a:xfrm>
          <a:prstGeom prst="straightConnector1">
            <a:avLst/>
          </a:prstGeom>
          <a:noFill/>
          <a:ln cap="flat" cmpd="sng" w="76200">
            <a:solidFill>
              <a:srgbClr val="FF00FF"/>
            </a:solidFill>
            <a:prstDash val="solid"/>
            <a:round/>
            <a:headEnd len="med" w="med" type="none"/>
            <a:tailEnd len="med" w="med" type="none"/>
          </a:ln>
        </p:spPr>
      </p:cxnSp>
      <p:cxnSp>
        <p:nvCxnSpPr>
          <p:cNvPr id="532" name="Google Shape;532;p63"/>
          <p:cNvCxnSpPr/>
          <p:nvPr/>
        </p:nvCxnSpPr>
        <p:spPr>
          <a:xfrm flipH="1">
            <a:off x="3747375" y="911750"/>
            <a:ext cx="36000" cy="339600"/>
          </a:xfrm>
          <a:prstGeom prst="straightConnector1">
            <a:avLst/>
          </a:prstGeom>
          <a:noFill/>
          <a:ln cap="flat" cmpd="sng" w="76200">
            <a:solidFill>
              <a:srgbClr val="D9D9D9"/>
            </a:solidFill>
            <a:prstDash val="solid"/>
            <a:round/>
            <a:headEnd len="med" w="med" type="none"/>
            <a:tailEnd len="med" w="med" type="none"/>
          </a:ln>
        </p:spPr>
      </p:cxnSp>
      <p:cxnSp>
        <p:nvCxnSpPr>
          <p:cNvPr id="533" name="Google Shape;533;p63"/>
          <p:cNvCxnSpPr/>
          <p:nvPr/>
        </p:nvCxnSpPr>
        <p:spPr>
          <a:xfrm flipH="1">
            <a:off x="4071575" y="1286675"/>
            <a:ext cx="36000" cy="339600"/>
          </a:xfrm>
          <a:prstGeom prst="straightConnector1">
            <a:avLst/>
          </a:prstGeom>
          <a:noFill/>
          <a:ln cap="flat" cmpd="sng" w="76200">
            <a:solidFill>
              <a:srgbClr val="D9D9D9"/>
            </a:solidFill>
            <a:prstDash val="solid"/>
            <a:round/>
            <a:headEnd len="med" w="med" type="none"/>
            <a:tailEnd len="med" w="med" type="none"/>
          </a:ln>
        </p:spPr>
      </p:cxnSp>
      <p:graphicFrame>
        <p:nvGraphicFramePr>
          <p:cNvPr id="534" name="Google Shape;534;p63"/>
          <p:cNvGraphicFramePr/>
          <p:nvPr/>
        </p:nvGraphicFramePr>
        <p:xfrm>
          <a:off x="1160725" y="1939525"/>
          <a:ext cx="3000000" cy="3000000"/>
        </p:xfrm>
        <a:graphic>
          <a:graphicData uri="http://schemas.openxmlformats.org/drawingml/2006/table">
            <a:tbl>
              <a:tblPr>
                <a:noFill/>
                <a:tableStyleId>{517CC0F7-86E2-4DBA-A014-BD13E14E40DB}</a:tableStyleId>
              </a:tblPr>
              <a:tblGrid>
                <a:gridCol w="1291875"/>
                <a:gridCol w="2089500"/>
                <a:gridCol w="3713600"/>
              </a:tblGrid>
              <a:tr h="381000">
                <a:tc>
                  <a:txBody>
                    <a:bodyPr/>
                    <a:lstStyle/>
                    <a:p>
                      <a:pPr indent="0" lvl="0" marL="0" rtl="0" algn="ctr">
                        <a:spcBef>
                          <a:spcPts val="0"/>
                        </a:spcBef>
                        <a:spcAft>
                          <a:spcPts val="0"/>
                        </a:spcAft>
                        <a:buNone/>
                      </a:pPr>
                      <a:r>
                        <a:rPr lang="en" sz="2000"/>
                        <a:t>Digit</a:t>
                      </a:r>
                      <a:endParaRPr sz="2000"/>
                    </a:p>
                  </a:txBody>
                  <a:tcPr marT="91425" marB="91425" marR="91425" marL="91425" anchor="ctr"/>
                </a:tc>
                <a:tc>
                  <a:txBody>
                    <a:bodyPr/>
                    <a:lstStyle/>
                    <a:p>
                      <a:pPr indent="0" lvl="0" marL="0" rtl="0" algn="l">
                        <a:spcBef>
                          <a:spcPts val="0"/>
                        </a:spcBef>
                        <a:spcAft>
                          <a:spcPts val="0"/>
                        </a:spcAft>
                        <a:buNone/>
                      </a:pPr>
                      <a:r>
                        <a:rPr lang="en" sz="2000"/>
                        <a:t>Display memory location</a:t>
                      </a:r>
                      <a:endParaRPr sz="2000"/>
                    </a:p>
                  </a:txBody>
                  <a:tcPr marT="91425" marB="91425" marR="91425" marL="91425"/>
                </a:tc>
                <a:tc>
                  <a:txBody>
                    <a:bodyPr/>
                    <a:lstStyle/>
                    <a:p>
                      <a:pPr indent="0" lvl="0" marL="0" rtl="0" algn="ctr">
                        <a:spcBef>
                          <a:spcPts val="0"/>
                        </a:spcBef>
                        <a:spcAft>
                          <a:spcPts val="0"/>
                        </a:spcAft>
                        <a:buNone/>
                      </a:pPr>
                      <a:r>
                        <a:rPr lang="en" sz="2000">
                          <a:solidFill>
                            <a:schemeClr val="dk1"/>
                          </a:solidFill>
                        </a:rPr>
                        <a:t>Binary number</a:t>
                      </a:r>
                      <a:endParaRPr sz="2000">
                        <a:solidFill>
                          <a:schemeClr val="dk1"/>
                        </a:solidFill>
                      </a:endParaRPr>
                    </a:p>
                    <a:p>
                      <a:pPr indent="0" lvl="0" marL="0" rtl="0" algn="l">
                        <a:spcBef>
                          <a:spcPts val="0"/>
                        </a:spcBef>
                        <a:spcAft>
                          <a:spcPts val="0"/>
                        </a:spcAft>
                        <a:buNone/>
                      </a:pPr>
                      <a:r>
                        <a:rPr lang="en">
                          <a:solidFill>
                            <a:srgbClr val="0000FF"/>
                          </a:solidFill>
                          <a:latin typeface="Courier New"/>
                          <a:ea typeface="Courier New"/>
                          <a:cs typeface="Courier New"/>
                          <a:sym typeface="Courier New"/>
                        </a:rPr>
                        <a:t>       </a:t>
                      </a:r>
                      <a:r>
                        <a:rPr b="1" lang="en">
                          <a:solidFill>
                            <a:srgbClr val="0000FF"/>
                          </a:solidFill>
                          <a:latin typeface="Courier New"/>
                          <a:ea typeface="Courier New"/>
                          <a:cs typeface="Courier New"/>
                          <a:sym typeface="Courier New"/>
                        </a:rPr>
                        <a:t>. G F E D C B A</a:t>
                      </a:r>
                      <a:endParaRPr b="1">
                        <a:solidFill>
                          <a:srgbClr val="0000FF"/>
                        </a:solidFill>
                        <a:latin typeface="Courier New"/>
                        <a:ea typeface="Courier New"/>
                        <a:cs typeface="Courier New"/>
                        <a:sym typeface="Courier New"/>
                      </a:endParaRPr>
                    </a:p>
                  </a:txBody>
                  <a:tcPr marT="91425" marB="91425" marR="91425" marL="91425"/>
                </a:tc>
              </a:tr>
              <a:tr h="381000">
                <a:tc rowSpan="2">
                  <a:txBody>
                    <a:bodyPr/>
                    <a:lstStyle/>
                    <a:p>
                      <a:pPr indent="0" lvl="0" marL="0" rtl="0" algn="ctr">
                        <a:spcBef>
                          <a:spcPts val="0"/>
                        </a:spcBef>
                        <a:spcAft>
                          <a:spcPts val="0"/>
                        </a:spcAft>
                        <a:buNone/>
                      </a:pPr>
                      <a:r>
                        <a:rPr lang="en" sz="2000">
                          <a:solidFill>
                            <a:srgbClr val="0000FF"/>
                          </a:solidFill>
                        </a:rPr>
                        <a:t>1</a:t>
                      </a:r>
                      <a:endParaRPr sz="2000">
                        <a:solidFill>
                          <a:srgbClr val="0000FF"/>
                        </a:solidFill>
                      </a:endParaRPr>
                    </a:p>
                  </a:txBody>
                  <a:tcPr marT="91425" marB="91425" marR="91425" marL="91425" anchor="ctr"/>
                </a:tc>
                <a:tc>
                  <a:txBody>
                    <a:bodyPr/>
                    <a:lstStyle/>
                    <a:p>
                      <a:pPr indent="0" lvl="0" marL="0" rtl="0" algn="l">
                        <a:spcBef>
                          <a:spcPts val="0"/>
                        </a:spcBef>
                        <a:spcAft>
                          <a:spcPts val="0"/>
                        </a:spcAft>
                        <a:buNone/>
                      </a:pPr>
                      <a:r>
                        <a:rPr b="1" lang="en">
                          <a:latin typeface="Courier New"/>
                          <a:ea typeface="Courier New"/>
                          <a:cs typeface="Courier New"/>
                          <a:sym typeface="Courier New"/>
                        </a:rPr>
                        <a:t>0x00</a:t>
                      </a:r>
                      <a:endParaRPr b="1">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800000"/>
                          </a:solidFill>
                          <a:latin typeface="Courier New"/>
                          <a:ea typeface="Courier New"/>
                          <a:cs typeface="Courier New"/>
                          <a:sym typeface="Courier New"/>
                        </a:rPr>
                        <a:t>    0b 0 1 1 1 1 0 0 1 </a:t>
                      </a:r>
                      <a:endParaRPr b="1">
                        <a:solidFill>
                          <a:srgbClr val="800000"/>
                        </a:solidFill>
                      </a:endParaRPr>
                    </a:p>
                  </a:txBody>
                  <a:tcPr marT="91425" marB="91425" marR="91425" marL="91425"/>
                </a:tc>
              </a:tr>
              <a:tr h="381000">
                <a:tc vMerge="1"/>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0x01</a:t>
                      </a:r>
                      <a:endParaRPr/>
                    </a:p>
                  </a:txBody>
                  <a:tcPr marT="91425" marB="91425" marR="91425" marL="91425"/>
                </a:tc>
                <a:tc>
                  <a:txBody>
                    <a:bodyPr/>
                    <a:lstStyle/>
                    <a:p>
                      <a:pPr indent="0" lvl="0" marL="0" rtl="0" algn="l">
                        <a:spcBef>
                          <a:spcPts val="0"/>
                        </a:spcBef>
                        <a:spcAft>
                          <a:spcPts val="0"/>
                        </a:spcAft>
                        <a:buNone/>
                      </a:pPr>
                      <a:r>
                        <a:rPr b="1" lang="en">
                          <a:solidFill>
                            <a:srgbClr val="800000"/>
                          </a:solidFill>
                          <a:latin typeface="Courier New"/>
                          <a:ea typeface="Courier New"/>
                          <a:cs typeface="Courier New"/>
                          <a:sym typeface="Courier New"/>
                        </a:rPr>
                        <a:t>    0b 0 0 0 0 0 0 0 0</a:t>
                      </a:r>
                      <a:endParaRPr/>
                    </a:p>
                  </a:txBody>
                  <a:tcPr marT="91425" marB="91425" marR="91425" marL="91425"/>
                </a:tc>
              </a:tr>
              <a:tr h="381000">
                <a:tc rowSpan="2">
                  <a:txBody>
                    <a:bodyPr/>
                    <a:lstStyle/>
                    <a:p>
                      <a:pPr indent="0" lvl="0" marL="0" rtl="0" algn="ctr">
                        <a:spcBef>
                          <a:spcPts val="0"/>
                        </a:spcBef>
                        <a:spcAft>
                          <a:spcPts val="0"/>
                        </a:spcAft>
                        <a:buNone/>
                      </a:pPr>
                      <a:r>
                        <a:rPr lang="en" sz="2000">
                          <a:solidFill>
                            <a:srgbClr val="0000FF"/>
                          </a:solidFill>
                        </a:rPr>
                        <a:t>2</a:t>
                      </a:r>
                      <a:endParaRPr sz="2000">
                        <a:solidFill>
                          <a:srgbClr val="0000FF"/>
                        </a:solidFill>
                      </a:endParaRPr>
                    </a:p>
                  </a:txBody>
                  <a:tcPr marT="91425" marB="91425" marR="91425" marL="91425" anchor="ct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800000"/>
                          </a:solidFill>
                          <a:latin typeface="Courier New"/>
                          <a:ea typeface="Courier New"/>
                          <a:cs typeface="Courier New"/>
                          <a:sym typeface="Courier New"/>
                        </a:rPr>
                        <a:t>    0b</a:t>
                      </a:r>
                      <a:endParaRPr/>
                    </a:p>
                  </a:txBody>
                  <a:tcPr marT="91425" marB="91425" marR="91425" marL="91425"/>
                </a:tc>
              </a:tr>
              <a:tr h="381000">
                <a:tc vMerge="1"/>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0x03</a:t>
                      </a:r>
                      <a:endParaRPr/>
                    </a:p>
                  </a:txBody>
                  <a:tcPr marT="91425" marB="91425" marR="91425" marL="91425"/>
                </a:tc>
                <a:tc>
                  <a:txBody>
                    <a:bodyPr/>
                    <a:lstStyle/>
                    <a:p>
                      <a:pPr indent="0" lvl="0" marL="0" rtl="0" algn="l">
                        <a:spcBef>
                          <a:spcPts val="0"/>
                        </a:spcBef>
                        <a:spcAft>
                          <a:spcPts val="0"/>
                        </a:spcAft>
                        <a:buNone/>
                      </a:pPr>
                      <a:r>
                        <a:rPr b="1" lang="en">
                          <a:solidFill>
                            <a:srgbClr val="800000"/>
                          </a:solidFill>
                          <a:latin typeface="Courier New"/>
                          <a:ea typeface="Courier New"/>
                          <a:cs typeface="Courier New"/>
                          <a:sym typeface="Courier New"/>
                        </a:rPr>
                        <a:t>    0b 0 0 0 0 0 0 0 0</a:t>
                      </a:r>
                      <a:endParaRPr/>
                    </a:p>
                  </a:txBody>
                  <a:tcPr marT="91425" marB="91425" marR="91425" marL="91425"/>
                </a:tc>
              </a:tr>
              <a:tr h="381000">
                <a:tc rowSpan="2">
                  <a:txBody>
                    <a:bodyPr/>
                    <a:lstStyle/>
                    <a:p>
                      <a:pPr indent="0" lvl="0" marL="0" rtl="0" algn="ctr">
                        <a:spcBef>
                          <a:spcPts val="0"/>
                        </a:spcBef>
                        <a:spcAft>
                          <a:spcPts val="0"/>
                        </a:spcAft>
                        <a:buNone/>
                      </a:pPr>
                      <a:r>
                        <a:rPr lang="en" sz="2000">
                          <a:solidFill>
                            <a:srgbClr val="0000FF"/>
                          </a:solidFill>
                        </a:rPr>
                        <a:t>Colon</a:t>
                      </a:r>
                      <a:endParaRPr sz="2000">
                        <a:solidFill>
                          <a:srgbClr val="0000FF"/>
                        </a:solidFill>
                      </a:endParaRPr>
                    </a:p>
                  </a:txBody>
                  <a:tcPr marT="91425" marB="91425" marR="91425" marL="91425" anchor="ct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800000"/>
                          </a:solidFill>
                          <a:latin typeface="Courier New"/>
                          <a:ea typeface="Courier New"/>
                          <a:cs typeface="Courier New"/>
                          <a:sym typeface="Courier New"/>
                        </a:rPr>
                        <a:t>    0b</a:t>
                      </a:r>
                      <a:endParaRPr/>
                    </a:p>
                  </a:txBody>
                  <a:tcPr marT="91425" marB="91425" marR="91425" marL="91425"/>
                </a:tc>
              </a:tr>
              <a:tr h="381000">
                <a:tc vMerge="1"/>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0x05</a:t>
                      </a:r>
                      <a:endParaRPr/>
                    </a:p>
                  </a:txBody>
                  <a:tcPr marT="91425" marB="91425" marR="91425" marL="91425"/>
                </a:tc>
                <a:tc>
                  <a:txBody>
                    <a:bodyPr/>
                    <a:lstStyle/>
                    <a:p>
                      <a:pPr indent="0" lvl="0" marL="0" rtl="0" algn="l">
                        <a:spcBef>
                          <a:spcPts val="0"/>
                        </a:spcBef>
                        <a:spcAft>
                          <a:spcPts val="0"/>
                        </a:spcAft>
                        <a:buNone/>
                      </a:pPr>
                      <a:r>
                        <a:rPr b="1" lang="en">
                          <a:solidFill>
                            <a:srgbClr val="800000"/>
                          </a:solidFill>
                          <a:latin typeface="Courier New"/>
                          <a:ea typeface="Courier New"/>
                          <a:cs typeface="Courier New"/>
                          <a:sym typeface="Courier New"/>
                        </a:rPr>
                        <a:t>    0b 0 0 0 0 0 0 0 0</a:t>
                      </a:r>
                      <a:endParaRPr/>
                    </a:p>
                  </a:txBody>
                  <a:tcPr marT="91425" marB="91425" marR="91425" marL="91425"/>
                </a:tc>
              </a:tr>
              <a:tr h="381000">
                <a:tc rowSpan="2">
                  <a:txBody>
                    <a:bodyPr/>
                    <a:lstStyle/>
                    <a:p>
                      <a:pPr indent="0" lvl="0" marL="0" rtl="0" algn="ctr">
                        <a:spcBef>
                          <a:spcPts val="0"/>
                        </a:spcBef>
                        <a:spcAft>
                          <a:spcPts val="0"/>
                        </a:spcAft>
                        <a:buNone/>
                      </a:pPr>
                      <a:r>
                        <a:rPr lang="en" sz="2000">
                          <a:solidFill>
                            <a:srgbClr val="0000FF"/>
                          </a:solidFill>
                        </a:rPr>
                        <a:t>3</a:t>
                      </a:r>
                      <a:endParaRPr sz="2000">
                        <a:solidFill>
                          <a:srgbClr val="0000FF"/>
                        </a:solidFill>
                      </a:endParaRPr>
                    </a:p>
                  </a:txBody>
                  <a:tcPr marT="91425" marB="91425" marR="91425" marL="91425" anchor="ct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0x06</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800000"/>
                          </a:solidFill>
                          <a:latin typeface="Courier New"/>
                          <a:ea typeface="Courier New"/>
                          <a:cs typeface="Courier New"/>
                          <a:sym typeface="Courier New"/>
                        </a:rPr>
                        <a:t>    0b</a:t>
                      </a:r>
                      <a:endParaRPr/>
                    </a:p>
                  </a:txBody>
                  <a:tcPr marT="91425" marB="91425" marR="91425" marL="91425"/>
                </a:tc>
              </a:tr>
              <a:tr h="381000">
                <a:tc vMerge="1"/>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0x07</a:t>
                      </a:r>
                      <a:endParaRPr/>
                    </a:p>
                  </a:txBody>
                  <a:tcPr marT="91425" marB="91425" marR="91425" marL="91425"/>
                </a:tc>
                <a:tc>
                  <a:txBody>
                    <a:bodyPr/>
                    <a:lstStyle/>
                    <a:p>
                      <a:pPr indent="0" lvl="0" marL="0" rtl="0" algn="l">
                        <a:spcBef>
                          <a:spcPts val="0"/>
                        </a:spcBef>
                        <a:spcAft>
                          <a:spcPts val="0"/>
                        </a:spcAft>
                        <a:buNone/>
                      </a:pPr>
                      <a:r>
                        <a:rPr b="1" lang="en">
                          <a:solidFill>
                            <a:srgbClr val="800000"/>
                          </a:solidFill>
                          <a:latin typeface="Courier New"/>
                          <a:ea typeface="Courier New"/>
                          <a:cs typeface="Courier New"/>
                          <a:sym typeface="Courier New"/>
                        </a:rPr>
                        <a:t>    0b 0 0 0 0 0 0 0 0</a:t>
                      </a:r>
                      <a:endParaRPr/>
                    </a:p>
                  </a:txBody>
                  <a:tcPr marT="91425" marB="91425" marR="91425" marL="91425"/>
                </a:tc>
              </a:tr>
              <a:tr h="381000">
                <a:tc rowSpan="2">
                  <a:txBody>
                    <a:bodyPr/>
                    <a:lstStyle/>
                    <a:p>
                      <a:pPr indent="0" lvl="0" marL="0" rtl="0" algn="ctr">
                        <a:spcBef>
                          <a:spcPts val="0"/>
                        </a:spcBef>
                        <a:spcAft>
                          <a:spcPts val="0"/>
                        </a:spcAft>
                        <a:buNone/>
                      </a:pPr>
                      <a:r>
                        <a:rPr lang="en" sz="2000">
                          <a:solidFill>
                            <a:srgbClr val="0000FF"/>
                          </a:solidFill>
                        </a:rPr>
                        <a:t>4</a:t>
                      </a:r>
                      <a:endParaRPr sz="2000">
                        <a:solidFill>
                          <a:srgbClr val="0000FF"/>
                        </a:solidFill>
                      </a:endParaRPr>
                    </a:p>
                  </a:txBody>
                  <a:tcPr marT="91425" marB="91425" marR="91425" marL="91425" anchor="ct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0x08</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800000"/>
                          </a:solidFill>
                          <a:latin typeface="Courier New"/>
                          <a:ea typeface="Courier New"/>
                          <a:cs typeface="Courier New"/>
                          <a:sym typeface="Courier New"/>
                        </a:rPr>
                        <a:t>    0b</a:t>
                      </a:r>
                      <a:endParaRPr/>
                    </a:p>
                  </a:txBody>
                  <a:tcPr marT="91425" marB="91425" marR="91425" marL="91425"/>
                </a:tc>
              </a:tr>
              <a:tr h="381000">
                <a:tc vMerge="1"/>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0x09</a:t>
                      </a:r>
                      <a:endParaRPr/>
                    </a:p>
                  </a:txBody>
                  <a:tcPr marT="91425" marB="91425" marR="91425" marL="91425"/>
                </a:tc>
                <a:tc>
                  <a:txBody>
                    <a:bodyPr/>
                    <a:lstStyle/>
                    <a:p>
                      <a:pPr indent="0" lvl="0" marL="0" rtl="0" algn="l">
                        <a:spcBef>
                          <a:spcPts val="0"/>
                        </a:spcBef>
                        <a:spcAft>
                          <a:spcPts val="0"/>
                        </a:spcAft>
                        <a:buNone/>
                      </a:pPr>
                      <a:r>
                        <a:rPr b="1" lang="en">
                          <a:solidFill>
                            <a:srgbClr val="800000"/>
                          </a:solidFill>
                          <a:latin typeface="Courier New"/>
                          <a:ea typeface="Courier New"/>
                          <a:cs typeface="Courier New"/>
                          <a:sym typeface="Courier New"/>
                        </a:rPr>
                        <a:t>    0b 0 0 0 0 0 0 0 0</a:t>
                      </a:r>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id="539" name="Google Shape;539;p64"/>
          <p:cNvPicPr preferRelativeResize="0"/>
          <p:nvPr/>
        </p:nvPicPr>
        <p:blipFill>
          <a:blip r:embed="rId3">
            <a:alphaModFix/>
          </a:blip>
          <a:stretch>
            <a:fillRect/>
          </a:stretch>
        </p:blipFill>
        <p:spPr>
          <a:xfrm>
            <a:off x="189925" y="3020724"/>
            <a:ext cx="8839199" cy="1596413"/>
          </a:xfrm>
          <a:prstGeom prst="rect">
            <a:avLst/>
          </a:prstGeom>
          <a:noFill/>
          <a:ln>
            <a:noFill/>
          </a:ln>
        </p:spPr>
      </p:pic>
      <p:sp>
        <p:nvSpPr>
          <p:cNvPr id="540" name="Google Shape;540;p64"/>
          <p:cNvSpPr txBox="1"/>
          <p:nvPr>
            <p:ph type="title"/>
          </p:nvPr>
        </p:nvSpPr>
        <p:spPr>
          <a:xfrm>
            <a:off x="311700" y="204625"/>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Initializations</a:t>
            </a:r>
            <a:endParaRPr/>
          </a:p>
        </p:txBody>
      </p:sp>
      <p:sp>
        <p:nvSpPr>
          <p:cNvPr id="541" name="Google Shape;541;p64"/>
          <p:cNvSpPr txBox="1"/>
          <p:nvPr/>
        </p:nvSpPr>
        <p:spPr>
          <a:xfrm>
            <a:off x="468975" y="2907611"/>
            <a:ext cx="5778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Start</a:t>
            </a:r>
            <a:endParaRPr>
              <a:solidFill>
                <a:srgbClr val="0000FF"/>
              </a:solidFill>
            </a:endParaRPr>
          </a:p>
        </p:txBody>
      </p:sp>
      <p:cxnSp>
        <p:nvCxnSpPr>
          <p:cNvPr id="542" name="Google Shape;542;p64"/>
          <p:cNvCxnSpPr/>
          <p:nvPr/>
        </p:nvCxnSpPr>
        <p:spPr>
          <a:xfrm flipH="1">
            <a:off x="584600" y="3254261"/>
            <a:ext cx="125700" cy="469200"/>
          </a:xfrm>
          <a:prstGeom prst="straightConnector1">
            <a:avLst/>
          </a:prstGeom>
          <a:noFill/>
          <a:ln cap="flat" cmpd="sng" w="19050">
            <a:solidFill>
              <a:srgbClr val="0000FF"/>
            </a:solidFill>
            <a:prstDash val="solid"/>
            <a:round/>
            <a:headEnd len="med" w="med" type="none"/>
            <a:tailEnd len="med" w="med" type="stealth"/>
          </a:ln>
        </p:spPr>
      </p:cxnSp>
      <p:sp>
        <p:nvSpPr>
          <p:cNvPr id="543" name="Google Shape;543;p64"/>
          <p:cNvSpPr txBox="1"/>
          <p:nvPr/>
        </p:nvSpPr>
        <p:spPr>
          <a:xfrm>
            <a:off x="8322500" y="2907611"/>
            <a:ext cx="5778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Stop</a:t>
            </a:r>
            <a:endParaRPr>
              <a:solidFill>
                <a:srgbClr val="0000FF"/>
              </a:solidFill>
            </a:endParaRPr>
          </a:p>
        </p:txBody>
      </p:sp>
      <p:cxnSp>
        <p:nvCxnSpPr>
          <p:cNvPr id="544" name="Google Shape;544;p64"/>
          <p:cNvCxnSpPr>
            <a:stCxn id="543" idx="2"/>
          </p:cNvCxnSpPr>
          <p:nvPr/>
        </p:nvCxnSpPr>
        <p:spPr>
          <a:xfrm>
            <a:off x="8611400" y="3288311"/>
            <a:ext cx="300" cy="455400"/>
          </a:xfrm>
          <a:prstGeom prst="straightConnector1">
            <a:avLst/>
          </a:prstGeom>
          <a:noFill/>
          <a:ln cap="flat" cmpd="sng" w="19050">
            <a:solidFill>
              <a:srgbClr val="0000FF"/>
            </a:solidFill>
            <a:prstDash val="solid"/>
            <a:round/>
            <a:headEnd len="med" w="med" type="none"/>
            <a:tailEnd len="med" w="med" type="stealth"/>
          </a:ln>
        </p:spPr>
      </p:cxnSp>
      <p:sp>
        <p:nvSpPr>
          <p:cNvPr id="545" name="Google Shape;545;p64"/>
          <p:cNvSpPr txBox="1"/>
          <p:nvPr/>
        </p:nvSpPr>
        <p:spPr>
          <a:xfrm>
            <a:off x="1991425" y="4145736"/>
            <a:ext cx="5778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0x70</a:t>
            </a:r>
            <a:endParaRPr>
              <a:solidFill>
                <a:srgbClr val="FF0000"/>
              </a:solidFill>
            </a:endParaRPr>
          </a:p>
        </p:txBody>
      </p:sp>
      <p:sp>
        <p:nvSpPr>
          <p:cNvPr id="546" name="Google Shape;546;p64"/>
          <p:cNvSpPr/>
          <p:nvPr/>
        </p:nvSpPr>
        <p:spPr>
          <a:xfrm>
            <a:off x="808825" y="3737236"/>
            <a:ext cx="2943000" cy="328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4"/>
          <p:cNvSpPr txBox="1"/>
          <p:nvPr/>
        </p:nvSpPr>
        <p:spPr>
          <a:xfrm>
            <a:off x="1660375" y="3194336"/>
            <a:ext cx="1307700" cy="369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Device Address</a:t>
            </a:r>
            <a:endParaRPr sz="1200"/>
          </a:p>
        </p:txBody>
      </p:sp>
      <p:sp>
        <p:nvSpPr>
          <p:cNvPr id="548" name="Google Shape;548;p64"/>
          <p:cNvSpPr txBox="1"/>
          <p:nvPr/>
        </p:nvSpPr>
        <p:spPr>
          <a:xfrm>
            <a:off x="405150" y="968125"/>
            <a:ext cx="83337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Many i2c devices have registers inside the device that are their own control and status registers.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way to access them is via various commands or sometimes via various addresses that you send to the device. The datasheet will tell you.</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For the backpack: pages 24-25 of the HK16K33 datasheet describe these:</a:t>
            </a:r>
            <a:endParaRPr sz="1800">
              <a:solidFill>
                <a:schemeClr val="dk2"/>
              </a:solidFill>
            </a:endParaRPr>
          </a:p>
        </p:txBody>
      </p:sp>
      <p:sp>
        <p:nvSpPr>
          <p:cNvPr id="549" name="Google Shape;549;p64"/>
          <p:cNvSpPr txBox="1"/>
          <p:nvPr/>
        </p:nvSpPr>
        <p:spPr>
          <a:xfrm>
            <a:off x="442675" y="4731150"/>
            <a:ext cx="83337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2A00FF"/>
              </a:buClr>
              <a:buSzPts val="1800"/>
              <a:buChar char="●"/>
            </a:pPr>
            <a:r>
              <a:rPr lang="en" sz="1800">
                <a:solidFill>
                  <a:srgbClr val="2A00FF"/>
                </a:solidFill>
              </a:rPr>
              <a:t>Send the device address, followed by a '0' for writing. </a:t>
            </a:r>
            <a:endParaRPr sz="1800">
              <a:solidFill>
                <a:srgbClr val="2A00FF"/>
              </a:solidFill>
            </a:endParaRPr>
          </a:p>
          <a:p>
            <a:pPr indent="-342900" lvl="0" marL="457200" rtl="0" algn="l">
              <a:spcBef>
                <a:spcPts val="0"/>
              </a:spcBef>
              <a:spcAft>
                <a:spcPts val="0"/>
              </a:spcAft>
              <a:buClr>
                <a:srgbClr val="2A00FF"/>
              </a:buClr>
              <a:buSzPts val="1800"/>
              <a:buChar char="●"/>
            </a:pPr>
            <a:r>
              <a:rPr lang="en" sz="1800">
                <a:solidFill>
                  <a:srgbClr val="2A00FF"/>
                </a:solidFill>
              </a:rPr>
              <a:t>Next comes a command:</a:t>
            </a:r>
            <a:endParaRPr sz="1800">
              <a:solidFill>
                <a:srgbClr val="2A00FF"/>
              </a:solidFill>
            </a:endParaRPr>
          </a:p>
          <a:p>
            <a:pPr indent="-342900" lvl="1" marL="914400" rtl="0" algn="l">
              <a:spcBef>
                <a:spcPts val="0"/>
              </a:spcBef>
              <a:spcAft>
                <a:spcPts val="0"/>
              </a:spcAft>
              <a:buClr>
                <a:srgbClr val="2A00FF"/>
              </a:buClr>
              <a:buSzPts val="1800"/>
              <a:buChar char="○"/>
            </a:pPr>
            <a:r>
              <a:rPr lang="en" sz="1800">
                <a:solidFill>
                  <a:srgbClr val="2A00FF"/>
                </a:solidFill>
              </a:rPr>
              <a:t>System setup: 0x21 turns on the oscillator.</a:t>
            </a:r>
            <a:endParaRPr sz="1800">
              <a:solidFill>
                <a:srgbClr val="2A00FF"/>
              </a:solidFill>
            </a:endParaRPr>
          </a:p>
          <a:p>
            <a:pPr indent="-342900" lvl="1" marL="914400" rtl="0" algn="l">
              <a:spcBef>
                <a:spcPts val="0"/>
              </a:spcBef>
              <a:spcAft>
                <a:spcPts val="0"/>
              </a:spcAft>
              <a:buClr>
                <a:srgbClr val="2A00FF"/>
              </a:buClr>
              <a:buSzPts val="1800"/>
              <a:buChar char="○"/>
            </a:pPr>
            <a:r>
              <a:rPr lang="en" sz="1800">
                <a:solidFill>
                  <a:srgbClr val="2A00FF"/>
                </a:solidFill>
              </a:rPr>
              <a:t>Display setup: 0x81 turns on the display, no blinking. </a:t>
            </a:r>
            <a:endParaRPr sz="1800">
              <a:solidFill>
                <a:srgbClr val="2A00FF"/>
              </a:solidFill>
            </a:endParaRPr>
          </a:p>
          <a:p>
            <a:pPr indent="-342900" lvl="1" marL="914400" rtl="0" algn="l">
              <a:spcBef>
                <a:spcPts val="0"/>
              </a:spcBef>
              <a:spcAft>
                <a:spcPts val="0"/>
              </a:spcAft>
              <a:buClr>
                <a:srgbClr val="2A00FF"/>
              </a:buClr>
              <a:buSzPts val="1800"/>
              <a:buChar char="○"/>
            </a:pPr>
            <a:r>
              <a:rPr lang="en" sz="1800">
                <a:solidFill>
                  <a:srgbClr val="2A00FF"/>
                </a:solidFill>
              </a:rPr>
              <a:t>Dimming set: 0xEF sets display full strength (no dimming).</a:t>
            </a:r>
            <a:endParaRPr sz="1800">
              <a:solidFill>
                <a:srgbClr val="2A00FF"/>
              </a:solidFill>
            </a:endParaRPr>
          </a:p>
        </p:txBody>
      </p:sp>
      <p:sp>
        <p:nvSpPr>
          <p:cNvPr id="550" name="Google Shape;550;p64"/>
          <p:cNvSpPr txBox="1"/>
          <p:nvPr/>
        </p:nvSpPr>
        <p:spPr>
          <a:xfrm>
            <a:off x="584600" y="6301050"/>
            <a:ext cx="8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74E13"/>
                </a:solidFill>
              </a:rPr>
              <a:t>Where do you find the details?</a:t>
            </a:r>
            <a:endParaRPr sz="1800">
              <a:solidFill>
                <a:srgbClr val="274E1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65"/>
          <p:cNvPicPr preferRelativeResize="0"/>
          <p:nvPr/>
        </p:nvPicPr>
        <p:blipFill>
          <a:blip r:embed="rId3">
            <a:alphaModFix/>
          </a:blip>
          <a:stretch>
            <a:fillRect/>
          </a:stretch>
        </p:blipFill>
        <p:spPr>
          <a:xfrm>
            <a:off x="189925" y="1356863"/>
            <a:ext cx="8839199" cy="1596413"/>
          </a:xfrm>
          <a:prstGeom prst="rect">
            <a:avLst/>
          </a:prstGeom>
          <a:noFill/>
          <a:ln>
            <a:noFill/>
          </a:ln>
        </p:spPr>
      </p:pic>
      <p:sp>
        <p:nvSpPr>
          <p:cNvPr id="556" name="Google Shape;556;p6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Initializations - Details - You'll need these later</a:t>
            </a:r>
            <a:endParaRPr/>
          </a:p>
        </p:txBody>
      </p:sp>
      <p:sp>
        <p:nvSpPr>
          <p:cNvPr id="557" name="Google Shape;557;p65"/>
          <p:cNvSpPr txBox="1"/>
          <p:nvPr/>
        </p:nvSpPr>
        <p:spPr>
          <a:xfrm>
            <a:off x="468975" y="1243750"/>
            <a:ext cx="5778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Start</a:t>
            </a:r>
            <a:endParaRPr>
              <a:solidFill>
                <a:srgbClr val="0000FF"/>
              </a:solidFill>
            </a:endParaRPr>
          </a:p>
        </p:txBody>
      </p:sp>
      <p:cxnSp>
        <p:nvCxnSpPr>
          <p:cNvPr id="558" name="Google Shape;558;p65"/>
          <p:cNvCxnSpPr/>
          <p:nvPr/>
        </p:nvCxnSpPr>
        <p:spPr>
          <a:xfrm flipH="1">
            <a:off x="584600" y="1590400"/>
            <a:ext cx="125700" cy="469200"/>
          </a:xfrm>
          <a:prstGeom prst="straightConnector1">
            <a:avLst/>
          </a:prstGeom>
          <a:noFill/>
          <a:ln cap="flat" cmpd="sng" w="19050">
            <a:solidFill>
              <a:srgbClr val="0000FF"/>
            </a:solidFill>
            <a:prstDash val="solid"/>
            <a:round/>
            <a:headEnd len="med" w="med" type="none"/>
            <a:tailEnd len="med" w="med" type="stealth"/>
          </a:ln>
        </p:spPr>
      </p:cxnSp>
      <p:sp>
        <p:nvSpPr>
          <p:cNvPr id="559" name="Google Shape;559;p65"/>
          <p:cNvSpPr txBox="1"/>
          <p:nvPr/>
        </p:nvSpPr>
        <p:spPr>
          <a:xfrm>
            <a:off x="8322500" y="1243750"/>
            <a:ext cx="5778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Stop</a:t>
            </a:r>
            <a:endParaRPr>
              <a:solidFill>
                <a:srgbClr val="0000FF"/>
              </a:solidFill>
            </a:endParaRPr>
          </a:p>
        </p:txBody>
      </p:sp>
      <p:cxnSp>
        <p:nvCxnSpPr>
          <p:cNvPr id="560" name="Google Shape;560;p65"/>
          <p:cNvCxnSpPr>
            <a:stCxn id="559" idx="2"/>
          </p:cNvCxnSpPr>
          <p:nvPr/>
        </p:nvCxnSpPr>
        <p:spPr>
          <a:xfrm>
            <a:off x="8611400" y="1624450"/>
            <a:ext cx="300" cy="455400"/>
          </a:xfrm>
          <a:prstGeom prst="straightConnector1">
            <a:avLst/>
          </a:prstGeom>
          <a:noFill/>
          <a:ln cap="flat" cmpd="sng" w="19050">
            <a:solidFill>
              <a:srgbClr val="0000FF"/>
            </a:solidFill>
            <a:prstDash val="solid"/>
            <a:round/>
            <a:headEnd len="med" w="med" type="none"/>
            <a:tailEnd len="med" w="med" type="stealth"/>
          </a:ln>
        </p:spPr>
      </p:cxnSp>
      <p:sp>
        <p:nvSpPr>
          <p:cNvPr id="561" name="Google Shape;561;p65"/>
          <p:cNvSpPr txBox="1"/>
          <p:nvPr/>
        </p:nvSpPr>
        <p:spPr>
          <a:xfrm>
            <a:off x="1991425" y="2481875"/>
            <a:ext cx="5778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0x70</a:t>
            </a:r>
            <a:endParaRPr>
              <a:solidFill>
                <a:srgbClr val="FF0000"/>
              </a:solidFill>
            </a:endParaRPr>
          </a:p>
        </p:txBody>
      </p:sp>
      <p:sp>
        <p:nvSpPr>
          <p:cNvPr id="562" name="Google Shape;562;p65"/>
          <p:cNvSpPr/>
          <p:nvPr/>
        </p:nvSpPr>
        <p:spPr>
          <a:xfrm>
            <a:off x="808825" y="2073375"/>
            <a:ext cx="2943000" cy="328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3" name="Google Shape;563;p65"/>
          <p:cNvPicPr preferRelativeResize="0"/>
          <p:nvPr/>
        </p:nvPicPr>
        <p:blipFill rotWithShape="1">
          <a:blip r:embed="rId4">
            <a:alphaModFix/>
          </a:blip>
          <a:srcRect b="81768" l="0" r="0" t="0"/>
          <a:stretch/>
        </p:blipFill>
        <p:spPr>
          <a:xfrm>
            <a:off x="-1000" y="2978175"/>
            <a:ext cx="7089725" cy="500000"/>
          </a:xfrm>
          <a:prstGeom prst="rect">
            <a:avLst/>
          </a:prstGeom>
          <a:noFill/>
          <a:ln>
            <a:noFill/>
          </a:ln>
        </p:spPr>
      </p:pic>
      <p:pic>
        <p:nvPicPr>
          <p:cNvPr id="564" name="Google Shape;564;p65"/>
          <p:cNvPicPr preferRelativeResize="0"/>
          <p:nvPr/>
        </p:nvPicPr>
        <p:blipFill rotWithShape="1">
          <a:blip r:embed="rId4">
            <a:alphaModFix/>
          </a:blip>
          <a:srcRect b="0" l="0" r="0" t="67413"/>
          <a:stretch/>
        </p:blipFill>
        <p:spPr>
          <a:xfrm>
            <a:off x="-1000" y="3478175"/>
            <a:ext cx="7089725" cy="893676"/>
          </a:xfrm>
          <a:prstGeom prst="rect">
            <a:avLst/>
          </a:prstGeom>
          <a:noFill/>
          <a:ln>
            <a:noFill/>
          </a:ln>
        </p:spPr>
      </p:pic>
      <p:pic>
        <p:nvPicPr>
          <p:cNvPr id="565" name="Google Shape;565;p65"/>
          <p:cNvPicPr preferRelativeResize="0"/>
          <p:nvPr/>
        </p:nvPicPr>
        <p:blipFill rotWithShape="1">
          <a:blip r:embed="rId5">
            <a:alphaModFix/>
          </a:blip>
          <a:srcRect b="48912" l="0" r="0" t="0"/>
          <a:stretch/>
        </p:blipFill>
        <p:spPr>
          <a:xfrm>
            <a:off x="-1000" y="4346200"/>
            <a:ext cx="7089727" cy="1435574"/>
          </a:xfrm>
          <a:prstGeom prst="rect">
            <a:avLst/>
          </a:prstGeom>
          <a:noFill/>
          <a:ln>
            <a:noFill/>
          </a:ln>
        </p:spPr>
      </p:pic>
      <p:pic>
        <p:nvPicPr>
          <p:cNvPr id="566" name="Google Shape;566;p65"/>
          <p:cNvPicPr preferRelativeResize="0"/>
          <p:nvPr/>
        </p:nvPicPr>
        <p:blipFill rotWithShape="1">
          <a:blip r:embed="rId6">
            <a:alphaModFix/>
          </a:blip>
          <a:srcRect b="33169" l="0" r="0" t="42766"/>
          <a:stretch/>
        </p:blipFill>
        <p:spPr>
          <a:xfrm>
            <a:off x="-1000" y="5781777"/>
            <a:ext cx="7089725" cy="806298"/>
          </a:xfrm>
          <a:prstGeom prst="rect">
            <a:avLst/>
          </a:prstGeom>
          <a:noFill/>
          <a:ln>
            <a:noFill/>
          </a:ln>
        </p:spPr>
      </p:pic>
      <p:pic>
        <p:nvPicPr>
          <p:cNvPr id="567" name="Google Shape;567;p65"/>
          <p:cNvPicPr preferRelativeResize="0"/>
          <p:nvPr/>
        </p:nvPicPr>
        <p:blipFill>
          <a:blip r:embed="rId7">
            <a:alphaModFix/>
          </a:blip>
          <a:stretch>
            <a:fillRect/>
          </a:stretch>
        </p:blipFill>
        <p:spPr>
          <a:xfrm>
            <a:off x="4084525" y="5781775"/>
            <a:ext cx="999125" cy="1033750"/>
          </a:xfrm>
          <a:prstGeom prst="rect">
            <a:avLst/>
          </a:prstGeom>
          <a:noFill/>
          <a:ln>
            <a:noFill/>
          </a:ln>
        </p:spPr>
      </p:pic>
      <p:pic>
        <p:nvPicPr>
          <p:cNvPr id="568" name="Google Shape;568;p65"/>
          <p:cNvPicPr preferRelativeResize="0"/>
          <p:nvPr/>
        </p:nvPicPr>
        <p:blipFill>
          <a:blip r:embed="rId8">
            <a:alphaModFix/>
          </a:blip>
          <a:stretch>
            <a:fillRect/>
          </a:stretch>
        </p:blipFill>
        <p:spPr>
          <a:xfrm>
            <a:off x="5083650" y="5781775"/>
            <a:ext cx="1071643" cy="1033750"/>
          </a:xfrm>
          <a:prstGeom prst="rect">
            <a:avLst/>
          </a:prstGeom>
          <a:noFill/>
          <a:ln>
            <a:noFill/>
          </a:ln>
        </p:spPr>
      </p:pic>
      <p:sp>
        <p:nvSpPr>
          <p:cNvPr id="569" name="Google Shape;569;p65"/>
          <p:cNvSpPr txBox="1"/>
          <p:nvPr/>
        </p:nvSpPr>
        <p:spPr>
          <a:xfrm>
            <a:off x="7041525" y="3379500"/>
            <a:ext cx="1959600" cy="86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i2c1_byteWrite(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HT16K33_ADDR,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0x21);</a:t>
            </a:r>
            <a:endParaRPr b="1" sz="1600"/>
          </a:p>
        </p:txBody>
      </p:sp>
      <p:sp>
        <p:nvSpPr>
          <p:cNvPr id="570" name="Google Shape;570;p65"/>
          <p:cNvSpPr txBox="1"/>
          <p:nvPr/>
        </p:nvSpPr>
        <p:spPr>
          <a:xfrm>
            <a:off x="7041525" y="2995050"/>
            <a:ext cx="23175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#define HT16K33_ADDR 0x70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p>
        </p:txBody>
      </p:sp>
      <p:sp>
        <p:nvSpPr>
          <p:cNvPr id="571" name="Google Shape;571;p65"/>
          <p:cNvSpPr txBox="1"/>
          <p:nvPr/>
        </p:nvSpPr>
        <p:spPr>
          <a:xfrm>
            <a:off x="8194500" y="5008475"/>
            <a:ext cx="779400" cy="59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9900FF"/>
                </a:solidFill>
              </a:rPr>
              <a:t>Adjust if blinking desired</a:t>
            </a:r>
            <a:endParaRPr sz="1000">
              <a:solidFill>
                <a:srgbClr val="9900FF"/>
              </a:solidFill>
            </a:endParaRPr>
          </a:p>
        </p:txBody>
      </p:sp>
      <p:sp>
        <p:nvSpPr>
          <p:cNvPr id="572" name="Google Shape;572;p65"/>
          <p:cNvSpPr txBox="1"/>
          <p:nvPr/>
        </p:nvSpPr>
        <p:spPr>
          <a:xfrm>
            <a:off x="8221850" y="6199800"/>
            <a:ext cx="779400" cy="59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00FF"/>
                </a:solidFill>
              </a:rPr>
              <a:t>Adjust if dimming desired</a:t>
            </a:r>
            <a:endParaRPr sz="1000">
              <a:solidFill>
                <a:srgbClr val="FF00FF"/>
              </a:solidFill>
            </a:endParaRPr>
          </a:p>
        </p:txBody>
      </p:sp>
      <p:sp>
        <p:nvSpPr>
          <p:cNvPr id="573" name="Google Shape;573;p65"/>
          <p:cNvSpPr txBox="1"/>
          <p:nvPr/>
        </p:nvSpPr>
        <p:spPr>
          <a:xfrm>
            <a:off x="762250" y="3503063"/>
            <a:ext cx="1071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9900FF"/>
                </a:solidFill>
              </a:rPr>
              <a:t>Command</a:t>
            </a:r>
            <a:endParaRPr sz="1200">
              <a:solidFill>
                <a:srgbClr val="9900FF"/>
              </a:solidFill>
            </a:endParaRPr>
          </a:p>
        </p:txBody>
      </p:sp>
      <p:cxnSp>
        <p:nvCxnSpPr>
          <p:cNvPr id="574" name="Google Shape;574;p65"/>
          <p:cNvCxnSpPr/>
          <p:nvPr/>
        </p:nvCxnSpPr>
        <p:spPr>
          <a:xfrm>
            <a:off x="2001325" y="3209025"/>
            <a:ext cx="0" cy="3463800"/>
          </a:xfrm>
          <a:prstGeom prst="straightConnector1">
            <a:avLst/>
          </a:prstGeom>
          <a:noFill/>
          <a:ln cap="flat" cmpd="sng" w="28575">
            <a:solidFill>
              <a:srgbClr val="9900FF"/>
            </a:solidFill>
            <a:prstDash val="solid"/>
            <a:round/>
            <a:headEnd len="med" w="med" type="none"/>
            <a:tailEnd len="med" w="med" type="none"/>
          </a:ln>
        </p:spPr>
      </p:cxnSp>
      <p:sp>
        <p:nvSpPr>
          <p:cNvPr id="575" name="Google Shape;575;p65"/>
          <p:cNvSpPr txBox="1"/>
          <p:nvPr/>
        </p:nvSpPr>
        <p:spPr>
          <a:xfrm>
            <a:off x="2119750" y="3503063"/>
            <a:ext cx="1071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9900FF"/>
                </a:solidFill>
              </a:rPr>
              <a:t>Options</a:t>
            </a:r>
            <a:endParaRPr sz="1200">
              <a:solidFill>
                <a:srgbClr val="9900FF"/>
              </a:solidFill>
            </a:endParaRPr>
          </a:p>
        </p:txBody>
      </p:sp>
      <p:sp>
        <p:nvSpPr>
          <p:cNvPr id="576" name="Google Shape;576;p65"/>
          <p:cNvSpPr txBox="1"/>
          <p:nvPr/>
        </p:nvSpPr>
        <p:spPr>
          <a:xfrm>
            <a:off x="1660375" y="1530475"/>
            <a:ext cx="1307700" cy="369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Device Address</a:t>
            </a:r>
            <a:endParaRPr sz="1200"/>
          </a:p>
        </p:txBody>
      </p:sp>
      <p:sp>
        <p:nvSpPr>
          <p:cNvPr id="577" name="Google Shape;577;p65"/>
          <p:cNvSpPr txBox="1"/>
          <p:nvPr/>
        </p:nvSpPr>
        <p:spPr>
          <a:xfrm>
            <a:off x="7184400" y="4566588"/>
            <a:ext cx="1959600" cy="86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i2c1_byteWrite(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HT16K33_ADDR,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0x8</a:t>
            </a:r>
            <a:r>
              <a:rPr b="1" lang="en" sz="1200">
                <a:solidFill>
                  <a:srgbClr val="9900FF"/>
                </a:solidFill>
                <a:latin typeface="Courier New"/>
                <a:ea typeface="Courier New"/>
                <a:cs typeface="Courier New"/>
                <a:sym typeface="Courier New"/>
              </a:rPr>
              <a:t>1</a:t>
            </a:r>
            <a:r>
              <a:rPr b="1" lang="en" sz="1200">
                <a:solidFill>
                  <a:schemeClr val="dk1"/>
                </a:solidFill>
                <a:latin typeface="Courier New"/>
                <a:ea typeface="Courier New"/>
                <a:cs typeface="Courier New"/>
                <a:sym typeface="Courier New"/>
              </a:rPr>
              <a:t>);</a:t>
            </a:r>
            <a:endParaRPr b="1" sz="1600"/>
          </a:p>
        </p:txBody>
      </p:sp>
      <p:sp>
        <p:nvSpPr>
          <p:cNvPr id="578" name="Google Shape;578;p65"/>
          <p:cNvSpPr txBox="1"/>
          <p:nvPr/>
        </p:nvSpPr>
        <p:spPr>
          <a:xfrm>
            <a:off x="7166850" y="5753688"/>
            <a:ext cx="1959600" cy="86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i2c1_byteWrite(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HT16K33_ADDR,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0xE</a:t>
            </a:r>
            <a:r>
              <a:rPr b="1" lang="en" sz="1200">
                <a:solidFill>
                  <a:srgbClr val="FF00FF"/>
                </a:solidFill>
                <a:latin typeface="Courier New"/>
                <a:ea typeface="Courier New"/>
                <a:cs typeface="Courier New"/>
                <a:sym typeface="Courier New"/>
              </a:rPr>
              <a:t>F</a:t>
            </a:r>
            <a:r>
              <a:rPr b="1" lang="en" sz="1200">
                <a:solidFill>
                  <a:schemeClr val="dk1"/>
                </a:solidFill>
                <a:latin typeface="Courier New"/>
                <a:ea typeface="Courier New"/>
                <a:cs typeface="Courier New"/>
                <a:sym typeface="Courier New"/>
              </a:rPr>
              <a:t>);</a:t>
            </a:r>
            <a:endParaRPr b="1"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Writing display data (digit mode)</a:t>
            </a:r>
            <a:endParaRPr/>
          </a:p>
        </p:txBody>
      </p:sp>
      <p:pic>
        <p:nvPicPr>
          <p:cNvPr id="584" name="Google Shape;584;p66"/>
          <p:cNvPicPr preferRelativeResize="0"/>
          <p:nvPr/>
        </p:nvPicPr>
        <p:blipFill>
          <a:blip r:embed="rId3">
            <a:alphaModFix/>
          </a:blip>
          <a:stretch>
            <a:fillRect/>
          </a:stretch>
        </p:blipFill>
        <p:spPr>
          <a:xfrm>
            <a:off x="0" y="1810272"/>
            <a:ext cx="9143998" cy="865406"/>
          </a:xfrm>
          <a:prstGeom prst="rect">
            <a:avLst/>
          </a:prstGeom>
          <a:noFill/>
          <a:ln>
            <a:noFill/>
          </a:ln>
        </p:spPr>
      </p:pic>
      <p:sp>
        <p:nvSpPr>
          <p:cNvPr id="585" name="Google Shape;585;p66"/>
          <p:cNvSpPr txBox="1"/>
          <p:nvPr/>
        </p:nvSpPr>
        <p:spPr>
          <a:xfrm>
            <a:off x="-5175" y="1356875"/>
            <a:ext cx="5778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Start</a:t>
            </a:r>
            <a:endParaRPr>
              <a:solidFill>
                <a:srgbClr val="0000FF"/>
              </a:solidFill>
            </a:endParaRPr>
          </a:p>
        </p:txBody>
      </p:sp>
      <p:cxnSp>
        <p:nvCxnSpPr>
          <p:cNvPr id="586" name="Google Shape;586;p66"/>
          <p:cNvCxnSpPr>
            <a:stCxn id="585" idx="2"/>
          </p:cNvCxnSpPr>
          <p:nvPr/>
        </p:nvCxnSpPr>
        <p:spPr>
          <a:xfrm flipH="1">
            <a:off x="235125" y="1650875"/>
            <a:ext cx="48600" cy="314100"/>
          </a:xfrm>
          <a:prstGeom prst="straightConnector1">
            <a:avLst/>
          </a:prstGeom>
          <a:noFill/>
          <a:ln cap="flat" cmpd="sng" w="19050">
            <a:solidFill>
              <a:srgbClr val="0000FF"/>
            </a:solidFill>
            <a:prstDash val="solid"/>
            <a:round/>
            <a:headEnd len="med" w="med" type="none"/>
            <a:tailEnd len="med" w="med" type="stealth"/>
          </a:ln>
        </p:spPr>
      </p:cxnSp>
      <p:sp>
        <p:nvSpPr>
          <p:cNvPr id="587" name="Google Shape;587;p66"/>
          <p:cNvSpPr txBox="1"/>
          <p:nvPr/>
        </p:nvSpPr>
        <p:spPr>
          <a:xfrm>
            <a:off x="669450" y="2331225"/>
            <a:ext cx="5778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0x70</a:t>
            </a:r>
            <a:endParaRPr>
              <a:solidFill>
                <a:srgbClr val="FF0000"/>
              </a:solidFill>
            </a:endParaRPr>
          </a:p>
        </p:txBody>
      </p:sp>
      <p:sp>
        <p:nvSpPr>
          <p:cNvPr id="588" name="Google Shape;588;p66"/>
          <p:cNvSpPr/>
          <p:nvPr/>
        </p:nvSpPr>
        <p:spPr>
          <a:xfrm>
            <a:off x="305850" y="2079825"/>
            <a:ext cx="1305000" cy="25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9" name="Google Shape;589;p66"/>
          <p:cNvPicPr preferRelativeResize="0"/>
          <p:nvPr/>
        </p:nvPicPr>
        <p:blipFill rotWithShape="1">
          <a:blip r:embed="rId4">
            <a:alphaModFix/>
          </a:blip>
          <a:srcRect b="32199" l="0" r="0" t="0"/>
          <a:stretch/>
        </p:blipFill>
        <p:spPr>
          <a:xfrm>
            <a:off x="54375" y="3374975"/>
            <a:ext cx="6565725" cy="1721925"/>
          </a:xfrm>
          <a:prstGeom prst="rect">
            <a:avLst/>
          </a:prstGeom>
          <a:noFill/>
          <a:ln>
            <a:noFill/>
          </a:ln>
        </p:spPr>
      </p:pic>
      <p:sp>
        <p:nvSpPr>
          <p:cNvPr id="590" name="Google Shape;590;p66"/>
          <p:cNvSpPr txBox="1"/>
          <p:nvPr/>
        </p:nvSpPr>
        <p:spPr>
          <a:xfrm>
            <a:off x="6620100" y="2835075"/>
            <a:ext cx="2498700" cy="34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FF"/>
                </a:solidFill>
              </a:rPr>
              <a:t>To write the </a:t>
            </a:r>
            <a:r>
              <a:rPr b="1" lang="en" sz="1200">
                <a:solidFill>
                  <a:srgbClr val="0000FF"/>
                </a:solidFill>
              </a:rPr>
              <a:t>entire display</a:t>
            </a:r>
            <a:r>
              <a:rPr lang="en" sz="1200">
                <a:solidFill>
                  <a:srgbClr val="0000FF"/>
                </a:solidFill>
              </a:rPr>
              <a:t> all at once:</a:t>
            </a:r>
            <a:endParaRPr sz="1200">
              <a:solidFill>
                <a:srgbClr val="0000FF"/>
              </a:solidFill>
            </a:endParaRPr>
          </a:p>
          <a:p>
            <a:pPr indent="0" lvl="0" marL="0" rtl="0" algn="l">
              <a:spcBef>
                <a:spcPts val="0"/>
              </a:spcBef>
              <a:spcAft>
                <a:spcPts val="0"/>
              </a:spcAft>
              <a:buNone/>
            </a:pPr>
            <a:r>
              <a:t/>
            </a:r>
            <a:endParaRPr sz="1200">
              <a:solidFill>
                <a:srgbClr val="0000FF"/>
              </a:solidFill>
            </a:endParaRPr>
          </a:p>
          <a:p>
            <a:pPr indent="0" lvl="0" marL="0" rtl="0" algn="l">
              <a:spcBef>
                <a:spcPts val="0"/>
              </a:spcBef>
              <a:spcAft>
                <a:spcPts val="0"/>
              </a:spcAft>
              <a:buNone/>
            </a:pPr>
            <a:r>
              <a:rPr lang="en" sz="1200">
                <a:solidFill>
                  <a:srgbClr val="0000FF"/>
                </a:solidFill>
              </a:rPr>
              <a:t>In ONE I2C communication (cannot let go of the bus between pieces of data):</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display starting address (0x0 if you are writing the entire display)</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first digit byte</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0</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second digit byte</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0</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last digit byte</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0</a:t>
            </a:r>
            <a:endParaRPr sz="1200">
              <a:solidFill>
                <a:srgbClr val="0000FF"/>
              </a:solidFill>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91" name="Google Shape;591;p66"/>
          <p:cNvSpPr txBox="1"/>
          <p:nvPr/>
        </p:nvSpPr>
        <p:spPr>
          <a:xfrm>
            <a:off x="668585" y="3807863"/>
            <a:ext cx="1071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9900FF"/>
                </a:solidFill>
              </a:rPr>
              <a:t>Command</a:t>
            </a:r>
            <a:endParaRPr sz="1200">
              <a:solidFill>
                <a:srgbClr val="9900FF"/>
              </a:solidFill>
            </a:endParaRPr>
          </a:p>
        </p:txBody>
      </p:sp>
      <p:cxnSp>
        <p:nvCxnSpPr>
          <p:cNvPr id="592" name="Google Shape;592;p66"/>
          <p:cNvCxnSpPr/>
          <p:nvPr/>
        </p:nvCxnSpPr>
        <p:spPr>
          <a:xfrm>
            <a:off x="1907660" y="3590025"/>
            <a:ext cx="7800" cy="1507500"/>
          </a:xfrm>
          <a:prstGeom prst="straightConnector1">
            <a:avLst/>
          </a:prstGeom>
          <a:noFill/>
          <a:ln cap="flat" cmpd="sng" w="28575">
            <a:solidFill>
              <a:srgbClr val="9900FF"/>
            </a:solidFill>
            <a:prstDash val="solid"/>
            <a:round/>
            <a:headEnd len="med" w="med" type="none"/>
            <a:tailEnd len="med" w="med" type="none"/>
          </a:ln>
        </p:spPr>
      </p:cxnSp>
      <p:sp>
        <p:nvSpPr>
          <p:cNvPr id="593" name="Google Shape;593;p66"/>
          <p:cNvSpPr txBox="1"/>
          <p:nvPr/>
        </p:nvSpPr>
        <p:spPr>
          <a:xfrm>
            <a:off x="1796525" y="3807875"/>
            <a:ext cx="1484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9900FF"/>
                </a:solidFill>
              </a:rPr>
              <a:t>Option</a:t>
            </a:r>
            <a:endParaRPr sz="1200">
              <a:solidFill>
                <a:srgbClr val="9900FF"/>
              </a:solidFill>
            </a:endParaRPr>
          </a:p>
          <a:p>
            <a:pPr indent="0" lvl="0" marL="0" rtl="0" algn="ctr">
              <a:spcBef>
                <a:spcPts val="0"/>
              </a:spcBef>
              <a:spcAft>
                <a:spcPts val="0"/>
              </a:spcAft>
              <a:buNone/>
            </a:pPr>
            <a:r>
              <a:rPr lang="en" sz="1200">
                <a:solidFill>
                  <a:srgbClr val="9900FF"/>
                </a:solidFill>
              </a:rPr>
              <a:t>(starting address)</a:t>
            </a:r>
            <a:endParaRPr sz="1200">
              <a:solidFill>
                <a:srgbClr val="9900FF"/>
              </a:solidFill>
            </a:endParaRPr>
          </a:p>
        </p:txBody>
      </p:sp>
      <p:cxnSp>
        <p:nvCxnSpPr>
          <p:cNvPr id="594" name="Google Shape;594;p66"/>
          <p:cNvCxnSpPr/>
          <p:nvPr/>
        </p:nvCxnSpPr>
        <p:spPr>
          <a:xfrm flipH="1">
            <a:off x="2010575" y="2348575"/>
            <a:ext cx="648600" cy="1011600"/>
          </a:xfrm>
          <a:prstGeom prst="straightConnector1">
            <a:avLst/>
          </a:prstGeom>
          <a:noFill/>
          <a:ln cap="flat" cmpd="sng" w="19050">
            <a:solidFill>
              <a:srgbClr val="9900FF"/>
            </a:solidFill>
            <a:prstDash val="solid"/>
            <a:round/>
            <a:headEnd len="med" w="med" type="none"/>
            <a:tailEnd len="med" w="med" type="triangle"/>
          </a:ln>
        </p:spPr>
      </p:cxnSp>
      <p:sp>
        <p:nvSpPr>
          <p:cNvPr id="595" name="Google Shape;595;p66"/>
          <p:cNvSpPr txBox="1"/>
          <p:nvPr/>
        </p:nvSpPr>
        <p:spPr>
          <a:xfrm>
            <a:off x="8526100" y="1356875"/>
            <a:ext cx="5778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Stop</a:t>
            </a:r>
            <a:endParaRPr>
              <a:solidFill>
                <a:srgbClr val="0000FF"/>
              </a:solidFill>
            </a:endParaRPr>
          </a:p>
        </p:txBody>
      </p:sp>
      <p:cxnSp>
        <p:nvCxnSpPr>
          <p:cNvPr id="596" name="Google Shape;596;p66"/>
          <p:cNvCxnSpPr>
            <a:stCxn id="595" idx="2"/>
          </p:cNvCxnSpPr>
          <p:nvPr/>
        </p:nvCxnSpPr>
        <p:spPr>
          <a:xfrm>
            <a:off x="8815000" y="1650875"/>
            <a:ext cx="125700" cy="412500"/>
          </a:xfrm>
          <a:prstGeom prst="straightConnector1">
            <a:avLst/>
          </a:prstGeom>
          <a:noFill/>
          <a:ln cap="flat" cmpd="sng" w="19050">
            <a:solidFill>
              <a:srgbClr val="0000FF"/>
            </a:solidFill>
            <a:prstDash val="solid"/>
            <a:round/>
            <a:headEnd len="med" w="med" type="none"/>
            <a:tailEnd len="med" w="med" type="stealth"/>
          </a:ln>
        </p:spPr>
      </p:cxnSp>
      <p:sp>
        <p:nvSpPr>
          <p:cNvPr id="597" name="Google Shape;597;p66"/>
          <p:cNvSpPr txBox="1"/>
          <p:nvPr/>
        </p:nvSpPr>
        <p:spPr>
          <a:xfrm>
            <a:off x="5727900" y="205900"/>
            <a:ext cx="2798100" cy="12165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The entire display RAM of the backpack is written in one long multibyte transmission (“page write”) operation, p. 22 of datasheet.</a:t>
            </a:r>
            <a:endParaRPr>
              <a:solidFill>
                <a:srgbClr val="0000FF"/>
              </a:solidFill>
            </a:endParaRPr>
          </a:p>
        </p:txBody>
      </p:sp>
      <p:sp>
        <p:nvSpPr>
          <p:cNvPr id="598" name="Google Shape;598;p66"/>
          <p:cNvSpPr txBox="1"/>
          <p:nvPr/>
        </p:nvSpPr>
        <p:spPr>
          <a:xfrm>
            <a:off x="160538" y="5384000"/>
            <a:ext cx="6353400" cy="12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FF"/>
                </a:solidFill>
              </a:rPr>
              <a:t>To write </a:t>
            </a:r>
            <a:r>
              <a:rPr b="1" lang="en" sz="1200">
                <a:solidFill>
                  <a:srgbClr val="0000FF"/>
                </a:solidFill>
              </a:rPr>
              <a:t>one specific digit</a:t>
            </a:r>
            <a:r>
              <a:rPr lang="en" sz="1200">
                <a:solidFill>
                  <a:srgbClr val="0000FF"/>
                </a:solidFill>
              </a:rPr>
              <a:t>:</a:t>
            </a:r>
            <a:endParaRPr sz="1200">
              <a:solidFill>
                <a:srgbClr val="0000FF"/>
              </a:solidFill>
            </a:endParaRPr>
          </a:p>
          <a:p>
            <a:pPr indent="0" lvl="0" marL="0" rtl="0" algn="l">
              <a:spcBef>
                <a:spcPts val="0"/>
              </a:spcBef>
              <a:spcAft>
                <a:spcPts val="0"/>
              </a:spcAft>
              <a:buNone/>
            </a:pPr>
            <a:r>
              <a:t/>
            </a:r>
            <a:endParaRPr sz="1200">
              <a:solidFill>
                <a:srgbClr val="0000FF"/>
              </a:solidFill>
            </a:endParaRPr>
          </a:p>
          <a:p>
            <a:pPr indent="0" lvl="0" marL="0" rtl="0" algn="l">
              <a:spcBef>
                <a:spcPts val="0"/>
              </a:spcBef>
              <a:spcAft>
                <a:spcPts val="0"/>
              </a:spcAft>
              <a:buNone/>
            </a:pPr>
            <a:r>
              <a:rPr lang="en" sz="1200">
                <a:solidFill>
                  <a:srgbClr val="0000FF"/>
                </a:solidFill>
              </a:rPr>
              <a:t>In ONE I2C communication (cannot let go of the bus between pieces of data):</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digit's address (0, 2, 4, 6, 8)</a:t>
            </a:r>
            <a:endParaRPr sz="1200">
              <a:solidFill>
                <a:srgbClr val="0000FF"/>
              </a:solidFill>
            </a:endParaRPr>
          </a:p>
          <a:p>
            <a:pPr indent="-304800" lvl="0" marL="457200" rtl="0" algn="l">
              <a:spcBef>
                <a:spcPts val="0"/>
              </a:spcBef>
              <a:spcAft>
                <a:spcPts val="0"/>
              </a:spcAft>
              <a:buClr>
                <a:srgbClr val="0000FF"/>
              </a:buClr>
              <a:buSzPts val="1200"/>
              <a:buChar char="●"/>
            </a:pPr>
            <a:r>
              <a:rPr lang="en" sz="1200">
                <a:solidFill>
                  <a:srgbClr val="0000FF"/>
                </a:solidFill>
              </a:rPr>
              <a:t>Send digit byte</a:t>
            </a:r>
            <a:endParaRPr sz="1200">
              <a:solidFill>
                <a:srgbClr val="0000FF"/>
              </a:solidFill>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7"/>
          <p:cNvSpPr txBox="1"/>
          <p:nvPr>
            <p:ph type="title"/>
          </p:nvPr>
        </p:nvSpPr>
        <p:spPr>
          <a:xfrm>
            <a:off x="311700" y="231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Communicating with the HT16K33 Controller Driver - Summary</a:t>
            </a:r>
            <a:r>
              <a:rPr lang="en"/>
              <a:t> </a:t>
            </a:r>
            <a:endParaRPr/>
          </a:p>
        </p:txBody>
      </p:sp>
      <p:sp>
        <p:nvSpPr>
          <p:cNvPr id="604" name="Google Shape;604;p67"/>
          <p:cNvSpPr txBox="1"/>
          <p:nvPr>
            <p:ph idx="1" type="body"/>
          </p:nvPr>
        </p:nvSpPr>
        <p:spPr>
          <a:xfrm>
            <a:off x="311700" y="1088113"/>
            <a:ext cx="8520600" cy="5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To send </a:t>
            </a:r>
            <a:r>
              <a:rPr b="1" lang="en">
                <a:solidFill>
                  <a:srgbClr val="2A00FF"/>
                </a:solidFill>
              </a:rPr>
              <a:t>commands</a:t>
            </a:r>
            <a:r>
              <a:rPr lang="en"/>
              <a:t> (turn oscillator on, configure blinkrate, etc):</a:t>
            </a:r>
            <a:endParaRPr/>
          </a:p>
        </p:txBody>
      </p:sp>
      <p:pic>
        <p:nvPicPr>
          <p:cNvPr id="605" name="Google Shape;605;p67"/>
          <p:cNvPicPr preferRelativeResize="0"/>
          <p:nvPr/>
        </p:nvPicPr>
        <p:blipFill>
          <a:blip r:embed="rId3">
            <a:alphaModFix/>
          </a:blip>
          <a:stretch>
            <a:fillRect/>
          </a:stretch>
        </p:blipFill>
        <p:spPr>
          <a:xfrm>
            <a:off x="189925" y="1588357"/>
            <a:ext cx="8839199" cy="1596413"/>
          </a:xfrm>
          <a:prstGeom prst="rect">
            <a:avLst/>
          </a:prstGeom>
          <a:noFill/>
          <a:ln>
            <a:noFill/>
          </a:ln>
        </p:spPr>
      </p:pic>
      <p:sp>
        <p:nvSpPr>
          <p:cNvPr id="606" name="Google Shape;606;p67"/>
          <p:cNvSpPr txBox="1"/>
          <p:nvPr/>
        </p:nvSpPr>
        <p:spPr>
          <a:xfrm>
            <a:off x="468975" y="1475244"/>
            <a:ext cx="5778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Start</a:t>
            </a:r>
            <a:endParaRPr>
              <a:solidFill>
                <a:srgbClr val="0000FF"/>
              </a:solidFill>
            </a:endParaRPr>
          </a:p>
        </p:txBody>
      </p:sp>
      <p:cxnSp>
        <p:nvCxnSpPr>
          <p:cNvPr id="607" name="Google Shape;607;p67"/>
          <p:cNvCxnSpPr/>
          <p:nvPr/>
        </p:nvCxnSpPr>
        <p:spPr>
          <a:xfrm flipH="1">
            <a:off x="584600" y="1821894"/>
            <a:ext cx="125700" cy="469200"/>
          </a:xfrm>
          <a:prstGeom prst="straightConnector1">
            <a:avLst/>
          </a:prstGeom>
          <a:noFill/>
          <a:ln cap="flat" cmpd="sng" w="19050">
            <a:solidFill>
              <a:srgbClr val="0000FF"/>
            </a:solidFill>
            <a:prstDash val="solid"/>
            <a:round/>
            <a:headEnd len="med" w="med" type="none"/>
            <a:tailEnd len="med" w="med" type="stealth"/>
          </a:ln>
        </p:spPr>
      </p:cxnSp>
      <p:sp>
        <p:nvSpPr>
          <p:cNvPr id="608" name="Google Shape;608;p67"/>
          <p:cNvSpPr txBox="1"/>
          <p:nvPr/>
        </p:nvSpPr>
        <p:spPr>
          <a:xfrm>
            <a:off x="8322500" y="1475244"/>
            <a:ext cx="5778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Stop</a:t>
            </a:r>
            <a:endParaRPr>
              <a:solidFill>
                <a:srgbClr val="0000FF"/>
              </a:solidFill>
            </a:endParaRPr>
          </a:p>
        </p:txBody>
      </p:sp>
      <p:cxnSp>
        <p:nvCxnSpPr>
          <p:cNvPr id="609" name="Google Shape;609;p67"/>
          <p:cNvCxnSpPr>
            <a:stCxn id="608" idx="2"/>
          </p:cNvCxnSpPr>
          <p:nvPr/>
        </p:nvCxnSpPr>
        <p:spPr>
          <a:xfrm>
            <a:off x="8611400" y="1855944"/>
            <a:ext cx="300" cy="455400"/>
          </a:xfrm>
          <a:prstGeom prst="straightConnector1">
            <a:avLst/>
          </a:prstGeom>
          <a:noFill/>
          <a:ln cap="flat" cmpd="sng" w="19050">
            <a:solidFill>
              <a:srgbClr val="0000FF"/>
            </a:solidFill>
            <a:prstDash val="solid"/>
            <a:round/>
            <a:headEnd len="med" w="med" type="none"/>
            <a:tailEnd len="med" w="med" type="stealth"/>
          </a:ln>
        </p:spPr>
      </p:cxnSp>
      <p:sp>
        <p:nvSpPr>
          <p:cNvPr id="610" name="Google Shape;610;p67"/>
          <p:cNvSpPr txBox="1"/>
          <p:nvPr/>
        </p:nvSpPr>
        <p:spPr>
          <a:xfrm>
            <a:off x="1991425" y="2713369"/>
            <a:ext cx="5778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0x70</a:t>
            </a:r>
            <a:endParaRPr>
              <a:solidFill>
                <a:srgbClr val="FF0000"/>
              </a:solidFill>
            </a:endParaRPr>
          </a:p>
        </p:txBody>
      </p:sp>
      <p:sp>
        <p:nvSpPr>
          <p:cNvPr id="611" name="Google Shape;611;p67"/>
          <p:cNvSpPr/>
          <p:nvPr/>
        </p:nvSpPr>
        <p:spPr>
          <a:xfrm>
            <a:off x="808825" y="2304869"/>
            <a:ext cx="2943000" cy="328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7"/>
          <p:cNvSpPr txBox="1"/>
          <p:nvPr/>
        </p:nvSpPr>
        <p:spPr>
          <a:xfrm>
            <a:off x="1660375" y="1761969"/>
            <a:ext cx="1307700" cy="369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Device Address</a:t>
            </a:r>
            <a:endParaRPr sz="1200"/>
          </a:p>
        </p:txBody>
      </p:sp>
      <p:sp>
        <p:nvSpPr>
          <p:cNvPr id="613" name="Google Shape;613;p67"/>
          <p:cNvSpPr txBox="1"/>
          <p:nvPr/>
        </p:nvSpPr>
        <p:spPr>
          <a:xfrm>
            <a:off x="808825" y="3175481"/>
            <a:ext cx="7250100" cy="53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rgbClr val="2A00FF"/>
                </a:solidFill>
                <a:latin typeface="Courier New"/>
                <a:ea typeface="Courier New"/>
                <a:cs typeface="Courier New"/>
                <a:sym typeface="Courier New"/>
              </a:rPr>
              <a:t>i2c1_byteWrite(HT16K33_ADDR, command code);</a:t>
            </a:r>
            <a:endParaRPr b="1" sz="1700">
              <a:solidFill>
                <a:srgbClr val="2A00FF"/>
              </a:solidFill>
            </a:endParaRPr>
          </a:p>
        </p:txBody>
      </p:sp>
      <p:sp>
        <p:nvSpPr>
          <p:cNvPr id="614" name="Google Shape;614;p67"/>
          <p:cNvSpPr txBox="1"/>
          <p:nvPr>
            <p:ph idx="1" type="body"/>
          </p:nvPr>
        </p:nvSpPr>
        <p:spPr>
          <a:xfrm>
            <a:off x="311700" y="4851140"/>
            <a:ext cx="8520600" cy="5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To write to the </a:t>
            </a:r>
            <a:r>
              <a:rPr lang="en">
                <a:solidFill>
                  <a:srgbClr val="005032"/>
                </a:solidFill>
              </a:rPr>
              <a:t>display</a:t>
            </a:r>
            <a:r>
              <a:rPr lang="en"/>
              <a:t> (one digit or all digits):</a:t>
            </a:r>
            <a:endParaRPr/>
          </a:p>
        </p:txBody>
      </p:sp>
      <p:pic>
        <p:nvPicPr>
          <p:cNvPr id="615" name="Google Shape;615;p67"/>
          <p:cNvPicPr preferRelativeResize="0"/>
          <p:nvPr/>
        </p:nvPicPr>
        <p:blipFill>
          <a:blip r:embed="rId4">
            <a:alphaModFix/>
          </a:blip>
          <a:stretch>
            <a:fillRect/>
          </a:stretch>
        </p:blipFill>
        <p:spPr>
          <a:xfrm>
            <a:off x="0" y="4848626"/>
            <a:ext cx="9143998" cy="865406"/>
          </a:xfrm>
          <a:prstGeom prst="rect">
            <a:avLst/>
          </a:prstGeom>
          <a:noFill/>
          <a:ln>
            <a:noFill/>
          </a:ln>
        </p:spPr>
      </p:pic>
      <p:sp>
        <p:nvSpPr>
          <p:cNvPr id="616" name="Google Shape;616;p67"/>
          <p:cNvSpPr txBox="1"/>
          <p:nvPr/>
        </p:nvSpPr>
        <p:spPr>
          <a:xfrm>
            <a:off x="-5175" y="4395230"/>
            <a:ext cx="5778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Start</a:t>
            </a:r>
            <a:endParaRPr>
              <a:solidFill>
                <a:srgbClr val="0000FF"/>
              </a:solidFill>
            </a:endParaRPr>
          </a:p>
        </p:txBody>
      </p:sp>
      <p:cxnSp>
        <p:nvCxnSpPr>
          <p:cNvPr id="617" name="Google Shape;617;p67"/>
          <p:cNvCxnSpPr>
            <a:stCxn id="616" idx="2"/>
          </p:cNvCxnSpPr>
          <p:nvPr/>
        </p:nvCxnSpPr>
        <p:spPr>
          <a:xfrm flipH="1">
            <a:off x="235125" y="4689230"/>
            <a:ext cx="48600" cy="314100"/>
          </a:xfrm>
          <a:prstGeom prst="straightConnector1">
            <a:avLst/>
          </a:prstGeom>
          <a:noFill/>
          <a:ln cap="flat" cmpd="sng" w="19050">
            <a:solidFill>
              <a:srgbClr val="0000FF"/>
            </a:solidFill>
            <a:prstDash val="solid"/>
            <a:round/>
            <a:headEnd len="med" w="med" type="none"/>
            <a:tailEnd len="med" w="med" type="stealth"/>
          </a:ln>
        </p:spPr>
      </p:cxnSp>
      <p:sp>
        <p:nvSpPr>
          <p:cNvPr id="618" name="Google Shape;618;p67"/>
          <p:cNvSpPr txBox="1"/>
          <p:nvPr/>
        </p:nvSpPr>
        <p:spPr>
          <a:xfrm>
            <a:off x="669450" y="5369580"/>
            <a:ext cx="5778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0x70</a:t>
            </a:r>
            <a:endParaRPr>
              <a:solidFill>
                <a:srgbClr val="FF0000"/>
              </a:solidFill>
            </a:endParaRPr>
          </a:p>
        </p:txBody>
      </p:sp>
      <p:sp>
        <p:nvSpPr>
          <p:cNvPr id="619" name="Google Shape;619;p67"/>
          <p:cNvSpPr/>
          <p:nvPr/>
        </p:nvSpPr>
        <p:spPr>
          <a:xfrm>
            <a:off x="305850" y="5118180"/>
            <a:ext cx="1305000" cy="25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7"/>
          <p:cNvSpPr txBox="1"/>
          <p:nvPr/>
        </p:nvSpPr>
        <p:spPr>
          <a:xfrm>
            <a:off x="8526100" y="4395230"/>
            <a:ext cx="5778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Stop</a:t>
            </a:r>
            <a:endParaRPr>
              <a:solidFill>
                <a:srgbClr val="0000FF"/>
              </a:solidFill>
            </a:endParaRPr>
          </a:p>
        </p:txBody>
      </p:sp>
      <p:cxnSp>
        <p:nvCxnSpPr>
          <p:cNvPr id="621" name="Google Shape;621;p67"/>
          <p:cNvCxnSpPr>
            <a:stCxn id="620" idx="2"/>
          </p:cNvCxnSpPr>
          <p:nvPr/>
        </p:nvCxnSpPr>
        <p:spPr>
          <a:xfrm>
            <a:off x="8815000" y="4689230"/>
            <a:ext cx="125700" cy="412500"/>
          </a:xfrm>
          <a:prstGeom prst="straightConnector1">
            <a:avLst/>
          </a:prstGeom>
          <a:noFill/>
          <a:ln cap="flat" cmpd="sng" w="19050">
            <a:solidFill>
              <a:srgbClr val="0000FF"/>
            </a:solidFill>
            <a:prstDash val="solid"/>
            <a:round/>
            <a:headEnd len="med" w="med" type="none"/>
            <a:tailEnd len="med" w="med" type="stealth"/>
          </a:ln>
        </p:spPr>
      </p:cxnSp>
      <p:sp>
        <p:nvSpPr>
          <p:cNvPr id="622" name="Google Shape;622;p67"/>
          <p:cNvSpPr txBox="1"/>
          <p:nvPr>
            <p:ph idx="1" type="body"/>
          </p:nvPr>
        </p:nvSpPr>
        <p:spPr>
          <a:xfrm>
            <a:off x="311700" y="4013313"/>
            <a:ext cx="8520600" cy="5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To write to the </a:t>
            </a:r>
            <a:r>
              <a:rPr b="1" lang="en">
                <a:solidFill>
                  <a:srgbClr val="38761D"/>
                </a:solidFill>
              </a:rPr>
              <a:t>display</a:t>
            </a:r>
            <a:r>
              <a:rPr lang="en"/>
              <a:t> (one digit or entire display):</a:t>
            </a:r>
            <a:endParaRPr/>
          </a:p>
        </p:txBody>
      </p:sp>
      <p:sp>
        <p:nvSpPr>
          <p:cNvPr id="623" name="Google Shape;623;p67"/>
          <p:cNvSpPr txBox="1"/>
          <p:nvPr/>
        </p:nvSpPr>
        <p:spPr>
          <a:xfrm>
            <a:off x="710300" y="5873437"/>
            <a:ext cx="8131800" cy="6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rgbClr val="38761D"/>
                </a:solidFill>
                <a:latin typeface="Courier New"/>
                <a:ea typeface="Courier New"/>
                <a:cs typeface="Courier New"/>
                <a:sym typeface="Courier New"/>
              </a:rPr>
              <a:t>i2c1_memWrite(</a:t>
            </a:r>
            <a:r>
              <a:rPr b="1" lang="en" sz="1700">
                <a:solidFill>
                  <a:srgbClr val="38761D"/>
                </a:solidFill>
                <a:latin typeface="Courier New"/>
                <a:ea typeface="Courier New"/>
                <a:cs typeface="Courier New"/>
                <a:sym typeface="Courier New"/>
              </a:rPr>
              <a:t>HT16K33_ADDR</a:t>
            </a:r>
            <a:r>
              <a:rPr b="1" lang="en" sz="1700">
                <a:solidFill>
                  <a:srgbClr val="38761D"/>
                </a:solidFill>
                <a:latin typeface="Courier New"/>
                <a:ea typeface="Courier New"/>
                <a:cs typeface="Courier New"/>
                <a:sym typeface="Courier New"/>
              </a:rPr>
              <a:t>, where to write in display memory, </a:t>
            </a:r>
            <a:br>
              <a:rPr b="1" lang="en" sz="1700">
                <a:solidFill>
                  <a:srgbClr val="38761D"/>
                </a:solidFill>
                <a:latin typeface="Courier New"/>
                <a:ea typeface="Courier New"/>
                <a:cs typeface="Courier New"/>
                <a:sym typeface="Courier New"/>
              </a:rPr>
            </a:br>
            <a:r>
              <a:rPr b="1" lang="en" sz="1700">
                <a:solidFill>
                  <a:srgbClr val="38761D"/>
                </a:solidFill>
                <a:latin typeface="Courier New"/>
                <a:ea typeface="Courier New"/>
                <a:cs typeface="Courier New"/>
                <a:sym typeface="Courier New"/>
              </a:rPr>
              <a:t>              number of bytes coming, array with data);</a:t>
            </a:r>
            <a:endParaRPr b="1" sz="1700">
              <a:solidFill>
                <a:srgbClr val="38761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to one digit of the display</a:t>
            </a:r>
            <a:endParaRPr/>
          </a:p>
        </p:txBody>
      </p:sp>
      <p:sp>
        <p:nvSpPr>
          <p:cNvPr id="629" name="Google Shape;629;p6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Copy your TemplateProject to a new project named "SevenSegI2CSecondSteps".</a:t>
            </a:r>
            <a:endParaRPr/>
          </a:p>
          <a:p>
            <a:pPr indent="-342900" lvl="0" marL="457200" rtl="0" algn="l">
              <a:spcBef>
                <a:spcPts val="0"/>
              </a:spcBef>
              <a:spcAft>
                <a:spcPts val="0"/>
              </a:spcAft>
              <a:buSzPts val="1800"/>
              <a:buChar char="●"/>
            </a:pPr>
            <a:r>
              <a:rPr lang="en"/>
              <a:t>From Canvas:</a:t>
            </a:r>
            <a:endParaRPr/>
          </a:p>
          <a:p>
            <a:pPr indent="-317500" lvl="1" marL="914400" rtl="0" algn="l">
              <a:spcBef>
                <a:spcPts val="0"/>
              </a:spcBef>
              <a:spcAft>
                <a:spcPts val="0"/>
              </a:spcAft>
              <a:buSzPts val="1400"/>
              <a:buChar char="○"/>
            </a:pPr>
            <a:r>
              <a:rPr lang="en"/>
              <a:t>Download </a:t>
            </a:r>
            <a:r>
              <a:rPr b="1" lang="en">
                <a:solidFill>
                  <a:srgbClr val="990000"/>
                </a:solidFill>
              </a:rPr>
              <a:t>SevenSegPartial.c </a:t>
            </a:r>
            <a:r>
              <a:rPr lang="en"/>
              <a:t>and put it into your new </a:t>
            </a:r>
            <a:r>
              <a:rPr lang="en"/>
              <a:t>project's</a:t>
            </a:r>
            <a:r>
              <a:rPr lang="en"/>
              <a:t> </a:t>
            </a:r>
            <a:r>
              <a:rPr b="1" lang="en">
                <a:solidFill>
                  <a:srgbClr val="990000"/>
                </a:solidFill>
              </a:rPr>
              <a:t>Src</a:t>
            </a:r>
            <a:r>
              <a:rPr lang="en"/>
              <a:t> folder</a:t>
            </a:r>
            <a:endParaRPr/>
          </a:p>
          <a:p>
            <a:pPr indent="-317500" lvl="1" marL="914400" rtl="0" algn="l">
              <a:spcBef>
                <a:spcPts val="0"/>
              </a:spcBef>
              <a:spcAft>
                <a:spcPts val="0"/>
              </a:spcAft>
              <a:buSzPts val="1400"/>
              <a:buChar char="○"/>
            </a:pPr>
            <a:r>
              <a:rPr lang="en"/>
              <a:t>Download </a:t>
            </a:r>
            <a:r>
              <a:rPr b="1" lang="en">
                <a:solidFill>
                  <a:srgbClr val="274E13"/>
                </a:solidFill>
              </a:rPr>
              <a:t>SevenSegPartial.h</a:t>
            </a:r>
            <a:r>
              <a:rPr lang="en"/>
              <a:t> and put it into your project's </a:t>
            </a:r>
            <a:r>
              <a:rPr b="1" lang="en">
                <a:solidFill>
                  <a:srgbClr val="274E13"/>
                </a:solidFill>
              </a:rPr>
              <a:t>Inc</a:t>
            </a:r>
            <a:r>
              <a:rPr lang="en"/>
              <a:t> folder</a:t>
            </a:r>
            <a:endParaRPr/>
          </a:p>
          <a:p>
            <a:pPr indent="-317500" lvl="1" marL="914400" rtl="0" algn="l">
              <a:spcBef>
                <a:spcPts val="0"/>
              </a:spcBef>
              <a:spcAft>
                <a:spcPts val="0"/>
              </a:spcAft>
              <a:buSzPts val="1400"/>
              <a:buChar char="○"/>
            </a:pPr>
            <a:r>
              <a:rPr lang="en"/>
              <a:t>Download </a:t>
            </a:r>
            <a:r>
              <a:rPr b="1" lang="en">
                <a:solidFill>
                  <a:srgbClr val="990000"/>
                </a:solidFill>
              </a:rPr>
              <a:t>writeFirstDigit.c </a:t>
            </a:r>
            <a:r>
              <a:rPr lang="en"/>
              <a:t>and put it into your project's </a:t>
            </a:r>
            <a:r>
              <a:rPr b="1" lang="en">
                <a:solidFill>
                  <a:srgbClr val="990000"/>
                </a:solidFill>
              </a:rPr>
              <a:t>Src</a:t>
            </a:r>
            <a:r>
              <a:rPr lang="en"/>
              <a:t> folder</a:t>
            </a:r>
            <a:endParaRPr/>
          </a:p>
          <a:p>
            <a:pPr indent="-342900" lvl="0" marL="457200" rtl="0" algn="l">
              <a:spcBef>
                <a:spcPts val="0"/>
              </a:spcBef>
              <a:spcAft>
                <a:spcPts val="0"/>
              </a:spcAft>
              <a:buSzPts val="1800"/>
              <a:buChar char="●"/>
            </a:pPr>
            <a:r>
              <a:rPr lang="en"/>
              <a:t>Compile and flash the code, then:</a:t>
            </a:r>
            <a:endParaRPr/>
          </a:p>
          <a:p>
            <a:pPr indent="-317500" lvl="1" marL="914400" rtl="0" algn="l">
              <a:spcBef>
                <a:spcPts val="0"/>
              </a:spcBef>
              <a:spcAft>
                <a:spcPts val="0"/>
              </a:spcAft>
              <a:buSzPts val="1400"/>
              <a:buChar char="○"/>
            </a:pPr>
            <a:r>
              <a:rPr lang="en"/>
              <a:t>Modify the code to write the second digit, etc</a:t>
            </a:r>
            <a:endParaRPr/>
          </a:p>
          <a:p>
            <a:pPr indent="-317500" lvl="1" marL="914400" rtl="0" algn="l">
              <a:spcBef>
                <a:spcPts val="0"/>
              </a:spcBef>
              <a:spcAft>
                <a:spcPts val="0"/>
              </a:spcAft>
              <a:buSzPts val="1400"/>
              <a:buChar char="○"/>
            </a:pPr>
            <a:r>
              <a:rPr lang="en"/>
              <a:t>Modify what you write to the digit - E, S, 2, 8</a:t>
            </a:r>
            <a:endParaRPr/>
          </a:p>
          <a:p>
            <a:pPr indent="0" lvl="0" marL="0" rtl="0" algn="l">
              <a:spcBef>
                <a:spcPts val="1600"/>
              </a:spcBef>
              <a:spcAft>
                <a:spcPts val="1600"/>
              </a:spcAft>
              <a:buNone/>
            </a:pPr>
            <a:r>
              <a:t/>
            </a:r>
            <a:endParaRPr i="1">
              <a:solidFill>
                <a:srgbClr val="0000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9"/>
          <p:cNvSpPr txBox="1"/>
          <p:nvPr>
            <p:ph idx="1" type="body"/>
          </p:nvPr>
        </p:nvSpPr>
        <p:spPr>
          <a:xfrm>
            <a:off x="149325" y="1250575"/>
            <a:ext cx="8520600" cy="45048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300">
                <a:solidFill>
                  <a:srgbClr val="7F0055"/>
                </a:solidFill>
                <a:highlight>
                  <a:srgbClr val="FFFFFF"/>
                </a:highlight>
                <a:latin typeface="Courier New"/>
                <a:ea typeface="Courier New"/>
                <a:cs typeface="Courier New"/>
                <a:sym typeface="Courier New"/>
              </a:rPr>
              <a:t>#include</a:t>
            </a:r>
            <a:r>
              <a:rPr b="1" lang="en" sz="1300">
                <a:solidFill>
                  <a:schemeClr val="dk1"/>
                </a:solidFill>
                <a:highlight>
                  <a:srgbClr val="FFFFFF"/>
                </a:highlight>
                <a:latin typeface="Courier New"/>
                <a:ea typeface="Courier New"/>
                <a:cs typeface="Courier New"/>
                <a:sym typeface="Courier New"/>
              </a:rPr>
              <a:t> </a:t>
            </a:r>
            <a:r>
              <a:rPr b="1" lang="en" sz="1300">
                <a:solidFill>
                  <a:srgbClr val="2A00FF"/>
                </a:solidFill>
                <a:highlight>
                  <a:srgbClr val="FFFFFF"/>
                </a:highlight>
                <a:latin typeface="Courier New"/>
                <a:ea typeface="Courier New"/>
                <a:cs typeface="Courier New"/>
                <a:sym typeface="Courier New"/>
              </a:rPr>
              <a:t>"ES28.h"</a:t>
            </a:r>
            <a:endParaRPr b="1" sz="13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rgbClr val="7F0055"/>
                </a:solidFill>
                <a:highlight>
                  <a:srgbClr val="FFFFFF"/>
                </a:highlight>
                <a:latin typeface="Courier New"/>
                <a:ea typeface="Courier New"/>
                <a:cs typeface="Courier New"/>
                <a:sym typeface="Courier New"/>
              </a:rPr>
              <a:t>#include</a:t>
            </a:r>
            <a:r>
              <a:rPr b="1" lang="en" sz="1300">
                <a:solidFill>
                  <a:schemeClr val="dk1"/>
                </a:solidFill>
                <a:highlight>
                  <a:srgbClr val="FFFFFF"/>
                </a:highlight>
                <a:latin typeface="Courier New"/>
                <a:ea typeface="Courier New"/>
                <a:cs typeface="Courier New"/>
                <a:sym typeface="Courier New"/>
              </a:rPr>
              <a:t> </a:t>
            </a:r>
            <a:r>
              <a:rPr b="1" lang="en" sz="1300">
                <a:solidFill>
                  <a:srgbClr val="2A00FF"/>
                </a:solidFill>
                <a:highlight>
                  <a:srgbClr val="FFFFFF"/>
                </a:highlight>
                <a:latin typeface="Courier New"/>
                <a:ea typeface="Courier New"/>
                <a:cs typeface="Courier New"/>
                <a:sym typeface="Courier New"/>
              </a:rPr>
              <a:t>"i2c.h"</a:t>
            </a:r>
            <a:endParaRPr b="1" sz="13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rgbClr val="7F0055"/>
                </a:solidFill>
                <a:highlight>
                  <a:srgbClr val="FFFFFF"/>
                </a:highlight>
                <a:latin typeface="Courier New"/>
                <a:ea typeface="Courier New"/>
                <a:cs typeface="Courier New"/>
                <a:sym typeface="Courier New"/>
              </a:rPr>
              <a:t>#include</a:t>
            </a:r>
            <a:r>
              <a:rPr b="1" lang="en" sz="1300">
                <a:solidFill>
                  <a:schemeClr val="dk1"/>
                </a:solidFill>
                <a:highlight>
                  <a:srgbClr val="FFFFFF"/>
                </a:highlight>
                <a:latin typeface="Courier New"/>
                <a:ea typeface="Courier New"/>
                <a:cs typeface="Courier New"/>
                <a:sym typeface="Courier New"/>
              </a:rPr>
              <a:t> </a:t>
            </a:r>
            <a:r>
              <a:rPr b="1" lang="en" sz="1300">
                <a:solidFill>
                  <a:srgbClr val="2A00FF"/>
                </a:solidFill>
                <a:highlight>
                  <a:srgbClr val="FFFFFF"/>
                </a:highlight>
                <a:latin typeface="Courier New"/>
                <a:ea typeface="Courier New"/>
                <a:cs typeface="Courier New"/>
                <a:sym typeface="Courier New"/>
              </a:rPr>
              <a:t>"SevenSegPartial.h"</a:t>
            </a:r>
            <a:endParaRPr b="1" sz="13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rgbClr val="7F0055"/>
                </a:solidFill>
                <a:highlight>
                  <a:srgbClr val="FFFFFF"/>
                </a:highlight>
                <a:latin typeface="Courier New"/>
                <a:ea typeface="Courier New"/>
                <a:cs typeface="Courier New"/>
                <a:sym typeface="Courier New"/>
              </a:rPr>
              <a:t>int</a:t>
            </a:r>
            <a:r>
              <a:rPr b="1" lang="en" sz="1300">
                <a:solidFill>
                  <a:schemeClr val="dk1"/>
                </a:solidFill>
                <a:highlight>
                  <a:srgbClr val="FFFFFF"/>
                </a:highlight>
                <a:latin typeface="Courier New"/>
                <a:ea typeface="Courier New"/>
                <a:cs typeface="Courier New"/>
                <a:sym typeface="Courier New"/>
              </a:rPr>
              <a:t> main(</a:t>
            </a:r>
            <a:r>
              <a:rPr b="1" lang="en" sz="1300">
                <a:solidFill>
                  <a:srgbClr val="7F0055"/>
                </a:solidFill>
                <a:highlight>
                  <a:srgbClr val="FFFFFF"/>
                </a:highlight>
                <a:latin typeface="Courier New"/>
                <a:ea typeface="Courier New"/>
                <a:cs typeface="Courier New"/>
                <a:sym typeface="Courier New"/>
              </a:rPr>
              <a:t>void</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005032"/>
                </a:solidFill>
                <a:highlight>
                  <a:srgbClr val="FFFFFF"/>
                </a:highlight>
                <a:latin typeface="Courier New"/>
                <a:ea typeface="Courier New"/>
                <a:cs typeface="Courier New"/>
                <a:sym typeface="Courier New"/>
              </a:rPr>
              <a:t>uint8_t</a:t>
            </a:r>
            <a:r>
              <a:rPr b="1" lang="en" sz="1300">
                <a:solidFill>
                  <a:schemeClr val="dk1"/>
                </a:solidFill>
                <a:highlight>
                  <a:srgbClr val="FFFFFF"/>
                </a:highlight>
                <a:latin typeface="Courier New"/>
                <a:ea typeface="Courier New"/>
                <a:cs typeface="Courier New"/>
                <a:sym typeface="Courier New"/>
              </a:rPr>
              <a:t> display_addr = HT16K33_ADDR;</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005032"/>
                </a:solidFill>
                <a:highlight>
                  <a:srgbClr val="FFFFFF"/>
                </a:highlight>
                <a:latin typeface="Courier New"/>
                <a:ea typeface="Courier New"/>
                <a:cs typeface="Courier New"/>
                <a:sym typeface="Courier New"/>
              </a:rPr>
              <a:t>uint8_t</a:t>
            </a:r>
            <a:r>
              <a:rPr b="1" lang="en" sz="1300">
                <a:solidFill>
                  <a:schemeClr val="dk1"/>
                </a:solidFill>
                <a:highlight>
                  <a:srgbClr val="FFFFFF"/>
                </a:highlight>
                <a:latin typeface="Courier New"/>
                <a:ea typeface="Courier New"/>
                <a:cs typeface="Courier New"/>
                <a:sym typeface="Courier New"/>
              </a:rPr>
              <a:t> display_subaddr = 0; 		</a:t>
            </a:r>
            <a:r>
              <a:rPr b="1" lang="en" sz="1300">
                <a:solidFill>
                  <a:srgbClr val="3F7F5F"/>
                </a:solidFill>
                <a:highlight>
                  <a:srgbClr val="FFFFFF"/>
                </a:highlight>
                <a:latin typeface="Courier New"/>
                <a:ea typeface="Courier New"/>
                <a:cs typeface="Courier New"/>
                <a:sym typeface="Courier New"/>
              </a:rPr>
              <a:t>// 0, 2, 4, 6, 8 - depending on the digit</a:t>
            </a:r>
            <a:endParaRPr b="1" sz="13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005032"/>
                </a:solidFill>
                <a:highlight>
                  <a:srgbClr val="FFFFFF"/>
                </a:highlight>
                <a:latin typeface="Courier New"/>
                <a:ea typeface="Courier New"/>
                <a:cs typeface="Courier New"/>
                <a:sym typeface="Courier New"/>
              </a:rPr>
              <a:t>uint8_t</a:t>
            </a:r>
            <a:r>
              <a:rPr b="1" lang="en" sz="1300">
                <a:solidFill>
                  <a:schemeClr val="dk1"/>
                </a:solidFill>
                <a:highlight>
                  <a:srgbClr val="FFFFFF"/>
                </a:highlight>
                <a:latin typeface="Courier New"/>
                <a:ea typeface="Courier New"/>
                <a:cs typeface="Courier New"/>
                <a:sym typeface="Courier New"/>
              </a:rPr>
              <a:t> digit_data = 0b01111001; 	</a:t>
            </a:r>
            <a:r>
              <a:rPr b="1" lang="en" sz="1300">
                <a:solidFill>
                  <a:srgbClr val="3F7F5F"/>
                </a:solidFill>
                <a:highlight>
                  <a:srgbClr val="FFFFFF"/>
                </a:highlight>
                <a:latin typeface="Courier New"/>
                <a:ea typeface="Courier New"/>
                <a:cs typeface="Courier New"/>
                <a:sym typeface="Courier New"/>
              </a:rPr>
              <a:t>// 'E'</a:t>
            </a:r>
            <a:endParaRPr b="1" sz="13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i2c1_init();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SevenSeg_init();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while</a:t>
            </a:r>
            <a:r>
              <a:rPr b="1" lang="en" sz="1300">
                <a:solidFill>
                  <a:schemeClr val="dk1"/>
                </a:solidFill>
                <a:highlight>
                  <a:srgbClr val="FFFFFF"/>
                </a:highlight>
                <a:latin typeface="Courier New"/>
                <a:ea typeface="Courier New"/>
                <a:cs typeface="Courier New"/>
                <a:sym typeface="Courier New"/>
              </a:rPr>
              <a:t>(1) {</a:t>
            </a:r>
            <a:endParaRPr b="1" sz="1300">
              <a:solidFill>
                <a:schemeClr val="dk1"/>
              </a:solidFill>
              <a:highlight>
                <a:srgbClr val="FFFFFF"/>
              </a:highlight>
              <a:latin typeface="Courier New"/>
              <a:ea typeface="Courier New"/>
              <a:cs typeface="Courier New"/>
              <a:sym typeface="Courier New"/>
            </a:endParaRPr>
          </a:p>
          <a:p>
            <a:pPr indent="431800" lvl="0" marL="4826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i2c1_memWrite(</a:t>
            </a:r>
            <a:r>
              <a:rPr b="1" lang="en" sz="1300">
                <a:solidFill>
                  <a:schemeClr val="dk1"/>
                </a:solidFill>
                <a:highlight>
                  <a:schemeClr val="lt1"/>
                </a:highlight>
                <a:latin typeface="Courier New"/>
                <a:ea typeface="Courier New"/>
                <a:cs typeface="Courier New"/>
                <a:sym typeface="Courier New"/>
              </a:rPr>
              <a:t>display_addr</a:t>
            </a:r>
            <a:r>
              <a:rPr b="1" lang="en" sz="1300">
                <a:solidFill>
                  <a:schemeClr val="dk1"/>
                </a:solidFill>
                <a:highlight>
                  <a:srgbClr val="FFFFFF"/>
                </a:highlight>
                <a:latin typeface="Courier New"/>
                <a:ea typeface="Courier New"/>
                <a:cs typeface="Courier New"/>
                <a:sym typeface="Courier New"/>
              </a:rPr>
              <a:t>, </a:t>
            </a:r>
            <a:r>
              <a:rPr b="1" lang="en" sz="1300">
                <a:solidFill>
                  <a:schemeClr val="dk1"/>
                </a:solidFill>
                <a:highlight>
                  <a:schemeClr val="lt1"/>
                </a:highlight>
                <a:latin typeface="Courier New"/>
                <a:ea typeface="Courier New"/>
                <a:cs typeface="Courier New"/>
                <a:sym typeface="Courier New"/>
              </a:rPr>
              <a:t>display_subaddr</a:t>
            </a:r>
            <a:r>
              <a:rPr b="1" lang="en" sz="1300">
                <a:solidFill>
                  <a:schemeClr val="dk1"/>
                </a:solidFill>
                <a:highlight>
                  <a:srgbClr val="FFFFFF"/>
                </a:highlight>
                <a:latin typeface="Courier New"/>
                <a:ea typeface="Courier New"/>
                <a:cs typeface="Courier New"/>
                <a:sym typeface="Courier New"/>
              </a:rPr>
              <a:t>, 1, &amp;digit_data);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delay_ms(250);</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return</a:t>
            </a:r>
            <a:r>
              <a:rPr b="1" lang="en" sz="1300">
                <a:solidFill>
                  <a:schemeClr val="dk1"/>
                </a:solidFill>
                <a:highlight>
                  <a:srgbClr val="FFFFFF"/>
                </a:highlight>
                <a:latin typeface="Courier New"/>
                <a:ea typeface="Courier New"/>
                <a:cs typeface="Courier New"/>
                <a:sym typeface="Courier New"/>
              </a:rPr>
              <a:t> 0;</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a:t>
            </a:r>
            <a:endParaRPr b="1" sz="1300">
              <a:latin typeface="Courier New"/>
              <a:ea typeface="Courier New"/>
              <a:cs typeface="Courier New"/>
              <a:sym typeface="Courier New"/>
            </a:endParaRPr>
          </a:p>
        </p:txBody>
      </p:sp>
      <p:sp>
        <p:nvSpPr>
          <p:cNvPr id="635" name="Google Shape;635;p69"/>
          <p:cNvSpPr txBox="1"/>
          <p:nvPr>
            <p:ph type="title"/>
          </p:nvPr>
        </p:nvSpPr>
        <p:spPr>
          <a:xfrm>
            <a:off x="3938250" y="176725"/>
            <a:ext cx="4893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one digit with i2c library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0"/>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Seven-segment display driver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pic>
        <p:nvPicPr>
          <p:cNvPr id="645" name="Google Shape;645;p71"/>
          <p:cNvPicPr preferRelativeResize="0"/>
          <p:nvPr/>
        </p:nvPicPr>
        <p:blipFill>
          <a:blip r:embed="rId3">
            <a:alphaModFix/>
          </a:blip>
          <a:stretch>
            <a:fillRect/>
          </a:stretch>
        </p:blipFill>
        <p:spPr>
          <a:xfrm>
            <a:off x="162700" y="1116525"/>
            <a:ext cx="8174648" cy="5693899"/>
          </a:xfrm>
          <a:prstGeom prst="rect">
            <a:avLst/>
          </a:prstGeom>
          <a:noFill/>
          <a:ln>
            <a:noFill/>
          </a:ln>
        </p:spPr>
      </p:pic>
      <p:sp>
        <p:nvSpPr>
          <p:cNvPr id="646" name="Google Shape;646;p71"/>
          <p:cNvSpPr txBox="1"/>
          <p:nvPr>
            <p:ph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Firmware design layers</a:t>
            </a:r>
            <a:endParaRPr/>
          </a:p>
        </p:txBody>
      </p:sp>
      <p:sp>
        <p:nvSpPr>
          <p:cNvPr id="647" name="Google Shape;647;p71"/>
          <p:cNvSpPr txBox="1"/>
          <p:nvPr/>
        </p:nvSpPr>
        <p:spPr>
          <a:xfrm>
            <a:off x="3098600" y="6074200"/>
            <a:ext cx="4862700" cy="43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90000"/>
                </a:solidFill>
              </a:rPr>
              <a:t>PHYSICAL CONNECTIONS (I/O PORTS)</a:t>
            </a:r>
            <a:endParaRPr sz="1600">
              <a:solidFill>
                <a:srgbClr val="990000"/>
              </a:solidFill>
            </a:endParaRPr>
          </a:p>
        </p:txBody>
      </p:sp>
      <p:sp>
        <p:nvSpPr>
          <p:cNvPr id="648" name="Google Shape;648;p71"/>
          <p:cNvSpPr txBox="1"/>
          <p:nvPr/>
        </p:nvSpPr>
        <p:spPr>
          <a:xfrm>
            <a:off x="6793500" y="3521250"/>
            <a:ext cx="23070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90000"/>
                </a:solidFill>
              </a:rPr>
              <a:t>INTERFACE DRIVERS Access machine registers</a:t>
            </a:r>
            <a:endParaRPr sz="1600">
              <a:solidFill>
                <a:srgbClr val="990000"/>
              </a:solidFill>
            </a:endParaRPr>
          </a:p>
        </p:txBody>
      </p:sp>
      <p:sp>
        <p:nvSpPr>
          <p:cNvPr id="649" name="Google Shape;649;p71"/>
          <p:cNvSpPr txBox="1"/>
          <p:nvPr/>
        </p:nvSpPr>
        <p:spPr>
          <a:xfrm>
            <a:off x="4822200" y="2437100"/>
            <a:ext cx="4246800" cy="91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DEVICE DRIVERS / APIs</a:t>
            </a:r>
            <a:endParaRPr sz="1600">
              <a:solidFill>
                <a:srgbClr val="0000FF"/>
              </a:solidFill>
            </a:endParaRPr>
          </a:p>
          <a:p>
            <a:pPr indent="0" lvl="0" marL="0" rtl="0" algn="ctr">
              <a:spcBef>
                <a:spcPts val="0"/>
              </a:spcBef>
              <a:spcAft>
                <a:spcPts val="0"/>
              </a:spcAft>
              <a:buNone/>
            </a:pPr>
            <a:r>
              <a:rPr lang="en" sz="1600">
                <a:solidFill>
                  <a:srgbClr val="0000FF"/>
                </a:solidFill>
              </a:rPr>
              <a:t>Access device registers via interface drivers</a:t>
            </a:r>
            <a:endParaRPr sz="1600">
              <a:solidFill>
                <a:srgbClr val="0000FF"/>
              </a:solidFill>
            </a:endParaRPr>
          </a:p>
          <a:p>
            <a:pPr indent="0" lvl="0" marL="0" rtl="0" algn="ctr">
              <a:spcBef>
                <a:spcPts val="0"/>
              </a:spcBef>
              <a:spcAft>
                <a:spcPts val="0"/>
              </a:spcAft>
              <a:buNone/>
            </a:pPr>
            <a:r>
              <a:rPr lang="en" sz="1600">
                <a:solidFill>
                  <a:srgbClr val="0000FF"/>
                </a:solidFill>
              </a:rPr>
              <a:t>Don’t directly access machine registers</a:t>
            </a:r>
            <a:endParaRPr sz="1600">
              <a:solidFill>
                <a:srgbClr val="0000FF"/>
              </a:solidFill>
            </a:endParaRPr>
          </a:p>
        </p:txBody>
      </p:sp>
      <p:sp>
        <p:nvSpPr>
          <p:cNvPr id="650" name="Google Shape;650;p71"/>
          <p:cNvSpPr txBox="1"/>
          <p:nvPr/>
        </p:nvSpPr>
        <p:spPr>
          <a:xfrm>
            <a:off x="5822400" y="912800"/>
            <a:ext cx="3278100" cy="12957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90000"/>
                </a:solidFill>
              </a:rPr>
              <a:t>TOP LEVEL CODE</a:t>
            </a:r>
            <a:endParaRPr sz="1600">
              <a:solidFill>
                <a:srgbClr val="990000"/>
              </a:solidFill>
            </a:endParaRPr>
          </a:p>
          <a:p>
            <a:pPr indent="0" lvl="0" marL="0" rtl="0" algn="ctr">
              <a:spcBef>
                <a:spcPts val="0"/>
              </a:spcBef>
              <a:spcAft>
                <a:spcPts val="0"/>
              </a:spcAft>
              <a:buNone/>
            </a:pPr>
            <a:r>
              <a:rPr lang="en" sz="1600">
                <a:solidFill>
                  <a:srgbClr val="990000"/>
                </a:solidFill>
              </a:rPr>
              <a:t>Access devices via drivers / APIs</a:t>
            </a:r>
            <a:endParaRPr sz="1600">
              <a:solidFill>
                <a:srgbClr val="990000"/>
              </a:solidFill>
            </a:endParaRPr>
          </a:p>
          <a:p>
            <a:pPr indent="0" lvl="0" marL="0" rtl="0" algn="ctr">
              <a:spcBef>
                <a:spcPts val="0"/>
              </a:spcBef>
              <a:spcAft>
                <a:spcPts val="0"/>
              </a:spcAft>
              <a:buNone/>
            </a:pPr>
            <a:r>
              <a:rPr lang="en" sz="1600">
                <a:solidFill>
                  <a:srgbClr val="990000"/>
                </a:solidFill>
              </a:rPr>
              <a:t>Don’t directly access device registers or machine registers.</a:t>
            </a:r>
            <a:endParaRPr sz="1600">
              <a:solidFill>
                <a:srgbClr val="990000"/>
              </a:solidFill>
            </a:endParaRPr>
          </a:p>
        </p:txBody>
      </p:sp>
      <p:sp>
        <p:nvSpPr>
          <p:cNvPr id="651" name="Google Shape;651;p71"/>
          <p:cNvSpPr txBox="1"/>
          <p:nvPr/>
        </p:nvSpPr>
        <p:spPr>
          <a:xfrm>
            <a:off x="3304975" y="685275"/>
            <a:ext cx="4111500" cy="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71"/>
          <p:cNvSpPr txBox="1"/>
          <p:nvPr/>
        </p:nvSpPr>
        <p:spPr>
          <a:xfrm>
            <a:off x="3249175" y="2690625"/>
            <a:ext cx="675600" cy="184800"/>
          </a:xfrm>
          <a:prstGeom prst="rect">
            <a:avLst/>
          </a:prstGeom>
          <a:solidFill>
            <a:schemeClr val="lt1"/>
          </a:solidFill>
          <a:ln>
            <a:noFill/>
          </a:ln>
        </p:spPr>
        <p:txBody>
          <a:bodyPr anchorCtr="0" anchor="t" bIns="0" lIns="0" spcFirstLastPara="1" rIns="0" wrap="square" tIns="0">
            <a:spAutoFit/>
          </a:bodyPr>
          <a:lstStyle/>
          <a:p>
            <a:pPr indent="0" lvl="0" marL="91440" rtl="0" algn="l">
              <a:spcBef>
                <a:spcPts val="0"/>
              </a:spcBef>
              <a:spcAft>
                <a:spcPts val="0"/>
              </a:spcAft>
              <a:buNone/>
            </a:pPr>
            <a:r>
              <a:rPr lang="en" sz="1200">
                <a:solidFill>
                  <a:srgbClr val="0000FF"/>
                </a:solidFill>
              </a:rPr>
              <a:t>stdio</a:t>
            </a:r>
            <a:r>
              <a:rPr lang="en" sz="1200">
                <a:solidFill>
                  <a:srgbClr val="0000FF"/>
                </a:solidFill>
              </a:rPr>
              <a:t>.c</a:t>
            </a:r>
            <a:endParaRPr sz="1200">
              <a:solidFill>
                <a:srgbClr val="0000FF"/>
              </a:solidFill>
            </a:endParaRPr>
          </a:p>
        </p:txBody>
      </p:sp>
      <p:sp>
        <p:nvSpPr>
          <p:cNvPr id="653" name="Google Shape;653;p71"/>
          <p:cNvSpPr txBox="1"/>
          <p:nvPr/>
        </p:nvSpPr>
        <p:spPr>
          <a:xfrm>
            <a:off x="3249175" y="2939050"/>
            <a:ext cx="765300" cy="184800"/>
          </a:xfrm>
          <a:prstGeom prst="rect">
            <a:avLst/>
          </a:prstGeom>
          <a:solidFill>
            <a:schemeClr val="lt1"/>
          </a:solidFill>
          <a:ln>
            <a:noFill/>
          </a:ln>
        </p:spPr>
        <p:txBody>
          <a:bodyPr anchorCtr="0" anchor="t" bIns="0" lIns="0" spcFirstLastPara="1" rIns="0" wrap="square" tIns="0">
            <a:spAutoFit/>
          </a:bodyPr>
          <a:lstStyle/>
          <a:p>
            <a:pPr indent="0" lvl="0" marL="91440" marR="91440" rtl="0" algn="l">
              <a:spcBef>
                <a:spcPts val="0"/>
              </a:spcBef>
              <a:spcAft>
                <a:spcPts val="0"/>
              </a:spcAft>
              <a:buNone/>
            </a:pPr>
            <a:r>
              <a:rPr lang="en" sz="1200">
                <a:solidFill>
                  <a:srgbClr val="0000E6"/>
                </a:solidFill>
              </a:rPr>
              <a:t>stdio.h</a:t>
            </a:r>
            <a:endParaRPr sz="1200">
              <a:solidFill>
                <a:srgbClr val="0000E6"/>
              </a:solidFill>
            </a:endParaRPr>
          </a:p>
        </p:txBody>
      </p:sp>
      <p:sp>
        <p:nvSpPr>
          <p:cNvPr id="654" name="Google Shape;654;p71"/>
          <p:cNvSpPr txBox="1"/>
          <p:nvPr/>
        </p:nvSpPr>
        <p:spPr>
          <a:xfrm>
            <a:off x="3065850" y="3762225"/>
            <a:ext cx="1057800" cy="184800"/>
          </a:xfrm>
          <a:prstGeom prst="rect">
            <a:avLst/>
          </a:prstGeom>
          <a:solidFill>
            <a:schemeClr val="lt1"/>
          </a:solidFill>
          <a:ln>
            <a:noFill/>
          </a:ln>
        </p:spPr>
        <p:txBody>
          <a:bodyPr anchorCtr="0" anchor="t" bIns="0" lIns="0" spcFirstLastPara="1" rIns="0" wrap="square" tIns="0">
            <a:spAutoFit/>
          </a:bodyPr>
          <a:lstStyle/>
          <a:p>
            <a:pPr indent="0" lvl="0" marL="91440" rtl="0" algn="ctr">
              <a:spcBef>
                <a:spcPts val="0"/>
              </a:spcBef>
              <a:spcAft>
                <a:spcPts val="0"/>
              </a:spcAft>
              <a:buNone/>
            </a:pPr>
            <a:r>
              <a:rPr lang="en" sz="1200">
                <a:solidFill>
                  <a:schemeClr val="dk1"/>
                </a:solidFill>
              </a:rPr>
              <a:t>uart.c</a:t>
            </a:r>
            <a:endParaRPr sz="1200">
              <a:solidFill>
                <a:schemeClr val="dk1"/>
              </a:solidFill>
            </a:endParaRPr>
          </a:p>
        </p:txBody>
      </p:sp>
      <p:sp>
        <p:nvSpPr>
          <p:cNvPr id="655" name="Google Shape;655;p71"/>
          <p:cNvSpPr txBox="1"/>
          <p:nvPr/>
        </p:nvSpPr>
        <p:spPr>
          <a:xfrm>
            <a:off x="3065850" y="3986550"/>
            <a:ext cx="1057800" cy="184800"/>
          </a:xfrm>
          <a:prstGeom prst="rect">
            <a:avLst/>
          </a:prstGeom>
          <a:solidFill>
            <a:schemeClr val="lt1"/>
          </a:solidFill>
          <a:ln>
            <a:noFill/>
          </a:ln>
        </p:spPr>
        <p:txBody>
          <a:bodyPr anchorCtr="0" anchor="t" bIns="0" lIns="0" spcFirstLastPara="1" rIns="0" wrap="square" tIns="0">
            <a:spAutoFit/>
          </a:bodyPr>
          <a:lstStyle/>
          <a:p>
            <a:pPr indent="0" lvl="0" marL="91440" rtl="0" algn="ctr">
              <a:spcBef>
                <a:spcPts val="0"/>
              </a:spcBef>
              <a:spcAft>
                <a:spcPts val="0"/>
              </a:spcAft>
              <a:buNone/>
            </a:pPr>
            <a:r>
              <a:rPr lang="en" sz="1200">
                <a:solidFill>
                  <a:schemeClr val="dk1"/>
                </a:solidFill>
              </a:rPr>
              <a:t>uart.h</a:t>
            </a:r>
            <a:endParaRPr sz="12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graphicFrame>
        <p:nvGraphicFramePr>
          <p:cNvPr id="660" name="Google Shape;660;p72"/>
          <p:cNvGraphicFramePr/>
          <p:nvPr/>
        </p:nvGraphicFramePr>
        <p:xfrm>
          <a:off x="429700" y="2419738"/>
          <a:ext cx="3000000" cy="3000000"/>
        </p:xfrm>
        <a:graphic>
          <a:graphicData uri="http://schemas.openxmlformats.org/drawingml/2006/table">
            <a:tbl>
              <a:tblPr bandRow="1" firstRow="1">
                <a:noFill/>
                <a:tableStyleId>{8173A852-0B6E-4556-8AB7-8F05ECB0CFB5}</a:tableStyleId>
              </a:tblPr>
              <a:tblGrid>
                <a:gridCol w="690250"/>
                <a:gridCol w="722450"/>
                <a:gridCol w="549325"/>
                <a:gridCol w="552325"/>
                <a:gridCol w="597325"/>
                <a:gridCol w="540850"/>
                <a:gridCol w="608750"/>
                <a:gridCol w="608750"/>
                <a:gridCol w="608750"/>
                <a:gridCol w="608750"/>
              </a:tblGrid>
              <a:tr h="370825">
                <a:tc>
                  <a:txBody>
                    <a:bodyPr/>
                    <a:lstStyle/>
                    <a:p>
                      <a:pPr indent="0" lvl="0" marL="0" marR="0" rtl="0" algn="ctr">
                        <a:spcBef>
                          <a:spcPts val="0"/>
                        </a:spcBef>
                        <a:spcAft>
                          <a:spcPts val="0"/>
                        </a:spcAft>
                        <a:buNone/>
                      </a:pPr>
                      <a:r>
                        <a:rPr lang="en"/>
                        <a:t>entry</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a:t>digit</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a:t>.</a:t>
                      </a:r>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g</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f</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e</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d</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c</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b</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a</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2</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2</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3</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4</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colon</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5</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6</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3</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7</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8</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4</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9</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661" name="Google Shape;661;p72"/>
          <p:cNvPicPr preferRelativeResize="0"/>
          <p:nvPr/>
        </p:nvPicPr>
        <p:blipFill rotWithShape="1">
          <a:blip r:embed="rId3">
            <a:alphaModFix/>
          </a:blip>
          <a:srcRect b="0" l="0" r="0" t="0"/>
          <a:stretch/>
        </p:blipFill>
        <p:spPr>
          <a:xfrm>
            <a:off x="7178475" y="2960100"/>
            <a:ext cx="1142999" cy="1762125"/>
          </a:xfrm>
          <a:prstGeom prst="rect">
            <a:avLst/>
          </a:prstGeom>
          <a:noFill/>
          <a:ln>
            <a:noFill/>
          </a:ln>
        </p:spPr>
      </p:pic>
      <p:sp>
        <p:nvSpPr>
          <p:cNvPr id="662" name="Google Shape;662;p72"/>
          <p:cNvSpPr txBox="1"/>
          <p:nvPr>
            <p:ph type="title"/>
          </p:nvPr>
        </p:nvSpPr>
        <p:spPr>
          <a:xfrm>
            <a:off x="311700" y="145230"/>
            <a:ext cx="8520600" cy="1180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How will we store the data about all of the digits of the display so that we can easily pass it to functions?</a:t>
            </a:r>
            <a:endParaRPr/>
          </a:p>
        </p:txBody>
      </p:sp>
      <p:sp>
        <p:nvSpPr>
          <p:cNvPr id="663" name="Google Shape;663;p72"/>
          <p:cNvSpPr txBox="1"/>
          <p:nvPr/>
        </p:nvSpPr>
        <p:spPr>
          <a:xfrm>
            <a:off x="429700" y="1478525"/>
            <a:ext cx="8230200" cy="78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An </a:t>
            </a:r>
            <a:r>
              <a:rPr b="1" lang="en" sz="1800">
                <a:solidFill>
                  <a:srgbClr val="2A00FF"/>
                </a:solidFill>
              </a:rPr>
              <a:t>array with 10 elements of type </a:t>
            </a:r>
            <a:r>
              <a:rPr b="1" lang="en" sz="1800">
                <a:solidFill>
                  <a:srgbClr val="2A00FF"/>
                </a:solidFill>
              </a:rPr>
              <a:t>uint8_t</a:t>
            </a:r>
            <a:endParaRPr b="1" sz="1800">
              <a:solidFill>
                <a:srgbClr val="2A00FF"/>
              </a:solidFill>
            </a:endParaRPr>
          </a:p>
          <a:p>
            <a:pPr indent="-342900" lvl="0" marL="457200" rtl="0" algn="l">
              <a:spcBef>
                <a:spcPts val="0"/>
              </a:spcBef>
              <a:spcAft>
                <a:spcPts val="0"/>
              </a:spcAft>
              <a:buClr>
                <a:schemeClr val="dk2"/>
              </a:buClr>
              <a:buSzPts val="1800"/>
              <a:buChar char="●"/>
            </a:pPr>
            <a:r>
              <a:rPr lang="en" sz="1800">
                <a:solidFill>
                  <a:schemeClr val="dk2"/>
                </a:solidFill>
              </a:rPr>
              <a:t>Elements 0 and 1 describe digit 1, elements 2 and 3 describe digit 2, etc.</a:t>
            </a:r>
            <a:endParaRPr sz="1800">
              <a:solidFill>
                <a:schemeClr val="dk2"/>
              </a:solidFill>
            </a:endParaRPr>
          </a:p>
        </p:txBody>
      </p:sp>
      <p:sp>
        <p:nvSpPr>
          <p:cNvPr id="664" name="Google Shape;664;p72"/>
          <p:cNvSpPr txBox="1"/>
          <p:nvPr/>
        </p:nvSpPr>
        <p:spPr>
          <a:xfrm>
            <a:off x="6740625" y="4896825"/>
            <a:ext cx="2234400" cy="16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What message will be displayed if you send this data to the display?</a:t>
            </a: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graphicFrame>
        <p:nvGraphicFramePr>
          <p:cNvPr id="669" name="Google Shape;669;p73"/>
          <p:cNvGraphicFramePr/>
          <p:nvPr/>
        </p:nvGraphicFramePr>
        <p:xfrm>
          <a:off x="1914700" y="940788"/>
          <a:ext cx="3000000" cy="3000000"/>
        </p:xfrm>
        <a:graphic>
          <a:graphicData uri="http://schemas.openxmlformats.org/drawingml/2006/table">
            <a:tbl>
              <a:tblPr bandRow="1" firstRow="1">
                <a:noFill/>
                <a:tableStyleId>{8173A852-0B6E-4556-8AB7-8F05ECB0CFB5}</a:tableStyleId>
              </a:tblPr>
              <a:tblGrid>
                <a:gridCol w="690250"/>
                <a:gridCol w="722450"/>
                <a:gridCol w="549325"/>
                <a:gridCol w="552325"/>
                <a:gridCol w="597325"/>
                <a:gridCol w="540850"/>
                <a:gridCol w="608750"/>
                <a:gridCol w="608750"/>
                <a:gridCol w="608750"/>
                <a:gridCol w="608750"/>
              </a:tblGrid>
              <a:tr h="370825">
                <a:tc>
                  <a:txBody>
                    <a:bodyPr/>
                    <a:lstStyle/>
                    <a:p>
                      <a:pPr indent="0" lvl="0" marL="0" marR="0" rtl="0" algn="ctr">
                        <a:spcBef>
                          <a:spcPts val="0"/>
                        </a:spcBef>
                        <a:spcAft>
                          <a:spcPts val="0"/>
                        </a:spcAft>
                        <a:buNone/>
                      </a:pPr>
                      <a:r>
                        <a:rPr lang="en"/>
                        <a:t>entry</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a:t>digit</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a:t>.</a:t>
                      </a:r>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g</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f</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e</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d</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c</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b</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a:latin typeface="Helvetica Neue"/>
                          <a:ea typeface="Helvetica Neue"/>
                          <a:cs typeface="Helvetica Neue"/>
                          <a:sym typeface="Helvetica Neue"/>
                        </a:rPr>
                        <a:t>a</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2</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2</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3</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4</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colon</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5</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6</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3</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7</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8</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4</a:t>
                      </a:r>
                      <a:endParaRPr b="0" sz="1600" u="none" cap="none" strike="noStrike">
                        <a:latin typeface="Helvetica Neue"/>
                        <a:ea typeface="Helvetica Neue"/>
                        <a:cs typeface="Helvetica Neue"/>
                        <a:sym typeface="Helvetica Neue"/>
                      </a:endParaRPr>
                    </a:p>
                  </a:txBody>
                  <a:tcPr marT="45725" marB="45725" marR="91450" marL="914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1</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25">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9</a:t>
                      </a:r>
                      <a:endParaRPr/>
                    </a:p>
                  </a:txBody>
                  <a:tcPr marT="45725" marB="45725" marR="91450" marL="91450">
                    <a:lnL cap="flat" cmpd="sng" w="19050">
                      <a:solidFill>
                        <a:srgbClr val="000000"/>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b="0" sz="1600" u="none" cap="none" strike="noStrike">
                        <a:latin typeface="Helvetica Neue"/>
                        <a:ea typeface="Helvetica Neue"/>
                        <a:cs typeface="Helvetica Neue"/>
                        <a:sym typeface="Helvetica Neue"/>
                      </a:endParaRPr>
                    </a:p>
                  </a:txBody>
                  <a:tcPr marT="45725" marB="45725" marR="91450" marL="91450">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 sz="1600">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 sz="1600" u="none" cap="none" strike="noStrike">
                          <a:latin typeface="Helvetica Neue"/>
                          <a:ea typeface="Helvetica Neue"/>
                          <a:cs typeface="Helvetica Neue"/>
                          <a:sym typeface="Helvetica Neue"/>
                        </a:rPr>
                        <a:t>0</a:t>
                      </a:r>
                      <a:endParaRPr/>
                    </a:p>
                  </a:txBody>
                  <a:tcPr marT="45725" marB="45725" marR="91450" marL="9145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70" name="Google Shape;670;p73"/>
          <p:cNvSpPr txBox="1"/>
          <p:nvPr>
            <p:ph type="title"/>
          </p:nvPr>
        </p:nvSpPr>
        <p:spPr>
          <a:xfrm>
            <a:off x="225300" y="177300"/>
            <a:ext cx="2550600" cy="763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In code:</a:t>
            </a:r>
            <a:endParaRPr/>
          </a:p>
        </p:txBody>
      </p:sp>
      <p:sp>
        <p:nvSpPr>
          <p:cNvPr id="671" name="Google Shape;671;p73"/>
          <p:cNvSpPr txBox="1"/>
          <p:nvPr/>
        </p:nvSpPr>
        <p:spPr>
          <a:xfrm>
            <a:off x="225300" y="5163675"/>
            <a:ext cx="8693400" cy="14388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a:solidFill>
                  <a:srgbClr val="005032"/>
                </a:solidFill>
                <a:highlight>
                  <a:srgbClr val="FFFFFF"/>
                </a:highlight>
                <a:latin typeface="Courier New"/>
                <a:ea typeface="Courier New"/>
                <a:cs typeface="Courier New"/>
                <a:sym typeface="Courier New"/>
              </a:rPr>
              <a:t>uint8_t</a:t>
            </a:r>
            <a:r>
              <a:rPr b="1" lang="en">
                <a:solidFill>
                  <a:schemeClr val="dk1"/>
                </a:solidFill>
                <a:highlight>
                  <a:srgbClr val="FFFFFF"/>
                </a:highlight>
                <a:latin typeface="Courier New"/>
                <a:ea typeface="Courier New"/>
                <a:cs typeface="Courier New"/>
                <a:sym typeface="Courier New"/>
              </a:rPr>
              <a:t> HOLA_message[2*HT16K33_NBUF] = {0b01110110, 0x00,</a:t>
            </a:r>
            <a:endParaRPr b="1">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a:solidFill>
                  <a:schemeClr val="dk1"/>
                </a:solidFill>
                <a:highlight>
                  <a:srgbClr val="FFFFFF"/>
                </a:highlight>
                <a:latin typeface="Courier New"/>
                <a:ea typeface="Courier New"/>
                <a:cs typeface="Courier New"/>
                <a:sym typeface="Courier New"/>
              </a:rPr>
              <a:t>									  0b00111111, 0x00,</a:t>
            </a:r>
            <a:endParaRPr b="1">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a:solidFill>
                  <a:schemeClr val="dk1"/>
                </a:solidFill>
                <a:highlight>
                  <a:srgbClr val="FFFFFF"/>
                </a:highlight>
                <a:latin typeface="Courier New"/>
                <a:ea typeface="Courier New"/>
                <a:cs typeface="Courier New"/>
                <a:sym typeface="Courier New"/>
              </a:rPr>
              <a:t>									  0x00, 0x00,</a:t>
            </a:r>
            <a:endParaRPr b="1">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a:solidFill>
                  <a:schemeClr val="dk1"/>
                </a:solidFill>
                <a:highlight>
                  <a:srgbClr val="FFFFFF"/>
                </a:highlight>
                <a:latin typeface="Courier New"/>
                <a:ea typeface="Courier New"/>
                <a:cs typeface="Courier New"/>
                <a:sym typeface="Courier New"/>
              </a:rPr>
              <a:t>									  0b00111000, 0x00,</a:t>
            </a:r>
            <a:endParaRPr b="1">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a:solidFill>
                  <a:schemeClr val="dk1"/>
                </a:solidFill>
                <a:highlight>
                  <a:srgbClr val="FFFFFF"/>
                </a:highlight>
                <a:latin typeface="Courier New"/>
                <a:ea typeface="Courier New"/>
                <a:cs typeface="Courier New"/>
                <a:sym typeface="Courier New"/>
              </a:rPr>
              <a:t>									  0b01110111, 0x00 };</a:t>
            </a:r>
            <a:endParaRPr>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device driver</a:t>
            </a:r>
            <a:endParaRPr/>
          </a:p>
        </p:txBody>
      </p:sp>
      <p:sp>
        <p:nvSpPr>
          <p:cNvPr id="677" name="Google Shape;677;p7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1000"/>
              </a:spcBef>
              <a:spcAft>
                <a:spcPts val="0"/>
              </a:spcAft>
              <a:buSzPts val="1800"/>
              <a:buAutoNum type="arabicPeriod"/>
            </a:pPr>
            <a:r>
              <a:rPr lang="en"/>
              <a:t>From data sheet, #define basic addresses / commands</a:t>
            </a:r>
            <a:endParaRPr/>
          </a:p>
          <a:p>
            <a:pPr indent="-342900" lvl="0" marL="457200" rtl="0" algn="l">
              <a:spcBef>
                <a:spcPts val="1000"/>
              </a:spcBef>
              <a:spcAft>
                <a:spcPts val="0"/>
              </a:spcAft>
              <a:buSzPts val="1800"/>
              <a:buAutoNum type="arabicPeriod"/>
            </a:pPr>
            <a:r>
              <a:rPr lang="en"/>
              <a:t>Define functions to implement actions</a:t>
            </a:r>
            <a:endParaRPr/>
          </a:p>
          <a:p>
            <a:pPr indent="-342900" lvl="0" marL="457200" rtl="0" algn="l">
              <a:spcBef>
                <a:spcPts val="1000"/>
              </a:spcBef>
              <a:spcAft>
                <a:spcPts val="0"/>
              </a:spcAft>
              <a:buSzPts val="1800"/>
              <a:buAutoNum type="arabicPeriod"/>
            </a:pPr>
            <a:r>
              <a:rPr lang="en"/>
              <a:t>Write functions using i2c functions to send commands &amp; data</a:t>
            </a:r>
            <a:endParaRPr/>
          </a:p>
          <a:p>
            <a:pPr indent="-342900" lvl="0" marL="457200" rtl="0" algn="l">
              <a:spcBef>
                <a:spcPts val="1000"/>
              </a:spcBef>
              <a:spcAft>
                <a:spcPts val="0"/>
              </a:spcAft>
              <a:buSzPts val="1800"/>
              <a:buAutoNum type="arabicPeriod"/>
            </a:pPr>
            <a:r>
              <a:rPr lang="en"/>
              <a:t>Devise Unit Tests to confirm the drivers are working</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5"/>
          <p:cNvSpPr txBox="1"/>
          <p:nvPr>
            <p:ph type="title"/>
          </p:nvPr>
        </p:nvSpPr>
        <p:spPr>
          <a:xfrm>
            <a:off x="311700" y="7388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driver operations</a:t>
            </a:r>
            <a:endParaRPr/>
          </a:p>
        </p:txBody>
      </p:sp>
      <p:graphicFrame>
        <p:nvGraphicFramePr>
          <p:cNvPr id="683" name="Google Shape;683;p75"/>
          <p:cNvGraphicFramePr/>
          <p:nvPr/>
        </p:nvGraphicFramePr>
        <p:xfrm>
          <a:off x="830575" y="1695125"/>
          <a:ext cx="3000000" cy="3000000"/>
        </p:xfrm>
        <a:graphic>
          <a:graphicData uri="http://schemas.openxmlformats.org/drawingml/2006/table">
            <a:tbl>
              <a:tblPr>
                <a:noFill/>
                <a:tableStyleId>{517CC0F7-86E2-4DBA-A014-BD13E14E40DB}</a:tableStyleId>
              </a:tblPr>
              <a:tblGrid>
                <a:gridCol w="3075625"/>
                <a:gridCol w="4136850"/>
              </a:tblGrid>
              <a:tr h="381000">
                <a:tc>
                  <a:txBody>
                    <a:bodyPr/>
                    <a:lstStyle/>
                    <a:p>
                      <a:pPr indent="0" lvl="0" marL="0" rtl="0" algn="l">
                        <a:spcBef>
                          <a:spcPts val="0"/>
                        </a:spcBef>
                        <a:spcAft>
                          <a:spcPts val="0"/>
                        </a:spcAft>
                        <a:buNone/>
                      </a:pPr>
                      <a:r>
                        <a:rPr lang="en"/>
                        <a:t>What do you want the display to do?</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What does the device driver write to the bus?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Initialize (system setup)</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2"/>
                          </a:solidFill>
                          <a:latin typeface="Courier New"/>
                          <a:ea typeface="Courier New"/>
                          <a:cs typeface="Courier New"/>
                          <a:sym typeface="Courier New"/>
                        </a:rPr>
                        <a:t>#define HT16K33_SYSTEM_CMD    0x20</a:t>
                      </a:r>
                      <a:r>
                        <a:rPr lang="en">
                          <a:solidFill>
                            <a:schemeClr val="dk2"/>
                          </a:solidFill>
                          <a:latin typeface="Courier New"/>
                          <a:ea typeface="Courier New"/>
                          <a:cs typeface="Courier New"/>
                          <a:sym typeface="Courier New"/>
                        </a:rPr>
                        <a:t>    </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chemeClr val="dk2"/>
                          </a:solidFill>
                          <a:latin typeface="Courier New"/>
                          <a:ea typeface="Courier New"/>
                          <a:cs typeface="Courier New"/>
                          <a:sym typeface="Courier New"/>
                        </a:rPr>
                        <a:t>#define HT16K33_OSC_ON        0x01</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600">
                        <a:solidFill>
                          <a:schemeClr val="dk2"/>
                        </a:solidFill>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Enable/disable (display setup)</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2"/>
                          </a:solidFill>
                          <a:latin typeface="Courier New"/>
                          <a:ea typeface="Courier New"/>
                          <a:cs typeface="Courier New"/>
                          <a:sym typeface="Courier New"/>
                        </a:rPr>
                        <a:t>#define HT16K33_DISPLAY_CMD   0x80</a:t>
                      </a:r>
                      <a:endParaRPr b="1">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chemeClr val="dk2"/>
                          </a:solidFill>
                          <a:latin typeface="Courier New"/>
                          <a:ea typeface="Courier New"/>
                          <a:cs typeface="Courier New"/>
                          <a:sym typeface="Courier New"/>
                        </a:rPr>
                        <a:t>#define HT16K33_DISPLAY_ON    0x01</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600">
                        <a:solidFill>
                          <a:schemeClr val="dk2"/>
                        </a:solidFill>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Set blinking (display setup)</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2"/>
                          </a:solidFill>
                          <a:latin typeface="Courier New"/>
                          <a:ea typeface="Courier New"/>
                          <a:cs typeface="Courier New"/>
                          <a:sym typeface="Courier New"/>
                        </a:rPr>
                        <a:t>#define HT16K33_DISPLAY_CMD   0x80</a:t>
                      </a:r>
                      <a:endParaRPr b="1">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chemeClr val="dk2"/>
                          </a:solidFill>
                          <a:latin typeface="Courier New"/>
                          <a:ea typeface="Courier New"/>
                          <a:cs typeface="Courier New"/>
                          <a:sym typeface="Courier New"/>
                        </a:rPr>
                        <a:t>#define HT16K33_BLINK_OFF     0x00</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chemeClr val="dk2"/>
                          </a:solidFill>
                          <a:latin typeface="Courier New"/>
                          <a:ea typeface="Courier New"/>
                          <a:cs typeface="Courier New"/>
                          <a:sym typeface="Courier New"/>
                        </a:rPr>
                        <a:t>#define HT16K33_BLINK_HALFHZ  0x06</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chemeClr val="dk2"/>
                          </a:solidFill>
                          <a:latin typeface="Courier New"/>
                          <a:ea typeface="Courier New"/>
                          <a:cs typeface="Courier New"/>
                          <a:sym typeface="Courier New"/>
                        </a:rPr>
                        <a:t>#define HT16K33_BLINK_1HZ     0x04</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chemeClr val="dk2"/>
                          </a:solidFill>
                          <a:latin typeface="Courier New"/>
                          <a:ea typeface="Courier New"/>
                          <a:cs typeface="Courier New"/>
                          <a:sym typeface="Courier New"/>
                        </a:rPr>
                        <a:t>#define HT16K33_BLINK_2HZ     0x02</a:t>
                      </a:r>
                      <a:endParaRPr>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600">
                        <a:solidFill>
                          <a:schemeClr val="dk2"/>
                        </a:solidFill>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Set brightness (dimming)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#define HT16K33_BRIGHT_CMD    0xE0</a:t>
                      </a:r>
                      <a:endParaRPr b="1">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OR with brightness 0 to 15</a:t>
                      </a:r>
                      <a:endParaRPr>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Set RAM address (data address ptr)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#define HT16K33_ADDR_PTR      0x00</a:t>
                      </a:r>
                      <a:endParaRPr b="1">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OR with location 0 to 15</a:t>
                      </a:r>
                      <a:endParaRPr>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684" name="Google Shape;684;p75"/>
          <p:cNvSpPr txBox="1"/>
          <p:nvPr/>
        </p:nvSpPr>
        <p:spPr>
          <a:xfrm>
            <a:off x="396225" y="1144625"/>
            <a:ext cx="810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Use #define to make a list of commands (datasheet, pp 24-25), put in header (.h) file</a:t>
            </a:r>
            <a:endParaRPr sz="1600"/>
          </a:p>
        </p:txBody>
      </p:sp>
      <p:sp>
        <p:nvSpPr>
          <p:cNvPr id="685" name="Google Shape;685;p75"/>
          <p:cNvSpPr txBox="1"/>
          <p:nvPr/>
        </p:nvSpPr>
        <p:spPr>
          <a:xfrm>
            <a:off x="3906200" y="66750"/>
            <a:ext cx="5121000" cy="738900"/>
          </a:xfrm>
          <a:prstGeom prst="rect">
            <a:avLst/>
          </a:prstGeom>
          <a:noFill/>
          <a:ln cap="flat" cmpd="sng" w="28575">
            <a:solidFill>
              <a:srgbClr val="0000E6"/>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E6"/>
                </a:solidFill>
              </a:rPr>
              <a:t>Example: Turn on the oscillator by sending </a:t>
            </a:r>
            <a:endParaRPr sz="1800">
              <a:solidFill>
                <a:srgbClr val="0000E6"/>
              </a:solidFill>
            </a:endParaRPr>
          </a:p>
          <a:p>
            <a:pPr indent="0" lvl="0" marL="0" rtl="0" algn="l">
              <a:spcBef>
                <a:spcPts val="0"/>
              </a:spcBef>
              <a:spcAft>
                <a:spcPts val="0"/>
              </a:spcAft>
              <a:buNone/>
            </a:pPr>
            <a:r>
              <a:rPr lang="en" sz="1800">
                <a:solidFill>
                  <a:srgbClr val="0000E6"/>
                </a:solidFill>
              </a:rPr>
              <a:t>HT16K33_SYSTEM_CMD | HT16K33_OSC_ON</a:t>
            </a:r>
            <a:endParaRPr sz="1800">
              <a:solidFill>
                <a:srgbClr val="0000E6"/>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7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driver functions</a:t>
            </a:r>
            <a:endParaRPr/>
          </a:p>
        </p:txBody>
      </p:sp>
      <p:sp>
        <p:nvSpPr>
          <p:cNvPr id="691" name="Google Shape;691;p76"/>
          <p:cNvSpPr txBox="1"/>
          <p:nvPr>
            <p:ph idx="1" type="body"/>
          </p:nvPr>
        </p:nvSpPr>
        <p:spPr>
          <a:xfrm>
            <a:off x="387900" y="1308025"/>
            <a:ext cx="86901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Declare these in the header (.h) file</a:t>
            </a:r>
            <a:endParaRPr sz="1600"/>
          </a:p>
          <a:p>
            <a:pPr indent="0" lvl="0" marL="0" rtl="0" algn="l">
              <a:spcBef>
                <a:spcPts val="1600"/>
              </a:spcBef>
              <a:spcAft>
                <a:spcPts val="0"/>
              </a:spcAft>
              <a:buNone/>
            </a:pPr>
            <a:r>
              <a:rPr b="1" lang="en" sz="1400">
                <a:latin typeface="Courier New"/>
                <a:ea typeface="Courier New"/>
                <a:cs typeface="Courier New"/>
                <a:sym typeface="Courier New"/>
              </a:rPr>
              <a:t>void SevenSeg_init();							// Initialize the display</a:t>
            </a:r>
            <a:endParaRPr b="1" sz="1400">
              <a:latin typeface="Courier New"/>
              <a:ea typeface="Courier New"/>
              <a:cs typeface="Courier New"/>
              <a:sym typeface="Courier New"/>
            </a:endParaRPr>
          </a:p>
          <a:p>
            <a:pPr indent="0" lvl="0" marL="0" rtl="0" algn="l">
              <a:spcBef>
                <a:spcPts val="1600"/>
              </a:spcBef>
              <a:spcAft>
                <a:spcPts val="0"/>
              </a:spcAft>
              <a:buNone/>
            </a:pPr>
            <a:r>
              <a:rPr b="1" lang="en" sz="1400">
                <a:latin typeface="Courier New"/>
                <a:ea typeface="Courier New"/>
                <a:cs typeface="Courier New"/>
                <a:sym typeface="Courier New"/>
              </a:rPr>
              <a:t>void </a:t>
            </a:r>
            <a:r>
              <a:rPr b="1" lang="en" sz="1400">
                <a:latin typeface="Courier New"/>
                <a:ea typeface="Courier New"/>
                <a:cs typeface="Courier New"/>
                <a:sym typeface="Courier New"/>
              </a:rPr>
              <a:t>SevenSeg</a:t>
            </a:r>
            <a:r>
              <a:rPr b="1" lang="en" sz="1400">
                <a:latin typeface="Courier New"/>
                <a:ea typeface="Courier New"/>
                <a:cs typeface="Courier New"/>
                <a:sym typeface="Courier New"/>
              </a:rPr>
              <a:t>_blink(uint8_t rate);				// Blink the display</a:t>
            </a:r>
            <a:endParaRPr b="1" sz="1400">
              <a:latin typeface="Courier New"/>
              <a:ea typeface="Courier New"/>
              <a:cs typeface="Courier New"/>
              <a:sym typeface="Courier New"/>
            </a:endParaRPr>
          </a:p>
          <a:p>
            <a:pPr indent="0" lvl="0" marL="0" rtl="0" algn="l">
              <a:spcBef>
                <a:spcPts val="1600"/>
              </a:spcBef>
              <a:spcAft>
                <a:spcPts val="0"/>
              </a:spcAft>
              <a:buNone/>
            </a:pPr>
            <a:r>
              <a:rPr b="1" lang="en" sz="1400">
                <a:latin typeface="Courier New"/>
                <a:ea typeface="Courier New"/>
                <a:cs typeface="Courier New"/>
                <a:sym typeface="Courier New"/>
              </a:rPr>
              <a:t>void </a:t>
            </a:r>
            <a:r>
              <a:rPr b="1" lang="en" sz="1400">
                <a:latin typeface="Courier New"/>
                <a:ea typeface="Courier New"/>
                <a:cs typeface="Courier New"/>
                <a:sym typeface="Courier New"/>
              </a:rPr>
              <a:t>SevenSeg</a:t>
            </a:r>
            <a:r>
              <a:rPr b="1" lang="en" sz="1400">
                <a:latin typeface="Courier New"/>
                <a:ea typeface="Courier New"/>
                <a:cs typeface="Courier New"/>
                <a:sym typeface="Courier New"/>
              </a:rPr>
              <a:t>_dim(uint8_t brightness);			// Dim the display</a:t>
            </a:r>
            <a:endParaRPr b="1" sz="1400">
              <a:latin typeface="Courier New"/>
              <a:ea typeface="Courier New"/>
              <a:cs typeface="Courier New"/>
              <a:sym typeface="Courier New"/>
            </a:endParaRPr>
          </a:p>
          <a:p>
            <a:pPr indent="0" lvl="0" marL="0" rtl="0" algn="l">
              <a:spcBef>
                <a:spcPts val="1600"/>
              </a:spcBef>
              <a:spcAft>
                <a:spcPts val="0"/>
              </a:spcAft>
              <a:buNone/>
            </a:pPr>
            <a:r>
              <a:rPr b="1" lang="en" sz="1400">
                <a:latin typeface="Courier New"/>
                <a:ea typeface="Courier New"/>
                <a:cs typeface="Courier New"/>
                <a:sym typeface="Courier New"/>
              </a:rPr>
              <a:t>void SevenSeg_write(uint8_t *display_buffer);	// Write the display RAM</a:t>
            </a:r>
            <a:endParaRPr b="1" sz="1400">
              <a:latin typeface="Courier New"/>
              <a:ea typeface="Courier New"/>
              <a:cs typeface="Courier New"/>
              <a:sym typeface="Courier New"/>
            </a:endParaRPr>
          </a:p>
          <a:p>
            <a:pPr indent="0" lvl="0" marL="0" rtl="0" algn="l">
              <a:spcBef>
                <a:spcPts val="1600"/>
              </a:spcBef>
              <a:spcAft>
                <a:spcPts val="0"/>
              </a:spcAft>
              <a:buNone/>
            </a:pPr>
            <a:r>
              <a:rPr b="1" lang="en" sz="1400">
                <a:latin typeface="Courier New"/>
                <a:ea typeface="Courier New"/>
                <a:cs typeface="Courier New"/>
                <a:sym typeface="Courier New"/>
              </a:rPr>
              <a:t>void SevenSeg_number(int16_t num, uint8_t *display_buffer);				</a:t>
            </a:r>
            <a:endParaRPr b="1" sz="1400">
              <a:latin typeface="Courier New"/>
              <a:ea typeface="Courier New"/>
              <a:cs typeface="Courier New"/>
              <a:sym typeface="Courier New"/>
            </a:endParaRPr>
          </a:p>
          <a:p>
            <a:pPr indent="457200" lvl="0" marL="4572000" rtl="0" algn="l">
              <a:spcBef>
                <a:spcPts val="0"/>
              </a:spcBef>
              <a:spcAft>
                <a:spcPts val="0"/>
              </a:spcAft>
              <a:buNone/>
            </a:pPr>
            <a:r>
              <a:rPr b="1" lang="en" sz="1400">
                <a:latin typeface="Courier New"/>
                <a:ea typeface="Courier New"/>
                <a:cs typeface="Courier New"/>
                <a:sym typeface="Courier New"/>
              </a:rPr>
              <a:t>// Convert 4-digit number to</a:t>
            </a:r>
            <a:endParaRPr b="1"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latin typeface="Courier New"/>
                <a:ea typeface="Courier New"/>
                <a:cs typeface="Courier New"/>
                <a:sym typeface="Courier New"/>
              </a:rPr>
              <a:t>											// segments for SevenSeg_write()</a:t>
            </a:r>
            <a:endParaRPr b="1" sz="1400">
              <a:latin typeface="Courier New"/>
              <a:ea typeface="Courier New"/>
              <a:cs typeface="Courier New"/>
              <a:sym typeface="Courier New"/>
            </a:endParaRPr>
          </a:p>
          <a:p>
            <a:pPr indent="0" lvl="0" marL="0" rtl="0" algn="l">
              <a:spcBef>
                <a:spcPts val="1600"/>
              </a:spcBef>
              <a:spcAft>
                <a:spcPts val="1600"/>
              </a:spcAft>
              <a:buNone/>
            </a:pPr>
            <a:r>
              <a:t/>
            </a:r>
            <a:endParaRPr sz="1400">
              <a:latin typeface="Courier New"/>
              <a:ea typeface="Courier New"/>
              <a:cs typeface="Courier New"/>
              <a:sym typeface="Courier New"/>
            </a:endParaRPr>
          </a:p>
        </p:txBody>
      </p:sp>
      <p:sp>
        <p:nvSpPr>
          <p:cNvPr id="692" name="Google Shape;692;p76"/>
          <p:cNvSpPr txBox="1"/>
          <p:nvPr/>
        </p:nvSpPr>
        <p:spPr>
          <a:xfrm>
            <a:off x="500575" y="4955775"/>
            <a:ext cx="4738800" cy="461700"/>
          </a:xfrm>
          <a:prstGeom prst="rect">
            <a:avLst/>
          </a:prstGeom>
          <a:noFill/>
          <a:ln cap="flat" cmpd="sng" w="28575">
            <a:solidFill>
              <a:srgbClr val="0000E6"/>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E6"/>
                </a:solidFill>
              </a:rPr>
              <a:t>These are the functions you'll need to write. </a:t>
            </a:r>
            <a:endParaRPr sz="1800">
              <a:solidFill>
                <a:srgbClr val="0000E6"/>
              </a:solidFill>
            </a:endParaRPr>
          </a:p>
        </p:txBody>
      </p:sp>
      <p:sp>
        <p:nvSpPr>
          <p:cNvPr id="693" name="Google Shape;693;p76"/>
          <p:cNvSpPr/>
          <p:nvPr/>
        </p:nvSpPr>
        <p:spPr>
          <a:xfrm>
            <a:off x="300350" y="2235950"/>
            <a:ext cx="8142900" cy="851100"/>
          </a:xfrm>
          <a:prstGeom prst="rect">
            <a:avLst/>
          </a:prstGeom>
          <a:noFill/>
          <a:ln cap="flat" cmpd="sng" w="28575">
            <a:solidFill>
              <a:srgbClr val="0000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76"/>
          <p:cNvSpPr/>
          <p:nvPr/>
        </p:nvSpPr>
        <p:spPr>
          <a:xfrm>
            <a:off x="300350" y="3160075"/>
            <a:ext cx="8142900" cy="461700"/>
          </a:xfrm>
          <a:prstGeom prst="rect">
            <a:avLst/>
          </a:prstGeom>
          <a:noFill/>
          <a:ln cap="flat" cmpd="sng" w="28575">
            <a:solidFill>
              <a:srgbClr val="0000E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7"/>
          <p:cNvSpPr txBox="1"/>
          <p:nvPr>
            <p:ph type="title"/>
          </p:nvPr>
        </p:nvSpPr>
        <p:spPr>
          <a:xfrm>
            <a:off x="311700" y="170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1</a:t>
            </a:r>
            <a:endParaRPr/>
          </a:p>
        </p:txBody>
      </p:sp>
      <p:sp>
        <p:nvSpPr>
          <p:cNvPr id="700" name="Google Shape;700;p77"/>
          <p:cNvSpPr txBox="1"/>
          <p:nvPr>
            <p:ph idx="1" type="body"/>
          </p:nvPr>
        </p:nvSpPr>
        <p:spPr>
          <a:xfrm>
            <a:off x="311700" y="801200"/>
            <a:ext cx="8520600" cy="5479800"/>
          </a:xfrm>
          <a:prstGeom prst="rect">
            <a:avLst/>
          </a:prstGeom>
        </p:spPr>
        <p:txBody>
          <a:bodyPr anchorCtr="0" anchor="t" bIns="91425" lIns="91425" spcFirstLastPara="1" rIns="91425" wrap="square" tIns="91425">
            <a:noAutofit/>
          </a:bodyPr>
          <a:lstStyle/>
          <a:p>
            <a:pPr indent="-330200" lvl="0" marL="457200" rtl="0" algn="l">
              <a:spcBef>
                <a:spcPts val="1000"/>
              </a:spcBef>
              <a:spcAft>
                <a:spcPts val="0"/>
              </a:spcAft>
              <a:buSzPts val="1600"/>
              <a:buChar char="●"/>
            </a:pPr>
            <a:r>
              <a:rPr lang="en" sz="1600"/>
              <a:t>Note what is in SevenSegPartial.h besides function prototypes</a:t>
            </a:r>
            <a:endParaRPr sz="1600"/>
          </a:p>
          <a:p>
            <a:pPr indent="-330200" lvl="0" marL="457200" rtl="0" algn="l">
              <a:spcBef>
                <a:spcPts val="0"/>
              </a:spcBef>
              <a:spcAft>
                <a:spcPts val="0"/>
              </a:spcAft>
              <a:buSzPts val="1600"/>
              <a:buChar char="●"/>
            </a:pPr>
            <a:r>
              <a:rPr lang="en" sz="1600"/>
              <a:t>Complete SevenSegPartial.c</a:t>
            </a:r>
            <a:endParaRPr sz="1600"/>
          </a:p>
          <a:p>
            <a:pPr indent="0" lvl="0" marL="0" rtl="0" algn="l">
              <a:lnSpc>
                <a:spcPct val="100000"/>
              </a:lnSpc>
              <a:spcBef>
                <a:spcPts val="100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 Blink the display</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0000FF"/>
                </a:solidFill>
                <a:latin typeface="Courier New"/>
                <a:ea typeface="Courier New"/>
                <a:cs typeface="Courier New"/>
                <a:sym typeface="Courier New"/>
              </a:rPr>
              <a:t>void SevenSeg_blink(uint8_t rate) {   	 </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0000FF"/>
                </a:solidFill>
                <a:latin typeface="Courier New"/>
                <a:ea typeface="Courier New"/>
                <a:cs typeface="Courier New"/>
                <a:sym typeface="Courier New"/>
              </a:rPr>
              <a:t>}</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 Dim the display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0000FF"/>
                </a:solidFill>
                <a:latin typeface="Courier New"/>
                <a:ea typeface="Courier New"/>
                <a:cs typeface="Courier New"/>
                <a:sym typeface="Courier New"/>
              </a:rPr>
              <a:t>void SevenSeg_dim(uint8_t brightness) {</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0000FF"/>
                </a:solidFill>
                <a:latin typeface="Courier New"/>
                <a:ea typeface="Courier New"/>
                <a:cs typeface="Courier New"/>
                <a:sym typeface="Courier New"/>
              </a:rPr>
              <a:t>}   </a:t>
            </a:r>
            <a:r>
              <a:rPr lang="en" sz="1200">
                <a:solidFill>
                  <a:srgbClr val="0000FF"/>
                </a:solidFill>
                <a:latin typeface="Courier New"/>
                <a:ea typeface="Courier New"/>
                <a:cs typeface="Courier New"/>
                <a:sym typeface="Courier New"/>
              </a:rPr>
              <a:t>			 </a:t>
            </a:r>
            <a:endParaRPr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p:txBody>
      </p:sp>
      <p:sp>
        <p:nvSpPr>
          <p:cNvPr id="701" name="Google Shape;701;p77"/>
          <p:cNvSpPr txBox="1"/>
          <p:nvPr/>
        </p:nvSpPr>
        <p:spPr>
          <a:xfrm>
            <a:off x="311700" y="4039350"/>
            <a:ext cx="84069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2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solidFill>
                  <a:schemeClr val="dk2"/>
                </a:solidFill>
                <a:latin typeface="Courier New"/>
                <a:ea typeface="Courier New"/>
                <a:cs typeface="Courier New"/>
                <a:sym typeface="Courier New"/>
              </a:rPr>
              <a:t>// Write the display RAM</a:t>
            </a:r>
            <a:endParaRPr sz="12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rgbClr val="0000FF"/>
                </a:solidFill>
                <a:latin typeface="Courier New"/>
                <a:ea typeface="Courier New"/>
                <a:cs typeface="Courier New"/>
                <a:sym typeface="Courier New"/>
              </a:rPr>
              <a:t>void SevenSeg_write(uint8_t *display_buffer) {</a:t>
            </a:r>
            <a:endParaRPr b="1" sz="1200">
              <a:solidFill>
                <a:srgbClr val="0000FF"/>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 sz="1200">
                <a:solidFill>
                  <a:schemeClr val="dk2"/>
                </a:solidFill>
                <a:latin typeface="Courier New"/>
                <a:ea typeface="Courier New"/>
                <a:cs typeface="Courier New"/>
                <a:sym typeface="Courier New"/>
              </a:rPr>
              <a:t>// display_buffer is size 2*HT16K33_NBUF (high byte, low byte)</a:t>
            </a:r>
            <a:endParaRPr sz="1200">
              <a:solidFill>
                <a:schemeClr val="dk2"/>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 sz="1200">
                <a:solidFill>
                  <a:schemeClr val="dk2"/>
                </a:solidFill>
                <a:latin typeface="Courier New"/>
                <a:ea typeface="Courier New"/>
                <a:cs typeface="Courier New"/>
                <a:sym typeface="Courier New"/>
              </a:rPr>
              <a:t>// You can either write one digit at a time or (more efficient!) write the entire</a:t>
            </a:r>
            <a:endParaRPr sz="1200">
              <a:solidFill>
                <a:schemeClr val="dk2"/>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 sz="1200">
                <a:solidFill>
                  <a:schemeClr val="dk2"/>
                </a:solidFill>
                <a:latin typeface="Courier New"/>
                <a:ea typeface="Courier New"/>
                <a:cs typeface="Courier New"/>
                <a:sym typeface="Courier New"/>
              </a:rPr>
              <a:t>// display all at once. Do not directly modify i2c register addresses. Use the i2c </a:t>
            </a:r>
            <a:endParaRPr sz="1200">
              <a:solidFill>
                <a:schemeClr val="dk2"/>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 sz="1200">
                <a:solidFill>
                  <a:schemeClr val="dk2"/>
                </a:solidFill>
                <a:latin typeface="Courier New"/>
                <a:ea typeface="Courier New"/>
                <a:cs typeface="Courier New"/>
                <a:sym typeface="Courier New"/>
              </a:rPr>
              <a:t>// library instead.</a:t>
            </a:r>
            <a:endParaRPr sz="1200">
              <a:solidFill>
                <a:schemeClr val="dk2"/>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solidFill>
                  <a:schemeClr val="dk2"/>
                </a:solidFill>
                <a:latin typeface="Courier New"/>
                <a:ea typeface="Courier New"/>
                <a:cs typeface="Courier New"/>
                <a:sym typeface="Courier New"/>
              </a:rPr>
              <a:t>}</a:t>
            </a:r>
            <a:endParaRPr sz="12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2"/>
              </a:solidFill>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5" name="Shape 705"/>
        <p:cNvGrpSpPr/>
        <p:nvPr/>
      </p:nvGrpSpPr>
      <p:grpSpPr>
        <a:xfrm>
          <a:off x="0" y="0"/>
          <a:ext cx="0" cy="0"/>
          <a:chOff x="0" y="0"/>
          <a:chExt cx="0" cy="0"/>
        </a:xfrm>
      </p:grpSpPr>
      <p:sp>
        <p:nvSpPr>
          <p:cNvPr id="706" name="Google Shape;706;p78"/>
          <p:cNvSpPr txBox="1"/>
          <p:nvPr>
            <p:ph type="title"/>
          </p:nvPr>
        </p:nvSpPr>
        <p:spPr>
          <a:xfrm>
            <a:off x="311700" y="170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1</a:t>
            </a:r>
            <a:endParaRPr/>
          </a:p>
        </p:txBody>
      </p:sp>
      <p:sp>
        <p:nvSpPr>
          <p:cNvPr id="707" name="Google Shape;707;p78"/>
          <p:cNvSpPr txBox="1"/>
          <p:nvPr>
            <p:ph idx="1" type="body"/>
          </p:nvPr>
        </p:nvSpPr>
        <p:spPr>
          <a:xfrm>
            <a:off x="67900" y="801200"/>
            <a:ext cx="9075900" cy="5119800"/>
          </a:xfrm>
          <a:prstGeom prst="rect">
            <a:avLst/>
          </a:prstGeom>
        </p:spPr>
        <p:txBody>
          <a:bodyPr anchorCtr="0" anchor="t" bIns="91425" lIns="91425" spcFirstLastPara="1" rIns="91425" wrap="square" tIns="91425">
            <a:noAutofit/>
          </a:bodyPr>
          <a:lstStyle/>
          <a:p>
            <a:pPr indent="-330200" lvl="0" marL="457200" rtl="0" algn="l">
              <a:spcBef>
                <a:spcPts val="1000"/>
              </a:spcBef>
              <a:spcAft>
                <a:spcPts val="0"/>
              </a:spcAft>
              <a:buSzPts val="1600"/>
              <a:buChar char="●"/>
            </a:pPr>
            <a:r>
              <a:rPr lang="en" sz="1600"/>
              <a:t>Note what is in SevenSegPartial.h besides function prototypes</a:t>
            </a:r>
            <a:endParaRPr sz="1600"/>
          </a:p>
          <a:p>
            <a:pPr indent="-330200" lvl="0" marL="457200" rtl="0" algn="l">
              <a:spcBef>
                <a:spcPts val="0"/>
              </a:spcBef>
              <a:spcAft>
                <a:spcPts val="0"/>
              </a:spcAft>
              <a:buSzPts val="1600"/>
              <a:buChar char="●"/>
            </a:pPr>
            <a:r>
              <a:rPr lang="en" sz="1600"/>
              <a:t>Complete SevenSegPartial.c</a:t>
            </a:r>
            <a:endParaRPr sz="1600"/>
          </a:p>
          <a:p>
            <a:pPr indent="0" lvl="0" marL="0" rtl="0" algn="l">
              <a:spcBef>
                <a:spcPts val="100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Change the display flashing</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SevenSeg_blink(</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rate)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i2c1_byteWrite(HT16K33_ADDR, HT16K33_DISPLAY_CMD | HT16K33_DISPLAY_ON | (rate &amp; 0x6));</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Dim the display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SevenSeg_dim(</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brightness)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i2c1_byteWrite(HT16K33_ADDR, HT16K33_DISPLAY_CMD | HT16K33_BRIGHT_CMD | (brightness &amp; 0xf));</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Write the display RAM</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SevenSeg_write(</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*display_buffer)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display_buffer is size 2*HT16K33_NBUF (high byte, low byte)</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i2c1_memWrite(HT16K33_ADDR, HT16K33_ADDR_PTR, 2*HT16K33_NBUF, display_buffer);</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latin typeface="Courier New"/>
              <a:ea typeface="Courier New"/>
              <a:cs typeface="Courier New"/>
              <a:sym typeface="Courier New"/>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pic>
        <p:nvPicPr>
          <p:cNvPr id="712" name="Google Shape;712;p79"/>
          <p:cNvPicPr preferRelativeResize="0"/>
          <p:nvPr/>
        </p:nvPicPr>
        <p:blipFill>
          <a:blip r:embed="rId3">
            <a:alphaModFix/>
          </a:blip>
          <a:stretch>
            <a:fillRect/>
          </a:stretch>
        </p:blipFill>
        <p:spPr>
          <a:xfrm>
            <a:off x="2237525" y="1118838"/>
            <a:ext cx="6754074" cy="5507099"/>
          </a:xfrm>
          <a:prstGeom prst="rect">
            <a:avLst/>
          </a:prstGeom>
          <a:noFill/>
          <a:ln>
            <a:noFill/>
          </a:ln>
        </p:spPr>
      </p:pic>
      <p:sp>
        <p:nvSpPr>
          <p:cNvPr id="713" name="Google Shape;713;p79"/>
          <p:cNvSpPr txBox="1"/>
          <p:nvPr>
            <p:ph type="title"/>
          </p:nvPr>
        </p:nvSpPr>
        <p:spPr>
          <a:xfrm>
            <a:off x="387900" y="605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1</a:t>
            </a:r>
            <a:endParaRPr/>
          </a:p>
        </p:txBody>
      </p:sp>
      <p:sp>
        <p:nvSpPr>
          <p:cNvPr id="714" name="Google Shape;714;p79"/>
          <p:cNvSpPr txBox="1"/>
          <p:nvPr>
            <p:ph idx="1" type="body"/>
          </p:nvPr>
        </p:nvSpPr>
        <p:spPr>
          <a:xfrm>
            <a:off x="387900" y="702800"/>
            <a:ext cx="5007900" cy="312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Test your drivers:</a:t>
            </a:r>
            <a:endParaRPr sz="1600"/>
          </a:p>
          <a:p>
            <a:pPr indent="-330200" lvl="0" marL="457200" rtl="0" algn="l">
              <a:spcBef>
                <a:spcPts val="0"/>
              </a:spcBef>
              <a:spcAft>
                <a:spcPts val="0"/>
              </a:spcAft>
              <a:buSzPts val="1600"/>
              <a:buChar char="●"/>
            </a:pPr>
            <a:r>
              <a:rPr lang="en" sz="1600"/>
              <a:t>Copy your TemplateProject and name the new project "SevenSegI2CFinal"</a:t>
            </a:r>
            <a:endParaRPr sz="1600"/>
          </a:p>
          <a:p>
            <a:pPr indent="-330200" lvl="0" marL="457200" rtl="0" algn="l">
              <a:spcBef>
                <a:spcPts val="0"/>
              </a:spcBef>
              <a:spcAft>
                <a:spcPts val="0"/>
              </a:spcAft>
              <a:buSzPts val="1600"/>
              <a:buChar char="●"/>
            </a:pPr>
            <a:r>
              <a:rPr lang="en" sz="1600"/>
              <a:t>Download </a:t>
            </a:r>
            <a:r>
              <a:rPr b="1" lang="en" sz="1600">
                <a:solidFill>
                  <a:srgbClr val="990000"/>
                </a:solidFill>
              </a:rPr>
              <a:t>SevenSeg_test.c</a:t>
            </a:r>
            <a:r>
              <a:rPr lang="en" sz="1600"/>
              <a:t> from Canvas and put it into your new project's </a:t>
            </a:r>
            <a:r>
              <a:rPr b="1" lang="en" sz="1600">
                <a:solidFill>
                  <a:srgbClr val="990000"/>
                </a:solidFill>
              </a:rPr>
              <a:t>Src</a:t>
            </a:r>
            <a:r>
              <a:rPr lang="en" sz="1600"/>
              <a:t> folder</a:t>
            </a:r>
            <a:endParaRPr sz="1600"/>
          </a:p>
          <a:p>
            <a:pPr indent="-330200" lvl="0" marL="457200" rtl="0" algn="l">
              <a:spcBef>
                <a:spcPts val="0"/>
              </a:spcBef>
              <a:spcAft>
                <a:spcPts val="0"/>
              </a:spcAft>
              <a:buSzPts val="1600"/>
              <a:buChar char="●"/>
            </a:pPr>
            <a:r>
              <a:rPr lang="en" sz="1600"/>
              <a:t>Copy your completed SevenSegPartial.c and SevenSegPartial.h into your </a:t>
            </a:r>
            <a:r>
              <a:rPr b="1" lang="en" sz="1600">
                <a:solidFill>
                  <a:srgbClr val="0000FF"/>
                </a:solidFill>
              </a:rPr>
              <a:t>mylib</a:t>
            </a:r>
            <a:r>
              <a:rPr lang="en" sz="1600"/>
              <a:t> folder and rename to </a:t>
            </a:r>
            <a:r>
              <a:rPr b="1" lang="en" sz="1600">
                <a:solidFill>
                  <a:srgbClr val="0000FF"/>
                </a:solidFill>
              </a:rPr>
              <a:t>SevenSeg.c</a:t>
            </a:r>
            <a:r>
              <a:rPr lang="en" sz="1600"/>
              <a:t> and </a:t>
            </a:r>
            <a:r>
              <a:rPr b="1" lang="en" sz="1600">
                <a:solidFill>
                  <a:srgbClr val="0000FF"/>
                </a:solidFill>
              </a:rPr>
              <a:t>SevenSeg.h</a:t>
            </a:r>
            <a:endParaRPr b="1" sz="1600">
              <a:solidFill>
                <a:srgbClr val="0000FF"/>
              </a:solidFill>
            </a:endParaRPr>
          </a:p>
          <a:p>
            <a:pPr indent="-330200" lvl="0" marL="457200" rtl="0" algn="l">
              <a:spcBef>
                <a:spcPts val="0"/>
              </a:spcBef>
              <a:spcAft>
                <a:spcPts val="0"/>
              </a:spcAft>
              <a:buSzPts val="1600"/>
              <a:buChar char="●"/>
            </a:pPr>
            <a:r>
              <a:rPr lang="en" sz="1600"/>
              <a:t>Compile and flash.</a:t>
            </a:r>
            <a:endParaRPr sz="1600"/>
          </a:p>
          <a:p>
            <a:pPr indent="-330200" lvl="0" marL="457200" rtl="0" algn="l">
              <a:spcBef>
                <a:spcPts val="0"/>
              </a:spcBef>
              <a:spcAft>
                <a:spcPts val="0"/>
              </a:spcAft>
              <a:buSzPts val="1600"/>
              <a:buChar char="●"/>
            </a:pPr>
            <a:r>
              <a:rPr lang="en" sz="1600"/>
              <a:t>Debug SevenSeg.c as needed</a:t>
            </a:r>
            <a:endParaRPr sz="1600"/>
          </a:p>
        </p:txBody>
      </p:sp>
      <p:sp>
        <p:nvSpPr>
          <p:cNvPr id="715" name="Google Shape;715;p79"/>
          <p:cNvSpPr txBox="1"/>
          <p:nvPr/>
        </p:nvSpPr>
        <p:spPr>
          <a:xfrm>
            <a:off x="737425" y="4916900"/>
            <a:ext cx="1568400" cy="369300"/>
          </a:xfrm>
          <a:prstGeom prst="rect">
            <a:avLst/>
          </a:prstGeom>
          <a:solidFill>
            <a:srgbClr val="F1C232"/>
          </a:solid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t>+V, GND, SDA, SCL</a:t>
            </a:r>
            <a:endParaRPr sz="1200"/>
          </a:p>
        </p:txBody>
      </p:sp>
      <p:cxnSp>
        <p:nvCxnSpPr>
          <p:cNvPr id="716" name="Google Shape;716;p79"/>
          <p:cNvCxnSpPr>
            <a:stCxn id="715" idx="3"/>
          </p:cNvCxnSpPr>
          <p:nvPr/>
        </p:nvCxnSpPr>
        <p:spPr>
          <a:xfrm flipH="1" rot="10800000">
            <a:off x="2305825" y="5100950"/>
            <a:ext cx="2523000" cy="600"/>
          </a:xfrm>
          <a:prstGeom prst="straightConnector1">
            <a:avLst/>
          </a:prstGeom>
          <a:noFill/>
          <a:ln cap="flat" cmpd="sng" w="28575">
            <a:solidFill>
              <a:srgbClr val="F1C232"/>
            </a:solidFill>
            <a:prstDash val="solid"/>
            <a:round/>
            <a:headEnd len="med" w="med"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8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2</a:t>
            </a:r>
            <a:endParaRPr/>
          </a:p>
        </p:txBody>
      </p:sp>
      <p:sp>
        <p:nvSpPr>
          <p:cNvPr id="722" name="Google Shape;722;p80"/>
          <p:cNvSpPr txBox="1"/>
          <p:nvPr>
            <p:ph idx="1" type="body"/>
          </p:nvPr>
        </p:nvSpPr>
        <p:spPr>
          <a:xfrm>
            <a:off x="311700" y="1536621"/>
            <a:ext cx="8520600" cy="492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434343"/>
              </a:buClr>
              <a:buSzPts val="1800"/>
              <a:buChar char="●"/>
            </a:pPr>
            <a:r>
              <a:rPr lang="en">
                <a:solidFill>
                  <a:srgbClr val="434343"/>
                </a:solidFill>
              </a:rPr>
              <a:t>Initialize the display to be on steady at full brightness.</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Display ES.28.</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Wait 1 second.</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Blink the display at 1Hz.</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Wait 5 seconds.</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Turn the display back on steady but at a lower brightness level. </a:t>
            </a:r>
            <a:endParaRPr>
              <a:solidFill>
                <a:srgbClr val="434343"/>
              </a:solidFill>
            </a:endParaRPr>
          </a:p>
          <a:p>
            <a:pPr indent="0" lvl="0" marL="0" rtl="0" algn="l">
              <a:spcBef>
                <a:spcPts val="1600"/>
              </a:spcBef>
              <a:spcAft>
                <a:spcPts val="1600"/>
              </a:spcAft>
              <a:buNone/>
            </a:pPr>
            <a:r>
              <a:t/>
            </a:r>
            <a:endParaRPr>
              <a:solidFill>
                <a:srgbClr val="434343"/>
              </a:solidFill>
            </a:endParaRPr>
          </a:p>
        </p:txBody>
      </p:sp>
      <p:sp>
        <p:nvSpPr>
          <p:cNvPr id="723" name="Google Shape;723;p80"/>
          <p:cNvSpPr/>
          <p:nvPr/>
        </p:nvSpPr>
        <p:spPr>
          <a:xfrm>
            <a:off x="414600" y="1627175"/>
            <a:ext cx="6008400" cy="6048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80"/>
          <p:cNvSpPr txBox="1"/>
          <p:nvPr/>
        </p:nvSpPr>
        <p:spPr>
          <a:xfrm>
            <a:off x="6502175" y="1677150"/>
            <a:ext cx="2157000" cy="67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FF"/>
                </a:solidFill>
              </a:rPr>
              <a:t>Start with this only! Get it working. Then add on.</a:t>
            </a:r>
            <a:endParaRPr>
              <a:solidFill>
                <a:srgbClr val="FF00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8" name="Shape 728"/>
        <p:cNvGrpSpPr/>
        <p:nvPr/>
      </p:nvGrpSpPr>
      <p:grpSpPr>
        <a:xfrm>
          <a:off x="0" y="0"/>
          <a:ext cx="0" cy="0"/>
          <a:chOff x="0" y="0"/>
          <a:chExt cx="0" cy="0"/>
        </a:xfrm>
      </p:grpSpPr>
      <p:sp>
        <p:nvSpPr>
          <p:cNvPr id="729" name="Google Shape;729;p81"/>
          <p:cNvSpPr txBox="1"/>
          <p:nvPr/>
        </p:nvSpPr>
        <p:spPr>
          <a:xfrm>
            <a:off x="393800" y="922400"/>
            <a:ext cx="5959200" cy="56346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lang="en" sz="1200">
                <a:solidFill>
                  <a:schemeClr val="dk1"/>
                </a:solidFill>
                <a:highlight>
                  <a:srgbClr val="FFFFFF"/>
                </a:highlight>
                <a:latin typeface="Courier New"/>
                <a:ea typeface="Courier New"/>
                <a:cs typeface="Courier New"/>
                <a:sym typeface="Courier New"/>
              </a:rPr>
              <a:t> </a:t>
            </a:r>
            <a:r>
              <a:rPr lang="en" sz="1200">
                <a:solidFill>
                  <a:srgbClr val="2A00FF"/>
                </a:solidFill>
                <a:highlight>
                  <a:srgbClr val="FFFFFF"/>
                </a:highlight>
                <a:latin typeface="Courier New"/>
                <a:ea typeface="Courier New"/>
                <a:cs typeface="Courier New"/>
                <a:sym typeface="Courier New"/>
              </a:rPr>
              <a:t>"ES28.h"</a:t>
            </a:r>
            <a:endParaRPr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lang="en" sz="1200">
                <a:solidFill>
                  <a:schemeClr val="dk1"/>
                </a:solidFill>
                <a:highlight>
                  <a:srgbClr val="FFFFFF"/>
                </a:highlight>
                <a:latin typeface="Courier New"/>
                <a:ea typeface="Courier New"/>
                <a:cs typeface="Courier New"/>
                <a:sym typeface="Courier New"/>
              </a:rPr>
              <a:t> </a:t>
            </a:r>
            <a:r>
              <a:rPr lang="en" sz="1200">
                <a:solidFill>
                  <a:srgbClr val="2A00FF"/>
                </a:solidFill>
                <a:highlight>
                  <a:srgbClr val="FFFFFF"/>
                </a:highlight>
                <a:latin typeface="Courier New"/>
                <a:ea typeface="Courier New"/>
                <a:cs typeface="Courier New"/>
                <a:sym typeface="Courier New"/>
              </a:rPr>
              <a:t>"i2c.h"</a:t>
            </a:r>
            <a:endParaRPr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lang="en" sz="1200">
                <a:solidFill>
                  <a:schemeClr val="dk1"/>
                </a:solidFill>
                <a:highlight>
                  <a:srgbClr val="FFFFFF"/>
                </a:highlight>
                <a:latin typeface="Courier New"/>
                <a:ea typeface="Courier New"/>
                <a:cs typeface="Courier New"/>
                <a:sym typeface="Courier New"/>
              </a:rPr>
              <a:t> </a:t>
            </a:r>
            <a:r>
              <a:rPr lang="en" sz="1200">
                <a:solidFill>
                  <a:srgbClr val="2A00FF"/>
                </a:solidFill>
                <a:highlight>
                  <a:srgbClr val="FFFFFF"/>
                </a:highlight>
                <a:latin typeface="Courier New"/>
                <a:ea typeface="Courier New"/>
                <a:cs typeface="Courier New"/>
                <a:sym typeface="Courier New"/>
              </a:rPr>
              <a:t>"SevenSeg.h"</a:t>
            </a:r>
            <a:endParaRPr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lang="en" sz="1200">
                <a:solidFill>
                  <a:schemeClr val="dk1"/>
                </a:solidFill>
                <a:highlight>
                  <a:srgbClr val="FFFFFF"/>
                </a:highlight>
                <a:latin typeface="Courier New"/>
                <a:ea typeface="Courier New"/>
                <a:cs typeface="Courier New"/>
                <a:sym typeface="Courier New"/>
              </a:rPr>
              <a:t> </a:t>
            </a:r>
            <a:r>
              <a:rPr b="1" lang="en" sz="1200">
                <a:solidFill>
                  <a:schemeClr val="dk1"/>
                </a:solidFill>
                <a:highlight>
                  <a:srgbClr val="FFFFFF"/>
                </a:highlight>
                <a:latin typeface="Courier New"/>
                <a:ea typeface="Courier New"/>
                <a:cs typeface="Courier New"/>
                <a:sym typeface="Courier New"/>
              </a:rPr>
              <a:t>main</a:t>
            </a:r>
            <a:r>
              <a:rPr lang="en" sz="1200">
                <a:solidFill>
                  <a:schemeClr val="dk1"/>
                </a:solidFill>
                <a:highlight>
                  <a:srgbClr val="FFFFFF"/>
                </a:highlight>
                <a:latin typeface="Courier New"/>
                <a:ea typeface="Courier New"/>
                <a:cs typeface="Courier New"/>
                <a:sym typeface="Courier New"/>
              </a:rPr>
              <a:t>(</a:t>
            </a:r>
            <a:r>
              <a:rPr b="1" lang="en" sz="1200">
                <a:solidFill>
                  <a:srgbClr val="7F0055"/>
                </a:solidFill>
                <a:highlight>
                  <a:srgbClr val="FFFFFF"/>
                </a:highlight>
                <a:latin typeface="Courier New"/>
                <a:ea typeface="Courier New"/>
                <a:cs typeface="Courier New"/>
                <a:sym typeface="Courier New"/>
              </a:rPr>
              <a:t>void</a:t>
            </a:r>
            <a:r>
              <a:rPr lang="en"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a:t>
            </a:r>
            <a:r>
              <a:rPr lang="en" sz="1200">
                <a:solidFill>
                  <a:srgbClr val="005032"/>
                </a:solidFill>
                <a:highlight>
                  <a:srgbClr val="FFFFFF"/>
                </a:highlight>
                <a:latin typeface="Courier New"/>
                <a:ea typeface="Courier New"/>
                <a:cs typeface="Courier New"/>
                <a:sym typeface="Courier New"/>
              </a:rPr>
              <a:t>uint8_t</a:t>
            </a:r>
            <a:r>
              <a:rPr lang="en" sz="1200">
                <a:solidFill>
                  <a:schemeClr val="dk1"/>
                </a:solidFill>
                <a:highlight>
                  <a:srgbClr val="FFFFFF"/>
                </a:highlight>
                <a:latin typeface="Courier New"/>
                <a:ea typeface="Courier New"/>
                <a:cs typeface="Courier New"/>
                <a:sym typeface="Courier New"/>
              </a:rPr>
              <a:t> display_buffer[2*HT16K33_NBUF];</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i2c1_init();</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SevenSeg_init();</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SevenSeg_dim(15);</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display_buffer[0] = 0b01111001;		</a:t>
            </a:r>
            <a:r>
              <a:rPr lang="en" sz="1200">
                <a:solidFill>
                  <a:srgbClr val="3F7F5F"/>
                </a:solidFill>
                <a:highlight>
                  <a:srgbClr val="FFFFFF"/>
                </a:highlight>
                <a:latin typeface="Courier New"/>
                <a:ea typeface="Courier New"/>
                <a:cs typeface="Courier New"/>
                <a:sym typeface="Courier New"/>
              </a:rPr>
              <a:t>// E</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display_buffer[1] = 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display_buffer[2] = 0b11101101;		</a:t>
            </a:r>
            <a:r>
              <a:rPr lang="en" sz="1200">
                <a:solidFill>
                  <a:srgbClr val="3F7F5F"/>
                </a:solidFill>
                <a:highlight>
                  <a:srgbClr val="FFFFFF"/>
                </a:highlight>
                <a:latin typeface="Courier New"/>
                <a:ea typeface="Courier New"/>
                <a:cs typeface="Courier New"/>
                <a:sym typeface="Courier New"/>
              </a:rPr>
              <a:t>// S.</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display_buffer[3] = 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display_buffer[4] = 0;				</a:t>
            </a:r>
            <a:r>
              <a:rPr lang="en" sz="1200">
                <a:solidFill>
                  <a:srgbClr val="3F7F5F"/>
                </a:solidFill>
                <a:highlight>
                  <a:srgbClr val="FFFFFF"/>
                </a:highlight>
                <a:latin typeface="Courier New"/>
                <a:ea typeface="Courier New"/>
                <a:cs typeface="Courier New"/>
                <a:sym typeface="Courier New"/>
              </a:rPr>
              <a:t>// no colon</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display_buffer[5] = 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display_buffer[6] = numbertable[2];	</a:t>
            </a:r>
            <a:r>
              <a:rPr lang="en" sz="1200">
                <a:solidFill>
                  <a:srgbClr val="3F7F5F"/>
                </a:solidFill>
                <a:highlight>
                  <a:srgbClr val="FFFFFF"/>
                </a:highlight>
                <a:latin typeface="Courier New"/>
                <a:ea typeface="Courier New"/>
                <a:cs typeface="Courier New"/>
                <a:sym typeface="Courier New"/>
              </a:rPr>
              <a:t>// 2</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display_buffer[7] = 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display_buffer[8] = numbertable[8];	</a:t>
            </a:r>
            <a:r>
              <a:rPr lang="en" sz="1200">
                <a:solidFill>
                  <a:srgbClr val="3F7F5F"/>
                </a:solidFill>
                <a:highlight>
                  <a:srgbClr val="FFFFFF"/>
                </a:highlight>
                <a:latin typeface="Courier New"/>
                <a:ea typeface="Courier New"/>
                <a:cs typeface="Courier New"/>
                <a:sym typeface="Courier New"/>
              </a:rPr>
              <a:t>// 8</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display_buffer[9] = 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SevenSeg_write(display_buffer);</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delay_ms(1000);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SevenSeg_blink(HT16K33_BLINK_1HZ);</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delay_ms(5000);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SevenSeg_blink(HT16K33_BLINK_OFF);</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SevenSeg_dim(5);</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lang="en" sz="1200">
                <a:solidFill>
                  <a:schemeClr val="dk1"/>
                </a:solidFill>
                <a:highlight>
                  <a:srgbClr val="FFFFFF"/>
                </a:highlight>
                <a:latin typeface="Courier New"/>
                <a:ea typeface="Courier New"/>
                <a:cs typeface="Courier New"/>
                <a:sym typeface="Courier New"/>
              </a:rPr>
              <a:t> 0;</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urier New"/>
                <a:ea typeface="Courier New"/>
                <a:cs typeface="Courier New"/>
                <a:sym typeface="Courier New"/>
              </a:rPr>
              <a:t>}</a:t>
            </a:r>
            <a:endParaRPr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200">
              <a:solidFill>
                <a:srgbClr val="004A43"/>
              </a:solidFill>
              <a:highlight>
                <a:srgbClr val="FFFFFF"/>
              </a:highlight>
              <a:latin typeface="Courier New"/>
              <a:ea typeface="Courier New"/>
              <a:cs typeface="Courier New"/>
              <a:sym typeface="Courier New"/>
            </a:endParaRPr>
          </a:p>
        </p:txBody>
      </p:sp>
      <p:sp>
        <p:nvSpPr>
          <p:cNvPr id="730" name="Google Shape;730;p81"/>
          <p:cNvSpPr txBox="1"/>
          <p:nvPr>
            <p:ph type="title"/>
          </p:nvPr>
        </p:nvSpPr>
        <p:spPr>
          <a:xfrm>
            <a:off x="270975" y="2024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2 - Solution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8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3</a:t>
            </a:r>
            <a:endParaRPr/>
          </a:p>
        </p:txBody>
      </p:sp>
      <p:sp>
        <p:nvSpPr>
          <p:cNvPr id="736" name="Google Shape;736;p82"/>
          <p:cNvSpPr txBox="1"/>
          <p:nvPr>
            <p:ph idx="1" type="body"/>
          </p:nvPr>
        </p:nvSpPr>
        <p:spPr>
          <a:xfrm>
            <a:off x="311700" y="1536621"/>
            <a:ext cx="8520600" cy="492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34343"/>
                </a:solidFill>
              </a:rPr>
              <a:t>Write and display some counters:</a:t>
            </a:r>
            <a:endParaRPr sz="1600">
              <a:solidFill>
                <a:srgbClr val="434343"/>
              </a:solidFill>
            </a:endParaRPr>
          </a:p>
          <a:p>
            <a:pPr indent="-330200" lvl="0" marL="457200" rtl="0" algn="l">
              <a:spcBef>
                <a:spcPts val="1600"/>
              </a:spcBef>
              <a:spcAft>
                <a:spcPts val="0"/>
              </a:spcAft>
              <a:buClr>
                <a:srgbClr val="434343"/>
              </a:buClr>
              <a:buSzPts val="1600"/>
              <a:buAutoNum type="arabicPeriod"/>
            </a:pPr>
            <a:r>
              <a:rPr lang="en" sz="1600">
                <a:solidFill>
                  <a:srgbClr val="434343"/>
                </a:solidFill>
              </a:rPr>
              <a:t>Basic 16 bit unsigned (SevenSeg_num will make EEEE when &gt;9999).</a:t>
            </a:r>
            <a:endParaRPr sz="1600">
              <a:solidFill>
                <a:srgbClr val="434343"/>
              </a:solidFill>
            </a:endParaRPr>
          </a:p>
          <a:p>
            <a:pPr indent="-330200" lvl="0" marL="457200" rtl="0" algn="l">
              <a:spcBef>
                <a:spcPts val="1000"/>
              </a:spcBef>
              <a:spcAft>
                <a:spcPts val="0"/>
              </a:spcAft>
              <a:buClr>
                <a:srgbClr val="434343"/>
              </a:buClr>
              <a:buSzPts val="1600"/>
              <a:buAutoNum type="arabicPeriod"/>
            </a:pPr>
            <a:r>
              <a:rPr lang="en" sz="1600">
                <a:solidFill>
                  <a:srgbClr val="434343"/>
                </a:solidFill>
              </a:rPr>
              <a:t>8-bit signed (–128 to 127); figure out how to add the minus sign; if you need an abs() function, #include &lt;stdlib.h&gt;.  </a:t>
            </a:r>
            <a:endParaRPr sz="1600">
              <a:solidFill>
                <a:srgbClr val="434343"/>
              </a:solidFill>
            </a:endParaRPr>
          </a:p>
          <a:p>
            <a:pPr indent="-330200" lvl="0" marL="457200" rtl="0" algn="l">
              <a:spcBef>
                <a:spcPts val="1000"/>
              </a:spcBef>
              <a:spcAft>
                <a:spcPts val="0"/>
              </a:spcAft>
              <a:buClr>
                <a:srgbClr val="434343"/>
              </a:buClr>
              <a:buSzPts val="1600"/>
              <a:buAutoNum type="arabicPeriod"/>
            </a:pPr>
            <a:r>
              <a:rPr lang="en" sz="1600">
                <a:solidFill>
                  <a:srgbClr val="434343"/>
                </a:solidFill>
              </a:rPr>
              <a:t>Digital clock MM:SS (with colon)</a:t>
            </a:r>
            <a:endParaRPr sz="1600">
              <a:solidFill>
                <a:srgbClr val="434343"/>
              </a:solidFill>
            </a:endParaRPr>
          </a:p>
          <a:p>
            <a:pPr indent="0" lvl="0" marL="0" rtl="0" algn="l">
              <a:spcBef>
                <a:spcPts val="1000"/>
              </a:spcBef>
              <a:spcAft>
                <a:spcPts val="0"/>
              </a:spcAft>
              <a:buNone/>
            </a:pPr>
            <a:r>
              <a:t/>
            </a:r>
            <a:endParaRPr sz="1600">
              <a:solidFill>
                <a:srgbClr val="434343"/>
              </a:solidFill>
            </a:endParaRPr>
          </a:p>
          <a:p>
            <a:pPr indent="0" lvl="0" marL="457200" rtl="0" algn="l">
              <a:spcBef>
                <a:spcPts val="1000"/>
              </a:spcBef>
              <a:spcAft>
                <a:spcPts val="0"/>
              </a:spcAft>
              <a:buNone/>
            </a:pPr>
            <a:r>
              <a:t/>
            </a:r>
            <a:endParaRPr>
              <a:solidFill>
                <a:srgbClr val="434343"/>
              </a:solidFill>
            </a:endParaRPr>
          </a:p>
          <a:p>
            <a:pPr indent="0" lvl="0" marL="0" rtl="0" algn="l">
              <a:spcBef>
                <a:spcPts val="1600"/>
              </a:spcBef>
              <a:spcAft>
                <a:spcPts val="1600"/>
              </a:spcAft>
              <a:buNone/>
            </a:pPr>
            <a:r>
              <a:t/>
            </a:r>
            <a:endParaRPr>
              <a:solidFill>
                <a:srgbClr val="43434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