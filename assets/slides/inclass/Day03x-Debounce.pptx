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/ REVEAL — show after the activity if useful, or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/ REVEAL — show after the activity if useful, or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complete the three TODO lines. Full solution is on the hidden slide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141"/>
              </a:buClr>
              <a:buSzPts val="2400"/>
              <a:buNone/>
              <a:defRPr sz="2400">
                <a:solidFill>
                  <a:srgbClr val="42414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">
  <p:cSld name="Thayer Log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" y="4294640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pic>
        <p:nvPicPr>
          <p:cNvPr descr="A close up of a sign&#10;&#10;Description automatically generated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496560"/>
            <a:ext cx="7315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 Option">
  <p:cSld name="Title Slide - Dark Option">
    <p:bg>
      <p:bgPr>
        <a:solidFill>
          <a:srgbClr val="00693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 - Dark Option">
  <p:cSld name="Thayer Logo - Dark Option">
    <p:bg>
      <p:bgPr>
        <a:solidFill>
          <a:srgbClr val="00693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" y="4737643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0" y="6290336"/>
            <a:ext cx="12192000" cy="567664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659536"/>
            <a:ext cx="7315200" cy="22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Observing &amp; Fixing Switch Bounce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ENGS 28 · Day 3X — In-Class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— and where we're headed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sz="1800"/>
              <a:t>On Tuesday: the AD2 oscilloscope, and how to wire and read a pushbutton on the STM32.</a:t>
            </a:r>
          </a:p>
          <a:p>
            <a:pPr>
              <a:defRPr sz="1800"/>
            </a:pPr>
            <a:r>
              <a:rPr sz="1800"/>
              <a:t>Today: put a scope on the button and see what actually happens when you press it.</a:t>
            </a:r>
          </a:p>
          <a:p>
            <a:pPr>
              <a:defRPr sz="1800"/>
            </a:pPr>
            <a:r>
              <a:rPr b="1" sz="1800"/>
              <a:t>Then fix the mess — first with hardware (a capacitor), then in software (edge detection).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· Observing and Fixing Bounce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 the AD2 to watch the button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29768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Load your toggleLED.c (or button.c if the homework isn't done).</a:t>
            </a:r>
          </a:p>
          <a:p>
            <a:pPr>
              <a:defRPr sz="1600"/>
            </a:pPr>
            <a:r>
              <a:rPr b="1" sz="1600">
                <a:solidFill>
                  <a:srgbClr val="C06000"/>
                </a:solidFill>
              </a:rPr>
              <a:t>CH1 (orange) on D5 / PB4 (button)</a:t>
            </a:r>
          </a:p>
          <a:p>
            <a:pPr>
              <a:defRPr sz="1600"/>
            </a:pPr>
            <a:r>
              <a:rPr b="1" sz="1600">
                <a:solidFill>
                  <a:srgbClr val="1F6FB2"/>
                </a:solidFill>
              </a:rPr>
              <a:t>CH2 (blue) on D13 / PA5 (LED)</a:t>
            </a:r>
          </a:p>
          <a:p>
            <a:pPr>
              <a:defRPr sz="1600"/>
            </a:pPr>
            <a:r>
              <a:rPr sz="1600"/>
              <a:t>Minus (white-stripe) leads to GND.</a:t>
            </a:r>
          </a:p>
        </p:txBody>
      </p:sp>
      <p:pic>
        <p:nvPicPr>
          <p:cNvPr id="4" name="Picture 3" descr="ann-d3x-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00200"/>
            <a:ext cx="6035040" cy="3761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5407761"/>
            <a:ext cx="603504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CH1 on the button (PB4), CH2 on the LED (PA5); minus leads to GND.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up the trigger to catch one press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48056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Source: Channel 1 · Type: Edge · Condition: Falling · Level: 1 V.</a:t>
            </a:r>
          </a:p>
          <a:p>
            <a:pPr>
              <a:defRPr sz="1600"/>
            </a:pPr>
            <a:r>
              <a:rPr sz="1600"/>
              <a:t>Time base: 20 µs/div to start.</a:t>
            </a:r>
          </a:p>
          <a:p>
            <a:pPr>
              <a:defRPr sz="1600"/>
            </a:pPr>
            <a:r>
              <a:rPr b="1" sz="1600"/>
              <a:t>Click Single, press the button once, and examine the capture.</a:t>
            </a:r>
          </a:p>
          <a:p>
            <a:pPr>
              <a:defRPr sz="1300"/>
            </a:pPr>
            <a:r>
              <a:rPr i="1" sz="1300"/>
              <a:t>(Depending on your Waveforms version, you may need Normal or Auto mode.)</a:t>
            </a:r>
          </a:p>
        </p:txBody>
      </p:sp>
      <p:pic>
        <p:nvPicPr>
          <p:cNvPr id="4" name="Picture 3" descr="ann-d3x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00200"/>
            <a:ext cx="5852160" cy="3998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5644896"/>
            <a:ext cx="585216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Trigger on Channel 1, falling edge, 1 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Capturing Switch Bounce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None/>
              <a:defRPr sz="1600"/>
            </a:pPr>
            <a:r>
              <a:rPr sz="1600"/>
              <a:t>Configure the trigger (Source: CH1, Type: Edge, Condition: Falling, Level: 1 V) and set 20 µs/div. Click Single, press once, and look at the capture.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What do you see instead of a clean falling edge?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Use cursors to measure the total bounce duration on your button. Compare with other groups — do all switches bounce the same amount?</a:t>
            </a:r>
          </a:p>
          <a:p>
            <a:pPr>
              <a:buAutoNum type="arabicPeriod"/>
              <a:defRPr sz="1600"/>
            </a:pPr>
            <a:r>
              <a:rPr sz="1600"/>
              <a:t>Look at CH2 (LED). How many times does the LED change state during a single physical press? Why?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contact bounce looks like</a:t>
            </a:r>
          </a:p>
        </p:txBody>
      </p:sp>
      <p:pic>
        <p:nvPicPr>
          <p:cNvPr id="3" name="Picture 2" descr="ann-d3x-bou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240" y="1645920"/>
            <a:ext cx="5671038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650992"/>
            <a:ext cx="941831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One press on CH1 (orange) makes many rapid HIGH/LOW transitions before settling. CH2 (blue) shows the LED toggling on each bounce — not just once. Bounce lasts ~50 µs to a few ms, and varies by switch.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fix: add a capacitor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700"/>
            </a:pPr>
            <a:r>
              <a:rPr sz="1700"/>
              <a:t>Add a small capacitor across the switch (from D5/PB4 to GND).</a:t>
            </a:r>
          </a:p>
          <a:p>
            <a:pPr>
              <a:defRPr sz="1700"/>
            </a:pPr>
            <a:r>
              <a:rPr sz="1700"/>
              <a:t>When the switch closes, the cap discharges through the low-resistance contacts instead of bouncing.</a:t>
            </a:r>
          </a:p>
          <a:p>
            <a:pPr>
              <a:defRPr sz="1700"/>
            </a:pPr>
            <a:r>
              <a:rPr sz="1700"/>
              <a:t>When it opens, the ~40 kΩ internal pull-up recharges it slowly.</a:t>
            </a:r>
          </a:p>
          <a:p>
            <a:pPr>
              <a:defRPr sz="1700"/>
            </a:pPr>
            <a:r>
              <a:rPr b="1" sz="1700"/>
              <a:t>The RC time constant smooths the bounce spikes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capacitor codes</a:t>
            </a:r>
          </a:p>
        </p:txBody>
      </p:sp>
      <p:pic>
        <p:nvPicPr>
          <p:cNvPr id="3" name="Picture 2" descr="ann-d3x-cap-c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133" y="1920240"/>
            <a:ext cx="7633252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919472"/>
            <a:ext cx="996695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Metal-film capacitor markings: value, tolerance, and max voltage. The decimal point can be an n (nano), p (pico), or a dot (micro). Example: .1J63 = 0.1 µF, ±5%, 63 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capacitor goes</a:t>
            </a:r>
          </a:p>
        </p:txBody>
      </p:sp>
      <p:pic>
        <p:nvPicPr>
          <p:cNvPr id="3" name="Picture 2" descr="ann-d3x-rc-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13" y="1783080"/>
            <a:ext cx="8754893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71032"/>
            <a:ext cx="996695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Place a 0.1 µF capacitor across the button, from D5 (PB4) to GND — in parallel with the switch.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Hardware Fix: Adding a Capacitor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Identify the 0.1 µF capacitor in your kit using its marking code.</a:t>
            </a:r>
          </a:p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Place the capacitor across the button (one leg on the GPIO-pin side, the other to GND). Capture the button waveform again with the same scope settings. How has it changed?</a:t>
            </a:r>
          </a:p>
          <a:p>
            <a:pPr>
              <a:buAutoNum type="arabicPeriod"/>
              <a:defRPr sz="1600"/>
            </a:pPr>
            <a:r>
              <a:rPr sz="1600"/>
              <a:t>Look at CH2 (LED) again. Does the LED now toggle exactly once per press? Save a screenshot showing both channels, with and without the capacitor, for your lab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vs. without the capacitor</a:t>
            </a:r>
          </a:p>
        </p:txBody>
      </p:sp>
      <p:pic>
        <p:nvPicPr>
          <p:cNvPr id="3" name="Picture 2" descr="ann-d3x-rc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480" y="1691640"/>
            <a:ext cx="6436558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605272"/>
            <a:ext cx="941831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Adding the capacitor rounds off the fast bounce so the pin makes one clean transition — and the LED toggles once per press.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works: the RC filter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57200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Recall from Phys 14: a capacitor stores charge and can't change its voltage instantly.</a:t>
            </a:r>
          </a:p>
          <a:p>
            <a:pPr>
              <a:defRPr sz="1600"/>
            </a:pPr>
            <a:r>
              <a:rPr b="1" sz="1600"/>
              <a:t>The internal pull-up (~40 kΩ) and the capacitor form an RC low-pass filter.</a:t>
            </a:r>
          </a:p>
          <a:p>
            <a:pPr>
              <a:defRPr sz="1600"/>
            </a:pPr>
            <a:r>
              <a:rPr sz="1600"/>
              <a:t>When the switch bounces open, the cap recharges slowly through the pull-up.</a:t>
            </a:r>
          </a:p>
          <a:p>
            <a:pPr>
              <a:defRPr sz="1600"/>
            </a:pPr>
            <a:r>
              <a:rPr sz="1600"/>
              <a:t>If C is large enough, the voltage never climbs back above V</a:t>
            </a:r>
            <a:r>
              <a:rPr sz="1100"/>
              <a:t>IH</a:t>
            </a:r>
            <a:r>
              <a:rPr sz="1600"/>
              <a:t> during the bounce — so no spurious edges reach the pin.</a:t>
            </a:r>
          </a:p>
        </p:txBody>
      </p:sp>
      <p:pic>
        <p:nvPicPr>
          <p:cNvPr id="4" name="Picture 3" descr="ann-d3x-rc-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67839"/>
            <a:ext cx="5669280" cy="3779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5593080"/>
            <a:ext cx="566928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R_pu (~40 kΩ) and C form an RC filter; the cap recharges slowly through R_pu when the switch bounces open.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· The Toggle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Polling — and why a naive toggle fails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Polling</a:t>
            </a:r>
            <a:r>
              <a:rPr sz="1600"/>
              <a:t> = reading the pin every iteration of the main loop and acting on it. Simple, but it has a subtle problem for a toggle.</a:t>
            </a:r>
          </a:p>
          <a:p>
            <a:pPr>
              <a:spcAft>
                <a:spcPts val="600"/>
              </a:spcAft>
              <a:defRPr sz="1600"/>
            </a:pPr>
            <a:r>
              <a:rPr sz="1600"/>
              <a:t>Even with a debounced switch, consider this loop: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08960"/>
            <a:ext cx="1051560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41248" y="3063240"/>
            <a:ext cx="10515600" cy="19659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1005840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</a:pPr>
            <a:r>
              <a:rPr sz="14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A85A00"/>
                </a:solidFill>
                <a:latin typeface="Courier New"/>
              </a:rPr>
              <a:t>1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400" i="0">
                <a:solidFill>
                  <a:srgbClr val="1A1A1A"/>
                </a:solidFill>
                <a:latin typeface="Courier New"/>
              </a:rPr>
              <a:t>-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IDR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A85A00"/>
                </a:solidFill>
                <a:latin typeface="Courier New"/>
              </a:rPr>
              <a:t>0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4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400" i="0">
                <a:solidFill>
                  <a:srgbClr val="1A1A1A"/>
                </a:solidFill>
                <a:latin typeface="Courier New"/>
              </a:rPr>
              <a:t>-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^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400" i="0">
                <a:solidFill>
                  <a:srgbClr val="1A1A1A"/>
                </a:solidFill>
                <a:latin typeface="Courier New"/>
              </a:rPr>
              <a:t>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400" i="1">
                <a:solidFill>
                  <a:srgbClr val="3C7654"/>
                </a:solidFill>
                <a:latin typeface="Courier New"/>
              </a:rPr>
              <a:t>// toggle LED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The Toggle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Predict: if you press and hold the button for half a second, how many times will the LED toggle? Why?</a:t>
            </a:r>
          </a:p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The loop runs at ~12 MHz. Roughly how many times does it execute while a human holds the button for 200 ms? How many toggles does that produce?</a:t>
            </a:r>
          </a:p>
          <a:p>
            <a:pPr>
              <a:buAutoNum type="arabicPeriod"/>
              <a:defRPr sz="1600"/>
            </a:pPr>
            <a:r>
              <a:rPr sz="1600"/>
              <a:t>The fix is to detect the transition from unpressed to pressed — not just the level. The skeleton on the next slide does this; fill in the missing lines. When should the LED toggle, and when should it not?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fix: detect the leading edge — fill in the blanks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338328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316382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543A8"/>
                </a:solidFill>
                <a:latin typeface="Courier New"/>
              </a:rPr>
              <a:t>unsigned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A85A00"/>
                </a:solidFill>
                <a:latin typeface="Courier New"/>
              </a:rPr>
              <a:t>0</a:t>
            </a:r>
            <a:r>
              <a:rPr sz="14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A85A00"/>
                </a:solidFill>
                <a:latin typeface="Courier New"/>
              </a:rPr>
              <a:t>1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400" i="0">
                <a:solidFill>
                  <a:srgbClr val="1A1A1A"/>
                </a:solidFill>
                <a:latin typeface="Courier New"/>
              </a:rPr>
              <a:t>-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IDR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A85A00"/>
                </a:solidFill>
                <a:latin typeface="Courier New"/>
              </a:rPr>
              <a:t>0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4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!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400" i="1">
                <a:solidFill>
                  <a:srgbClr val="3C7654"/>
                </a:solidFill>
                <a:latin typeface="Courier New"/>
              </a:rPr>
              <a:t>// TODO: toggle the LED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400" i="1">
                <a:solidFill>
                  <a:srgbClr val="3C7654"/>
                </a:solidFill>
                <a:latin typeface="Courier New"/>
              </a:rPr>
              <a:t>// TODO: remember that the button is now pressed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}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543A8"/>
                </a:solidFill>
                <a:latin typeface="Courier New"/>
              </a:rPr>
              <a:t>else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!</a:t>
            </a:r>
            <a:r>
              <a:rPr sz="14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400" i="1">
                <a:solidFill>
                  <a:srgbClr val="3C7654"/>
                </a:solidFill>
                <a:latin typeface="Courier New"/>
              </a:rPr>
              <a:t>// TODO: reset so the next press can be detected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 to Day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700"/>
            </a:pPr>
            <a:r>
              <a:rPr sz="1700"/>
              <a:t>Day 4 shows a cleaner way to write this same logic — the </a:t>
            </a:r>
            <a:r>
              <a:rPr b="1" sz="1700"/>
              <a:t>state machine</a:t>
            </a:r>
            <a:r>
              <a:rPr sz="1700"/>
              <a:t> design pattern.</a:t>
            </a:r>
          </a:p>
          <a:p>
            <a:pPr>
              <a:defRPr sz="1700"/>
            </a:pPr>
            <a:r>
              <a:rPr sz="1700"/>
              <a:t>Before then, read the state-machine section and be ready to discuss how the </a:t>
            </a:r>
            <a:r>
              <a:rPr sz="1700">
                <a:latin typeface="Courier New"/>
              </a:rPr>
              <a:t>state</a:t>
            </a:r>
            <a:r>
              <a:rPr sz="1700"/>
              <a:t> variable corresponds to </a:t>
            </a:r>
            <a:r>
              <a:rPr sz="1700">
                <a:latin typeface="Courier New"/>
              </a:rPr>
              <a:t>buttonAlreadyPressed</a:t>
            </a:r>
            <a:r>
              <a:rPr sz="170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toggleLED.c (edge-detected)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6177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9826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B5391F"/>
                </a:solidFill>
                <a:latin typeface="Courier New"/>
              </a:rPr>
              <a:t>"ES28.h"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 / D13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4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/ D5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unsigned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,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B5391F"/>
                </a:solidFill>
                <a:latin typeface="Courier New"/>
              </a:rPr>
              <a:t>&lt;&lt;10);  GPIOA-&gt;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8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9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         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input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B5391F"/>
                </a:solidFill>
                <a:latin typeface="Courier New"/>
              </a:rPr>
              <a:t>&lt;&lt;8);   GPIOB-&gt;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9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pull-up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!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^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else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!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