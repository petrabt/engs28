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Transistors: BJTs &amp; MOSFETs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6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· Code Interview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Reviewing the Keyboard Counter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1000"/>
              </a:spcAft>
              <a:buNone/>
              <a:defRPr sz="1500"/>
            </a:pPr>
            <a:r>
              <a:rPr sz="1500"/>
              <a:t>Exchange your keyboard-counter code with a neighbor and read it silently for two minutes. Then take turns asking the questions below — answer each about your partner's code, not your own.</a:t>
            </a:r>
          </a:p>
          <a:p>
            <a:pPr>
              <a:spcAft>
                <a:spcPts val="800"/>
              </a:spcAft>
              <a:buAutoNum type="arabicPeriod"/>
              <a:defRPr sz="1500"/>
            </a:pPr>
            <a:r>
              <a:rPr b="1" sz="1500"/>
              <a:t>Trace: </a:t>
            </a:r>
            <a:r>
              <a:rPr sz="1500"/>
              <a:t>the user presses u, then d, then r (each once, just before the RXNE check in a loop iteration). What count shows after each of those three loop cycles?</a:t>
            </a:r>
          </a:p>
          <a:p>
            <a:pPr>
              <a:spcAft>
                <a:spcPts val="800"/>
              </a:spcAft>
              <a:buAutoNum type="arabicPeriod"/>
              <a:defRPr sz="1500"/>
            </a:pPr>
            <a:r>
              <a:rPr b="1" sz="1500"/>
              <a:t>State: </a:t>
            </a:r>
            <a:r>
              <a:rPr sz="1500"/>
              <a:t>where is the counter stored? What type? Largest value before it wraps? Does that matter in practice?</a:t>
            </a:r>
          </a:p>
          <a:p>
            <a:pPr>
              <a:spcAft>
                <a:spcPts val="800"/>
              </a:spcAft>
              <a:buAutoNum type="arabicPeriod"/>
              <a:defRPr sz="1500"/>
            </a:pPr>
            <a:r>
              <a:rPr b="1" sz="1500"/>
              <a:t>Extension: </a:t>
            </a:r>
            <a:r>
              <a:rPr sz="1500"/>
              <a:t>without changing existing lines, where/how would you add z or Z to increment by 10? How many new lines?</a:t>
            </a:r>
          </a:p>
          <a:p>
            <a:pPr>
              <a:buAutoNum type="arabicPeriod"/>
              <a:defRPr sz="1500"/>
            </a:pPr>
            <a:r>
              <a:rPr b="1" sz="1500"/>
              <a:t>Timing: </a:t>
            </a:r>
            <a:r>
              <a:rPr sz="1500"/>
              <a:t>RXNE is checked once per loop before printf and delay_ms(500). If two keys are pressed in the same 500 ms window, what happens? Bug, or fundamental limit?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Discussion: what happens during delay_ms?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200"/>
              </a:spcAft>
              <a:defRPr sz="1500"/>
            </a:pPr>
            <a:r>
              <a:rPr b="1" sz="1500"/>
              <a:t>The USART keeps receiving independently of the CPU</a:t>
            </a:r>
            <a:r>
              <a:rPr sz="1500"/>
              <a:t> — it doesn't pause during delay_ms. A byte's bits are assembled in the shift register, transferred to RDR, and RXNE is set. The byte waits in RDR until the loop checks — so one keypress is buffered for free.</a:t>
            </a:r>
          </a:p>
          <a:p>
            <a:pPr>
              <a:spcAft>
                <a:spcPts val="1200"/>
              </a:spcAft>
              <a:defRPr sz="1500"/>
            </a:pPr>
            <a:r>
              <a:rPr b="1" sz="1500"/>
              <a:t>A second key while RDR is still full is lost.</a:t>
            </a:r>
            <a:r>
              <a:rPr sz="1500"/>
              <a:t> The shift register receives it, but transferring to an occupied RDR sets the Overrun Error (ORE) flag and the new byte is silently discarded. The first key survives; the program never knows.</a:t>
            </a:r>
          </a:p>
          <a:p>
            <a:pPr>
              <a:defRPr sz="1500"/>
            </a:pPr>
            <a:r>
              <a:rPr i="1" sz="1500"/>
              <a:t>Not a bug — a deliberate trade-off</a:t>
            </a:r>
            <a:r>
              <a:rPr sz="1500"/>
              <a:t> that works for a slow manual counter. The general fix is a UART receive interrupt that stores each byte in a software queue (later in the course).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· STM32 Bit-Manipulation Macros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Named macros instead of hand-counted bits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12064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Every register write so far used raw bit positions and hex masks. That works, but a wrong shift is invisible to the compiler.</a:t>
            </a:r>
          </a:p>
          <a:p>
            <a:pPr>
              <a:defRPr sz="1600"/>
            </a:pPr>
            <a:r>
              <a:rPr b="1" sz="1600"/>
              <a:t>CMSIS (via ES28.h) names every bit field</a:t>
            </a:r>
            <a:r>
              <a:rPr sz="1600"/>
              <a:t>: each gets a mask (_Msk) and a position (_Pos).</a:t>
            </a:r>
          </a:p>
          <a:p>
            <a:pPr>
              <a:defRPr sz="1600"/>
            </a:pPr>
            <a:r>
              <a:rPr sz="1600"/>
              <a:t>The pattern is always: clear the field, then OR in the value shifted into place.</a:t>
            </a:r>
          </a:p>
        </p:txBody>
      </p:sp>
      <p:pic>
        <p:nvPicPr>
          <p:cNvPr id="4" name="Picture 3" descr="d6_mo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403" y="1600200"/>
            <a:ext cx="5261672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4754880"/>
            <a:ext cx="530352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The MODER register: each pin has a 2-bit field. CMSIS defines GPIO_MODER_MODE5_Msk and _Pos (=10).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Configuring PA5 as output — raw vs. macros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356616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334670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Raw version — a wrong constant is a silent bug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~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11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clear bit 11 of the MODE5 field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~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10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clear bit 10 of the MODE5 field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|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1U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10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set bit 10 (output = 0b01)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Macro version — names are checked by the compiler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~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GPIO_MODER_MODE5_Msk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|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GPIO_OUTPUT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GPIO_MODER_MODE5_Pos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ES28 mode constants: GPIO_INPUT 0, GPIO_OUTPUT 1,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1">
                <a:solidFill>
                  <a:srgbClr val="3C7654"/>
                </a:solidFill>
                <a:latin typeface="Courier New"/>
              </a:rPr>
              <a:t>//                      GPIO_ALTERNATE 2, GPIO_ANALOG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Rewriting with Macros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  <a:defRPr sz="1500"/>
            </a:pPr>
            <a:r>
              <a:rPr sz="1500"/>
              <a:t>This code configures PB5 as an output (the pin that drives the transistor base in lab). Rewrite it using CMSIS macros: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2148840"/>
            <a:ext cx="6583680" cy="2194560"/>
          </a:xfrm>
          <a:prstGeom prst="roundRect">
            <a:avLst>
              <a:gd name="adj" fmla="val 5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6309360" cy="19202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</a:pPr>
            <a:r>
              <a:rPr sz="12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      </a:t>
            </a:r>
            <a:r>
              <a:rPr sz="1250" i="1">
                <a:solidFill>
                  <a:srgbClr val="3C7654"/>
                </a:solidFill>
                <a:latin typeface="Courier New"/>
              </a:rPr>
              <a:t>// enable GPIOB clock</a:t>
            </a:r>
          </a:p>
          <a:p>
            <a:pPr>
              <a:lnSpc>
                <a:spcPct val="100000"/>
              </a:lnSpc>
            </a:pPr>
            <a:r>
              <a:rPr sz="12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~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11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~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10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2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10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1">
                <a:solidFill>
                  <a:srgbClr val="3C7654"/>
                </a:solidFill>
                <a:latin typeface="Courier New"/>
              </a:rPr>
              <a:t>// PB5 output</a:t>
            </a:r>
          </a:p>
          <a:p>
            <a:pPr>
              <a:lnSpc>
                <a:spcPct val="100000"/>
              </a:lnSpc>
            </a:pPr>
            <a:r>
              <a:rPr sz="12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5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50" i="1">
                <a:solidFill>
                  <a:srgbClr val="3C7654"/>
                </a:solidFill>
                <a:latin typeface="Courier New"/>
              </a:rPr>
              <a:t>// drive PB5 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148840"/>
            <a:ext cx="3749039" cy="40233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12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1. </a:t>
            </a:r>
            <a:r>
              <a:rPr sz="1500">
                <a:solidFill>
                  <a:srgbClr val="1A1A1A"/>
                </a:solidFill>
                <a:latin typeface="Arial"/>
              </a:rPr>
              <a:t>Rewrite the three MODER lines with GPIO_MODER_MODE5_Msk, _Pos, and GPIO_OUTPUT.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2. </a:t>
            </a:r>
            <a:r>
              <a:rPr sz="1500">
                <a:solidFill>
                  <a:srgbClr val="1A1A1A"/>
                </a:solidFill>
                <a:latin typeface="Arial"/>
              </a:rPr>
              <a:t>What macro replaces (1U &lt;&lt; 1) for the GPIOB clock? (Hint: how was GPIOA's clock enabled in the UART driver?)</a:t>
            </a:r>
          </a:p>
          <a:p>
            <a:pPr>
              <a:spcAft>
                <a:spcPts val="12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3. </a:t>
            </a:r>
            <a:r>
              <a:rPr sz="1500">
                <a:solidFill>
                  <a:srgbClr val="1A1A1A"/>
                </a:solidFill>
                <a:latin typeface="Arial"/>
              </a:rPr>
              <a:t>Rewrite the ODR line using GPIO_ODR_OD5 instead of (1U &lt;&lt; 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macro rewrite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237744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215798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|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RCC_IOPENR_GPIOBEN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enable GPIOB clock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~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GPIO_MODER_MODE5_Msk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clear PB5 field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|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(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GPIO_OUTPUT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GPIO_MODER_MODE5_Pos</a:t>
            </a:r>
            <a:r>
              <a:rPr sz="1350" i="0">
                <a:solidFill>
                  <a:srgbClr val="1A1A1A"/>
                </a:solidFill>
                <a:latin typeface="Courier New"/>
              </a:rPr>
              <a:t>)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i="0">
                <a:solidFill>
                  <a:srgbClr val="1A1A1A"/>
                </a:solidFill>
                <a:latin typeface="Courier New"/>
              </a:rPr>
              <a:t>GPIOB</a:t>
            </a:r>
            <a:r>
              <a:rPr sz="1350" i="0">
                <a:solidFill>
                  <a:srgbClr val="1A1A1A"/>
                </a:solidFill>
                <a:latin typeface="Courier New"/>
              </a:rPr>
              <a:t>-</a:t>
            </a:r>
            <a:r>
              <a:rPr sz="13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ODR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|</a:t>
            </a:r>
            <a:r>
              <a:rPr sz="1350" i="0">
                <a:solidFill>
                  <a:srgbClr val="1A1A1A"/>
                </a:solidFill>
                <a:latin typeface="Courier New"/>
              </a:rPr>
              <a:t>=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</a:t>
            </a:r>
            <a:r>
              <a:rPr sz="1350" i="0">
                <a:solidFill>
                  <a:srgbClr val="1A1A1A"/>
                </a:solidFill>
                <a:latin typeface="Courier New"/>
              </a:rPr>
              <a:t>GPIO_ODR_OD5</a:t>
            </a:r>
            <a:r>
              <a:rPr sz="1350" i="0">
                <a:solidFill>
                  <a:srgbClr val="1A1A1A"/>
                </a:solidFill>
                <a:latin typeface="Courier New"/>
              </a:rPr>
              <a:t>;</a:t>
            </a:r>
            <a:r>
              <a:rPr sz="1350" i="0">
                <a:solidFill>
                  <a:srgbClr val="1A1A1A"/>
                </a:solidFill>
                <a:latin typeface="Courier New"/>
              </a:rPr>
              <a:t>                 </a:t>
            </a:r>
            <a:r>
              <a:rPr sz="1350" i="1">
                <a:solidFill>
                  <a:srgbClr val="3C7654"/>
                </a:solidFill>
                <a:latin typeface="Courier New"/>
              </a:rPr>
              <a:t>// drive PB5 high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· Designing a Low-Side NPN Driver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does the load connect?</a:t>
            </a:r>
          </a:p>
        </p:txBody>
      </p:sp>
      <p:pic>
        <p:nvPicPr>
          <p:cNvPr id="3" name="Picture 2" descr="d6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42" y="1691640"/>
            <a:ext cx="5678835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605272"/>
            <a:ext cx="941831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NPN low-side switch (left): load between supply and collector, emitter to ground. PNP high-side switch (right): emitter to supply, load below the collector to ground.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NPN low-side driver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486400" cy="4297680"/>
          </a:xfrm>
        </p:spPr>
        <p:txBody>
          <a:bodyPr wrap="square"/>
          <a:lstStyle/>
          <a:p>
            <a:pPr>
              <a:defRPr sz="1600"/>
            </a:pPr>
            <a:r>
              <a:rPr b="1" sz="1600"/>
              <a:t>In this course you'll use NPN transistors as low-side switches.</a:t>
            </a:r>
          </a:p>
          <a:p>
            <a:pPr>
              <a:defRPr sz="1600"/>
            </a:pPr>
            <a:r>
              <a:rPr sz="1600"/>
              <a:t>The load </a:t>
            </a:r>
            <a:r>
              <a:rPr sz="1600">
                <a:latin typeface="Courier New"/>
              </a:rPr>
              <a:t>R_heat</a:t>
            </a:r>
            <a:r>
              <a:rPr sz="1600"/>
              <a:t> sits between the supply and the collector.</a:t>
            </a:r>
          </a:p>
          <a:p>
            <a:pPr>
              <a:defRPr sz="1600"/>
            </a:pPr>
            <a:r>
              <a:rPr sz="1600">
                <a:latin typeface="Courier New"/>
              </a:rPr>
              <a:t>R_lim</a:t>
            </a:r>
            <a:r>
              <a:rPr sz="1600"/>
              <a:t> (base-current limiting resistor) connects the GPIO pin to the base; the emitter goes to ground.</a:t>
            </a:r>
          </a:p>
          <a:p>
            <a:pPr>
              <a:defRPr sz="1600"/>
            </a:pPr>
            <a:r>
              <a:rPr sz="1600"/>
              <a:t>Design question: what value should </a:t>
            </a:r>
            <a:r>
              <a:rPr sz="1600">
                <a:latin typeface="Courier New"/>
              </a:rPr>
              <a:t>R_lim</a:t>
            </a:r>
            <a:r>
              <a:rPr b="1" sz="1600"/>
              <a:t> be?</a:t>
            </a:r>
          </a:p>
        </p:txBody>
      </p:sp>
      <p:pic>
        <p:nvPicPr>
          <p:cNvPr id="4" name="Picture 3" descr="d6_low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45464"/>
            <a:ext cx="4937760" cy="3149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92240" y="5141135"/>
            <a:ext cx="49377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NPN low-side driver: R_lim sets the base current.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example: choosing R_lim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900"/>
              </a:spcAft>
              <a:defRPr sz="1500"/>
            </a:pPr>
            <a:r>
              <a:rPr b="1" sz="1500"/>
              <a:t>Given: </a:t>
            </a:r>
            <a:r>
              <a:rPr sz="1500"/>
              <a:t>load needs 100 mA from 5 V; NPN has β_min = 50, V_BE = 0.7 V; GPIO outputs 3.3 V.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/>
              <a:t>1. Collector current: </a:t>
            </a:r>
            <a:r>
              <a:rPr sz="1500"/>
              <a:t>the load sets I_C = 100 mA.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/>
              <a:t>2. Min base current to saturate: </a:t>
            </a:r>
            <a:r>
              <a:rPr sz="1500"/>
              <a:t>I_B,min = I_C / β_min = 100 mA / 50 = 2 mA.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/>
              <a:t>3. Safety margin ×2 </a:t>
            </a:r>
            <a:r>
              <a:rPr sz="1500"/>
              <a:t>(real β can be below datasheet min) → target I_B = 4 mA.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/>
              <a:t>4. Voltage across R_lim: </a:t>
            </a:r>
            <a:r>
              <a:rPr sz="1500"/>
              <a:t>V = V_GPIO − V_BE = 3.3 − 0.7 = 2.6 V.</a:t>
            </a:r>
          </a:p>
          <a:p>
            <a:pPr>
              <a:spcAft>
                <a:spcPts val="900"/>
              </a:spcAft>
              <a:defRPr sz="1500"/>
            </a:pPr>
            <a:r>
              <a:rPr b="1" sz="1500"/>
              <a:t>5. Resistance: </a:t>
            </a:r>
            <a:r>
              <a:rPr sz="1500"/>
              <a:t>R_lim = 2.6 V / 4 mA = 650 Ω → pick the nearest standard value at or below (620 Ω or 560 Ω) to stay in saturation.</a:t>
            </a:r>
          </a:p>
          <a:p>
            <a:pPr>
              <a:defRPr sz="1500"/>
            </a:pPr>
            <a:r>
              <a:rPr i="1" sz="1500">
                <a:solidFill>
                  <a:srgbClr val="00693E"/>
                </a:solidFill>
              </a:rPr>
              <a:t>MOSFET low-side switch: </a:t>
            </a:r>
            <a:r>
              <a:rPr i="1" sz="1500"/>
              <a:t>no R_lim needed — the gate is capacitive. Just check V_th &lt; 3.3 V and max drain current &gt; load current.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 · MOSFETs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MOSFETs: voltage-controlled switches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6035040" cy="4297680"/>
          </a:xfrm>
        </p:spPr>
        <p:txBody>
          <a:bodyPr wrap="square"/>
          <a:lstStyle/>
          <a:p>
            <a:pPr>
              <a:defRPr sz="1600"/>
            </a:pPr>
            <a:r>
              <a:rPr b="1" sz="1600"/>
              <a:t>Three terminals: Gate (G), Drain (D), Source (S).</a:t>
            </a:r>
          </a:p>
          <a:p>
            <a:pPr>
              <a:defRPr sz="1600"/>
            </a:pPr>
            <a:r>
              <a:rPr sz="1600"/>
              <a:t>Voltage-controlled — the gate draws essentially no steady current (insulated by a thin oxide).</a:t>
            </a:r>
          </a:p>
          <a:p>
            <a:pPr>
              <a:defRPr sz="1600"/>
            </a:pPr>
            <a:r>
              <a:rPr sz="1600"/>
              <a:t>When V_GS exceeds the threshold V_th, a channel opens between drain and source.</a:t>
            </a:r>
          </a:p>
          <a:p>
            <a:pPr>
              <a:defRPr sz="1400"/>
            </a:pPr>
            <a:r>
              <a:rPr i="1" sz="1400"/>
              <a:t>The gap between the gate line and the channel in the symbol represents that oxide.</a:t>
            </a:r>
          </a:p>
        </p:txBody>
      </p:sp>
      <p:pic>
        <p:nvPicPr>
          <p:cNvPr id="4" name="Picture 3" descr="d6_nfet_sy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27" y="1600200"/>
            <a:ext cx="2463465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80960" y="5486400"/>
            <a:ext cx="27432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N-channel enhancement MOSFET.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N-channel low-side &amp; P-channel high-side</a:t>
            </a:r>
          </a:p>
        </p:txBody>
      </p:sp>
      <p:pic>
        <p:nvPicPr>
          <p:cNvPr id="3" name="Picture 2" descr="d6_nfet_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349" y="1737360"/>
            <a:ext cx="2586100" cy="3657600"/>
          </a:xfrm>
          <a:prstGeom prst="rect">
            <a:avLst/>
          </a:prstGeom>
        </p:spPr>
      </p:pic>
      <p:pic>
        <p:nvPicPr>
          <p:cNvPr id="4" name="Picture 3" descr="d6_pfet_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500" y="1737360"/>
            <a:ext cx="2659319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8709" y="5440680"/>
            <a:ext cx="368338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N-channel low-side: load between supply and drain, source to ground. Drive gate HIGH to turn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9860" y="5440680"/>
            <a:ext cx="375659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P-channel high-side: source at the supply, load below the drain. Turns on when the gate is pulled 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BJT vs. MOSFET for embedded switching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737360"/>
          <a:ext cx="10881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34840"/>
                <a:gridCol w="44348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MOSFET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BJT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Terminals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Gate, Drain, Source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Base, Collector, Emitter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Controlled by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Gate voltage; ~zero gate current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Base current; flows continuously while on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Saturation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Easy; no resistor sizing needed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Needs careful R_lim sizing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Power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Lower — no steady gate current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Higher — base current while on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ESD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Vulnerable (thin gate oxide)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A1A1A"/>
                          </a:solidFill>
                          <a:latin typeface="Arial"/>
                        </a:rPr>
                        <a:t>More robust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943600"/>
            <a:ext cx="108813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l"/>
            <a:r>
              <a:rPr sz="1100" i="1">
                <a:solidFill>
                  <a:srgbClr val="555F59"/>
                </a:solidFill>
                <a:latin typeface="Arial"/>
              </a:rPr>
              <a:t>For direct GPIO drive, use logic-level MOSFETs: |V_th| below 3.3 V.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 · Reading Transistor Datasheets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 / Typ / Max — and which to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1500"/>
            </a:pPr>
            <a:r>
              <a:rPr b="1" sz="1500"/>
              <a:t>Three columns reflect real manufacturing spread.</a:t>
            </a:r>
            <a:r>
              <a:rPr sz="1500"/>
              <a:t> β (h_FE) can vary 3× across one batch. Min/Max mark the ±3σ boundaries; Typ is the mean.</a:t>
            </a:r>
          </a:p>
          <a:p>
            <a:pPr>
              <a:spcAft>
                <a:spcPts val="800"/>
              </a:spcAft>
              <a:defRPr sz="1500"/>
            </a:pPr>
            <a:r>
              <a:rPr b="1" sz="1500">
                <a:solidFill>
                  <a:srgbClr val="00693E"/>
                </a:solidFill>
              </a:rPr>
              <a:t>Will my circuit function at all? </a:t>
            </a:r>
            <a:r>
              <a:rPr sz="1500"/>
              <a:t>Use the worst-case minimum. Design for β_min and it saturates even with the weakest part.</a:t>
            </a:r>
          </a:p>
          <a:p>
            <a:pPr>
              <a:spcAft>
                <a:spcPts val="800"/>
              </a:spcAft>
              <a:defRPr sz="1500"/>
            </a:pPr>
            <a:r>
              <a:rPr b="1" sz="1500">
                <a:solidFill>
                  <a:srgbClr val="00693E"/>
                </a:solidFill>
              </a:rPr>
              <a:t>Will my circuit break or overheat? </a:t>
            </a:r>
            <a:r>
              <a:rPr sz="1500"/>
              <a:t>Use the worst-case maximum — the part that conducts most or swings highest.</a:t>
            </a:r>
          </a:p>
          <a:p>
            <a:pPr>
              <a:defRPr sz="1500"/>
            </a:pPr>
            <a:r>
              <a:rPr i="1" sz="1500"/>
              <a:t>Rule of thumb: </a:t>
            </a:r>
            <a:r>
              <a:rPr i="1" sz="1500"/>
              <a:t>ask “does a higher or lower value make it harder to succeed?” and use that value. All these numbers shift with temperature.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BJT Datasheets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  <a:defRPr sz="1500"/>
            </a:pPr>
            <a:r>
              <a:rPr sz="1500"/>
              <a:t>Use the datasheets on Canvas. Record type, DC current gain h_FE (record the </a:t>
            </a:r>
            <a:r>
              <a:rPr i="1" sz="1500"/>
              <a:t>minimum</a:t>
            </a:r>
            <a:r>
              <a:rPr sz="1500"/>
              <a:t> when a range is given), and max continuous collector current.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86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65176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Part Number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Type (NPN/PNP)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h_FE (minimum)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Max collector current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KSC2073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TIP42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2N3906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2N3904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MOSFET Datasheets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  <a:buNone/>
              <a:defRPr sz="1500"/>
            </a:pPr>
            <a:r>
              <a:rPr sz="1500"/>
              <a:t>Record type, threshold voltage V_th, and max continuous drain current. Watch the </a:t>
            </a:r>
            <a:r>
              <a:rPr i="1" sz="1500"/>
              <a:t>sign of V_th</a:t>
            </a:r>
            <a:r>
              <a:rPr sz="1500"/>
              <a:t> for PFET devices.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22860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743200"/>
                <a:gridCol w="2651760"/>
                <a:gridCol w="26517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Part Number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Type (NFET/PFET)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Threshold V_th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Max drain current</a:t>
                      </a:r>
                    </a:p>
                  </a:txBody>
                  <a:tcPr marT="25400" marB="25400" marL="63500" marR="63500">
                    <a:solidFill>
                      <a:srgbClr val="00693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IRF9Z24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BS250P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IRFZ24</a:t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>BS107P</a:t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Arial"/>
                        </a:rPr>
                        <a:t/>
                      </a:r>
                    </a:p>
                  </a:txBody>
                  <a:tcPr marT="25400" marB="25400" marL="63500" marR="63500">
                    <a:solidFill>
                      <a:srgbClr val="F0F4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to work on Lab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We'll likely finish the material early — use the rest of class to start Lab 3.</a:t>
            </a:r>
          </a:p>
          <a:p>
            <a:pPr>
              <a:defRPr sz="1800"/>
            </a:pPr>
            <a:r>
              <a:rPr sz="1800"/>
              <a:t>Build and test your low-side NPN driver: pick R_lim to saturate the transistor, and check it switches your load cleanly.</a:t>
            </a:r>
          </a:p>
          <a:p>
            <a:pPr>
              <a:defRPr sz="1800"/>
            </a:pPr>
            <a:r>
              <a:rPr sz="1800"/>
              <a:t>Try the MOSFET drivers too — no R_lim needed, just a logic-level threshold.</a:t>
            </a:r>
          </a:p>
          <a:p>
            <a:pPr>
              <a:defRPr sz="1800"/>
            </a:pPr>
            <a:r>
              <a:rPr b="1" sz="1800"/>
              <a:t>TAs are here now</a:t>
            </a:r>
            <a:r>
              <a:rPr sz="1800"/>
              <a:t> — ask questions while you have help in the room. Starting early beats a last-minute rush.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